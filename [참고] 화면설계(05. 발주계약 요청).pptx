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34"/>
  </p:notesMasterIdLst>
  <p:handoutMasterIdLst>
    <p:handoutMasterId r:id="rId35"/>
  </p:handoutMasterIdLst>
  <p:sldIdLst>
    <p:sldId id="3218" r:id="rId2"/>
    <p:sldId id="3776" r:id="rId3"/>
    <p:sldId id="3547" r:id="rId4"/>
    <p:sldId id="3749" r:id="rId5"/>
    <p:sldId id="3750" r:id="rId6"/>
    <p:sldId id="3584" r:id="rId7"/>
    <p:sldId id="3756" r:id="rId8"/>
    <p:sldId id="3518" r:id="rId9"/>
    <p:sldId id="3759" r:id="rId10"/>
    <p:sldId id="3753" r:id="rId11"/>
    <p:sldId id="3777" r:id="rId12"/>
    <p:sldId id="3778" r:id="rId13"/>
    <p:sldId id="3761" r:id="rId14"/>
    <p:sldId id="3751" r:id="rId15"/>
    <p:sldId id="3579" r:id="rId16"/>
    <p:sldId id="3568" r:id="rId17"/>
    <p:sldId id="3762" r:id="rId18"/>
    <p:sldId id="3779" r:id="rId19"/>
    <p:sldId id="3549" r:id="rId20"/>
    <p:sldId id="3780" r:id="rId21"/>
    <p:sldId id="3582" r:id="rId22"/>
    <p:sldId id="3781" r:id="rId23"/>
    <p:sldId id="3573" r:id="rId24"/>
    <p:sldId id="3588" r:id="rId25"/>
    <p:sldId id="3782" r:id="rId26"/>
    <p:sldId id="3765" r:id="rId27"/>
    <p:sldId id="3766" r:id="rId28"/>
    <p:sldId id="3767" r:id="rId29"/>
    <p:sldId id="3783" r:id="rId30"/>
    <p:sldId id="3774" r:id="rId31"/>
    <p:sldId id="3784" r:id="rId32"/>
    <p:sldId id="3771" r:id="rId33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36"/>
      <p:bold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2F2F2"/>
    <a:srgbClr val="C00000"/>
    <a:srgbClr val="404040"/>
    <a:srgbClr val="00B050"/>
    <a:srgbClr val="FFFF00"/>
    <a:srgbClr val="DCE6F2"/>
    <a:srgbClr val="596F8A"/>
    <a:srgbClr val="003965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F0E19F-3E12-21F7-A398-79A297CB2568}"/>
              </a:ext>
            </a:extLst>
          </p:cNvPr>
          <p:cNvSpPr/>
          <p:nvPr/>
        </p:nvSpPr>
        <p:spPr>
          <a:xfrm>
            <a:off x="6637767" y="1119117"/>
            <a:ext cx="1530610" cy="932651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0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326318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2941-9479-237F-FB48-09D5EFA7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493C7D-1068-7F11-B51E-EFA13AF05F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B8C23-1688-7781-1BF4-87466894C8ED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A0CB-E7D3-FFCE-7F94-F8AF4F431FFD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FAEE14-C97E-1FA9-1205-7D63D11E57F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631107E-9505-6314-D1F3-E9C305838D5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93E6C0BF-4034-0E7F-6D75-9E784D1A7790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25DF6B0-00D5-1512-FDB5-FC4498321864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F0C5EF0-17C5-3F9B-7D34-8F7151A268F9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E9146C9-0AE8-CD8D-B9D2-050A54CD25E9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AA7CF10-688B-B274-DA6D-8F929F03EF34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88178"/>
          <a:ext cx="7668853" cy="466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업체가 우선협상자로 선정됨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입찰기간 중에 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가격을 동시에 제출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평가는 없으며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 협상자 선정 후 자격 확인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설정 필요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서류는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비율에 의해 산정하여 최고점수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가격과 합산함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이하의 제일 낮은 가격의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서류는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먼저 확인하여 적합한 업체의 적격여부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4742A7-08B1-0B47-1E2A-22F8186F7B0E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16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B641-D17C-6983-DD4A-1E831659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CB4A31-5629-A711-0B82-7C9BDC22F5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65008-32F3-E859-FA23-162610C3C866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82E5D-9329-2E39-0AED-AEF609DECCA9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B6D03E-A93C-3508-B21D-D2F404CFE31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D10E14B-E2F9-B486-75BD-30B9C935B1C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4756C88F-F59A-B062-9205-3BCAD36A7971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0E8720A-BEE3-271F-5B06-E3A5B2FB2FBF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297E2B7-EF15-81F7-A182-E3D9D8CD88F8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3FDD4BB-588F-36FC-133A-AEEEECB9186A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57DED47-CD8A-35E0-6405-841A14773EDF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1788178"/>
          <a:ext cx="7687776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81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53439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149156">
                  <a:extLst>
                    <a:ext uri="{9D8B030D-6E8A-4147-A177-3AD203B41FA5}">
                      <a16:colId xmlns:a16="http://schemas.microsoft.com/office/drawing/2014/main" val="1062149080"/>
                    </a:ext>
                  </a:extLst>
                </a:gridCol>
                <a:gridCol w="576283">
                  <a:extLst>
                    <a:ext uri="{9D8B030D-6E8A-4147-A177-3AD203B41FA5}">
                      <a16:colId xmlns:a16="http://schemas.microsoft.com/office/drawing/2014/main" val="1514525174"/>
                    </a:ext>
                  </a:extLst>
                </a:gridCol>
                <a:gridCol w="1266924">
                  <a:extLst>
                    <a:ext uri="{9D8B030D-6E8A-4147-A177-3AD203B41FA5}">
                      <a16:colId xmlns:a16="http://schemas.microsoft.com/office/drawing/2014/main" val="2785311682"/>
                    </a:ext>
                  </a:extLst>
                </a:gridCol>
                <a:gridCol w="1127199">
                  <a:extLst>
                    <a:ext uri="{9D8B030D-6E8A-4147-A177-3AD203B41FA5}">
                      <a16:colId xmlns:a16="http://schemas.microsoft.com/office/drawing/2014/main" val="963557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동시제출 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예비가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낙찰하한율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동점자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처리기준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3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적격여부 확인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랜덤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설정 사항에 따름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적격여부 확인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6F6EB-D7FD-37EB-A1FC-9EFC71AA84A0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E416D9-BB0A-E59F-8E50-F340AC6C9E01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915153"/>
          <a:ext cx="7687778" cy="2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4156553755"/>
                    </a:ext>
                  </a:extLst>
                </a:gridCol>
                <a:gridCol w="5959586">
                  <a:extLst>
                    <a:ext uri="{9D8B030D-6E8A-4147-A177-3AD203B41FA5}">
                      <a16:colId xmlns:a16="http://schemas.microsoft.com/office/drawing/2014/main" val="557084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동일한 조건에서 가장 낮은 가격을 제시한 업체를 선정하여 예산을 절감하기 위해서입니다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기술보다 가격 경쟁이 가능한 단순한 물품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공사에 적합합니다.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87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지나치게 낮은 가격으로 인한 부실 이행을 방지하면서 가격 경쟁을 유도하기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일정한 가격 하한선 등 기준을 충족한 업체 중 최저가 업체를 선정합니다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5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단순히 가격만 보지 않고 요구되는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성능을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충족하는지와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가격을 함께 평가하기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제출받아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기술적 적합성과 가격 경쟁력을 함께 고려합니다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먼저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기술적 적합성을 검증한 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 업체끼리 가격 경쟁을 시키기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가격보다 요구조건을 제대로 충족하는 업체를 우선적으로 걸러내는 것이 목적입니다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4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가격만 낮은 업체가 아니라 실제로 계약을 수행할 능력이 있는 업체를 선정하기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입찰가격과 함께 실적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경영상태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수행능력 등을 종합적으로 심사합니다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16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7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3114-AA40-CA5F-CCB9-3876C6D7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D7852F3-64FB-B924-472A-47725F1B89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C73F9-D9C5-7174-5FD1-B85239DA1073}"/>
              </a:ext>
            </a:extLst>
          </p:cNvPr>
          <p:cNvSpPr txBox="1"/>
          <p:nvPr/>
        </p:nvSpPr>
        <p:spPr>
          <a:xfrm>
            <a:off x="749224" y="25608"/>
            <a:ext cx="1962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B2203-1707-625B-CFB5-D2E14A3F0B1A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수주계약업체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메뉴의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목록에는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건만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1D8C86-C8D7-1578-B23E-9ED15B931135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88439E6-17E0-EDCB-BF91-26E2A06B711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B2C7B9-6778-1B59-D545-E3124A250AF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E62D0-5A85-0663-9D4D-63DA812D973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B2BC33-C016-7F83-105D-F8BF4076A2B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2408B0B-FFA2-F282-0FB1-BD657383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E198B8-CE2F-DABB-125B-D093202C5F8D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FAD4CC-F6D4-7F21-3A94-BFF9D5F05C7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951976-2196-C85C-F898-981B2378D984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3FE96F-1BF4-01A1-16AB-522AF88AA9C3}"/>
              </a:ext>
            </a:extLst>
          </p:cNvPr>
          <p:cNvSpPr/>
          <p:nvPr/>
        </p:nvSpPr>
        <p:spPr>
          <a:xfrm>
            <a:off x="164468" y="834983"/>
            <a:ext cx="7740859" cy="9738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6808F6-9FF2-68E2-B22D-720CB3B226F0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B55F5-B9BC-7D20-C07F-43B9DEBE475C}"/>
              </a:ext>
            </a:extLst>
          </p:cNvPr>
          <p:cNvSpPr txBox="1"/>
          <p:nvPr/>
        </p:nvSpPr>
        <p:spPr>
          <a:xfrm>
            <a:off x="235849" y="1503521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6E0864-329A-41A7-87C7-A31FD06AA448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7E86F8-0D36-6A37-9CE9-8F88B270FF86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714F0B-891B-BAA0-2BF7-AC23603CCECA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60C20D-19CB-315D-FC6E-3C00CC56489F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E98534-EF88-7BFA-C303-8BF6AD5CC464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3038BB-3897-BB2C-FF43-F302B1DDD517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15EEF5F-A99C-5CEF-06E7-8F2CA6007C1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87E687-A09A-310C-14CB-076949BB0B3B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1BD1FD3-9887-BEBA-8449-8A0065C6E966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4E3FA31-0A6C-3559-A12B-D3E075DD7CBE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874F70-7661-4EB8-24C6-5D8CD8A44C79}"/>
              </a:ext>
            </a:extLst>
          </p:cNvPr>
          <p:cNvSpPr txBox="1"/>
          <p:nvPr/>
        </p:nvSpPr>
        <p:spPr>
          <a:xfrm>
            <a:off x="235849" y="121550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:                            ● 전체      ○ 공사     ○ 용역     ○ 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D5C54C-B926-9F3F-1AC7-EEE8807587A9}"/>
              </a:ext>
            </a:extLst>
          </p:cNvPr>
          <p:cNvSpPr/>
          <p:nvPr/>
        </p:nvSpPr>
        <p:spPr>
          <a:xfrm>
            <a:off x="1408523" y="149637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708071-3235-910F-0D38-0053F19EDFDE}"/>
              </a:ext>
            </a:extLst>
          </p:cNvPr>
          <p:cNvSpPr/>
          <p:nvPr/>
        </p:nvSpPr>
        <p:spPr>
          <a:xfrm>
            <a:off x="2218774" y="149637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86D7CE-8FAA-9690-B97F-555228AC36CC}"/>
              </a:ext>
            </a:extLst>
          </p:cNvPr>
          <p:cNvSpPr/>
          <p:nvPr/>
        </p:nvSpPr>
        <p:spPr>
          <a:xfrm>
            <a:off x="2533911" y="1496376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536DAE-733B-8709-7455-B991A4972538}"/>
              </a:ext>
            </a:extLst>
          </p:cNvPr>
          <p:cNvSpPr/>
          <p:nvPr/>
        </p:nvSpPr>
        <p:spPr>
          <a:xfrm>
            <a:off x="6241919" y="1496378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F87CC37-5A2E-B4CA-1D2C-F6F018E67CBD}"/>
              </a:ext>
            </a:extLst>
          </p:cNvPr>
          <p:cNvSpPr/>
          <p:nvPr/>
        </p:nvSpPr>
        <p:spPr>
          <a:xfrm>
            <a:off x="5856272" y="193035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B0076D-EB77-1F24-D71F-C44B8822220A}"/>
              </a:ext>
            </a:extLst>
          </p:cNvPr>
          <p:cNvSpPr/>
          <p:nvPr/>
        </p:nvSpPr>
        <p:spPr>
          <a:xfrm>
            <a:off x="6677734" y="193035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01E946-77F1-AA73-C69C-35BAB497890E}"/>
              </a:ext>
            </a:extLst>
          </p:cNvPr>
          <p:cNvSpPr txBox="1"/>
          <p:nvPr/>
        </p:nvSpPr>
        <p:spPr>
          <a:xfrm>
            <a:off x="181506" y="191683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1BF8133-D43E-DDB2-7B98-21077C3421CE}"/>
              </a:ext>
            </a:extLst>
          </p:cNvPr>
          <p:cNvSpPr/>
          <p:nvPr/>
        </p:nvSpPr>
        <p:spPr>
          <a:xfrm>
            <a:off x="6982990" y="1930350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0C478DE0-DFA6-1C76-37E4-3C8163CC43F3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225798"/>
          <a:ext cx="12065763" cy="2027520"/>
        </p:xfrm>
        <a:graphic>
          <a:graphicData uri="http://schemas.openxmlformats.org/drawingml/2006/table">
            <a:tbl>
              <a:tblPr firstRow="1" bandRow="1"/>
              <a:tblGrid>
                <a:gridCol w="378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9115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1811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083237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202938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  <a:gridCol w="957825">
                  <a:extLst>
                    <a:ext uri="{9D8B030D-6E8A-4147-A177-3AD203B41FA5}">
                      <a16:colId xmlns:a16="http://schemas.microsoft.com/office/drawing/2014/main" val="2305781461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576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수주계약업체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2026.12.23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PR2026-0004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881424C4-D587-341C-E21D-0CD974ACB0BE}"/>
              </a:ext>
            </a:extLst>
          </p:cNvPr>
          <p:cNvGrpSpPr/>
          <p:nvPr/>
        </p:nvGrpSpPr>
        <p:grpSpPr>
          <a:xfrm>
            <a:off x="2004219" y="4383208"/>
            <a:ext cx="4025354" cy="216024"/>
            <a:chOff x="2992062" y="4869160"/>
            <a:chExt cx="4025354" cy="21602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3C878D7-3599-D6A7-CB7B-88A2E4D59430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F8229F4-D82E-3281-D4CC-4842FE609CDE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CC07C0D-3D9A-8C2E-651C-115FC24FE67F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54977AA-1217-F558-CF7E-D7A134FE22F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31425C2-7D81-5793-A32C-840DDCFA780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ED71551-5036-B1E6-CA4D-5335EC423F6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A3DE23A-6608-912E-EC6C-3EFCC51B32C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CC9702C-57F7-823F-B99A-BA50AD7FCF2F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8E96496-18E3-FE1A-06AD-20B9AC0E1BA5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8426110-020A-1046-9A5C-88335E1AE8DC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B164C49-B47B-8019-68D5-F070195FFDF4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A6C71F0-1F0E-C6F4-4834-CC55B0D3A02D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76DF6CA-9370-10D5-C9C5-C07027D4557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D3CCCD1-1FE1-11F8-1C6B-6EB39402D079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B01E684-8D01-1A2B-B623-5532D373D45A}"/>
              </a:ext>
            </a:extLst>
          </p:cNvPr>
          <p:cNvSpPr/>
          <p:nvPr/>
        </p:nvSpPr>
        <p:spPr>
          <a:xfrm>
            <a:off x="11718276" y="2626743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23610AB-2AB0-8206-AD97-EACB6C028C62}"/>
              </a:ext>
            </a:extLst>
          </p:cNvPr>
          <p:cNvSpPr/>
          <p:nvPr/>
        </p:nvSpPr>
        <p:spPr>
          <a:xfrm>
            <a:off x="11718276" y="2965508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605803D-14C3-E233-F58C-035F5A494CC5}"/>
              </a:ext>
            </a:extLst>
          </p:cNvPr>
          <p:cNvSpPr/>
          <p:nvPr/>
        </p:nvSpPr>
        <p:spPr>
          <a:xfrm>
            <a:off x="6958110" y="4724498"/>
            <a:ext cx="93478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2FBABDD-4088-8A58-CA25-5B741BBC7C68}"/>
              </a:ext>
            </a:extLst>
          </p:cNvPr>
          <p:cNvSpPr/>
          <p:nvPr/>
        </p:nvSpPr>
        <p:spPr>
          <a:xfrm>
            <a:off x="8210944" y="4429820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삭제 시 유의사항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4CB40E4-F06E-80B1-DA51-116111F518D5}"/>
              </a:ext>
            </a:extLst>
          </p:cNvPr>
          <p:cNvSpPr/>
          <p:nvPr/>
        </p:nvSpPr>
        <p:spPr>
          <a:xfrm>
            <a:off x="8210944" y="4702732"/>
            <a:ext cx="3780420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1E462CA-66B9-750E-169D-7F888E14750A}"/>
              </a:ext>
            </a:extLst>
          </p:cNvPr>
          <p:cNvSpPr/>
          <p:nvPr/>
        </p:nvSpPr>
        <p:spPr>
          <a:xfrm>
            <a:off x="11718276" y="442982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A294F55-43AA-D822-E2E0-38F6D7E9C593}"/>
              </a:ext>
            </a:extLst>
          </p:cNvPr>
          <p:cNvSpPr/>
          <p:nvPr/>
        </p:nvSpPr>
        <p:spPr>
          <a:xfrm>
            <a:off x="8345099" y="5116120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내역을 삭제하면, 매핑된(기 등록된) 세부정보가 모두 삭제됩니다.</a:t>
            </a:r>
            <a:endParaRPr kumimoji="1" lang="en-US" altLang="ko-KR" sz="8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시스템운영자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87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8540CF20-813B-1232-2497-F6489C5E8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21" y="5272741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직사각형 87">
            <a:extLst>
              <a:ext uri="{FF2B5EF4-FFF2-40B4-BE49-F238E27FC236}">
                <a16:creationId xmlns:a16="http://schemas.microsoft.com/office/drawing/2014/main" id="{D5D0B4F2-A89B-743C-70F4-4D572A4A467A}"/>
              </a:ext>
            </a:extLst>
          </p:cNvPr>
          <p:cNvSpPr/>
          <p:nvPr/>
        </p:nvSpPr>
        <p:spPr>
          <a:xfrm>
            <a:off x="10342978" y="6104487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F04C53F-80B6-8EAE-7CCB-BFDAC4E17B28}"/>
              </a:ext>
            </a:extLst>
          </p:cNvPr>
          <p:cNvSpPr/>
          <p:nvPr/>
        </p:nvSpPr>
        <p:spPr>
          <a:xfrm>
            <a:off x="11188657" y="6104487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363CFE-C007-2D52-886E-BFC57F6D055C}"/>
              </a:ext>
            </a:extLst>
          </p:cNvPr>
          <p:cNvSpPr/>
          <p:nvPr/>
        </p:nvSpPr>
        <p:spPr>
          <a:xfrm>
            <a:off x="8342164" y="4799121"/>
            <a:ext cx="196367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삭제 시 유의사항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3225675F-0941-5C67-CE43-3DCCA54ADF46}"/>
              </a:ext>
            </a:extLst>
          </p:cNvPr>
          <p:cNvCxnSpPr>
            <a:cxnSpLocks/>
            <a:stCxn id="69" idx="2"/>
            <a:endCxn id="83" idx="0"/>
          </p:cNvCxnSpPr>
          <p:nvPr/>
        </p:nvCxnSpPr>
        <p:spPr>
          <a:xfrm rot="5400000">
            <a:off x="10399994" y="2882110"/>
            <a:ext cx="1248871" cy="184654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2ADD93E5-D340-5D5E-CC13-B5D8F97614EA}"/>
              </a:ext>
            </a:extLst>
          </p:cNvPr>
          <p:cNvSpPr/>
          <p:nvPr/>
        </p:nvSpPr>
        <p:spPr>
          <a:xfrm>
            <a:off x="1279677" y="13812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965A899-C769-5A5F-0E30-886D8C9337E7}"/>
              </a:ext>
            </a:extLst>
          </p:cNvPr>
          <p:cNvSpPr/>
          <p:nvPr/>
        </p:nvSpPr>
        <p:spPr>
          <a:xfrm>
            <a:off x="1279677" y="213116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756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0BDA6-EE07-A720-6230-708EEF34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35AF740-12D4-7A29-A778-41D817FB1A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BE4BF1-8F0E-36E7-A797-615BFE76F4DA}"/>
              </a:ext>
            </a:extLst>
          </p:cNvPr>
          <p:cNvSpPr txBox="1"/>
          <p:nvPr/>
        </p:nvSpPr>
        <p:spPr>
          <a:xfrm>
            <a:off x="749224" y="25608"/>
            <a:ext cx="2598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첫 단계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7AE7AE-E9A0-1120-16A2-587E131B979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2" name="Picture 1">
            <a:extLst>
              <a:ext uri="{FF2B5EF4-FFF2-40B4-BE49-F238E27FC236}">
                <a16:creationId xmlns:a16="http://schemas.microsoft.com/office/drawing/2014/main" id="{2EE14511-A37B-95BA-514D-AD5A00AF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CD0C58-053A-53B0-77FE-0E6C82F3F2A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DADCE7-8E4C-345D-BDC2-C5908EB9728E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4C9621-5E4E-ABC5-C82E-DD758B7A5365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B6D443F-E181-C929-BF49-C6E8AD3EE858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410CD79-89A7-7BE7-1931-02A81CC1EA1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215D5C0-F402-B4E6-E8FB-99EE4168A8F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953CB75-1909-63A3-5BBF-EC73A89CC2F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A4713D9E-41E2-F8C5-BD52-D38ABD1E41C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826334"/>
          <a:ext cx="7740859" cy="294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공사     ○ 용역     ○ 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2A93EA-7FE0-EFAF-FB4C-00E3C90225DA}"/>
              </a:ext>
            </a:extLst>
          </p:cNvPr>
          <p:cNvSpPr/>
          <p:nvPr/>
        </p:nvSpPr>
        <p:spPr>
          <a:xfrm>
            <a:off x="1586508" y="889060"/>
            <a:ext cx="471418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50자 이내로 입력해주세요.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FF57BAA-C1C9-6929-B567-ED206F460C2C}"/>
              </a:ext>
            </a:extLst>
          </p:cNvPr>
          <p:cNvSpPr/>
          <p:nvPr/>
        </p:nvSpPr>
        <p:spPr>
          <a:xfrm>
            <a:off x="164467" y="388909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0E8AD36-8162-5C7B-7A59-2434F305F19A}"/>
              </a:ext>
            </a:extLst>
          </p:cNvPr>
          <p:cNvSpPr/>
          <p:nvPr/>
        </p:nvSpPr>
        <p:spPr>
          <a:xfrm>
            <a:off x="1589802" y="12242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CC6CBE5-E481-C0CC-DCE2-82D18BD5B663}"/>
              </a:ext>
            </a:extLst>
          </p:cNvPr>
          <p:cNvSpPr/>
          <p:nvPr/>
        </p:nvSpPr>
        <p:spPr>
          <a:xfrm>
            <a:off x="2400053" y="12242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A6CFAE6-82CB-14EA-76F0-9950D7718777}"/>
              </a:ext>
            </a:extLst>
          </p:cNvPr>
          <p:cNvSpPr/>
          <p:nvPr/>
        </p:nvSpPr>
        <p:spPr>
          <a:xfrm>
            <a:off x="1589802" y="156787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E930C9C-01D8-10E7-1057-47CF970B9A59}"/>
              </a:ext>
            </a:extLst>
          </p:cNvPr>
          <p:cNvSpPr/>
          <p:nvPr/>
        </p:nvSpPr>
        <p:spPr>
          <a:xfrm>
            <a:off x="2400053" y="156787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A490FE-D8B8-B6FA-F38D-FA9EF5731EE7}"/>
              </a:ext>
            </a:extLst>
          </p:cNvPr>
          <p:cNvSpPr/>
          <p:nvPr/>
        </p:nvSpPr>
        <p:spPr>
          <a:xfrm>
            <a:off x="1586508" y="2282546"/>
            <a:ext cx="79208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412D0DC-A5EB-A6B1-6CAF-4D71D8CC30D1}"/>
              </a:ext>
            </a:extLst>
          </p:cNvPr>
          <p:cNvSpPr/>
          <p:nvPr/>
        </p:nvSpPr>
        <p:spPr>
          <a:xfrm>
            <a:off x="6197055" y="3889096"/>
            <a:ext cx="82367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1D04E2A-4327-EAE5-FF9C-C8B770AF8DCD}"/>
              </a:ext>
            </a:extLst>
          </p:cNvPr>
          <p:cNvSpPr/>
          <p:nvPr/>
        </p:nvSpPr>
        <p:spPr>
          <a:xfrm>
            <a:off x="7075693" y="3889096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698D118-04E6-9C0B-D92B-DD4B602C3FD5}"/>
              </a:ext>
            </a:extLst>
          </p:cNvPr>
          <p:cNvSpPr/>
          <p:nvPr/>
        </p:nvSpPr>
        <p:spPr>
          <a:xfrm>
            <a:off x="1478496" y="21454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B55C7-649D-2608-A0D4-E0A63D2DCBD5}"/>
              </a:ext>
            </a:extLst>
          </p:cNvPr>
          <p:cNvSpPr txBox="1"/>
          <p:nvPr/>
        </p:nvSpPr>
        <p:spPr>
          <a:xfrm>
            <a:off x="8049344" y="584684"/>
            <a:ext cx="185665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통해 수주계약을 매핑해서 발주계약이 이루어지는 건에 한하여 입력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755214-BE48-790A-5076-B6A5CC989BF4}"/>
              </a:ext>
            </a:extLst>
          </p:cNvPr>
          <p:cNvSpPr/>
          <p:nvPr/>
        </p:nvSpPr>
        <p:spPr>
          <a:xfrm>
            <a:off x="6069168" y="375957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74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1853-40CC-4093-8D59-516B9942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65F9016-7BDD-44CE-0617-41C91603F2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5D779-00E1-66AD-0C2C-3B0A2998D1F3}"/>
              </a:ext>
            </a:extLst>
          </p:cNvPr>
          <p:cNvSpPr txBox="1"/>
          <p:nvPr/>
        </p:nvSpPr>
        <p:spPr>
          <a:xfrm>
            <a:off x="749224" y="25608"/>
            <a:ext cx="2190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AA9F6B-CCE9-8C21-1B2B-D166E1C13E60}"/>
              </a:ext>
            </a:extLst>
          </p:cNvPr>
          <p:cNvSpPr/>
          <p:nvPr/>
        </p:nvSpPr>
        <p:spPr>
          <a:xfrm>
            <a:off x="164469" y="394538"/>
            <a:ext cx="770794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9F9A8A-1B33-E34A-9DCE-BD942CD38E17}"/>
              </a:ext>
            </a:extLst>
          </p:cNvPr>
          <p:cNvSpPr/>
          <p:nvPr/>
        </p:nvSpPr>
        <p:spPr>
          <a:xfrm>
            <a:off x="7613614" y="394538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911FC-8F51-A557-2A1F-548244902391}"/>
              </a:ext>
            </a:extLst>
          </p:cNvPr>
          <p:cNvSpPr/>
          <p:nvPr/>
        </p:nvSpPr>
        <p:spPr>
          <a:xfrm>
            <a:off x="164469" y="667448"/>
            <a:ext cx="7707944" cy="457750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9E7FA-D6DE-A171-ABEF-88457A7C312D}"/>
              </a:ext>
            </a:extLst>
          </p:cNvPr>
          <p:cNvSpPr/>
          <p:nvPr/>
        </p:nvSpPr>
        <p:spPr>
          <a:xfrm>
            <a:off x="7775602" y="668291"/>
            <a:ext cx="108012" cy="45768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707896-D2DA-CAE6-2B0A-A602F4AE3F95}"/>
              </a:ext>
            </a:extLst>
          </p:cNvPr>
          <p:cNvSpPr/>
          <p:nvPr/>
        </p:nvSpPr>
        <p:spPr>
          <a:xfrm>
            <a:off x="7775602" y="1050069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5603D5-8C3C-F350-C40D-B7404B043A55}"/>
              </a:ext>
            </a:extLst>
          </p:cNvPr>
          <p:cNvSpPr/>
          <p:nvPr/>
        </p:nvSpPr>
        <p:spPr>
          <a:xfrm>
            <a:off x="301563" y="771830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3DF16A-46BB-C5EC-8BC5-5261F9A2DE7A}"/>
              </a:ext>
            </a:extLst>
          </p:cNvPr>
          <p:cNvSpPr/>
          <p:nvPr/>
        </p:nvSpPr>
        <p:spPr>
          <a:xfrm>
            <a:off x="6735306" y="4726254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C898B7-2190-4D0D-3EDD-79A650140837}"/>
              </a:ext>
            </a:extLst>
          </p:cNvPr>
          <p:cNvSpPr/>
          <p:nvPr/>
        </p:nvSpPr>
        <p:spPr>
          <a:xfrm>
            <a:off x="306218" y="1104766"/>
            <a:ext cx="7242172" cy="724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8788E6-A2CE-4081-DDB5-4A7F3492D07C}"/>
              </a:ext>
            </a:extLst>
          </p:cNvPr>
          <p:cNvSpPr/>
          <p:nvPr/>
        </p:nvSpPr>
        <p:spPr>
          <a:xfrm>
            <a:off x="1541480" y="148677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F9112D-9D26-8810-E06C-4C6475E08C48}"/>
              </a:ext>
            </a:extLst>
          </p:cNvPr>
          <p:cNvSpPr/>
          <p:nvPr/>
        </p:nvSpPr>
        <p:spPr>
          <a:xfrm>
            <a:off x="2351731" y="148677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19A505C-560E-2FF0-5B08-CA4273B408C0}"/>
              </a:ext>
            </a:extLst>
          </p:cNvPr>
          <p:cNvSpPr/>
          <p:nvPr/>
        </p:nvSpPr>
        <p:spPr>
          <a:xfrm>
            <a:off x="2666868" y="1490496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FD5B54-CC55-1E70-813F-0426D538FE54}"/>
              </a:ext>
            </a:extLst>
          </p:cNvPr>
          <p:cNvSpPr/>
          <p:nvPr/>
        </p:nvSpPr>
        <p:spPr>
          <a:xfrm>
            <a:off x="6374876" y="1486779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CA647F-9C5F-B8C0-293F-D4582E5C856D}"/>
              </a:ext>
            </a:extLst>
          </p:cNvPr>
          <p:cNvSpPr txBox="1"/>
          <p:nvPr/>
        </p:nvSpPr>
        <p:spPr>
          <a:xfrm>
            <a:off x="377599" y="1211270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수주계약일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2BEC-9368-D9F5-B027-D9555C5A12A5}"/>
              </a:ext>
            </a:extLst>
          </p:cNvPr>
          <p:cNvSpPr txBox="1"/>
          <p:nvPr/>
        </p:nvSpPr>
        <p:spPr>
          <a:xfrm>
            <a:off x="377598" y="1493923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FADFC5-9B8D-9FBE-74F4-778D1A7645E0}"/>
              </a:ext>
            </a:extLst>
          </p:cNvPr>
          <p:cNvSpPr/>
          <p:nvPr/>
        </p:nvSpPr>
        <p:spPr>
          <a:xfrm>
            <a:off x="4825414" y="119886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048C67-4D8A-AEAA-A6B3-7FD5A3673587}"/>
              </a:ext>
            </a:extLst>
          </p:cNvPr>
          <p:cNvSpPr/>
          <p:nvPr/>
        </p:nvSpPr>
        <p:spPr>
          <a:xfrm>
            <a:off x="5635665" y="119887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E257FA-4C04-BBDF-9420-5CD569E0A2BE}"/>
              </a:ext>
            </a:extLst>
          </p:cNvPr>
          <p:cNvSpPr/>
          <p:nvPr/>
        </p:nvSpPr>
        <p:spPr>
          <a:xfrm>
            <a:off x="6048920" y="119886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CA6155-9E20-AC98-AF3A-67D83B217816}"/>
              </a:ext>
            </a:extLst>
          </p:cNvPr>
          <p:cNvSpPr/>
          <p:nvPr/>
        </p:nvSpPr>
        <p:spPr>
          <a:xfrm>
            <a:off x="6859171" y="119887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1145E72-D963-4C3C-3E05-1CC0600CC4EB}"/>
              </a:ext>
            </a:extLst>
          </p:cNvPr>
          <p:cNvSpPr/>
          <p:nvPr/>
        </p:nvSpPr>
        <p:spPr>
          <a:xfrm>
            <a:off x="1535638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B38FA58-C350-F907-D7AD-8FB6CD2740A1}"/>
              </a:ext>
            </a:extLst>
          </p:cNvPr>
          <p:cNvSpPr/>
          <p:nvPr/>
        </p:nvSpPr>
        <p:spPr>
          <a:xfrm>
            <a:off x="2084207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41F66D3-8E7E-B90C-9CB3-278E0713B53B}"/>
              </a:ext>
            </a:extLst>
          </p:cNvPr>
          <p:cNvSpPr/>
          <p:nvPr/>
        </p:nvSpPr>
        <p:spPr>
          <a:xfrm>
            <a:off x="2632776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DB919A-54A6-DB34-0004-C77381C14144}"/>
              </a:ext>
            </a:extLst>
          </p:cNvPr>
          <p:cNvSpPr/>
          <p:nvPr/>
        </p:nvSpPr>
        <p:spPr>
          <a:xfrm>
            <a:off x="3181345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D7684C6-D80B-C0A4-F6D7-795720A13CFA}"/>
              </a:ext>
            </a:extLst>
          </p:cNvPr>
          <p:cNvSpPr/>
          <p:nvPr/>
        </p:nvSpPr>
        <p:spPr>
          <a:xfrm>
            <a:off x="3729914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80F0877-CA6E-5A9B-7523-CB9B35D7CA9D}"/>
              </a:ext>
            </a:extLst>
          </p:cNvPr>
          <p:cNvSpPr/>
          <p:nvPr/>
        </p:nvSpPr>
        <p:spPr>
          <a:xfrm>
            <a:off x="4278482" y="1198869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F6C53A-F273-A0B3-A78B-C52ED36D2536}"/>
              </a:ext>
            </a:extLst>
          </p:cNvPr>
          <p:cNvSpPr/>
          <p:nvPr/>
        </p:nvSpPr>
        <p:spPr>
          <a:xfrm>
            <a:off x="6515593" y="194860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59941C8-5E67-F7BE-5F75-1016DD9435DA}"/>
              </a:ext>
            </a:extLst>
          </p:cNvPr>
          <p:cNvSpPr/>
          <p:nvPr/>
        </p:nvSpPr>
        <p:spPr>
          <a:xfrm>
            <a:off x="7337055" y="194860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A2CB5B-5DF7-8FB9-431C-8BFEACBE19B0}"/>
              </a:ext>
            </a:extLst>
          </p:cNvPr>
          <p:cNvSpPr txBox="1"/>
          <p:nvPr/>
        </p:nvSpPr>
        <p:spPr>
          <a:xfrm>
            <a:off x="323255" y="1935085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5C281CF2-56CA-BDEE-644D-0A17DF7CA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55479"/>
              </p:ext>
            </p:extLst>
          </p:nvPr>
        </p:nvGraphicFramePr>
        <p:xfrm>
          <a:off x="323253" y="2241918"/>
          <a:ext cx="7225136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237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159815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744075">
                  <a:extLst>
                    <a:ext uri="{9D8B030D-6E8A-4147-A177-3AD203B41FA5}">
                      <a16:colId xmlns:a16="http://schemas.microsoft.com/office/drawing/2014/main" val="2466386541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3354468507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202468350"/>
                    </a:ext>
                  </a:extLst>
                </a:gridCol>
                <a:gridCol w="882187">
                  <a:extLst>
                    <a:ext uri="{9D8B030D-6E8A-4147-A177-3AD203B41FA5}">
                      <a16:colId xmlns:a16="http://schemas.microsoft.com/office/drawing/2014/main" val="2609923332"/>
                    </a:ext>
                  </a:extLst>
                </a:gridCol>
                <a:gridCol w="571987">
                  <a:extLst>
                    <a:ext uri="{9D8B030D-6E8A-4147-A177-3AD203B41FA5}">
                      <a16:colId xmlns:a16="http://schemas.microsoft.com/office/drawing/2014/main" val="2921060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착공일자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준공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예상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총사업금액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GE-4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VV...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2026.12.23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2026.12.22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2027.05.31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2,384,000,000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46" name="그룹 45">
            <a:extLst>
              <a:ext uri="{FF2B5EF4-FFF2-40B4-BE49-F238E27FC236}">
                <a16:creationId xmlns:a16="http://schemas.microsoft.com/office/drawing/2014/main" id="{D84CC815-1B04-5E29-C8C9-15A87CE67C08}"/>
              </a:ext>
            </a:extLst>
          </p:cNvPr>
          <p:cNvGrpSpPr/>
          <p:nvPr/>
        </p:nvGrpSpPr>
        <p:grpSpPr>
          <a:xfrm>
            <a:off x="2416438" y="4377405"/>
            <a:ext cx="4025354" cy="216024"/>
            <a:chOff x="2992062" y="4869160"/>
            <a:chExt cx="4025354" cy="216024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63F7294-1573-BFE7-2433-DADB75C37412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0AE04BC-8F06-86F7-C3A2-9D72958C416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F83EF23-E711-1F86-5BC5-431CDC582B03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EB98425-D5F1-C1F4-3E79-76F2DA7DAD9D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4C8BDDE-B974-8AD9-4D6C-AAE212FBB348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CFB201E-26A7-794F-A5E7-6D9B9790F4E2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14ED4B2-52C4-3C59-A0B6-1871EAD8D855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73F9EC7-FAFA-7599-A1A8-6AAB68E6B630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190EB5D-8490-F4D6-9AED-AEFBF2C1BB71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1112AFB-6150-BE97-E0AA-76A3F26E5075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F36EB7D-F04F-04FA-AA75-B9BCE24366B3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874CC8E-68EF-4B15-C5D4-868CE2F5AC2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23AAE54-0628-F8BC-D8F4-E755CD9130AB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C1072E1-4D8D-C865-4264-ADFCE303FDAA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" name="타원 5">
            <a:extLst>
              <a:ext uri="{FF2B5EF4-FFF2-40B4-BE49-F238E27FC236}">
                <a16:creationId xmlns:a16="http://schemas.microsoft.com/office/drawing/2014/main" id="{24578CF6-EB9E-A41F-7534-EDF777FE4BA9}"/>
              </a:ext>
            </a:extLst>
          </p:cNvPr>
          <p:cNvSpPr/>
          <p:nvPr/>
        </p:nvSpPr>
        <p:spPr>
          <a:xfrm>
            <a:off x="269586" y="212383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D95FEC-E623-DE63-66AF-E345460E44A3}"/>
              </a:ext>
            </a:extLst>
          </p:cNvPr>
          <p:cNvSpPr/>
          <p:nvPr/>
        </p:nvSpPr>
        <p:spPr>
          <a:xfrm>
            <a:off x="7065552" y="2638466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681B9F-E298-CC1C-1E80-8BD67C147595}"/>
              </a:ext>
            </a:extLst>
          </p:cNvPr>
          <p:cNvSpPr/>
          <p:nvPr/>
        </p:nvSpPr>
        <p:spPr>
          <a:xfrm>
            <a:off x="7065552" y="2976589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EA4864-FFF8-1FD9-C0C8-DC2DC4FE0CB9}"/>
              </a:ext>
            </a:extLst>
          </p:cNvPr>
          <p:cNvSpPr/>
          <p:nvPr/>
        </p:nvSpPr>
        <p:spPr>
          <a:xfrm>
            <a:off x="7065552" y="3314712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3A814A-EF3F-840F-DE88-087282D96C33}"/>
              </a:ext>
            </a:extLst>
          </p:cNvPr>
          <p:cNvSpPr/>
          <p:nvPr/>
        </p:nvSpPr>
        <p:spPr>
          <a:xfrm>
            <a:off x="7065552" y="3652835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516DAD-C8BF-0174-D1EA-8E7D17CA6445}"/>
              </a:ext>
            </a:extLst>
          </p:cNvPr>
          <p:cNvSpPr/>
          <p:nvPr/>
        </p:nvSpPr>
        <p:spPr>
          <a:xfrm>
            <a:off x="7065552" y="3990957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EB4A16-6A20-20A1-784B-48EB28ACFFA8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PMS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수주계약 프로젝트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수주계약업체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060FF57-5571-B42F-98A2-5CDE21B8AD31}"/>
              </a:ext>
            </a:extLst>
          </p:cNvPr>
          <p:cNvSpPr/>
          <p:nvPr/>
        </p:nvSpPr>
        <p:spPr>
          <a:xfrm>
            <a:off x="1402067" y="141743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361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5E08-DEE0-785A-E258-2C9F40BE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442044-33D1-3F0D-A4C0-9B8068A1B2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FB0D9-DDE7-2A25-CD7F-D53463877D5E}"/>
              </a:ext>
            </a:extLst>
          </p:cNvPr>
          <p:cNvSpPr txBox="1"/>
          <p:nvPr/>
        </p:nvSpPr>
        <p:spPr>
          <a:xfrm>
            <a:off x="749224" y="25608"/>
            <a:ext cx="25587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A370E-6CF4-2EE7-E02B-484E6BE20FE0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단계로 안내되어 있긴 하지만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영역에 접근해서 정보 입력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2DCB02-71F9-D811-60DE-5BBC0393B9EE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B37FF4B-EAF7-C7FE-08D2-4077856A9F4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8EBEB1-4B78-07F5-847A-80B693E6D47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D1E0C6A-ABFF-285C-6F5C-8C9D5F57F4A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321502"/>
          <a:ext cx="7740859" cy="395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요청대기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공사     ○ 용역     ○ 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52CB28CF-31A2-9C8E-8A56-E6783C774702}"/>
              </a:ext>
            </a:extLst>
          </p:cNvPr>
          <p:cNvSpPr/>
          <p:nvPr/>
        </p:nvSpPr>
        <p:spPr>
          <a:xfrm>
            <a:off x="1586508" y="3059335"/>
            <a:ext cx="471418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BA8CAB-F6A5-47F8-D8A0-69A0D0C8606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C567E3DE-1B1E-35B2-622D-A4994A58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98542E-B7DF-0D48-6C5F-6EC887E0EF5E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59693B-B8BB-04CF-5230-521E07CD8C1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FD89FA-1298-B372-A08E-771D6C78507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27CB91-EC9A-9A6E-1EFA-6E1AF9B9D402}"/>
              </a:ext>
            </a:extLst>
          </p:cNvPr>
          <p:cNvSpPr/>
          <p:nvPr/>
        </p:nvSpPr>
        <p:spPr>
          <a:xfrm>
            <a:off x="1589802" y="339449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05DA81-112B-41D7-F6D2-0A778BB5B505}"/>
              </a:ext>
            </a:extLst>
          </p:cNvPr>
          <p:cNvSpPr/>
          <p:nvPr/>
        </p:nvSpPr>
        <p:spPr>
          <a:xfrm>
            <a:off x="2400053" y="339449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A623E2-6305-CCF1-AC47-AEB7BC824788}"/>
              </a:ext>
            </a:extLst>
          </p:cNvPr>
          <p:cNvSpPr/>
          <p:nvPr/>
        </p:nvSpPr>
        <p:spPr>
          <a:xfrm>
            <a:off x="1589802" y="373814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C4CEE9A-052D-285E-C31B-7BA38749CB59}"/>
              </a:ext>
            </a:extLst>
          </p:cNvPr>
          <p:cNvSpPr/>
          <p:nvPr/>
        </p:nvSpPr>
        <p:spPr>
          <a:xfrm>
            <a:off x="2400053" y="37381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51CBF4-C7B5-5920-90B2-521D9B842A6B}"/>
              </a:ext>
            </a:extLst>
          </p:cNvPr>
          <p:cNvSpPr/>
          <p:nvPr/>
        </p:nvSpPr>
        <p:spPr>
          <a:xfrm>
            <a:off x="1586508" y="4452821"/>
            <a:ext cx="79208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매핑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EE63368-EFFA-CCBF-4676-EDE20C1A7109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9285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179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02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329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87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105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0708A0-32D7-6912-AE42-F981CBB3ADAC}"/>
              </a:ext>
            </a:extLst>
          </p:cNvPr>
          <p:cNvSpPr/>
          <p:nvPr/>
        </p:nvSpPr>
        <p:spPr>
          <a:xfrm>
            <a:off x="0" y="6667854"/>
            <a:ext cx="7977336" cy="26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D0AEE2A-D4E4-C53E-F519-F81B0165B484}"/>
              </a:ext>
            </a:extLst>
          </p:cNvPr>
          <p:cNvSpPr/>
          <p:nvPr/>
        </p:nvSpPr>
        <p:spPr>
          <a:xfrm>
            <a:off x="0" y="6750789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54A58E-E6CA-4B73-F988-811783BEE371}"/>
              </a:ext>
            </a:extLst>
          </p:cNvPr>
          <p:cNvSpPr/>
          <p:nvPr/>
        </p:nvSpPr>
        <p:spPr>
          <a:xfrm>
            <a:off x="6979090" y="6353950"/>
            <a:ext cx="93478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기본정보 수정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24C08F-DBE6-215A-061A-72EA79E8A6F1}"/>
              </a:ext>
            </a:extLst>
          </p:cNvPr>
          <p:cNvSpPr/>
          <p:nvPr/>
        </p:nvSpPr>
        <p:spPr>
          <a:xfrm>
            <a:off x="164467" y="635395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0DA1AFC-0BC5-7565-0D71-4E94217B151C}"/>
              </a:ext>
            </a:extLst>
          </p:cNvPr>
          <p:cNvSpPr/>
          <p:nvPr/>
        </p:nvSpPr>
        <p:spPr>
          <a:xfrm>
            <a:off x="2435126" y="4452821"/>
            <a:ext cx="79208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 취소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E3298A-F107-D33C-AA53-D4D435A526EF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60BDBAF-F0B2-9DE7-302E-0B36FBC25738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</a:t>
              </a: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8201953-886F-48B3-92CF-53C6CE9402D1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C935EED-FFBE-D5BB-562D-577283CDF665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F18FA8-0391-73CD-A01B-267599AB4451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72F80B7-124F-1B96-8399-0920B9615B1F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2" name="타원 51">
            <a:extLst>
              <a:ext uri="{FF2B5EF4-FFF2-40B4-BE49-F238E27FC236}">
                <a16:creationId xmlns:a16="http://schemas.microsoft.com/office/drawing/2014/main" id="{DC0C227B-4FDC-3712-0845-255F1F3FA9E7}"/>
              </a:ext>
            </a:extLst>
          </p:cNvPr>
          <p:cNvSpPr/>
          <p:nvPr/>
        </p:nvSpPr>
        <p:spPr>
          <a:xfrm>
            <a:off x="60738" y="7609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17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36B5-D250-2083-D90C-E8A99599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A516C0-1B4B-5C7F-1882-09BB64E380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CE277-ED37-6E06-37CF-431A9E853F63}"/>
              </a:ext>
            </a:extLst>
          </p:cNvPr>
          <p:cNvSpPr txBox="1"/>
          <p:nvPr/>
        </p:nvSpPr>
        <p:spPr>
          <a:xfrm>
            <a:off x="749224" y="25608"/>
            <a:ext cx="2433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8EDB0-AB32-936C-4DAC-7E9710E76030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계약방법에 따라 하단의 입력서식이 조정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보이고 안 보이고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경우 낙찰자 선정방법은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선택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2F567-C080-B312-0D21-79AF80317059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9E2F4D3-F98C-6E9F-4F1B-7D814E9E1D5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018F39-65F4-6825-D826-7CD1BFA3909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2DAB760-AA8F-436B-C4EA-EE86C28EEBF0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602716"/>
          <a:ext cx="7717011" cy="10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□ 일상감사의견서     □ 심의결과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의결무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 심의결과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 시행안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61419BC-A3AC-30D3-39BF-72BBE0EC99E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3EB06DD0-654C-6A76-575B-3AB588BAD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375FB5-3E4A-5446-2F26-C3133081042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03E173-5C99-F207-8100-2C3625D9906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1BD6BF-6E33-1562-9DDA-7878B0283721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23FB5A-0246-A14A-7849-37D21016B437}"/>
              </a:ext>
            </a:extLst>
          </p:cNvPr>
          <p:cNvSpPr/>
          <p:nvPr/>
        </p:nvSpPr>
        <p:spPr>
          <a:xfrm>
            <a:off x="183392" y="231682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02B33FB-6DDE-1FCD-2738-DA94A50DE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88" y="2991829"/>
            <a:ext cx="6120000" cy="642993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886A58C1-A4B5-3C54-EC58-E5CC02DB3D98}"/>
              </a:ext>
            </a:extLst>
          </p:cNvPr>
          <p:cNvSpPr/>
          <p:nvPr/>
        </p:nvSpPr>
        <p:spPr>
          <a:xfrm>
            <a:off x="183392" y="376775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E53FFBB-313C-E279-435E-C980E3B12BA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061486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~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B9290062-FF3D-19CC-DDC9-F4C84A2E2649}"/>
              </a:ext>
            </a:extLst>
          </p:cNvPr>
          <p:cNvSpPr/>
          <p:nvPr/>
        </p:nvSpPr>
        <p:spPr>
          <a:xfrm>
            <a:off x="1822026" y="4125096"/>
            <a:ext cx="1481185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30F78D-93B8-5B79-0812-478B73540FBC}"/>
              </a:ext>
            </a:extLst>
          </p:cNvPr>
          <p:cNvSpPr/>
          <p:nvPr/>
        </p:nvSpPr>
        <p:spPr>
          <a:xfrm>
            <a:off x="1822026" y="445202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시작일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63D367-9385-6971-7197-3D834AC372EE}"/>
              </a:ext>
            </a:extLst>
          </p:cNvPr>
          <p:cNvSpPr/>
          <p:nvPr/>
        </p:nvSpPr>
        <p:spPr>
          <a:xfrm>
            <a:off x="2632277" y="445202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4338BB-6BC4-D79D-4430-FA5B1E9B7982}"/>
              </a:ext>
            </a:extLst>
          </p:cNvPr>
          <p:cNvSpPr/>
          <p:nvPr/>
        </p:nvSpPr>
        <p:spPr>
          <a:xfrm>
            <a:off x="3035996" y="445202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종료일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5F4CB7E-2D2A-65BF-A243-303A351EBA77}"/>
              </a:ext>
            </a:extLst>
          </p:cNvPr>
          <p:cNvSpPr/>
          <p:nvPr/>
        </p:nvSpPr>
        <p:spPr>
          <a:xfrm>
            <a:off x="3846247" y="445202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338A89E-7135-9B45-7684-FACF1AA07E17}"/>
              </a:ext>
            </a:extLst>
          </p:cNvPr>
          <p:cNvSpPr/>
          <p:nvPr/>
        </p:nvSpPr>
        <p:spPr>
          <a:xfrm>
            <a:off x="1822026" y="4802865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0877C6D-0F8E-AE0D-D223-18E2EBEE294E}"/>
              </a:ext>
            </a:extLst>
          </p:cNvPr>
          <p:cNvSpPr/>
          <p:nvPr/>
        </p:nvSpPr>
        <p:spPr>
          <a:xfrm>
            <a:off x="1822027" y="5146268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8094BD-3A89-0864-2DE1-CAE2352A0192}"/>
              </a:ext>
            </a:extLst>
          </p:cNvPr>
          <p:cNvSpPr/>
          <p:nvPr/>
        </p:nvSpPr>
        <p:spPr>
          <a:xfrm>
            <a:off x="1822027" y="5475057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D91BE8-104C-BD08-CA97-8C12D8EEC702}"/>
              </a:ext>
            </a:extLst>
          </p:cNvPr>
          <p:cNvSpPr/>
          <p:nvPr/>
        </p:nvSpPr>
        <p:spPr>
          <a:xfrm>
            <a:off x="1822027" y="5819169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F5F994D-A837-788C-CD97-864C26BEDF08}"/>
              </a:ext>
            </a:extLst>
          </p:cNvPr>
          <p:cNvSpPr/>
          <p:nvPr/>
        </p:nvSpPr>
        <p:spPr>
          <a:xfrm>
            <a:off x="0" y="6545849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9E3243-937E-20A1-32DC-D7CE6CC88C9B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995356E-3E4F-1C6C-0FD6-6883FFECAEE0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</a:t>
              </a: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A1E3C9E-C917-769A-8847-87CBD37434E6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AAA28A9-7502-B3B7-8042-FC909E69F448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930D558-8915-AE98-921D-F3ED1B28FD08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17FF9E8-F1D3-341C-B4F2-DFEF1718BB2A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81ABFD33-4119-0906-8B06-5BA681A2A530}"/>
              </a:ext>
            </a:extLst>
          </p:cNvPr>
          <p:cNvSpPr/>
          <p:nvPr/>
        </p:nvSpPr>
        <p:spPr>
          <a:xfrm>
            <a:off x="60738" y="602311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B36B69-449C-4189-2732-CF55DE70928B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9285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179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02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329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87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105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56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8C86-3084-C428-3C94-F2929C9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26D536-C0FB-44FF-F61C-1679B379E0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8BF4B-2FAF-6E14-C755-F53DF7717BB2}"/>
              </a:ext>
            </a:extLst>
          </p:cNvPr>
          <p:cNvSpPr txBox="1"/>
          <p:nvPr/>
        </p:nvSpPr>
        <p:spPr>
          <a:xfrm>
            <a:off x="749224" y="25608"/>
            <a:ext cx="2433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90D92-106E-2C5B-F33A-7C8C07186D31}"/>
              </a:ext>
            </a:extLst>
          </p:cNvPr>
          <p:cNvSpPr txBox="1"/>
          <p:nvPr/>
        </p:nvSpPr>
        <p:spPr>
          <a:xfrm>
            <a:off x="8049344" y="584684"/>
            <a:ext cx="1856656" cy="143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0" lang="ko-KR" altLang="en-US" sz="800" u="sng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계약상대자</a:t>
            </a:r>
            <a:r>
              <a:rPr kumimoji="0" lang="en-US" altLang="ko-KR" sz="800" u="sng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800" u="sng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</a:t>
            </a:r>
            <a:r>
              <a:rPr kumimoji="0" lang="en-US" altLang="ko-KR" sz="800" u="sng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항목이 반드시 입력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매핑되어야 함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관리에서 해당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셀렉트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박스의 값들 확인할 것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F2127BF-B99D-2FCA-5B98-90EF67905B1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17071"/>
          <a:ext cx="7776865" cy="14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계약방법이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경우에만 아래의 정보를 입력해주세요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6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70500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4EA6E186-532B-CA82-68DA-4FF5EAAA6276}"/>
              </a:ext>
            </a:extLst>
          </p:cNvPr>
          <p:cNvSpPr/>
          <p:nvPr/>
        </p:nvSpPr>
        <p:spPr>
          <a:xfrm>
            <a:off x="1822026" y="1033984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17AC130-844D-90B0-2894-944D934F3F7A}"/>
              </a:ext>
            </a:extLst>
          </p:cNvPr>
          <p:cNvSpPr/>
          <p:nvPr/>
        </p:nvSpPr>
        <p:spPr>
          <a:xfrm>
            <a:off x="1818646" y="1369767"/>
            <a:ext cx="79208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매핑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749F4C-669D-0837-DF71-3F5FB74868C5}"/>
              </a:ext>
            </a:extLst>
          </p:cNvPr>
          <p:cNvSpPr/>
          <p:nvPr/>
        </p:nvSpPr>
        <p:spPr>
          <a:xfrm>
            <a:off x="2676122" y="1373265"/>
            <a:ext cx="79208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 취소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F6B782-0540-79E4-171B-8556AF7E475E}"/>
              </a:ext>
            </a:extLst>
          </p:cNvPr>
          <p:cNvSpPr/>
          <p:nvPr/>
        </p:nvSpPr>
        <p:spPr>
          <a:xfrm>
            <a:off x="183392" y="198884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A0F0328-12C9-E8C8-58D6-EB829FAA528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282575"/>
          <a:ext cx="7776865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개별공사업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F2C02C-995F-139B-8303-A6981E2CEF8A}"/>
              </a:ext>
            </a:extLst>
          </p:cNvPr>
          <p:cNvSpPr/>
          <p:nvPr/>
        </p:nvSpPr>
        <p:spPr>
          <a:xfrm>
            <a:off x="1983420" y="2344274"/>
            <a:ext cx="295095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업종을 선택하세요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F091D2-3FBD-E8D6-C457-EF4DEA8CCB9B}"/>
              </a:ext>
            </a:extLst>
          </p:cNvPr>
          <p:cNvSpPr/>
          <p:nvPr/>
        </p:nvSpPr>
        <p:spPr>
          <a:xfrm>
            <a:off x="4934374" y="234427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835ADE0-28AF-64DF-F816-3B162B912703}"/>
              </a:ext>
            </a:extLst>
          </p:cNvPr>
          <p:cNvSpPr/>
          <p:nvPr/>
        </p:nvSpPr>
        <p:spPr>
          <a:xfrm>
            <a:off x="1983420" y="2681410"/>
            <a:ext cx="295095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업종을 선택하세요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3308B21-0D2A-1C6F-2F31-291148981457}"/>
              </a:ext>
            </a:extLst>
          </p:cNvPr>
          <p:cNvSpPr/>
          <p:nvPr/>
        </p:nvSpPr>
        <p:spPr>
          <a:xfrm>
            <a:off x="4934374" y="268141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25962A0-6ECA-C21C-586D-1D3E96E65BB4}"/>
              </a:ext>
            </a:extLst>
          </p:cNvPr>
          <p:cNvSpPr/>
          <p:nvPr/>
        </p:nvSpPr>
        <p:spPr>
          <a:xfrm>
            <a:off x="1983420" y="3019703"/>
            <a:ext cx="295095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업종을 선택하세요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853B239-B547-6501-9BE8-C70B366E2016}"/>
              </a:ext>
            </a:extLst>
          </p:cNvPr>
          <p:cNvSpPr/>
          <p:nvPr/>
        </p:nvSpPr>
        <p:spPr>
          <a:xfrm>
            <a:off x="4934374" y="3019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D65BF1-8C84-D0AF-04F2-30E2FCF77504}"/>
              </a:ext>
            </a:extLst>
          </p:cNvPr>
          <p:cNvSpPr/>
          <p:nvPr/>
        </p:nvSpPr>
        <p:spPr>
          <a:xfrm>
            <a:off x="1983420" y="3352303"/>
            <a:ext cx="295095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업종을 선택하세요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67FAAE0-6C42-9A99-D6B3-39C277726C6A}"/>
              </a:ext>
            </a:extLst>
          </p:cNvPr>
          <p:cNvSpPr/>
          <p:nvPr/>
        </p:nvSpPr>
        <p:spPr>
          <a:xfrm>
            <a:off x="4934374" y="33523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5877D5A-2B5E-ED91-69F7-6FEED63002BE}"/>
              </a:ext>
            </a:extLst>
          </p:cNvPr>
          <p:cNvSpPr/>
          <p:nvPr/>
        </p:nvSpPr>
        <p:spPr>
          <a:xfrm>
            <a:off x="1983420" y="3692744"/>
            <a:ext cx="295095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업종을 선택하세요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DA6FA6-9803-56E6-6BE6-44E319F6C5C9}"/>
              </a:ext>
            </a:extLst>
          </p:cNvPr>
          <p:cNvSpPr/>
          <p:nvPr/>
        </p:nvSpPr>
        <p:spPr>
          <a:xfrm>
            <a:off x="4934374" y="369274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6D485C6-5DE4-F68A-60C6-124F24FC5FBA}"/>
              </a:ext>
            </a:extLst>
          </p:cNvPr>
          <p:cNvSpPr/>
          <p:nvPr/>
        </p:nvSpPr>
        <p:spPr>
          <a:xfrm>
            <a:off x="183392" y="404620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5FE10B80-86BF-1B28-8693-DBAD30F8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22181"/>
              </p:ext>
            </p:extLst>
          </p:nvPr>
        </p:nvGraphicFramePr>
        <p:xfrm>
          <a:off x="164467" y="4339937"/>
          <a:ext cx="7776865" cy="1486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원가계산서(or 산출내역서)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pic>
        <p:nvPicPr>
          <p:cNvPr id="77" name="그림 76">
            <a:extLst>
              <a:ext uri="{FF2B5EF4-FFF2-40B4-BE49-F238E27FC236}">
                <a16:creationId xmlns:a16="http://schemas.microsoft.com/office/drawing/2014/main" id="{F4AEE734-4EFE-44EA-8F24-16833210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88" y="4388423"/>
            <a:ext cx="6120000" cy="642993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86A84C73-A333-183A-8EF1-F44BF7F8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88" y="5139553"/>
            <a:ext cx="6120000" cy="642993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2F8ED90E-9C55-C520-7B6C-AE99F66DFD1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D35DD71-D4F6-4A89-7C2C-C1B8546150C1}"/>
              </a:ext>
            </a:extLst>
          </p:cNvPr>
          <p:cNvSpPr/>
          <p:nvPr/>
        </p:nvSpPr>
        <p:spPr>
          <a:xfrm>
            <a:off x="164467" y="5913859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1B9318-9CE8-14C9-F02E-85434EF0D1C7}"/>
              </a:ext>
            </a:extLst>
          </p:cNvPr>
          <p:cNvSpPr/>
          <p:nvPr/>
        </p:nvSpPr>
        <p:spPr>
          <a:xfrm>
            <a:off x="7099612" y="5913859"/>
            <a:ext cx="82367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B910FBA-A802-2315-F401-94401E9DDE92}"/>
              </a:ext>
            </a:extLst>
          </p:cNvPr>
          <p:cNvSpPr/>
          <p:nvPr/>
        </p:nvSpPr>
        <p:spPr>
          <a:xfrm>
            <a:off x="60738" y="221185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169A794-DD2F-4513-5ABD-3B93B4CD0BF4}"/>
              </a:ext>
            </a:extLst>
          </p:cNvPr>
          <p:cNvSpPr/>
          <p:nvPr/>
        </p:nvSpPr>
        <p:spPr>
          <a:xfrm>
            <a:off x="60738" y="6809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0179523-BBA5-24C0-4D93-349C8AE617A8}"/>
              </a:ext>
            </a:extLst>
          </p:cNvPr>
          <p:cNvSpPr/>
          <p:nvPr/>
        </p:nvSpPr>
        <p:spPr>
          <a:xfrm>
            <a:off x="60738" y="117881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70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654E-18D7-87B1-EDC9-C203B893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7FE8CC6-ECA6-5564-F8E2-F9558879B6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5A091-E24A-A4A5-B08A-5356E3C21C43}"/>
              </a:ext>
            </a:extLst>
          </p:cNvPr>
          <p:cNvSpPr txBox="1"/>
          <p:nvPr/>
        </p:nvSpPr>
        <p:spPr>
          <a:xfrm>
            <a:off x="749224" y="25608"/>
            <a:ext cx="31983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매핑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11D15-F49B-71A7-9BC1-9C7AD568057D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휴대폰번호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D317F3-561E-2A52-2386-BCE50DC0E509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매핑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633F05-DA8F-B016-1203-A6CA43CE5932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5CBFF6-946E-2D27-0C9E-183E68FEF4E7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8CAE56-5018-A301-A035-8DC50EA45615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03926-4061-F282-06CD-8FF894AE1892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47300B-3D21-1734-2490-83BE94F0BB60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매핑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66EE8F5-FFCA-AD6E-4D7F-7AE519D68F51}"/>
              </a:ext>
            </a:extLst>
          </p:cNvPr>
          <p:cNvSpPr/>
          <p:nvPr/>
        </p:nvSpPr>
        <p:spPr>
          <a:xfrm>
            <a:off x="308486" y="1115884"/>
            <a:ext cx="6977681" cy="12955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D04C0E-9776-42F8-0B43-F37C2EAE4C53}"/>
              </a:ext>
            </a:extLst>
          </p:cNvPr>
          <p:cNvSpPr txBox="1"/>
          <p:nvPr/>
        </p:nvSpPr>
        <p:spPr>
          <a:xfrm>
            <a:off x="379868" y="1222389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993723-D8F9-94C0-266E-0DE315AF3E13}"/>
              </a:ext>
            </a:extLst>
          </p:cNvPr>
          <p:cNvSpPr txBox="1"/>
          <p:nvPr/>
        </p:nvSpPr>
        <p:spPr>
          <a:xfrm>
            <a:off x="379867" y="2059098"/>
            <a:ext cx="52157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C29F230-BF9D-D1B7-1A06-38CCF22EB6E2}"/>
              </a:ext>
            </a:extLst>
          </p:cNvPr>
          <p:cNvSpPr/>
          <p:nvPr/>
        </p:nvSpPr>
        <p:spPr>
          <a:xfrm>
            <a:off x="4827683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5E5C0A5-51D3-DD2E-9747-12B61C92F0E2}"/>
              </a:ext>
            </a:extLst>
          </p:cNvPr>
          <p:cNvSpPr/>
          <p:nvPr/>
        </p:nvSpPr>
        <p:spPr>
          <a:xfrm>
            <a:off x="5637934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62C209A-3E4B-2DD7-FA3B-988C94AF4C6F}"/>
              </a:ext>
            </a:extLst>
          </p:cNvPr>
          <p:cNvSpPr/>
          <p:nvPr/>
        </p:nvSpPr>
        <p:spPr>
          <a:xfrm>
            <a:off x="6051189" y="120998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3B54A34-33B3-1BB1-4E07-A5C7772DE500}"/>
              </a:ext>
            </a:extLst>
          </p:cNvPr>
          <p:cNvSpPr/>
          <p:nvPr/>
        </p:nvSpPr>
        <p:spPr>
          <a:xfrm>
            <a:off x="6861440" y="120999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EEF1471-D18E-D72E-BC84-CFC0F07514E2}"/>
              </a:ext>
            </a:extLst>
          </p:cNvPr>
          <p:cNvSpPr/>
          <p:nvPr/>
        </p:nvSpPr>
        <p:spPr>
          <a:xfrm>
            <a:off x="1537907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936DE9C-219C-8DA4-543F-F1AEBEBE159B}"/>
              </a:ext>
            </a:extLst>
          </p:cNvPr>
          <p:cNvSpPr/>
          <p:nvPr/>
        </p:nvSpPr>
        <p:spPr>
          <a:xfrm>
            <a:off x="2086476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403F909-D2F4-1551-C30F-74263E8A5C35}"/>
              </a:ext>
            </a:extLst>
          </p:cNvPr>
          <p:cNvSpPr/>
          <p:nvPr/>
        </p:nvSpPr>
        <p:spPr>
          <a:xfrm>
            <a:off x="2635045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0DB40AD-D397-B45A-2B77-84CDEDDD80F3}"/>
              </a:ext>
            </a:extLst>
          </p:cNvPr>
          <p:cNvSpPr/>
          <p:nvPr/>
        </p:nvSpPr>
        <p:spPr>
          <a:xfrm>
            <a:off x="3183614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85CC328-CFEA-E862-E0A8-9FF276ABCCBE}"/>
              </a:ext>
            </a:extLst>
          </p:cNvPr>
          <p:cNvSpPr/>
          <p:nvPr/>
        </p:nvSpPr>
        <p:spPr>
          <a:xfrm>
            <a:off x="3732183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2D2C928-CE71-C9CE-E5DA-E81D38CB71A1}"/>
              </a:ext>
            </a:extLst>
          </p:cNvPr>
          <p:cNvSpPr/>
          <p:nvPr/>
        </p:nvSpPr>
        <p:spPr>
          <a:xfrm>
            <a:off x="4280751" y="120998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E4562A-8CAF-7256-0AD1-2DF7897CBAC3}"/>
              </a:ext>
            </a:extLst>
          </p:cNvPr>
          <p:cNvSpPr txBox="1"/>
          <p:nvPr/>
        </p:nvSpPr>
        <p:spPr>
          <a:xfrm>
            <a:off x="379867" y="150210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3867237-FA82-E8B0-394F-9A3C8606ED34}"/>
              </a:ext>
            </a:extLst>
          </p:cNvPr>
          <p:cNvSpPr/>
          <p:nvPr/>
        </p:nvSpPr>
        <p:spPr>
          <a:xfrm>
            <a:off x="1543915" y="205195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5FFD9A4-F3E5-A1C5-18C2-6395C0BA39DB}"/>
              </a:ext>
            </a:extLst>
          </p:cNvPr>
          <p:cNvSpPr/>
          <p:nvPr/>
        </p:nvSpPr>
        <p:spPr>
          <a:xfrm>
            <a:off x="2354166" y="205195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8490B92F-7554-CDC4-0419-FBCB3CF3E24C}"/>
              </a:ext>
            </a:extLst>
          </p:cNvPr>
          <p:cNvSpPr/>
          <p:nvPr/>
        </p:nvSpPr>
        <p:spPr>
          <a:xfrm>
            <a:off x="2669303" y="205195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4C2F416-5C0E-72B3-F8E0-66927858DD35}"/>
              </a:ext>
            </a:extLst>
          </p:cNvPr>
          <p:cNvSpPr/>
          <p:nvPr/>
        </p:nvSpPr>
        <p:spPr>
          <a:xfrm>
            <a:off x="6377311" y="205195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8DEC913-FC5B-A7C5-66DF-6C2CF3385D4C}"/>
              </a:ext>
            </a:extLst>
          </p:cNvPr>
          <p:cNvSpPr/>
          <p:nvPr/>
        </p:nvSpPr>
        <p:spPr>
          <a:xfrm>
            <a:off x="1543915" y="1496115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058432-02CC-501B-2551-D0D1D9A64FF1}"/>
              </a:ext>
            </a:extLst>
          </p:cNvPr>
          <p:cNvSpPr/>
          <p:nvPr/>
        </p:nvSpPr>
        <p:spPr>
          <a:xfrm>
            <a:off x="2625872" y="149611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36398C-46FE-DF82-41AB-24E0DB16B025}"/>
              </a:ext>
            </a:extLst>
          </p:cNvPr>
          <p:cNvSpPr txBox="1"/>
          <p:nvPr/>
        </p:nvSpPr>
        <p:spPr>
          <a:xfrm>
            <a:off x="379867" y="177225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소싱 그룹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F8C501C9-2175-FDFE-6E7C-7AEECB29D295}"/>
              </a:ext>
            </a:extLst>
          </p:cNvPr>
          <p:cNvSpPr/>
          <p:nvPr/>
        </p:nvSpPr>
        <p:spPr>
          <a:xfrm>
            <a:off x="1543915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선택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205F92B-5A89-76D5-84B8-40CEEABAB145}"/>
              </a:ext>
            </a:extLst>
          </p:cNvPr>
          <p:cNvSpPr/>
          <p:nvPr/>
        </p:nvSpPr>
        <p:spPr>
          <a:xfrm>
            <a:off x="2635196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5DBB2C1-B23A-DEA8-B4C0-6812E72AB737}"/>
              </a:ext>
            </a:extLst>
          </p:cNvPr>
          <p:cNvSpPr/>
          <p:nvPr/>
        </p:nvSpPr>
        <p:spPr>
          <a:xfrm>
            <a:off x="2920124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선택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7331447B-4635-036C-E8F5-C65E81716129}"/>
              </a:ext>
            </a:extLst>
          </p:cNvPr>
          <p:cNvSpPr/>
          <p:nvPr/>
        </p:nvSpPr>
        <p:spPr>
          <a:xfrm>
            <a:off x="4011405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41CF5DDA-4C07-4055-206F-F417D4BCBB64}"/>
              </a:ext>
            </a:extLst>
          </p:cNvPr>
          <p:cNvSpPr/>
          <p:nvPr/>
        </p:nvSpPr>
        <p:spPr>
          <a:xfrm>
            <a:off x="4289582" y="1772346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선택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ED98D9B-A55E-6318-EACC-F2A78FE7CCD2}"/>
              </a:ext>
            </a:extLst>
          </p:cNvPr>
          <p:cNvSpPr/>
          <p:nvPr/>
        </p:nvSpPr>
        <p:spPr>
          <a:xfrm>
            <a:off x="5380863" y="17723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0B1489E6-7D79-DA59-7C38-6CA88808CDF0}"/>
              </a:ext>
            </a:extLst>
          </p:cNvPr>
          <p:cNvSpPr/>
          <p:nvPr/>
        </p:nvSpPr>
        <p:spPr>
          <a:xfrm>
            <a:off x="6248548" y="252366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9F66F2D7-08DD-D09B-1E1E-07C183B151EE}"/>
              </a:ext>
            </a:extLst>
          </p:cNvPr>
          <p:cNvSpPr/>
          <p:nvPr/>
        </p:nvSpPr>
        <p:spPr>
          <a:xfrm>
            <a:off x="7070010" y="252366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0C6215D-92E2-7E00-DF35-A728F00B65A4}"/>
              </a:ext>
            </a:extLst>
          </p:cNvPr>
          <p:cNvSpPr txBox="1"/>
          <p:nvPr/>
        </p:nvSpPr>
        <p:spPr>
          <a:xfrm>
            <a:off x="320324" y="2510148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B76688DA-E4D1-E450-0CD8-32965DC6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00639"/>
              </p:ext>
            </p:extLst>
          </p:nvPr>
        </p:nvGraphicFramePr>
        <p:xfrm>
          <a:off x="318718" y="2853618"/>
          <a:ext cx="6963711" cy="2027520"/>
        </p:xfrm>
        <a:graphic>
          <a:graphicData uri="http://schemas.openxmlformats.org/drawingml/2006/table">
            <a:tbl>
              <a:tblPr firstRow="1" bandRow="1"/>
              <a:tblGrid>
                <a:gridCol w="104641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09911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89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1331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434461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881199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881199">
                  <a:extLst>
                    <a:ext uri="{9D8B030D-6E8A-4147-A177-3AD203B41FA5}">
                      <a16:colId xmlns:a16="http://schemas.microsoft.com/office/drawing/2014/main" val="2177102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휴대폰번호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매핑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한성건설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김지연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테크놀로지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박가람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80E387C1-2C04-DE7A-519A-4497834B8995}"/>
              </a:ext>
            </a:extLst>
          </p:cNvPr>
          <p:cNvSpPr/>
          <p:nvPr/>
        </p:nvSpPr>
        <p:spPr>
          <a:xfrm>
            <a:off x="6469347" y="5377318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CE7C1CF9-3F5D-A7C2-4A0B-3582A6B5E32F}"/>
              </a:ext>
            </a:extLst>
          </p:cNvPr>
          <p:cNvGrpSpPr/>
          <p:nvPr/>
        </p:nvGrpSpPr>
        <p:grpSpPr>
          <a:xfrm>
            <a:off x="1847640" y="4993150"/>
            <a:ext cx="4025354" cy="216024"/>
            <a:chOff x="2992062" y="4869160"/>
            <a:chExt cx="4025354" cy="216024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A77E0EF2-6255-12FF-BCCB-07C748C9CC4B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C6AFC5C-B5C1-44E5-04DF-F958545666E4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4949DA60-02D9-FEF4-F89A-6C116C03E8D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B00CABD-7A13-981F-D1A8-C9FD25604C0F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DBCF408-8400-CF6A-30EF-F557759F225D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6A98FCF-EB51-BED5-E88C-D8D12EB757B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95EAED-40BD-F4B6-41E9-F85B94328BCB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81D114C5-93AC-962E-86C9-EC501F186B6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DC270627-CE32-33E3-399C-B690A6EA7E8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73F60474-7CB2-04D1-C02B-4BDF0DB2F09A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573125AE-01A8-0CFC-D124-C4A20250529E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DCFFD514-DEB3-3D44-E692-E59CCD809649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F8872679-AC8F-4D38-29A9-957193D0B19E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AB08C780-07AC-14C9-E042-B64A4B130BBC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B51331-6980-7360-6B0E-5AACEFA75179}"/>
              </a:ext>
            </a:extLst>
          </p:cNvPr>
          <p:cNvSpPr/>
          <p:nvPr/>
        </p:nvSpPr>
        <p:spPr>
          <a:xfrm>
            <a:off x="6623103" y="3243651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62443A-F89D-8B19-4B84-5B9C667239C1}"/>
              </a:ext>
            </a:extLst>
          </p:cNvPr>
          <p:cNvSpPr/>
          <p:nvPr/>
        </p:nvSpPr>
        <p:spPr>
          <a:xfrm>
            <a:off x="6623103" y="3584813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ECBC55-5A3F-9B2B-A467-96A3505BBA67}"/>
              </a:ext>
            </a:extLst>
          </p:cNvPr>
          <p:cNvSpPr/>
          <p:nvPr/>
        </p:nvSpPr>
        <p:spPr>
          <a:xfrm>
            <a:off x="6623103" y="3925975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C0C5B5A-7EBF-5786-CB1B-BAFD8AAD9AF7}"/>
              </a:ext>
            </a:extLst>
          </p:cNvPr>
          <p:cNvSpPr/>
          <p:nvPr/>
        </p:nvSpPr>
        <p:spPr>
          <a:xfrm>
            <a:off x="6623103" y="4267137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EE6210-C653-16EE-F6A6-49015B301A0E}"/>
              </a:ext>
            </a:extLst>
          </p:cNvPr>
          <p:cNvSpPr/>
          <p:nvPr/>
        </p:nvSpPr>
        <p:spPr>
          <a:xfrm>
            <a:off x="6623103" y="4608299"/>
            <a:ext cx="447902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2F21E02-87FA-6923-B039-86F4208B7A62}"/>
              </a:ext>
            </a:extLst>
          </p:cNvPr>
          <p:cNvSpPr/>
          <p:nvPr/>
        </p:nvSpPr>
        <p:spPr>
          <a:xfrm>
            <a:off x="1413145" y="193981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713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803E-1A8E-4F5D-ED40-2ADA0574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46E89B-67CA-1C2F-7CD3-705A5B970E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6C099-E169-35B2-E764-71C8D17B0738}"/>
              </a:ext>
            </a:extLst>
          </p:cNvPr>
          <p:cNvSpPr txBox="1"/>
          <p:nvPr/>
        </p:nvSpPr>
        <p:spPr>
          <a:xfrm>
            <a:off x="749224" y="25608"/>
            <a:ext cx="1952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B2A20-0227-5A9D-848A-E9FA5DB97D49}"/>
              </a:ext>
            </a:extLst>
          </p:cNvPr>
          <p:cNvSpPr txBox="1"/>
          <p:nvPr/>
        </p:nvSpPr>
        <p:spPr>
          <a:xfrm>
            <a:off x="8049344" y="584684"/>
            <a:ext cx="1856656" cy="566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품목구성방법이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품목단가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경우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품목에서 불러와서 품목정보를 등록하는 기능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 다음 페이지의 팝업 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개별로 직접 등록하는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하나라도 반드시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등록되어 있어야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최소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 등록되어야 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수정하는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70C842-8427-751D-2A5E-A80B518F2BAD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7E08D5A-4D20-B4A4-5271-1F4F0C94D72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2F0B86-964A-FF77-E04F-C3E626229FD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3BAD70-EC32-322B-CEB4-7A38750D523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B9ED2187-0D84-81B9-699E-97FF0E3E9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3B586A-66E8-A946-8918-ECAE1D4DEDED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C1B784-ADFB-044C-2F7C-60E2341CF20D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5A539A-8205-6FBA-9562-D271359BEFEA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3BC3DB-8608-F546-0AAD-FB5C88ACB2B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B2B0C-388F-B27E-CCD4-03CAEBEBFFA7}"/>
              </a:ext>
            </a:extLst>
          </p:cNvPr>
          <p:cNvSpPr txBox="1"/>
          <p:nvPr/>
        </p:nvSpPr>
        <p:spPr>
          <a:xfrm>
            <a:off x="164468" y="2308861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2AEED8C-D1B6-B616-E3A0-2FC6B5F1F6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B1A19EB-BC7B-CC55-939C-141C61201E84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</a:t>
              </a: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C8A1886-F5BC-ADED-E546-4A26E761F2CC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107C3F4-E00F-3CC0-894A-C10742A17499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DD18116-7616-4D5D-83BF-E9628F803895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8958CDB-D5A8-F812-60AC-826851114EB9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28B49F3-F617-C47B-4B6D-FC8737E3A7CE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2591949"/>
          <a:ext cx="8886123" cy="135168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9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940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04034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9F4D3C-6BB4-2986-CAD6-8FF93E722C99}"/>
              </a:ext>
            </a:extLst>
          </p:cNvPr>
          <p:cNvSpPr/>
          <p:nvPr/>
        </p:nvSpPr>
        <p:spPr>
          <a:xfrm>
            <a:off x="7965709" y="2995289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7AE51A-C3B2-FFF6-A15A-8670ADB74E77}"/>
              </a:ext>
            </a:extLst>
          </p:cNvPr>
          <p:cNvSpPr/>
          <p:nvPr/>
        </p:nvSpPr>
        <p:spPr>
          <a:xfrm>
            <a:off x="8558306" y="2995289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FF07B3E-0B3C-54FA-921D-F01E68F8177A}"/>
              </a:ext>
            </a:extLst>
          </p:cNvPr>
          <p:cNvSpPr/>
          <p:nvPr/>
        </p:nvSpPr>
        <p:spPr>
          <a:xfrm>
            <a:off x="7965709" y="3334487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96056E-834D-4D62-8D89-3A7E87E2DC28}"/>
              </a:ext>
            </a:extLst>
          </p:cNvPr>
          <p:cNvSpPr/>
          <p:nvPr/>
        </p:nvSpPr>
        <p:spPr>
          <a:xfrm>
            <a:off x="8558306" y="3334487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2B413E-0559-B5A7-0BBD-F11A174311B7}"/>
              </a:ext>
            </a:extLst>
          </p:cNvPr>
          <p:cNvSpPr/>
          <p:nvPr/>
        </p:nvSpPr>
        <p:spPr>
          <a:xfrm>
            <a:off x="7965709" y="3673685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E25597-9B9F-BB07-E6FB-A6EC7B803B7A}"/>
              </a:ext>
            </a:extLst>
          </p:cNvPr>
          <p:cNvSpPr/>
          <p:nvPr/>
        </p:nvSpPr>
        <p:spPr>
          <a:xfrm>
            <a:off x="8558306" y="3673685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08EA39-5E9E-7027-5F8B-E41F107CC4F5}"/>
              </a:ext>
            </a:extLst>
          </p:cNvPr>
          <p:cNvSpPr/>
          <p:nvPr/>
        </p:nvSpPr>
        <p:spPr>
          <a:xfrm>
            <a:off x="6789204" y="4044256"/>
            <a:ext cx="1444693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등록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26CD27-4E09-1E78-389E-8BDB9BED43E5}"/>
              </a:ext>
            </a:extLst>
          </p:cNvPr>
          <p:cNvSpPr/>
          <p:nvPr/>
        </p:nvSpPr>
        <p:spPr>
          <a:xfrm>
            <a:off x="2681074" y="4044256"/>
            <a:ext cx="1444693" cy="288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양식 다운로드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ACF125-6938-F531-D255-AFA478CB8AE2}"/>
              </a:ext>
            </a:extLst>
          </p:cNvPr>
          <p:cNvSpPr/>
          <p:nvPr/>
        </p:nvSpPr>
        <p:spPr>
          <a:xfrm>
            <a:off x="4179253" y="4044256"/>
            <a:ext cx="1363908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7928F1-45CE-3040-B1DE-F266A268862E}"/>
              </a:ext>
            </a:extLst>
          </p:cNvPr>
          <p:cNvSpPr/>
          <p:nvPr/>
        </p:nvSpPr>
        <p:spPr>
          <a:xfrm>
            <a:off x="8290265" y="4044256"/>
            <a:ext cx="76214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733BCAB-3C57-DE68-1041-BE37059002F3}"/>
              </a:ext>
            </a:extLst>
          </p:cNvPr>
          <p:cNvSpPr/>
          <p:nvPr/>
        </p:nvSpPr>
        <p:spPr>
          <a:xfrm>
            <a:off x="2553082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02D8FE-D3CA-867D-483F-5431380BCECD}"/>
              </a:ext>
            </a:extLst>
          </p:cNvPr>
          <p:cNvSpPr txBox="1"/>
          <p:nvPr/>
        </p:nvSpPr>
        <p:spPr>
          <a:xfrm>
            <a:off x="854984" y="4973266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A917987-EB20-0F56-35CD-C5063A6214EA}"/>
              </a:ext>
            </a:extLst>
          </p:cNvPr>
          <p:cNvSpPr/>
          <p:nvPr/>
        </p:nvSpPr>
        <p:spPr>
          <a:xfrm>
            <a:off x="126917" y="4691733"/>
            <a:ext cx="5002057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CCE732E-6369-C218-2492-34EF45E80D86}"/>
              </a:ext>
            </a:extLst>
          </p:cNvPr>
          <p:cNvSpPr/>
          <p:nvPr/>
        </p:nvSpPr>
        <p:spPr>
          <a:xfrm>
            <a:off x="126917" y="4964645"/>
            <a:ext cx="5002057" cy="12726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B8DA8DC-B536-25D5-E886-077EF7EB5378}"/>
              </a:ext>
            </a:extLst>
          </p:cNvPr>
          <p:cNvSpPr/>
          <p:nvPr/>
        </p:nvSpPr>
        <p:spPr>
          <a:xfrm>
            <a:off x="4858974" y="469173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37A5A2C-DF59-A2F5-E26C-A2DD64B0EA7B}"/>
              </a:ext>
            </a:extLst>
          </p:cNvPr>
          <p:cNvSpPr/>
          <p:nvPr/>
        </p:nvSpPr>
        <p:spPr>
          <a:xfrm>
            <a:off x="2900772" y="5798617"/>
            <a:ext cx="136815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B0EB93A-4AA9-B424-D15B-BE7A80BCDBC4}"/>
              </a:ext>
            </a:extLst>
          </p:cNvPr>
          <p:cNvSpPr/>
          <p:nvPr/>
        </p:nvSpPr>
        <p:spPr>
          <a:xfrm>
            <a:off x="4328670" y="5798617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AB1BF0B-A3A9-4F9E-ECFE-EC9CD18E2A7D}"/>
              </a:ext>
            </a:extLst>
          </p:cNvPr>
          <p:cNvSpPr/>
          <p:nvPr/>
        </p:nvSpPr>
        <p:spPr>
          <a:xfrm>
            <a:off x="258137" y="5061034"/>
            <a:ext cx="145392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F1A5089-77EE-C31B-C026-DBFDD113099E}"/>
              </a:ext>
            </a:extLst>
          </p:cNvPr>
          <p:cNvGraphicFramePr>
            <a:graphicFrameLocks noGrp="1"/>
          </p:cNvGraphicFramePr>
          <p:nvPr/>
        </p:nvGraphicFramePr>
        <p:xfrm>
          <a:off x="257100" y="5369892"/>
          <a:ext cx="4767908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3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22659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정보 추가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 업로드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71" name="직사각형 70">
            <a:extLst>
              <a:ext uri="{FF2B5EF4-FFF2-40B4-BE49-F238E27FC236}">
                <a16:creationId xmlns:a16="http://schemas.microsoft.com/office/drawing/2014/main" id="{4D9C7CF0-70CE-FC0C-6F9B-A57C760E5EE1}"/>
              </a:ext>
            </a:extLst>
          </p:cNvPr>
          <p:cNvSpPr/>
          <p:nvPr/>
        </p:nvSpPr>
        <p:spPr>
          <a:xfrm>
            <a:off x="1879040" y="543937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2299DA0-74FC-87B1-D1E9-66CDD7F54E0E}"/>
              </a:ext>
            </a:extLst>
          </p:cNvPr>
          <p:cNvSpPr/>
          <p:nvPr/>
        </p:nvSpPr>
        <p:spPr>
          <a:xfrm>
            <a:off x="4236552" y="5440915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52F230DF-6E6A-5F6E-639D-6DC12811C038}"/>
              </a:ext>
            </a:extLst>
          </p:cNvPr>
          <p:cNvCxnSpPr>
            <a:cxnSpLocks/>
            <a:stCxn id="47" idx="2"/>
            <a:endCxn id="55" idx="0"/>
          </p:cNvCxnSpPr>
          <p:nvPr/>
        </p:nvCxnSpPr>
        <p:spPr>
          <a:xfrm rot="5400000">
            <a:off x="3564855" y="3395380"/>
            <a:ext cx="359445" cy="223326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699F6EF-627F-C909-F64C-8807495239C2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9285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179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02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329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87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105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4" name="타원 23">
            <a:extLst>
              <a:ext uri="{FF2B5EF4-FFF2-40B4-BE49-F238E27FC236}">
                <a16:creationId xmlns:a16="http://schemas.microsoft.com/office/drawing/2014/main" id="{084813E9-7A12-D631-8BE5-41EB507623A8}"/>
              </a:ext>
            </a:extLst>
          </p:cNvPr>
          <p:cNvSpPr/>
          <p:nvPr/>
        </p:nvSpPr>
        <p:spPr>
          <a:xfrm>
            <a:off x="7817401" y="28950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CF17E3-BBCB-5079-69B0-EAE3FDE206B6}"/>
              </a:ext>
            </a:extLst>
          </p:cNvPr>
          <p:cNvSpPr/>
          <p:nvPr/>
        </p:nvSpPr>
        <p:spPr>
          <a:xfrm>
            <a:off x="5585441" y="4044256"/>
            <a:ext cx="1147395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2E30524-9838-49E7-8FED-154CB1D62DE2}"/>
              </a:ext>
            </a:extLst>
          </p:cNvPr>
          <p:cNvSpPr/>
          <p:nvPr/>
        </p:nvSpPr>
        <p:spPr>
          <a:xfrm>
            <a:off x="548863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E6A9DE2-A376-2E52-0112-A312C22EC32E}"/>
              </a:ext>
            </a:extLst>
          </p:cNvPr>
          <p:cNvSpPr/>
          <p:nvPr/>
        </p:nvSpPr>
        <p:spPr>
          <a:xfrm>
            <a:off x="669000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981A1A4-B6AB-14B5-D43D-C7A955DC0D51}"/>
              </a:ext>
            </a:extLst>
          </p:cNvPr>
          <p:cNvSpPr/>
          <p:nvPr/>
        </p:nvSpPr>
        <p:spPr>
          <a:xfrm>
            <a:off x="8182253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22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4E38-48AE-7E6F-3BDC-42ADF3D5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C1434C5-A88D-58E1-1D5D-2DC4B838B7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78402-7F32-41BB-1DB8-3EC15C01030F}"/>
              </a:ext>
            </a:extLst>
          </p:cNvPr>
          <p:cNvSpPr txBox="1"/>
          <p:nvPr/>
        </p:nvSpPr>
        <p:spPr>
          <a:xfrm>
            <a:off x="749224" y="25608"/>
            <a:ext cx="30043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9E3B7B-6FDF-F299-EBF1-15C77345889C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1609FA-53FD-0104-B870-EE188E86B0FF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AD3FDC-06B7-0576-3329-B9E06972F805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2469DF-FD3C-B6FC-CB48-E686FBFF93BE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0C67DC-D6BB-A2A1-6560-AC8449EF6E4E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01EFFE-1C63-520A-3A06-6510CBE4790C}"/>
              </a:ext>
            </a:extLst>
          </p:cNvPr>
          <p:cNvSpPr/>
          <p:nvPr/>
        </p:nvSpPr>
        <p:spPr>
          <a:xfrm>
            <a:off x="301563" y="792082"/>
            <a:ext cx="132087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CEC43D-AD35-34D1-E1C8-EBFF50381ECB}"/>
              </a:ext>
            </a:extLst>
          </p:cNvPr>
          <p:cNvSpPr/>
          <p:nvPr/>
        </p:nvSpPr>
        <p:spPr>
          <a:xfrm>
            <a:off x="6469347" y="5350086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A43045-514A-B134-F8E5-FA6711F2DF77}"/>
              </a:ext>
            </a:extLst>
          </p:cNvPr>
          <p:cNvSpPr/>
          <p:nvPr/>
        </p:nvSpPr>
        <p:spPr>
          <a:xfrm>
            <a:off x="5605582" y="535008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760D6C-0681-ABD5-08D2-1A595EB1CF72}"/>
              </a:ext>
            </a:extLst>
          </p:cNvPr>
          <p:cNvSpPr/>
          <p:nvPr/>
        </p:nvSpPr>
        <p:spPr>
          <a:xfrm>
            <a:off x="306217" y="1125017"/>
            <a:ext cx="6976213" cy="12923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FDBB29-574D-E914-64CD-9699BF5C1C23}"/>
              </a:ext>
            </a:extLst>
          </p:cNvPr>
          <p:cNvSpPr/>
          <p:nvPr/>
        </p:nvSpPr>
        <p:spPr>
          <a:xfrm>
            <a:off x="1550272" y="206234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B3687F-3AAD-F7CD-C634-67C5F8AB2758}"/>
              </a:ext>
            </a:extLst>
          </p:cNvPr>
          <p:cNvSpPr/>
          <p:nvPr/>
        </p:nvSpPr>
        <p:spPr>
          <a:xfrm>
            <a:off x="2360523" y="206235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63AE0F-A659-B61B-34DB-64B9A2842DC4}"/>
              </a:ext>
            </a:extLst>
          </p:cNvPr>
          <p:cNvSpPr/>
          <p:nvPr/>
        </p:nvSpPr>
        <p:spPr>
          <a:xfrm>
            <a:off x="2675660" y="206234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CF2F09-0829-685D-3344-80467B0EC5FD}"/>
              </a:ext>
            </a:extLst>
          </p:cNvPr>
          <p:cNvSpPr/>
          <p:nvPr/>
        </p:nvSpPr>
        <p:spPr>
          <a:xfrm>
            <a:off x="6383668" y="206235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E7F06-0239-36C9-D8E0-8893712ED91F}"/>
              </a:ext>
            </a:extLst>
          </p:cNvPr>
          <p:cNvSpPr txBox="1"/>
          <p:nvPr/>
        </p:nvSpPr>
        <p:spPr>
          <a:xfrm>
            <a:off x="377599" y="1231522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ADF0FE-A088-4DA2-43A2-F920260E5A8C}"/>
              </a:ext>
            </a:extLst>
          </p:cNvPr>
          <p:cNvSpPr txBox="1"/>
          <p:nvPr/>
        </p:nvSpPr>
        <p:spPr>
          <a:xfrm>
            <a:off x="377598" y="2069493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AE4D25E-53BE-530F-4780-E08DFAB7098A}"/>
              </a:ext>
            </a:extLst>
          </p:cNvPr>
          <p:cNvSpPr/>
          <p:nvPr/>
        </p:nvSpPr>
        <p:spPr>
          <a:xfrm>
            <a:off x="4825414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EF67D5-CBA5-F4DA-9574-EE24B4E9BCA6}"/>
              </a:ext>
            </a:extLst>
          </p:cNvPr>
          <p:cNvSpPr/>
          <p:nvPr/>
        </p:nvSpPr>
        <p:spPr>
          <a:xfrm>
            <a:off x="5635665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6412AAB-B95A-E93A-9D54-00E8AB8FBD24}"/>
              </a:ext>
            </a:extLst>
          </p:cNvPr>
          <p:cNvSpPr/>
          <p:nvPr/>
        </p:nvSpPr>
        <p:spPr>
          <a:xfrm>
            <a:off x="6048920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507785-E77D-0947-B743-6BB5D986A24B}"/>
              </a:ext>
            </a:extLst>
          </p:cNvPr>
          <p:cNvSpPr/>
          <p:nvPr/>
        </p:nvSpPr>
        <p:spPr>
          <a:xfrm>
            <a:off x="6859171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D792A7-B129-DDE9-8EB9-ABE018F40A0A}"/>
              </a:ext>
            </a:extLst>
          </p:cNvPr>
          <p:cNvSpPr/>
          <p:nvPr/>
        </p:nvSpPr>
        <p:spPr>
          <a:xfrm>
            <a:off x="1535638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46A8BE-26B7-4686-5A23-FD3F9D00257A}"/>
              </a:ext>
            </a:extLst>
          </p:cNvPr>
          <p:cNvSpPr/>
          <p:nvPr/>
        </p:nvSpPr>
        <p:spPr>
          <a:xfrm>
            <a:off x="2084207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F1ACBA-12AC-398E-2BBB-07C7634B4DCF}"/>
              </a:ext>
            </a:extLst>
          </p:cNvPr>
          <p:cNvSpPr/>
          <p:nvPr/>
        </p:nvSpPr>
        <p:spPr>
          <a:xfrm>
            <a:off x="2632776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B10960E-DFF5-4EA5-2B96-AB1DF3C9E681}"/>
              </a:ext>
            </a:extLst>
          </p:cNvPr>
          <p:cNvSpPr/>
          <p:nvPr/>
        </p:nvSpPr>
        <p:spPr>
          <a:xfrm>
            <a:off x="3181345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4D06BB4-7DCE-5529-DF9F-BF2C628A1DE9}"/>
              </a:ext>
            </a:extLst>
          </p:cNvPr>
          <p:cNvSpPr/>
          <p:nvPr/>
        </p:nvSpPr>
        <p:spPr>
          <a:xfrm>
            <a:off x="3729914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AABE7FB-B3E4-3B25-F3F9-95B2D610BAEC}"/>
              </a:ext>
            </a:extLst>
          </p:cNvPr>
          <p:cNvSpPr/>
          <p:nvPr/>
        </p:nvSpPr>
        <p:spPr>
          <a:xfrm>
            <a:off x="4278482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0BAEA4-204B-1761-E39E-5B76A42F6977}"/>
              </a:ext>
            </a:extLst>
          </p:cNvPr>
          <p:cNvSpPr/>
          <p:nvPr/>
        </p:nvSpPr>
        <p:spPr>
          <a:xfrm>
            <a:off x="6241644" y="248916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8404CB6-2EC3-5330-6E43-6B428C21E4B9}"/>
              </a:ext>
            </a:extLst>
          </p:cNvPr>
          <p:cNvSpPr/>
          <p:nvPr/>
        </p:nvSpPr>
        <p:spPr>
          <a:xfrm>
            <a:off x="7063106" y="248916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4725BE-865B-4E0C-67D9-0A71C3EF50C5}"/>
              </a:ext>
            </a:extLst>
          </p:cNvPr>
          <p:cNvSpPr txBox="1"/>
          <p:nvPr/>
        </p:nvSpPr>
        <p:spPr>
          <a:xfrm>
            <a:off x="323255" y="247564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3B4332A-E4AF-39C9-8CAC-8204E29D26EC}"/>
              </a:ext>
            </a:extLst>
          </p:cNvPr>
          <p:cNvGraphicFramePr>
            <a:graphicFrameLocks noGrp="1"/>
          </p:cNvGraphicFramePr>
          <p:nvPr/>
        </p:nvGraphicFramePr>
        <p:xfrm>
          <a:off x="323253" y="2782477"/>
          <a:ext cx="695529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81394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256371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466386541"/>
                    </a:ext>
                  </a:extLst>
                </a:gridCol>
                <a:gridCol w="734893">
                  <a:extLst>
                    <a:ext uri="{9D8B030D-6E8A-4147-A177-3AD203B41FA5}">
                      <a16:colId xmlns:a16="http://schemas.microsoft.com/office/drawing/2014/main" val="3354468507"/>
                    </a:ext>
                  </a:extLst>
                </a:gridCol>
                <a:gridCol w="774893">
                  <a:extLst>
                    <a:ext uri="{9D8B030D-6E8A-4147-A177-3AD203B41FA5}">
                      <a16:colId xmlns:a16="http://schemas.microsoft.com/office/drawing/2014/main" val="2609923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ESSPCS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D305D5E-1984-A937-F854-907DE8AF7A9D}"/>
              </a:ext>
            </a:extLst>
          </p:cNvPr>
          <p:cNvGrpSpPr/>
          <p:nvPr/>
        </p:nvGrpSpPr>
        <p:grpSpPr>
          <a:xfrm>
            <a:off x="1841468" y="4917964"/>
            <a:ext cx="4025354" cy="216024"/>
            <a:chOff x="2992062" y="4869160"/>
            <a:chExt cx="4025354" cy="216024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431D658-718D-496C-BB0D-94302C92497E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7570297-3E78-2C3D-04A4-5BA0865DC2F4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E43ED3D-8BBA-20C8-718A-1CFED7CD484A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2CF8A45-9C99-2BE2-46F1-D56200572E37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6C167AB-10BE-67EB-5C35-15C71335402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5AA593F-E267-3C3D-A4B8-1A2AFD5E50C4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C3B8389-A534-AC47-0A2B-9882A6BC4CB7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72AE8CB-6B2A-9A57-CED7-F32FA262A0DB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73BB2DE-2617-91C1-D1CD-BC48B3B1E891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6292C37-4573-8952-6062-C540BC293705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28CE199-A2FA-A1C6-8065-B5FA7C8F095C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8878DB6-B899-E8DA-C4B3-585DDAFF78AA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D063D8C-1A87-301C-0867-C58D4541625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82D20AB-D3DE-4160-E45A-1B055FE25454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5F789FF-65B3-05F6-D218-835E7C4643A7}"/>
              </a:ext>
            </a:extLst>
          </p:cNvPr>
          <p:cNvSpPr txBox="1"/>
          <p:nvPr/>
        </p:nvSpPr>
        <p:spPr>
          <a:xfrm>
            <a:off x="377598" y="1504581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분류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4C818B6-0396-42B6-2ABA-CCD35F514BF2}"/>
              </a:ext>
            </a:extLst>
          </p:cNvPr>
          <p:cNvSpPr/>
          <p:nvPr/>
        </p:nvSpPr>
        <p:spPr>
          <a:xfrm>
            <a:off x="1541646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05509C9-7412-9865-7E52-373992DF78C6}"/>
              </a:ext>
            </a:extLst>
          </p:cNvPr>
          <p:cNvSpPr/>
          <p:nvPr/>
        </p:nvSpPr>
        <p:spPr>
          <a:xfrm>
            <a:off x="2916107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233A515-316E-1ACE-516E-1EACFA83886B}"/>
              </a:ext>
            </a:extLst>
          </p:cNvPr>
          <p:cNvSpPr/>
          <p:nvPr/>
        </p:nvSpPr>
        <p:spPr>
          <a:xfrm>
            <a:off x="3180803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7DB303-60D2-6C68-D3F6-A817CFF0F091}"/>
              </a:ext>
            </a:extLst>
          </p:cNvPr>
          <p:cNvSpPr/>
          <p:nvPr/>
        </p:nvSpPr>
        <p:spPr>
          <a:xfrm>
            <a:off x="4555264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64067A1-215F-6357-9B4B-2A5595CE1FE6}"/>
              </a:ext>
            </a:extLst>
          </p:cNvPr>
          <p:cNvSpPr/>
          <p:nvPr/>
        </p:nvSpPr>
        <p:spPr>
          <a:xfrm>
            <a:off x="4819960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18C7956-EB68-0CBD-7A04-7C2B636D6D31}"/>
              </a:ext>
            </a:extLst>
          </p:cNvPr>
          <p:cNvSpPr/>
          <p:nvPr/>
        </p:nvSpPr>
        <p:spPr>
          <a:xfrm>
            <a:off x="6194421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43941-1D69-F29D-743A-C04FFC4340F5}"/>
              </a:ext>
            </a:extLst>
          </p:cNvPr>
          <p:cNvSpPr txBox="1"/>
          <p:nvPr/>
        </p:nvSpPr>
        <p:spPr>
          <a:xfrm>
            <a:off x="377598" y="1781894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발주단위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8D07F4A-73D2-2895-CF06-3325D974D3C6}"/>
              </a:ext>
            </a:extLst>
          </p:cNvPr>
          <p:cNvSpPr/>
          <p:nvPr/>
        </p:nvSpPr>
        <p:spPr>
          <a:xfrm>
            <a:off x="1541646" y="1774749"/>
            <a:ext cx="1034317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발주단위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8215DE3-A02E-818B-4A20-710070BC5C31}"/>
              </a:ext>
            </a:extLst>
          </p:cNvPr>
          <p:cNvSpPr/>
          <p:nvPr/>
        </p:nvSpPr>
        <p:spPr>
          <a:xfrm>
            <a:off x="2582979" y="17747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792E262-6D22-35D6-DEBE-6249A064F796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9ECC92-145A-7326-939B-E5949D9404F2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관리의 공통 품목에 등록된 내용을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517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F0C0-D430-2318-B58C-475C1BBA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3B10FE-8473-4B29-39C8-BC904A6DBC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5E71E-89E7-4855-B833-385486C62F10}"/>
              </a:ext>
            </a:extLst>
          </p:cNvPr>
          <p:cNvSpPr txBox="1"/>
          <p:nvPr/>
        </p:nvSpPr>
        <p:spPr>
          <a:xfrm>
            <a:off x="749224" y="25608"/>
            <a:ext cx="3005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97F959-5AAD-9E0F-71D4-DFE56AA8072D}"/>
              </a:ext>
            </a:extLst>
          </p:cNvPr>
          <p:cNvSpPr/>
          <p:nvPr/>
        </p:nvSpPr>
        <p:spPr>
          <a:xfrm>
            <a:off x="164469" y="443797"/>
            <a:ext cx="446449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2FB9BD-3DBC-52FF-3F21-1A828634F575}"/>
              </a:ext>
            </a:extLst>
          </p:cNvPr>
          <p:cNvSpPr/>
          <p:nvPr/>
        </p:nvSpPr>
        <p:spPr>
          <a:xfrm>
            <a:off x="164469" y="716707"/>
            <a:ext cx="4464495" cy="42534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5E5241-7742-7CE8-8377-121D77CFA335}"/>
              </a:ext>
            </a:extLst>
          </p:cNvPr>
          <p:cNvSpPr/>
          <p:nvPr/>
        </p:nvSpPr>
        <p:spPr>
          <a:xfrm>
            <a:off x="4358965" y="44379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32FD4B-ACBD-B298-DC3A-22D75B8F808C}"/>
              </a:ext>
            </a:extLst>
          </p:cNvPr>
          <p:cNvSpPr/>
          <p:nvPr/>
        </p:nvSpPr>
        <p:spPr>
          <a:xfrm>
            <a:off x="301563" y="821089"/>
            <a:ext cx="12711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3B8B597-6055-8990-B2CA-968219D33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401653"/>
              </p:ext>
            </p:extLst>
          </p:nvPr>
        </p:nvGraphicFramePr>
        <p:xfrm>
          <a:off x="311903" y="1121956"/>
          <a:ext cx="4137041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70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품목을 개별 등록하거나 지정항목의 경우 품목코드는 없습니다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3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단위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6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수량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8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납기요청일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18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입고장소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     ○ 현장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7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9989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DFE784FB-1F7C-C96B-D736-BCF980CEF977}"/>
              </a:ext>
            </a:extLst>
          </p:cNvPr>
          <p:cNvSpPr/>
          <p:nvPr/>
        </p:nvSpPr>
        <p:spPr>
          <a:xfrm>
            <a:off x="1500285" y="1849408"/>
            <a:ext cx="19719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00A96F-D5E3-5EFB-7F8C-0E1001A3BF5D}"/>
              </a:ext>
            </a:extLst>
          </p:cNvPr>
          <p:cNvSpPr/>
          <p:nvPr/>
        </p:nvSpPr>
        <p:spPr>
          <a:xfrm>
            <a:off x="1496616" y="354702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E549212-A446-B1C0-2744-FEF6D582B320}"/>
              </a:ext>
            </a:extLst>
          </p:cNvPr>
          <p:cNvSpPr/>
          <p:nvPr/>
        </p:nvSpPr>
        <p:spPr>
          <a:xfrm>
            <a:off x="1500285" y="253703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A4D717-7F24-4F7F-E1D6-ADE636DDD8CB}"/>
              </a:ext>
            </a:extLst>
          </p:cNvPr>
          <p:cNvSpPr/>
          <p:nvPr/>
        </p:nvSpPr>
        <p:spPr>
          <a:xfrm>
            <a:off x="1496616" y="286909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0F02C50-084A-6DCD-4964-A41526A402B7}"/>
              </a:ext>
            </a:extLst>
          </p:cNvPr>
          <p:cNvSpPr/>
          <p:nvPr/>
        </p:nvSpPr>
        <p:spPr>
          <a:xfrm>
            <a:off x="2306867" y="286909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3CB8A4B-D2FB-569C-3B7D-723BF54A27FB}"/>
              </a:ext>
            </a:extLst>
          </p:cNvPr>
          <p:cNvSpPr/>
          <p:nvPr/>
        </p:nvSpPr>
        <p:spPr>
          <a:xfrm>
            <a:off x="1496616" y="152468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2F1E7EE-91B5-C706-617E-76D8DF1B60E6}"/>
              </a:ext>
            </a:extLst>
          </p:cNvPr>
          <p:cNvSpPr/>
          <p:nvPr/>
        </p:nvSpPr>
        <p:spPr>
          <a:xfrm>
            <a:off x="1500285" y="219116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930822C-0BD2-CC40-4765-0DB7237BE3BB}"/>
              </a:ext>
            </a:extLst>
          </p:cNvPr>
          <p:cNvSpPr/>
          <p:nvPr/>
        </p:nvSpPr>
        <p:spPr>
          <a:xfrm>
            <a:off x="3002620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83AE20-CF1D-C73A-16EE-95A8D8A2E04D}"/>
              </a:ext>
            </a:extLst>
          </p:cNvPr>
          <p:cNvSpPr/>
          <p:nvPr/>
        </p:nvSpPr>
        <p:spPr>
          <a:xfrm>
            <a:off x="3761779" y="44797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A3E4B66-EF9E-C653-576D-2870598CC990}"/>
              </a:ext>
            </a:extLst>
          </p:cNvPr>
          <p:cNvSpPr/>
          <p:nvPr/>
        </p:nvSpPr>
        <p:spPr>
          <a:xfrm>
            <a:off x="311904" y="3920025"/>
            <a:ext cx="4137040" cy="4450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품목에 입력된 값으로 납기요청일과 입고장소를 일괄적으로 적용합니다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0EC7288-8311-2015-067A-111100F8C9E8}"/>
              </a:ext>
            </a:extLst>
          </p:cNvPr>
          <p:cNvSpPr/>
          <p:nvPr/>
        </p:nvSpPr>
        <p:spPr>
          <a:xfrm>
            <a:off x="2243461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7C1429BA-1C21-28EC-7898-7A9541095C71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C1960A-CFAA-23F0-5C43-EB6A0ED0A544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품목정보를 개별로 직접 등록하거나 내역을 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보완할 때 사용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994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BFAE-8980-726E-5E09-43DC1442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E613FA-16C4-DCA7-1987-E5E62A4011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12971-181F-0510-163F-4B6E07189F15}"/>
              </a:ext>
            </a:extLst>
          </p:cNvPr>
          <p:cNvSpPr txBox="1"/>
          <p:nvPr/>
        </p:nvSpPr>
        <p:spPr>
          <a:xfrm>
            <a:off x="749224" y="25608"/>
            <a:ext cx="24913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32048-1650-E1C9-1B25-F09EE9993A05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A3F579-38FB-19E1-C36D-CA0574DE1714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705BD5F-98BE-ACBC-14C7-4C6B00055CE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EB5C9E-5816-07E8-84ED-22DA3BC5321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CEB50E-0402-1505-37C0-14F20371F1C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5B2DF733-D44C-96F2-D5AA-E6D0D1EB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7E251B-5C3C-2434-354E-01C5CC4C4A8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39FE5D-788B-39D4-72F5-5746B99F4EC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BF4AC4C-8669-0205-8F35-A22D9F791007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6F85F9-74CF-72B5-6EC2-D97AF4AF548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D68CFB0-777A-5397-D553-FC0E2A8628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B68A2C6-3ED9-5208-F779-A09F7D085AE5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</a:t>
              </a: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CEA279-3771-A67C-FB20-F8E34A72DE5B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39D7DBF-892E-95E4-4D0C-274EAC37EAA2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572CB35-5CE0-6725-29DB-BBBDA3476B88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7B4E541-9203-00B6-19EB-E90D43CF4876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8B609B86-E046-5A42-72A6-D8196C8AC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989465"/>
              </p:ext>
            </p:extLst>
          </p:nvPr>
        </p:nvGraphicFramePr>
        <p:xfrm>
          <a:off x="164467" y="2645538"/>
          <a:ext cx="7740859" cy="36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요청대기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64413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10480777-4765-BDEC-6DF3-3BF9BCF58932}"/>
              </a:ext>
            </a:extLst>
          </p:cNvPr>
          <p:cNvSpPr/>
          <p:nvPr/>
        </p:nvSpPr>
        <p:spPr>
          <a:xfrm>
            <a:off x="183392" y="235132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01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516E14F-CF33-B360-B8F2-27B6B081A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99459"/>
              </p:ext>
            </p:extLst>
          </p:nvPr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9285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179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02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329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87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105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400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59BA-D948-2E63-E4B1-3CC07461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3B49AE7-ACF2-3E0F-8B75-5D221EDB23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FCA93-9673-3491-51F1-28E6C7359CBF}"/>
              </a:ext>
            </a:extLst>
          </p:cNvPr>
          <p:cNvSpPr txBox="1"/>
          <p:nvPr/>
        </p:nvSpPr>
        <p:spPr>
          <a:xfrm>
            <a:off x="749224" y="25608"/>
            <a:ext cx="24913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C2CB0-7BD1-2687-249E-254C56C32555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사유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계약상대자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3CAF8E-2B06-C72E-A6A7-37937816744C}"/>
              </a:ext>
            </a:extLst>
          </p:cNvPr>
          <p:cNvSpPr/>
          <p:nvPr/>
        </p:nvSpPr>
        <p:spPr>
          <a:xfrm>
            <a:off x="0" y="6452283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9346F2-B4F6-241B-BF67-8324E8A46ECA}"/>
              </a:ext>
            </a:extLst>
          </p:cNvPr>
          <p:cNvSpPr/>
          <p:nvPr/>
        </p:nvSpPr>
        <p:spPr>
          <a:xfrm>
            <a:off x="183392" y="36348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02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E970977-1CF2-8991-193E-0B7CC408FA8C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928782"/>
          <a:ext cx="7717011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#3.pdf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#4.pdf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E56B6B-EAAE-ED13-C428-7A46D07BAF49}"/>
              </a:ext>
            </a:extLst>
          </p:cNvPr>
          <p:cNvSpPr/>
          <p:nvPr/>
        </p:nvSpPr>
        <p:spPr>
          <a:xfrm>
            <a:off x="183392" y="64288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F993E6-470D-EC03-3996-C7D5B23D285A}"/>
              </a:ext>
            </a:extLst>
          </p:cNvPr>
          <p:cNvSpPr/>
          <p:nvPr/>
        </p:nvSpPr>
        <p:spPr>
          <a:xfrm>
            <a:off x="183392" y="245636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675FA1D-D99B-1D08-DCDB-92ACC3F7E5F2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750100"/>
          <a:ext cx="7776865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0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8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593969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0A5DF16C-3FAD-95BA-9170-2527AEA2525C}"/>
              </a:ext>
            </a:extLst>
          </p:cNvPr>
          <p:cNvGrpSpPr/>
          <p:nvPr/>
        </p:nvGrpSpPr>
        <p:grpSpPr>
          <a:xfrm>
            <a:off x="2909398" y="1339758"/>
            <a:ext cx="1275802" cy="198885"/>
            <a:chOff x="2909398" y="1339758"/>
            <a:chExt cx="1275802" cy="198885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3E78421-1389-E093-3C0E-759E4E5F6429}"/>
                </a:ext>
              </a:extLst>
            </p:cNvPr>
            <p:cNvSpPr/>
            <p:nvPr/>
          </p:nvSpPr>
          <p:spPr>
            <a:xfrm>
              <a:off x="2909398" y="13397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F9DDDFD-9F18-392E-F95C-9A75DCDFD47F}"/>
                </a:ext>
              </a:extLst>
            </p:cNvPr>
            <p:cNvSpPr/>
            <p:nvPr/>
          </p:nvSpPr>
          <p:spPr>
            <a:xfrm>
              <a:off x="3572235" y="13397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CD37762-8534-E0BE-018C-DB4BD5CEB1B4}"/>
              </a:ext>
            </a:extLst>
          </p:cNvPr>
          <p:cNvGrpSpPr/>
          <p:nvPr/>
        </p:nvGrpSpPr>
        <p:grpSpPr>
          <a:xfrm>
            <a:off x="2909398" y="1586791"/>
            <a:ext cx="1275802" cy="198885"/>
            <a:chOff x="2909398" y="1581220"/>
            <a:chExt cx="1275802" cy="19888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9BC60DC-E607-783A-F661-335B4E05C2F7}"/>
                </a:ext>
              </a:extLst>
            </p:cNvPr>
            <p:cNvSpPr/>
            <p:nvPr/>
          </p:nvSpPr>
          <p:spPr>
            <a:xfrm>
              <a:off x="2909398" y="15812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09EC4E0-1649-F753-D09F-B265A11B7CED}"/>
                </a:ext>
              </a:extLst>
            </p:cNvPr>
            <p:cNvSpPr/>
            <p:nvPr/>
          </p:nvSpPr>
          <p:spPr>
            <a:xfrm>
              <a:off x="3572235" y="158122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B8EA286A-B022-DB41-C98F-F9170325CD91}"/>
              </a:ext>
            </a:extLst>
          </p:cNvPr>
          <p:cNvSpPr/>
          <p:nvPr/>
        </p:nvSpPr>
        <p:spPr>
          <a:xfrm>
            <a:off x="124854" y="466172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1838572-0AB4-B996-6CC5-EC409BAC269C}"/>
              </a:ext>
            </a:extLst>
          </p:cNvPr>
          <p:cNvSpPr/>
          <p:nvPr/>
        </p:nvSpPr>
        <p:spPr>
          <a:xfrm>
            <a:off x="124854" y="53484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37BE60A-0C91-E405-974C-33250B7A8A16}"/>
              </a:ext>
            </a:extLst>
          </p:cNvPr>
          <p:cNvSpPr/>
          <p:nvPr/>
        </p:nvSpPr>
        <p:spPr>
          <a:xfrm>
            <a:off x="124854" y="57091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2C46DE-CF96-269E-BDBB-61101A3D2FFB}"/>
              </a:ext>
            </a:extLst>
          </p:cNvPr>
          <p:cNvGrpSpPr/>
          <p:nvPr/>
        </p:nvGrpSpPr>
        <p:grpSpPr>
          <a:xfrm>
            <a:off x="2909398" y="1833824"/>
            <a:ext cx="1275802" cy="198885"/>
            <a:chOff x="2909398" y="1839394"/>
            <a:chExt cx="1275802" cy="19888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5BA8A32-BB4F-7797-A304-B2AB20226C20}"/>
                </a:ext>
              </a:extLst>
            </p:cNvPr>
            <p:cNvSpPr/>
            <p:nvPr/>
          </p:nvSpPr>
          <p:spPr>
            <a:xfrm>
              <a:off x="2909398" y="183939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F7D53E8-41F2-0112-FFDC-4F67F94AEB3F}"/>
                </a:ext>
              </a:extLst>
            </p:cNvPr>
            <p:cNvSpPr/>
            <p:nvPr/>
          </p:nvSpPr>
          <p:spPr>
            <a:xfrm>
              <a:off x="3572235" y="1839394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875278-BBEC-8A09-DBD6-55D98C51916E}"/>
              </a:ext>
            </a:extLst>
          </p:cNvPr>
          <p:cNvGrpSpPr/>
          <p:nvPr/>
        </p:nvGrpSpPr>
        <p:grpSpPr>
          <a:xfrm>
            <a:off x="2909398" y="2080856"/>
            <a:ext cx="1275802" cy="198885"/>
            <a:chOff x="2909398" y="2080856"/>
            <a:chExt cx="1275802" cy="19888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F1224F-76B0-4A38-434B-BB5C779CA98E}"/>
                </a:ext>
              </a:extLst>
            </p:cNvPr>
            <p:cNvSpPr/>
            <p:nvPr/>
          </p:nvSpPr>
          <p:spPr>
            <a:xfrm>
              <a:off x="2909398" y="2080856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F17EA46-9FB6-31DD-D83B-E26C588D60B1}"/>
                </a:ext>
              </a:extLst>
            </p:cNvPr>
            <p:cNvSpPr/>
            <p:nvPr/>
          </p:nvSpPr>
          <p:spPr>
            <a:xfrm>
              <a:off x="3572235" y="2080856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192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BEE2-2572-2ED0-0C6C-12BB7839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E7D9A26-94E0-DA3F-A430-48BF4DBD87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F62FB-F179-B502-934D-18D927924A86}"/>
              </a:ext>
            </a:extLst>
          </p:cNvPr>
          <p:cNvSpPr txBox="1"/>
          <p:nvPr/>
        </p:nvSpPr>
        <p:spPr>
          <a:xfrm>
            <a:off x="749224" y="25608"/>
            <a:ext cx="24913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83F1B-689E-807E-3FEE-4BE860EFF159}"/>
              </a:ext>
            </a:extLst>
          </p:cNvPr>
          <p:cNvSpPr txBox="1"/>
          <p:nvPr/>
        </p:nvSpPr>
        <p:spPr>
          <a:xfrm>
            <a:off x="8049344" y="584684"/>
            <a:ext cx="1856656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입력된 정보를 그룹웨어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전송해야 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[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샘플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&gt; [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샘플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]01.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전자결재가 요청되면 진행상태는 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변경됨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7934E2-75C6-AD3B-C75C-E129D85981DD}"/>
              </a:ext>
            </a:extLst>
          </p:cNvPr>
          <p:cNvSpPr/>
          <p:nvPr/>
        </p:nvSpPr>
        <p:spPr>
          <a:xfrm>
            <a:off x="183392" y="37553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408D942-D2BE-91E9-B56D-D04BF43EADC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69272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A227391-D635-0175-DFB8-14DE19F61EE9}"/>
              </a:ext>
            </a:extLst>
          </p:cNvPr>
          <p:cNvSpPr/>
          <p:nvPr/>
        </p:nvSpPr>
        <p:spPr>
          <a:xfrm>
            <a:off x="164467" y="143017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D54B7721-9B15-12AC-143B-A7B62224C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540904"/>
              </p:ext>
            </p:extLst>
          </p:nvPr>
        </p:nvGraphicFramePr>
        <p:xfrm>
          <a:off x="164467" y="1733019"/>
          <a:ext cx="7776865" cy="11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원가계산서(or 산출내역서)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4DC919D6-5687-2E95-21CF-695149FE128E}"/>
              </a:ext>
            </a:extLst>
          </p:cNvPr>
          <p:cNvSpPr/>
          <p:nvPr/>
        </p:nvSpPr>
        <p:spPr>
          <a:xfrm>
            <a:off x="2909398" y="179032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6013794-3A3C-9F55-7CC2-289C3E333C67}"/>
              </a:ext>
            </a:extLst>
          </p:cNvPr>
          <p:cNvSpPr/>
          <p:nvPr/>
        </p:nvSpPr>
        <p:spPr>
          <a:xfrm>
            <a:off x="3572235" y="179032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CD3789C-8376-BA77-6A53-EB1508DBD179}"/>
              </a:ext>
            </a:extLst>
          </p:cNvPr>
          <p:cNvSpPr/>
          <p:nvPr/>
        </p:nvSpPr>
        <p:spPr>
          <a:xfrm>
            <a:off x="2909398" y="204041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1C0BD-AE86-9BCC-23F8-458643B87610}"/>
              </a:ext>
            </a:extLst>
          </p:cNvPr>
          <p:cNvSpPr/>
          <p:nvPr/>
        </p:nvSpPr>
        <p:spPr>
          <a:xfrm>
            <a:off x="3572235" y="204041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8F94C0E-13FB-A9D5-5FA4-5CB85A1D123F}"/>
              </a:ext>
            </a:extLst>
          </p:cNvPr>
          <p:cNvSpPr/>
          <p:nvPr/>
        </p:nvSpPr>
        <p:spPr>
          <a:xfrm>
            <a:off x="2909398" y="229050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9479C6-B65E-888D-74AF-EB664BC8D9CE}"/>
              </a:ext>
            </a:extLst>
          </p:cNvPr>
          <p:cNvSpPr/>
          <p:nvPr/>
        </p:nvSpPr>
        <p:spPr>
          <a:xfrm>
            <a:off x="3572235" y="229050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158489A-E645-EFE3-0671-CDC463DEB8B8}"/>
              </a:ext>
            </a:extLst>
          </p:cNvPr>
          <p:cNvSpPr/>
          <p:nvPr/>
        </p:nvSpPr>
        <p:spPr>
          <a:xfrm>
            <a:off x="2909398" y="26179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AD7943A-B382-97FD-48E1-4F2CC53DE928}"/>
              </a:ext>
            </a:extLst>
          </p:cNvPr>
          <p:cNvSpPr/>
          <p:nvPr/>
        </p:nvSpPr>
        <p:spPr>
          <a:xfrm>
            <a:off x="3572235" y="26179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5E1EC85-F76A-5EA5-D37B-3DAFAC0F6531}"/>
              </a:ext>
            </a:extLst>
          </p:cNvPr>
          <p:cNvSpPr/>
          <p:nvPr/>
        </p:nvSpPr>
        <p:spPr>
          <a:xfrm>
            <a:off x="183392" y="302433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03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611413D1-3312-35C7-00FE-E3EFAD8B9235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327227"/>
          <a:ext cx="8611159" cy="101376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940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1677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4639DA5F-69F2-836A-5AE3-01A00AB9F8C0}"/>
              </a:ext>
            </a:extLst>
          </p:cNvPr>
          <p:cNvSpPr/>
          <p:nvPr/>
        </p:nvSpPr>
        <p:spPr>
          <a:xfrm>
            <a:off x="164466" y="4452686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내역을 모두 확인하였습니다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B8089C9-C1CE-6292-40F4-5C55CBA5FD00}"/>
              </a:ext>
            </a:extLst>
          </p:cNvPr>
          <p:cNvSpPr/>
          <p:nvPr/>
        </p:nvSpPr>
        <p:spPr>
          <a:xfrm>
            <a:off x="6537176" y="4524193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2B09AD09-D8BE-66AC-C023-28CE50330376}"/>
              </a:ext>
            </a:extLst>
          </p:cNvPr>
          <p:cNvCxnSpPr>
            <a:cxnSpLocks/>
            <a:stCxn id="75" idx="2"/>
            <a:endCxn id="94" idx="3"/>
          </p:cNvCxnSpPr>
          <p:nvPr/>
        </p:nvCxnSpPr>
        <p:spPr>
          <a:xfrm rot="5400000">
            <a:off x="6252072" y="4919406"/>
            <a:ext cx="1018041" cy="80367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3244AEB-E245-3DE5-6C07-52A2445B335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7CACD05-F04E-A0F1-BC42-1614E7D86B78}"/>
              </a:ext>
            </a:extLst>
          </p:cNvPr>
          <p:cNvSpPr/>
          <p:nvPr/>
        </p:nvSpPr>
        <p:spPr>
          <a:xfrm>
            <a:off x="2578832" y="4685045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0FB3F6B-FBBC-E340-EC18-63DCBC0588BC}"/>
              </a:ext>
            </a:extLst>
          </p:cNvPr>
          <p:cNvSpPr/>
          <p:nvPr/>
        </p:nvSpPr>
        <p:spPr>
          <a:xfrm>
            <a:off x="2578832" y="4957958"/>
            <a:ext cx="3780420" cy="174461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792E041-D205-7048-BA90-8C0771E8F163}"/>
              </a:ext>
            </a:extLst>
          </p:cNvPr>
          <p:cNvSpPr/>
          <p:nvPr/>
        </p:nvSpPr>
        <p:spPr>
          <a:xfrm>
            <a:off x="6086164" y="4685045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826A026-860B-526C-6EED-B4D6BDF2E4FE}"/>
              </a:ext>
            </a:extLst>
          </p:cNvPr>
          <p:cNvSpPr/>
          <p:nvPr/>
        </p:nvSpPr>
        <p:spPr>
          <a:xfrm>
            <a:off x="2686611" y="5371345"/>
            <a:ext cx="3532535" cy="721321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 요청을 하면 더 이상 입력하신 발주계약 요청 내역이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0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7F0264F6-58FB-CA84-2686-CFD6B1BAD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733" y="5436872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8E82D2B-03DF-9C86-A331-0FF037A1F31B}"/>
              </a:ext>
            </a:extLst>
          </p:cNvPr>
          <p:cNvSpPr/>
          <p:nvPr/>
        </p:nvSpPr>
        <p:spPr>
          <a:xfrm>
            <a:off x="5530169" y="6194541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E611721-51DE-5AFF-FA50-6C6EA92075F1}"/>
              </a:ext>
            </a:extLst>
          </p:cNvPr>
          <p:cNvSpPr/>
          <p:nvPr/>
        </p:nvSpPr>
        <p:spPr>
          <a:xfrm>
            <a:off x="2710052" y="5054346"/>
            <a:ext cx="165750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8AA8461-8B32-7A6C-1846-F9208C539A21}"/>
              </a:ext>
            </a:extLst>
          </p:cNvPr>
          <p:cNvSpPr/>
          <p:nvPr/>
        </p:nvSpPr>
        <p:spPr>
          <a:xfrm>
            <a:off x="4211889" y="6194541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2399FFA-FC6C-09CC-85C5-78A869259041}"/>
              </a:ext>
            </a:extLst>
          </p:cNvPr>
          <p:cNvSpPr/>
          <p:nvPr/>
        </p:nvSpPr>
        <p:spPr>
          <a:xfrm>
            <a:off x="2458395" y="458586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2572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F933-E5D9-0B0E-4705-544F400C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2996CD-C1D5-D0FF-D05F-245524D94B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8E8C8-FD31-9C71-D764-5F44D476D0B5}"/>
              </a:ext>
            </a:extLst>
          </p:cNvPr>
          <p:cNvSpPr txBox="1"/>
          <p:nvPr/>
        </p:nvSpPr>
        <p:spPr>
          <a:xfrm>
            <a:off x="749224" y="25608"/>
            <a:ext cx="23663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D2CA8-FF08-D603-5FE4-A1F932261B3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7FC7FB-4D3C-FBC7-6551-2761D4B7B359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BDFDF1-542B-C363-50BF-9C788351D23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84452D-FCAF-B03E-DE20-C7A73633C0E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FB6681-00D5-B745-EFCC-6A72CDDA3D2B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941F27AC-33B0-317A-B7CA-C5030C32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E68F0B-7296-DBDA-CA36-384F3CB6090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03BFF4-C6FA-353D-0F4D-AF9B9019433C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F5380C-B38E-7E4C-28FE-662B5D94F8C2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91AC70A-9467-AA7A-D870-8C8C866478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9CD92D-C299-5E4C-C9C5-F052C87EA0EF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</a:t>
              </a: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2DCE2B3-565A-E620-4C0B-02867B37D67C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6B86AD3-2039-0C67-8DEF-4C64DA7DFEA7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09A1668-CFEC-5462-6EEA-D931205F0585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5C1E1A5-9D3E-1529-BCB5-A59D5D8EC3EF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80D018-23B5-F3A1-3511-4094125D80D6}"/>
              </a:ext>
            </a:extLst>
          </p:cNvPr>
          <p:cNvSpPr/>
          <p:nvPr/>
        </p:nvSpPr>
        <p:spPr>
          <a:xfrm>
            <a:off x="163127" y="2315225"/>
            <a:ext cx="7740859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요청이 완료되고 전자결재가 시작되었습니다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요청된 발주계약은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메뉴를 통해 진행상황을 확인하실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이후 요청 내역에 대한 변경이 필요하신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에게 의뢰하세요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D1440CE8-87E2-512F-22E5-4A08F6F97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41872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40B387-6FB6-2182-CAD8-1B3FE446B7EB}"/>
              </a:ext>
            </a:extLst>
          </p:cNvPr>
          <p:cNvSpPr/>
          <p:nvPr/>
        </p:nvSpPr>
        <p:spPr>
          <a:xfrm>
            <a:off x="6177135" y="3191747"/>
            <a:ext cx="172852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 바로가기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64B029E-94B0-A241-4803-5537DE67D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73223"/>
              </p:ext>
            </p:extLst>
          </p:nvPr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9285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1799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02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329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287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83758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105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193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07D7-AF4D-3281-BA17-5B339ADE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C97AD9A-794C-17D4-2DD2-AD302772D2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2B8E4-6568-6ABC-E70F-C2147F01860C}"/>
              </a:ext>
            </a:extLst>
          </p:cNvPr>
          <p:cNvSpPr txBox="1"/>
          <p:nvPr/>
        </p:nvSpPr>
        <p:spPr>
          <a:xfrm>
            <a:off x="749224" y="25608"/>
            <a:ext cx="21547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BB3F1-2EC6-73BB-330E-30443C9BBEA3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설명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상태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승인 완료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발주계획으로 이동됨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계약담당자에게 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 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팝업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533499-CCA6-5FEA-D40F-F2E2D9C9EEE5}"/>
              </a:ext>
            </a:extLst>
          </p:cNvPr>
          <p:cNvSpPr/>
          <p:nvPr/>
        </p:nvSpPr>
        <p:spPr>
          <a:xfrm>
            <a:off x="164468" y="403565"/>
            <a:ext cx="103233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BD08B7D-0C64-9915-E976-3EEBAA3B667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9CBC591-F9B6-54A0-7728-9B87DC0C254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785B56-EE50-A40A-2672-874A793EC7B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A0CF1F-5A44-DA20-12AE-81A4DB8CF1F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625DF9F4-AB8E-DCFD-DE90-EFBDC8CF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AAFE80-B69E-8D6B-EB7D-9221F1060F6B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756197-C8A1-FA30-BE7E-ECB4339F945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201E1CA-2D84-3191-4248-AB29D5E157F7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943265-C33F-A988-5479-8BD29BB70F07}"/>
              </a:ext>
            </a:extLst>
          </p:cNvPr>
          <p:cNvSpPr/>
          <p:nvPr/>
        </p:nvSpPr>
        <p:spPr>
          <a:xfrm>
            <a:off x="164468" y="834983"/>
            <a:ext cx="7740859" cy="1228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55B47-A546-1350-E800-0ECF6290CB78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ECB26E-57B2-4DAF-AE72-84CB95E27C2B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DF0358-2790-ED10-A55C-9FC0A9448F88}"/>
              </a:ext>
            </a:extLst>
          </p:cNvPr>
          <p:cNvSpPr txBox="1"/>
          <p:nvPr/>
        </p:nvSpPr>
        <p:spPr>
          <a:xfrm>
            <a:off x="235849" y="174246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6EB64A-C361-48BB-890E-452CF0FC4CE5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B688BA1-0713-E568-503F-3ECAE634C2DE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D07C39-2F16-33B3-2C61-09065D62189A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20C77A3-9423-657A-C309-58BD9D831022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6ACD4F6-6EF8-AB0D-865F-DB1E7897C2FA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721ADD7-D5FD-5E87-DC7B-1E30A7425778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F00D22-DFE7-05AB-8422-E7FA3245B205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1CD693-D063-4454-5E99-858D7882D184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4C28D8D-1F01-2691-2E3A-7220D1EB281D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D08EC6-B09F-C718-C855-2B48F221627F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20D6C1-E8A4-99C9-60D8-885E9DA95CC4}"/>
              </a:ext>
            </a:extLst>
          </p:cNvPr>
          <p:cNvSpPr txBox="1"/>
          <p:nvPr/>
        </p:nvSpPr>
        <p:spPr>
          <a:xfrm>
            <a:off x="235849" y="145444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: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                          ● 전체      ○ 공사     ○ 용역     ○ 물품</a:t>
            </a:r>
            <a:endParaRPr lang="en-US" altLang="ko-KR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257647-6E8F-2068-4FF3-562E38E5C215}"/>
              </a:ext>
            </a:extLst>
          </p:cNvPr>
          <p:cNvSpPr/>
          <p:nvPr/>
        </p:nvSpPr>
        <p:spPr>
          <a:xfrm>
            <a:off x="1408523" y="17353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8F63735-9B73-0EF9-D0F6-76492360813E}"/>
              </a:ext>
            </a:extLst>
          </p:cNvPr>
          <p:cNvSpPr/>
          <p:nvPr/>
        </p:nvSpPr>
        <p:spPr>
          <a:xfrm>
            <a:off x="2218774" y="17353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1A5DB71-14BF-AE62-4F42-333B2B1DD973}"/>
              </a:ext>
            </a:extLst>
          </p:cNvPr>
          <p:cNvSpPr/>
          <p:nvPr/>
        </p:nvSpPr>
        <p:spPr>
          <a:xfrm>
            <a:off x="2533911" y="173532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8DA1BDA-BBF7-4837-1F7A-BA53EFF804ED}"/>
              </a:ext>
            </a:extLst>
          </p:cNvPr>
          <p:cNvSpPr/>
          <p:nvPr/>
        </p:nvSpPr>
        <p:spPr>
          <a:xfrm>
            <a:off x="6241919" y="173532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C5DA28B-75C2-E9AE-140A-058A19FAF053}"/>
              </a:ext>
            </a:extLst>
          </p:cNvPr>
          <p:cNvSpPr/>
          <p:nvPr/>
        </p:nvSpPr>
        <p:spPr>
          <a:xfrm>
            <a:off x="5856272" y="216395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D1E1571-52F3-9D3A-048A-754FFEF93002}"/>
              </a:ext>
            </a:extLst>
          </p:cNvPr>
          <p:cNvSpPr/>
          <p:nvPr/>
        </p:nvSpPr>
        <p:spPr>
          <a:xfrm>
            <a:off x="6677734" y="216395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16D871-4FFA-75BF-91CE-39740ED4E5F6}"/>
              </a:ext>
            </a:extLst>
          </p:cNvPr>
          <p:cNvSpPr txBox="1"/>
          <p:nvPr/>
        </p:nvSpPr>
        <p:spPr>
          <a:xfrm>
            <a:off x="181506" y="215044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D49F73A-39AD-000E-D70B-9C95671B8FB9}"/>
              </a:ext>
            </a:extLst>
          </p:cNvPr>
          <p:cNvSpPr/>
          <p:nvPr/>
        </p:nvSpPr>
        <p:spPr>
          <a:xfrm>
            <a:off x="6982990" y="2163958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8AAA78D0-CC0D-089A-7989-37E2945BA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679455"/>
              </p:ext>
            </p:extLst>
          </p:nvPr>
        </p:nvGraphicFramePr>
        <p:xfrm>
          <a:off x="164468" y="2459406"/>
          <a:ext cx="8397805" cy="2703360"/>
        </p:xfrm>
        <a:graphic>
          <a:graphicData uri="http://schemas.openxmlformats.org/drawingml/2006/table">
            <a:tbl>
              <a:tblPr firstRow="1" bandRow="1"/>
              <a:tblGrid>
                <a:gridCol w="450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6315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870034543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29593">
                  <a:extLst>
                    <a:ext uri="{9D8B030D-6E8A-4147-A177-3AD203B41FA5}">
                      <a16:colId xmlns:a16="http://schemas.microsoft.com/office/drawing/2014/main" val="3524729359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진행상황 확인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2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911332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A3A014D5-35E0-0611-79D2-884A23D5461E}"/>
              </a:ext>
            </a:extLst>
          </p:cNvPr>
          <p:cNvGrpSpPr/>
          <p:nvPr/>
        </p:nvGrpSpPr>
        <p:grpSpPr>
          <a:xfrm>
            <a:off x="2004219" y="5301208"/>
            <a:ext cx="4025354" cy="216024"/>
            <a:chOff x="2992062" y="4869160"/>
            <a:chExt cx="4025354" cy="21602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9807D7F-1CFD-BA21-CA03-D98620C83C39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1F6BB22-4974-92D4-320C-041CD047A8A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43F48EEB-98ED-2204-09EA-E33BB549FB1D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24C3E57-A008-64CC-7F88-6D5FE321F36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56BCB55-254E-3CAD-C7F4-9404D3DA7146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D429C77-7EDC-C51D-3836-772E41A0FC23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565596A-965D-7362-A913-D39FB21E9F39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D64203A-4105-FBC6-DD43-C3D3F118D272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78D484D-B6F5-BC57-FBCE-C33607FBE3A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C5FB816D-5846-09AA-B91C-91AFACBD43A9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2D1A0D5-38DB-38D7-941A-90263B862D8A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EC2D8A2-62E1-9620-0420-15905386F713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7E3FF0-646E-1499-5ABE-8DB1FDDE3F08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E19C1DE-BA5F-290A-8F49-55E74CF42A3A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50C83E49-AA9A-E37C-3445-FECB80A2D3E0}"/>
              </a:ext>
            </a:extLst>
          </p:cNvPr>
          <p:cNvSpPr/>
          <p:nvPr/>
        </p:nvSpPr>
        <p:spPr>
          <a:xfrm>
            <a:off x="1320319" y="16493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DC92AD8-A85E-0C58-9DBB-BB1E3860D3D9}"/>
              </a:ext>
            </a:extLst>
          </p:cNvPr>
          <p:cNvSpPr/>
          <p:nvPr/>
        </p:nvSpPr>
        <p:spPr>
          <a:xfrm>
            <a:off x="1320319" y="233818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B642327-3167-1A62-54EB-373D821ADD9C}"/>
              </a:ext>
            </a:extLst>
          </p:cNvPr>
          <p:cNvSpPr/>
          <p:nvPr/>
        </p:nvSpPr>
        <p:spPr>
          <a:xfrm>
            <a:off x="464611" y="272052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21CB60-2403-E781-F0F5-37373E25F2B7}"/>
              </a:ext>
            </a:extLst>
          </p:cNvPr>
          <p:cNvSpPr/>
          <p:nvPr/>
        </p:nvSpPr>
        <p:spPr>
          <a:xfrm>
            <a:off x="6403565" y="2853310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E2C27C-8F7D-2F11-2000-A3E739E0F4AF}"/>
              </a:ext>
            </a:extLst>
          </p:cNvPr>
          <p:cNvSpPr/>
          <p:nvPr/>
        </p:nvSpPr>
        <p:spPr>
          <a:xfrm>
            <a:off x="6403565" y="3191806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0AAA93-C44D-93FB-C1D9-2FB9E9DCDDD3}"/>
              </a:ext>
            </a:extLst>
          </p:cNvPr>
          <p:cNvSpPr/>
          <p:nvPr/>
        </p:nvSpPr>
        <p:spPr>
          <a:xfrm>
            <a:off x="6403565" y="3530302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16FA845-51C7-CBE7-D2B0-38B087938B6F}"/>
              </a:ext>
            </a:extLst>
          </p:cNvPr>
          <p:cNvSpPr/>
          <p:nvPr/>
        </p:nvSpPr>
        <p:spPr>
          <a:xfrm>
            <a:off x="6403565" y="3868798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C919E9-7ABA-9C8D-E503-7EAFCFC194C2}"/>
              </a:ext>
            </a:extLst>
          </p:cNvPr>
          <p:cNvSpPr/>
          <p:nvPr/>
        </p:nvSpPr>
        <p:spPr>
          <a:xfrm>
            <a:off x="6403565" y="4207294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E8AD036-974B-5DFA-B0BA-9BBF6BF514EC}"/>
              </a:ext>
            </a:extLst>
          </p:cNvPr>
          <p:cNvSpPr/>
          <p:nvPr/>
        </p:nvSpPr>
        <p:spPr>
          <a:xfrm>
            <a:off x="6403565" y="4545790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518D39A-84DF-27CC-448E-BF85FC943695}"/>
              </a:ext>
            </a:extLst>
          </p:cNvPr>
          <p:cNvSpPr/>
          <p:nvPr/>
        </p:nvSpPr>
        <p:spPr>
          <a:xfrm>
            <a:off x="6403565" y="4884284"/>
            <a:ext cx="742318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9AFF8FC2-6E96-FB65-0D74-97C6B6DBDE8A}"/>
              </a:ext>
            </a:extLst>
          </p:cNvPr>
          <p:cNvSpPr/>
          <p:nvPr/>
        </p:nvSpPr>
        <p:spPr>
          <a:xfrm>
            <a:off x="6241919" y="272052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5DF3-2DA1-35FD-BC9C-2650FEA4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E85633-0AB4-7F9A-A717-2AE3BAB371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8495D-32ED-F02B-F173-A4DBD16FBA31}"/>
              </a:ext>
            </a:extLst>
          </p:cNvPr>
          <p:cNvSpPr txBox="1"/>
          <p:nvPr/>
        </p:nvSpPr>
        <p:spPr>
          <a:xfrm>
            <a:off x="749224" y="25608"/>
            <a:ext cx="15616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97679C-281F-4011-86E5-8BDED76010FF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45C0E-F3CA-92BD-2A1E-797BE4E521F4}"/>
              </a:ext>
            </a:extLst>
          </p:cNvPr>
          <p:cNvSpPr/>
          <p:nvPr/>
        </p:nvSpPr>
        <p:spPr>
          <a:xfrm>
            <a:off x="164469" y="687700"/>
            <a:ext cx="7391698" cy="53249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43A342-C565-8CE2-1AC5-5B7A19F88D73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9D5508-861C-20D3-095D-00C1438B7C7D}"/>
              </a:ext>
            </a:extLst>
          </p:cNvPr>
          <p:cNvSpPr/>
          <p:nvPr/>
        </p:nvSpPr>
        <p:spPr>
          <a:xfrm>
            <a:off x="7452512" y="688543"/>
            <a:ext cx="108012" cy="5324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CD200-F289-36CF-BE98-856BCFDFA43B}"/>
              </a:ext>
            </a:extLst>
          </p:cNvPr>
          <p:cNvSpPr/>
          <p:nvPr/>
        </p:nvSpPr>
        <p:spPr>
          <a:xfrm>
            <a:off x="7452512" y="1099785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D43097-58E7-4F3E-16E5-E2F8B2E7F6CC}"/>
              </a:ext>
            </a:extLst>
          </p:cNvPr>
          <p:cNvSpPr/>
          <p:nvPr/>
        </p:nvSpPr>
        <p:spPr>
          <a:xfrm>
            <a:off x="301563" y="792082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DB732C-8DEC-B1D3-C525-5A9FE5B1524B}"/>
              </a:ext>
            </a:extLst>
          </p:cNvPr>
          <p:cNvSpPr/>
          <p:nvPr/>
        </p:nvSpPr>
        <p:spPr>
          <a:xfrm>
            <a:off x="301563" y="113262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E5F69C96-6ED3-3C1A-3154-17DFCE45D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588246"/>
              </p:ext>
            </p:extLst>
          </p:nvPr>
        </p:nvGraphicFramePr>
        <p:xfrm>
          <a:off x="301562" y="1410225"/>
          <a:ext cx="6990776" cy="877824"/>
        </p:xfrm>
        <a:graphic>
          <a:graphicData uri="http://schemas.openxmlformats.org/drawingml/2006/table">
            <a:tbl>
              <a:tblPr/>
              <a:tblGrid>
                <a:gridCol w="1180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1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계약요청일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요청자 / 부서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노두윤 / 시공관리팀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계약예정일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2026-07-20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발주계약 구분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결재문서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AF9825-8CA5-4634-9B29-A80EEC73CE08}"/>
              </a:ext>
            </a:extLst>
          </p:cNvPr>
          <p:cNvSpPr/>
          <p:nvPr/>
        </p:nvSpPr>
        <p:spPr>
          <a:xfrm>
            <a:off x="301563" y="2381583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정보</a:t>
            </a:r>
          </a:p>
        </p:txBody>
      </p:sp>
      <p:graphicFrame>
        <p:nvGraphicFramePr>
          <p:cNvPr id="21" name="Table 1">
            <a:extLst>
              <a:ext uri="{FF2B5EF4-FFF2-40B4-BE49-F238E27FC236}">
                <a16:creationId xmlns:a16="http://schemas.microsoft.com/office/drawing/2014/main" id="{05156656-CC0C-B892-E94A-E022432F7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337322"/>
              </p:ext>
            </p:extLst>
          </p:nvPr>
        </p:nvGraphicFramePr>
        <p:xfrm>
          <a:off x="301562" y="2648875"/>
          <a:ext cx="6984605" cy="877824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계약체결일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2025-06-25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에너지사용자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가람디에프씨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서초 가람디에프씨 LH 매입임대주택 에너지효율화사업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수주금액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(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공사금액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15,000,000,000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KRW / VAT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제외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E319C3-388F-60A7-CA54-90DBA8946E37}"/>
              </a:ext>
            </a:extLst>
          </p:cNvPr>
          <p:cNvSpPr/>
          <p:nvPr/>
        </p:nvSpPr>
        <p:spPr>
          <a:xfrm>
            <a:off x="301563" y="364390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</a:p>
        </p:txBody>
      </p:sp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EFA30779-4457-AFE3-A837-C66C222A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66190"/>
              </p:ext>
            </p:extLst>
          </p:nvPr>
        </p:nvGraphicFramePr>
        <p:xfrm>
          <a:off x="301562" y="3946180"/>
          <a:ext cx="6984605" cy="1463040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서초동 1601-9 오피스텔 신축공사 중 도장공사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추정금액(소요예산)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94,490,000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KRW / VAT 포함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공사기간(납기일)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2026-07-20 ~ 2027-06-30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현장 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경쟁입찰(일반)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낙찰자 선정방법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제한적 최저가 입찰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수의계약사유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B17179-6AC4-D925-32F3-48BEB0E4C517}"/>
              </a:ext>
            </a:extLst>
          </p:cNvPr>
          <p:cNvSpPr/>
          <p:nvPr/>
        </p:nvSpPr>
        <p:spPr>
          <a:xfrm>
            <a:off x="168335" y="5832620"/>
            <a:ext cx="7279820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F167554-A789-1659-FB86-D4E7E15D9898}"/>
              </a:ext>
            </a:extLst>
          </p:cNvPr>
          <p:cNvGrpSpPr/>
          <p:nvPr/>
        </p:nvGrpSpPr>
        <p:grpSpPr>
          <a:xfrm>
            <a:off x="5781091" y="835105"/>
            <a:ext cx="1505075" cy="215441"/>
            <a:chOff x="5383899" y="1059428"/>
            <a:chExt cx="1902268" cy="21544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AC22F87-0EB8-564B-215D-D4383AB6B7E5}"/>
                </a:ext>
              </a:extLst>
            </p:cNvPr>
            <p:cNvSpPr/>
            <p:nvPr/>
          </p:nvSpPr>
          <p:spPr>
            <a:xfrm>
              <a:off x="6372455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FD20443-C6C1-3523-9568-ED0DA6ECCBAB}"/>
                </a:ext>
              </a:extLst>
            </p:cNvPr>
            <p:cNvSpPr/>
            <p:nvPr/>
          </p:nvSpPr>
          <p:spPr>
            <a:xfrm>
              <a:off x="5383899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545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B315-F4AD-68A1-39DF-DF4A83DF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632785-2CCD-68AA-562D-307942EAEC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0553FC-48F0-F451-7EF5-F2A8CB18E763}"/>
              </a:ext>
            </a:extLst>
          </p:cNvPr>
          <p:cNvSpPr txBox="1"/>
          <p:nvPr/>
        </p:nvSpPr>
        <p:spPr>
          <a:xfrm>
            <a:off x="749224" y="25608"/>
            <a:ext cx="15616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6B5814-5F30-2EB4-A803-A38A8876C815}"/>
              </a:ext>
            </a:extLst>
          </p:cNvPr>
          <p:cNvSpPr/>
          <p:nvPr/>
        </p:nvSpPr>
        <p:spPr>
          <a:xfrm>
            <a:off x="164469" y="368660"/>
            <a:ext cx="7391698" cy="439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A20E5D-39EB-4B4A-06C4-55FAD6C8C115}"/>
              </a:ext>
            </a:extLst>
          </p:cNvPr>
          <p:cNvSpPr/>
          <p:nvPr/>
        </p:nvSpPr>
        <p:spPr>
          <a:xfrm>
            <a:off x="7452512" y="369504"/>
            <a:ext cx="108012" cy="43918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36E6FD-0438-DCC9-934E-629F7EDBD24F}"/>
              </a:ext>
            </a:extLst>
          </p:cNvPr>
          <p:cNvSpPr/>
          <p:nvPr/>
        </p:nvSpPr>
        <p:spPr>
          <a:xfrm>
            <a:off x="7452512" y="75128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Table 3">
            <a:extLst>
              <a:ext uri="{FF2B5EF4-FFF2-40B4-BE49-F238E27FC236}">
                <a16:creationId xmlns:a16="http://schemas.microsoft.com/office/drawing/2014/main" id="{8247A746-1981-2EDA-E18A-BF3DCA10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477268"/>
              </p:ext>
            </p:extLst>
          </p:nvPr>
        </p:nvGraphicFramePr>
        <p:xfrm>
          <a:off x="308724" y="503390"/>
          <a:ext cx="6977444" cy="1371600"/>
        </p:xfrm>
        <a:graphic>
          <a:graphicData uri="http://schemas.openxmlformats.org/drawingml/2006/table">
            <a:tbl>
              <a:tblPr/>
              <a:tblGrid>
                <a:gridCol w="475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격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허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종합건설업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전문건설업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도장/습식/방수/석공사업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개별공사업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용역업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기타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8F0E02D7-1EEE-9C35-5FA8-FC8B76CFA9F7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1960242"/>
          <a:ext cx="6984605" cy="292608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893408027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952411172"/>
                    </a:ext>
                  </a:extLst>
                </a:gridCol>
                <a:gridCol w="1201896">
                  <a:extLst>
                    <a:ext uri="{9D8B030D-6E8A-4147-A177-3AD203B41FA5}">
                      <a16:colId xmlns:a16="http://schemas.microsoft.com/office/drawing/2014/main" val="3259021618"/>
                    </a:ext>
                  </a:extLst>
                </a:gridCol>
                <a:gridCol w="2449148">
                  <a:extLst>
                    <a:ext uri="{9D8B030D-6E8A-4147-A177-3AD203B41FA5}">
                      <a16:colId xmlns:a16="http://schemas.microsoft.com/office/drawing/2014/main" val="247425607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10%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하자이행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3% (준공일로부터 2년)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22931"/>
                  </a:ext>
                </a:extLst>
              </a:tr>
            </a:tbl>
          </a:graphicData>
        </a:graphic>
      </p:graphicFrame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F294438D-B950-3E9B-D196-D895F2999673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2321638"/>
          <a:ext cx="6984605" cy="877824"/>
        </p:xfrm>
        <a:graphic>
          <a:graphicData uri="http://schemas.openxmlformats.org/drawingml/2006/table">
            <a:tbl>
              <a:tblPr/>
              <a:tblGrid>
                <a:gridCol w="47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첨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부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첨부완료(1건)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시방서, 원가계산서, 설계서(도면, 공정표 등)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용역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원가계산서(or 산출내역서), 과업지시서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물품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산출내역서(or 원가계산서), 사양서(or 구매규격서)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51499D-ADD1-BFEA-BD9C-9106E6CD0FD2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3275373"/>
          <a:ext cx="6984605" cy="585216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기타 첨부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발주처 규격(규격에 의한 수의계약 요청 시)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공동수주협약서(공동수주업체와 수의계약 요청 시)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CEF82730-7784-36F6-EE97-663BB31C1C89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3927926"/>
          <a:ext cx="6977444" cy="292608"/>
        </p:xfrm>
        <a:graphic>
          <a:graphicData uri="http://schemas.openxmlformats.org/drawingml/2006/table">
            <a:tbl>
              <a:tblPr/>
              <a:tblGrid>
                <a:gridCol w="117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7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추가 전달자료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0A8EBD-DB86-0FF5-ADB2-AC7CACF79A5D}"/>
              </a:ext>
            </a:extLst>
          </p:cNvPr>
          <p:cNvSpPr/>
          <p:nvPr/>
        </p:nvSpPr>
        <p:spPr>
          <a:xfrm>
            <a:off x="6591183" y="429813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3942969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FF27-09B8-2527-DCE7-49AE5F03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3885282-905F-D70C-3B4E-AB3716160D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051F41-9EA8-928D-4EE3-D74C184B6CC9}"/>
              </a:ext>
            </a:extLst>
          </p:cNvPr>
          <p:cNvSpPr txBox="1"/>
          <p:nvPr/>
        </p:nvSpPr>
        <p:spPr>
          <a:xfrm>
            <a:off x="749224" y="25608"/>
            <a:ext cx="21162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76F95-7202-276F-2D15-FE49AC589328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991ADF-D89C-DCE5-400B-86390F96198F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A124819-326A-59D1-5C12-F1E5DB101BA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7D3027-ECB4-D547-C06A-539FC44AC48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0A8DF-03AA-42D1-DCB9-7C03643A62B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A33FCA44-9CBF-322B-5392-F118D29D0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8155A6-A1CF-7AF1-7C28-54AAAE05402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3EBEF8-A5E3-F3E8-58F6-87198B9D1728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5BBE94-F683-F8D0-44E7-F0DA5DDF4F19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FDAE91-5BC1-E761-A913-B46DBE479FE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C526F75-1874-18C4-450E-C0F89BB91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5412"/>
              </p:ext>
            </p:extLst>
          </p:nvPr>
        </p:nvGraphicFramePr>
        <p:xfrm>
          <a:off x="164467" y="2365188"/>
          <a:ext cx="7740859" cy="36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  </a:t>
                      </a:r>
                      <a:r>
                        <a:rPr lang="en-US" altLang="ko-KR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결재완료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64413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850BD79E-60E7-A61D-561E-762BE44F8740}"/>
              </a:ext>
            </a:extLst>
          </p:cNvPr>
          <p:cNvSpPr/>
          <p:nvPr/>
        </p:nvSpPr>
        <p:spPr>
          <a:xfrm>
            <a:off x="183392" y="207097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5CB9CD7-9956-C909-889B-220938D35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844004"/>
              </p:ext>
            </p:extLst>
          </p:nvPr>
        </p:nvGraphicFramePr>
        <p:xfrm>
          <a:off x="179900" y="813953"/>
          <a:ext cx="7713519" cy="675840"/>
        </p:xfrm>
        <a:graphic>
          <a:graphicData uri="http://schemas.openxmlformats.org/drawingml/2006/table">
            <a:tbl>
              <a:tblPr firstRow="1" bandRow="1"/>
              <a:tblGrid>
                <a:gridCol w="80130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571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4427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9679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9679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9082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5024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96794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12509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8D91FC-D859-8DCD-067D-78DF7F487960}"/>
              </a:ext>
            </a:extLst>
          </p:cNvPr>
          <p:cNvGrpSpPr/>
          <p:nvPr/>
        </p:nvGrpSpPr>
        <p:grpSpPr>
          <a:xfrm>
            <a:off x="163502" y="1590633"/>
            <a:ext cx="2629257" cy="354461"/>
            <a:chOff x="163503" y="1590633"/>
            <a:chExt cx="2280678" cy="354461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7D65DA06-16C2-14F4-D57F-675A37351BFB}"/>
                </a:ext>
              </a:extLst>
            </p:cNvPr>
            <p:cNvSpPr/>
            <p:nvPr/>
          </p:nvSpPr>
          <p:spPr>
            <a:xfrm>
              <a:off x="163503" y="1590633"/>
              <a:ext cx="1139031" cy="354461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발주계약 요청 정보 확인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ABABBA0-7C10-C570-C32F-D670EF2FAEDA}"/>
                </a:ext>
              </a:extLst>
            </p:cNvPr>
            <p:cNvSpPr/>
            <p:nvPr/>
          </p:nvSpPr>
          <p:spPr>
            <a:xfrm>
              <a:off x="1305150" y="1652652"/>
              <a:ext cx="1139031" cy="2924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진행상황 확인</a:t>
              </a: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4283C8F-6C3C-F521-C76B-16965C2C675A}"/>
              </a:ext>
            </a:extLst>
          </p:cNvPr>
          <p:cNvCxnSpPr>
            <a:cxnSpLocks/>
          </p:cNvCxnSpPr>
          <p:nvPr/>
        </p:nvCxnSpPr>
        <p:spPr>
          <a:xfrm>
            <a:off x="167468" y="1941219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208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7040-ADFA-A36F-634E-0C5D6DEE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728D705-9912-7436-FDD5-C7A26017DD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8EFB7F-9A72-6701-F13F-DC85C63AB48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EEF0E5C-679B-96B2-0DE6-2A9C65769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473686"/>
              </p:ext>
            </p:extLst>
          </p:nvPr>
        </p:nvGraphicFramePr>
        <p:xfrm>
          <a:off x="179901" y="917508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C20876-8361-E048-9926-7BFDADBE90A9}"/>
              </a:ext>
            </a:extLst>
          </p:cNvPr>
          <p:cNvSpPr/>
          <p:nvPr/>
        </p:nvSpPr>
        <p:spPr>
          <a:xfrm>
            <a:off x="183392" y="196376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4373F7E-2D19-B751-8FFE-7A40BCB63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084607"/>
              </p:ext>
            </p:extLst>
          </p:nvPr>
        </p:nvGraphicFramePr>
        <p:xfrm>
          <a:off x="164467" y="2257495"/>
          <a:ext cx="7776865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0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8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593969"/>
                  </a:ext>
                </a:extLst>
              </a:tr>
            </a:tbl>
          </a:graphicData>
        </a:graphic>
      </p:graphicFrame>
      <p:sp>
        <p:nvSpPr>
          <p:cNvPr id="55" name="직사각형 54">
            <a:extLst>
              <a:ext uri="{FF2B5EF4-FFF2-40B4-BE49-F238E27FC236}">
                <a16:creationId xmlns:a16="http://schemas.microsoft.com/office/drawing/2014/main" id="{9DB062B4-CB83-F339-524D-F25BAAD1E323}"/>
              </a:ext>
            </a:extLst>
          </p:cNvPr>
          <p:cNvSpPr/>
          <p:nvPr/>
        </p:nvSpPr>
        <p:spPr>
          <a:xfrm>
            <a:off x="2909398" y="130260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0A8367C-A9E3-F1D4-EF46-16459B23F82E}"/>
              </a:ext>
            </a:extLst>
          </p:cNvPr>
          <p:cNvSpPr/>
          <p:nvPr/>
        </p:nvSpPr>
        <p:spPr>
          <a:xfrm>
            <a:off x="3572235" y="130260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46149A3-3465-9A78-FD1E-968458E6A24B}"/>
              </a:ext>
            </a:extLst>
          </p:cNvPr>
          <p:cNvSpPr/>
          <p:nvPr/>
        </p:nvSpPr>
        <p:spPr>
          <a:xfrm>
            <a:off x="2909398" y="156994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8AF0DAD-B0B1-17E6-0752-24EA78D1A5C7}"/>
              </a:ext>
            </a:extLst>
          </p:cNvPr>
          <p:cNvSpPr/>
          <p:nvPr/>
        </p:nvSpPr>
        <p:spPr>
          <a:xfrm>
            <a:off x="3572235" y="156994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DA68DE-33EA-3D1A-D838-655C7E361479}"/>
              </a:ext>
            </a:extLst>
          </p:cNvPr>
          <p:cNvSpPr/>
          <p:nvPr/>
        </p:nvSpPr>
        <p:spPr>
          <a:xfrm>
            <a:off x="183392" y="574204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BF2BE8-76F9-4CE4-80BA-CB36BA1BF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13257"/>
              </p:ext>
            </p:extLst>
          </p:nvPr>
        </p:nvGraphicFramePr>
        <p:xfrm>
          <a:off x="164467" y="6035779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36C10F-A503-A00D-424F-5B7F734A5EC9}"/>
              </a:ext>
            </a:extLst>
          </p:cNvPr>
          <p:cNvSpPr txBox="1"/>
          <p:nvPr/>
        </p:nvSpPr>
        <p:spPr>
          <a:xfrm>
            <a:off x="749224" y="25608"/>
            <a:ext cx="21162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5BEF4-3B17-CCD5-10CF-592F00C39101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A4A4152-7B03-0829-2CFC-69DB77E712A4}"/>
              </a:ext>
            </a:extLst>
          </p:cNvPr>
          <p:cNvSpPr/>
          <p:nvPr/>
        </p:nvSpPr>
        <p:spPr>
          <a:xfrm>
            <a:off x="124854" y="415786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949A27-EADF-59EC-6303-79FB09C55C98}"/>
              </a:ext>
            </a:extLst>
          </p:cNvPr>
          <p:cNvSpPr/>
          <p:nvPr/>
        </p:nvSpPr>
        <p:spPr>
          <a:xfrm>
            <a:off x="124854" y="484459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B37DBB4-17DC-0329-8806-D69C7419BB29}"/>
              </a:ext>
            </a:extLst>
          </p:cNvPr>
          <p:cNvSpPr/>
          <p:nvPr/>
        </p:nvSpPr>
        <p:spPr>
          <a:xfrm>
            <a:off x="124854" y="520531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6EA33D-1941-6A1D-3395-EF022F20EF73}"/>
              </a:ext>
            </a:extLst>
          </p:cNvPr>
          <p:cNvSpPr/>
          <p:nvPr/>
        </p:nvSpPr>
        <p:spPr>
          <a:xfrm>
            <a:off x="183392" y="35140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78A759-D8CA-C1FB-CF14-764AAD89FC6A}"/>
              </a:ext>
            </a:extLst>
          </p:cNvPr>
          <p:cNvSpPr/>
          <p:nvPr/>
        </p:nvSpPr>
        <p:spPr>
          <a:xfrm>
            <a:off x="183392" y="62277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067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A85B-F94C-3B1E-C752-CF558D63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EE3544-DC97-49C4-FA54-A8852B0B82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D67C9-0B42-17AC-B00E-AA328529CE4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64AB49-279E-C69B-07C3-23A62F4A8172}"/>
              </a:ext>
            </a:extLst>
          </p:cNvPr>
          <p:cNvSpPr/>
          <p:nvPr/>
        </p:nvSpPr>
        <p:spPr>
          <a:xfrm>
            <a:off x="164467" y="85962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9C74CF91-2BD2-F76D-27EE-7A1767278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17612"/>
              </p:ext>
            </p:extLst>
          </p:nvPr>
        </p:nvGraphicFramePr>
        <p:xfrm>
          <a:off x="164467" y="1162473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원가계산서(or 산출내역서)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1E4FBC-1C0F-8C0C-1B84-4B7B424F29B5}"/>
              </a:ext>
            </a:extLst>
          </p:cNvPr>
          <p:cNvSpPr/>
          <p:nvPr/>
        </p:nvSpPr>
        <p:spPr>
          <a:xfrm>
            <a:off x="2909398" y="121978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7BA5D85-95D1-AC99-DD7C-8521373E7E7E}"/>
              </a:ext>
            </a:extLst>
          </p:cNvPr>
          <p:cNvSpPr/>
          <p:nvPr/>
        </p:nvSpPr>
        <p:spPr>
          <a:xfrm>
            <a:off x="3572235" y="121978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ED2E97E-4E0E-4788-7093-16EAD2A652E2}"/>
              </a:ext>
            </a:extLst>
          </p:cNvPr>
          <p:cNvSpPr/>
          <p:nvPr/>
        </p:nvSpPr>
        <p:spPr>
          <a:xfrm>
            <a:off x="2909398" y="146986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821EE7E-F764-FD9A-2290-619BCA20D35B}"/>
              </a:ext>
            </a:extLst>
          </p:cNvPr>
          <p:cNvSpPr/>
          <p:nvPr/>
        </p:nvSpPr>
        <p:spPr>
          <a:xfrm>
            <a:off x="3572235" y="146986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EB7BB87-EC48-8A38-23B7-D2B49531B287}"/>
              </a:ext>
            </a:extLst>
          </p:cNvPr>
          <p:cNvSpPr/>
          <p:nvPr/>
        </p:nvSpPr>
        <p:spPr>
          <a:xfrm>
            <a:off x="2909398" y="171995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1EC49AC-D513-3281-B8EE-7002619B6E99}"/>
              </a:ext>
            </a:extLst>
          </p:cNvPr>
          <p:cNvSpPr/>
          <p:nvPr/>
        </p:nvSpPr>
        <p:spPr>
          <a:xfrm>
            <a:off x="3572235" y="171995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239CEFB-971D-B9C4-71DC-F96EF198A90C}"/>
              </a:ext>
            </a:extLst>
          </p:cNvPr>
          <p:cNvSpPr/>
          <p:nvPr/>
        </p:nvSpPr>
        <p:spPr>
          <a:xfrm>
            <a:off x="2909398" y="204739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62F47BE-6192-D8BA-BDAE-4D4176165F3D}"/>
              </a:ext>
            </a:extLst>
          </p:cNvPr>
          <p:cNvSpPr/>
          <p:nvPr/>
        </p:nvSpPr>
        <p:spPr>
          <a:xfrm>
            <a:off x="3572235" y="204739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B8C67E-6F34-2B40-84B7-AC074C5F455C}"/>
              </a:ext>
            </a:extLst>
          </p:cNvPr>
          <p:cNvSpPr/>
          <p:nvPr/>
        </p:nvSpPr>
        <p:spPr>
          <a:xfrm>
            <a:off x="2909398" y="23147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97255CE-BD89-3392-E26E-2CC56128C3A0}"/>
              </a:ext>
            </a:extLst>
          </p:cNvPr>
          <p:cNvSpPr/>
          <p:nvPr/>
        </p:nvSpPr>
        <p:spPr>
          <a:xfrm>
            <a:off x="3572235" y="23147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28822A1-82A5-CCEB-81F8-92B7B137D4A7}"/>
              </a:ext>
            </a:extLst>
          </p:cNvPr>
          <p:cNvSpPr/>
          <p:nvPr/>
        </p:nvSpPr>
        <p:spPr>
          <a:xfrm>
            <a:off x="183392" y="2709098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4E1D4954-F06B-A51B-917A-C40E116D07BD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011995"/>
          <a:ext cx="8974023" cy="101376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1677"/>
                  </a:ext>
                </a:extLst>
              </a:tr>
            </a:tbl>
          </a:graphicData>
        </a:graphic>
      </p:graphicFrame>
      <p:sp>
        <p:nvSpPr>
          <p:cNvPr id="90" name="직사각형 89">
            <a:extLst>
              <a:ext uri="{FF2B5EF4-FFF2-40B4-BE49-F238E27FC236}">
                <a16:creationId xmlns:a16="http://schemas.microsoft.com/office/drawing/2014/main" id="{0A2B720E-1BAB-FF65-6CDF-F3873A4D620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479F1B-412F-70D5-1529-67E52024FBDA}"/>
              </a:ext>
            </a:extLst>
          </p:cNvPr>
          <p:cNvSpPr/>
          <p:nvPr/>
        </p:nvSpPr>
        <p:spPr>
          <a:xfrm>
            <a:off x="164467" y="412069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CA6A98B-89A5-6A5E-9365-AC6F69865AA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77455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F5179B-A80B-9077-D3A3-98FC6F5BA68D}"/>
              </a:ext>
            </a:extLst>
          </p:cNvPr>
          <p:cNvSpPr txBox="1"/>
          <p:nvPr/>
        </p:nvSpPr>
        <p:spPr>
          <a:xfrm>
            <a:off x="749224" y="25608"/>
            <a:ext cx="21162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5478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007C-40C3-E25D-FFAB-9421C243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0557C88-A3E5-FB34-3FEE-8074B5268D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860A8-8886-B966-EAAF-68684B79C6E0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C01171-E94A-9C5E-4FF7-077AC683F9CE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F72763-3A13-55DB-5014-AB584403EC40}"/>
              </a:ext>
            </a:extLst>
          </p:cNvPr>
          <p:cNvSpPr/>
          <p:nvPr/>
        </p:nvSpPr>
        <p:spPr>
          <a:xfrm>
            <a:off x="164469" y="687700"/>
            <a:ext cx="7391698" cy="5755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58AF1D-0956-149C-2990-C4898CDC688D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D41998-404C-DD3F-D84B-A29377F65A2B}"/>
              </a:ext>
            </a:extLst>
          </p:cNvPr>
          <p:cNvSpPr/>
          <p:nvPr/>
        </p:nvSpPr>
        <p:spPr>
          <a:xfrm>
            <a:off x="7452512" y="688544"/>
            <a:ext cx="108012" cy="575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A7B9E0-53FB-01E5-08A1-03E71D282A5E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F3BB2B-A57C-8C43-E3E0-EEB95EA45041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0F9E87A-AC74-0545-6D55-7930166E9DD4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EDBC7A-CC53-10E4-7623-598AB47DD0EB}"/>
              </a:ext>
            </a:extLst>
          </p:cNvPr>
          <p:cNvSpPr txBox="1"/>
          <p:nvPr/>
        </p:nvSpPr>
        <p:spPr>
          <a:xfrm>
            <a:off x="8049344" y="584684"/>
            <a:ext cx="185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기준정보 관리의 공통 품목에 등록된 내용을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마지막으로 처리된 상태는 조금 더 큰 원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블릿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아이콘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 조금 더 큰 폰트 사이즈로 표현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F5AF95-9BC5-EF78-17CF-16D7431B801E}"/>
              </a:ext>
            </a:extLst>
          </p:cNvPr>
          <p:cNvSpPr/>
          <p:nvPr/>
        </p:nvSpPr>
        <p:spPr>
          <a:xfrm>
            <a:off x="291022" y="1131001"/>
            <a:ext cx="1710000" cy="643315"/>
          </a:xfrm>
          <a:prstGeom prst="rect">
            <a:avLst/>
          </a:prstGeom>
          <a:solidFill>
            <a:srgbClr val="FFC000">
              <a:alpha val="69804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4E7209-D4D9-DF5E-247C-BEBE7422AF10}"/>
              </a:ext>
            </a:extLst>
          </p:cNvPr>
          <p:cNvSpPr/>
          <p:nvPr/>
        </p:nvSpPr>
        <p:spPr>
          <a:xfrm>
            <a:off x="2067432" y="1131001"/>
            <a:ext cx="1710000" cy="6433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1F091F-C183-2273-1695-677D161714F3}"/>
              </a:ext>
            </a:extLst>
          </p:cNvPr>
          <p:cNvSpPr/>
          <p:nvPr/>
        </p:nvSpPr>
        <p:spPr>
          <a:xfrm>
            <a:off x="384384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70ADE9C-475C-3612-5248-1F5E9DCAD4D9}"/>
              </a:ext>
            </a:extLst>
          </p:cNvPr>
          <p:cNvSpPr/>
          <p:nvPr/>
        </p:nvSpPr>
        <p:spPr>
          <a:xfrm>
            <a:off x="5620251" y="1131001"/>
            <a:ext cx="1710000" cy="6433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73829D7-0737-5699-A323-946A3B8200EF}"/>
              </a:ext>
            </a:extLst>
          </p:cNvPr>
          <p:cNvCxnSpPr/>
          <p:nvPr/>
        </p:nvCxnSpPr>
        <p:spPr>
          <a:xfrm>
            <a:off x="706028" y="1916832"/>
            <a:ext cx="0" cy="4320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8DB0B65E-E80B-BD6C-CD8E-5C875386FBC9}"/>
              </a:ext>
            </a:extLst>
          </p:cNvPr>
          <p:cNvSpPr/>
          <p:nvPr/>
        </p:nvSpPr>
        <p:spPr>
          <a:xfrm>
            <a:off x="610209" y="2695368"/>
            <a:ext cx="205890" cy="20589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47D92E9D-5BD6-A1BE-5A00-311C3DA94155}"/>
              </a:ext>
            </a:extLst>
          </p:cNvPr>
          <p:cNvSpPr/>
          <p:nvPr/>
        </p:nvSpPr>
        <p:spPr>
          <a:xfrm>
            <a:off x="56457" y="257438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98DF4B1-1EDF-93A3-8082-94F444A02FB9}"/>
              </a:ext>
            </a:extLst>
          </p:cNvPr>
          <p:cNvGrpSpPr/>
          <p:nvPr/>
        </p:nvGrpSpPr>
        <p:grpSpPr>
          <a:xfrm>
            <a:off x="641146" y="2127120"/>
            <a:ext cx="5242218" cy="415498"/>
            <a:chOff x="641146" y="2127120"/>
            <a:chExt cx="5242218" cy="415498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198F416E-4DDC-ACFF-B422-B83EC368D89B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7E17CF7-854D-DB85-8D96-3BFB5DA56788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발주계약 요청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장시형 과장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C42D54E-C1CC-AF7F-DF37-43D6B87DC4E3}"/>
              </a:ext>
            </a:extLst>
          </p:cNvPr>
          <p:cNvSpPr txBox="1"/>
          <p:nvPr/>
        </p:nvSpPr>
        <p:spPr>
          <a:xfrm>
            <a:off x="931802" y="2662572"/>
            <a:ext cx="49515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rgbClr val="00B050"/>
                </a:solidFill>
              </a:rPr>
              <a:t>발주계약 요청 </a:t>
            </a:r>
            <a:r>
              <a:rPr lang="en-US" altLang="ko-KR" sz="900" dirty="0">
                <a:solidFill>
                  <a:srgbClr val="00B050"/>
                </a:solidFill>
              </a:rPr>
              <a:t>&gt; </a:t>
            </a:r>
            <a:r>
              <a:rPr lang="ko-KR" altLang="en-US" sz="900" dirty="0">
                <a:solidFill>
                  <a:srgbClr val="00B050"/>
                </a:solidFill>
              </a:rPr>
              <a:t>전자결재 요청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장시형 과장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기획지원팀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2026.01.01 15:34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4455270-314E-82B7-E12B-D62353DA0358}"/>
              </a:ext>
            </a:extLst>
          </p:cNvPr>
          <p:cNvGrpSpPr/>
          <p:nvPr/>
        </p:nvGrpSpPr>
        <p:grpSpPr>
          <a:xfrm>
            <a:off x="641146" y="323374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2F7FB97-4170-B733-E15F-984F9E035A98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B8F6241-81B8-51F7-0063-3B901A7453C2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발주계약 요청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166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9D5D-49ED-B34F-B7EF-73719BD8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9D1FEED-E7CB-9973-8BCA-A97C1BFEE3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292B0-6398-A4BD-A67D-7958207526EA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F5F8BB-DBE2-BF75-7421-9CA783B7588B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25B690-89ED-2A45-89ED-820DD798AD5B}"/>
              </a:ext>
            </a:extLst>
          </p:cNvPr>
          <p:cNvSpPr/>
          <p:nvPr/>
        </p:nvSpPr>
        <p:spPr>
          <a:xfrm>
            <a:off x="164469" y="687700"/>
            <a:ext cx="7391698" cy="5755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404805-AA58-AAA5-55CD-BF9DC75D31CA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7E8273-CF07-F620-F69F-AF3E31B3A7DB}"/>
              </a:ext>
            </a:extLst>
          </p:cNvPr>
          <p:cNvSpPr/>
          <p:nvPr/>
        </p:nvSpPr>
        <p:spPr>
          <a:xfrm>
            <a:off x="7452512" y="688544"/>
            <a:ext cx="108012" cy="575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0D066A-EA0A-9CA4-B5EF-880613FB9929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40C800-3E37-6BFF-6AA5-CCDD0A3581A1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20B88-F13F-8272-6171-54582C122DD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BF8816-FF49-6F62-8A6B-06B52B545CD7}"/>
              </a:ext>
            </a:extLst>
          </p:cNvPr>
          <p:cNvSpPr/>
          <p:nvPr/>
        </p:nvSpPr>
        <p:spPr>
          <a:xfrm>
            <a:off x="29102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82EEB0-D2BC-5370-E681-F91EA83FBF17}"/>
              </a:ext>
            </a:extLst>
          </p:cNvPr>
          <p:cNvSpPr/>
          <p:nvPr/>
        </p:nvSpPr>
        <p:spPr>
          <a:xfrm>
            <a:off x="2067432" y="1131001"/>
            <a:ext cx="1710000" cy="643315"/>
          </a:xfrm>
          <a:prstGeom prst="rect">
            <a:avLst/>
          </a:prstGeom>
          <a:solidFill>
            <a:srgbClr val="FFC000">
              <a:alpha val="69804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5DC652-0660-3C90-1D9B-DF05A562AF80}"/>
              </a:ext>
            </a:extLst>
          </p:cNvPr>
          <p:cNvSpPr/>
          <p:nvPr/>
        </p:nvSpPr>
        <p:spPr>
          <a:xfrm>
            <a:off x="384384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6EBB32B-9F1A-39A0-826B-C17634903C4F}"/>
              </a:ext>
            </a:extLst>
          </p:cNvPr>
          <p:cNvSpPr/>
          <p:nvPr/>
        </p:nvSpPr>
        <p:spPr>
          <a:xfrm>
            <a:off x="5620251" y="1131001"/>
            <a:ext cx="1710000" cy="6433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0A8A621-590C-0508-7F5E-31A24D6F3D0F}"/>
              </a:ext>
            </a:extLst>
          </p:cNvPr>
          <p:cNvCxnSpPr/>
          <p:nvPr/>
        </p:nvCxnSpPr>
        <p:spPr>
          <a:xfrm>
            <a:off x="706028" y="1916832"/>
            <a:ext cx="0" cy="4320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DFFA6229-5C90-C920-B69D-0A52BFB7515F}"/>
              </a:ext>
            </a:extLst>
          </p:cNvPr>
          <p:cNvSpPr/>
          <p:nvPr/>
        </p:nvSpPr>
        <p:spPr>
          <a:xfrm>
            <a:off x="610209" y="2695368"/>
            <a:ext cx="205890" cy="20589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42265FBA-9376-5A9D-E7B0-6FBB36901F7A}"/>
              </a:ext>
            </a:extLst>
          </p:cNvPr>
          <p:cNvGrpSpPr/>
          <p:nvPr/>
        </p:nvGrpSpPr>
        <p:grpSpPr>
          <a:xfrm>
            <a:off x="641146" y="2127120"/>
            <a:ext cx="5242218" cy="415498"/>
            <a:chOff x="641146" y="2127120"/>
            <a:chExt cx="5242218" cy="415498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7F6F0209-40EC-4261-7CC6-C027F91F8918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75A0860-E0F3-BB45-1F86-5A6B4E62685B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발주계획 요청 접수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17FD9064-B101-A6C8-E2B0-72C49E75B33E}"/>
              </a:ext>
            </a:extLst>
          </p:cNvPr>
          <p:cNvSpPr txBox="1"/>
          <p:nvPr/>
        </p:nvSpPr>
        <p:spPr>
          <a:xfrm>
            <a:off x="931802" y="2662572"/>
            <a:ext cx="495156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rgbClr val="00B050"/>
                </a:solidFill>
              </a:rPr>
              <a:t>발주계획 등록 </a:t>
            </a:r>
            <a:r>
              <a:rPr lang="en-US" altLang="ko-KR" sz="900" dirty="0">
                <a:solidFill>
                  <a:srgbClr val="00B050"/>
                </a:solidFill>
              </a:rPr>
              <a:t>&gt; </a:t>
            </a:r>
            <a:r>
              <a:rPr lang="ko-KR" altLang="en-US" sz="900" dirty="0">
                <a:solidFill>
                  <a:srgbClr val="00B050"/>
                </a:solidFill>
              </a:rPr>
              <a:t>전자결재 요청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홍길동 부장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기획지원팀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2026.01.01 15:34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FE8188F-EDB4-16F7-D954-8A86094A2810}"/>
              </a:ext>
            </a:extLst>
          </p:cNvPr>
          <p:cNvGrpSpPr/>
          <p:nvPr/>
        </p:nvGrpSpPr>
        <p:grpSpPr>
          <a:xfrm>
            <a:off x="641146" y="323374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4EBBE3D-D524-DA22-034E-E1226127DC99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FC550E4-31A2-FA7E-3016-AB21F9CAB8DE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발주계획 등록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145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8D23-6824-DEEB-CEC8-CA1E0F16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A2A93B4-F3DC-42FC-45E9-282DA7679C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A54308-B9EF-5354-EE54-E94151F23F44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FE8C6F-5144-C3EA-7E6A-6D1CEAD53852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A7D813-AE5B-0D2B-9670-C80B004F8821}"/>
              </a:ext>
            </a:extLst>
          </p:cNvPr>
          <p:cNvSpPr/>
          <p:nvPr/>
        </p:nvSpPr>
        <p:spPr>
          <a:xfrm>
            <a:off x="164469" y="687700"/>
            <a:ext cx="7391698" cy="5755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E62018-CED9-3881-493B-9A94FE7C5FD2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C98783-5147-4079-227C-177CE191087A}"/>
              </a:ext>
            </a:extLst>
          </p:cNvPr>
          <p:cNvSpPr/>
          <p:nvPr/>
        </p:nvSpPr>
        <p:spPr>
          <a:xfrm>
            <a:off x="7452512" y="688544"/>
            <a:ext cx="108012" cy="575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14D131-1B71-C906-D7CD-405C99CA508B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D1F513-8536-A703-D645-7402FBDEE552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127F89E-6E0F-DC92-384D-ADFD489DD238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B66B05-161C-3C1C-1836-24FFC5F83B1C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8C1F5F-0298-7F76-7DA9-3FCBA11DF0F4}"/>
              </a:ext>
            </a:extLst>
          </p:cNvPr>
          <p:cNvSpPr/>
          <p:nvPr/>
        </p:nvSpPr>
        <p:spPr>
          <a:xfrm>
            <a:off x="29102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EF71A9-69F7-45D3-4F3A-A0E939DFBF3B}"/>
              </a:ext>
            </a:extLst>
          </p:cNvPr>
          <p:cNvSpPr/>
          <p:nvPr/>
        </p:nvSpPr>
        <p:spPr>
          <a:xfrm>
            <a:off x="206743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C43843-0B86-30E2-7E4E-B39A0DD49F58}"/>
              </a:ext>
            </a:extLst>
          </p:cNvPr>
          <p:cNvSpPr/>
          <p:nvPr/>
        </p:nvSpPr>
        <p:spPr>
          <a:xfrm>
            <a:off x="3843842" y="1131001"/>
            <a:ext cx="1710000" cy="643315"/>
          </a:xfrm>
          <a:prstGeom prst="rect">
            <a:avLst/>
          </a:prstGeom>
          <a:solidFill>
            <a:srgbClr val="FFC000">
              <a:alpha val="69804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05AD78C-8399-0DAF-0E66-ADA5DF684DB1}"/>
              </a:ext>
            </a:extLst>
          </p:cNvPr>
          <p:cNvSpPr/>
          <p:nvPr/>
        </p:nvSpPr>
        <p:spPr>
          <a:xfrm>
            <a:off x="5620251" y="1131001"/>
            <a:ext cx="1710000" cy="6433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4B8DACA-5867-64E7-34A6-4E968B9F1EE7}"/>
              </a:ext>
            </a:extLst>
          </p:cNvPr>
          <p:cNvCxnSpPr/>
          <p:nvPr/>
        </p:nvCxnSpPr>
        <p:spPr>
          <a:xfrm>
            <a:off x="706028" y="1916832"/>
            <a:ext cx="0" cy="4320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0877C592-DBFD-FB6F-2DC9-067897D06DC0}"/>
              </a:ext>
            </a:extLst>
          </p:cNvPr>
          <p:cNvSpPr/>
          <p:nvPr/>
        </p:nvSpPr>
        <p:spPr>
          <a:xfrm>
            <a:off x="610209" y="2695368"/>
            <a:ext cx="205890" cy="20589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AEEAF5E-3597-D3BE-DA4C-3EB44D393089}"/>
              </a:ext>
            </a:extLst>
          </p:cNvPr>
          <p:cNvGrpSpPr/>
          <p:nvPr/>
        </p:nvGrpSpPr>
        <p:grpSpPr>
          <a:xfrm>
            <a:off x="641146" y="2127120"/>
            <a:ext cx="5242218" cy="415498"/>
            <a:chOff x="641146" y="2127120"/>
            <a:chExt cx="5242218" cy="415498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A3DABBAE-961B-6B47-030F-C3C82457E294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CFF4808-FA41-C227-5B33-74211C8841E8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자동등록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2F06FED8-71C2-B665-C737-9C2547E7A337}"/>
              </a:ext>
            </a:extLst>
          </p:cNvPr>
          <p:cNvSpPr txBox="1"/>
          <p:nvPr/>
        </p:nvSpPr>
        <p:spPr>
          <a:xfrm>
            <a:off x="931801" y="2662572"/>
            <a:ext cx="639844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rgbClr val="00B050"/>
                </a:solidFill>
              </a:rPr>
              <a:t>입찰계획 현황 </a:t>
            </a:r>
            <a:r>
              <a:rPr lang="en-US" altLang="ko-KR" sz="900" dirty="0">
                <a:solidFill>
                  <a:srgbClr val="00B050"/>
                </a:solidFill>
              </a:rPr>
              <a:t>&gt; </a:t>
            </a:r>
            <a:r>
              <a:rPr lang="ko-KR" altLang="en-US" sz="900" dirty="0">
                <a:solidFill>
                  <a:srgbClr val="00B050"/>
                </a:solidFill>
              </a:rPr>
              <a:t>예정가격 산출기초조서 등록 및 전자결재 요청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홍길동 부장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기획지원팀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2026.01.01 15:34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C2CB36C-472C-C407-38DA-99BA0968FE01}"/>
              </a:ext>
            </a:extLst>
          </p:cNvPr>
          <p:cNvGrpSpPr/>
          <p:nvPr/>
        </p:nvGrpSpPr>
        <p:grpSpPr>
          <a:xfrm>
            <a:off x="641146" y="323374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B106F2A0-A15B-E10F-8DF0-35D3B27A826E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2A3C6D-A2BA-F610-0DD6-39CA975B76FF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예정가격 산출기초조서 등록 및 전자결재 </a:t>
              </a:r>
              <a:r>
                <a:rPr lang="ko-KR" altLang="en-US" sz="800" dirty="0" err="1">
                  <a:solidFill>
                    <a:srgbClr val="00B050"/>
                  </a:solidFill>
                </a:rPr>
                <a:t>전자결재</a:t>
              </a:r>
              <a:r>
                <a:rPr lang="ko-KR" altLang="en-US" sz="800" dirty="0">
                  <a:solidFill>
                    <a:srgbClr val="00B050"/>
                  </a:solidFill>
                </a:rPr>
                <a:t>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916869-8561-CD6D-011F-4685966FD057}"/>
              </a:ext>
            </a:extLst>
          </p:cNvPr>
          <p:cNvGrpSpPr/>
          <p:nvPr/>
        </p:nvGrpSpPr>
        <p:grpSpPr>
          <a:xfrm>
            <a:off x="641146" y="3805124"/>
            <a:ext cx="5242218" cy="415498"/>
            <a:chOff x="641146" y="2127120"/>
            <a:chExt cx="5242218" cy="41549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1A4FAE93-DE73-AC8D-B2C1-E95F43A54F45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A1EDF6-50C9-D019-9F50-6EF3AFD04DE4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예비가격 등록 요청 전자결재 요청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F482F4A-FF1C-1D92-DB26-47E84C24B1D7}"/>
              </a:ext>
            </a:extLst>
          </p:cNvPr>
          <p:cNvGrpSpPr/>
          <p:nvPr/>
        </p:nvGrpSpPr>
        <p:grpSpPr>
          <a:xfrm>
            <a:off x="641146" y="4376500"/>
            <a:ext cx="5242218" cy="415498"/>
            <a:chOff x="641146" y="2127120"/>
            <a:chExt cx="5242218" cy="41549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7E74C3D-998C-CB11-E35F-5E59ECA904FA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F7FFE0-C03B-0340-AF2E-5570AE1925C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예비가격 등록 요청 전자결재 요청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F06A018-39F0-8500-BF5D-6DF2D4666994}"/>
              </a:ext>
            </a:extLst>
          </p:cNvPr>
          <p:cNvGrpSpPr/>
          <p:nvPr/>
        </p:nvGrpSpPr>
        <p:grpSpPr>
          <a:xfrm>
            <a:off x="641146" y="4947876"/>
            <a:ext cx="5242218" cy="415498"/>
            <a:chOff x="641146" y="2127120"/>
            <a:chExt cx="5242218" cy="41549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01023DD-7EF6-A9A1-2156-0289E7A23F81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8A4FE7-026B-D4E9-695B-4EBBA7C7F34E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예비가격 등록 요청 전자결재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6409D08-1BD2-18FE-6863-D674A91D2E38}"/>
              </a:ext>
            </a:extLst>
          </p:cNvPr>
          <p:cNvGrpSpPr/>
          <p:nvPr/>
        </p:nvGrpSpPr>
        <p:grpSpPr>
          <a:xfrm>
            <a:off x="641146" y="5519250"/>
            <a:ext cx="5242218" cy="415498"/>
            <a:chOff x="641146" y="2127120"/>
            <a:chExt cx="5242218" cy="415498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0D67B0E-DD1A-5C60-CFB4-351345A58121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E642D1-577F-B98F-D973-848644609657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복수예비 기초금액 등록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사장님</a:t>
              </a:r>
              <a:r>
                <a:rPr lang="en-US" altLang="ko-KR" sz="800" dirty="0">
                  <a:solidFill>
                    <a:srgbClr val="00B050"/>
                  </a:solidFill>
                </a:rPr>
                <a:t>, </a:t>
              </a:r>
              <a:r>
                <a:rPr lang="ko-KR" altLang="en-US" sz="800" dirty="0">
                  <a:solidFill>
                    <a:srgbClr val="00B050"/>
                  </a:solidFill>
                </a:rPr>
                <a:t>본부장님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임꺽정 사장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7549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18AD-E70C-06CC-8287-8F2E78D4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281EF71-693C-C399-2C48-A2056B6DD1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C8852-C8CD-ACD4-C1FE-31818934F3CB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68D685-747F-8372-4F33-B5BB437C5AE9}"/>
              </a:ext>
            </a:extLst>
          </p:cNvPr>
          <p:cNvSpPr/>
          <p:nvPr/>
        </p:nvSpPr>
        <p:spPr>
          <a:xfrm>
            <a:off x="164469" y="404664"/>
            <a:ext cx="7391698" cy="603854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95922A-3149-E8E6-018A-C8CB4D9A568B}"/>
              </a:ext>
            </a:extLst>
          </p:cNvPr>
          <p:cNvSpPr/>
          <p:nvPr/>
        </p:nvSpPr>
        <p:spPr>
          <a:xfrm>
            <a:off x="7452512" y="405550"/>
            <a:ext cx="108012" cy="60376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E5CF0F-3A63-8F8D-4047-03A118E06571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81E95-747A-C568-0BB4-3CAB6B0C965B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취소 등은 진행상황 중 언제든 처리될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수의시담이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진행된 경우 표시될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BB023AC-D00A-FB6F-4B87-CA175008C723}"/>
              </a:ext>
            </a:extLst>
          </p:cNvPr>
          <p:cNvCxnSpPr>
            <a:cxnSpLocks/>
          </p:cNvCxnSpPr>
          <p:nvPr/>
        </p:nvCxnSpPr>
        <p:spPr>
          <a:xfrm>
            <a:off x="706028" y="413290"/>
            <a:ext cx="0" cy="54279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6D461EC-D68E-91FB-1061-2BACC1D1838C}"/>
              </a:ext>
            </a:extLst>
          </p:cNvPr>
          <p:cNvGrpSpPr/>
          <p:nvPr/>
        </p:nvGrpSpPr>
        <p:grpSpPr>
          <a:xfrm>
            <a:off x="641146" y="3450785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2DBA4B0-FA7D-E571-6038-8AF1EBBF334E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4AC0344-6322-68F6-4BF4-46EA92B8F104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 err="1">
                  <a:solidFill>
                    <a:srgbClr val="00B050"/>
                  </a:solidFill>
                </a:rPr>
                <a:t>수의시담</a:t>
              </a:r>
              <a:r>
                <a:rPr lang="ko-KR" altLang="en-US" sz="800" dirty="0">
                  <a:solidFill>
                    <a:srgbClr val="00B050"/>
                  </a:solidFill>
                </a:rPr>
                <a:t> 완료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4CC426-109E-E65A-5AC9-CD216CE931E4}"/>
              </a:ext>
            </a:extLst>
          </p:cNvPr>
          <p:cNvGrpSpPr/>
          <p:nvPr/>
        </p:nvGrpSpPr>
        <p:grpSpPr>
          <a:xfrm>
            <a:off x="641146" y="4025540"/>
            <a:ext cx="5242218" cy="415498"/>
            <a:chOff x="641146" y="2127120"/>
            <a:chExt cx="5242218" cy="41549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9FD3F81-232F-1285-BD36-D537EA8B989E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78F939-942A-252B-57E1-BA8A41E1281C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공고취소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  | 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공고취소 사유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메모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: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낙찰 업체가 계약 포기하여 공고취소 처리함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417EB3-CD99-FE10-A6F9-83B8251BAE45}"/>
              </a:ext>
            </a:extLst>
          </p:cNvPr>
          <p:cNvGrpSpPr/>
          <p:nvPr/>
        </p:nvGrpSpPr>
        <p:grpSpPr>
          <a:xfrm>
            <a:off x="641146" y="4600295"/>
            <a:ext cx="5242218" cy="415498"/>
            <a:chOff x="641146" y="2127120"/>
            <a:chExt cx="5242218" cy="41549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6494F24-9431-BA48-1F89-3AB965D3AA7E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D06122-E5B6-91F0-E378-8EBCC2C2BE82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계약요청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</a:t>
              </a:r>
              <a:endParaRPr lang="en-US" altLang="ko-KR" sz="800" dirty="0">
                <a:solidFill>
                  <a:srgbClr val="00B050"/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43A697A-CE2E-AF84-CBCF-6B918D470CEF}"/>
              </a:ext>
            </a:extLst>
          </p:cNvPr>
          <p:cNvGrpSpPr/>
          <p:nvPr/>
        </p:nvGrpSpPr>
        <p:grpSpPr>
          <a:xfrm>
            <a:off x="641146" y="5175050"/>
            <a:ext cx="5242218" cy="415498"/>
            <a:chOff x="641146" y="2127120"/>
            <a:chExt cx="5242218" cy="41549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5E1B80C1-373F-8F50-0DFB-25E0F0EB8E8F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A523FE-9078-ABE2-2AF4-6487B7716BD5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계약요청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 완료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</a:t>
              </a:r>
              <a:endParaRPr lang="en-US" altLang="ko-KR" sz="800" dirty="0">
                <a:solidFill>
                  <a:srgbClr val="00B050"/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E3942DB-7EC2-27AF-73F0-3DC963C4C185}"/>
              </a:ext>
            </a:extLst>
          </p:cNvPr>
          <p:cNvGrpSpPr/>
          <p:nvPr/>
        </p:nvGrpSpPr>
        <p:grpSpPr>
          <a:xfrm>
            <a:off x="641146" y="577010"/>
            <a:ext cx="5242218" cy="415498"/>
            <a:chOff x="641146" y="2127120"/>
            <a:chExt cx="5242218" cy="41549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ED921E2-B6DB-DCE4-634A-C69025E29260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AF88208-7904-AC75-81E2-9131F8182205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입찰계획 등록 완료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C76A9FB-E350-7230-1EAF-063CF4729D9D}"/>
              </a:ext>
            </a:extLst>
          </p:cNvPr>
          <p:cNvGrpSpPr/>
          <p:nvPr/>
        </p:nvGrpSpPr>
        <p:grpSpPr>
          <a:xfrm>
            <a:off x="641146" y="1151765"/>
            <a:ext cx="5242218" cy="415498"/>
            <a:chOff x="641146" y="2127120"/>
            <a:chExt cx="5242218" cy="415498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118E5CE-12D5-222F-BDAC-FA2AC955516E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22121A-C804-1623-D233-E8DA22AFA878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심사완료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5032776-490F-8BAC-FB91-71690B422A9A}"/>
              </a:ext>
            </a:extLst>
          </p:cNvPr>
          <p:cNvGrpSpPr/>
          <p:nvPr/>
        </p:nvGrpSpPr>
        <p:grpSpPr>
          <a:xfrm>
            <a:off x="641146" y="1726520"/>
            <a:ext cx="5242218" cy="415498"/>
            <a:chOff x="641146" y="2127120"/>
            <a:chExt cx="5242218" cy="41549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715C1F6-5E3D-9E4E-6C04-ECF27B585BD6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7EE6D5-2250-37E2-D3E8-7E0E220FCDDA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유찰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 err="1">
                  <a:solidFill>
                    <a:srgbClr val="00B050"/>
                  </a:solidFill>
                </a:rPr>
                <a:t>재공고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|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유찰처리 사유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메모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: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입찰참여 업체가 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개 미만으로 유찰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재공고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처리함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D2152C4-5092-D501-3DD4-6DD27D2B39C2}"/>
              </a:ext>
            </a:extLst>
          </p:cNvPr>
          <p:cNvGrpSpPr/>
          <p:nvPr/>
        </p:nvGrpSpPr>
        <p:grpSpPr>
          <a:xfrm>
            <a:off x="641146" y="2301275"/>
            <a:ext cx="5242218" cy="415498"/>
            <a:chOff x="641146" y="2127120"/>
            <a:chExt cx="5242218" cy="415498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F94E8A8-3ACA-14DC-2D69-82AD9BF83862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B7D2D6-0E5E-E876-B032-7E05979871B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개찰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836B904-4DF1-7EA0-537C-35EF8E49D230}"/>
              </a:ext>
            </a:extLst>
          </p:cNvPr>
          <p:cNvGrpSpPr/>
          <p:nvPr/>
        </p:nvGrpSpPr>
        <p:grpSpPr>
          <a:xfrm>
            <a:off x="641146" y="2876030"/>
            <a:ext cx="5242218" cy="415498"/>
            <a:chOff x="641146" y="2127120"/>
            <a:chExt cx="5242218" cy="41549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EFC68167-3705-D2CB-0556-2C3A1A14CEBA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B5641A8-BFA2-8917-54CD-06B44D8C2D7C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입찰공고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낙찰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업체 선정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7" name="타원 46">
            <a:extLst>
              <a:ext uri="{FF2B5EF4-FFF2-40B4-BE49-F238E27FC236}">
                <a16:creationId xmlns:a16="http://schemas.microsoft.com/office/drawing/2014/main" id="{9DEBC1F9-D0CE-8CCF-A2CB-2C1A272BD1D4}"/>
              </a:ext>
            </a:extLst>
          </p:cNvPr>
          <p:cNvSpPr/>
          <p:nvPr/>
        </p:nvSpPr>
        <p:spPr>
          <a:xfrm>
            <a:off x="56457" y="161850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D7CE18C-D9FD-2D35-5C15-6A31D7C77108}"/>
              </a:ext>
            </a:extLst>
          </p:cNvPr>
          <p:cNvSpPr/>
          <p:nvPr/>
        </p:nvSpPr>
        <p:spPr>
          <a:xfrm>
            <a:off x="56457" y="330676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D555882-31D6-B6C4-5683-12A86E781A5C}"/>
              </a:ext>
            </a:extLst>
          </p:cNvPr>
          <p:cNvSpPr/>
          <p:nvPr/>
        </p:nvSpPr>
        <p:spPr>
          <a:xfrm>
            <a:off x="56457" y="392026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40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5E3E-7669-A5E6-0831-210E7C28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ED92468-C55E-2B23-5BDA-43C4C39072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E0F6A-C68F-8158-CC21-BBCAF3736AC3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7D1011-1D1B-E8C7-40F4-AFF343210E02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2CA024-C98F-6082-4605-14531B0A3063}"/>
              </a:ext>
            </a:extLst>
          </p:cNvPr>
          <p:cNvSpPr/>
          <p:nvPr/>
        </p:nvSpPr>
        <p:spPr>
          <a:xfrm>
            <a:off x="164469" y="687700"/>
            <a:ext cx="7391698" cy="5755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499D54-BDCA-7C8D-9DCF-841A7FF2B5EF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F3EBB0-B3C7-A0D5-12CB-B41D239711A3}"/>
              </a:ext>
            </a:extLst>
          </p:cNvPr>
          <p:cNvSpPr/>
          <p:nvPr/>
        </p:nvSpPr>
        <p:spPr>
          <a:xfrm>
            <a:off x="7452512" y="688544"/>
            <a:ext cx="108012" cy="575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1D7DE0-E7B7-266E-C43D-C5A2BF68F586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4CD4FA-2272-CADA-4DB6-0700D5710343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1185347-D6DE-43F2-2186-F6C0D1AEE7E8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7509D-FBB8-437D-94B3-B3E4DABD9855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경우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중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‘예정가’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업무가 진행되는 경우 표시될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F9838A-7503-A264-CBD7-68F53B2E8D5E}"/>
              </a:ext>
            </a:extLst>
          </p:cNvPr>
          <p:cNvSpPr/>
          <p:nvPr/>
        </p:nvSpPr>
        <p:spPr>
          <a:xfrm>
            <a:off x="29102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C48AB-8DDE-B85B-0B25-0E91AEF19A8D}"/>
              </a:ext>
            </a:extLst>
          </p:cNvPr>
          <p:cNvSpPr/>
          <p:nvPr/>
        </p:nvSpPr>
        <p:spPr>
          <a:xfrm>
            <a:off x="206743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92B5F6-47F9-9568-98A0-0B1FF9ACABDD}"/>
              </a:ext>
            </a:extLst>
          </p:cNvPr>
          <p:cNvSpPr/>
          <p:nvPr/>
        </p:nvSpPr>
        <p:spPr>
          <a:xfrm>
            <a:off x="3843842" y="1131001"/>
            <a:ext cx="1710000" cy="643315"/>
          </a:xfrm>
          <a:prstGeom prst="rect">
            <a:avLst/>
          </a:prstGeom>
          <a:solidFill>
            <a:srgbClr val="FFC000">
              <a:alpha val="69804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3881CC6-A09F-366F-6C60-AB798168E9A9}"/>
              </a:ext>
            </a:extLst>
          </p:cNvPr>
          <p:cNvSpPr/>
          <p:nvPr/>
        </p:nvSpPr>
        <p:spPr>
          <a:xfrm>
            <a:off x="5620251" y="1131001"/>
            <a:ext cx="1710000" cy="6433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0A82ED0-529A-64C9-A299-FA41224D0104}"/>
              </a:ext>
            </a:extLst>
          </p:cNvPr>
          <p:cNvCxnSpPr/>
          <p:nvPr/>
        </p:nvCxnSpPr>
        <p:spPr>
          <a:xfrm>
            <a:off x="706028" y="1916832"/>
            <a:ext cx="0" cy="4320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956DD83B-E5B8-59DE-6401-E317BB5E3A87}"/>
              </a:ext>
            </a:extLst>
          </p:cNvPr>
          <p:cNvSpPr/>
          <p:nvPr/>
        </p:nvSpPr>
        <p:spPr>
          <a:xfrm>
            <a:off x="610209" y="2695368"/>
            <a:ext cx="205890" cy="20589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04FEA56-25AE-D559-FD14-56DEC294082B}"/>
              </a:ext>
            </a:extLst>
          </p:cNvPr>
          <p:cNvGrpSpPr/>
          <p:nvPr/>
        </p:nvGrpSpPr>
        <p:grpSpPr>
          <a:xfrm>
            <a:off x="641146" y="2127120"/>
            <a:ext cx="5242218" cy="415498"/>
            <a:chOff x="641146" y="2127120"/>
            <a:chExt cx="5242218" cy="415498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6049D786-1758-45EE-D166-A75727A0E98F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974AFCD-84B6-E2A8-B501-793ECC647BA2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자동등록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7E154B80-CE1E-70B9-70D7-15338150DA50}"/>
              </a:ext>
            </a:extLst>
          </p:cNvPr>
          <p:cNvSpPr txBox="1"/>
          <p:nvPr/>
        </p:nvSpPr>
        <p:spPr>
          <a:xfrm>
            <a:off x="931801" y="2662572"/>
            <a:ext cx="639844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rgbClr val="00B050"/>
                </a:solidFill>
              </a:rPr>
              <a:t>수의계약 계획 현황 </a:t>
            </a:r>
            <a:r>
              <a:rPr lang="en-US" altLang="ko-KR" sz="900" dirty="0">
                <a:solidFill>
                  <a:srgbClr val="00B050"/>
                </a:solidFill>
              </a:rPr>
              <a:t>&gt; </a:t>
            </a:r>
            <a:r>
              <a:rPr lang="ko-KR" altLang="en-US" sz="900" dirty="0">
                <a:solidFill>
                  <a:srgbClr val="00B050"/>
                </a:solidFill>
              </a:rPr>
              <a:t>예정가격 산출기초조서 등록 및 전자결재 요청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홍길동 부장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기획지원팀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2026.01.01 15:34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20226D6-4B84-1383-11E4-F6C0B4A8468E}"/>
              </a:ext>
            </a:extLst>
          </p:cNvPr>
          <p:cNvGrpSpPr/>
          <p:nvPr/>
        </p:nvGrpSpPr>
        <p:grpSpPr>
          <a:xfrm>
            <a:off x="641146" y="323374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5340A398-7E71-A027-054F-3672CCBBEB43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F3D200A-1CB0-A0CD-FDC6-7A948DE9753B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예정가격 산출기초조서 등록 및 전자결재 </a:t>
              </a:r>
              <a:r>
                <a:rPr lang="ko-KR" altLang="en-US" sz="800" dirty="0" err="1">
                  <a:solidFill>
                    <a:srgbClr val="00B050"/>
                  </a:solidFill>
                </a:rPr>
                <a:t>전자결재</a:t>
              </a:r>
              <a:r>
                <a:rPr lang="ko-KR" altLang="en-US" sz="800" dirty="0">
                  <a:solidFill>
                    <a:srgbClr val="00B050"/>
                  </a:solidFill>
                </a:rPr>
                <a:t>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7CC6A3A-723C-7F3F-3421-180870AFCF07}"/>
              </a:ext>
            </a:extLst>
          </p:cNvPr>
          <p:cNvGrpSpPr/>
          <p:nvPr/>
        </p:nvGrpSpPr>
        <p:grpSpPr>
          <a:xfrm>
            <a:off x="641146" y="3805124"/>
            <a:ext cx="5242218" cy="415498"/>
            <a:chOff x="641146" y="2127120"/>
            <a:chExt cx="5242218" cy="41549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E3B3955-2CD4-138A-5268-CE500849BCAB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6B5CE2-9BDB-CF3C-0D34-1AB117671E6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예비가격 등록 요청 전자결재 요청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5E3555-97B2-D7CC-CBC9-B048AECE1B95}"/>
              </a:ext>
            </a:extLst>
          </p:cNvPr>
          <p:cNvGrpSpPr/>
          <p:nvPr/>
        </p:nvGrpSpPr>
        <p:grpSpPr>
          <a:xfrm>
            <a:off x="641146" y="4376500"/>
            <a:ext cx="5242218" cy="415498"/>
            <a:chOff x="641146" y="2127120"/>
            <a:chExt cx="5242218" cy="41549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28BB33B-B3D6-F6C8-C365-AB40FBC197E0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FCC7B1-C1F0-3A46-0D49-9A102A7686FC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예정가격 등록 요청 전자결재 요청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D19562A-BCE2-A74B-409F-E8EB407ACCB2}"/>
              </a:ext>
            </a:extLst>
          </p:cNvPr>
          <p:cNvGrpSpPr/>
          <p:nvPr/>
        </p:nvGrpSpPr>
        <p:grpSpPr>
          <a:xfrm>
            <a:off x="641146" y="4947876"/>
            <a:ext cx="5242218" cy="415498"/>
            <a:chOff x="641146" y="2127120"/>
            <a:chExt cx="5242218" cy="41549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5E43BA8-0EC3-1352-A303-3B4E1EBA476A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8AD3EC-D813-EBA2-D847-9FA2497B9B57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예정가격 등록 요청 전자결재 완료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5E89E34-676C-1F81-D006-5FDFFD760ED9}"/>
              </a:ext>
            </a:extLst>
          </p:cNvPr>
          <p:cNvGrpSpPr/>
          <p:nvPr/>
        </p:nvGrpSpPr>
        <p:grpSpPr>
          <a:xfrm>
            <a:off x="641146" y="5519250"/>
            <a:ext cx="5242218" cy="415498"/>
            <a:chOff x="641146" y="2127120"/>
            <a:chExt cx="5242218" cy="415498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2D4279A-5189-C2AA-BF81-F717EA57C621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7D0A0D-A11D-B806-4606-FDC7A3282727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예정가격 등록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임꺽정 사장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7" name="타원 26">
            <a:extLst>
              <a:ext uri="{FF2B5EF4-FFF2-40B4-BE49-F238E27FC236}">
                <a16:creationId xmlns:a16="http://schemas.microsoft.com/office/drawing/2014/main" id="{C4EC1DED-BC2A-4AD1-DDD1-3EEFB01C4837}"/>
              </a:ext>
            </a:extLst>
          </p:cNvPr>
          <p:cNvSpPr/>
          <p:nvPr/>
        </p:nvSpPr>
        <p:spPr>
          <a:xfrm>
            <a:off x="56457" y="255456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086E101-E935-0649-7E54-38D83DD58DD2}"/>
              </a:ext>
            </a:extLst>
          </p:cNvPr>
          <p:cNvSpPr/>
          <p:nvPr/>
        </p:nvSpPr>
        <p:spPr>
          <a:xfrm>
            <a:off x="56457" y="312573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2FD1BB5-3581-616E-6D6A-7702347C1D75}"/>
              </a:ext>
            </a:extLst>
          </p:cNvPr>
          <p:cNvSpPr/>
          <p:nvPr/>
        </p:nvSpPr>
        <p:spPr>
          <a:xfrm>
            <a:off x="56457" y="37331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17E6D89-9D8F-E7AC-02EF-3167BE21D975}"/>
              </a:ext>
            </a:extLst>
          </p:cNvPr>
          <p:cNvSpPr/>
          <p:nvPr/>
        </p:nvSpPr>
        <p:spPr>
          <a:xfrm>
            <a:off x="56457" y="43044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D64B28E-275B-8246-91FA-D094E59FC6F4}"/>
              </a:ext>
            </a:extLst>
          </p:cNvPr>
          <p:cNvSpPr/>
          <p:nvPr/>
        </p:nvSpPr>
        <p:spPr>
          <a:xfrm>
            <a:off x="56457" y="49118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F475694-D1CE-1588-3992-489453F5E85A}"/>
              </a:ext>
            </a:extLst>
          </p:cNvPr>
          <p:cNvSpPr/>
          <p:nvPr/>
        </p:nvSpPr>
        <p:spPr>
          <a:xfrm>
            <a:off x="56457" y="551097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4948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70D6-D271-2970-FA9B-6C6490E5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D51FF4E-4599-D4B9-2526-06CC5848ED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73845-2224-310C-83BD-E1A7EAB8DE78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DFAC7F-982E-2CB1-EC83-740F5CA2A53B}"/>
              </a:ext>
            </a:extLst>
          </p:cNvPr>
          <p:cNvSpPr/>
          <p:nvPr/>
        </p:nvSpPr>
        <p:spPr>
          <a:xfrm>
            <a:off x="164469" y="404664"/>
            <a:ext cx="7391698" cy="603854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8C27B8-54AA-4A22-14F6-04D2B3A82434}"/>
              </a:ext>
            </a:extLst>
          </p:cNvPr>
          <p:cNvSpPr/>
          <p:nvPr/>
        </p:nvSpPr>
        <p:spPr>
          <a:xfrm>
            <a:off x="7452512" y="405550"/>
            <a:ext cx="108012" cy="60376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76A5B6-C538-3DBD-CFCF-50F3485FE1D4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A13FE-BC3B-8C0D-3202-B358A84A989F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재공고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공고 취소 등은 진행상황 중 언제든 처리될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E952C95-F064-29EC-DC51-03851CC99003}"/>
              </a:ext>
            </a:extLst>
          </p:cNvPr>
          <p:cNvCxnSpPr>
            <a:cxnSpLocks/>
          </p:cNvCxnSpPr>
          <p:nvPr/>
        </p:nvCxnSpPr>
        <p:spPr>
          <a:xfrm>
            <a:off x="706028" y="413290"/>
            <a:ext cx="0" cy="54279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8E4732E-0111-3619-9264-CBECBBA3F127}"/>
              </a:ext>
            </a:extLst>
          </p:cNvPr>
          <p:cNvGrpSpPr/>
          <p:nvPr/>
        </p:nvGrpSpPr>
        <p:grpSpPr>
          <a:xfrm>
            <a:off x="641146" y="171710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4942D6B-B9B8-81FB-6A17-02CD4771C823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5EFC69D-224A-AD3F-C61A-C8E1B6AD0FFB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수의계약 완료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5214B9-1C48-0557-4942-D445B0DA0EE0}"/>
              </a:ext>
            </a:extLst>
          </p:cNvPr>
          <p:cNvGrpSpPr/>
          <p:nvPr/>
        </p:nvGrpSpPr>
        <p:grpSpPr>
          <a:xfrm>
            <a:off x="641146" y="2291863"/>
            <a:ext cx="5242218" cy="415498"/>
            <a:chOff x="641146" y="2127120"/>
            <a:chExt cx="5242218" cy="41549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743671E-A135-3A13-F38F-188D4D0FE306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35CDA1-4E5B-8479-2E67-711C54594D2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공고취소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  | 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공고취소 사유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메모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: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낙찰 업체가 계약 포기하여 공고취소 처리함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270D8BC-163B-FCEB-C0B2-6C508AB803E9}"/>
              </a:ext>
            </a:extLst>
          </p:cNvPr>
          <p:cNvGrpSpPr/>
          <p:nvPr/>
        </p:nvGrpSpPr>
        <p:grpSpPr>
          <a:xfrm>
            <a:off x="641146" y="2866618"/>
            <a:ext cx="5242218" cy="415498"/>
            <a:chOff x="641146" y="2127120"/>
            <a:chExt cx="5242218" cy="41549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CC4A8F1-3728-30A1-7A6D-8841AC6C5024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A4792B-407F-B0C4-01A5-D7CA435E578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계약요청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</a:t>
              </a:r>
              <a:endParaRPr lang="en-US" altLang="ko-KR" sz="800" dirty="0">
                <a:solidFill>
                  <a:srgbClr val="00B050"/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8C1FAC-6997-02BD-43FB-CA53F2A78394}"/>
              </a:ext>
            </a:extLst>
          </p:cNvPr>
          <p:cNvGrpSpPr/>
          <p:nvPr/>
        </p:nvGrpSpPr>
        <p:grpSpPr>
          <a:xfrm>
            <a:off x="641146" y="3441373"/>
            <a:ext cx="5242218" cy="415498"/>
            <a:chOff x="641146" y="2127120"/>
            <a:chExt cx="5242218" cy="41549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5B3B51F1-301A-F9A1-5E29-1CBDA608D9FF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78D72A-5159-714A-7339-BB96333FE68C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계약요청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>
                  <a:solidFill>
                    <a:srgbClr val="00B050"/>
                  </a:solidFill>
                </a:rPr>
                <a:t>전자결재 완료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</a:t>
              </a:r>
              <a:endParaRPr lang="en-US" altLang="ko-KR" sz="800" dirty="0">
                <a:solidFill>
                  <a:srgbClr val="00B050"/>
                </a:solidFill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0F8EC51-0CF5-D1E0-B6C8-E58911BB649C}"/>
              </a:ext>
            </a:extLst>
          </p:cNvPr>
          <p:cNvGrpSpPr/>
          <p:nvPr/>
        </p:nvGrpSpPr>
        <p:grpSpPr>
          <a:xfrm>
            <a:off x="641146" y="577010"/>
            <a:ext cx="5242218" cy="415498"/>
            <a:chOff x="641146" y="2127120"/>
            <a:chExt cx="5242218" cy="415498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D4E7035-F098-99EE-59B8-5A1291FCEB4F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CB4E59-57D2-E97A-39AE-11043180B162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계획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수의계약 계획 등록 완료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1AA23F3-DB39-AFF0-093F-E9FAFFA3BBD8}"/>
              </a:ext>
            </a:extLst>
          </p:cNvPr>
          <p:cNvGrpSpPr/>
          <p:nvPr/>
        </p:nvGrpSpPr>
        <p:grpSpPr>
          <a:xfrm>
            <a:off x="641146" y="1133276"/>
            <a:ext cx="5242218" cy="415498"/>
            <a:chOff x="641146" y="2127120"/>
            <a:chExt cx="5242218" cy="41549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846CD14-AEDC-9196-953E-9ADC0877A6A2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8757F2-F821-DCBF-BDD9-FC35203CB240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수의계약 현황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유찰</a:t>
              </a:r>
              <a:r>
                <a:rPr lang="en-US" altLang="ko-KR" sz="800" dirty="0">
                  <a:solidFill>
                    <a:srgbClr val="00B050"/>
                  </a:solidFill>
                </a:rPr>
                <a:t>(</a:t>
              </a:r>
              <a:r>
                <a:rPr lang="ko-KR" altLang="en-US" sz="800" dirty="0" err="1">
                  <a:solidFill>
                    <a:srgbClr val="00B050"/>
                  </a:solidFill>
                </a:rPr>
                <a:t>재공고</a:t>
              </a:r>
              <a:r>
                <a:rPr lang="en-US" altLang="ko-KR" sz="800" dirty="0">
                  <a:solidFill>
                    <a:srgbClr val="00B050"/>
                  </a:solidFill>
                </a:rPr>
                <a:t>)</a:t>
              </a:r>
              <a:r>
                <a:rPr lang="ko-KR" altLang="en-US" sz="800" dirty="0">
                  <a:solidFill>
                    <a:srgbClr val="00B050"/>
                  </a:solidFill>
                </a:rPr>
                <a:t> 처리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|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유찰처리 사유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메모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: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입찰참여 업체가 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개 미만으로 유찰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재공고</a:t>
              </a: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</a:t>
              </a:r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처리함</a:t>
              </a:r>
            </a:p>
          </p:txBody>
        </p:sp>
      </p:grpSp>
      <p:sp>
        <p:nvSpPr>
          <p:cNvPr id="47" name="타원 46">
            <a:extLst>
              <a:ext uri="{FF2B5EF4-FFF2-40B4-BE49-F238E27FC236}">
                <a16:creationId xmlns:a16="http://schemas.microsoft.com/office/drawing/2014/main" id="{EF9D9F00-2201-80AE-687B-CD634DAD82A9}"/>
              </a:ext>
            </a:extLst>
          </p:cNvPr>
          <p:cNvSpPr/>
          <p:nvPr/>
        </p:nvSpPr>
        <p:spPr>
          <a:xfrm>
            <a:off x="56457" y="102526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90D62DAC-5121-81E5-9CBC-F31205D4C6D6}"/>
              </a:ext>
            </a:extLst>
          </p:cNvPr>
          <p:cNvSpPr/>
          <p:nvPr/>
        </p:nvSpPr>
        <p:spPr>
          <a:xfrm>
            <a:off x="56457" y="157309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CBB7FDF-0B3F-4F16-78EA-D7C062DD51FD}"/>
              </a:ext>
            </a:extLst>
          </p:cNvPr>
          <p:cNvSpPr/>
          <p:nvPr/>
        </p:nvSpPr>
        <p:spPr>
          <a:xfrm>
            <a:off x="56457" y="21865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26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714EC-08A3-830B-4998-F03D1080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E62F8A-FBFE-06CE-6B17-5E06759AAF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DCF17-589B-EE8D-F946-EFD4915FE4E5}"/>
              </a:ext>
            </a:extLst>
          </p:cNvPr>
          <p:cNvSpPr txBox="1"/>
          <p:nvPr/>
        </p:nvSpPr>
        <p:spPr>
          <a:xfrm>
            <a:off x="749224" y="25608"/>
            <a:ext cx="2909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FBFBBE-AE55-DA3B-68BD-77C59616B34E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2B3E62-E2FB-1290-BBF3-ECC6E1CA86BE}"/>
              </a:ext>
            </a:extLst>
          </p:cNvPr>
          <p:cNvSpPr/>
          <p:nvPr/>
        </p:nvSpPr>
        <p:spPr>
          <a:xfrm>
            <a:off x="164469" y="687700"/>
            <a:ext cx="7391698" cy="5755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482B7A-8574-8011-5D66-98FC178985ED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78C088-1CEB-E38C-5DDD-FA6D320D27D6}"/>
              </a:ext>
            </a:extLst>
          </p:cNvPr>
          <p:cNvSpPr/>
          <p:nvPr/>
        </p:nvSpPr>
        <p:spPr>
          <a:xfrm>
            <a:off x="7452512" y="688544"/>
            <a:ext cx="108012" cy="575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14B4DB-E03B-B582-281B-9E16EE457E33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AC7415-A0ED-41B8-0BE5-3DF4A7C742E9}"/>
              </a:ext>
            </a:extLst>
          </p:cNvPr>
          <p:cNvSpPr/>
          <p:nvPr/>
        </p:nvSpPr>
        <p:spPr>
          <a:xfrm>
            <a:off x="301563" y="792082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진행상황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3A9C6-7846-1626-4521-48D3809FEDC3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계약변경은 다수 회 발생할 수 있음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DB788C-1C81-D917-DB88-007E3ACDE920}"/>
              </a:ext>
            </a:extLst>
          </p:cNvPr>
          <p:cNvSpPr/>
          <p:nvPr/>
        </p:nvSpPr>
        <p:spPr>
          <a:xfrm>
            <a:off x="29102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01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127D46-395E-2293-AD33-63B0BFE9C2D8}"/>
              </a:ext>
            </a:extLst>
          </p:cNvPr>
          <p:cNvSpPr/>
          <p:nvPr/>
        </p:nvSpPr>
        <p:spPr>
          <a:xfrm>
            <a:off x="206743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02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01AD82-2588-7519-8ED3-A05A2A70CFC2}"/>
              </a:ext>
            </a:extLst>
          </p:cNvPr>
          <p:cNvSpPr/>
          <p:nvPr/>
        </p:nvSpPr>
        <p:spPr>
          <a:xfrm>
            <a:off x="3843842" y="1131001"/>
            <a:ext cx="1710000" cy="643315"/>
          </a:xfrm>
          <a:prstGeom prst="rect">
            <a:avLst/>
          </a:prstGeom>
          <a:solidFill>
            <a:srgbClr val="F2F2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03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r>
              <a: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FE6097A-8BE6-3338-2BB9-D63830553550}"/>
              </a:ext>
            </a:extLst>
          </p:cNvPr>
          <p:cNvSpPr/>
          <p:nvPr/>
        </p:nvSpPr>
        <p:spPr>
          <a:xfrm>
            <a:off x="5620251" y="1131001"/>
            <a:ext cx="1710000" cy="643315"/>
          </a:xfrm>
          <a:prstGeom prst="rect">
            <a:avLst/>
          </a:prstGeom>
          <a:solidFill>
            <a:srgbClr val="FFC000">
              <a:alpha val="69804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1" spc="-5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STEP 04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</a:t>
            </a:r>
            <a:endParaRPr lang="en-US" altLang="ko-KR" sz="8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45210E9-BB53-384D-7847-F3619C01C4A8}"/>
              </a:ext>
            </a:extLst>
          </p:cNvPr>
          <p:cNvCxnSpPr/>
          <p:nvPr/>
        </p:nvCxnSpPr>
        <p:spPr>
          <a:xfrm>
            <a:off x="706028" y="1916832"/>
            <a:ext cx="0" cy="43204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CBB8AF45-9284-4BF1-E654-89C8E6044154}"/>
              </a:ext>
            </a:extLst>
          </p:cNvPr>
          <p:cNvSpPr/>
          <p:nvPr/>
        </p:nvSpPr>
        <p:spPr>
          <a:xfrm>
            <a:off x="610209" y="2695368"/>
            <a:ext cx="205890" cy="20589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1DE5DA6-F39F-264A-AC3A-D7748969D32D}"/>
              </a:ext>
            </a:extLst>
          </p:cNvPr>
          <p:cNvGrpSpPr/>
          <p:nvPr/>
        </p:nvGrpSpPr>
        <p:grpSpPr>
          <a:xfrm>
            <a:off x="641146" y="2127120"/>
            <a:ext cx="5242218" cy="415498"/>
            <a:chOff x="641146" y="2127120"/>
            <a:chExt cx="5242218" cy="415498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59D3B20-B02E-0D8F-7823-D3A70D0EFCCB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926885-57F5-97F6-55CB-6E093A3FBE71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계약관리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ERP</a:t>
              </a:r>
              <a:r>
                <a:rPr lang="ko-KR" altLang="en-US" sz="800" dirty="0">
                  <a:solidFill>
                    <a:srgbClr val="00B050"/>
                  </a:solidFill>
                </a:rPr>
                <a:t>의 거래처 정보와 매핑</a:t>
              </a:r>
              <a:r>
                <a:rPr lang="en-US" altLang="ko-KR" sz="800" dirty="0">
                  <a:solidFill>
                    <a:srgbClr val="00B050"/>
                  </a:solidFill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5D7E307-977C-5976-4A7E-623FF5E9E1B6}"/>
              </a:ext>
            </a:extLst>
          </p:cNvPr>
          <p:cNvSpPr txBox="1"/>
          <p:nvPr/>
        </p:nvSpPr>
        <p:spPr>
          <a:xfrm>
            <a:off x="931801" y="2662572"/>
            <a:ext cx="639844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ko-KR" altLang="en-US" sz="900" dirty="0">
                <a:solidFill>
                  <a:srgbClr val="00B050"/>
                </a:solidFill>
              </a:rPr>
              <a:t>계약관리 </a:t>
            </a:r>
            <a:r>
              <a:rPr lang="en-US" altLang="ko-KR" sz="900" dirty="0">
                <a:solidFill>
                  <a:srgbClr val="00B050"/>
                </a:solidFill>
              </a:rPr>
              <a:t>&gt; </a:t>
            </a:r>
            <a:r>
              <a:rPr lang="ko-KR" altLang="en-US" sz="900" dirty="0">
                <a:solidFill>
                  <a:srgbClr val="00B050"/>
                </a:solidFill>
              </a:rPr>
              <a:t>확정 처리</a:t>
            </a:r>
            <a:r>
              <a:rPr lang="en-US" altLang="ko-KR" sz="900" dirty="0">
                <a:solidFill>
                  <a:srgbClr val="00B050"/>
                </a:solidFill>
              </a:rPr>
              <a:t>(</a:t>
            </a:r>
            <a:r>
              <a:rPr lang="ko-KR" altLang="en-US" sz="900" dirty="0">
                <a:solidFill>
                  <a:srgbClr val="00B050"/>
                </a:solidFill>
              </a:rPr>
              <a:t>계약정보로 전송</a:t>
            </a:r>
            <a:r>
              <a:rPr lang="en-US" altLang="ko-KR" sz="900" dirty="0">
                <a:solidFill>
                  <a:srgbClr val="00B050"/>
                </a:solidFill>
              </a:rPr>
              <a:t>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홍길동 부장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기획지원팀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2026.01.01 15:34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A0F1504-CAC9-9CFB-6F4C-2C9C774AC00B}"/>
              </a:ext>
            </a:extLst>
          </p:cNvPr>
          <p:cNvGrpSpPr/>
          <p:nvPr/>
        </p:nvGrpSpPr>
        <p:grpSpPr>
          <a:xfrm>
            <a:off x="641146" y="3233748"/>
            <a:ext cx="5242218" cy="415498"/>
            <a:chOff x="641146" y="2127120"/>
            <a:chExt cx="5242218" cy="415498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A67A669-7497-D973-80F0-32EA2622869A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C55050-723D-B3DB-B18B-91BEEED87265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계약관리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계약변경 처리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DBD3D2D-DEA6-5E81-46D7-076C73C4E1D4}"/>
              </a:ext>
            </a:extLst>
          </p:cNvPr>
          <p:cNvGrpSpPr/>
          <p:nvPr/>
        </p:nvGrpSpPr>
        <p:grpSpPr>
          <a:xfrm>
            <a:off x="641146" y="3805124"/>
            <a:ext cx="5242218" cy="415498"/>
            <a:chOff x="641146" y="2127120"/>
            <a:chExt cx="5242218" cy="41549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1B87A6A-F96B-D651-0B99-5E61F65B813B}"/>
                </a:ext>
              </a:extLst>
            </p:cNvPr>
            <p:cNvSpPr/>
            <p:nvPr/>
          </p:nvSpPr>
          <p:spPr>
            <a:xfrm>
              <a:off x="641146" y="2127120"/>
              <a:ext cx="144016" cy="14401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ACE273-842E-494E-8779-44F2866ABD56}"/>
                </a:ext>
              </a:extLst>
            </p:cNvPr>
            <p:cNvSpPr txBox="1"/>
            <p:nvPr/>
          </p:nvSpPr>
          <p:spPr>
            <a:xfrm>
              <a:off x="931802" y="2127120"/>
              <a:ext cx="495156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dirty="0">
                  <a:solidFill>
                    <a:srgbClr val="00B050"/>
                  </a:solidFill>
                </a:rPr>
                <a:t>계약관리 </a:t>
              </a:r>
              <a:r>
                <a:rPr lang="en-US" altLang="ko-KR" sz="800" dirty="0">
                  <a:solidFill>
                    <a:srgbClr val="00B050"/>
                  </a:solidFill>
                </a:rPr>
                <a:t>&gt; </a:t>
              </a:r>
              <a:r>
                <a:rPr lang="ko-KR" altLang="en-US" sz="800" dirty="0">
                  <a:solidFill>
                    <a:srgbClr val="00B050"/>
                  </a:solidFill>
                </a:rPr>
                <a:t>계약변경 처리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홍길동 부장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기획지원팀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2026.01.01 15:34</a:t>
              </a:r>
              <a:endPara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59427218-27A7-EBE2-A9D4-58D27943851C}"/>
              </a:ext>
            </a:extLst>
          </p:cNvPr>
          <p:cNvSpPr/>
          <p:nvPr/>
        </p:nvSpPr>
        <p:spPr>
          <a:xfrm>
            <a:off x="56457" y="312573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670010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252497-1D42-43D6-BA38-C24CCD1E502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10ea36de-a77c-4f0c-886f-6a76810611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243155</TotalTime>
  <Words>5261</Words>
  <Application>Microsoft Office PowerPoint</Application>
  <PresentationFormat>A4 용지(210x297mm)</PresentationFormat>
  <Paragraphs>1567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8081</cp:revision>
  <cp:lastPrinted>2019-06-18T05:05:25Z</cp:lastPrinted>
  <dcterms:created xsi:type="dcterms:W3CDTF">2006-06-07T02:37:19Z</dcterms:created>
  <dcterms:modified xsi:type="dcterms:W3CDTF">2026-09-15T23:33:21Z</dcterms:modified>
</cp:coreProperties>
</file>