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>
  <p:sldMasterIdLst>
    <p:sldMasterId id="2147484698" r:id="rId1"/>
  </p:sldMasterIdLst>
  <p:notesMasterIdLst>
    <p:notesMasterId r:id="rId27"/>
  </p:notesMasterIdLst>
  <p:handoutMasterIdLst>
    <p:handoutMasterId r:id="rId28"/>
  </p:handoutMasterIdLst>
  <p:sldIdLst>
    <p:sldId id="3218" r:id="rId2"/>
    <p:sldId id="3943" r:id="rId3"/>
    <p:sldId id="3944" r:id="rId4"/>
    <p:sldId id="3966" r:id="rId5"/>
    <p:sldId id="3946" r:id="rId6"/>
    <p:sldId id="3967" r:id="rId7"/>
    <p:sldId id="3960" r:id="rId8"/>
    <p:sldId id="3968" r:id="rId9"/>
    <p:sldId id="3969" r:id="rId10"/>
    <p:sldId id="3970" r:id="rId11"/>
    <p:sldId id="3971" r:id="rId12"/>
    <p:sldId id="3972" r:id="rId13"/>
    <p:sldId id="3973" r:id="rId14"/>
    <p:sldId id="3974" r:id="rId15"/>
    <p:sldId id="3918" r:id="rId16"/>
    <p:sldId id="3953" r:id="rId17"/>
    <p:sldId id="3975" r:id="rId18"/>
    <p:sldId id="3921" r:id="rId19"/>
    <p:sldId id="3965" r:id="rId20"/>
    <p:sldId id="3976" r:id="rId21"/>
    <p:sldId id="3977" r:id="rId22"/>
    <p:sldId id="3978" r:id="rId23"/>
    <p:sldId id="3962" r:id="rId24"/>
    <p:sldId id="3979" r:id="rId25"/>
    <p:sldId id="3963" r:id="rId26"/>
  </p:sldIdLst>
  <p:sldSz cx="9906000" cy="6858000" type="A4"/>
  <p:notesSz cx="9926638" cy="6797675"/>
  <p:embeddedFontLst>
    <p:embeddedFont>
      <p:font typeface="나눔고딕" panose="020D0604000000000000" pitchFamily="50" charset="-127"/>
      <p:regular r:id="rId29"/>
      <p:bold r:id="rId30"/>
    </p:embeddedFont>
    <p:embeddedFont>
      <p:font typeface="맑은 고딕" panose="020B0503020000020004" pitchFamily="50" charset="-127"/>
      <p:regular r:id="rId31"/>
      <p:bold r:id="rId32"/>
    </p:embeddedFont>
  </p:embeddedFontLst>
  <p:defaultTextStyle>
    <a:defPPr>
      <a:defRPr lang="en-US"/>
    </a:defPPr>
    <a:lvl1pPr algn="ctr" rtl="0" fontAlgn="base" latinLnBrk="1">
      <a:spcBef>
        <a:spcPct val="0"/>
      </a:spcBef>
      <a:spcAft>
        <a:spcPct val="0"/>
      </a:spcAft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1pPr>
    <a:lvl2pPr marL="548640" algn="ctr" rtl="0" fontAlgn="base" latinLnBrk="1">
      <a:spcBef>
        <a:spcPct val="0"/>
      </a:spcBef>
      <a:spcAft>
        <a:spcPct val="0"/>
      </a:spcAft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2pPr>
    <a:lvl3pPr marL="1097280" algn="ctr" rtl="0" fontAlgn="base" latinLnBrk="1">
      <a:spcBef>
        <a:spcPct val="0"/>
      </a:spcBef>
      <a:spcAft>
        <a:spcPct val="0"/>
      </a:spcAft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3pPr>
    <a:lvl4pPr marL="1645920" algn="ctr" rtl="0" fontAlgn="base" latinLnBrk="1">
      <a:spcBef>
        <a:spcPct val="0"/>
      </a:spcBef>
      <a:spcAft>
        <a:spcPct val="0"/>
      </a:spcAft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4pPr>
    <a:lvl5pPr marL="2194560" algn="ctr" rtl="0" fontAlgn="base" latinLnBrk="1">
      <a:spcBef>
        <a:spcPct val="0"/>
      </a:spcBef>
      <a:spcAft>
        <a:spcPct val="0"/>
      </a:spcAft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5pPr>
    <a:lvl6pPr marL="2743200" algn="l" defTabSz="1097280" rtl="0" eaLnBrk="1" latinLnBrk="1" hangingPunct="1"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6pPr>
    <a:lvl7pPr marL="3291840" algn="l" defTabSz="1097280" rtl="0" eaLnBrk="1" latinLnBrk="1" hangingPunct="1"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7pPr>
    <a:lvl8pPr marL="3840480" algn="l" defTabSz="1097280" rtl="0" eaLnBrk="1" latinLnBrk="1" hangingPunct="1"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8pPr>
    <a:lvl9pPr marL="4389120" algn="l" defTabSz="1097280" rtl="0" eaLnBrk="1" latinLnBrk="1" hangingPunct="1"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81">
          <p15:clr>
            <a:srgbClr val="A4A3A4"/>
          </p15:clr>
        </p15:guide>
        <p15:guide id="2" orient="horz" pos="1830">
          <p15:clr>
            <a:srgbClr val="A4A3A4"/>
          </p15:clr>
        </p15:guide>
        <p15:guide id="3" orient="horz" pos="2616">
          <p15:clr>
            <a:srgbClr val="A4A3A4"/>
          </p15:clr>
        </p15:guide>
        <p15:guide id="4" pos="3511">
          <p15:clr>
            <a:srgbClr val="A4A3A4"/>
          </p15:clr>
        </p15:guide>
        <p15:guide id="5" pos="335">
          <p15:clr>
            <a:srgbClr val="A4A3A4"/>
          </p15:clr>
        </p15:guide>
        <p15:guide id="6" pos="4447">
          <p15:clr>
            <a:srgbClr val="A4A3A4"/>
          </p15:clr>
        </p15:guide>
        <p15:guide id="7" pos="6067">
          <p15:clr>
            <a:srgbClr val="A4A3A4"/>
          </p15:clr>
        </p15:guide>
        <p15:guide id="8" pos="2269">
          <p15:clr>
            <a:srgbClr val="A4A3A4"/>
          </p15:clr>
        </p15:guide>
        <p15:guide id="9" pos="5805">
          <p15:clr>
            <a:srgbClr val="A4A3A4"/>
          </p15:clr>
        </p15:guide>
        <p15:guide id="10" pos="4069">
          <p15:clr>
            <a:srgbClr val="A4A3A4"/>
          </p15:clr>
        </p15:guide>
        <p15:guide id="11" pos="344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ulydA" initials="C" lastIdx="1" clrIdx="0">
    <p:extLst>
      <p:ext uri="{19B8F6BF-5375-455C-9EA6-DF929625EA0E}">
        <p15:presenceInfo xmlns:p15="http://schemas.microsoft.com/office/powerpoint/2012/main" userId="ChulydA" providerId="None"/>
      </p:ext>
    </p:extLst>
  </p:cmAuthor>
  <p:cmAuthor id="2" name="heesung lee" initials="hl" lastIdx="16" clrIdx="1">
    <p:extLst>
      <p:ext uri="{19B8F6BF-5375-455C-9EA6-DF929625EA0E}">
        <p15:presenceInfo xmlns:p15="http://schemas.microsoft.com/office/powerpoint/2012/main" userId="106ef8bdd38f3c94" providerId="Windows Live"/>
      </p:ext>
    </p:extLst>
  </p:cmAuthor>
  <p:cmAuthor id="3" name="10249 10249" initials="11" lastIdx="2" clrIdx="2">
    <p:extLst>
      <p:ext uri="{19B8F6BF-5375-455C-9EA6-DF929625EA0E}">
        <p15:presenceInfo xmlns:p15="http://schemas.microsoft.com/office/powerpoint/2012/main" userId="S::M10249@365e.me::2244da32-1411-4fa9-ae10-0967a5e09c9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000"/>
    <a:srgbClr val="FFFF00"/>
    <a:srgbClr val="FFC000"/>
    <a:srgbClr val="F2F2F2"/>
    <a:srgbClr val="404040"/>
    <a:srgbClr val="00B050"/>
    <a:srgbClr val="DCE6F2"/>
    <a:srgbClr val="596F8A"/>
    <a:srgbClr val="003965"/>
    <a:srgbClr val="C050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660B408-B3CF-4A94-85FC-2B1E0A45F4A2}" styleName="어두운 스타일 2 - 강조 1/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0A1B5D5-9B99-4C35-A422-299274C87663}" styleName="보통 스타일 1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어두운 스타일 2 - 강조 3/강조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240" autoAdjust="0"/>
    <p:restoredTop sz="96391" autoAdjust="0"/>
  </p:normalViewPr>
  <p:slideViewPr>
    <p:cSldViewPr>
      <p:cViewPr varScale="1">
        <p:scale>
          <a:sx n="111" d="100"/>
          <a:sy n="111" d="100"/>
        </p:scale>
        <p:origin x="1662" y="114"/>
      </p:cViewPr>
      <p:guideLst>
        <p:guide orient="horz" pos="1281"/>
        <p:guide orient="horz" pos="1830"/>
        <p:guide orient="horz" pos="2616"/>
        <p:guide pos="3511"/>
        <p:guide pos="335"/>
        <p:guide pos="4447"/>
        <p:guide pos="6067"/>
        <p:guide pos="2269"/>
        <p:guide pos="5805"/>
        <p:guide pos="4069"/>
        <p:guide pos="34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2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2"/>
            <a:ext cx="4301086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t" anchorCtr="0" compatLnSpc="1">
            <a:prstTxWarp prst="textNoShape">
              <a:avLst/>
            </a:prstTxWarp>
          </a:bodyPr>
          <a:lstStyle>
            <a:lvl1pPr algn="l" defTabSz="904158" latinLnBrk="0">
              <a:defRPr kumimoji="0" sz="1200" b="0" smtClean="0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latin typeface="나눔고딕" panose="020D0604000000000000" pitchFamily="50" charset="-127"/>
            </a:endParaRPr>
          </a:p>
        </p:txBody>
      </p:sp>
      <p:sp>
        <p:nvSpPr>
          <p:cNvPr id="3686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23262" y="2"/>
            <a:ext cx="4301086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t" anchorCtr="0" compatLnSpc="1">
            <a:prstTxWarp prst="textNoShape">
              <a:avLst/>
            </a:prstTxWarp>
          </a:bodyPr>
          <a:lstStyle>
            <a:lvl1pPr algn="r" defTabSz="904158" latinLnBrk="0">
              <a:defRPr kumimoji="0" sz="1200" b="0" smtClean="0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latin typeface="나눔고딕" panose="020D0604000000000000" pitchFamily="50" charset="-127"/>
            </a:endParaRPr>
          </a:p>
        </p:txBody>
      </p:sp>
      <p:sp>
        <p:nvSpPr>
          <p:cNvPr id="3686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6456714"/>
            <a:ext cx="4301086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b" anchorCtr="0" compatLnSpc="1">
            <a:prstTxWarp prst="textNoShape">
              <a:avLst/>
            </a:prstTxWarp>
          </a:bodyPr>
          <a:lstStyle>
            <a:lvl1pPr algn="l" defTabSz="904158" latinLnBrk="0">
              <a:defRPr kumimoji="0" sz="1200" b="0" smtClean="0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latin typeface="나눔고딕" panose="020D0604000000000000" pitchFamily="50" charset="-127"/>
            </a:endParaRPr>
          </a:p>
        </p:txBody>
      </p:sp>
      <p:sp>
        <p:nvSpPr>
          <p:cNvPr id="3686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23262" y="6456714"/>
            <a:ext cx="4301086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b" anchorCtr="0" compatLnSpc="1">
            <a:prstTxWarp prst="textNoShape">
              <a:avLst/>
            </a:prstTxWarp>
          </a:bodyPr>
          <a:lstStyle>
            <a:lvl1pPr algn="r" defTabSz="904158" latinLnBrk="0">
              <a:defRPr kumimoji="0" sz="1200" b="0" smtClean="0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1pPr>
          </a:lstStyle>
          <a:p>
            <a:pPr>
              <a:defRPr/>
            </a:pPr>
            <a:fld id="{958A078C-E9DF-4D7D-AA65-6B185DB752DA}" type="slidenum">
              <a:rPr lang="ko-KR" altLang="en-US">
                <a:latin typeface="나눔고딕" panose="020D0604000000000000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768710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2"/>
            <a:ext cx="4301086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t" anchorCtr="0" compatLnSpc="1">
            <a:prstTxWarp prst="textNoShape">
              <a:avLst/>
            </a:prstTxWarp>
          </a:bodyPr>
          <a:lstStyle>
            <a:lvl1pPr algn="l" defTabSz="904158" latinLnBrk="0">
              <a:defRPr kumimoji="0" sz="1200" b="0" smtClean="0">
                <a:solidFill>
                  <a:schemeClr val="tx1"/>
                </a:solidFill>
                <a:latin typeface="나눔고딕" panose="020D0604000000000000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23262" y="2"/>
            <a:ext cx="4301086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t" anchorCtr="0" compatLnSpc="1">
            <a:prstTxWarp prst="textNoShape">
              <a:avLst/>
            </a:prstTxWarp>
          </a:bodyPr>
          <a:lstStyle>
            <a:lvl1pPr algn="r" defTabSz="904158" latinLnBrk="0">
              <a:defRPr kumimoji="0" sz="1200" b="0" smtClean="0">
                <a:solidFill>
                  <a:schemeClr val="tx1"/>
                </a:solidFill>
                <a:latin typeface="나눔고딕" panose="020D0604000000000000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792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124200" y="509588"/>
            <a:ext cx="3679825" cy="25479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75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499" y="3228357"/>
            <a:ext cx="7937644" cy="3060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 dirty="0"/>
              <a:t>Click to edit Master text styles</a:t>
            </a:r>
          </a:p>
          <a:p>
            <a:pPr lvl="1"/>
            <a:r>
              <a:rPr lang="en-US" altLang="ko-KR" noProof="0" dirty="0"/>
              <a:t>Second level</a:t>
            </a:r>
          </a:p>
          <a:p>
            <a:pPr lvl="2"/>
            <a:r>
              <a:rPr lang="en-US" altLang="ko-KR" noProof="0" dirty="0"/>
              <a:t>Third level</a:t>
            </a:r>
          </a:p>
          <a:p>
            <a:pPr lvl="3"/>
            <a:r>
              <a:rPr lang="en-US" altLang="ko-KR" noProof="0" dirty="0"/>
              <a:t>Fourth level</a:t>
            </a:r>
          </a:p>
          <a:p>
            <a:pPr lvl="4"/>
            <a:r>
              <a:rPr lang="en-US" altLang="ko-KR" noProof="0" dirty="0"/>
              <a:t>Fifth level</a:t>
            </a:r>
          </a:p>
        </p:txBody>
      </p:sp>
      <p:sp>
        <p:nvSpPr>
          <p:cNvPr id="675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6456714"/>
            <a:ext cx="4301086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b" anchorCtr="0" compatLnSpc="1">
            <a:prstTxWarp prst="textNoShape">
              <a:avLst/>
            </a:prstTxWarp>
          </a:bodyPr>
          <a:lstStyle>
            <a:lvl1pPr algn="l" defTabSz="904158" latinLnBrk="0">
              <a:defRPr kumimoji="0" sz="1200" b="0" smtClean="0">
                <a:solidFill>
                  <a:schemeClr val="tx1"/>
                </a:solidFill>
                <a:latin typeface="나눔고딕" panose="020D0604000000000000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75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3262" y="6456714"/>
            <a:ext cx="4301086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b" anchorCtr="0" compatLnSpc="1">
            <a:prstTxWarp prst="textNoShape">
              <a:avLst/>
            </a:prstTxWarp>
          </a:bodyPr>
          <a:lstStyle>
            <a:lvl1pPr algn="r" defTabSz="904158" latinLnBrk="0">
              <a:defRPr kumimoji="0" sz="1200" b="0" smtClean="0">
                <a:solidFill>
                  <a:schemeClr val="tx1"/>
                </a:solidFill>
                <a:latin typeface="나눔고딕" panose="020D0604000000000000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E1EB2694-E1AF-4855-92FC-08368CF64987}" type="slidenum">
              <a:rPr lang="ko-KR" altLang="en-US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20955697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1pPr>
    <a:lvl2pPr marL="548640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2pPr>
    <a:lvl3pPr marL="1097280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3pPr>
    <a:lvl4pPr marL="1645920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4pPr>
    <a:lvl5pPr marL="2194560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5pPr>
    <a:lvl6pPr marL="2743200" algn="l" defTabSz="1097280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291840" algn="l" defTabSz="1097280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840480" algn="l" defTabSz="1097280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389120" algn="l" defTabSz="1097280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124200" y="509588"/>
            <a:ext cx="3679825" cy="254793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1EB2694-E1AF-4855-92FC-08368CF64987}" type="slidenum">
              <a:rPr lang="ko-KR" altLang="en-US" smtClean="0"/>
              <a:pPr>
                <a:defRPr/>
              </a:pPr>
              <a:t>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51781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1099">
            <a:extLst>
              <a:ext uri="{FF2B5EF4-FFF2-40B4-BE49-F238E27FC236}">
                <a16:creationId xmlns:a16="http://schemas.microsoft.com/office/drawing/2014/main" id="{6F6EA833-4CCB-DDB7-25E2-F1E4EF28D16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36" y="6644475"/>
            <a:ext cx="9892732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fld id="{3BD61D90-F798-4BAC-AFEE-3BFFDAD41B14}" type="slidenum">
              <a:rPr lang="en-US" altLang="ko-KR" sz="9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pPr algn="ctr" eaLnBrk="1" hangingPunct="1">
                <a:spcBef>
                  <a:spcPct val="50000"/>
                </a:spcBef>
                <a:defRPr/>
              </a:pPr>
              <a:t>‹#›</a:t>
            </a:fld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-</a:t>
            </a:r>
          </a:p>
        </p:txBody>
      </p:sp>
      <p:pic>
        <p:nvPicPr>
          <p:cNvPr id="4" name="table">
            <a:extLst>
              <a:ext uri="{FF2B5EF4-FFF2-40B4-BE49-F238E27FC236}">
                <a16:creationId xmlns:a16="http://schemas.microsoft.com/office/drawing/2014/main" id="{795D1FFF-603E-488F-38AE-89B81130BE2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3" y="-10086"/>
            <a:ext cx="9905433" cy="664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616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0732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842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99" r:id="rId1"/>
    <p:sldLayoutId id="2147484703" r:id="rId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53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5300">
          <a:solidFill>
            <a:schemeClr val="tx1"/>
          </a:solidFill>
          <a:latin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5300">
          <a:solidFill>
            <a:schemeClr val="tx1"/>
          </a:solidFill>
          <a:latin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5300">
          <a:solidFill>
            <a:schemeClr val="tx1"/>
          </a:solidFill>
          <a:latin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5300">
          <a:solidFill>
            <a:schemeClr val="tx1"/>
          </a:solidFill>
          <a:latin typeface="맑은 고딕" pitchFamily="50" charset="-127"/>
        </a:defRPr>
      </a:lvl5pPr>
      <a:lvl6pPr marL="548640" algn="ctr" rtl="0" fontAlgn="base" latinLnBrk="1">
        <a:spcBef>
          <a:spcPct val="0"/>
        </a:spcBef>
        <a:spcAft>
          <a:spcPct val="0"/>
        </a:spcAft>
        <a:defRPr sz="5300">
          <a:solidFill>
            <a:schemeClr val="tx1"/>
          </a:solidFill>
          <a:latin typeface="맑은 고딕" pitchFamily="50" charset="-127"/>
        </a:defRPr>
      </a:lvl6pPr>
      <a:lvl7pPr marL="1097280" algn="ctr" rtl="0" fontAlgn="base" latinLnBrk="1">
        <a:spcBef>
          <a:spcPct val="0"/>
        </a:spcBef>
        <a:spcAft>
          <a:spcPct val="0"/>
        </a:spcAft>
        <a:defRPr sz="5300">
          <a:solidFill>
            <a:schemeClr val="tx1"/>
          </a:solidFill>
          <a:latin typeface="맑은 고딕" pitchFamily="50" charset="-127"/>
        </a:defRPr>
      </a:lvl7pPr>
      <a:lvl8pPr marL="1645920" algn="ctr" rtl="0" fontAlgn="base" latinLnBrk="1">
        <a:spcBef>
          <a:spcPct val="0"/>
        </a:spcBef>
        <a:spcAft>
          <a:spcPct val="0"/>
        </a:spcAft>
        <a:defRPr sz="5300">
          <a:solidFill>
            <a:schemeClr val="tx1"/>
          </a:solidFill>
          <a:latin typeface="맑은 고딕" pitchFamily="50" charset="-127"/>
        </a:defRPr>
      </a:lvl8pPr>
      <a:lvl9pPr marL="2194560" algn="ctr" rtl="0" fontAlgn="base" latinLnBrk="1">
        <a:spcBef>
          <a:spcPct val="0"/>
        </a:spcBef>
        <a:spcAft>
          <a:spcPct val="0"/>
        </a:spcAft>
        <a:defRPr sz="5300">
          <a:solidFill>
            <a:schemeClr val="tx1"/>
          </a:solidFill>
          <a:latin typeface="맑은 고딕" pitchFamily="50" charset="-127"/>
        </a:defRPr>
      </a:lvl9pPr>
    </p:titleStyle>
    <p:bodyStyle>
      <a:lvl1pPr marL="411480" indent="-41148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800" kern="1200">
          <a:solidFill>
            <a:schemeClr val="tx1"/>
          </a:solidFill>
          <a:latin typeface="+mn-lt"/>
          <a:ea typeface="+mn-ea"/>
          <a:cs typeface="+mn-cs"/>
        </a:defRPr>
      </a:lvl1pPr>
      <a:lvl2pPr marL="89154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34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oup 135">
            <a:extLst>
              <a:ext uri="{FF2B5EF4-FFF2-40B4-BE49-F238E27FC236}">
                <a16:creationId xmlns:a16="http://schemas.microsoft.com/office/drawing/2014/main" id="{D0EE3C01-C659-42AF-B0F2-154A453489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6593908"/>
              </p:ext>
            </p:extLst>
          </p:nvPr>
        </p:nvGraphicFramePr>
        <p:xfrm>
          <a:off x="896550" y="5060591"/>
          <a:ext cx="8071982" cy="1068709"/>
        </p:xfrm>
        <a:graphic>
          <a:graphicData uri="http://schemas.openxmlformats.org/drawingml/2006/table">
            <a:tbl>
              <a:tblPr/>
              <a:tblGrid>
                <a:gridCol w="17521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32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51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13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7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 성 자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  희  성</a:t>
                      </a:r>
                      <a:endParaRPr kumimoji="0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 자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2026. 6. 10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6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검 토 자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 자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23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승 인 자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 자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제목 6">
            <a:extLst>
              <a:ext uri="{FF2B5EF4-FFF2-40B4-BE49-F238E27FC236}">
                <a16:creationId xmlns:a16="http://schemas.microsoft.com/office/drawing/2014/main" id="{5586BA84-0607-EFC8-2890-2A14340D8C01}"/>
              </a:ext>
            </a:extLst>
          </p:cNvPr>
          <p:cNvSpPr>
            <a:spLocks noGrp="1"/>
          </p:cNvSpPr>
          <p:nvPr/>
        </p:nvSpPr>
        <p:spPr bwMode="auto">
          <a:xfrm>
            <a:off x="2576736" y="1198979"/>
            <a:ext cx="6401707" cy="7088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 eaLnBrk="1" fontAlgn="auto" hangingPunct="1">
              <a:spcAft>
                <a:spcPts val="0"/>
              </a:spcAft>
              <a:defRPr/>
            </a:pPr>
            <a:r>
              <a:rPr lang="ko-KR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화면설계서</a:t>
            </a:r>
            <a:r>
              <a:rPr lang="en-US" altLang="ko-KR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제목 6">
            <a:extLst>
              <a:ext uri="{FF2B5EF4-FFF2-40B4-BE49-F238E27FC236}">
                <a16:creationId xmlns:a16="http://schemas.microsoft.com/office/drawing/2014/main" id="{EA83B9F2-E3C0-B884-4551-ECFDC8AD04B1}"/>
              </a:ext>
            </a:extLst>
          </p:cNvPr>
          <p:cNvSpPr txBox="1">
            <a:spLocks/>
          </p:cNvSpPr>
          <p:nvPr/>
        </p:nvSpPr>
        <p:spPr bwMode="auto">
          <a:xfrm>
            <a:off x="3120491" y="1914815"/>
            <a:ext cx="5857953" cy="5158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lvl="0" algn="r" fontAlgn="auto" latinLnBrk="0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08. 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</a:t>
            </a:r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5" name="Group 134">
            <a:extLst>
              <a:ext uri="{FF2B5EF4-FFF2-40B4-BE49-F238E27FC236}">
                <a16:creationId xmlns:a16="http://schemas.microsoft.com/office/drawing/2014/main" id="{21DC28CE-9A0A-8D52-E0A2-BBFE4CAB1F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2653431"/>
              </p:ext>
            </p:extLst>
          </p:nvPr>
        </p:nvGraphicFramePr>
        <p:xfrm>
          <a:off x="884548" y="4196495"/>
          <a:ext cx="8083984" cy="623413"/>
        </p:xfrm>
        <a:graphic>
          <a:graphicData uri="http://schemas.openxmlformats.org/drawingml/2006/table">
            <a:tbl>
              <a:tblPr/>
              <a:tblGrid>
                <a:gridCol w="17678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161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4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문서번호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KEPCOES-DE-004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프로젝트명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켑코이에스</a:t>
                      </a: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전산시스템</a:t>
                      </a: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(PMS·SRM) </a:t>
                      </a: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재구축 용역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487365A5-672A-A325-330C-5A5147263190}"/>
              </a:ext>
            </a:extLst>
          </p:cNvPr>
          <p:cNvSpPr>
            <a:spLocks noGrp="1"/>
          </p:cNvSpPr>
          <p:nvPr/>
        </p:nvSpPr>
        <p:spPr bwMode="auto">
          <a:xfrm>
            <a:off x="2590081" y="768744"/>
            <a:ext cx="6388363" cy="2472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 eaLnBrk="1" fontAlgn="auto" hangingPunct="1">
              <a:spcAft>
                <a:spcPts val="0"/>
              </a:spcAft>
              <a:defRPr/>
            </a:pPr>
            <a:endParaRPr lang="ko-KR" altLang="en-US" sz="15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7" name="Picture 1">
            <a:extLst>
              <a:ext uri="{FF2B5EF4-FFF2-40B4-BE49-F238E27FC236}">
                <a16:creationId xmlns:a16="http://schemas.microsoft.com/office/drawing/2014/main" id="{D8D9BF40-3AAA-996A-98C9-15586676FD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468" y="116632"/>
            <a:ext cx="1843484" cy="432048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58381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64B9AB45-3769-E1A9-6FDE-3F74DDE83B0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749224" y="25608"/>
            <a:ext cx="95410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메뉴구조도(SRM)</a:t>
            </a:r>
          </a:p>
        </p:txBody>
      </p:sp>
      <p:sp>
        <p:nvSpPr>
          <p:cNvPr id="3" name="Rectangle 32">
            <a:extLst>
              <a:ext uri="{FF2B5EF4-FFF2-40B4-BE49-F238E27FC236}">
                <a16:creationId xmlns:a16="http://schemas.microsoft.com/office/drawing/2014/main" id="{A88DECC5-3C2E-3094-A449-440B9AD797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6711"/>
            <a:ext cx="9906000" cy="6383897"/>
          </a:xfrm>
          <a:prstGeom prst="rect">
            <a:avLst/>
          </a:prstGeom>
          <a:solidFill>
            <a:schemeClr val="bg1"/>
          </a:solidFill>
          <a:ln w="3175" algn="ctr">
            <a:noFill/>
            <a:prstDash val="sysDash"/>
            <a:miter lim="800000"/>
            <a:headEnd/>
            <a:tailEnd/>
          </a:ln>
        </p:spPr>
        <p:txBody>
          <a:bodyPr wrap="none" tIns="108000" bIns="108000" anchor="b" anchorCtr="0"/>
          <a:lstStyle/>
          <a:p>
            <a:pPr algn="ctr"/>
            <a:endParaRPr lang="ko-KR" altLang="en-US" sz="1000" b="1" dirty="0">
              <a:solidFill>
                <a:prstClr val="black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" name="사각형: 둥근 모서리 107">
            <a:extLst>
              <a:ext uri="{FF2B5EF4-FFF2-40B4-BE49-F238E27FC236}">
                <a16:creationId xmlns:a16="http://schemas.microsoft.com/office/drawing/2014/main" id="{2756106C-5B0B-DBE9-7C86-3247285D0191}"/>
              </a:ext>
            </a:extLst>
          </p:cNvPr>
          <p:cNvSpPr/>
          <p:nvPr/>
        </p:nvSpPr>
        <p:spPr bwMode="auto">
          <a:xfrm>
            <a:off x="3992766" y="492348"/>
            <a:ext cx="1920468" cy="345789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36000" rIns="9144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1" i="0" u="none" strike="noStrike" kern="1200" cap="none" spc="-5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전자입찰시스템</a:t>
            </a:r>
            <a:r>
              <a:rPr kumimoji="1" lang="en-US" altLang="ko-KR" sz="1000" b="1" i="0" u="none" strike="noStrike" kern="1200" cap="none" spc="-5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(SRM)</a:t>
            </a:r>
            <a:endParaRPr kumimoji="1" lang="ko-KR" altLang="en-US" sz="1000" b="1" i="0" u="none" strike="noStrike" kern="1200" cap="none" spc="-5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cxnSp>
        <p:nvCxnSpPr>
          <p:cNvPr id="7" name="연결선: 꺾임 145">
            <a:extLst>
              <a:ext uri="{FF2B5EF4-FFF2-40B4-BE49-F238E27FC236}">
                <a16:creationId xmlns:a16="http://schemas.microsoft.com/office/drawing/2014/main" id="{055B4038-FB00-BB2D-29E7-CB39AA30581E}"/>
              </a:ext>
            </a:extLst>
          </p:cNvPr>
          <p:cNvCxnSpPr>
            <a:cxnSpLocks/>
            <a:stCxn id="5" idx="2"/>
            <a:endCxn id="95" idx="0"/>
          </p:cNvCxnSpPr>
          <p:nvPr/>
        </p:nvCxnSpPr>
        <p:spPr bwMode="auto">
          <a:xfrm rot="5400000">
            <a:off x="4409069" y="575186"/>
            <a:ext cx="280981" cy="806883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연결선: 꺾임 55">
            <a:extLst>
              <a:ext uri="{FF2B5EF4-FFF2-40B4-BE49-F238E27FC236}">
                <a16:creationId xmlns:a16="http://schemas.microsoft.com/office/drawing/2014/main" id="{61E1272A-265F-F840-4E25-03555EF7D500}"/>
              </a:ext>
            </a:extLst>
          </p:cNvPr>
          <p:cNvCxnSpPr>
            <a:cxnSpLocks/>
            <a:stCxn id="5" idx="2"/>
            <a:endCxn id="120" idx="0"/>
          </p:cNvCxnSpPr>
          <p:nvPr/>
        </p:nvCxnSpPr>
        <p:spPr bwMode="auto">
          <a:xfrm rot="16200000" flipH="1">
            <a:off x="6034311" y="-243175"/>
            <a:ext cx="280981" cy="2443603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" name="연결선: 꺾임 64">
            <a:extLst>
              <a:ext uri="{FF2B5EF4-FFF2-40B4-BE49-F238E27FC236}">
                <a16:creationId xmlns:a16="http://schemas.microsoft.com/office/drawing/2014/main" id="{9575E0FF-0D0C-8123-2CA2-67305D09EFE1}"/>
              </a:ext>
            </a:extLst>
          </p:cNvPr>
          <p:cNvCxnSpPr>
            <a:cxnSpLocks/>
            <a:stCxn id="5" idx="2"/>
            <a:endCxn id="146" idx="0"/>
          </p:cNvCxnSpPr>
          <p:nvPr/>
        </p:nvCxnSpPr>
        <p:spPr bwMode="auto">
          <a:xfrm rot="16200000" flipH="1">
            <a:off x="6846933" y="-1055797"/>
            <a:ext cx="280981" cy="4068847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연결선: 꺾임 145">
            <a:extLst>
              <a:ext uri="{FF2B5EF4-FFF2-40B4-BE49-F238E27FC236}">
                <a16:creationId xmlns:a16="http://schemas.microsoft.com/office/drawing/2014/main" id="{68A3D591-143A-A287-49A2-D247E0FC4B9A}"/>
              </a:ext>
            </a:extLst>
          </p:cNvPr>
          <p:cNvCxnSpPr>
            <a:cxnSpLocks/>
            <a:stCxn id="5" idx="2"/>
            <a:endCxn id="87" idx="0"/>
          </p:cNvCxnSpPr>
          <p:nvPr/>
        </p:nvCxnSpPr>
        <p:spPr bwMode="auto">
          <a:xfrm rot="5400000">
            <a:off x="3596447" y="-237436"/>
            <a:ext cx="280981" cy="2432126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연결선: 꺾임 145">
            <a:extLst>
              <a:ext uri="{FF2B5EF4-FFF2-40B4-BE49-F238E27FC236}">
                <a16:creationId xmlns:a16="http://schemas.microsoft.com/office/drawing/2014/main" id="{A034744A-7FB4-89EA-9A03-77A446DA239E}"/>
              </a:ext>
            </a:extLst>
          </p:cNvPr>
          <p:cNvCxnSpPr>
            <a:cxnSpLocks/>
            <a:stCxn id="5" idx="2"/>
            <a:endCxn id="19" idx="0"/>
          </p:cNvCxnSpPr>
          <p:nvPr/>
        </p:nvCxnSpPr>
        <p:spPr bwMode="auto">
          <a:xfrm rot="5400000">
            <a:off x="2783826" y="-1050057"/>
            <a:ext cx="280981" cy="4057369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연결선: 꺾임 145">
            <a:extLst>
              <a:ext uri="{FF2B5EF4-FFF2-40B4-BE49-F238E27FC236}">
                <a16:creationId xmlns:a16="http://schemas.microsoft.com/office/drawing/2014/main" id="{5CE08FB6-4C52-2234-18BB-7BBE70621FC4}"/>
              </a:ext>
            </a:extLst>
          </p:cNvPr>
          <p:cNvCxnSpPr>
            <a:cxnSpLocks/>
            <a:stCxn id="5" idx="2"/>
            <a:endCxn id="103" idx="0"/>
          </p:cNvCxnSpPr>
          <p:nvPr/>
        </p:nvCxnSpPr>
        <p:spPr bwMode="auto">
          <a:xfrm rot="16200000" flipH="1">
            <a:off x="5221690" y="569447"/>
            <a:ext cx="280981" cy="818360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5031B6B-3138-9606-4556-72B8D9A3EFD9}"/>
              </a:ext>
            </a:extLst>
          </p:cNvPr>
          <p:cNvSpPr/>
          <p:nvPr/>
        </p:nvSpPr>
        <p:spPr>
          <a:xfrm>
            <a:off x="131466" y="1119118"/>
            <a:ext cx="1528329" cy="307303"/>
          </a:xfrm>
          <a:prstGeom prst="rect">
            <a:avLst/>
          </a:prstGeom>
          <a:solidFill>
            <a:srgbClr val="00B05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</a:t>
            </a:r>
            <a:r>
              <a:rPr kumimoji="0" lang="en-US" altLang="ko-KR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로그인 전</a:t>
            </a:r>
            <a:r>
              <a:rPr kumimoji="0" lang="en-US" altLang="ko-KR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355CEA5E-44EC-9B4C-CBF2-F282986821A5}"/>
              </a:ext>
            </a:extLst>
          </p:cNvPr>
          <p:cNvSpPr/>
          <p:nvPr/>
        </p:nvSpPr>
        <p:spPr>
          <a:xfrm>
            <a:off x="127630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신청 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ECE74225-2ADC-D85A-D8EC-DE91BDDB1B8A}"/>
              </a:ext>
            </a:extLst>
          </p:cNvPr>
          <p:cNvSpPr/>
          <p:nvPr/>
        </p:nvSpPr>
        <p:spPr>
          <a:xfrm>
            <a:off x="127630" y="1752720"/>
            <a:ext cx="1529252" cy="135728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Step#1 </a:t>
            </a: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약관 및 개인정보 수집 동의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Step#2 </a:t>
            </a: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기본 정보 입력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Step#3 </a:t>
            </a: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담당자 정보 입력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Step#4 </a:t>
            </a: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신청 정보 확인 및 제출 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Step#5 </a:t>
            </a: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협력업체 신청 완료</a:t>
            </a: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014F6B96-E775-D9A7-EA91-08EC3A32EC6E}"/>
              </a:ext>
            </a:extLst>
          </p:cNvPr>
          <p:cNvSpPr/>
          <p:nvPr/>
        </p:nvSpPr>
        <p:spPr>
          <a:xfrm>
            <a:off x="127630" y="3172738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아이디 찾기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A9921989-4B1D-CEEB-F694-E3DBDC758B0E}"/>
              </a:ext>
            </a:extLst>
          </p:cNvPr>
          <p:cNvSpPr/>
          <p:nvPr/>
        </p:nvSpPr>
        <p:spPr>
          <a:xfrm>
            <a:off x="127630" y="3483409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비밀번호 찾기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D7A3A18D-BBC4-326F-4F31-9B5CD06D0993}"/>
              </a:ext>
            </a:extLst>
          </p:cNvPr>
          <p:cNvSpPr/>
          <p:nvPr/>
        </p:nvSpPr>
        <p:spPr>
          <a:xfrm>
            <a:off x="127630" y="3794080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입찰공고 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3A9A84AB-E38C-E88E-BD5D-FA4B7A6AA513}"/>
              </a:ext>
            </a:extLst>
          </p:cNvPr>
          <p:cNvSpPr/>
          <p:nvPr/>
        </p:nvSpPr>
        <p:spPr>
          <a:xfrm>
            <a:off x="127630" y="4104751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이용 매뉴얼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739AC54A-4603-1A06-B470-F5CE35B93081}"/>
              </a:ext>
            </a:extLst>
          </p:cNvPr>
          <p:cNvSpPr/>
          <p:nvPr/>
        </p:nvSpPr>
        <p:spPr>
          <a:xfrm>
            <a:off x="1756709" y="1119118"/>
            <a:ext cx="1528329" cy="307303"/>
          </a:xfrm>
          <a:prstGeom prst="rect">
            <a:avLst/>
          </a:prstGeom>
          <a:solidFill>
            <a:srgbClr val="00B05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</a:t>
            </a:r>
            <a:r>
              <a:rPr kumimoji="0" lang="en-US" altLang="ko-KR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로그인 후</a:t>
            </a:r>
            <a:r>
              <a:rPr kumimoji="0" lang="en-US" altLang="ko-KR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1D1F3630-EED3-9948-BDC0-83051E91F895}"/>
              </a:ext>
            </a:extLst>
          </p:cNvPr>
          <p:cNvSpPr/>
          <p:nvPr/>
        </p:nvSpPr>
        <p:spPr>
          <a:xfrm>
            <a:off x="1752873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대시보드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1A725966-D3AC-ED98-1744-D5B07887B1F1}"/>
              </a:ext>
            </a:extLst>
          </p:cNvPr>
          <p:cNvSpPr/>
          <p:nvPr/>
        </p:nvSpPr>
        <p:spPr>
          <a:xfrm>
            <a:off x="1752873" y="3047375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요청 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3417B091-2877-C651-F82B-9AB10534A006}"/>
              </a:ext>
            </a:extLst>
          </p:cNvPr>
          <p:cNvSpPr/>
          <p:nvPr/>
        </p:nvSpPr>
        <p:spPr>
          <a:xfrm>
            <a:off x="1752873" y="5226932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정보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11C47DCA-0266-33B0-A559-21AA9E3FDAA2}"/>
              </a:ext>
            </a:extLst>
          </p:cNvPr>
          <p:cNvSpPr/>
          <p:nvPr/>
        </p:nvSpPr>
        <p:spPr>
          <a:xfrm>
            <a:off x="3381952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대시보드 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E4A7083E-BF4B-F446-EBE7-B899895ECDB9}"/>
              </a:ext>
            </a:extLst>
          </p:cNvPr>
          <p:cNvSpPr/>
          <p:nvPr/>
        </p:nvSpPr>
        <p:spPr>
          <a:xfrm>
            <a:off x="3378116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대시보드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1D228922-9D76-9C43-A75D-90F2B3ED8E45}"/>
              </a:ext>
            </a:extLst>
          </p:cNvPr>
          <p:cNvSpPr/>
          <p:nvPr/>
        </p:nvSpPr>
        <p:spPr>
          <a:xfrm>
            <a:off x="5007195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관리 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CF2EA9CB-6E24-E53F-E5A6-C94809CB3D2C}"/>
              </a:ext>
            </a:extLst>
          </p:cNvPr>
          <p:cNvSpPr/>
          <p:nvPr/>
        </p:nvSpPr>
        <p:spPr>
          <a:xfrm>
            <a:off x="5003359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요청 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DE8FBC8F-623F-FFE5-65E3-A25E8E96ED59}"/>
              </a:ext>
            </a:extLst>
          </p:cNvPr>
          <p:cNvSpPr/>
          <p:nvPr/>
        </p:nvSpPr>
        <p:spPr>
          <a:xfrm>
            <a:off x="5003359" y="1803279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요청 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441233F4-F260-522C-0AA4-9C626EAEB198}"/>
              </a:ext>
            </a:extLst>
          </p:cNvPr>
          <p:cNvSpPr/>
          <p:nvPr/>
        </p:nvSpPr>
        <p:spPr>
          <a:xfrm>
            <a:off x="6632438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52691882-9F04-AAF6-027E-2875611F6CD3}"/>
              </a:ext>
            </a:extLst>
          </p:cNvPr>
          <p:cNvSpPr/>
          <p:nvPr/>
        </p:nvSpPr>
        <p:spPr>
          <a:xfrm>
            <a:off x="8257682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112DC2C2-E43C-3766-CB42-FA1259397C91}"/>
              </a:ext>
            </a:extLst>
          </p:cNvPr>
          <p:cNvSpPr/>
          <p:nvPr/>
        </p:nvSpPr>
        <p:spPr>
          <a:xfrm>
            <a:off x="1752873" y="180539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 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5" name="직사각형 164">
            <a:extLst>
              <a:ext uri="{FF2B5EF4-FFF2-40B4-BE49-F238E27FC236}">
                <a16:creationId xmlns:a16="http://schemas.microsoft.com/office/drawing/2014/main" id="{830CFC53-CFBF-4247-9FDC-CDDBDE6092A6}"/>
              </a:ext>
            </a:extLst>
          </p:cNvPr>
          <p:cNvSpPr/>
          <p:nvPr/>
        </p:nvSpPr>
        <p:spPr>
          <a:xfrm>
            <a:off x="1752873" y="2116065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질문과 답변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17D7D566-4D8F-3660-682E-B2E27CA62F20}"/>
              </a:ext>
            </a:extLst>
          </p:cNvPr>
          <p:cNvSpPr/>
          <p:nvPr/>
        </p:nvSpPr>
        <p:spPr>
          <a:xfrm>
            <a:off x="1752873" y="2426736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7" name="직사각형 166">
            <a:extLst>
              <a:ext uri="{FF2B5EF4-FFF2-40B4-BE49-F238E27FC236}">
                <a16:creationId xmlns:a16="http://schemas.microsoft.com/office/drawing/2014/main" id="{D5365FA3-56EC-7C58-22E2-1979348C1B97}"/>
              </a:ext>
            </a:extLst>
          </p:cNvPr>
          <p:cNvSpPr/>
          <p:nvPr/>
        </p:nvSpPr>
        <p:spPr>
          <a:xfrm>
            <a:off x="1752873" y="2737407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E860D680-4B09-482D-4A6E-1C803CFA44A5}"/>
              </a:ext>
            </a:extLst>
          </p:cNvPr>
          <p:cNvSpPr/>
          <p:nvPr/>
        </p:nvSpPr>
        <p:spPr>
          <a:xfrm>
            <a:off x="1748146" y="3298876"/>
            <a:ext cx="1529252" cy="47946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공고 정보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견적 제출 현황</a:t>
            </a:r>
          </a:p>
        </p:txBody>
      </p:sp>
      <p:sp>
        <p:nvSpPr>
          <p:cNvPr id="170" name="직사각형 169">
            <a:extLst>
              <a:ext uri="{FF2B5EF4-FFF2-40B4-BE49-F238E27FC236}">
                <a16:creationId xmlns:a16="http://schemas.microsoft.com/office/drawing/2014/main" id="{D2D1ED4E-E5E8-961F-16DB-A0639EBB2950}"/>
              </a:ext>
            </a:extLst>
          </p:cNvPr>
          <p:cNvSpPr/>
          <p:nvPr/>
        </p:nvSpPr>
        <p:spPr>
          <a:xfrm>
            <a:off x="1752873" y="3835263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1" name="직사각형 170">
            <a:extLst>
              <a:ext uri="{FF2B5EF4-FFF2-40B4-BE49-F238E27FC236}">
                <a16:creationId xmlns:a16="http://schemas.microsoft.com/office/drawing/2014/main" id="{4245DF07-F90F-F9AE-165D-E01F074E18A7}"/>
              </a:ext>
            </a:extLst>
          </p:cNvPr>
          <p:cNvSpPr/>
          <p:nvPr/>
        </p:nvSpPr>
        <p:spPr>
          <a:xfrm>
            <a:off x="1748146" y="4087538"/>
            <a:ext cx="1529252" cy="108247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입찰공고 정보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입찰 서류 제출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가격 </a:t>
            </a:r>
            <a:r>
              <a:rPr kumimoji="0" lang="ko-KR" altLang="en-US" sz="900" b="0" i="0" u="none" strike="noStrike" kern="0" cap="none" spc="-50" normalizeH="0" noProof="0" dirty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투찰</a:t>
            </a:r>
            <a:endParaRPr kumimoji="0" lang="ko-KR" altLang="en-US" sz="900" b="0" i="0" u="none" strike="noStrike" kern="0" cap="none" spc="-50" normalizeH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입찰 결과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수의시담</a:t>
            </a:r>
            <a:endParaRPr kumimoji="0" lang="ko-KR" altLang="en-US" sz="900" b="0" i="0" u="none" strike="noStrike" kern="0" cap="none" spc="-50" normalizeH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174" name="직사각형 173">
            <a:extLst>
              <a:ext uri="{FF2B5EF4-FFF2-40B4-BE49-F238E27FC236}">
                <a16:creationId xmlns:a16="http://schemas.microsoft.com/office/drawing/2014/main" id="{6B371C43-7645-8F36-DB9B-858941ECB04D}"/>
              </a:ext>
            </a:extLst>
          </p:cNvPr>
          <p:cNvSpPr/>
          <p:nvPr/>
        </p:nvSpPr>
        <p:spPr>
          <a:xfrm>
            <a:off x="1748146" y="5478634"/>
            <a:ext cx="1529252" cy="89706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협력업체 정보 확인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기본 정보 수정 요청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담당자 정보 추가</a:t>
            </a:r>
            <a:r>
              <a:rPr kumimoji="0" lang="en-US" altLang="ko-KR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/</a:t>
            </a: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수정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비밀번호 변경 </a:t>
            </a:r>
          </a:p>
        </p:txBody>
      </p:sp>
      <p:sp>
        <p:nvSpPr>
          <p:cNvPr id="177" name="직사각형 176">
            <a:extLst>
              <a:ext uri="{FF2B5EF4-FFF2-40B4-BE49-F238E27FC236}">
                <a16:creationId xmlns:a16="http://schemas.microsoft.com/office/drawing/2014/main" id="{3F95A057-C9BA-CA97-1281-8B6D7A02DB0F}"/>
              </a:ext>
            </a:extLst>
          </p:cNvPr>
          <p:cNvSpPr/>
          <p:nvPr/>
        </p:nvSpPr>
        <p:spPr>
          <a:xfrm>
            <a:off x="3378116" y="1803279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8" name="직사각형 177">
            <a:extLst>
              <a:ext uri="{FF2B5EF4-FFF2-40B4-BE49-F238E27FC236}">
                <a16:creationId xmlns:a16="http://schemas.microsoft.com/office/drawing/2014/main" id="{D4C62549-217A-BAC2-E336-61018857F975}"/>
              </a:ext>
            </a:extLst>
          </p:cNvPr>
          <p:cNvSpPr/>
          <p:nvPr/>
        </p:nvSpPr>
        <p:spPr>
          <a:xfrm>
            <a:off x="3378116" y="2113950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1" name="직사각형 180">
            <a:extLst>
              <a:ext uri="{FF2B5EF4-FFF2-40B4-BE49-F238E27FC236}">
                <a16:creationId xmlns:a16="http://schemas.microsoft.com/office/drawing/2014/main" id="{9B25D357-AF3A-B49F-C5A2-C2FACBFBEA76}"/>
              </a:ext>
            </a:extLst>
          </p:cNvPr>
          <p:cNvSpPr/>
          <p:nvPr/>
        </p:nvSpPr>
        <p:spPr>
          <a:xfrm>
            <a:off x="5007258" y="2051768"/>
            <a:ext cx="1529252" cy="47946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lvl="0" indent="-72000" algn="l" fontAlgn="auto" latinLnBrk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/>
            </a:pPr>
            <a:r>
              <a:rPr kumimoji="0" lang="ko-KR" altLang="en-US" sz="900" b="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요청 내역</a:t>
            </a:r>
            <a:endParaRPr kumimoji="0" lang="en-US" altLang="ko-KR" sz="900" b="0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lvl="0" indent="-72000" algn="l" fontAlgn="auto" latinLnBrk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/>
            </a:pPr>
            <a:r>
              <a:rPr kumimoji="0" lang="ko-KR" altLang="en-US" sz="900" b="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제출 현황</a:t>
            </a:r>
            <a:endParaRPr kumimoji="0" lang="ko-KR" altLang="en-US" sz="900" b="0" i="0" u="none" strike="noStrike" kern="0" cap="none" spc="-50" normalizeH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A62B9392-E5D6-E416-8709-B2166C5E1489}"/>
              </a:ext>
            </a:extLst>
          </p:cNvPr>
          <p:cNvSpPr/>
          <p:nvPr/>
        </p:nvSpPr>
        <p:spPr>
          <a:xfrm>
            <a:off x="6634000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3" name="직사각형 182">
            <a:extLst>
              <a:ext uri="{FF2B5EF4-FFF2-40B4-BE49-F238E27FC236}">
                <a16:creationId xmlns:a16="http://schemas.microsoft.com/office/drawing/2014/main" id="{E9EDD3AC-F2A8-4B60-25A4-3F90A97B4728}"/>
              </a:ext>
            </a:extLst>
          </p:cNvPr>
          <p:cNvSpPr/>
          <p:nvPr/>
        </p:nvSpPr>
        <p:spPr>
          <a:xfrm>
            <a:off x="6634000" y="1803279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 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4" name="직사각형 183">
            <a:extLst>
              <a:ext uri="{FF2B5EF4-FFF2-40B4-BE49-F238E27FC236}">
                <a16:creationId xmlns:a16="http://schemas.microsoft.com/office/drawing/2014/main" id="{99096261-758C-262E-CB8F-39B4ED0BDDEC}"/>
              </a:ext>
            </a:extLst>
          </p:cNvPr>
          <p:cNvSpPr/>
          <p:nvPr/>
        </p:nvSpPr>
        <p:spPr>
          <a:xfrm>
            <a:off x="8257682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 접수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5" name="직사각형 184">
            <a:extLst>
              <a:ext uri="{FF2B5EF4-FFF2-40B4-BE49-F238E27FC236}">
                <a16:creationId xmlns:a16="http://schemas.microsoft.com/office/drawing/2014/main" id="{6F3A8D0B-D007-7D31-A6AD-FF7401B42457}"/>
              </a:ext>
            </a:extLst>
          </p:cNvPr>
          <p:cNvSpPr/>
          <p:nvPr/>
        </p:nvSpPr>
        <p:spPr>
          <a:xfrm>
            <a:off x="8257682" y="1803279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 등록 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21126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91B9B-3627-4660-FD69-DDDF952EC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2DF35F6-D7C4-26BA-8F05-0B9D9F02A3C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89922C1-7B88-800B-3F9E-D702306A7BB8}"/>
              </a:ext>
            </a:extLst>
          </p:cNvPr>
          <p:cNvSpPr txBox="1"/>
          <p:nvPr/>
        </p:nvSpPr>
        <p:spPr>
          <a:xfrm>
            <a:off x="749224" y="25608"/>
            <a:ext cx="95410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메뉴구조도(SRM)</a:t>
            </a:r>
          </a:p>
        </p:txBody>
      </p:sp>
      <p:sp>
        <p:nvSpPr>
          <p:cNvPr id="3" name="Rectangle 32">
            <a:extLst>
              <a:ext uri="{FF2B5EF4-FFF2-40B4-BE49-F238E27FC236}">
                <a16:creationId xmlns:a16="http://schemas.microsoft.com/office/drawing/2014/main" id="{908743FB-77BF-B659-D73D-DE3273D988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6711"/>
            <a:ext cx="9906000" cy="6383897"/>
          </a:xfrm>
          <a:prstGeom prst="rect">
            <a:avLst/>
          </a:prstGeom>
          <a:solidFill>
            <a:schemeClr val="bg1"/>
          </a:solidFill>
          <a:ln w="3175" algn="ctr">
            <a:noFill/>
            <a:prstDash val="sysDash"/>
            <a:miter lim="800000"/>
            <a:headEnd/>
            <a:tailEnd/>
          </a:ln>
        </p:spPr>
        <p:txBody>
          <a:bodyPr wrap="none" tIns="108000" bIns="108000" anchor="b" anchorCtr="0"/>
          <a:lstStyle/>
          <a:p>
            <a:pPr algn="ctr"/>
            <a:endParaRPr lang="ko-KR" altLang="en-US" sz="1000" b="1" dirty="0">
              <a:solidFill>
                <a:prstClr val="black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" name="사각형: 둥근 모서리 107">
            <a:extLst>
              <a:ext uri="{FF2B5EF4-FFF2-40B4-BE49-F238E27FC236}">
                <a16:creationId xmlns:a16="http://schemas.microsoft.com/office/drawing/2014/main" id="{9C2DEE79-B178-032F-08AE-6E8A55918EBC}"/>
              </a:ext>
            </a:extLst>
          </p:cNvPr>
          <p:cNvSpPr/>
          <p:nvPr/>
        </p:nvSpPr>
        <p:spPr bwMode="auto">
          <a:xfrm>
            <a:off x="3992766" y="492348"/>
            <a:ext cx="1920468" cy="345789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36000" rIns="9144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1" i="0" u="none" strike="noStrike" kern="1200" cap="none" spc="-5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전자입찰시스템</a:t>
            </a:r>
            <a:r>
              <a:rPr kumimoji="1" lang="en-US" altLang="ko-KR" sz="1000" b="1" i="0" u="none" strike="noStrike" kern="1200" cap="none" spc="-5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(SRM)</a:t>
            </a:r>
            <a:endParaRPr kumimoji="1" lang="ko-KR" altLang="en-US" sz="1000" b="1" i="0" u="none" strike="noStrike" kern="1200" cap="none" spc="-5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cxnSp>
        <p:nvCxnSpPr>
          <p:cNvPr id="7" name="연결선: 꺾임 145">
            <a:extLst>
              <a:ext uri="{FF2B5EF4-FFF2-40B4-BE49-F238E27FC236}">
                <a16:creationId xmlns:a16="http://schemas.microsoft.com/office/drawing/2014/main" id="{BC877F39-7E19-0FA3-CCE6-CE146D79456D}"/>
              </a:ext>
            </a:extLst>
          </p:cNvPr>
          <p:cNvCxnSpPr>
            <a:cxnSpLocks/>
            <a:stCxn id="5" idx="2"/>
            <a:endCxn id="95" idx="0"/>
          </p:cNvCxnSpPr>
          <p:nvPr/>
        </p:nvCxnSpPr>
        <p:spPr bwMode="auto">
          <a:xfrm rot="16200000" flipH="1">
            <a:off x="5221690" y="569446"/>
            <a:ext cx="280981" cy="818361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연결선: 꺾임 55">
            <a:extLst>
              <a:ext uri="{FF2B5EF4-FFF2-40B4-BE49-F238E27FC236}">
                <a16:creationId xmlns:a16="http://schemas.microsoft.com/office/drawing/2014/main" id="{0C0A0657-D42F-87FC-DBD8-11DC547D8997}"/>
              </a:ext>
            </a:extLst>
          </p:cNvPr>
          <p:cNvCxnSpPr>
            <a:cxnSpLocks/>
            <a:stCxn id="5" idx="2"/>
            <a:endCxn id="120" idx="0"/>
          </p:cNvCxnSpPr>
          <p:nvPr/>
        </p:nvCxnSpPr>
        <p:spPr bwMode="auto">
          <a:xfrm rot="16200000" flipH="1">
            <a:off x="6846933" y="-1055797"/>
            <a:ext cx="280981" cy="4068847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" name="연결선: 꺾임 64">
            <a:extLst>
              <a:ext uri="{FF2B5EF4-FFF2-40B4-BE49-F238E27FC236}">
                <a16:creationId xmlns:a16="http://schemas.microsoft.com/office/drawing/2014/main" id="{83972492-5F8A-5CCF-7FE5-916E7ADF0F33}"/>
              </a:ext>
            </a:extLst>
          </p:cNvPr>
          <p:cNvCxnSpPr>
            <a:cxnSpLocks/>
            <a:stCxn id="5" idx="2"/>
          </p:cNvCxnSpPr>
          <p:nvPr/>
        </p:nvCxnSpPr>
        <p:spPr bwMode="auto">
          <a:xfrm rot="16200000" flipH="1">
            <a:off x="6846933" y="-1055797"/>
            <a:ext cx="280981" cy="4068847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연결선: 꺾임 145">
            <a:extLst>
              <a:ext uri="{FF2B5EF4-FFF2-40B4-BE49-F238E27FC236}">
                <a16:creationId xmlns:a16="http://schemas.microsoft.com/office/drawing/2014/main" id="{BF5E2CF1-F999-28CD-A7EF-155CC5267895}"/>
              </a:ext>
            </a:extLst>
          </p:cNvPr>
          <p:cNvCxnSpPr>
            <a:cxnSpLocks/>
            <a:stCxn id="5" idx="2"/>
            <a:endCxn id="87" idx="0"/>
          </p:cNvCxnSpPr>
          <p:nvPr/>
        </p:nvCxnSpPr>
        <p:spPr bwMode="auto">
          <a:xfrm rot="5400000">
            <a:off x="4409069" y="575186"/>
            <a:ext cx="280981" cy="806882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연결선: 꺾임 145">
            <a:extLst>
              <a:ext uri="{FF2B5EF4-FFF2-40B4-BE49-F238E27FC236}">
                <a16:creationId xmlns:a16="http://schemas.microsoft.com/office/drawing/2014/main" id="{94B53BDD-C2D3-BEB6-A792-688AC056B9B3}"/>
              </a:ext>
            </a:extLst>
          </p:cNvPr>
          <p:cNvCxnSpPr>
            <a:cxnSpLocks/>
            <a:stCxn id="5" idx="2"/>
            <a:endCxn id="19" idx="0"/>
          </p:cNvCxnSpPr>
          <p:nvPr/>
        </p:nvCxnSpPr>
        <p:spPr bwMode="auto">
          <a:xfrm rot="5400000">
            <a:off x="3596448" y="-237435"/>
            <a:ext cx="280981" cy="2432125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연결선: 꺾임 145">
            <a:extLst>
              <a:ext uri="{FF2B5EF4-FFF2-40B4-BE49-F238E27FC236}">
                <a16:creationId xmlns:a16="http://schemas.microsoft.com/office/drawing/2014/main" id="{A34176ED-DA58-3416-CDF4-6784E404A8A1}"/>
              </a:ext>
            </a:extLst>
          </p:cNvPr>
          <p:cNvCxnSpPr>
            <a:cxnSpLocks/>
            <a:stCxn id="5" idx="2"/>
            <a:endCxn id="103" idx="0"/>
          </p:cNvCxnSpPr>
          <p:nvPr/>
        </p:nvCxnSpPr>
        <p:spPr bwMode="auto">
          <a:xfrm rot="16200000" flipH="1">
            <a:off x="6034312" y="-243175"/>
            <a:ext cx="280981" cy="2443604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0E9D2ED-CC67-D056-DCF9-97303DEB50B0}"/>
              </a:ext>
            </a:extLst>
          </p:cNvPr>
          <p:cNvSpPr/>
          <p:nvPr/>
        </p:nvSpPr>
        <p:spPr>
          <a:xfrm>
            <a:off x="1756710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입찰관리 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CFED5BDF-1CA6-A1ED-480A-6DE8F9AC2586}"/>
              </a:ext>
            </a:extLst>
          </p:cNvPr>
          <p:cNvSpPr/>
          <p:nvPr/>
        </p:nvSpPr>
        <p:spPr>
          <a:xfrm>
            <a:off x="1752874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입찰계획 현황 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B2F96BB8-AF77-1518-D341-D94009650B98}"/>
              </a:ext>
            </a:extLst>
          </p:cNvPr>
          <p:cNvSpPr/>
          <p:nvPr/>
        </p:nvSpPr>
        <p:spPr>
          <a:xfrm>
            <a:off x="1752874" y="1802125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입찰공고</a:t>
            </a:r>
            <a:r>
              <a:rPr lang="en-US" altLang="ko-KR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738BBF3F-CEF4-9113-67AD-859D7AFD446E}"/>
              </a:ext>
            </a:extLst>
          </p:cNvPr>
          <p:cNvSpPr/>
          <p:nvPr/>
        </p:nvSpPr>
        <p:spPr>
          <a:xfrm>
            <a:off x="3381953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 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2FDB5EA6-CA45-13A1-2C2F-9DBB401AE004}"/>
              </a:ext>
            </a:extLst>
          </p:cNvPr>
          <p:cNvSpPr/>
          <p:nvPr/>
        </p:nvSpPr>
        <p:spPr>
          <a:xfrm>
            <a:off x="3378117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86561C08-A936-2408-8EB7-68ABF9902C58}"/>
              </a:ext>
            </a:extLst>
          </p:cNvPr>
          <p:cNvSpPr/>
          <p:nvPr/>
        </p:nvSpPr>
        <p:spPr>
          <a:xfrm>
            <a:off x="5007196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관리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B333CA17-0085-AD13-4685-8DD256F57090}"/>
              </a:ext>
            </a:extLst>
          </p:cNvPr>
          <p:cNvSpPr/>
          <p:nvPr/>
        </p:nvSpPr>
        <p:spPr>
          <a:xfrm>
            <a:off x="5003360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신청</a:t>
            </a:r>
            <a:r>
              <a:rPr lang="en-US" altLang="ko-KR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변경 요청 처리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7185E328-C7DE-E28D-BB30-A20978BE43C9}"/>
              </a:ext>
            </a:extLst>
          </p:cNvPr>
          <p:cNvSpPr/>
          <p:nvPr/>
        </p:nvSpPr>
        <p:spPr>
          <a:xfrm>
            <a:off x="6632439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기준 정보 관리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C627C1E7-FE4C-AA74-60CF-AF7C9647C81A}"/>
              </a:ext>
            </a:extLst>
          </p:cNvPr>
          <p:cNvSpPr/>
          <p:nvPr/>
        </p:nvSpPr>
        <p:spPr>
          <a:xfrm>
            <a:off x="8257682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공통관리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A8F2748B-474D-C57C-9C11-A5FC63F7B247}"/>
              </a:ext>
            </a:extLst>
          </p:cNvPr>
          <p:cNvSpPr/>
          <p:nvPr/>
        </p:nvSpPr>
        <p:spPr>
          <a:xfrm>
            <a:off x="3373390" y="1750318"/>
            <a:ext cx="1529252" cy="108247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계약 관련 서류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계약 정보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발주계약 요청 정보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발주계획 정보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입찰계획 정보</a:t>
            </a:r>
          </a:p>
        </p:txBody>
      </p:sp>
      <p:sp>
        <p:nvSpPr>
          <p:cNvPr id="177" name="직사각형 176">
            <a:extLst>
              <a:ext uri="{FF2B5EF4-FFF2-40B4-BE49-F238E27FC236}">
                <a16:creationId xmlns:a16="http://schemas.microsoft.com/office/drawing/2014/main" id="{13BD4A2E-5817-A213-A41A-B1691C6BB497}"/>
              </a:ext>
            </a:extLst>
          </p:cNvPr>
          <p:cNvSpPr/>
          <p:nvPr/>
        </p:nvSpPr>
        <p:spPr>
          <a:xfrm>
            <a:off x="5003360" y="1803279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8" name="직사각형 177">
            <a:extLst>
              <a:ext uri="{FF2B5EF4-FFF2-40B4-BE49-F238E27FC236}">
                <a16:creationId xmlns:a16="http://schemas.microsoft.com/office/drawing/2014/main" id="{3E0B09CB-67F5-D08E-512E-F82836F702E3}"/>
              </a:ext>
            </a:extLst>
          </p:cNvPr>
          <p:cNvSpPr/>
          <p:nvPr/>
        </p:nvSpPr>
        <p:spPr>
          <a:xfrm>
            <a:off x="5003360" y="2113950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4B46B900-2336-6E72-624D-5811556726C5}"/>
              </a:ext>
            </a:extLst>
          </p:cNvPr>
          <p:cNvSpPr/>
          <p:nvPr/>
        </p:nvSpPr>
        <p:spPr>
          <a:xfrm>
            <a:off x="8259244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관리자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3" name="직사각형 182">
            <a:extLst>
              <a:ext uri="{FF2B5EF4-FFF2-40B4-BE49-F238E27FC236}">
                <a16:creationId xmlns:a16="http://schemas.microsoft.com/office/drawing/2014/main" id="{3609E92F-DCBC-A112-BF4F-82565D80584E}"/>
              </a:ext>
            </a:extLst>
          </p:cNvPr>
          <p:cNvSpPr/>
          <p:nvPr/>
        </p:nvSpPr>
        <p:spPr>
          <a:xfrm>
            <a:off x="8259244" y="1803279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권한 그룹 및 메뉴별 권한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8A3BEAB-D241-F034-5691-2CF12180D83A}"/>
              </a:ext>
            </a:extLst>
          </p:cNvPr>
          <p:cNvSpPr/>
          <p:nvPr/>
        </p:nvSpPr>
        <p:spPr>
          <a:xfrm>
            <a:off x="1747476" y="2049414"/>
            <a:ext cx="1529252" cy="166761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발주계획 정보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입찰계획 정보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입찰 참여 현황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심사</a:t>
            </a:r>
            <a:r>
              <a:rPr kumimoji="0" lang="en-US" altLang="ko-KR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/</a:t>
            </a: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평가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개찰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낙찰</a:t>
            </a:r>
            <a:r>
              <a:rPr kumimoji="0" lang="en-US" altLang="ko-KR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</a:t>
            </a: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업체선정</a:t>
            </a:r>
            <a:r>
              <a:rPr kumimoji="0" lang="en-US" altLang="ko-KR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)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수의시담</a:t>
            </a:r>
            <a:endParaRPr kumimoji="0" lang="ko-KR" altLang="en-US" sz="900" b="0" i="0" u="none" strike="noStrike" kern="0" cap="none" spc="-50" normalizeH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계약 요청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703EBA4-956D-5AE3-A6B9-85747EBC6D9F}"/>
              </a:ext>
            </a:extLst>
          </p:cNvPr>
          <p:cNvSpPr/>
          <p:nvPr/>
        </p:nvSpPr>
        <p:spPr>
          <a:xfrm>
            <a:off x="5010319" y="2366224"/>
            <a:ext cx="1529252" cy="47946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lvl="0" indent="-72000" algn="l" fontAlgn="auto" latinLnBrk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/>
            </a:pPr>
            <a:r>
              <a:rPr kumimoji="0" lang="ko-KR" altLang="en-US" sz="900" b="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조회</a:t>
            </a:r>
            <a:r>
              <a:rPr kumimoji="0" lang="en-US" altLang="ko-KR" sz="900" b="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kumimoji="0" lang="ko-KR" altLang="en-US" sz="900" b="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상세정보</a:t>
            </a:r>
          </a:p>
          <a:p>
            <a:pPr marL="72000" lvl="0" indent="-72000" algn="l" fontAlgn="auto" latinLnBrk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/>
            </a:pPr>
            <a:r>
              <a:rPr kumimoji="0" lang="ko-KR" altLang="en-US" sz="900" b="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체결 현황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19549DB-D877-F7EF-5818-5862E3E581F1}"/>
              </a:ext>
            </a:extLst>
          </p:cNvPr>
          <p:cNvSpPr/>
          <p:nvPr/>
        </p:nvSpPr>
        <p:spPr>
          <a:xfrm>
            <a:off x="5003360" y="2904087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질문과 답변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EE37C29-BED2-2EA4-7B51-5E88FE454FEB}"/>
              </a:ext>
            </a:extLst>
          </p:cNvPr>
          <p:cNvSpPr/>
          <p:nvPr/>
        </p:nvSpPr>
        <p:spPr>
          <a:xfrm>
            <a:off x="6631302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품목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396F577-1681-F0B3-CB76-DF1713368F19}"/>
              </a:ext>
            </a:extLst>
          </p:cNvPr>
          <p:cNvSpPr/>
          <p:nvPr/>
        </p:nvSpPr>
        <p:spPr>
          <a:xfrm>
            <a:off x="6631302" y="3047375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메일</a:t>
            </a:r>
            <a:r>
              <a:rPr lang="en-US" altLang="ko-KR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메시지 발송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678AB96-F467-AD64-EA4C-59B911194A49}"/>
              </a:ext>
            </a:extLst>
          </p:cNvPr>
          <p:cNvSpPr/>
          <p:nvPr/>
        </p:nvSpPr>
        <p:spPr>
          <a:xfrm>
            <a:off x="6631302" y="180539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 err="1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소싱그룹</a:t>
            </a: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4D8FD29-559D-0A9B-4EFE-026617880984}"/>
              </a:ext>
            </a:extLst>
          </p:cNvPr>
          <p:cNvSpPr/>
          <p:nvPr/>
        </p:nvSpPr>
        <p:spPr>
          <a:xfrm>
            <a:off x="6631302" y="2116065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심사</a:t>
            </a:r>
            <a:r>
              <a:rPr lang="en-US" altLang="ko-KR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평가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DBCA7E2-3882-2D3A-FEEC-C304D99BA9BC}"/>
              </a:ext>
            </a:extLst>
          </p:cNvPr>
          <p:cNvSpPr/>
          <p:nvPr/>
        </p:nvSpPr>
        <p:spPr>
          <a:xfrm>
            <a:off x="6631302" y="2426736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서류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19CC2FB-AE39-6D60-F7E4-AEBBC597415B}"/>
              </a:ext>
            </a:extLst>
          </p:cNvPr>
          <p:cNvSpPr/>
          <p:nvPr/>
        </p:nvSpPr>
        <p:spPr>
          <a:xfrm>
            <a:off x="6631302" y="2737407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메일</a:t>
            </a:r>
            <a:r>
              <a:rPr lang="en-US" altLang="ko-KR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메시지 발송 내용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3337320-9826-598A-0F6D-32ADBE602623}"/>
              </a:ext>
            </a:extLst>
          </p:cNvPr>
          <p:cNvSpPr/>
          <p:nvPr/>
        </p:nvSpPr>
        <p:spPr>
          <a:xfrm>
            <a:off x="6631302" y="3365062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메일</a:t>
            </a:r>
            <a:r>
              <a:rPr lang="en-US" altLang="ko-KR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메시지 발송 현황 조회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7AA1ADE-C580-E067-B7E1-ABFFF171E01E}"/>
              </a:ext>
            </a:extLst>
          </p:cNvPr>
          <p:cNvSpPr/>
          <p:nvPr/>
        </p:nvSpPr>
        <p:spPr>
          <a:xfrm>
            <a:off x="8252285" y="3047375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로그인 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F1DAD779-8964-380C-BD9F-8DD2E89C4F9A}"/>
              </a:ext>
            </a:extLst>
          </p:cNvPr>
          <p:cNvSpPr/>
          <p:nvPr/>
        </p:nvSpPr>
        <p:spPr>
          <a:xfrm>
            <a:off x="8252285" y="2116065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시스템 권한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AF3BD33F-97D0-2BFC-26FB-D5828EDC0617}"/>
              </a:ext>
            </a:extLst>
          </p:cNvPr>
          <p:cNvSpPr/>
          <p:nvPr/>
        </p:nvSpPr>
        <p:spPr>
          <a:xfrm>
            <a:off x="8252285" y="2426736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접속 아이피</a:t>
            </a:r>
            <a:r>
              <a:rPr lang="en-US" altLang="ko-KR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(IP) </a:t>
            </a: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F32ED533-BF77-4DAF-4DC3-E9FD28FFD06D}"/>
              </a:ext>
            </a:extLst>
          </p:cNvPr>
          <p:cNvSpPr/>
          <p:nvPr/>
        </p:nvSpPr>
        <p:spPr>
          <a:xfrm>
            <a:off x="8252285" y="2737407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코드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12243C15-4788-8CD9-CC49-D5D72F05DDCF}"/>
              </a:ext>
            </a:extLst>
          </p:cNvPr>
          <p:cNvSpPr/>
          <p:nvPr/>
        </p:nvSpPr>
        <p:spPr>
          <a:xfrm>
            <a:off x="8252285" y="3365062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메뉴별 접속 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433953B6-38E0-A387-EA33-439E00EAA897}"/>
              </a:ext>
            </a:extLst>
          </p:cNvPr>
          <p:cNvSpPr/>
          <p:nvPr/>
        </p:nvSpPr>
        <p:spPr>
          <a:xfrm>
            <a:off x="8252285" y="3671963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8FC70D5C-FD5D-B309-C4DE-CD5FFF93CA1C}"/>
              </a:ext>
            </a:extLst>
          </p:cNvPr>
          <p:cNvSpPr/>
          <p:nvPr/>
        </p:nvSpPr>
        <p:spPr>
          <a:xfrm>
            <a:off x="8252285" y="3986952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1894832-68A6-29D9-E4B4-D88353EA8D0C}"/>
              </a:ext>
            </a:extLst>
          </p:cNvPr>
          <p:cNvSpPr/>
          <p:nvPr/>
        </p:nvSpPr>
        <p:spPr>
          <a:xfrm>
            <a:off x="123105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관리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324642E-6B86-90B7-9DA7-4B2C9DAFCF23}"/>
              </a:ext>
            </a:extLst>
          </p:cNvPr>
          <p:cNvSpPr/>
          <p:nvPr/>
        </p:nvSpPr>
        <p:spPr>
          <a:xfrm>
            <a:off x="123105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계획 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6F15425-E273-5AD9-BDF3-9EAD2167EA9F}"/>
              </a:ext>
            </a:extLst>
          </p:cNvPr>
          <p:cNvSpPr/>
          <p:nvPr/>
        </p:nvSpPr>
        <p:spPr>
          <a:xfrm>
            <a:off x="123105" y="1803279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808F26F8-C189-623B-12A5-E2A3CE7A5482}"/>
              </a:ext>
            </a:extLst>
          </p:cNvPr>
          <p:cNvSpPr/>
          <p:nvPr/>
        </p:nvSpPr>
        <p:spPr>
          <a:xfrm>
            <a:off x="130064" y="2051768"/>
            <a:ext cx="1529252" cy="87317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발주계획 정보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수의계약 계획 정보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견적 요청 및 확인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계약 요청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80A6F16-4A95-16B5-6169-E6E839407136}"/>
              </a:ext>
            </a:extLst>
          </p:cNvPr>
          <p:cNvSpPr/>
          <p:nvPr/>
        </p:nvSpPr>
        <p:spPr>
          <a:xfrm>
            <a:off x="3386747" y="1119117"/>
            <a:ext cx="1530610" cy="1726573"/>
          </a:xfrm>
          <a:prstGeom prst="rect">
            <a:avLst/>
          </a:prstGeom>
          <a:solidFill>
            <a:srgbClr val="FFFF00">
              <a:alpha val="10196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3984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AD355-09B8-2DB8-B256-59FF3437A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C373BFAE-A654-1F55-2F61-6AB832BBA5A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203743-E867-9A46-7F64-CF70B89C8FA1}"/>
              </a:ext>
            </a:extLst>
          </p:cNvPr>
          <p:cNvSpPr txBox="1"/>
          <p:nvPr/>
        </p:nvSpPr>
        <p:spPr>
          <a:xfrm>
            <a:off x="749224" y="25608"/>
            <a:ext cx="176041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현황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조회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5D6F1AA-2D2D-00BA-2C76-00584BC55174}"/>
              </a:ext>
            </a:extLst>
          </p:cNvPr>
          <p:cNvSpPr/>
          <p:nvPr/>
        </p:nvSpPr>
        <p:spPr>
          <a:xfrm>
            <a:off x="164468" y="403565"/>
            <a:ext cx="756617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현황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55C94A39-508F-078F-2A75-45001A683883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1FE69C8-10A9-FFFE-2B41-566B00B8C6B7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8E92165-1845-B8B8-6CB3-D2171D256645}"/>
              </a:ext>
            </a:extLst>
          </p:cNvPr>
          <p:cNvSpPr/>
          <p:nvPr/>
        </p:nvSpPr>
        <p:spPr>
          <a:xfrm>
            <a:off x="164468" y="834982"/>
            <a:ext cx="7740859" cy="237724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l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AF4937-E1EB-EDBE-3B7D-F4C49FD3931E}"/>
              </a:ext>
            </a:extLst>
          </p:cNvPr>
          <p:cNvSpPr txBox="1"/>
          <p:nvPr/>
        </p:nvSpPr>
        <p:spPr>
          <a:xfrm>
            <a:off x="235850" y="944243"/>
            <a:ext cx="680538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marR="0" lvl="0" indent="-7200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조회기간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계약 체결일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)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                                                                                                                                                                 ~    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4FB665C-F393-6568-4DBA-A1E6D6D91553}"/>
              </a:ext>
            </a:extLst>
          </p:cNvPr>
          <p:cNvSpPr txBox="1"/>
          <p:nvPr/>
        </p:nvSpPr>
        <p:spPr>
          <a:xfrm>
            <a:off x="235849" y="1806651"/>
            <a:ext cx="66970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lang="ko-KR" altLang="en-US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 구분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                            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 전체      ○ 수주 기반 발주     </a:t>
            </a:r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○ 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일반 발주</a:t>
            </a:r>
            <a:endParaRPr lang="en-US" altLang="ko-KR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AA6C40D-F659-0F3D-7C59-3C80E07BF28E}"/>
              </a:ext>
            </a:extLst>
          </p:cNvPr>
          <p:cNvSpPr/>
          <p:nvPr/>
        </p:nvSpPr>
        <p:spPr>
          <a:xfrm>
            <a:off x="4972054" y="931842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시작일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BE11941-0526-F038-95A4-2002F6483AE8}"/>
              </a:ext>
            </a:extLst>
          </p:cNvPr>
          <p:cNvSpPr/>
          <p:nvPr/>
        </p:nvSpPr>
        <p:spPr>
          <a:xfrm>
            <a:off x="5782305" y="931844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1E792731-1F5A-5B8F-D59E-FCFDD73E8816}"/>
              </a:ext>
            </a:extLst>
          </p:cNvPr>
          <p:cNvSpPr/>
          <p:nvPr/>
        </p:nvSpPr>
        <p:spPr>
          <a:xfrm>
            <a:off x="6195560" y="931842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종료일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D80A768A-8158-C1C2-4C81-532F57B56CE6}"/>
              </a:ext>
            </a:extLst>
          </p:cNvPr>
          <p:cNvSpPr/>
          <p:nvPr/>
        </p:nvSpPr>
        <p:spPr>
          <a:xfrm>
            <a:off x="7005811" y="931844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95FF3353-7C47-06F1-267F-2308EA5B273F}"/>
              </a:ext>
            </a:extLst>
          </p:cNvPr>
          <p:cNvSpPr/>
          <p:nvPr/>
        </p:nvSpPr>
        <p:spPr>
          <a:xfrm>
            <a:off x="1682278" y="931842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ko-KR" altLang="en-US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하루 전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D04291DF-B3D9-5316-4BEA-23F18AEBC39C}"/>
              </a:ext>
            </a:extLst>
          </p:cNvPr>
          <p:cNvSpPr/>
          <p:nvPr/>
        </p:nvSpPr>
        <p:spPr>
          <a:xfrm>
            <a:off x="2230847" y="931842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주일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FFD20E31-74E4-9186-946E-A2B4A76C88A4}"/>
              </a:ext>
            </a:extLst>
          </p:cNvPr>
          <p:cNvSpPr/>
          <p:nvPr/>
        </p:nvSpPr>
        <p:spPr>
          <a:xfrm>
            <a:off x="2779416" y="931842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7CCBD369-C317-5165-16C2-E69EFF183A60}"/>
              </a:ext>
            </a:extLst>
          </p:cNvPr>
          <p:cNvSpPr/>
          <p:nvPr/>
        </p:nvSpPr>
        <p:spPr>
          <a:xfrm>
            <a:off x="3327985" y="931842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6C6DC975-000E-97DC-9716-E9C6CFB1711F}"/>
              </a:ext>
            </a:extLst>
          </p:cNvPr>
          <p:cNvSpPr/>
          <p:nvPr/>
        </p:nvSpPr>
        <p:spPr>
          <a:xfrm>
            <a:off x="3876554" y="931842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BE29E8DB-4E95-B46F-6AD5-BCA8173AF692}"/>
              </a:ext>
            </a:extLst>
          </p:cNvPr>
          <p:cNvSpPr/>
          <p:nvPr/>
        </p:nvSpPr>
        <p:spPr>
          <a:xfrm>
            <a:off x="4425122" y="931842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년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BD75FBA-E640-495E-ABB2-E7B80DAC3AEF}"/>
              </a:ext>
            </a:extLst>
          </p:cNvPr>
          <p:cNvSpPr txBox="1"/>
          <p:nvPr/>
        </p:nvSpPr>
        <p:spPr>
          <a:xfrm>
            <a:off x="235849" y="1224135"/>
            <a:ext cx="66970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구분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                                    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 전체      ○ 공사     </a:t>
            </a:r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○ 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용역     </a:t>
            </a:r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○ 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물품</a:t>
            </a:r>
            <a:endParaRPr lang="en-US" altLang="ko-KR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42FF5FB-228D-D2FE-030A-E8CB232AD336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</a:t>
            </a:r>
            <a:endParaRPr lang="ko-KR" altLang="en-US" sz="800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C91B37B-B0B9-A2BE-637F-77D5DBF42921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kumimoji="1"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77FC962-E32C-5CC3-BC50-6235E82E011A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전자입찰시스템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22" name="Picture 1">
            <a:extLst>
              <a:ext uri="{FF2B5EF4-FFF2-40B4-BE49-F238E27FC236}">
                <a16:creationId xmlns:a16="http://schemas.microsoft.com/office/drawing/2014/main" id="{DC3E7754-6073-2EA4-16B4-CBDD3AE4E2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F73E6D3-C0D1-42B9-B4A1-0171F61112F8}"/>
              </a:ext>
            </a:extLst>
          </p:cNvPr>
          <p:cNvSpPr txBox="1"/>
          <p:nvPr/>
        </p:nvSpPr>
        <p:spPr>
          <a:xfrm>
            <a:off x="8049344" y="584684"/>
            <a:ext cx="1856656" cy="526297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모두 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현황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 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메뉴에서 만난다(종합 검색/조회 가능)</a:t>
            </a:r>
            <a:b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계약요청의 전자결재가 완료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승인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되면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본 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현황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 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목록으로 이동</a:t>
            </a:r>
            <a:b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‘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계약번호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 자동 </a:t>
            </a:r>
            <a:r>
              <a:rPr lang="ko-KR" altLang="en-US" sz="800" dirty="0" err="1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발번됨</a:t>
            </a:r>
            <a:b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진행상태 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‘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계약준비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b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endParaRPr lang="en-US" altLang="ko-KR" sz="80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계약방법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 err="1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낙찰자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선정방법별 검색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: 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당연히 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 포함됨</a:t>
            </a:r>
            <a:endParaRPr lang="en-US" altLang="ko-KR" sz="80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u="sng" dirty="0" err="1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켑코이에스의</a:t>
            </a:r>
            <a:r>
              <a:rPr lang="ko-KR" altLang="en-US" sz="800" u="sng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u="sng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u="sng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수주계약 기반의 발주</a:t>
            </a:r>
            <a:r>
              <a:rPr lang="en-US" altLang="ko-KR" sz="800" u="sng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u="sng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인지</a:t>
            </a:r>
            <a:r>
              <a:rPr lang="en-US" altLang="ko-KR" sz="800" u="sng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u="sng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수주계약의 매핑 여부로 판단</a:t>
            </a:r>
            <a:r>
              <a:rPr lang="en-US" altLang="ko-KR" sz="800" u="sng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), ‘</a:t>
            </a:r>
            <a:r>
              <a:rPr lang="ko-KR" altLang="en-US" sz="800" u="sng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일반 발주</a:t>
            </a:r>
            <a:r>
              <a:rPr lang="en-US" altLang="ko-KR" sz="800" u="sng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’(</a:t>
            </a:r>
            <a:r>
              <a:rPr lang="ko-KR" altLang="en-US" sz="800" u="sng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그 외</a:t>
            </a:r>
            <a:r>
              <a:rPr lang="en-US" altLang="ko-KR" sz="800" u="sng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u="sng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인지 제공</a:t>
            </a:r>
            <a:endParaRPr lang="en-US" altLang="ko-KR" sz="800" u="sng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진행상태 정의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노란 부분 참조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구분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 번호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계약명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선택된 협력업체의 계약 내역만 조회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선택 팝업 호출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뒤 페이지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758141-5A6A-2C92-3C99-BE474B2C3E5C}"/>
              </a:ext>
            </a:extLst>
          </p:cNvPr>
          <p:cNvSpPr txBox="1"/>
          <p:nvPr/>
        </p:nvSpPr>
        <p:spPr>
          <a:xfrm>
            <a:off x="235849" y="1500170"/>
            <a:ext cx="66970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계약방법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/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낙찰자 선정방법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</a:t>
            </a:r>
            <a:endParaRPr lang="en-US" altLang="ko-KR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5769A20-F94B-97D4-F8E6-3266789C886E}"/>
              </a:ext>
            </a:extLst>
          </p:cNvPr>
          <p:cNvSpPr/>
          <p:nvPr/>
        </p:nvSpPr>
        <p:spPr>
          <a:xfrm>
            <a:off x="1666765" y="1500173"/>
            <a:ext cx="139598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계약방법 선택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5A836AC-AE69-92F4-86F8-024C5D5422CE}"/>
              </a:ext>
            </a:extLst>
          </p:cNvPr>
          <p:cNvSpPr/>
          <p:nvPr/>
        </p:nvSpPr>
        <p:spPr>
          <a:xfrm>
            <a:off x="3062747" y="1500175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32CF17F-67F1-3FDC-C9BF-C6CD8031B89A}"/>
              </a:ext>
            </a:extLst>
          </p:cNvPr>
          <p:cNvSpPr/>
          <p:nvPr/>
        </p:nvSpPr>
        <p:spPr>
          <a:xfrm>
            <a:off x="3349569" y="1500173"/>
            <a:ext cx="139598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낙찰자 선정방법 선택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BC1A725-4149-5CCF-CC20-B8B22BDF0F86}"/>
              </a:ext>
            </a:extLst>
          </p:cNvPr>
          <p:cNvSpPr/>
          <p:nvPr/>
        </p:nvSpPr>
        <p:spPr>
          <a:xfrm>
            <a:off x="4745551" y="1500175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5D7058BC-4634-06F7-B580-79C84A34F43F}"/>
              </a:ext>
            </a:extLst>
          </p:cNvPr>
          <p:cNvSpPr/>
          <p:nvPr/>
        </p:nvSpPr>
        <p:spPr>
          <a:xfrm>
            <a:off x="1558753" y="1673908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88E91972-7A8D-56B2-7F94-8C45CA230480}"/>
              </a:ext>
            </a:extLst>
          </p:cNvPr>
          <p:cNvSpPr/>
          <p:nvPr/>
        </p:nvSpPr>
        <p:spPr>
          <a:xfrm>
            <a:off x="1558753" y="1372014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1CEB0B77-5B00-3DE9-493F-4C4DE1C8DC0D}"/>
              </a:ext>
            </a:extLst>
          </p:cNvPr>
          <p:cNvSpPr/>
          <p:nvPr/>
        </p:nvSpPr>
        <p:spPr>
          <a:xfrm>
            <a:off x="5856272" y="3355536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개씩</a:t>
            </a: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5EA02EB5-24FB-FCE9-89C0-341367E2A65E}"/>
              </a:ext>
            </a:extLst>
          </p:cNvPr>
          <p:cNvSpPr/>
          <p:nvPr/>
        </p:nvSpPr>
        <p:spPr>
          <a:xfrm>
            <a:off x="6677734" y="3355536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E5BAFFE-96A8-208D-12E7-15B0DB3D810F}"/>
              </a:ext>
            </a:extLst>
          </p:cNvPr>
          <p:cNvSpPr txBox="1"/>
          <p:nvPr/>
        </p:nvSpPr>
        <p:spPr>
          <a:xfrm>
            <a:off x="181506" y="3342018"/>
            <a:ext cx="2975920" cy="2308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전체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1,523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건 현재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/4</a:t>
            </a:r>
            <a:endParaRPr lang="ko-KR" altLang="en-US" sz="900" b="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50FC978B-BAC3-CCB6-D178-5B92CDFCC9A3}"/>
              </a:ext>
            </a:extLst>
          </p:cNvPr>
          <p:cNvSpPr/>
          <p:nvPr/>
        </p:nvSpPr>
        <p:spPr>
          <a:xfrm>
            <a:off x="6982990" y="3355536"/>
            <a:ext cx="913712" cy="215441"/>
          </a:xfrm>
          <a:prstGeom prst="rect">
            <a:avLst/>
          </a:prstGeom>
          <a:solidFill>
            <a:srgbClr val="00B05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  <a:r>
              <a:rPr lang="en-US" altLang="ko-KR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(Excel)</a:t>
            </a:r>
            <a:endParaRPr lang="ko-KR" altLang="en-US" sz="8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87" name="표 86">
            <a:extLst>
              <a:ext uri="{FF2B5EF4-FFF2-40B4-BE49-F238E27FC236}">
                <a16:creationId xmlns:a16="http://schemas.microsoft.com/office/drawing/2014/main" id="{5CD521C3-CB36-2DED-65AE-EC217A1C9C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6414143"/>
              </p:ext>
            </p:extLst>
          </p:nvPr>
        </p:nvGraphicFramePr>
        <p:xfrm>
          <a:off x="179901" y="3664084"/>
          <a:ext cx="13082464" cy="1689600"/>
        </p:xfrm>
        <a:graphic>
          <a:graphicData uri="http://schemas.openxmlformats.org/drawingml/2006/table">
            <a:tbl>
              <a:tblPr firstRow="1" bandRow="1"/>
              <a:tblGrid>
                <a:gridCol w="1069513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801225">
                  <a:extLst>
                    <a:ext uri="{9D8B030D-6E8A-4147-A177-3AD203B41FA5}">
                      <a16:colId xmlns:a16="http://schemas.microsoft.com/office/drawing/2014/main" val="624585945"/>
                    </a:ext>
                  </a:extLst>
                </a:gridCol>
                <a:gridCol w="688513">
                  <a:extLst>
                    <a:ext uri="{9D8B030D-6E8A-4147-A177-3AD203B41FA5}">
                      <a16:colId xmlns:a16="http://schemas.microsoft.com/office/drawing/2014/main" val="2112928521"/>
                    </a:ext>
                  </a:extLst>
                </a:gridCol>
                <a:gridCol w="553575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2185525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677400">
                  <a:extLst>
                    <a:ext uri="{9D8B030D-6E8A-4147-A177-3AD203B41FA5}">
                      <a16:colId xmlns:a16="http://schemas.microsoft.com/office/drawing/2014/main" val="3829591775"/>
                    </a:ext>
                  </a:extLst>
                </a:gridCol>
                <a:gridCol w="728200">
                  <a:extLst>
                    <a:ext uri="{9D8B030D-6E8A-4147-A177-3AD203B41FA5}">
                      <a16:colId xmlns:a16="http://schemas.microsoft.com/office/drawing/2014/main" val="3125994357"/>
                    </a:ext>
                  </a:extLst>
                </a:gridCol>
                <a:gridCol w="728200">
                  <a:extLst>
                    <a:ext uri="{9D8B030D-6E8A-4147-A177-3AD203B41FA5}">
                      <a16:colId xmlns:a16="http://schemas.microsoft.com/office/drawing/2014/main" val="2346855650"/>
                    </a:ext>
                  </a:extLst>
                </a:gridCol>
                <a:gridCol w="1407650">
                  <a:extLst>
                    <a:ext uri="{9D8B030D-6E8A-4147-A177-3AD203B41FA5}">
                      <a16:colId xmlns:a16="http://schemas.microsoft.com/office/drawing/2014/main" val="2553671467"/>
                    </a:ext>
                  </a:extLst>
                </a:gridCol>
                <a:gridCol w="553575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817100">
                  <a:extLst>
                    <a:ext uri="{9D8B030D-6E8A-4147-A177-3AD203B41FA5}">
                      <a16:colId xmlns:a16="http://schemas.microsoft.com/office/drawing/2014/main" val="1960918577"/>
                    </a:ext>
                  </a:extLst>
                </a:gridCol>
                <a:gridCol w="1545763">
                  <a:extLst>
                    <a:ext uri="{9D8B030D-6E8A-4147-A177-3AD203B41FA5}">
                      <a16:colId xmlns:a16="http://schemas.microsoft.com/office/drawing/2014/main" val="2297195669"/>
                    </a:ext>
                  </a:extLst>
                </a:gridCol>
                <a:gridCol w="648825">
                  <a:extLst>
                    <a:ext uri="{9D8B030D-6E8A-4147-A177-3AD203B41FA5}">
                      <a16:colId xmlns:a16="http://schemas.microsoft.com/office/drawing/2014/main" val="858523054"/>
                    </a:ext>
                  </a:extLst>
                </a:gridCol>
                <a:gridCol w="677400">
                  <a:extLst>
                    <a:ext uri="{9D8B030D-6E8A-4147-A177-3AD203B41FA5}">
                      <a16:colId xmlns:a16="http://schemas.microsoft.com/office/drawing/2014/main" val="20518093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 번호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발주 구분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 구분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진행상태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 상대자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계약금액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 체결일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납기일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/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공사기간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구분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계약방법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낙찰자 선정방법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사업담당자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계약담당자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CT_20260801_001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수주 기반 발주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본공고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계약준비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서초동 </a:t>
                      </a:r>
                      <a:r>
                        <a:rPr kumimoji="0" lang="en-US" altLang="ko-KR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1601-9 </a:t>
                      </a:r>
                      <a:r>
                        <a:rPr kumimoji="0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오피스텔 신축공사 중 도장공사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업체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48,507,800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2026.07.31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2026.08.01 ~ 2026.12.31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수의계약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최저가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홍길동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임꺽정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일반 발주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재공고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(1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차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계약완료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업체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용역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경쟁입찰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일반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최저가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재공고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(2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차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C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업체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물품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경쟁입찰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일반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제한적 최저가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입찰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076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D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업체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경쟁입찰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제한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2단계 경쟁입찰(규격/가격 동시)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946446"/>
                  </a:ext>
                </a:extLst>
              </a:tr>
            </a:tbl>
          </a:graphicData>
        </a:graphic>
      </p:graphicFrame>
      <p:sp>
        <p:nvSpPr>
          <p:cNvPr id="88" name="TextBox 87">
            <a:extLst>
              <a:ext uri="{FF2B5EF4-FFF2-40B4-BE49-F238E27FC236}">
                <a16:creationId xmlns:a16="http://schemas.microsoft.com/office/drawing/2014/main" id="{ED1D5227-2CAB-EE5F-3F96-743C954AF037}"/>
              </a:ext>
            </a:extLst>
          </p:cNvPr>
          <p:cNvSpPr txBox="1"/>
          <p:nvPr/>
        </p:nvSpPr>
        <p:spPr>
          <a:xfrm>
            <a:off x="3170467" y="4784974"/>
            <a:ext cx="2178577" cy="415498"/>
          </a:xfrm>
          <a:prstGeom prst="rect">
            <a:avLst/>
          </a:prstGeom>
          <a:solidFill>
            <a:srgbClr val="FFFF00">
              <a:alpha val="69804"/>
            </a:srgbClr>
          </a:solidFill>
        </p:spPr>
        <p:txBody>
          <a:bodyPr wrap="square">
            <a:spAutoFit/>
          </a:bodyPr>
          <a:lstStyle/>
          <a:p>
            <a:pPr marL="72000" indent="-7200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계약준비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: 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서류 제출 등의 </a:t>
            </a:r>
            <a:r>
              <a:rPr kumimoji="1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업무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진행 중 상태</a:t>
            </a:r>
            <a:endParaRPr kumimoji="1" lang="en-US" altLang="ko-KR" sz="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  <a:p>
            <a:pPr marL="72000" indent="-7200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계약완료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계약 완료 처리</a:t>
            </a:r>
            <a:endParaRPr kumimoji="1" lang="en-US" altLang="ko-KR" sz="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A1AAA65B-A9ED-5154-112C-19CB0C5B711F}"/>
              </a:ext>
            </a:extLst>
          </p:cNvPr>
          <p:cNvSpPr/>
          <p:nvPr/>
        </p:nvSpPr>
        <p:spPr>
          <a:xfrm>
            <a:off x="2763970" y="4020144"/>
            <a:ext cx="514218" cy="647749"/>
          </a:xfrm>
          <a:prstGeom prst="rect">
            <a:avLst/>
          </a:prstGeom>
          <a:noFill/>
          <a:ln w="31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90" name="연결선: 꺾임 89">
            <a:extLst>
              <a:ext uri="{FF2B5EF4-FFF2-40B4-BE49-F238E27FC236}">
                <a16:creationId xmlns:a16="http://schemas.microsoft.com/office/drawing/2014/main" id="{C5B5A23C-2C09-7118-2E10-29A090C2A356}"/>
              </a:ext>
            </a:extLst>
          </p:cNvPr>
          <p:cNvCxnSpPr>
            <a:cxnSpLocks/>
            <a:stCxn id="89" idx="2"/>
            <a:endCxn id="88" idx="1"/>
          </p:cNvCxnSpPr>
          <p:nvPr/>
        </p:nvCxnSpPr>
        <p:spPr>
          <a:xfrm rot="16200000" flipH="1">
            <a:off x="2933358" y="4755614"/>
            <a:ext cx="324830" cy="149388"/>
          </a:xfrm>
          <a:prstGeom prst="bentConnector2">
            <a:avLst/>
          </a:prstGeom>
          <a:ln>
            <a:solidFill>
              <a:srgbClr val="C00000"/>
            </a:solidFill>
            <a:prstDash val="sys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76AA5B0-1017-1F3F-0855-89D80060F35D}"/>
              </a:ext>
            </a:extLst>
          </p:cNvPr>
          <p:cNvSpPr/>
          <p:nvPr/>
        </p:nvSpPr>
        <p:spPr>
          <a:xfrm>
            <a:off x="-1690381" y="1098521"/>
            <a:ext cx="1467136" cy="34105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현황</a:t>
            </a:r>
            <a:endParaRPr lang="en-US" altLang="ko-KR" sz="800" u="sng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078BB924-339C-B170-F8E4-1C583540A4D6}"/>
              </a:ext>
            </a:extLst>
          </p:cNvPr>
          <p:cNvGrpSpPr/>
          <p:nvPr/>
        </p:nvGrpSpPr>
        <p:grpSpPr>
          <a:xfrm>
            <a:off x="2004219" y="5470765"/>
            <a:ext cx="4025354" cy="216024"/>
            <a:chOff x="2992062" y="4869160"/>
            <a:chExt cx="4025354" cy="216024"/>
          </a:xfrm>
        </p:grpSpPr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070B4B94-6ECF-FFA3-347D-14C05EF1E5EE}"/>
                </a:ext>
              </a:extLst>
            </p:cNvPr>
            <p:cNvSpPr/>
            <p:nvPr/>
          </p:nvSpPr>
          <p:spPr>
            <a:xfrm>
              <a:off x="2992062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◀</a:t>
              </a: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C2BC8E82-DB07-15FA-6B58-FA5A3FAFC60D}"/>
                </a:ext>
              </a:extLst>
            </p:cNvPr>
            <p:cNvSpPr/>
            <p:nvPr/>
          </p:nvSpPr>
          <p:spPr>
            <a:xfrm>
              <a:off x="3285089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&lt;</a:t>
              </a:r>
              <a:endPara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91CE807E-62E1-5E77-C929-B4330E6531CE}"/>
                </a:ext>
              </a:extLst>
            </p:cNvPr>
            <p:cNvSpPr/>
            <p:nvPr/>
          </p:nvSpPr>
          <p:spPr>
            <a:xfrm>
              <a:off x="3578116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52F57424-4A2E-DAFB-105A-C1C830435A77}"/>
                </a:ext>
              </a:extLst>
            </p:cNvPr>
            <p:cNvSpPr/>
            <p:nvPr/>
          </p:nvSpPr>
          <p:spPr>
            <a:xfrm>
              <a:off x="3871143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45F6732D-B1BE-5BB1-5143-55447A33AD95}"/>
                </a:ext>
              </a:extLst>
            </p:cNvPr>
            <p:cNvSpPr/>
            <p:nvPr/>
          </p:nvSpPr>
          <p:spPr>
            <a:xfrm>
              <a:off x="4164170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7897051B-CF56-184E-6B06-A85F8C904CB8}"/>
                </a:ext>
              </a:extLst>
            </p:cNvPr>
            <p:cNvSpPr/>
            <p:nvPr/>
          </p:nvSpPr>
          <p:spPr>
            <a:xfrm>
              <a:off x="4457197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4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F9F17AA1-5DCB-49AF-F4B3-3533009FECA5}"/>
                </a:ext>
              </a:extLst>
            </p:cNvPr>
            <p:cNvSpPr/>
            <p:nvPr/>
          </p:nvSpPr>
          <p:spPr>
            <a:xfrm>
              <a:off x="4750224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5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EF0B6A79-4E8A-C412-87F5-369B2C1067AA}"/>
                </a:ext>
              </a:extLst>
            </p:cNvPr>
            <p:cNvSpPr/>
            <p:nvPr/>
          </p:nvSpPr>
          <p:spPr>
            <a:xfrm>
              <a:off x="5043251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6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0B54F305-C63F-F70F-5DCC-A952A0023A5E}"/>
                </a:ext>
              </a:extLst>
            </p:cNvPr>
            <p:cNvSpPr/>
            <p:nvPr/>
          </p:nvSpPr>
          <p:spPr>
            <a:xfrm>
              <a:off x="5336278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7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83643064-12F3-CB90-0998-0CCFBCEE2E23}"/>
                </a:ext>
              </a:extLst>
            </p:cNvPr>
            <p:cNvSpPr/>
            <p:nvPr/>
          </p:nvSpPr>
          <p:spPr>
            <a:xfrm>
              <a:off x="5629305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8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FA0E9495-33B6-9D93-711E-9B3DEC2CE106}"/>
                </a:ext>
              </a:extLst>
            </p:cNvPr>
            <p:cNvSpPr/>
            <p:nvPr/>
          </p:nvSpPr>
          <p:spPr>
            <a:xfrm>
              <a:off x="5922332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9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444B34DA-EB4D-1FCA-02FC-A756F9678708}"/>
                </a:ext>
              </a:extLst>
            </p:cNvPr>
            <p:cNvSpPr/>
            <p:nvPr/>
          </p:nvSpPr>
          <p:spPr>
            <a:xfrm>
              <a:off x="6215359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10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1D8D1B36-AB0B-4DD1-B7EA-3C34FEA2B8F3}"/>
                </a:ext>
              </a:extLst>
            </p:cNvPr>
            <p:cNvSpPr/>
            <p:nvPr/>
          </p:nvSpPr>
          <p:spPr>
            <a:xfrm>
              <a:off x="6508386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&gt;</a:t>
              </a:r>
              <a:endPara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09F2B18A-9D46-E0C0-E6DF-1B98505DA2BC}"/>
                </a:ext>
              </a:extLst>
            </p:cNvPr>
            <p:cNvSpPr/>
            <p:nvPr/>
          </p:nvSpPr>
          <p:spPr>
            <a:xfrm>
              <a:off x="6801416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▶</a:t>
              </a:r>
            </a:p>
          </p:txBody>
        </p:sp>
      </p:grp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77AB0DBC-859E-9A5F-F758-3B872D6BBE6D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5" name="타원 64">
            <a:extLst>
              <a:ext uri="{FF2B5EF4-FFF2-40B4-BE49-F238E27FC236}">
                <a16:creationId xmlns:a16="http://schemas.microsoft.com/office/drawing/2014/main" id="{C823431B-D14C-B52E-E935-F8FFA670DAEE}"/>
              </a:ext>
            </a:extLst>
          </p:cNvPr>
          <p:cNvSpPr/>
          <p:nvPr/>
        </p:nvSpPr>
        <p:spPr>
          <a:xfrm>
            <a:off x="19825" y="272666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EDC0FD0-FAC9-4563-25C7-9B3C87FE1F0E}"/>
              </a:ext>
            </a:extLst>
          </p:cNvPr>
          <p:cNvSpPr txBox="1"/>
          <p:nvPr/>
        </p:nvSpPr>
        <p:spPr>
          <a:xfrm>
            <a:off x="235849" y="2061542"/>
            <a:ext cx="66970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lang="ko-KR" altLang="en-US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공고 구분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                            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 전체      ○ </a:t>
            </a:r>
            <a:r>
              <a:rPr lang="ko-KR" altLang="en-US" sz="800" b="0" dirty="0" err="1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본공고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</a:t>
            </a:r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○ </a:t>
            </a:r>
            <a:r>
              <a:rPr lang="ko-KR" altLang="en-US" sz="800" b="0" dirty="0" err="1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재공고</a:t>
            </a:r>
            <a:endParaRPr lang="en-US" altLang="ko-KR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BBF656A-642D-165B-6264-118547BD1C69}"/>
              </a:ext>
            </a:extLst>
          </p:cNvPr>
          <p:cNvSpPr txBox="1"/>
          <p:nvPr/>
        </p:nvSpPr>
        <p:spPr>
          <a:xfrm>
            <a:off x="235849" y="2318107"/>
            <a:ext cx="66970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lang="ko-KR" altLang="en-US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진행상태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                             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 전체      ○ 계약준비     </a:t>
            </a:r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○ 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계약완료</a:t>
            </a:r>
            <a:endParaRPr lang="en-US" altLang="ko-KR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55B6278-3D74-8357-E5EA-8EF545507A88}"/>
              </a:ext>
            </a:extLst>
          </p:cNvPr>
          <p:cNvSpPr txBox="1"/>
          <p:nvPr/>
        </p:nvSpPr>
        <p:spPr>
          <a:xfrm>
            <a:off x="235849" y="2597995"/>
            <a:ext cx="66970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lang="ko-KR" altLang="en-US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 상대자 선택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                                                </a:t>
            </a:r>
            <a:r>
              <a:rPr kumimoji="1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· </a:t>
            </a:r>
            <a:r>
              <a: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선택된 협력업체 </a:t>
            </a:r>
            <a:r>
              <a:rPr kumimoji="1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(</a:t>
            </a:r>
            <a:r>
              <a: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주</a:t>
            </a:r>
            <a:r>
              <a:rPr kumimoji="1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)</a:t>
            </a:r>
            <a:r>
              <a:rPr kumimoji="1" lang="ko-KR" altLang="en-US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큐비트엑스</a:t>
            </a:r>
            <a:r>
              <a:rPr kumimoji="1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(135-81-77202)</a:t>
            </a:r>
            <a:endParaRPr lang="en-US" altLang="ko-KR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0BC6FFE1-AA98-1ADA-1E40-525C45C0B55E}"/>
              </a:ext>
            </a:extLst>
          </p:cNvPr>
          <p:cNvSpPr/>
          <p:nvPr/>
        </p:nvSpPr>
        <p:spPr>
          <a:xfrm>
            <a:off x="1682278" y="2591407"/>
            <a:ext cx="826423" cy="215441"/>
          </a:xfrm>
          <a:prstGeom prst="rect">
            <a:avLst/>
          </a:prstGeom>
          <a:solidFill>
            <a:srgbClr val="00B05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선택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0846B0D-EA46-51F6-4745-A7037C5E4769}"/>
              </a:ext>
            </a:extLst>
          </p:cNvPr>
          <p:cNvSpPr txBox="1"/>
          <p:nvPr/>
        </p:nvSpPr>
        <p:spPr>
          <a:xfrm>
            <a:off x="235850" y="2870380"/>
            <a:ext cx="17648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키워드 검색 :</a:t>
            </a:r>
            <a:endParaRPr lang="ko-KR" altLang="en-US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FBD362C3-CD17-2B42-3FB5-FAA4A537EBDD}"/>
              </a:ext>
            </a:extLst>
          </p:cNvPr>
          <p:cNvSpPr/>
          <p:nvPr/>
        </p:nvSpPr>
        <p:spPr>
          <a:xfrm>
            <a:off x="1654646" y="2863235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구분</a:t>
            </a: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2446E54F-2372-73B0-DE28-3931DFB56105}"/>
              </a:ext>
            </a:extLst>
          </p:cNvPr>
          <p:cNvSpPr/>
          <p:nvPr/>
        </p:nvSpPr>
        <p:spPr>
          <a:xfrm>
            <a:off x="2464897" y="2863237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DAB7963D-E64D-16F2-3D9F-CEC4BFC1D167}"/>
              </a:ext>
            </a:extLst>
          </p:cNvPr>
          <p:cNvSpPr/>
          <p:nvPr/>
        </p:nvSpPr>
        <p:spPr>
          <a:xfrm>
            <a:off x="2780034" y="2863235"/>
            <a:ext cx="3619804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검색어를 입력하세요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36F7FA67-38D2-E9D6-F1B7-4F34DD3619A7}"/>
              </a:ext>
            </a:extLst>
          </p:cNvPr>
          <p:cNvSpPr/>
          <p:nvPr/>
        </p:nvSpPr>
        <p:spPr>
          <a:xfrm>
            <a:off x="6488042" y="2863237"/>
            <a:ext cx="625198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</a:t>
            </a:r>
          </a:p>
        </p:txBody>
      </p:sp>
      <p:sp>
        <p:nvSpPr>
          <p:cNvPr id="101" name="타원 100">
            <a:extLst>
              <a:ext uri="{FF2B5EF4-FFF2-40B4-BE49-F238E27FC236}">
                <a16:creationId xmlns:a16="http://schemas.microsoft.com/office/drawing/2014/main" id="{598765D5-F862-6D9E-CB48-243144A8EC2B}"/>
              </a:ext>
            </a:extLst>
          </p:cNvPr>
          <p:cNvSpPr/>
          <p:nvPr/>
        </p:nvSpPr>
        <p:spPr>
          <a:xfrm>
            <a:off x="1552720" y="2754641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2" name="타원 101">
            <a:extLst>
              <a:ext uri="{FF2B5EF4-FFF2-40B4-BE49-F238E27FC236}">
                <a16:creationId xmlns:a16="http://schemas.microsoft.com/office/drawing/2014/main" id="{BF306FCE-946A-6AB7-1364-1B59BBFC8F1D}"/>
              </a:ext>
            </a:extLst>
          </p:cNvPr>
          <p:cNvSpPr/>
          <p:nvPr/>
        </p:nvSpPr>
        <p:spPr>
          <a:xfrm>
            <a:off x="1552720" y="2183594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9" name="타원 108">
            <a:extLst>
              <a:ext uri="{FF2B5EF4-FFF2-40B4-BE49-F238E27FC236}">
                <a16:creationId xmlns:a16="http://schemas.microsoft.com/office/drawing/2014/main" id="{8EB4A9CB-74A1-1DEA-CE07-254DACDAE3D8}"/>
              </a:ext>
            </a:extLst>
          </p:cNvPr>
          <p:cNvSpPr/>
          <p:nvPr/>
        </p:nvSpPr>
        <p:spPr>
          <a:xfrm>
            <a:off x="1552720" y="2456208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20337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1654E-18D7-87B1-EDC9-C203B8939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87FE8CC6-ECA6-5564-F8E2-F9558879B6C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15A091-E24A-A4A5-B08A-5356E3C21C43}"/>
              </a:ext>
            </a:extLst>
          </p:cNvPr>
          <p:cNvSpPr txBox="1"/>
          <p:nvPr/>
        </p:nvSpPr>
        <p:spPr>
          <a:xfrm>
            <a:off x="749224" y="25608"/>
            <a:ext cx="255390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현황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조회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선택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E11D15-F49B-71A7-9BC1-9C7AD568057D}"/>
              </a:ext>
            </a:extLst>
          </p:cNvPr>
          <p:cNvSpPr txBox="1"/>
          <p:nvPr/>
        </p:nvSpPr>
        <p:spPr>
          <a:xfrm>
            <a:off x="8049344" y="584684"/>
            <a:ext cx="1856656" cy="397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사업자 번호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업체명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담당자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핸드폰 번호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이메일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6D317F3-561E-2A52-2386-BCE50DC0E509}"/>
              </a:ext>
            </a:extLst>
          </p:cNvPr>
          <p:cNvSpPr/>
          <p:nvPr/>
        </p:nvSpPr>
        <p:spPr>
          <a:xfrm>
            <a:off x="164468" y="414790"/>
            <a:ext cx="7391699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선택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B633F05-DA8F-B016-1203-A6CA43CE5932}"/>
              </a:ext>
            </a:extLst>
          </p:cNvPr>
          <p:cNvSpPr/>
          <p:nvPr/>
        </p:nvSpPr>
        <p:spPr>
          <a:xfrm>
            <a:off x="164469" y="687700"/>
            <a:ext cx="7391698" cy="515356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F5CBFF6-946E-2D27-0C9E-183E68FEF4E7}"/>
              </a:ext>
            </a:extLst>
          </p:cNvPr>
          <p:cNvSpPr/>
          <p:nvPr/>
        </p:nvSpPr>
        <p:spPr>
          <a:xfrm>
            <a:off x="7286167" y="414790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98CAE56-5018-A301-A035-8DC50EA45615}"/>
              </a:ext>
            </a:extLst>
          </p:cNvPr>
          <p:cNvSpPr/>
          <p:nvPr/>
        </p:nvSpPr>
        <p:spPr>
          <a:xfrm>
            <a:off x="7452512" y="688544"/>
            <a:ext cx="108012" cy="515281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9A03926-4061-F282-06CD-8FF894AE1892}"/>
              </a:ext>
            </a:extLst>
          </p:cNvPr>
          <p:cNvSpPr/>
          <p:nvPr/>
        </p:nvSpPr>
        <p:spPr>
          <a:xfrm>
            <a:off x="7452512" y="1070321"/>
            <a:ext cx="108012" cy="1800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747300B-3D21-1734-2490-83BE94F0BB60}"/>
              </a:ext>
            </a:extLst>
          </p:cNvPr>
          <p:cNvSpPr/>
          <p:nvPr/>
        </p:nvSpPr>
        <p:spPr>
          <a:xfrm>
            <a:off x="301563" y="792082"/>
            <a:ext cx="912109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선택</a:t>
            </a: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A66EE8F5-FFCA-AD6E-4D7F-7AE519D68F51}"/>
              </a:ext>
            </a:extLst>
          </p:cNvPr>
          <p:cNvSpPr/>
          <p:nvPr/>
        </p:nvSpPr>
        <p:spPr>
          <a:xfrm>
            <a:off x="308486" y="1115884"/>
            <a:ext cx="6977681" cy="129558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l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02D04C0E-9776-42F8-0B43-F37C2EAE4C53}"/>
              </a:ext>
            </a:extLst>
          </p:cNvPr>
          <p:cNvSpPr txBox="1"/>
          <p:nvPr/>
        </p:nvSpPr>
        <p:spPr>
          <a:xfrm>
            <a:off x="379868" y="1222389"/>
            <a:ext cx="680538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marR="0" lvl="0" indent="-7200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조회기간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신청일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)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                                                                                                                                                                ~    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3D993723-D8F9-94C0-266E-0DE315AF3E13}"/>
              </a:ext>
            </a:extLst>
          </p:cNvPr>
          <p:cNvSpPr txBox="1"/>
          <p:nvPr/>
        </p:nvSpPr>
        <p:spPr>
          <a:xfrm>
            <a:off x="379867" y="2059098"/>
            <a:ext cx="521573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키워드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검색 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</a:t>
            </a:r>
            <a:endParaRPr lang="ko-KR" altLang="en-US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4C29F230-BF9D-D1B7-1A06-38CCF22EB6E2}"/>
              </a:ext>
            </a:extLst>
          </p:cNvPr>
          <p:cNvSpPr/>
          <p:nvPr/>
        </p:nvSpPr>
        <p:spPr>
          <a:xfrm>
            <a:off x="4827683" y="1209988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시작일</a:t>
            </a: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15E5C0A5-51D3-DD2E-9747-12B61C92F0E2}"/>
              </a:ext>
            </a:extLst>
          </p:cNvPr>
          <p:cNvSpPr/>
          <p:nvPr/>
        </p:nvSpPr>
        <p:spPr>
          <a:xfrm>
            <a:off x="5637934" y="1209990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D62C209A-3E4B-2DD7-FA3B-988C94AF4C6F}"/>
              </a:ext>
            </a:extLst>
          </p:cNvPr>
          <p:cNvSpPr/>
          <p:nvPr/>
        </p:nvSpPr>
        <p:spPr>
          <a:xfrm>
            <a:off x="6051189" y="1209988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종료일</a:t>
            </a: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73B54A34-33B3-1BB1-4E07-A5C7772DE500}"/>
              </a:ext>
            </a:extLst>
          </p:cNvPr>
          <p:cNvSpPr/>
          <p:nvPr/>
        </p:nvSpPr>
        <p:spPr>
          <a:xfrm>
            <a:off x="6861440" y="1209990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DEEF1471-D18E-D72E-BC84-CFC0F07514E2}"/>
              </a:ext>
            </a:extLst>
          </p:cNvPr>
          <p:cNvSpPr/>
          <p:nvPr/>
        </p:nvSpPr>
        <p:spPr>
          <a:xfrm>
            <a:off x="1537907" y="1209988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ko-KR" altLang="en-US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하루 전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A936DE9C-219C-8DA4-543F-F1AEBEBE159B}"/>
              </a:ext>
            </a:extLst>
          </p:cNvPr>
          <p:cNvSpPr/>
          <p:nvPr/>
        </p:nvSpPr>
        <p:spPr>
          <a:xfrm>
            <a:off x="2086476" y="1209988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주일</a:t>
            </a:r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3403F909-D2F4-1551-C30F-74263E8A5C35}"/>
              </a:ext>
            </a:extLst>
          </p:cNvPr>
          <p:cNvSpPr/>
          <p:nvPr/>
        </p:nvSpPr>
        <p:spPr>
          <a:xfrm>
            <a:off x="2635045" y="1209988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20DB40AD-D397-B45A-2B77-84CDEDDD80F3}"/>
              </a:ext>
            </a:extLst>
          </p:cNvPr>
          <p:cNvSpPr/>
          <p:nvPr/>
        </p:nvSpPr>
        <p:spPr>
          <a:xfrm>
            <a:off x="3183614" y="1209988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F85CC328-CFEA-E862-E0A8-9FF276ABCCBE}"/>
              </a:ext>
            </a:extLst>
          </p:cNvPr>
          <p:cNvSpPr/>
          <p:nvPr/>
        </p:nvSpPr>
        <p:spPr>
          <a:xfrm>
            <a:off x="3732183" y="1209988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22D2C928-CE71-C9CE-E5DA-E81D38CB71A1}"/>
              </a:ext>
            </a:extLst>
          </p:cNvPr>
          <p:cNvSpPr/>
          <p:nvPr/>
        </p:nvSpPr>
        <p:spPr>
          <a:xfrm>
            <a:off x="4280751" y="1209988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년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55E4562A-8CAF-7256-0AD1-2DF7897CBAC3}"/>
              </a:ext>
            </a:extLst>
          </p:cNvPr>
          <p:cNvSpPr txBox="1"/>
          <p:nvPr/>
        </p:nvSpPr>
        <p:spPr>
          <a:xfrm>
            <a:off x="379867" y="1502100"/>
            <a:ext cx="66970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신용평가등급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</a:t>
            </a:r>
            <a:endParaRPr lang="en-US" altLang="ko-KR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43867237-FA82-E8B0-394F-9A3C8606ED34}"/>
              </a:ext>
            </a:extLst>
          </p:cNvPr>
          <p:cNvSpPr/>
          <p:nvPr/>
        </p:nvSpPr>
        <p:spPr>
          <a:xfrm>
            <a:off x="1543915" y="2051953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구분</a:t>
            </a:r>
          </a:p>
        </p:txBody>
      </p: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15FFD9A4-F3E5-A1C5-18C2-6395C0BA39DB}"/>
              </a:ext>
            </a:extLst>
          </p:cNvPr>
          <p:cNvSpPr/>
          <p:nvPr/>
        </p:nvSpPr>
        <p:spPr>
          <a:xfrm>
            <a:off x="2354166" y="2051955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8490B92F-7554-CDC4-0419-FBCB3CF3E24C}"/>
              </a:ext>
            </a:extLst>
          </p:cNvPr>
          <p:cNvSpPr/>
          <p:nvPr/>
        </p:nvSpPr>
        <p:spPr>
          <a:xfrm>
            <a:off x="2669303" y="2051953"/>
            <a:ext cx="3619804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검색어를 입력하세요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A4C2F416-5C0E-72B3-F8E0-66927858DD35}"/>
              </a:ext>
            </a:extLst>
          </p:cNvPr>
          <p:cNvSpPr/>
          <p:nvPr/>
        </p:nvSpPr>
        <p:spPr>
          <a:xfrm>
            <a:off x="6377311" y="2051955"/>
            <a:ext cx="625198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</a:t>
            </a:r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08DEC913-FC5B-A7C5-66DF-6C2CF3385D4C}"/>
              </a:ext>
            </a:extLst>
          </p:cNvPr>
          <p:cNvSpPr/>
          <p:nvPr/>
        </p:nvSpPr>
        <p:spPr>
          <a:xfrm>
            <a:off x="1543915" y="1496115"/>
            <a:ext cx="1082504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신용평가등급 선택</a:t>
            </a:r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FD058432-02CC-501B-2551-D0D1D9A64FF1}"/>
              </a:ext>
            </a:extLst>
          </p:cNvPr>
          <p:cNvSpPr/>
          <p:nvPr/>
        </p:nvSpPr>
        <p:spPr>
          <a:xfrm>
            <a:off x="2625872" y="1496117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FE36398C-46FE-DF82-41AB-24E0DB16B025}"/>
              </a:ext>
            </a:extLst>
          </p:cNvPr>
          <p:cNvSpPr txBox="1"/>
          <p:nvPr/>
        </p:nvSpPr>
        <p:spPr>
          <a:xfrm>
            <a:off x="379867" y="1772251"/>
            <a:ext cx="66970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소싱 그룹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</a:t>
            </a:r>
            <a:endParaRPr lang="en-US" altLang="ko-KR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2" name="직사각형 151">
            <a:extLst>
              <a:ext uri="{FF2B5EF4-FFF2-40B4-BE49-F238E27FC236}">
                <a16:creationId xmlns:a16="http://schemas.microsoft.com/office/drawing/2014/main" id="{F8C501C9-2175-FDFE-6E7C-7AEECB29D295}"/>
              </a:ext>
            </a:extLst>
          </p:cNvPr>
          <p:cNvSpPr/>
          <p:nvPr/>
        </p:nvSpPr>
        <p:spPr>
          <a:xfrm>
            <a:off x="1543915" y="1772346"/>
            <a:ext cx="1297398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대분류 선택</a:t>
            </a:r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B205F92B-5A89-76D5-84B8-40CEEABAB145}"/>
              </a:ext>
            </a:extLst>
          </p:cNvPr>
          <p:cNvSpPr/>
          <p:nvPr/>
        </p:nvSpPr>
        <p:spPr>
          <a:xfrm>
            <a:off x="2635196" y="1772348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158" name="직사각형 157">
            <a:extLst>
              <a:ext uri="{FF2B5EF4-FFF2-40B4-BE49-F238E27FC236}">
                <a16:creationId xmlns:a16="http://schemas.microsoft.com/office/drawing/2014/main" id="{15DBB2C1-B23A-DEA8-B4C0-6812E72AB737}"/>
              </a:ext>
            </a:extLst>
          </p:cNvPr>
          <p:cNvSpPr/>
          <p:nvPr/>
        </p:nvSpPr>
        <p:spPr>
          <a:xfrm>
            <a:off x="2920124" y="1772346"/>
            <a:ext cx="1297398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중분류 선택</a:t>
            </a:r>
          </a:p>
        </p:txBody>
      </p:sp>
      <p:sp>
        <p:nvSpPr>
          <p:cNvPr id="160" name="직사각형 159">
            <a:extLst>
              <a:ext uri="{FF2B5EF4-FFF2-40B4-BE49-F238E27FC236}">
                <a16:creationId xmlns:a16="http://schemas.microsoft.com/office/drawing/2014/main" id="{7331447B-4635-036C-E8F5-C65E81716129}"/>
              </a:ext>
            </a:extLst>
          </p:cNvPr>
          <p:cNvSpPr/>
          <p:nvPr/>
        </p:nvSpPr>
        <p:spPr>
          <a:xfrm>
            <a:off x="4011405" y="1772348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162" name="직사각형 161">
            <a:extLst>
              <a:ext uri="{FF2B5EF4-FFF2-40B4-BE49-F238E27FC236}">
                <a16:creationId xmlns:a16="http://schemas.microsoft.com/office/drawing/2014/main" id="{41CF5DDA-4C07-4055-206F-F417D4BCBB64}"/>
              </a:ext>
            </a:extLst>
          </p:cNvPr>
          <p:cNvSpPr/>
          <p:nvPr/>
        </p:nvSpPr>
        <p:spPr>
          <a:xfrm>
            <a:off x="4289582" y="1772346"/>
            <a:ext cx="1297398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소분류 선택</a:t>
            </a:r>
          </a:p>
        </p:txBody>
      </p: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4ED98D9B-A55E-6318-EACC-F2A78FE7CCD2}"/>
              </a:ext>
            </a:extLst>
          </p:cNvPr>
          <p:cNvSpPr/>
          <p:nvPr/>
        </p:nvSpPr>
        <p:spPr>
          <a:xfrm>
            <a:off x="5380863" y="1772348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165" name="직사각형 164">
            <a:extLst>
              <a:ext uri="{FF2B5EF4-FFF2-40B4-BE49-F238E27FC236}">
                <a16:creationId xmlns:a16="http://schemas.microsoft.com/office/drawing/2014/main" id="{0B1489E6-7D79-DA59-7C38-6CA88808CDF0}"/>
              </a:ext>
            </a:extLst>
          </p:cNvPr>
          <p:cNvSpPr/>
          <p:nvPr/>
        </p:nvSpPr>
        <p:spPr>
          <a:xfrm>
            <a:off x="6248548" y="2523666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개씩</a:t>
            </a:r>
          </a:p>
        </p:txBody>
      </p: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9F66F2D7-08DD-D09B-1E1E-07C183B151EE}"/>
              </a:ext>
            </a:extLst>
          </p:cNvPr>
          <p:cNvSpPr/>
          <p:nvPr/>
        </p:nvSpPr>
        <p:spPr>
          <a:xfrm>
            <a:off x="7070010" y="2523666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C0C6215D-92E2-7E00-DF35-A728F00B65A4}"/>
              </a:ext>
            </a:extLst>
          </p:cNvPr>
          <p:cNvSpPr txBox="1"/>
          <p:nvPr/>
        </p:nvSpPr>
        <p:spPr>
          <a:xfrm>
            <a:off x="320324" y="2510148"/>
            <a:ext cx="2975920" cy="2308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전체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1,523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건 현재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/4</a:t>
            </a:r>
            <a:endParaRPr lang="ko-KR" altLang="en-US" sz="900" b="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69" name="표 168">
            <a:extLst>
              <a:ext uri="{FF2B5EF4-FFF2-40B4-BE49-F238E27FC236}">
                <a16:creationId xmlns:a16="http://schemas.microsoft.com/office/drawing/2014/main" id="{B76688DA-E4D1-E450-0CD8-32965DC679CB}"/>
              </a:ext>
            </a:extLst>
          </p:cNvPr>
          <p:cNvGraphicFramePr>
            <a:graphicFrameLocks noGrp="1"/>
          </p:cNvGraphicFramePr>
          <p:nvPr/>
        </p:nvGraphicFramePr>
        <p:xfrm>
          <a:off x="318718" y="2853618"/>
          <a:ext cx="6963711" cy="2027520"/>
        </p:xfrm>
        <a:graphic>
          <a:graphicData uri="http://schemas.openxmlformats.org/drawingml/2006/table">
            <a:tbl>
              <a:tblPr firstRow="1" bandRow="1"/>
              <a:tblGrid>
                <a:gridCol w="1046410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1009911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589200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1121331">
                  <a:extLst>
                    <a:ext uri="{9D8B030D-6E8A-4147-A177-3AD203B41FA5}">
                      <a16:colId xmlns:a16="http://schemas.microsoft.com/office/drawing/2014/main" val="3408856969"/>
                    </a:ext>
                  </a:extLst>
                </a:gridCol>
                <a:gridCol w="1434461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  <a:gridCol w="881199">
                  <a:extLst>
                    <a:ext uri="{9D8B030D-6E8A-4147-A177-3AD203B41FA5}">
                      <a16:colId xmlns:a16="http://schemas.microsoft.com/office/drawing/2014/main" val="2051809351"/>
                    </a:ext>
                  </a:extLst>
                </a:gridCol>
                <a:gridCol w="881199">
                  <a:extLst>
                    <a:ext uri="{9D8B030D-6E8A-4147-A177-3AD203B41FA5}">
                      <a16:colId xmlns:a16="http://schemas.microsoft.com/office/drawing/2014/main" val="21771028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사업자 번호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업체명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담당자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핸드폰 번호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이메일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신청일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매핑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123-45-67891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삼전디에스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한지훈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010-1234-5678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leehee43@naver.com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2026.06.10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123-45-67891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넷퍼시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김미라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2026.06.10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123-45-67891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대현건설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하지영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2026.06.10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07682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123-45-67891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한성건설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김지연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2026.06.10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946446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123-45-67891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KEB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테크놀로지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박가람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2026.06.10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8773569"/>
                  </a:ext>
                </a:extLst>
              </a:tr>
            </a:tbl>
          </a:graphicData>
        </a:graphic>
      </p:graphicFrame>
      <p:sp>
        <p:nvSpPr>
          <p:cNvPr id="190" name="직사각형 189">
            <a:extLst>
              <a:ext uri="{FF2B5EF4-FFF2-40B4-BE49-F238E27FC236}">
                <a16:creationId xmlns:a16="http://schemas.microsoft.com/office/drawing/2014/main" id="{80E387C1-2C04-DE7A-519A-4497834B8995}"/>
              </a:ext>
            </a:extLst>
          </p:cNvPr>
          <p:cNvSpPr/>
          <p:nvPr/>
        </p:nvSpPr>
        <p:spPr>
          <a:xfrm>
            <a:off x="6469347" y="5377318"/>
            <a:ext cx="813083" cy="28803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닫기</a:t>
            </a:r>
          </a:p>
        </p:txBody>
      </p:sp>
      <p:grpSp>
        <p:nvGrpSpPr>
          <p:cNvPr id="193" name="그룹 192">
            <a:extLst>
              <a:ext uri="{FF2B5EF4-FFF2-40B4-BE49-F238E27FC236}">
                <a16:creationId xmlns:a16="http://schemas.microsoft.com/office/drawing/2014/main" id="{CE7C1CF9-3F5D-A7C2-4A0B-3582A6B5E32F}"/>
              </a:ext>
            </a:extLst>
          </p:cNvPr>
          <p:cNvGrpSpPr/>
          <p:nvPr/>
        </p:nvGrpSpPr>
        <p:grpSpPr>
          <a:xfrm>
            <a:off x="1847640" y="4993150"/>
            <a:ext cx="4025354" cy="216024"/>
            <a:chOff x="2992062" y="4869160"/>
            <a:chExt cx="4025354" cy="216024"/>
          </a:xfrm>
        </p:grpSpPr>
        <p:sp>
          <p:nvSpPr>
            <p:cNvPr id="194" name="직사각형 193">
              <a:extLst>
                <a:ext uri="{FF2B5EF4-FFF2-40B4-BE49-F238E27FC236}">
                  <a16:creationId xmlns:a16="http://schemas.microsoft.com/office/drawing/2014/main" id="{A77E0EF2-6255-12FF-BCCB-07C748C9CC4B}"/>
                </a:ext>
              </a:extLst>
            </p:cNvPr>
            <p:cNvSpPr/>
            <p:nvPr/>
          </p:nvSpPr>
          <p:spPr>
            <a:xfrm>
              <a:off x="2992062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◀</a:t>
              </a:r>
            </a:p>
          </p:txBody>
        </p:sp>
        <p:sp>
          <p:nvSpPr>
            <p:cNvPr id="195" name="직사각형 194">
              <a:extLst>
                <a:ext uri="{FF2B5EF4-FFF2-40B4-BE49-F238E27FC236}">
                  <a16:creationId xmlns:a16="http://schemas.microsoft.com/office/drawing/2014/main" id="{EC6AFC5C-B5C1-44E5-04DF-F958545666E4}"/>
                </a:ext>
              </a:extLst>
            </p:cNvPr>
            <p:cNvSpPr/>
            <p:nvPr/>
          </p:nvSpPr>
          <p:spPr>
            <a:xfrm>
              <a:off x="3285089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&lt;</a:t>
              </a:r>
              <a:endPara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96" name="직사각형 195">
              <a:extLst>
                <a:ext uri="{FF2B5EF4-FFF2-40B4-BE49-F238E27FC236}">
                  <a16:creationId xmlns:a16="http://schemas.microsoft.com/office/drawing/2014/main" id="{4949DA60-02D9-FEF4-F89A-6C116C03E8DC}"/>
                </a:ext>
              </a:extLst>
            </p:cNvPr>
            <p:cNvSpPr/>
            <p:nvPr/>
          </p:nvSpPr>
          <p:spPr>
            <a:xfrm>
              <a:off x="3578116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97" name="직사각형 196">
              <a:extLst>
                <a:ext uri="{FF2B5EF4-FFF2-40B4-BE49-F238E27FC236}">
                  <a16:creationId xmlns:a16="http://schemas.microsoft.com/office/drawing/2014/main" id="{1B00CABD-7A13-981F-D1A8-C9FD25604C0F}"/>
                </a:ext>
              </a:extLst>
            </p:cNvPr>
            <p:cNvSpPr/>
            <p:nvPr/>
          </p:nvSpPr>
          <p:spPr>
            <a:xfrm>
              <a:off x="3871143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98" name="직사각형 197">
              <a:extLst>
                <a:ext uri="{FF2B5EF4-FFF2-40B4-BE49-F238E27FC236}">
                  <a16:creationId xmlns:a16="http://schemas.microsoft.com/office/drawing/2014/main" id="{6DBCF408-8400-CF6A-30EF-F557759F225D}"/>
                </a:ext>
              </a:extLst>
            </p:cNvPr>
            <p:cNvSpPr/>
            <p:nvPr/>
          </p:nvSpPr>
          <p:spPr>
            <a:xfrm>
              <a:off x="4164170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99" name="직사각형 198">
              <a:extLst>
                <a:ext uri="{FF2B5EF4-FFF2-40B4-BE49-F238E27FC236}">
                  <a16:creationId xmlns:a16="http://schemas.microsoft.com/office/drawing/2014/main" id="{56A98FCF-EB51-BED5-E88C-D8D12EB757BD}"/>
                </a:ext>
              </a:extLst>
            </p:cNvPr>
            <p:cNvSpPr/>
            <p:nvPr/>
          </p:nvSpPr>
          <p:spPr>
            <a:xfrm>
              <a:off x="4457197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4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00" name="직사각형 199">
              <a:extLst>
                <a:ext uri="{FF2B5EF4-FFF2-40B4-BE49-F238E27FC236}">
                  <a16:creationId xmlns:a16="http://schemas.microsoft.com/office/drawing/2014/main" id="{4895EAED-40BD-F4B6-41E9-F85B94328BCB}"/>
                </a:ext>
              </a:extLst>
            </p:cNvPr>
            <p:cNvSpPr/>
            <p:nvPr/>
          </p:nvSpPr>
          <p:spPr>
            <a:xfrm>
              <a:off x="4750224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5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01" name="직사각형 200">
              <a:extLst>
                <a:ext uri="{FF2B5EF4-FFF2-40B4-BE49-F238E27FC236}">
                  <a16:creationId xmlns:a16="http://schemas.microsoft.com/office/drawing/2014/main" id="{81D114C5-93AC-962E-86C9-EC501F186B65}"/>
                </a:ext>
              </a:extLst>
            </p:cNvPr>
            <p:cNvSpPr/>
            <p:nvPr/>
          </p:nvSpPr>
          <p:spPr>
            <a:xfrm>
              <a:off x="5043251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6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02" name="직사각형 201">
              <a:extLst>
                <a:ext uri="{FF2B5EF4-FFF2-40B4-BE49-F238E27FC236}">
                  <a16:creationId xmlns:a16="http://schemas.microsoft.com/office/drawing/2014/main" id="{DC270627-CE32-33E3-399C-B690A6EA7E8E}"/>
                </a:ext>
              </a:extLst>
            </p:cNvPr>
            <p:cNvSpPr/>
            <p:nvPr/>
          </p:nvSpPr>
          <p:spPr>
            <a:xfrm>
              <a:off x="5336278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7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03" name="직사각형 202">
              <a:extLst>
                <a:ext uri="{FF2B5EF4-FFF2-40B4-BE49-F238E27FC236}">
                  <a16:creationId xmlns:a16="http://schemas.microsoft.com/office/drawing/2014/main" id="{73F60474-7CB2-04D1-C02B-4BDF0DB2F09A}"/>
                </a:ext>
              </a:extLst>
            </p:cNvPr>
            <p:cNvSpPr/>
            <p:nvPr/>
          </p:nvSpPr>
          <p:spPr>
            <a:xfrm>
              <a:off x="5629305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8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04" name="직사각형 203">
              <a:extLst>
                <a:ext uri="{FF2B5EF4-FFF2-40B4-BE49-F238E27FC236}">
                  <a16:creationId xmlns:a16="http://schemas.microsoft.com/office/drawing/2014/main" id="{573125AE-01A8-0CFC-D124-C4A20250529E}"/>
                </a:ext>
              </a:extLst>
            </p:cNvPr>
            <p:cNvSpPr/>
            <p:nvPr/>
          </p:nvSpPr>
          <p:spPr>
            <a:xfrm>
              <a:off x="5922332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9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05" name="직사각형 204">
              <a:extLst>
                <a:ext uri="{FF2B5EF4-FFF2-40B4-BE49-F238E27FC236}">
                  <a16:creationId xmlns:a16="http://schemas.microsoft.com/office/drawing/2014/main" id="{DCFFD514-DEB3-3D44-E692-E59CCD809649}"/>
                </a:ext>
              </a:extLst>
            </p:cNvPr>
            <p:cNvSpPr/>
            <p:nvPr/>
          </p:nvSpPr>
          <p:spPr>
            <a:xfrm>
              <a:off x="6215359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10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06" name="직사각형 205">
              <a:extLst>
                <a:ext uri="{FF2B5EF4-FFF2-40B4-BE49-F238E27FC236}">
                  <a16:creationId xmlns:a16="http://schemas.microsoft.com/office/drawing/2014/main" id="{F8872679-AC8F-4D38-29A9-957193D0B19E}"/>
                </a:ext>
              </a:extLst>
            </p:cNvPr>
            <p:cNvSpPr/>
            <p:nvPr/>
          </p:nvSpPr>
          <p:spPr>
            <a:xfrm>
              <a:off x="6508386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&gt;</a:t>
              </a:r>
              <a:endPara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07" name="직사각형 206">
              <a:extLst>
                <a:ext uri="{FF2B5EF4-FFF2-40B4-BE49-F238E27FC236}">
                  <a16:creationId xmlns:a16="http://schemas.microsoft.com/office/drawing/2014/main" id="{AB08C780-07AC-14C9-E042-B64A4B130BBC}"/>
                </a:ext>
              </a:extLst>
            </p:cNvPr>
            <p:cNvSpPr/>
            <p:nvPr/>
          </p:nvSpPr>
          <p:spPr>
            <a:xfrm>
              <a:off x="6801416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▶</a:t>
              </a:r>
            </a:p>
          </p:txBody>
        </p:sp>
      </p:grp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4B51331-6980-7360-6B0E-5AACEFA75179}"/>
              </a:ext>
            </a:extLst>
          </p:cNvPr>
          <p:cNvSpPr/>
          <p:nvPr/>
        </p:nvSpPr>
        <p:spPr>
          <a:xfrm>
            <a:off x="6623103" y="3243651"/>
            <a:ext cx="447902" cy="215441"/>
          </a:xfrm>
          <a:prstGeom prst="rect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매핑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F62443A-F89D-8B19-4B84-5B9C667239C1}"/>
              </a:ext>
            </a:extLst>
          </p:cNvPr>
          <p:cNvSpPr/>
          <p:nvPr/>
        </p:nvSpPr>
        <p:spPr>
          <a:xfrm>
            <a:off x="6623103" y="3584813"/>
            <a:ext cx="447902" cy="215441"/>
          </a:xfrm>
          <a:prstGeom prst="rect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매핑</a:t>
            </a:r>
            <a:endParaRPr lang="ko-KR" altLang="en-US" sz="800" b="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9ECBC55-5A3F-9B2B-A467-96A3505BBA67}"/>
              </a:ext>
            </a:extLst>
          </p:cNvPr>
          <p:cNvSpPr/>
          <p:nvPr/>
        </p:nvSpPr>
        <p:spPr>
          <a:xfrm>
            <a:off x="6623103" y="3925975"/>
            <a:ext cx="447902" cy="215441"/>
          </a:xfrm>
          <a:prstGeom prst="rect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매핑</a:t>
            </a:r>
            <a:endParaRPr lang="ko-KR" altLang="en-US" sz="800" b="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C0C5B5A-7EBF-5786-CB1B-BAFD8AAD9AF7}"/>
              </a:ext>
            </a:extLst>
          </p:cNvPr>
          <p:cNvSpPr/>
          <p:nvPr/>
        </p:nvSpPr>
        <p:spPr>
          <a:xfrm>
            <a:off x="6623103" y="4267137"/>
            <a:ext cx="447902" cy="215441"/>
          </a:xfrm>
          <a:prstGeom prst="rect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매핑</a:t>
            </a:r>
            <a:endParaRPr lang="ko-KR" altLang="en-US" sz="800" b="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8EE6210-C653-16EE-F6A6-49015B301A0E}"/>
              </a:ext>
            </a:extLst>
          </p:cNvPr>
          <p:cNvSpPr/>
          <p:nvPr/>
        </p:nvSpPr>
        <p:spPr>
          <a:xfrm>
            <a:off x="6623103" y="4608299"/>
            <a:ext cx="447902" cy="215441"/>
          </a:xfrm>
          <a:prstGeom prst="rect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매핑</a:t>
            </a:r>
            <a:endParaRPr lang="ko-KR" altLang="en-US" sz="800" b="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52F21E02-87FA-6923-B039-86F4208B7A62}"/>
              </a:ext>
            </a:extLst>
          </p:cNvPr>
          <p:cNvSpPr/>
          <p:nvPr/>
        </p:nvSpPr>
        <p:spPr>
          <a:xfrm>
            <a:off x="1413145" y="1939813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174213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0027C-F31D-D192-4845-042E815C7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4292F0C-0777-F24B-4E94-E5A9906B2CA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0DE025-FD8A-D9A8-C94A-591D906A6101}"/>
              </a:ext>
            </a:extLst>
          </p:cNvPr>
          <p:cNvSpPr txBox="1"/>
          <p:nvPr/>
        </p:nvSpPr>
        <p:spPr>
          <a:xfrm>
            <a:off x="749224" y="25608"/>
            <a:ext cx="224933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현황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상세정보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 정보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539068F-2A02-9014-DF5B-DEA3B5608B93}"/>
              </a:ext>
            </a:extLst>
          </p:cNvPr>
          <p:cNvSpPr/>
          <p:nvPr/>
        </p:nvSpPr>
        <p:spPr>
          <a:xfrm>
            <a:off x="164468" y="403565"/>
            <a:ext cx="756617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현황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A0174A06-5FEA-EE01-96B3-40AB1E54E926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44EB9EC-5868-5BF4-881E-9549912E7D29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AE8A224-7286-DB82-324F-A962EE57AC44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</a:t>
            </a:r>
            <a:endParaRPr lang="ko-KR" altLang="en-US" sz="800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C01D56A-4BF7-EFE4-697E-633FA1290F73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kumimoji="1"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FB1CCA4-5784-2E37-B6E2-C07375884A3F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전자입찰시스템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22" name="Picture 1">
            <a:extLst>
              <a:ext uri="{FF2B5EF4-FFF2-40B4-BE49-F238E27FC236}">
                <a16:creationId xmlns:a16="http://schemas.microsoft.com/office/drawing/2014/main" id="{02558B54-95D3-A5DA-749C-23C4DF9E0B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B3177F7-ACF1-B179-B849-DF9E218C55C0}"/>
              </a:ext>
            </a:extLst>
          </p:cNvPr>
          <p:cNvSpPr txBox="1"/>
          <p:nvPr/>
        </p:nvSpPr>
        <p:spPr>
          <a:xfrm>
            <a:off x="8049344" y="584684"/>
            <a:ext cx="1856656" cy="3970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어두운 색으로 표시된 영역이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PMS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와 연동되는 항목임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en-US" altLang="ko-KR" sz="80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3C9E0258-0BF3-E50E-39FB-5792489295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504477"/>
              </p:ext>
            </p:extLst>
          </p:nvPr>
        </p:nvGraphicFramePr>
        <p:xfrm>
          <a:off x="164465" y="817960"/>
          <a:ext cx="7740858" cy="1351680"/>
        </p:xfrm>
        <a:graphic>
          <a:graphicData uri="http://schemas.openxmlformats.org/drawingml/2006/table">
            <a:tbl>
              <a:tblPr firstRow="1" bandRow="1"/>
              <a:tblGrid>
                <a:gridCol w="1083597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1230817">
                  <a:extLst>
                    <a:ext uri="{9D8B030D-6E8A-4147-A177-3AD203B41FA5}">
                      <a16:colId xmlns:a16="http://schemas.microsoft.com/office/drawing/2014/main" val="1731736782"/>
                    </a:ext>
                  </a:extLst>
                </a:gridCol>
                <a:gridCol w="699471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2252895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699471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794233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  <a:gridCol w="980374">
                  <a:extLst>
                    <a:ext uri="{9D8B030D-6E8A-4147-A177-3AD203B41FA5}">
                      <a16:colId xmlns:a16="http://schemas.microsoft.com/office/drawing/2014/main" val="186468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 번호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발주 구분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 구분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계약명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구분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계약방법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낙찰자 선정방법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CT_20260801_001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수주 기반 발주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본공고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서초동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1601-9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오피스텔 신축공사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중 도장공사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경쟁입찰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일반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제한적 최저가 입찰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 상대자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진행상태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계약금액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납기일</a:t>
                      </a:r>
                      <a:r>
                        <a:rPr lang="en-US" altLang="ko-KR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/</a:t>
                      </a: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공사기간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 체결일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사업담당자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계약담당자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91382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 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업체명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계약완료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48,507,800</a:t>
                      </a: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2026.08.01 ~ 2026.12.31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2026.07.31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홍길동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임꺽정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9146140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47025AD4-EC0B-CC5E-C312-B3A47CA1945B}"/>
              </a:ext>
            </a:extLst>
          </p:cNvPr>
          <p:cNvSpPr/>
          <p:nvPr/>
        </p:nvSpPr>
        <p:spPr>
          <a:xfrm>
            <a:off x="183392" y="2752050"/>
            <a:ext cx="7713520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 기본 정보</a:t>
            </a:r>
            <a:endParaRPr lang="ko-KR" altLang="en-US" sz="90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E94F673A-4DAC-EBEB-A3AB-E6251C4CCE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2298116"/>
              </p:ext>
            </p:extLst>
          </p:nvPr>
        </p:nvGraphicFramePr>
        <p:xfrm>
          <a:off x="164467" y="3044353"/>
          <a:ext cx="7740859" cy="295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3591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387268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 번호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CT_20260801_001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64422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계약명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서초동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1601-9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오피스텔 신축공사 중 도장공사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065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 구분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471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발주 구분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수주 기반 발주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357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수주계약정보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수주계약번호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160011612-01-31-C</a:t>
                      </a: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수주계약명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: GE-4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에너지효율화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(ID Fan VVVF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설치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사업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수주계약 체결일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2026.12.23</a:t>
                      </a: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수주계약업체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군장에너지주식회사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777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 체결일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2026. 07. 31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28502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 상대자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주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큐비트엑스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(135-81-77202)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172179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A40474B8-2DA4-59E7-CC30-D596A786A753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계속</a:t>
            </a: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13B7C27A-EEA2-9C99-56DE-CCE19AC0A961}"/>
              </a:ext>
            </a:extLst>
          </p:cNvPr>
          <p:cNvCxnSpPr>
            <a:cxnSpLocks/>
          </p:cNvCxnSpPr>
          <p:nvPr/>
        </p:nvCxnSpPr>
        <p:spPr>
          <a:xfrm>
            <a:off x="167468" y="2611278"/>
            <a:ext cx="7737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02598ADE-FCAA-9B51-3343-B4E6CDACE892}"/>
              </a:ext>
            </a:extLst>
          </p:cNvPr>
          <p:cNvSpPr/>
          <p:nvPr/>
        </p:nvSpPr>
        <p:spPr>
          <a:xfrm>
            <a:off x="163502" y="2260692"/>
            <a:ext cx="1125796" cy="354461"/>
          </a:xfrm>
          <a:prstGeom prst="rect">
            <a:avLst/>
          </a:prstGeom>
          <a:solidFill>
            <a:srgbClr val="00B05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 정보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9C23537-4077-DAEA-B803-6CD6731F4EC1}"/>
              </a:ext>
            </a:extLst>
          </p:cNvPr>
          <p:cNvSpPr/>
          <p:nvPr/>
        </p:nvSpPr>
        <p:spPr>
          <a:xfrm>
            <a:off x="2406249" y="2322711"/>
            <a:ext cx="1125796" cy="29244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 정보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C0FA6BF-1141-FD2B-5323-90D2F50A02C2}"/>
              </a:ext>
            </a:extLst>
          </p:cNvPr>
          <p:cNvSpPr/>
          <p:nvPr/>
        </p:nvSpPr>
        <p:spPr>
          <a:xfrm>
            <a:off x="3525142" y="2321393"/>
            <a:ext cx="1125796" cy="29376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 정보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487D612-9255-59B3-5AEE-F2F35DAF399A}"/>
              </a:ext>
            </a:extLst>
          </p:cNvPr>
          <p:cNvSpPr/>
          <p:nvPr/>
        </p:nvSpPr>
        <p:spPr>
          <a:xfrm>
            <a:off x="1283257" y="2321393"/>
            <a:ext cx="1125796" cy="29376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 관련 서류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82BF8A-BEEB-140E-14F8-4BA780918F77}"/>
              </a:ext>
            </a:extLst>
          </p:cNvPr>
          <p:cNvSpPr/>
          <p:nvPr/>
        </p:nvSpPr>
        <p:spPr>
          <a:xfrm>
            <a:off x="4649137" y="2322711"/>
            <a:ext cx="1125796" cy="29244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입찰계획 정보</a:t>
            </a: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8033DCC8-F207-E779-194D-890ED0D95908}"/>
              </a:ext>
            </a:extLst>
          </p:cNvPr>
          <p:cNvSpPr/>
          <p:nvPr/>
        </p:nvSpPr>
        <p:spPr>
          <a:xfrm>
            <a:off x="55490" y="2932467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3242B10-B8E3-0695-618C-08817E4A720C}"/>
              </a:ext>
            </a:extLst>
          </p:cNvPr>
          <p:cNvSpPr/>
          <p:nvPr/>
        </p:nvSpPr>
        <p:spPr>
          <a:xfrm>
            <a:off x="-1690381" y="1098521"/>
            <a:ext cx="1467136" cy="34105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현황</a:t>
            </a:r>
            <a:endParaRPr lang="en-US" altLang="ko-KR" sz="800" u="sng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021942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9571A-9830-A132-B458-3BF065E8D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8885FCA9-25E3-F2DF-4160-1CEBFAC2F07A}"/>
              </a:ext>
            </a:extLst>
          </p:cNvPr>
          <p:cNvSpPr txBox="1"/>
          <p:nvPr/>
        </p:nvSpPr>
        <p:spPr>
          <a:xfrm>
            <a:off x="8049344" y="584684"/>
            <a:ext cx="1856656" cy="174817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kumimoji="0" lang="ko-KR" altLang="en-US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 등록된 정보 중 </a:t>
            </a:r>
            <a:r>
              <a:rPr kumimoji="0"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kumimoji="0" lang="ko-KR" altLang="en-US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근거 </a:t>
            </a:r>
            <a:r>
              <a:rPr kumimoji="0"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 </a:t>
            </a:r>
            <a:r>
              <a:rPr kumimoji="0" lang="ko-KR" altLang="en-US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사유</a:t>
            </a:r>
            <a:r>
              <a:rPr kumimoji="0"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kumimoji="0" lang="ko-KR" altLang="en-US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 계약단계에서 명칭이 바뀜</a:t>
            </a:r>
            <a:endParaRPr kumimoji="0" lang="en-US" altLang="ko-KR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kumimoji="0" lang="ko-KR" altLang="en-US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계약금액을 기준으로 자동 산출해야 함</a:t>
            </a:r>
            <a:endParaRPr lang="en-US" altLang="ko-KR" sz="80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PMS는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 입력하기 때문에 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 환산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12)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할 것</a:t>
            </a:r>
            <a:b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PMS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 정보를 전송해야 함</a:t>
            </a:r>
            <a:endParaRPr lang="en-US" altLang="ko-KR" sz="80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endParaRPr lang="en-US" altLang="ko-KR" sz="80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7AD74CFC-654C-21DA-225D-BEA4EC870E07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계속</a:t>
            </a:r>
          </a:p>
        </p:txBody>
      </p:sp>
      <p:graphicFrame>
        <p:nvGraphicFramePr>
          <p:cNvPr id="49" name="표 48">
            <a:extLst>
              <a:ext uri="{FF2B5EF4-FFF2-40B4-BE49-F238E27FC236}">
                <a16:creationId xmlns:a16="http://schemas.microsoft.com/office/drawing/2014/main" id="{AE7678EF-FD9E-4D86-A684-887D516CFF3A}"/>
              </a:ext>
            </a:extLst>
          </p:cNvPr>
          <p:cNvGraphicFramePr>
            <a:graphicFrameLocks noGrp="1"/>
          </p:cNvGraphicFramePr>
          <p:nvPr/>
        </p:nvGraphicFramePr>
        <p:xfrm>
          <a:off x="163502" y="399203"/>
          <a:ext cx="7741822" cy="560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9118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372704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 대상자 필요 면허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종합건설업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건축설계 및 시공</a:t>
                      </a: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전문건설업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도장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습식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방수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석공 사업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6614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계약방법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경쟁입찰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일반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79003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낙찰자 선정방법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제한적 최저가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입찰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02986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 근거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사유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근거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수의계약 사유로 입력된 내용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28739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입찰 참가자격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제주도 관내 본사를 두고 있는 사업자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1820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추정가격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소요예산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100,000,000 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일억원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 VAT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포함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2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계약금액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99,000,000 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구천구백만원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 VAT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포함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40168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공급가액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90,000,000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구천만원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018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부가세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9,000,000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구백만원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4804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납기일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공사기간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-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2026.07.20 ~ 2027.07.30</a:t>
                      </a:r>
                      <a:endParaRPr lang="ko-KR" altLang="en-US" sz="800" b="0" spc="-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69958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계약이행 </a:t>
                      </a:r>
                      <a:r>
                        <a:rPr kumimoji="0" lang="ko-KR" altLang="en-US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보증금률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10%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357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선금이행 </a:t>
                      </a:r>
                      <a:r>
                        <a:rPr kumimoji="0" lang="ko-KR" altLang="en-US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보증금률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10%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90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하자이행 </a:t>
                      </a:r>
                      <a:r>
                        <a:rPr kumimoji="0" lang="ko-KR" altLang="en-US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보증금률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10%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00273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하자이행 보증기간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24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개월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5394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사업담당자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홍길동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83323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계약담당자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임꺽정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0276797"/>
                  </a:ext>
                </a:extLst>
              </a:tr>
            </a:tbl>
          </a:graphicData>
        </a:graphic>
      </p:graphicFrame>
      <p:sp>
        <p:nvSpPr>
          <p:cNvPr id="23" name="타원 22">
            <a:extLst>
              <a:ext uri="{FF2B5EF4-FFF2-40B4-BE49-F238E27FC236}">
                <a16:creationId xmlns:a16="http://schemas.microsoft.com/office/drawing/2014/main" id="{8C64B5CA-96AF-0F3B-9139-E10337D43E50}"/>
              </a:ext>
            </a:extLst>
          </p:cNvPr>
          <p:cNvSpPr/>
          <p:nvPr/>
        </p:nvSpPr>
        <p:spPr>
          <a:xfrm>
            <a:off x="1388604" y="4185084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E9965861-4161-D1D1-E7BB-EB1721A332F0}"/>
              </a:ext>
            </a:extLst>
          </p:cNvPr>
          <p:cNvSpPr/>
          <p:nvPr/>
        </p:nvSpPr>
        <p:spPr>
          <a:xfrm>
            <a:off x="1388604" y="4864712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426ED42-16FD-8398-3352-B9A18C5A296E}"/>
              </a:ext>
            </a:extLst>
          </p:cNvPr>
          <p:cNvSpPr txBox="1"/>
          <p:nvPr/>
        </p:nvSpPr>
        <p:spPr>
          <a:xfrm>
            <a:off x="749224" y="25608"/>
            <a:ext cx="224933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현황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상세정보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 정보</a:t>
            </a: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A433D302-B2DC-6C05-056B-85632D90DD96}"/>
              </a:ext>
            </a:extLst>
          </p:cNvPr>
          <p:cNvSpPr/>
          <p:nvPr/>
        </p:nvSpPr>
        <p:spPr>
          <a:xfrm>
            <a:off x="55490" y="1507723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589BA6D0-3AA6-4071-9FC4-7C6F738BAA5E}"/>
              </a:ext>
            </a:extLst>
          </p:cNvPr>
          <p:cNvSpPr/>
          <p:nvPr/>
        </p:nvSpPr>
        <p:spPr>
          <a:xfrm>
            <a:off x="55490" y="2832267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98437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7F50A-7FF0-5792-CDB7-CD4778EB5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62C2EDCC-E8AB-AF09-4A9A-730E7630C7BA}"/>
              </a:ext>
            </a:extLst>
          </p:cNvPr>
          <p:cNvSpPr txBox="1"/>
          <p:nvPr/>
        </p:nvSpPr>
        <p:spPr>
          <a:xfrm>
            <a:off x="8049344" y="584684"/>
            <a:ext cx="1856656" cy="174817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rgbClr val="C00000"/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본 계약의 ‘계약금액’</a:t>
            </a:r>
            <a:r>
              <a:rPr lang="en-US" altLang="ko-KR" sz="800" dirty="0">
                <a:solidFill>
                  <a:srgbClr val="C00000"/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, ‘</a:t>
            </a:r>
            <a:r>
              <a:rPr lang="ko-KR" altLang="en-US" sz="800" dirty="0">
                <a:solidFill>
                  <a:srgbClr val="C00000"/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납기일</a:t>
            </a:r>
            <a:r>
              <a:rPr lang="en-US" altLang="ko-KR" sz="800" dirty="0">
                <a:solidFill>
                  <a:srgbClr val="C00000"/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 err="1">
                <a:solidFill>
                  <a:srgbClr val="C00000"/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공사기간’에</a:t>
            </a:r>
            <a:r>
              <a:rPr lang="ko-KR" altLang="en-US" sz="800" dirty="0">
                <a:solidFill>
                  <a:srgbClr val="C00000"/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 변경이 발생하는 경우 활용하는 기능 </a:t>
            </a:r>
            <a:r>
              <a:rPr lang="en-US" altLang="ko-KR" sz="800" dirty="0">
                <a:solidFill>
                  <a:srgbClr val="C00000"/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rgbClr val="C00000"/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변경된 정보를 업데이트하고 변경 내용을 기록함</a:t>
            </a:r>
            <a:r>
              <a:rPr lang="en-US" altLang="ko-KR" sz="800" dirty="0">
                <a:solidFill>
                  <a:srgbClr val="C00000"/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 변경 처리하기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팝업 호출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뒤 페이지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변경계약이 있는 경우 변경내역을 목록으로 제공</a:t>
            </a:r>
            <a:endParaRPr lang="en-US" altLang="ko-KR" sz="80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endParaRPr lang="en-US" altLang="ko-KR" sz="80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5B2F140-0EE0-4690-44FC-F20EF9AA24B3}"/>
              </a:ext>
            </a:extLst>
          </p:cNvPr>
          <p:cNvSpPr/>
          <p:nvPr/>
        </p:nvSpPr>
        <p:spPr>
          <a:xfrm>
            <a:off x="183392" y="375786"/>
            <a:ext cx="7713520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 관련 서류</a:t>
            </a:r>
            <a:endParaRPr lang="ko-KR" altLang="en-US" sz="90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D71910B4-7DE5-FC01-BB01-1328D4838472}"/>
              </a:ext>
            </a:extLst>
          </p:cNvPr>
          <p:cNvGraphicFramePr>
            <a:graphicFrameLocks noGrp="1"/>
          </p:cNvGraphicFramePr>
          <p:nvPr/>
        </p:nvGraphicFramePr>
        <p:xfrm>
          <a:off x="183392" y="667505"/>
          <a:ext cx="7713520" cy="12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5525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297995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계약서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 </a:t>
                      </a:r>
                      <a:r>
                        <a:rPr lang="ko-KR" altLang="en-US" sz="8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날인본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 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4554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기타서류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88210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계약서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날인본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 </a:t>
                      </a:r>
                      <a:endParaRPr lang="ko-KR" altLang="en-US" sz="800" b="1" dirty="0">
                        <a:solidFill>
                          <a:srgbClr val="C0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1284021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7CECDADE-2A58-6535-E0D2-13168A097A95}"/>
              </a:ext>
            </a:extLst>
          </p:cNvPr>
          <p:cNvSpPr/>
          <p:nvPr/>
        </p:nvSpPr>
        <p:spPr>
          <a:xfrm>
            <a:off x="183392" y="2059348"/>
            <a:ext cx="7713520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 관련 서류</a:t>
            </a:r>
            <a:endParaRPr lang="ko-KR" altLang="en-US" sz="90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C563C8CE-7E46-A4B6-3A4C-8193FA2C1A2C}"/>
              </a:ext>
            </a:extLst>
          </p:cNvPr>
          <p:cNvGraphicFramePr>
            <a:graphicFrameLocks noGrp="1"/>
          </p:cNvGraphicFramePr>
          <p:nvPr/>
        </p:nvGraphicFramePr>
        <p:xfrm>
          <a:off x="183392" y="2342658"/>
          <a:ext cx="7713520" cy="135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5525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297995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계약이행 보증보험 증권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12840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선금이행 보증보험 증권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51609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하자이행 보증보험 증권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46956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계약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 참고서류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0763532"/>
                  </a:ext>
                </a:extLst>
              </a:tr>
            </a:tbl>
          </a:graphicData>
        </a:graphic>
      </p:graphicFrame>
      <p:grpSp>
        <p:nvGrpSpPr>
          <p:cNvPr id="6" name="그룹 5">
            <a:extLst>
              <a:ext uri="{FF2B5EF4-FFF2-40B4-BE49-F238E27FC236}">
                <a16:creationId xmlns:a16="http://schemas.microsoft.com/office/drawing/2014/main" id="{BA408470-2EE1-FA2F-AC34-D13B619CCFBA}"/>
              </a:ext>
            </a:extLst>
          </p:cNvPr>
          <p:cNvGrpSpPr/>
          <p:nvPr/>
        </p:nvGrpSpPr>
        <p:grpSpPr>
          <a:xfrm>
            <a:off x="2633627" y="739654"/>
            <a:ext cx="1275802" cy="198885"/>
            <a:chOff x="2576736" y="3905324"/>
            <a:chExt cx="1275802" cy="198885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93FCD4CC-615D-2E6D-DB40-BA8E75B097E6}"/>
                </a:ext>
              </a:extLst>
            </p:cNvPr>
            <p:cNvSpPr/>
            <p:nvPr/>
          </p:nvSpPr>
          <p:spPr>
            <a:xfrm>
              <a:off x="2576736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D411F62E-8603-B4D8-45E0-8C8425262593}"/>
                </a:ext>
              </a:extLst>
            </p:cNvPr>
            <p:cNvSpPr/>
            <p:nvPr/>
          </p:nvSpPr>
          <p:spPr>
            <a:xfrm>
              <a:off x="3239573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0728E5BD-4F35-9AF9-8710-FC0102877969}"/>
              </a:ext>
            </a:extLst>
          </p:cNvPr>
          <p:cNvGrpSpPr/>
          <p:nvPr/>
        </p:nvGrpSpPr>
        <p:grpSpPr>
          <a:xfrm>
            <a:off x="2633627" y="1062260"/>
            <a:ext cx="1275802" cy="198885"/>
            <a:chOff x="2576736" y="3905324"/>
            <a:chExt cx="1275802" cy="198885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992E0161-3AE3-6965-CE29-3926C609750E}"/>
                </a:ext>
              </a:extLst>
            </p:cNvPr>
            <p:cNvSpPr/>
            <p:nvPr/>
          </p:nvSpPr>
          <p:spPr>
            <a:xfrm>
              <a:off x="2576736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113802E6-D3B5-FA5C-3CBF-5FB278773A71}"/>
                </a:ext>
              </a:extLst>
            </p:cNvPr>
            <p:cNvSpPr/>
            <p:nvPr/>
          </p:nvSpPr>
          <p:spPr>
            <a:xfrm>
              <a:off x="3239573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6AB5636A-E48C-FFC2-EDD9-4227EA0A708B}"/>
              </a:ext>
            </a:extLst>
          </p:cNvPr>
          <p:cNvGrpSpPr/>
          <p:nvPr/>
        </p:nvGrpSpPr>
        <p:grpSpPr>
          <a:xfrm>
            <a:off x="2633627" y="1321328"/>
            <a:ext cx="1275802" cy="198885"/>
            <a:chOff x="2576736" y="3905324"/>
            <a:chExt cx="1275802" cy="198885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9FBE9C7-E63B-CA05-4B07-501378CD8D69}"/>
                </a:ext>
              </a:extLst>
            </p:cNvPr>
            <p:cNvSpPr/>
            <p:nvPr/>
          </p:nvSpPr>
          <p:spPr>
            <a:xfrm>
              <a:off x="2576736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FF26E675-CD58-6CF4-CDD9-B619727065F1}"/>
                </a:ext>
              </a:extLst>
            </p:cNvPr>
            <p:cNvSpPr/>
            <p:nvPr/>
          </p:nvSpPr>
          <p:spPr>
            <a:xfrm>
              <a:off x="3239573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FDA6E43F-D359-8992-D9B3-1ABDB2907D58}"/>
              </a:ext>
            </a:extLst>
          </p:cNvPr>
          <p:cNvGrpSpPr/>
          <p:nvPr/>
        </p:nvGrpSpPr>
        <p:grpSpPr>
          <a:xfrm>
            <a:off x="2633627" y="1652807"/>
            <a:ext cx="1275802" cy="198885"/>
            <a:chOff x="2576736" y="3905324"/>
            <a:chExt cx="1275802" cy="198885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9FC73521-DE7E-BAD0-D3CE-EBCA7A91EBDF}"/>
                </a:ext>
              </a:extLst>
            </p:cNvPr>
            <p:cNvSpPr/>
            <p:nvPr/>
          </p:nvSpPr>
          <p:spPr>
            <a:xfrm>
              <a:off x="2576736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6668696E-E8D1-163F-9F99-201D235095F6}"/>
                </a:ext>
              </a:extLst>
            </p:cNvPr>
            <p:cNvSpPr/>
            <p:nvPr/>
          </p:nvSpPr>
          <p:spPr>
            <a:xfrm>
              <a:off x="3239573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D4EDA27E-BA9B-D0C5-57D3-745B9CEE39DA}"/>
              </a:ext>
            </a:extLst>
          </p:cNvPr>
          <p:cNvGrpSpPr/>
          <p:nvPr/>
        </p:nvGrpSpPr>
        <p:grpSpPr>
          <a:xfrm>
            <a:off x="2633627" y="2417391"/>
            <a:ext cx="1275802" cy="198885"/>
            <a:chOff x="2576736" y="3905324"/>
            <a:chExt cx="1275802" cy="198885"/>
          </a:xfrm>
        </p:grpSpPr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809AC078-40E7-CA63-D174-FE03067DEC28}"/>
                </a:ext>
              </a:extLst>
            </p:cNvPr>
            <p:cNvSpPr/>
            <p:nvPr/>
          </p:nvSpPr>
          <p:spPr>
            <a:xfrm>
              <a:off x="2576736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A4125693-0108-88F2-66E3-0FD9A92A3072}"/>
                </a:ext>
              </a:extLst>
            </p:cNvPr>
            <p:cNvSpPr/>
            <p:nvPr/>
          </p:nvSpPr>
          <p:spPr>
            <a:xfrm>
              <a:off x="3239573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E1ECED89-7940-E19B-8E8C-BFD0AACCCA35}"/>
              </a:ext>
            </a:extLst>
          </p:cNvPr>
          <p:cNvGrpSpPr/>
          <p:nvPr/>
        </p:nvGrpSpPr>
        <p:grpSpPr>
          <a:xfrm>
            <a:off x="2633627" y="2746641"/>
            <a:ext cx="1275802" cy="198885"/>
            <a:chOff x="2576736" y="3905324"/>
            <a:chExt cx="1275802" cy="198885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2A82985E-902B-B4D0-9393-9652B6E8A48A}"/>
                </a:ext>
              </a:extLst>
            </p:cNvPr>
            <p:cNvSpPr/>
            <p:nvPr/>
          </p:nvSpPr>
          <p:spPr>
            <a:xfrm>
              <a:off x="2576736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2EBC00C2-3D06-D90F-0308-1A232AD04758}"/>
                </a:ext>
              </a:extLst>
            </p:cNvPr>
            <p:cNvSpPr/>
            <p:nvPr/>
          </p:nvSpPr>
          <p:spPr>
            <a:xfrm>
              <a:off x="3239573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3EE4EF43-1161-9456-AFB9-EBE756E44E12}"/>
              </a:ext>
            </a:extLst>
          </p:cNvPr>
          <p:cNvGrpSpPr/>
          <p:nvPr/>
        </p:nvGrpSpPr>
        <p:grpSpPr>
          <a:xfrm>
            <a:off x="2633627" y="3086967"/>
            <a:ext cx="1275802" cy="198885"/>
            <a:chOff x="2576736" y="3905324"/>
            <a:chExt cx="1275802" cy="198885"/>
          </a:xfrm>
        </p:grpSpPr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D61E772E-30C3-8292-2F0F-647135F6244E}"/>
                </a:ext>
              </a:extLst>
            </p:cNvPr>
            <p:cNvSpPr/>
            <p:nvPr/>
          </p:nvSpPr>
          <p:spPr>
            <a:xfrm>
              <a:off x="2576736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CD1CA64E-8A54-7FAB-720B-FC0E2DB71FF4}"/>
                </a:ext>
              </a:extLst>
            </p:cNvPr>
            <p:cNvSpPr/>
            <p:nvPr/>
          </p:nvSpPr>
          <p:spPr>
            <a:xfrm>
              <a:off x="3239573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A0D26953-C8E3-7A79-1DC5-4C77AC42352B}"/>
              </a:ext>
            </a:extLst>
          </p:cNvPr>
          <p:cNvGrpSpPr/>
          <p:nvPr/>
        </p:nvGrpSpPr>
        <p:grpSpPr>
          <a:xfrm>
            <a:off x="2633627" y="3408884"/>
            <a:ext cx="1275802" cy="198885"/>
            <a:chOff x="2576736" y="3905324"/>
            <a:chExt cx="1275802" cy="198885"/>
          </a:xfrm>
        </p:grpSpPr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2BF3484D-B767-B6CF-397A-140CB76D17FC}"/>
                </a:ext>
              </a:extLst>
            </p:cNvPr>
            <p:cNvSpPr/>
            <p:nvPr/>
          </p:nvSpPr>
          <p:spPr>
            <a:xfrm>
              <a:off x="2576736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BAEB968E-DCD7-70D9-F54A-3FC427F603F4}"/>
                </a:ext>
              </a:extLst>
            </p:cNvPr>
            <p:cNvSpPr/>
            <p:nvPr/>
          </p:nvSpPr>
          <p:spPr>
            <a:xfrm>
              <a:off x="3239573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33362B2C-8521-B868-7EE0-E4B9B6080214}"/>
              </a:ext>
            </a:extLst>
          </p:cNvPr>
          <p:cNvSpPr/>
          <p:nvPr/>
        </p:nvSpPr>
        <p:spPr>
          <a:xfrm>
            <a:off x="164467" y="3773816"/>
            <a:ext cx="699418" cy="2880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목록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48551233-35E6-A017-4342-76097202B85C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30DB73F-9DE5-FA82-E293-302B30F8B907}"/>
              </a:ext>
            </a:extLst>
          </p:cNvPr>
          <p:cNvSpPr txBox="1"/>
          <p:nvPr/>
        </p:nvSpPr>
        <p:spPr>
          <a:xfrm>
            <a:off x="749224" y="25608"/>
            <a:ext cx="224933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현황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상세정보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 정보</a:t>
            </a: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7FD8BE07-BBBC-F36A-7C08-F7A568DEA979}"/>
              </a:ext>
            </a:extLst>
          </p:cNvPr>
          <p:cNvSpPr/>
          <p:nvPr/>
        </p:nvSpPr>
        <p:spPr>
          <a:xfrm>
            <a:off x="163503" y="5606291"/>
            <a:ext cx="7729916" cy="44502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□ 본 계약의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계약금액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’, ‘</a:t>
            </a:r>
            <a:r>
              <a:rPr kumimoji="0" lang="ko-KR" altLang="en-US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납기일</a:t>
            </a:r>
            <a:r>
              <a:rPr kumimoji="0"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kumimoji="0" lang="ko-KR" altLang="en-US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공사기간</a:t>
            </a:r>
            <a:r>
              <a:rPr kumimoji="0"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kumimoji="0" lang="ko-KR" altLang="en-US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에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변경이 발생하였습니다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718F6AC0-C114-DD28-8B23-B33EAC729255}"/>
              </a:ext>
            </a:extLst>
          </p:cNvPr>
          <p:cNvSpPr/>
          <p:nvPr/>
        </p:nvSpPr>
        <p:spPr>
          <a:xfrm>
            <a:off x="6501172" y="5689888"/>
            <a:ext cx="1290365" cy="2880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변경 처리하기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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3" name="타원 82">
            <a:extLst>
              <a:ext uri="{FF2B5EF4-FFF2-40B4-BE49-F238E27FC236}">
                <a16:creationId xmlns:a16="http://schemas.microsoft.com/office/drawing/2014/main" id="{31497654-2715-9791-640B-59817604C47D}"/>
              </a:ext>
            </a:extLst>
          </p:cNvPr>
          <p:cNvSpPr/>
          <p:nvPr/>
        </p:nvSpPr>
        <p:spPr>
          <a:xfrm>
            <a:off x="73494" y="5596831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4" name="타원 83">
            <a:extLst>
              <a:ext uri="{FF2B5EF4-FFF2-40B4-BE49-F238E27FC236}">
                <a16:creationId xmlns:a16="http://schemas.microsoft.com/office/drawing/2014/main" id="{3DEB8BCF-CD7D-BA48-556E-2201E22AEA6A}"/>
              </a:ext>
            </a:extLst>
          </p:cNvPr>
          <p:cNvSpPr/>
          <p:nvPr/>
        </p:nvSpPr>
        <p:spPr>
          <a:xfrm>
            <a:off x="6348156" y="5596831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25FD246-0781-AF55-A13E-F93708120185}"/>
              </a:ext>
            </a:extLst>
          </p:cNvPr>
          <p:cNvSpPr txBox="1"/>
          <p:nvPr/>
        </p:nvSpPr>
        <p:spPr>
          <a:xfrm>
            <a:off x="181506" y="4197148"/>
            <a:ext cx="2975920" cy="2308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변경계약 진행내역</a:t>
            </a:r>
          </a:p>
        </p:txBody>
      </p:sp>
      <p:graphicFrame>
        <p:nvGraphicFramePr>
          <p:cNvPr id="88" name="표 87">
            <a:extLst>
              <a:ext uri="{FF2B5EF4-FFF2-40B4-BE49-F238E27FC236}">
                <a16:creationId xmlns:a16="http://schemas.microsoft.com/office/drawing/2014/main" id="{15774F12-5E7E-5734-63A7-53273EB7D32E}"/>
              </a:ext>
            </a:extLst>
          </p:cNvPr>
          <p:cNvGraphicFramePr>
            <a:graphicFrameLocks noGrp="1"/>
          </p:cNvGraphicFramePr>
          <p:nvPr/>
        </p:nvGraphicFramePr>
        <p:xfrm>
          <a:off x="163503" y="4476084"/>
          <a:ext cx="7729916" cy="1013760"/>
        </p:xfrm>
        <a:graphic>
          <a:graphicData uri="http://schemas.openxmlformats.org/drawingml/2006/table">
            <a:tbl>
              <a:tblPr firstRow="1" bandRow="1"/>
              <a:tblGrid>
                <a:gridCol w="1401828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4382070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850425">
                  <a:extLst>
                    <a:ext uri="{9D8B030D-6E8A-4147-A177-3AD203B41FA5}">
                      <a16:colId xmlns:a16="http://schemas.microsoft.com/office/drawing/2014/main" val="858523054"/>
                    </a:ext>
                  </a:extLst>
                </a:gridCol>
                <a:gridCol w="1095593">
                  <a:extLst>
                    <a:ext uri="{9D8B030D-6E8A-4147-A177-3AD203B41FA5}">
                      <a16:colId xmlns:a16="http://schemas.microsoft.com/office/drawing/2014/main" val="33317621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 변경일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변경내용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메모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작성자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변경 처리일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2026.09.01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품목 </a:t>
                      </a:r>
                      <a:r>
                        <a:rPr kumimoji="0" lang="en-US" altLang="ko-KR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</a:t>
                      </a:r>
                      <a:r>
                        <a:rPr kumimoji="0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종이 제외되어 계약금액을 수정하여 변경계약 하였습니다</a:t>
                      </a:r>
                      <a:r>
                        <a:rPr kumimoji="0" lang="en-US" altLang="ko-KR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</a:t>
                      </a: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홍길동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2026.09.15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2026.09.30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천재지변으로 공사가 지연되어 </a:t>
                      </a:r>
                      <a:r>
                        <a:rPr kumimoji="0" lang="en-US" altLang="ko-KR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‘</a:t>
                      </a:r>
                      <a:r>
                        <a:rPr kumimoji="0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납기일</a:t>
                      </a:r>
                      <a:r>
                        <a:rPr kumimoji="0" lang="en-US" altLang="ko-KR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공사기간</a:t>
                      </a:r>
                      <a:r>
                        <a:rPr kumimoji="0" lang="en-US" altLang="ko-KR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’</a:t>
                      </a:r>
                      <a:r>
                        <a:rPr kumimoji="0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이 변경되어 변경계약 하였습니다</a:t>
                      </a:r>
                      <a:r>
                        <a:rPr kumimoji="0" lang="en-US" altLang="ko-KR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</a:t>
                      </a: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홍길동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2026.09.15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</a:tbl>
          </a:graphicData>
        </a:graphic>
      </p:graphicFrame>
      <p:sp>
        <p:nvSpPr>
          <p:cNvPr id="90" name="타원 89">
            <a:extLst>
              <a:ext uri="{FF2B5EF4-FFF2-40B4-BE49-F238E27FC236}">
                <a16:creationId xmlns:a16="http://schemas.microsoft.com/office/drawing/2014/main" id="{BADF536D-749D-DCF6-D5A9-51BE5D6DB25D}"/>
              </a:ext>
            </a:extLst>
          </p:cNvPr>
          <p:cNvSpPr/>
          <p:nvPr/>
        </p:nvSpPr>
        <p:spPr>
          <a:xfrm>
            <a:off x="87602" y="4044596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680102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7DD7D-C5CB-375C-5DD8-0BFDAB43C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A5CCD794-27FB-E3E2-8637-DCAB021F2CC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51CF11-A571-20C2-16E8-029B4F534C3D}"/>
              </a:ext>
            </a:extLst>
          </p:cNvPr>
          <p:cNvSpPr txBox="1"/>
          <p:nvPr/>
        </p:nvSpPr>
        <p:spPr>
          <a:xfrm>
            <a:off x="749224" y="25608"/>
            <a:ext cx="31261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 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현황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상세정보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&gt; 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 정보 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(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 변경 처리하기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7722E2-CAF2-7FE0-4B4C-A08C97EB09EF}"/>
              </a:ext>
            </a:extLst>
          </p:cNvPr>
          <p:cNvSpPr txBox="1"/>
          <p:nvPr/>
        </p:nvSpPr>
        <p:spPr>
          <a:xfrm>
            <a:off x="8049344" y="584684"/>
            <a:ext cx="1856656" cy="3905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변경 사유에 따라 아래의 입력 항목이 변경됨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‘계약금액’ 변경 시 입력항목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‘납기일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공사기간’ 변경 시 입력항목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변경 계약 처리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(PMS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 계약정보 전송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PMS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 계약정보가 전송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업데이트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변경된 내용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계약금액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납기일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공사기간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을 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SRM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의 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계약정보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에 업데이트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변경된 내용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계약금액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납기일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공사기간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을 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PMS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의 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계약정보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에 업데이트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PMS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로 변경 내역 추가 전송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아래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계약변경일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변경내용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메모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변경내역 정보 제공 팝업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계약 변경 내역 상세보기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을 호출하는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URL(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뒤 페이지 팝업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3917184-0F7F-7159-B85A-8CCADC421285}"/>
              </a:ext>
            </a:extLst>
          </p:cNvPr>
          <p:cNvSpPr/>
          <p:nvPr/>
        </p:nvSpPr>
        <p:spPr>
          <a:xfrm>
            <a:off x="164468" y="349908"/>
            <a:ext cx="7391699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계약 변경 처리하기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01BAB13-263C-5A5A-55C1-8B1BD0D31DFB}"/>
              </a:ext>
            </a:extLst>
          </p:cNvPr>
          <p:cNvSpPr/>
          <p:nvPr/>
        </p:nvSpPr>
        <p:spPr>
          <a:xfrm>
            <a:off x="164469" y="622818"/>
            <a:ext cx="7391698" cy="453437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FDC3367-68B6-491F-2A0D-09F25619E32E}"/>
              </a:ext>
            </a:extLst>
          </p:cNvPr>
          <p:cNvSpPr/>
          <p:nvPr/>
        </p:nvSpPr>
        <p:spPr>
          <a:xfrm>
            <a:off x="7286167" y="349908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DA5FEB5-33C5-1509-01D6-5011946277B8}"/>
              </a:ext>
            </a:extLst>
          </p:cNvPr>
          <p:cNvSpPr/>
          <p:nvPr/>
        </p:nvSpPr>
        <p:spPr>
          <a:xfrm>
            <a:off x="7452512" y="623661"/>
            <a:ext cx="108012" cy="453370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0B1DA4D-10CF-10B3-AD8C-252ED7CAB12E}"/>
              </a:ext>
            </a:extLst>
          </p:cNvPr>
          <p:cNvSpPr/>
          <p:nvPr/>
        </p:nvSpPr>
        <p:spPr>
          <a:xfrm>
            <a:off x="7452512" y="1005439"/>
            <a:ext cx="108012" cy="1800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2F98AB7-67DD-1234-8706-AD685DCB54A5}"/>
              </a:ext>
            </a:extLst>
          </p:cNvPr>
          <p:cNvSpPr/>
          <p:nvPr/>
        </p:nvSpPr>
        <p:spPr>
          <a:xfrm>
            <a:off x="301563" y="727200"/>
            <a:ext cx="1218282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 변경 처리하기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2343F936-6DEC-A03E-7953-25450E886E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690799"/>
              </p:ext>
            </p:extLst>
          </p:nvPr>
        </p:nvGraphicFramePr>
        <p:xfrm>
          <a:off x="291232" y="1032484"/>
          <a:ext cx="7038032" cy="3605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5525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5622507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계약변경일 </a:t>
                      </a:r>
                      <a:r>
                        <a:rPr lang="en-US" altLang="ko-KR" sz="800" b="1" u="none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59613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변경계약 사유</a:t>
                      </a:r>
                      <a:r>
                        <a:rPr lang="ko-KR" altLang="en-US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‘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계약금액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’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변경   ○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‘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납기일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공사기간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’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변경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84125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기존 계약금액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99,000,000 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구천구백만원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 VAT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포함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55360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변경된 계약금액</a:t>
                      </a:r>
                      <a:r>
                        <a:rPr lang="ko-KR" altLang="en-US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                                                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구천이백만원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 VAT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포함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21536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기존 납기일</a:t>
                      </a:r>
                      <a:r>
                        <a:rPr lang="en-US" altLang="ko-KR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공사기간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-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2026.07.20 ~ 2027.07.30</a:t>
                      </a:r>
                      <a:endParaRPr lang="ko-KR" altLang="en-US" sz="800" b="0" spc="-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7932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변경된 납기일</a:t>
                      </a:r>
                      <a:r>
                        <a:rPr lang="en-US" altLang="ko-KR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공사기간</a:t>
                      </a:r>
                      <a:r>
                        <a:rPr lang="ko-KR" altLang="en-US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                                     ~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61659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변경내용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메모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4554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변경 계약서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이미 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삭제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5406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변경 시 참고서류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8821064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id="{DB53752A-D9DD-0E78-0698-92F931E34606}"/>
              </a:ext>
            </a:extLst>
          </p:cNvPr>
          <p:cNvSpPr/>
          <p:nvPr/>
        </p:nvSpPr>
        <p:spPr>
          <a:xfrm>
            <a:off x="1771116" y="2128472"/>
            <a:ext cx="1368152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숫자로 입력해주세요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437C017-8F22-DDAA-6519-D5DBB1DD39A7}"/>
              </a:ext>
            </a:extLst>
          </p:cNvPr>
          <p:cNvSpPr/>
          <p:nvPr/>
        </p:nvSpPr>
        <p:spPr>
          <a:xfrm>
            <a:off x="1771116" y="3130106"/>
            <a:ext cx="5340624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100</a:t>
            </a:r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 이내로 등록해주세요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E355FB7-3E6B-FAA0-EC36-4851759E9651}"/>
              </a:ext>
            </a:extLst>
          </p:cNvPr>
          <p:cNvSpPr/>
          <p:nvPr/>
        </p:nvSpPr>
        <p:spPr>
          <a:xfrm>
            <a:off x="1771116" y="3667067"/>
            <a:ext cx="2361869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파일을 첨부해주세요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98E0E37-289B-0C20-65C6-55100FE14E72}"/>
              </a:ext>
            </a:extLst>
          </p:cNvPr>
          <p:cNvSpPr/>
          <p:nvPr/>
        </p:nvSpPr>
        <p:spPr>
          <a:xfrm>
            <a:off x="4133652" y="3665314"/>
            <a:ext cx="692070" cy="211077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찾아보기</a:t>
            </a: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55FEE294-BD7B-C3B5-9B87-B0C943BE53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0966" y="3997519"/>
            <a:ext cx="5505201" cy="578401"/>
          </a:xfrm>
          <a:prstGeom prst="rect">
            <a:avLst/>
          </a:prstGeom>
        </p:spPr>
      </p:pic>
      <p:sp>
        <p:nvSpPr>
          <p:cNvPr id="41" name="직사각형 40">
            <a:extLst>
              <a:ext uri="{FF2B5EF4-FFF2-40B4-BE49-F238E27FC236}">
                <a16:creationId xmlns:a16="http://schemas.microsoft.com/office/drawing/2014/main" id="{6D236B9F-EBAD-12F2-9A72-B0C73EF0DBAF}"/>
              </a:ext>
            </a:extLst>
          </p:cNvPr>
          <p:cNvSpPr/>
          <p:nvPr/>
        </p:nvSpPr>
        <p:spPr>
          <a:xfrm>
            <a:off x="6668903" y="4725144"/>
            <a:ext cx="660361" cy="28803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취소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406A63F6-260B-C50A-E2CF-87F405735444}"/>
              </a:ext>
            </a:extLst>
          </p:cNvPr>
          <p:cNvSpPr/>
          <p:nvPr/>
        </p:nvSpPr>
        <p:spPr>
          <a:xfrm>
            <a:off x="1771872" y="2801052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시작일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D1E491B3-DE4E-048C-088C-80D3C5F0A432}"/>
              </a:ext>
            </a:extLst>
          </p:cNvPr>
          <p:cNvSpPr/>
          <p:nvPr/>
        </p:nvSpPr>
        <p:spPr>
          <a:xfrm>
            <a:off x="2582123" y="2801054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FA7606DD-F934-ECDC-527B-BC786D15A3AE}"/>
              </a:ext>
            </a:extLst>
          </p:cNvPr>
          <p:cNvSpPr/>
          <p:nvPr/>
        </p:nvSpPr>
        <p:spPr>
          <a:xfrm>
            <a:off x="2995378" y="2801052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종료일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9AAAC958-2341-62BF-C87F-522CBCC25185}"/>
              </a:ext>
            </a:extLst>
          </p:cNvPr>
          <p:cNvSpPr/>
          <p:nvPr/>
        </p:nvSpPr>
        <p:spPr>
          <a:xfrm>
            <a:off x="3805629" y="2801054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50EB46DE-3E43-C72D-1F09-C99DC8595A42}"/>
              </a:ext>
            </a:extLst>
          </p:cNvPr>
          <p:cNvSpPr/>
          <p:nvPr/>
        </p:nvSpPr>
        <p:spPr>
          <a:xfrm>
            <a:off x="1771872" y="1095406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날짜 선택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E07D3B24-E6F6-51F1-A76A-76C33EF48DAB}"/>
              </a:ext>
            </a:extLst>
          </p:cNvPr>
          <p:cNvSpPr/>
          <p:nvPr/>
        </p:nvSpPr>
        <p:spPr>
          <a:xfrm>
            <a:off x="2582123" y="1095408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CC5F70AE-AA75-780A-E133-56AE6E1FAD47}"/>
              </a:ext>
            </a:extLst>
          </p:cNvPr>
          <p:cNvSpPr/>
          <p:nvPr/>
        </p:nvSpPr>
        <p:spPr>
          <a:xfrm>
            <a:off x="224286" y="1290464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3" name="타원 82">
            <a:extLst>
              <a:ext uri="{FF2B5EF4-FFF2-40B4-BE49-F238E27FC236}">
                <a16:creationId xmlns:a16="http://schemas.microsoft.com/office/drawing/2014/main" id="{04CCA8F0-854C-42F3-E9AD-6953540075A1}"/>
              </a:ext>
            </a:extLst>
          </p:cNvPr>
          <p:cNvSpPr/>
          <p:nvPr/>
        </p:nvSpPr>
        <p:spPr>
          <a:xfrm>
            <a:off x="224286" y="1631574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4" name="타원 83">
            <a:extLst>
              <a:ext uri="{FF2B5EF4-FFF2-40B4-BE49-F238E27FC236}">
                <a16:creationId xmlns:a16="http://schemas.microsoft.com/office/drawing/2014/main" id="{4BAE8B75-3E79-0860-E262-12D62CF37E39}"/>
              </a:ext>
            </a:extLst>
          </p:cNvPr>
          <p:cNvSpPr/>
          <p:nvPr/>
        </p:nvSpPr>
        <p:spPr>
          <a:xfrm>
            <a:off x="224286" y="1959527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2’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5" name="타원 84">
            <a:extLst>
              <a:ext uri="{FF2B5EF4-FFF2-40B4-BE49-F238E27FC236}">
                <a16:creationId xmlns:a16="http://schemas.microsoft.com/office/drawing/2014/main" id="{202862D8-A4C1-104C-6CB0-3E93D519CF13}"/>
              </a:ext>
            </a:extLst>
          </p:cNvPr>
          <p:cNvSpPr/>
          <p:nvPr/>
        </p:nvSpPr>
        <p:spPr>
          <a:xfrm>
            <a:off x="224286" y="2293306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6" name="타원 85">
            <a:extLst>
              <a:ext uri="{FF2B5EF4-FFF2-40B4-BE49-F238E27FC236}">
                <a16:creationId xmlns:a16="http://schemas.microsoft.com/office/drawing/2014/main" id="{31DC629D-BC33-C7AD-9ADB-CF4A28CEC509}"/>
              </a:ext>
            </a:extLst>
          </p:cNvPr>
          <p:cNvSpPr/>
          <p:nvPr/>
        </p:nvSpPr>
        <p:spPr>
          <a:xfrm>
            <a:off x="224286" y="2621259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3’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803E70F-B906-3BDC-D675-ECBC7FBBABBC}"/>
              </a:ext>
            </a:extLst>
          </p:cNvPr>
          <p:cNvSpPr/>
          <p:nvPr/>
        </p:nvSpPr>
        <p:spPr>
          <a:xfrm>
            <a:off x="4300735" y="4725144"/>
            <a:ext cx="2299823" cy="2880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변경 계약 처리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(PMS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 계약정보 전송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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1C13F3F7-5EDD-5D98-5AD8-D2843F133103}"/>
              </a:ext>
            </a:extLst>
          </p:cNvPr>
          <p:cNvSpPr/>
          <p:nvPr/>
        </p:nvSpPr>
        <p:spPr>
          <a:xfrm>
            <a:off x="4184410" y="4655922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4D1B48C-49BB-90D5-E190-7605401919F2}"/>
              </a:ext>
            </a:extLst>
          </p:cNvPr>
          <p:cNvSpPr/>
          <p:nvPr/>
        </p:nvSpPr>
        <p:spPr>
          <a:xfrm>
            <a:off x="-8254" y="4841202"/>
            <a:ext cx="4158492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변경 계약 처리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(PMS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로 계약정보 전송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시 유의사항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FAD566C-1B16-B2D7-3355-5A1903F57924}"/>
              </a:ext>
            </a:extLst>
          </p:cNvPr>
          <p:cNvSpPr/>
          <p:nvPr/>
        </p:nvSpPr>
        <p:spPr>
          <a:xfrm>
            <a:off x="-8254" y="5114115"/>
            <a:ext cx="4158492" cy="185143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3AE6FD4-83EA-171B-4198-98F618B3649C}"/>
              </a:ext>
            </a:extLst>
          </p:cNvPr>
          <p:cNvSpPr/>
          <p:nvPr/>
        </p:nvSpPr>
        <p:spPr>
          <a:xfrm>
            <a:off x="3880238" y="4841202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DD6A6D8-C1BB-B7AB-E5BB-E888A3497B20}"/>
              </a:ext>
            </a:extLst>
          </p:cNvPr>
          <p:cNvSpPr/>
          <p:nvPr/>
        </p:nvSpPr>
        <p:spPr>
          <a:xfrm>
            <a:off x="99526" y="5527502"/>
            <a:ext cx="3907380" cy="879892"/>
          </a:xfrm>
          <a:prstGeom prst="rect">
            <a:avLst/>
          </a:prstGeom>
          <a:solidFill>
            <a:srgbClr val="FFFF00">
              <a:alpha val="20000"/>
            </a:srgb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108000" bIns="108000" rtlCol="0" anchor="ctr" anchorCtr="0"/>
          <a:lstStyle/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변경 계약 처리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(PMS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 계약정보 전송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 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PMS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 계약정보가 전송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업데이트됩니다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변경 계약 관련 서류를 다시 한 번 면밀히 확인하세요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변경 계약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(PMS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 계약정보 전송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처리하시겠습니까?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pic>
        <p:nvPicPr>
          <p:cNvPr id="29" name="Picture 8" descr="Announcement, hailer, loudspeaker, megaphone, speaker icon - Download on Iconfinder">
            <a:extLst>
              <a:ext uri="{FF2B5EF4-FFF2-40B4-BE49-F238E27FC236}">
                <a16:creationId xmlns:a16="http://schemas.microsoft.com/office/drawing/2014/main" id="{33A1CA4C-ED0F-ACAD-2694-0C5272159C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647" y="5682228"/>
            <a:ext cx="570440" cy="57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직사각형 31">
            <a:extLst>
              <a:ext uri="{FF2B5EF4-FFF2-40B4-BE49-F238E27FC236}">
                <a16:creationId xmlns:a16="http://schemas.microsoft.com/office/drawing/2014/main" id="{309D59C0-230F-9942-1A5E-16C153DAC71E}"/>
              </a:ext>
            </a:extLst>
          </p:cNvPr>
          <p:cNvSpPr/>
          <p:nvPr/>
        </p:nvSpPr>
        <p:spPr>
          <a:xfrm>
            <a:off x="3307488" y="6515869"/>
            <a:ext cx="699418" cy="2880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취소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985AFBB9-528B-4862-F5A8-848106AB0BE6}"/>
              </a:ext>
            </a:extLst>
          </p:cNvPr>
          <p:cNvSpPr/>
          <p:nvPr/>
        </p:nvSpPr>
        <p:spPr>
          <a:xfrm>
            <a:off x="122966" y="5210503"/>
            <a:ext cx="3106620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변경 계약 처리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(PMS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 계약정보 전송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 유의사항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A95590B8-58AD-4298-763D-24A7B5465C18}"/>
              </a:ext>
            </a:extLst>
          </p:cNvPr>
          <p:cNvSpPr/>
          <p:nvPr/>
        </p:nvSpPr>
        <p:spPr>
          <a:xfrm>
            <a:off x="1251632" y="6515869"/>
            <a:ext cx="2002727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변경 계약 처리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(PMS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로 계약정보 전송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en-US" altLang="ko-KR" sz="9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E16DC461-49FE-B767-89A8-0F03B0F3DB63}"/>
              </a:ext>
            </a:extLst>
          </p:cNvPr>
          <p:cNvSpPr/>
          <p:nvPr/>
        </p:nvSpPr>
        <p:spPr>
          <a:xfrm>
            <a:off x="1143619" y="6420830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4’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40" name="연결선: 꺾임 39">
            <a:extLst>
              <a:ext uri="{FF2B5EF4-FFF2-40B4-BE49-F238E27FC236}">
                <a16:creationId xmlns:a16="http://schemas.microsoft.com/office/drawing/2014/main" id="{F36ECEA1-F67E-1F8D-3318-E79861221E0B}"/>
              </a:ext>
            </a:extLst>
          </p:cNvPr>
          <p:cNvCxnSpPr>
            <a:cxnSpLocks/>
            <a:stCxn id="10" idx="2"/>
            <a:endCxn id="22" idx="3"/>
          </p:cNvCxnSpPr>
          <p:nvPr/>
        </p:nvCxnSpPr>
        <p:spPr>
          <a:xfrm rot="5400000">
            <a:off x="4287114" y="4876301"/>
            <a:ext cx="1026658" cy="1300409"/>
          </a:xfrm>
          <a:prstGeom prst="bentConnector2">
            <a:avLst/>
          </a:prstGeom>
          <a:ln>
            <a:solidFill>
              <a:srgbClr val="C00000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63557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F4653-B6AE-B5C3-8D76-F6A2DBF2C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1C5D1537-C3AB-9F73-8E05-2B64C1990F4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BB5DA48-12E2-6B8D-38C2-E6CDB196D3AA}"/>
              </a:ext>
            </a:extLst>
          </p:cNvPr>
          <p:cNvSpPr txBox="1"/>
          <p:nvPr/>
        </p:nvSpPr>
        <p:spPr>
          <a:xfrm>
            <a:off x="749224" y="25608"/>
            <a:ext cx="321594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 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현황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상세정보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&gt; 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 정보 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(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 변경 내역 상세보기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D7E619-60A6-4EF9-E9CF-E2A31929942B}"/>
              </a:ext>
            </a:extLst>
          </p:cNvPr>
          <p:cNvSpPr txBox="1"/>
          <p:nvPr/>
        </p:nvSpPr>
        <p:spPr>
          <a:xfrm>
            <a:off x="8049344" y="584684"/>
            <a:ext cx="1856656" cy="8710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변경 사유에 따라 아래의 입력 항목이 노출됨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‘계약금액’ 변경 시 노출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‘납기일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공사기간’ 변경 시 노출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2CA41E9-D8FC-BCB5-374A-CAE443A6D842}"/>
              </a:ext>
            </a:extLst>
          </p:cNvPr>
          <p:cNvSpPr/>
          <p:nvPr/>
        </p:nvSpPr>
        <p:spPr>
          <a:xfrm>
            <a:off x="164468" y="349908"/>
            <a:ext cx="7391699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계약 변경 내역 상세보기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05CF057-7383-F860-7F46-DA91B5E28C2B}"/>
              </a:ext>
            </a:extLst>
          </p:cNvPr>
          <p:cNvSpPr/>
          <p:nvPr/>
        </p:nvSpPr>
        <p:spPr>
          <a:xfrm>
            <a:off x="164469" y="622818"/>
            <a:ext cx="7391698" cy="401091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D6BC81B-B861-B5AC-6400-01A58AFA06EE}"/>
              </a:ext>
            </a:extLst>
          </p:cNvPr>
          <p:cNvSpPr/>
          <p:nvPr/>
        </p:nvSpPr>
        <p:spPr>
          <a:xfrm>
            <a:off x="7286167" y="349908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42D344B-0BA2-8B9C-BE78-5767CA58D8C3}"/>
              </a:ext>
            </a:extLst>
          </p:cNvPr>
          <p:cNvSpPr/>
          <p:nvPr/>
        </p:nvSpPr>
        <p:spPr>
          <a:xfrm>
            <a:off x="7452512" y="623662"/>
            <a:ext cx="108012" cy="401032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CAC1A29-6747-32CC-2875-ACD793383045}"/>
              </a:ext>
            </a:extLst>
          </p:cNvPr>
          <p:cNvSpPr/>
          <p:nvPr/>
        </p:nvSpPr>
        <p:spPr>
          <a:xfrm>
            <a:off x="7452512" y="1005439"/>
            <a:ext cx="108012" cy="1800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649E4D4-5905-CFC2-0B44-9990A604388B}"/>
              </a:ext>
            </a:extLst>
          </p:cNvPr>
          <p:cNvSpPr/>
          <p:nvPr/>
        </p:nvSpPr>
        <p:spPr>
          <a:xfrm>
            <a:off x="301563" y="727200"/>
            <a:ext cx="1524456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 변경 내역 상세보기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88B2BEF5-3AC6-F4D3-A579-BE89BC5A2C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1829316"/>
              </p:ext>
            </p:extLst>
          </p:nvPr>
        </p:nvGraphicFramePr>
        <p:xfrm>
          <a:off x="291232" y="1032484"/>
          <a:ext cx="7038032" cy="304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5525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5622507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계약변경일</a:t>
                      </a:r>
                      <a:endParaRPr lang="en-US" altLang="ko-KR" sz="800" b="1" u="none" dirty="0">
                        <a:solidFill>
                          <a:srgbClr val="C0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2026.09.01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59613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변경계약 사유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‘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계약금액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’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변경 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|  ‘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납기일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공사기간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’ 변경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84125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기존 계약금액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99,000,000 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구천구백만원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 VAT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포함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55360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변경된 계약금액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92,000,000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구천이백만원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 VAT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포함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21536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기존 납기일</a:t>
                      </a:r>
                      <a:r>
                        <a:rPr lang="en-US" altLang="ko-KR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공사기간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-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2026.07.20 ~ 2027.07.30</a:t>
                      </a:r>
                      <a:endParaRPr lang="ko-KR" altLang="en-US" sz="800" b="0" spc="-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7932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변경된 납기일/공사기간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-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2026.07.20 ~ 2027.08.30</a:t>
                      </a:r>
                      <a:endParaRPr lang="ko-KR" altLang="en-US" sz="800" b="0" spc="-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61659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변경내용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메모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품목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종이 제외되어 계약금액을 수정하여 변경계약 하였습니다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4554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변경 계약서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이미 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  <a:endParaRPr kumimoji="0" lang="en-US" altLang="ko-KR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5406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변경 시 참고서류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이미 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8821064"/>
                  </a:ext>
                </a:extLst>
              </a:tr>
            </a:tbl>
          </a:graphicData>
        </a:graphic>
      </p:graphicFrame>
      <p:sp>
        <p:nvSpPr>
          <p:cNvPr id="41" name="직사각형 40">
            <a:extLst>
              <a:ext uri="{FF2B5EF4-FFF2-40B4-BE49-F238E27FC236}">
                <a16:creationId xmlns:a16="http://schemas.microsoft.com/office/drawing/2014/main" id="{4259936D-2286-7A31-3ADE-DCAA41A3355A}"/>
              </a:ext>
            </a:extLst>
          </p:cNvPr>
          <p:cNvSpPr/>
          <p:nvPr/>
        </p:nvSpPr>
        <p:spPr>
          <a:xfrm>
            <a:off x="6668903" y="4185084"/>
            <a:ext cx="660361" cy="28803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닫기</a:t>
            </a: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1D4715FD-6717-9F83-7B2C-AA7517C647A3}"/>
              </a:ext>
            </a:extLst>
          </p:cNvPr>
          <p:cNvSpPr/>
          <p:nvPr/>
        </p:nvSpPr>
        <p:spPr>
          <a:xfrm>
            <a:off x="224286" y="1290464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8425A026-1704-9EE0-AE50-7F0A3A97E50A}"/>
              </a:ext>
            </a:extLst>
          </p:cNvPr>
          <p:cNvSpPr/>
          <p:nvPr/>
        </p:nvSpPr>
        <p:spPr>
          <a:xfrm>
            <a:off x="224286" y="1631574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8608F63C-32D6-AAAA-EA5F-EF7F42503468}"/>
              </a:ext>
            </a:extLst>
          </p:cNvPr>
          <p:cNvSpPr/>
          <p:nvPr/>
        </p:nvSpPr>
        <p:spPr>
          <a:xfrm>
            <a:off x="224286" y="1959527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2’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F0B86B23-BA00-5FC0-E7F6-6BA42DCA547D}"/>
              </a:ext>
            </a:extLst>
          </p:cNvPr>
          <p:cNvSpPr/>
          <p:nvPr/>
        </p:nvSpPr>
        <p:spPr>
          <a:xfrm>
            <a:off x="224286" y="2293306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C5098F29-20E4-62B3-7A65-905B1579275A}"/>
              </a:ext>
            </a:extLst>
          </p:cNvPr>
          <p:cNvSpPr/>
          <p:nvPr/>
        </p:nvSpPr>
        <p:spPr>
          <a:xfrm>
            <a:off x="224286" y="2621259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3’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7B116711-DC42-5751-FB52-EFEE2BBC3465}"/>
              </a:ext>
            </a:extLst>
          </p:cNvPr>
          <p:cNvGrpSpPr/>
          <p:nvPr/>
        </p:nvGrpSpPr>
        <p:grpSpPr>
          <a:xfrm>
            <a:off x="2945402" y="3461054"/>
            <a:ext cx="1275802" cy="198885"/>
            <a:chOff x="2576736" y="3905324"/>
            <a:chExt cx="1275802" cy="198885"/>
          </a:xfrm>
        </p:grpSpPr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B9B5530E-1DED-2C49-78DD-B1D1B7F2BD92}"/>
                </a:ext>
              </a:extLst>
            </p:cNvPr>
            <p:cNvSpPr/>
            <p:nvPr/>
          </p:nvSpPr>
          <p:spPr>
            <a:xfrm>
              <a:off x="2576736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FAA15A64-0403-1CE3-E0CD-8827A578CDE7}"/>
                </a:ext>
              </a:extLst>
            </p:cNvPr>
            <p:cNvSpPr/>
            <p:nvPr/>
          </p:nvSpPr>
          <p:spPr>
            <a:xfrm>
              <a:off x="3239573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1C0B0FFA-C31F-1E79-07FE-07071C202802}"/>
              </a:ext>
            </a:extLst>
          </p:cNvPr>
          <p:cNvGrpSpPr/>
          <p:nvPr/>
        </p:nvGrpSpPr>
        <p:grpSpPr>
          <a:xfrm>
            <a:off x="2945402" y="3801269"/>
            <a:ext cx="1275802" cy="198885"/>
            <a:chOff x="2576736" y="3905324"/>
            <a:chExt cx="1275802" cy="198885"/>
          </a:xfrm>
        </p:grpSpPr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543FF625-1CE7-F94E-9F9F-2088C3893FA6}"/>
                </a:ext>
              </a:extLst>
            </p:cNvPr>
            <p:cNvSpPr/>
            <p:nvPr/>
          </p:nvSpPr>
          <p:spPr>
            <a:xfrm>
              <a:off x="2576736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9118EDD4-72C5-BAC8-F39B-160ACAC3462F}"/>
                </a:ext>
              </a:extLst>
            </p:cNvPr>
            <p:cNvSpPr/>
            <p:nvPr/>
          </p:nvSpPr>
          <p:spPr>
            <a:xfrm>
              <a:off x="3239573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371984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0DEE6-DBBF-65B3-FEEF-31AAD4906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AA056E6F-9F65-4704-1C9F-D2EC120B716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FE6621-E08B-11A2-AAF3-0A32F1EA7276}"/>
              </a:ext>
            </a:extLst>
          </p:cNvPr>
          <p:cNvSpPr txBox="1"/>
          <p:nvPr/>
        </p:nvSpPr>
        <p:spPr>
          <a:xfrm>
            <a:off x="749224" y="25608"/>
            <a:ext cx="432362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현황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상세정보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 관련 서류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등록된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 관련 서류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조회 및 확정 처리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AD88324-FD52-F771-187B-F472CC1F9F47}"/>
              </a:ext>
            </a:extLst>
          </p:cNvPr>
          <p:cNvSpPr/>
          <p:nvPr/>
        </p:nvSpPr>
        <p:spPr>
          <a:xfrm>
            <a:off x="164468" y="403565"/>
            <a:ext cx="756617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현황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6A8E6607-E52B-ABE4-AB1F-7F470CC8C17B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8800261-E16F-C4E5-B598-2F6EF72D27CA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CF8423C-CDC7-3D09-A395-745F15150F0B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</a:t>
            </a:r>
            <a:endParaRPr lang="ko-KR" altLang="en-US" sz="800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E2DE4D0-D80D-310E-7C69-34E7B5F27820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kumimoji="1"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9E5E63C-C75B-E8C7-AFB2-FFFE8AC65D20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전자입찰시스템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22" name="Picture 1">
            <a:extLst>
              <a:ext uri="{FF2B5EF4-FFF2-40B4-BE49-F238E27FC236}">
                <a16:creationId xmlns:a16="http://schemas.microsoft.com/office/drawing/2014/main" id="{CAD0A377-54B3-4635-0763-85148BD1A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FF9F27A-CAFE-5C99-ECC2-163261EE11A2}"/>
              </a:ext>
            </a:extLst>
          </p:cNvPr>
          <p:cNvSpPr txBox="1"/>
          <p:nvPr/>
        </p:nvSpPr>
        <p:spPr>
          <a:xfrm>
            <a:off x="8049344" y="584684"/>
            <a:ext cx="1856656" cy="3970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현재 해당 건에 등록된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 관련 서류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현황을 보여줌</a:t>
            </a:r>
            <a:endParaRPr lang="en-US" altLang="ko-KR" sz="80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52AAF9C-6264-99B8-917D-DDCC1EC637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8544299"/>
              </p:ext>
            </p:extLst>
          </p:nvPr>
        </p:nvGraphicFramePr>
        <p:xfrm>
          <a:off x="164465" y="817960"/>
          <a:ext cx="7740858" cy="1351680"/>
        </p:xfrm>
        <a:graphic>
          <a:graphicData uri="http://schemas.openxmlformats.org/drawingml/2006/table">
            <a:tbl>
              <a:tblPr firstRow="1" bandRow="1"/>
              <a:tblGrid>
                <a:gridCol w="1083597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1230817">
                  <a:extLst>
                    <a:ext uri="{9D8B030D-6E8A-4147-A177-3AD203B41FA5}">
                      <a16:colId xmlns:a16="http://schemas.microsoft.com/office/drawing/2014/main" val="1731736782"/>
                    </a:ext>
                  </a:extLst>
                </a:gridCol>
                <a:gridCol w="699471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2252895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699471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794233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  <a:gridCol w="980374">
                  <a:extLst>
                    <a:ext uri="{9D8B030D-6E8A-4147-A177-3AD203B41FA5}">
                      <a16:colId xmlns:a16="http://schemas.microsoft.com/office/drawing/2014/main" val="186468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 번호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발주 구분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 구분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계약명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구분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계약방법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낙찰자 선정방법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CT_20260801_001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수주 기반 발주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본공고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서초동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1601-9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오피스텔 신축공사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중 도장공사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경쟁입찰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일반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제한적 최저가 입찰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 상대자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진행상태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계약금액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납기일</a:t>
                      </a:r>
                      <a:r>
                        <a:rPr lang="en-US" altLang="ko-KR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/</a:t>
                      </a: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공사기간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 체결일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사업담당자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계약담당자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91382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주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큐비트엑스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계약요청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서류제출 완료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48,507,800</a:t>
                      </a: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2026.08.01 ~ 2026.12.31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2026.07.31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홍길동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임꺽정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9146140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72343524-5635-3D17-FDD3-13C9DEB03AEE}"/>
              </a:ext>
            </a:extLst>
          </p:cNvPr>
          <p:cNvSpPr/>
          <p:nvPr/>
        </p:nvSpPr>
        <p:spPr>
          <a:xfrm>
            <a:off x="183392" y="2760676"/>
            <a:ext cx="7713520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 관련 서류</a:t>
            </a:r>
            <a:endParaRPr lang="ko-KR" altLang="en-US" sz="80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56" name="표 55">
            <a:extLst>
              <a:ext uri="{FF2B5EF4-FFF2-40B4-BE49-F238E27FC236}">
                <a16:creationId xmlns:a16="http://schemas.microsoft.com/office/drawing/2014/main" id="{E9D6FC7F-CC47-D02D-686F-31BC18C3619F}"/>
              </a:ext>
            </a:extLst>
          </p:cNvPr>
          <p:cNvGraphicFramePr>
            <a:graphicFrameLocks noGrp="1"/>
          </p:cNvGraphicFramePr>
          <p:nvPr/>
        </p:nvGraphicFramePr>
        <p:xfrm>
          <a:off x="183392" y="3061021"/>
          <a:ext cx="7713520" cy="2271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5525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297995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계약이행 보증보험 증권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계약이행 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보증금률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 10%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44108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선금이행 보증보험 증권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선금이행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보증금률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:  10%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06115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하자이행 보증보험 증권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발급 필요 없음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79843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계약서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 </a:t>
                      </a:r>
                      <a:r>
                        <a:rPr lang="ko-KR" altLang="en-US" sz="8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날인본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4554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기타서류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88210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계약서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날인본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800" b="1" dirty="0">
                        <a:solidFill>
                          <a:srgbClr val="C0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1284021"/>
                  </a:ext>
                </a:extLst>
              </a:tr>
            </a:tbl>
          </a:graphicData>
        </a:graphic>
      </p:graphicFrame>
      <p:grpSp>
        <p:nvGrpSpPr>
          <p:cNvPr id="7" name="그룹 6">
            <a:extLst>
              <a:ext uri="{FF2B5EF4-FFF2-40B4-BE49-F238E27FC236}">
                <a16:creationId xmlns:a16="http://schemas.microsoft.com/office/drawing/2014/main" id="{0AB3528E-4F0C-74E7-A15E-083286A85764}"/>
              </a:ext>
            </a:extLst>
          </p:cNvPr>
          <p:cNvGrpSpPr/>
          <p:nvPr/>
        </p:nvGrpSpPr>
        <p:grpSpPr>
          <a:xfrm>
            <a:off x="2625001" y="4138704"/>
            <a:ext cx="1275802" cy="198885"/>
            <a:chOff x="2576736" y="3905324"/>
            <a:chExt cx="1275802" cy="198885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2993B717-6CF4-1F2F-62F2-6D540987EF64}"/>
                </a:ext>
              </a:extLst>
            </p:cNvPr>
            <p:cNvSpPr/>
            <p:nvPr/>
          </p:nvSpPr>
          <p:spPr>
            <a:xfrm>
              <a:off x="2576736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61C8C6AD-DFBE-ECD6-5482-47C4A2C21465}"/>
                </a:ext>
              </a:extLst>
            </p:cNvPr>
            <p:cNvSpPr/>
            <p:nvPr/>
          </p:nvSpPr>
          <p:spPr>
            <a:xfrm>
              <a:off x="3239573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F87064C3-583A-7B9B-51BB-2E3929312A29}"/>
              </a:ext>
            </a:extLst>
          </p:cNvPr>
          <p:cNvGrpSpPr/>
          <p:nvPr/>
        </p:nvGrpSpPr>
        <p:grpSpPr>
          <a:xfrm>
            <a:off x="2633627" y="4478921"/>
            <a:ext cx="1275802" cy="198885"/>
            <a:chOff x="2576736" y="3905324"/>
            <a:chExt cx="1275802" cy="198885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DBBD004-61D1-910E-BEF9-BB382A1505C4}"/>
                </a:ext>
              </a:extLst>
            </p:cNvPr>
            <p:cNvSpPr/>
            <p:nvPr/>
          </p:nvSpPr>
          <p:spPr>
            <a:xfrm>
              <a:off x="2576736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8441CDDE-E6F6-39DF-E550-C90FCBE906E6}"/>
                </a:ext>
              </a:extLst>
            </p:cNvPr>
            <p:cNvSpPr/>
            <p:nvPr/>
          </p:nvSpPr>
          <p:spPr>
            <a:xfrm>
              <a:off x="3239573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DE8F7C1B-09AA-72E6-B814-BBF41BBCF3C5}"/>
              </a:ext>
            </a:extLst>
          </p:cNvPr>
          <p:cNvGrpSpPr/>
          <p:nvPr/>
        </p:nvGrpSpPr>
        <p:grpSpPr>
          <a:xfrm>
            <a:off x="2633627" y="4737989"/>
            <a:ext cx="1275802" cy="198885"/>
            <a:chOff x="2576736" y="3905324"/>
            <a:chExt cx="1275802" cy="198885"/>
          </a:xfrm>
        </p:grpSpPr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D2A44BF4-324B-2752-BB20-F8889357D8F2}"/>
                </a:ext>
              </a:extLst>
            </p:cNvPr>
            <p:cNvSpPr/>
            <p:nvPr/>
          </p:nvSpPr>
          <p:spPr>
            <a:xfrm>
              <a:off x="2576736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1B88B125-8A5F-1274-074C-BDDAE8DC6D2B}"/>
                </a:ext>
              </a:extLst>
            </p:cNvPr>
            <p:cNvSpPr/>
            <p:nvPr/>
          </p:nvSpPr>
          <p:spPr>
            <a:xfrm>
              <a:off x="3239573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1E590247-7C57-D11B-879F-61914564D9C5}"/>
              </a:ext>
            </a:extLst>
          </p:cNvPr>
          <p:cNvGrpSpPr/>
          <p:nvPr/>
        </p:nvGrpSpPr>
        <p:grpSpPr>
          <a:xfrm>
            <a:off x="2633627" y="5069468"/>
            <a:ext cx="1275802" cy="198885"/>
            <a:chOff x="2576736" y="3905324"/>
            <a:chExt cx="1275802" cy="198885"/>
          </a:xfrm>
        </p:grpSpPr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F3C95302-AC94-D89E-EC0B-3556BBC00657}"/>
                </a:ext>
              </a:extLst>
            </p:cNvPr>
            <p:cNvSpPr/>
            <p:nvPr/>
          </p:nvSpPr>
          <p:spPr>
            <a:xfrm>
              <a:off x="2576736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C713A141-9AF1-98BB-EA81-63ACDCF0BF91}"/>
                </a:ext>
              </a:extLst>
            </p:cNvPr>
            <p:cNvSpPr/>
            <p:nvPr/>
          </p:nvSpPr>
          <p:spPr>
            <a:xfrm>
              <a:off x="3239573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65BE92D0-00A6-5E1B-24DC-411BA1CFA3F0}"/>
              </a:ext>
            </a:extLst>
          </p:cNvPr>
          <p:cNvSpPr/>
          <p:nvPr/>
        </p:nvSpPr>
        <p:spPr>
          <a:xfrm>
            <a:off x="0" y="6687748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B7861D41-0202-8466-103E-C58EC58850BD}"/>
              </a:ext>
            </a:extLst>
          </p:cNvPr>
          <p:cNvSpPr/>
          <p:nvPr/>
        </p:nvSpPr>
        <p:spPr>
          <a:xfrm>
            <a:off x="183392" y="5478671"/>
            <a:ext cx="7713520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 관련 서류</a:t>
            </a:r>
            <a:endParaRPr lang="ko-KR" altLang="en-US" sz="90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59" name="표 58">
            <a:extLst>
              <a:ext uri="{FF2B5EF4-FFF2-40B4-BE49-F238E27FC236}">
                <a16:creationId xmlns:a16="http://schemas.microsoft.com/office/drawing/2014/main" id="{C7967444-5AFE-E8BE-BD30-DC03BAA8F1FE}"/>
              </a:ext>
            </a:extLst>
          </p:cNvPr>
          <p:cNvGraphicFramePr>
            <a:graphicFrameLocks noGrp="1"/>
          </p:cNvGraphicFramePr>
          <p:nvPr/>
        </p:nvGraphicFramePr>
        <p:xfrm>
          <a:off x="183392" y="5761981"/>
          <a:ext cx="7713520" cy="67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5525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297995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계약이행 보증보험 증권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                                                    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□ 확정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수정 불가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12840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선금이행 보증보험 증권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                                                    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□ 확정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수정 불가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5160960"/>
                  </a:ext>
                </a:extLst>
              </a:tr>
            </a:tbl>
          </a:graphicData>
        </a:graphic>
      </p:graphicFrame>
      <p:grpSp>
        <p:nvGrpSpPr>
          <p:cNvPr id="60" name="그룹 59">
            <a:extLst>
              <a:ext uri="{FF2B5EF4-FFF2-40B4-BE49-F238E27FC236}">
                <a16:creationId xmlns:a16="http://schemas.microsoft.com/office/drawing/2014/main" id="{581F3FC5-4876-87E6-934E-A66321D885B5}"/>
              </a:ext>
            </a:extLst>
          </p:cNvPr>
          <p:cNvGrpSpPr/>
          <p:nvPr/>
        </p:nvGrpSpPr>
        <p:grpSpPr>
          <a:xfrm>
            <a:off x="2633627" y="5836714"/>
            <a:ext cx="1275802" cy="198885"/>
            <a:chOff x="2576736" y="3905324"/>
            <a:chExt cx="1275802" cy="198885"/>
          </a:xfrm>
        </p:grpSpPr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39CBE648-E386-5E94-CCE8-FB06167065B6}"/>
                </a:ext>
              </a:extLst>
            </p:cNvPr>
            <p:cNvSpPr/>
            <p:nvPr/>
          </p:nvSpPr>
          <p:spPr>
            <a:xfrm>
              <a:off x="2576736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EB15BAA2-3589-2AC9-5571-68D667A7A744}"/>
                </a:ext>
              </a:extLst>
            </p:cNvPr>
            <p:cNvSpPr/>
            <p:nvPr/>
          </p:nvSpPr>
          <p:spPr>
            <a:xfrm>
              <a:off x="3239573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4E2E2F68-7C50-A509-7C21-7C4D4861BD36}"/>
              </a:ext>
            </a:extLst>
          </p:cNvPr>
          <p:cNvGrpSpPr/>
          <p:nvPr/>
        </p:nvGrpSpPr>
        <p:grpSpPr>
          <a:xfrm>
            <a:off x="2633627" y="6165964"/>
            <a:ext cx="1275802" cy="198885"/>
            <a:chOff x="2576736" y="3905324"/>
            <a:chExt cx="1275802" cy="198885"/>
          </a:xfrm>
        </p:grpSpPr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87B49F4C-D825-6FBE-A609-3A00646CD126}"/>
                </a:ext>
              </a:extLst>
            </p:cNvPr>
            <p:cNvSpPr/>
            <p:nvPr/>
          </p:nvSpPr>
          <p:spPr>
            <a:xfrm>
              <a:off x="2576736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923F1186-8BA8-DFCD-E2FB-A15BA78FA02E}"/>
                </a:ext>
              </a:extLst>
            </p:cNvPr>
            <p:cNvSpPr/>
            <p:nvPr/>
          </p:nvSpPr>
          <p:spPr>
            <a:xfrm>
              <a:off x="3239573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D75CB5B4-9C0A-C17A-C676-6207ACED26E2}"/>
              </a:ext>
            </a:extLst>
          </p:cNvPr>
          <p:cNvSpPr/>
          <p:nvPr/>
        </p:nvSpPr>
        <p:spPr>
          <a:xfrm>
            <a:off x="164467" y="7209420"/>
            <a:ext cx="699418" cy="2880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목록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5D028CD2-C342-A89D-53FA-7BFF679BE4DD}"/>
              </a:ext>
            </a:extLst>
          </p:cNvPr>
          <p:cNvSpPr/>
          <p:nvPr/>
        </p:nvSpPr>
        <p:spPr>
          <a:xfrm>
            <a:off x="4912198" y="7209420"/>
            <a:ext cx="2257334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계약 완료 처리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(PMS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로 계약정보 전송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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604111AA-8CD9-2C6A-7080-3C6DB1BBB9A9}"/>
              </a:ext>
            </a:extLst>
          </p:cNvPr>
          <p:cNvSpPr/>
          <p:nvPr/>
        </p:nvSpPr>
        <p:spPr>
          <a:xfrm>
            <a:off x="7249114" y="7209420"/>
            <a:ext cx="647095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>
                <a:latin typeface="나눔고딕" panose="020D0604000000000000" pitchFamily="50" charset="-127"/>
                <a:ea typeface="나눔고딕" panose="020D0604000000000000" pitchFamily="50" charset="-127"/>
              </a:rPr>
              <a:t>수정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0" name="타원 89">
            <a:extLst>
              <a:ext uri="{FF2B5EF4-FFF2-40B4-BE49-F238E27FC236}">
                <a16:creationId xmlns:a16="http://schemas.microsoft.com/office/drawing/2014/main" id="{34581526-3543-3946-7E99-9AD096C336A1}"/>
              </a:ext>
            </a:extLst>
          </p:cNvPr>
          <p:cNvSpPr/>
          <p:nvPr/>
        </p:nvSpPr>
        <p:spPr>
          <a:xfrm>
            <a:off x="4788855" y="7109394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77544B3-DD65-9EF5-ABA2-1C5057A7340F}"/>
              </a:ext>
            </a:extLst>
          </p:cNvPr>
          <p:cNvSpPr/>
          <p:nvPr/>
        </p:nvSpPr>
        <p:spPr>
          <a:xfrm>
            <a:off x="-1690381" y="1098521"/>
            <a:ext cx="1467136" cy="34105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현황</a:t>
            </a:r>
            <a:endParaRPr lang="en-US" altLang="ko-KR" sz="800" u="sng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B74F68F8-061B-EA80-0B51-334C258553AB}"/>
              </a:ext>
            </a:extLst>
          </p:cNvPr>
          <p:cNvCxnSpPr>
            <a:cxnSpLocks/>
          </p:cNvCxnSpPr>
          <p:nvPr/>
        </p:nvCxnSpPr>
        <p:spPr>
          <a:xfrm>
            <a:off x="167468" y="2611278"/>
            <a:ext cx="7737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E858C15-7E88-3267-14FF-24A6686E74B7}"/>
              </a:ext>
            </a:extLst>
          </p:cNvPr>
          <p:cNvSpPr/>
          <p:nvPr/>
        </p:nvSpPr>
        <p:spPr>
          <a:xfrm>
            <a:off x="163502" y="2315163"/>
            <a:ext cx="1125796" cy="29999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 정보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C0BF24F-B1DE-8551-2663-684F249E0FFD}"/>
              </a:ext>
            </a:extLst>
          </p:cNvPr>
          <p:cNvSpPr/>
          <p:nvPr/>
        </p:nvSpPr>
        <p:spPr>
          <a:xfrm>
            <a:off x="2406249" y="2322711"/>
            <a:ext cx="1125796" cy="29244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 정보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47E84F7-EC07-8921-C2EB-143D901F2DD7}"/>
              </a:ext>
            </a:extLst>
          </p:cNvPr>
          <p:cNvSpPr/>
          <p:nvPr/>
        </p:nvSpPr>
        <p:spPr>
          <a:xfrm>
            <a:off x="3525142" y="2321393"/>
            <a:ext cx="1125796" cy="29376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 정보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7578C06D-C920-3C1B-9560-AAED6BE26EB0}"/>
              </a:ext>
            </a:extLst>
          </p:cNvPr>
          <p:cNvSpPr/>
          <p:nvPr/>
        </p:nvSpPr>
        <p:spPr>
          <a:xfrm>
            <a:off x="1283257" y="2260692"/>
            <a:ext cx="1125796" cy="354461"/>
          </a:xfrm>
          <a:prstGeom prst="rect">
            <a:avLst/>
          </a:prstGeom>
          <a:solidFill>
            <a:srgbClr val="00B05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 관련 서류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DC154205-E391-B754-CEDF-1E377F271402}"/>
              </a:ext>
            </a:extLst>
          </p:cNvPr>
          <p:cNvSpPr/>
          <p:nvPr/>
        </p:nvSpPr>
        <p:spPr>
          <a:xfrm>
            <a:off x="4649137" y="2322711"/>
            <a:ext cx="1125796" cy="29244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입찰계획 정보</a:t>
            </a:r>
          </a:p>
        </p:txBody>
      </p:sp>
    </p:spTree>
    <p:extLst>
      <p:ext uri="{BB962C8B-B14F-4D97-AF65-F5344CB8AC3E}">
        <p14:creationId xmlns:p14="http://schemas.microsoft.com/office/powerpoint/2010/main" val="23734998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3E7BE-B1DD-16AC-7257-BE99C3619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A281C90E-ACE7-EC28-6939-3DED7123616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6248401-8805-06A6-759A-C99FD92EBC69}"/>
              </a:ext>
            </a:extLst>
          </p:cNvPr>
          <p:cNvSpPr txBox="1"/>
          <p:nvPr/>
        </p:nvSpPr>
        <p:spPr>
          <a:xfrm>
            <a:off x="749224" y="25608"/>
            <a:ext cx="432362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현황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상세정보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 관련 서류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등록된 ‘계약 관련 서류’ 조회 및 확정 처리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89E408-53C4-EB41-EF62-6A1B6AB1F8E4}"/>
              </a:ext>
            </a:extLst>
          </p:cNvPr>
          <p:cNvSpPr txBox="1"/>
          <p:nvPr/>
        </p:nvSpPr>
        <p:spPr>
          <a:xfrm>
            <a:off x="8049344" y="584684"/>
            <a:ext cx="1856656" cy="383489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rgbClr val="C00000"/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rgbClr val="C00000"/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확정 처리</a:t>
            </a:r>
            <a:r>
              <a:rPr lang="en-US" altLang="ko-KR" sz="800" dirty="0">
                <a:solidFill>
                  <a:srgbClr val="C00000"/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rgbClr val="C00000"/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계약정보로 전송</a:t>
            </a:r>
            <a:r>
              <a:rPr lang="en-US" altLang="ko-KR" sz="800" dirty="0">
                <a:solidFill>
                  <a:srgbClr val="C00000"/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)’ </a:t>
            </a:r>
            <a:r>
              <a:rPr lang="ko-KR" altLang="en-US" sz="800" dirty="0">
                <a:solidFill>
                  <a:srgbClr val="C00000"/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클릭 시 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계약정보와 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PMS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의 계약정보에 업데이트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덮어쓰기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함</a:t>
            </a:r>
            <a:b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진행상태를 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계약완료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 변경</a:t>
            </a:r>
            <a:b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확정된 항목은 협력업체가 더 이상 수정할 수 없음</a:t>
            </a:r>
            <a:b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u="sng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u="sng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확정</a:t>
            </a:r>
            <a:r>
              <a:rPr lang="en-US" altLang="ko-KR" sz="800" u="sng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u="sng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수정 불가</a:t>
            </a:r>
            <a:r>
              <a:rPr lang="en-US" altLang="ko-KR" sz="800" u="sng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)’</a:t>
            </a:r>
            <a:r>
              <a:rPr lang="ko-KR" altLang="en-US" sz="800" u="sng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의 체크를 제거하고 </a:t>
            </a:r>
            <a:r>
              <a:rPr lang="en-US" altLang="ko-KR" sz="800" u="sng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u="sng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확정 처리</a:t>
            </a:r>
            <a:r>
              <a:rPr lang="en-US" altLang="ko-KR" sz="800" u="sng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u="sng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계약정보로 전송</a:t>
            </a:r>
            <a:r>
              <a:rPr lang="en-US" altLang="ko-KR" sz="800" u="sng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)’ </a:t>
            </a:r>
            <a:r>
              <a:rPr lang="ko-KR" altLang="en-US" sz="800" u="sng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클릭 시 협력업체는 다시 파일을 등록할 수 있음</a:t>
            </a:r>
            <a:b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rgbClr val="C00000"/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이 기능이 있는 이유는 협력업체가 등록해야 하는 파일</a:t>
            </a:r>
            <a:r>
              <a:rPr lang="en-US" altLang="ko-KR" sz="800" dirty="0">
                <a:solidFill>
                  <a:srgbClr val="C00000"/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rgbClr val="C00000"/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계약이행</a:t>
            </a:r>
            <a:r>
              <a:rPr lang="en-US" altLang="ko-KR" sz="800" dirty="0">
                <a:solidFill>
                  <a:srgbClr val="C00000"/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rgbClr val="C00000"/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선금이행</a:t>
            </a:r>
            <a:r>
              <a:rPr lang="en-US" altLang="ko-KR" sz="800" dirty="0">
                <a:solidFill>
                  <a:srgbClr val="C00000"/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rgbClr val="C00000"/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하자이행 보증보험 증권</a:t>
            </a:r>
            <a:r>
              <a:rPr lang="en-US" altLang="ko-KR" sz="800" dirty="0">
                <a:solidFill>
                  <a:srgbClr val="C00000"/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dirty="0">
                <a:solidFill>
                  <a:srgbClr val="C00000"/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이 한 번에 등록되지 않고 사업기간 중에 순차적으로 등록되기 때문임</a:t>
            </a:r>
            <a:br>
              <a:rPr lang="en-US" altLang="ko-KR" sz="800" dirty="0">
                <a:solidFill>
                  <a:srgbClr val="C00000"/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endParaRPr lang="en-US" altLang="ko-KR" sz="800" dirty="0">
              <a:solidFill>
                <a:srgbClr val="C00000"/>
              </a:solidFill>
              <a:highlight>
                <a:srgbClr val="FFFF00"/>
              </a:highlight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관리자는 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등록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수정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 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기능을 통해 계약 관련 서류를 상시 등록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수정할 수 있음</a:t>
            </a:r>
            <a:endParaRPr lang="en-US" altLang="ko-KR" sz="80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58F2E13A-AD44-2FAF-80C9-D7D459D4BB81}"/>
              </a:ext>
            </a:extLst>
          </p:cNvPr>
          <p:cNvGraphicFramePr>
            <a:graphicFrameLocks noGrp="1"/>
          </p:cNvGraphicFramePr>
          <p:nvPr/>
        </p:nvGraphicFramePr>
        <p:xfrm>
          <a:off x="183392" y="381438"/>
          <a:ext cx="7713520" cy="67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5525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297995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하자이행 보증보험 증권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                                                    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□ 확정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수정 불가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46956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계약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 참고서류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                                                    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□ 확정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수정 불가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0763532"/>
                  </a:ext>
                </a:extLst>
              </a:tr>
            </a:tbl>
          </a:graphicData>
        </a:graphic>
      </p:graphicFrame>
      <p:grpSp>
        <p:nvGrpSpPr>
          <p:cNvPr id="53" name="그룹 52">
            <a:extLst>
              <a:ext uri="{FF2B5EF4-FFF2-40B4-BE49-F238E27FC236}">
                <a16:creationId xmlns:a16="http://schemas.microsoft.com/office/drawing/2014/main" id="{EDE736E0-F215-1619-9705-E917C0F0BBD1}"/>
              </a:ext>
            </a:extLst>
          </p:cNvPr>
          <p:cNvGrpSpPr/>
          <p:nvPr/>
        </p:nvGrpSpPr>
        <p:grpSpPr>
          <a:xfrm>
            <a:off x="2633627" y="445352"/>
            <a:ext cx="1275802" cy="198885"/>
            <a:chOff x="2576736" y="3905324"/>
            <a:chExt cx="1275802" cy="198885"/>
          </a:xfrm>
        </p:grpSpPr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8D6387CE-E073-DCB8-7B97-70305B71E36A}"/>
                </a:ext>
              </a:extLst>
            </p:cNvPr>
            <p:cNvSpPr/>
            <p:nvPr/>
          </p:nvSpPr>
          <p:spPr>
            <a:xfrm>
              <a:off x="2576736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F6EF20CF-166E-8D5B-A843-659644AB4F2F}"/>
                </a:ext>
              </a:extLst>
            </p:cNvPr>
            <p:cNvSpPr/>
            <p:nvPr/>
          </p:nvSpPr>
          <p:spPr>
            <a:xfrm>
              <a:off x="3239573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3559EE20-6B11-6530-106C-16DB7324F291}"/>
              </a:ext>
            </a:extLst>
          </p:cNvPr>
          <p:cNvSpPr/>
          <p:nvPr/>
        </p:nvSpPr>
        <p:spPr>
          <a:xfrm>
            <a:off x="164467" y="1144136"/>
            <a:ext cx="699418" cy="2880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목록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6595156F-991E-C03A-21B6-D4E5A0BEE848}"/>
              </a:ext>
            </a:extLst>
          </p:cNvPr>
          <p:cNvSpPr/>
          <p:nvPr/>
        </p:nvSpPr>
        <p:spPr>
          <a:xfrm>
            <a:off x="5503670" y="1144136"/>
            <a:ext cx="1683114" cy="2880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확정 처리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계약정보로 전송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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63F6676E-31B2-B0AB-D141-064FDE024225}"/>
              </a:ext>
            </a:extLst>
          </p:cNvPr>
          <p:cNvSpPr/>
          <p:nvPr/>
        </p:nvSpPr>
        <p:spPr>
          <a:xfrm>
            <a:off x="0" y="6687748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86" name="연결선: 꺾임 85">
            <a:extLst>
              <a:ext uri="{FF2B5EF4-FFF2-40B4-BE49-F238E27FC236}">
                <a16:creationId xmlns:a16="http://schemas.microsoft.com/office/drawing/2014/main" id="{5D554EB4-04E7-6B77-DFEA-A164F2FD2CDD}"/>
              </a:ext>
            </a:extLst>
          </p:cNvPr>
          <p:cNvCxnSpPr>
            <a:cxnSpLocks/>
            <a:stCxn id="64" idx="2"/>
            <a:endCxn id="54" idx="0"/>
          </p:cNvCxnSpPr>
          <p:nvPr/>
        </p:nvCxnSpPr>
        <p:spPr>
          <a:xfrm rot="5400000">
            <a:off x="5969897" y="1276444"/>
            <a:ext cx="219607" cy="531054"/>
          </a:xfrm>
          <a:prstGeom prst="bentConnector3">
            <a:avLst>
              <a:gd name="adj1" fmla="val 50000"/>
            </a:avLst>
          </a:prstGeom>
          <a:ln>
            <a:solidFill>
              <a:srgbClr val="C00000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39231240-919D-CB18-FEED-2290A74B9F1B}"/>
              </a:ext>
            </a:extLst>
          </p:cNvPr>
          <p:cNvSpPr/>
          <p:nvPr/>
        </p:nvSpPr>
        <p:spPr>
          <a:xfrm>
            <a:off x="7249114" y="1144136"/>
            <a:ext cx="647095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등록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수정</a:t>
            </a:r>
          </a:p>
        </p:txBody>
      </p:sp>
      <p:sp>
        <p:nvSpPr>
          <p:cNvPr id="103" name="타원 102">
            <a:extLst>
              <a:ext uri="{FF2B5EF4-FFF2-40B4-BE49-F238E27FC236}">
                <a16:creationId xmlns:a16="http://schemas.microsoft.com/office/drawing/2014/main" id="{057FEB3C-6D16-5CFE-6DE5-64A69E30765D}"/>
              </a:ext>
            </a:extLst>
          </p:cNvPr>
          <p:cNvSpPr/>
          <p:nvPr/>
        </p:nvSpPr>
        <p:spPr>
          <a:xfrm>
            <a:off x="5311902" y="1044110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B1157CD8-7804-4FEB-C14A-10C1871B8917}"/>
              </a:ext>
            </a:extLst>
          </p:cNvPr>
          <p:cNvGrpSpPr/>
          <p:nvPr/>
        </p:nvGrpSpPr>
        <p:grpSpPr>
          <a:xfrm>
            <a:off x="2633627" y="784274"/>
            <a:ext cx="1275802" cy="198885"/>
            <a:chOff x="2576736" y="3905324"/>
            <a:chExt cx="1275802" cy="198885"/>
          </a:xfrm>
        </p:grpSpPr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79630C3E-F183-5FAC-DEE2-E45D07C5A25D}"/>
                </a:ext>
              </a:extLst>
            </p:cNvPr>
            <p:cNvSpPr/>
            <p:nvPr/>
          </p:nvSpPr>
          <p:spPr>
            <a:xfrm>
              <a:off x="2576736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45198A68-331E-1238-17BF-108DEAB0709C}"/>
                </a:ext>
              </a:extLst>
            </p:cNvPr>
            <p:cNvSpPr/>
            <p:nvPr/>
          </p:nvSpPr>
          <p:spPr>
            <a:xfrm>
              <a:off x="3239573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960BED1-6BA7-3C78-5DEA-8CE59E246218}"/>
              </a:ext>
            </a:extLst>
          </p:cNvPr>
          <p:cNvSpPr/>
          <p:nvPr/>
        </p:nvSpPr>
        <p:spPr>
          <a:xfrm>
            <a:off x="3734927" y="1651775"/>
            <a:ext cx="4158492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확정 처리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계약정보로 전송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 유의사항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77506A26-4B58-F9DC-E49B-518603471083}"/>
              </a:ext>
            </a:extLst>
          </p:cNvPr>
          <p:cNvSpPr/>
          <p:nvPr/>
        </p:nvSpPr>
        <p:spPr>
          <a:xfrm>
            <a:off x="3734927" y="1924688"/>
            <a:ext cx="4158492" cy="185143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20EF4739-FB05-A638-7432-A32C7BAD3AAE}"/>
              </a:ext>
            </a:extLst>
          </p:cNvPr>
          <p:cNvSpPr/>
          <p:nvPr/>
        </p:nvSpPr>
        <p:spPr>
          <a:xfrm>
            <a:off x="7623419" y="1651775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C8D01A38-CA10-A60F-99A0-5AABE66A99DB}"/>
              </a:ext>
            </a:extLst>
          </p:cNvPr>
          <p:cNvSpPr/>
          <p:nvPr/>
        </p:nvSpPr>
        <p:spPr>
          <a:xfrm>
            <a:off x="3842707" y="2338075"/>
            <a:ext cx="3907380" cy="879892"/>
          </a:xfrm>
          <a:prstGeom prst="rect">
            <a:avLst/>
          </a:prstGeom>
          <a:solidFill>
            <a:srgbClr val="FFFF00">
              <a:alpha val="20000"/>
            </a:srgb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108000" bIns="108000" rtlCol="0" anchor="ctr" anchorCtr="0"/>
          <a:lstStyle/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‘확정(수정 불가)’으로 처리된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내역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파일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을 계약정보에 업데이트합니다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b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확정된 항목은 협력업체가 더 이상 수정할 수 없습니다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확정 처리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계약정보로 전송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)하시겠습니까?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pic>
        <p:nvPicPr>
          <p:cNvPr id="69" name="Picture 8" descr="Announcement, hailer, loudspeaker, megaphone, speaker icon - Download on Iconfinder">
            <a:extLst>
              <a:ext uri="{FF2B5EF4-FFF2-40B4-BE49-F238E27FC236}">
                <a16:creationId xmlns:a16="http://schemas.microsoft.com/office/drawing/2014/main" id="{7EB78740-F387-929F-7DB4-F142017414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8828" y="2492801"/>
            <a:ext cx="570440" cy="57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" name="직사각형 72">
            <a:extLst>
              <a:ext uri="{FF2B5EF4-FFF2-40B4-BE49-F238E27FC236}">
                <a16:creationId xmlns:a16="http://schemas.microsoft.com/office/drawing/2014/main" id="{D1E10766-49EF-E3CA-3CD9-0FE702C82AD3}"/>
              </a:ext>
            </a:extLst>
          </p:cNvPr>
          <p:cNvSpPr/>
          <p:nvPr/>
        </p:nvSpPr>
        <p:spPr>
          <a:xfrm>
            <a:off x="7050669" y="3326442"/>
            <a:ext cx="699418" cy="2880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취소</a:t>
            </a: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0B2845C3-C0A0-24FC-C2A4-30EB62FD21C2}"/>
              </a:ext>
            </a:extLst>
          </p:cNvPr>
          <p:cNvSpPr/>
          <p:nvPr/>
        </p:nvSpPr>
        <p:spPr>
          <a:xfrm>
            <a:off x="3866147" y="2021076"/>
            <a:ext cx="2465419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확정 처리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계약정보로 전송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 유의사항</a:t>
            </a: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F3C881BA-5690-595B-A6AC-C9EBEDFEE18E}"/>
              </a:ext>
            </a:extLst>
          </p:cNvPr>
          <p:cNvSpPr/>
          <p:nvPr/>
        </p:nvSpPr>
        <p:spPr>
          <a:xfrm>
            <a:off x="5391111" y="3326442"/>
            <a:ext cx="1606429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확정 처리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계약정보로 전송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87" name="타원 86">
            <a:extLst>
              <a:ext uri="{FF2B5EF4-FFF2-40B4-BE49-F238E27FC236}">
                <a16:creationId xmlns:a16="http://schemas.microsoft.com/office/drawing/2014/main" id="{238422DB-D1DC-5576-B109-A9E7474133F5}"/>
              </a:ext>
            </a:extLst>
          </p:cNvPr>
          <p:cNvSpPr/>
          <p:nvPr/>
        </p:nvSpPr>
        <p:spPr>
          <a:xfrm>
            <a:off x="5283098" y="3218430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1’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8" name="타원 87">
            <a:extLst>
              <a:ext uri="{FF2B5EF4-FFF2-40B4-BE49-F238E27FC236}">
                <a16:creationId xmlns:a16="http://schemas.microsoft.com/office/drawing/2014/main" id="{7307E88E-2486-79F0-871C-95721C21D851}"/>
              </a:ext>
            </a:extLst>
          </p:cNvPr>
          <p:cNvSpPr/>
          <p:nvPr/>
        </p:nvSpPr>
        <p:spPr>
          <a:xfrm>
            <a:off x="7146731" y="1044110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095418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64277-26DA-2075-53B1-714F881D9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3E13A3F-2314-9490-5268-B53F339C05E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CEA32A-B3C7-DD33-DAC1-24494F7D098E}"/>
              </a:ext>
            </a:extLst>
          </p:cNvPr>
          <p:cNvSpPr txBox="1"/>
          <p:nvPr/>
        </p:nvSpPr>
        <p:spPr>
          <a:xfrm>
            <a:off x="749224" y="25608"/>
            <a:ext cx="318869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현황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상세정보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 관련 서류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서류 등록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수정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63D9E25-442B-BF90-5376-5A9CD6982246}"/>
              </a:ext>
            </a:extLst>
          </p:cNvPr>
          <p:cNvSpPr/>
          <p:nvPr/>
        </p:nvSpPr>
        <p:spPr>
          <a:xfrm>
            <a:off x="164468" y="403565"/>
            <a:ext cx="756617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현황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B8E5CA3F-F0D3-DBA6-DBDD-DA3B116AE5BD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4B2388A-AB6B-AD61-98ED-14D14754D076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BE0D700-B4A3-88AA-78F5-18BA3339D63A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</a:t>
            </a:r>
            <a:endParaRPr lang="ko-KR" altLang="en-US" sz="800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FE4E32E-8735-E87D-2745-8F6A61D4E4F4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kumimoji="1"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96D313E-43BA-743B-07EC-08AF4C3160CA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전자입찰시스템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22" name="Picture 1">
            <a:extLst>
              <a:ext uri="{FF2B5EF4-FFF2-40B4-BE49-F238E27FC236}">
                <a16:creationId xmlns:a16="http://schemas.microsoft.com/office/drawing/2014/main" id="{4AF1D7E3-713B-3054-A447-DF30F952C9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EC83DCB-694C-AABB-C27F-1F2B9D8CD82C}"/>
              </a:ext>
            </a:extLst>
          </p:cNvPr>
          <p:cNvSpPr txBox="1"/>
          <p:nvPr/>
        </p:nvSpPr>
        <p:spPr>
          <a:xfrm>
            <a:off x="8049344" y="584684"/>
            <a:ext cx="1856656" cy="239450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입찰관리에서 본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현황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으로 넘어올 때 입력되었던 정보를 보여줌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수정 가능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협력업체가 각종 증권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계약이행 보증보험 증권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선금이행 보증보험 증권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하자이행 보증보험 증권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을 발급하기 위해서는 계약서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 err="1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날인본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 필요함</a:t>
            </a:r>
            <a:b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 err="1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켑코이에스가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먼저 계약서 날인본을 제공해야 함</a:t>
            </a:r>
            <a:endParaRPr lang="en-US" altLang="ko-KR" sz="80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협력업체가 등록해야 하는 서류를 관리자가 직접 등록해 줄 수도 있음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05BE9776-17CC-63E5-2626-A09FFB475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3431755"/>
              </p:ext>
            </p:extLst>
          </p:nvPr>
        </p:nvGraphicFramePr>
        <p:xfrm>
          <a:off x="164465" y="817960"/>
          <a:ext cx="7740858" cy="1351680"/>
        </p:xfrm>
        <a:graphic>
          <a:graphicData uri="http://schemas.openxmlformats.org/drawingml/2006/table">
            <a:tbl>
              <a:tblPr firstRow="1" bandRow="1"/>
              <a:tblGrid>
                <a:gridCol w="1083597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1230817">
                  <a:extLst>
                    <a:ext uri="{9D8B030D-6E8A-4147-A177-3AD203B41FA5}">
                      <a16:colId xmlns:a16="http://schemas.microsoft.com/office/drawing/2014/main" val="1731736782"/>
                    </a:ext>
                  </a:extLst>
                </a:gridCol>
                <a:gridCol w="699471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2252895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699471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794233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  <a:gridCol w="980374">
                  <a:extLst>
                    <a:ext uri="{9D8B030D-6E8A-4147-A177-3AD203B41FA5}">
                      <a16:colId xmlns:a16="http://schemas.microsoft.com/office/drawing/2014/main" val="186468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 번호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발주 구분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 구분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계약명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구분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계약방법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낙찰자 선정방법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CT_20260801_001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수주 기반 발주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본공고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서초동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1601-9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오피스텔 신축공사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중 도장공사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경쟁입찰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일반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제한적 최저가 입찰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 상대자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진행상태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계약금액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납기일</a:t>
                      </a:r>
                      <a:r>
                        <a:rPr lang="en-US" altLang="ko-KR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/</a:t>
                      </a: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공사기간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 체결일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사업담당자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계약담당자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91382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 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업체명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계약요청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요청전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48,507,800</a:t>
                      </a: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2026.08.01 ~ 2026.12.31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2026.07.31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홍길동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임꺽정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9146140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DB8294B0-00ED-E56D-4F72-C901426D7CBD}"/>
              </a:ext>
            </a:extLst>
          </p:cNvPr>
          <p:cNvSpPr/>
          <p:nvPr/>
        </p:nvSpPr>
        <p:spPr>
          <a:xfrm>
            <a:off x="183392" y="2726172"/>
            <a:ext cx="7713520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 관련 서류</a:t>
            </a:r>
            <a:endParaRPr lang="ko-KR" altLang="en-US" sz="80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56" name="표 55">
            <a:extLst>
              <a:ext uri="{FF2B5EF4-FFF2-40B4-BE49-F238E27FC236}">
                <a16:creationId xmlns:a16="http://schemas.microsoft.com/office/drawing/2014/main" id="{0648FC27-5612-B6B5-7F31-5C868BD305AA}"/>
              </a:ext>
            </a:extLst>
          </p:cNvPr>
          <p:cNvGraphicFramePr>
            <a:graphicFrameLocks noGrp="1"/>
          </p:cNvGraphicFramePr>
          <p:nvPr/>
        </p:nvGraphicFramePr>
        <p:xfrm>
          <a:off x="183392" y="3026517"/>
          <a:ext cx="7713520" cy="53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5525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297995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계약서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날인본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800" b="1" dirty="0">
                        <a:solidFill>
                          <a:srgbClr val="C0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이미 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삭제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                                                                                                             ※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첨부파일은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PDF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로 업로드해주세요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1284021"/>
                  </a:ext>
                </a:extLst>
              </a:tr>
            </a:tbl>
          </a:graphicData>
        </a:graphic>
      </p:graphicFrame>
      <p:sp>
        <p:nvSpPr>
          <p:cNvPr id="89" name="타원 88">
            <a:extLst>
              <a:ext uri="{FF2B5EF4-FFF2-40B4-BE49-F238E27FC236}">
                <a16:creationId xmlns:a16="http://schemas.microsoft.com/office/drawing/2014/main" id="{7414B15D-C67C-B44C-D931-FFD09C4197A6}"/>
              </a:ext>
            </a:extLst>
          </p:cNvPr>
          <p:cNvSpPr/>
          <p:nvPr/>
        </p:nvSpPr>
        <p:spPr>
          <a:xfrm>
            <a:off x="75380" y="2938484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E5F73CC-3B0F-BE27-1EC0-103D4E305D32}"/>
              </a:ext>
            </a:extLst>
          </p:cNvPr>
          <p:cNvSpPr/>
          <p:nvPr/>
        </p:nvSpPr>
        <p:spPr>
          <a:xfrm>
            <a:off x="0" y="6686606"/>
            <a:ext cx="8049344" cy="18002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계속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6F9ECE16-0866-882A-2EE5-7891A90FD264}"/>
              </a:ext>
            </a:extLst>
          </p:cNvPr>
          <p:cNvSpPr/>
          <p:nvPr/>
        </p:nvSpPr>
        <p:spPr>
          <a:xfrm>
            <a:off x="1653680" y="3289146"/>
            <a:ext cx="2361869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파일을 첨부해주세요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134B9C5C-BFFC-9FEA-7410-4000F1B98EA7}"/>
              </a:ext>
            </a:extLst>
          </p:cNvPr>
          <p:cNvSpPr/>
          <p:nvPr/>
        </p:nvSpPr>
        <p:spPr>
          <a:xfrm>
            <a:off x="4019818" y="3287393"/>
            <a:ext cx="692070" cy="211077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찾아보기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E7062DD-5DAF-4C24-150B-D32EB8B01F9D}"/>
              </a:ext>
            </a:extLst>
          </p:cNvPr>
          <p:cNvSpPr/>
          <p:nvPr/>
        </p:nvSpPr>
        <p:spPr>
          <a:xfrm>
            <a:off x="-1690381" y="1098521"/>
            <a:ext cx="1467136" cy="34105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현황</a:t>
            </a:r>
            <a:endParaRPr lang="en-US" altLang="ko-KR" sz="800" u="sng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4E06BC8B-60C1-35DA-AFF8-CA0F276746F7}"/>
              </a:ext>
            </a:extLst>
          </p:cNvPr>
          <p:cNvCxnSpPr>
            <a:cxnSpLocks/>
          </p:cNvCxnSpPr>
          <p:nvPr/>
        </p:nvCxnSpPr>
        <p:spPr>
          <a:xfrm>
            <a:off x="167468" y="2611278"/>
            <a:ext cx="7737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D722A77C-9E80-9157-B087-B799F603F5E8}"/>
              </a:ext>
            </a:extLst>
          </p:cNvPr>
          <p:cNvSpPr/>
          <p:nvPr/>
        </p:nvSpPr>
        <p:spPr>
          <a:xfrm>
            <a:off x="163502" y="2315163"/>
            <a:ext cx="1125796" cy="29999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 정보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841FE37-5347-9705-3DE3-1DEFD6948A99}"/>
              </a:ext>
            </a:extLst>
          </p:cNvPr>
          <p:cNvSpPr/>
          <p:nvPr/>
        </p:nvSpPr>
        <p:spPr>
          <a:xfrm>
            <a:off x="2406249" y="2322711"/>
            <a:ext cx="1125796" cy="29244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 정보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1E9BAAB-DDA4-0906-41FF-3472D5649121}"/>
              </a:ext>
            </a:extLst>
          </p:cNvPr>
          <p:cNvSpPr/>
          <p:nvPr/>
        </p:nvSpPr>
        <p:spPr>
          <a:xfrm>
            <a:off x="3525142" y="2321393"/>
            <a:ext cx="1125796" cy="29376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 정보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ECCBF61-8F91-AF20-01E0-4334DD060197}"/>
              </a:ext>
            </a:extLst>
          </p:cNvPr>
          <p:cNvSpPr/>
          <p:nvPr/>
        </p:nvSpPr>
        <p:spPr>
          <a:xfrm>
            <a:off x="1283257" y="2260692"/>
            <a:ext cx="1125796" cy="354461"/>
          </a:xfrm>
          <a:prstGeom prst="rect">
            <a:avLst/>
          </a:prstGeom>
          <a:solidFill>
            <a:srgbClr val="00B05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 관련 서류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E8C1343-CCEB-8F41-E58D-37C7B090C22A}"/>
              </a:ext>
            </a:extLst>
          </p:cNvPr>
          <p:cNvSpPr/>
          <p:nvPr/>
        </p:nvSpPr>
        <p:spPr>
          <a:xfrm>
            <a:off x="4649137" y="2322711"/>
            <a:ext cx="1125796" cy="29244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입찰계획 정보</a:t>
            </a: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B6E24B69-3DA7-209A-9BB2-A10A7617B2F9}"/>
              </a:ext>
            </a:extLst>
          </p:cNvPr>
          <p:cNvGraphicFramePr>
            <a:graphicFrameLocks noGrp="1"/>
          </p:cNvGraphicFramePr>
          <p:nvPr/>
        </p:nvGraphicFramePr>
        <p:xfrm>
          <a:off x="183392" y="3555764"/>
          <a:ext cx="7713520" cy="107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5525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297995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계약이행 보증보험 증권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이미 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삭제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                                                                                                             ※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첨부파일은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PDF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로 업로드해주세요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12840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선금이행 보증보험 증권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이미 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삭제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                                                                                                             ※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첨부파일은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PDF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로 업로드해주세요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5160960"/>
                  </a:ext>
                </a:extLst>
              </a:tr>
            </a:tbl>
          </a:graphicData>
        </a:graphic>
      </p:graphicFrame>
      <p:sp>
        <p:nvSpPr>
          <p:cNvPr id="23" name="직사각형 22">
            <a:extLst>
              <a:ext uri="{FF2B5EF4-FFF2-40B4-BE49-F238E27FC236}">
                <a16:creationId xmlns:a16="http://schemas.microsoft.com/office/drawing/2014/main" id="{3892EF9F-7463-08D2-2CB5-39CE1D981016}"/>
              </a:ext>
            </a:extLst>
          </p:cNvPr>
          <p:cNvSpPr/>
          <p:nvPr/>
        </p:nvSpPr>
        <p:spPr>
          <a:xfrm>
            <a:off x="1653680" y="3836003"/>
            <a:ext cx="2361869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파일을 첨부해주세요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257C68C-E13C-61D5-B987-ECEEEB23913D}"/>
              </a:ext>
            </a:extLst>
          </p:cNvPr>
          <p:cNvSpPr/>
          <p:nvPr/>
        </p:nvSpPr>
        <p:spPr>
          <a:xfrm>
            <a:off x="4019818" y="3834250"/>
            <a:ext cx="692070" cy="211077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찾아보기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2FDF668-FA91-B70C-06C1-BE85347F15A5}"/>
              </a:ext>
            </a:extLst>
          </p:cNvPr>
          <p:cNvSpPr/>
          <p:nvPr/>
        </p:nvSpPr>
        <p:spPr>
          <a:xfrm>
            <a:off x="1653680" y="4373193"/>
            <a:ext cx="2361869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파일을 첨부해주세요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140A05E-7BAA-F321-5608-DCB4832E5032}"/>
              </a:ext>
            </a:extLst>
          </p:cNvPr>
          <p:cNvSpPr/>
          <p:nvPr/>
        </p:nvSpPr>
        <p:spPr>
          <a:xfrm>
            <a:off x="4019818" y="4371440"/>
            <a:ext cx="692070" cy="211077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찾아보기</a:t>
            </a:r>
          </a:p>
        </p:txBody>
      </p:sp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74C977ED-8360-C096-C552-737E0D080E15}"/>
              </a:ext>
            </a:extLst>
          </p:cNvPr>
          <p:cNvGraphicFramePr>
            <a:graphicFrameLocks noGrp="1"/>
          </p:cNvGraphicFramePr>
          <p:nvPr/>
        </p:nvGraphicFramePr>
        <p:xfrm>
          <a:off x="183392" y="4619132"/>
          <a:ext cx="7713520" cy="127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5525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297995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하자이행 보증보험 증권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이미 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삭제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                                                                                                             ※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첨부파일은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PDF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로 업로드해주세요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43806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계약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 참고서류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8262744"/>
                  </a:ext>
                </a:extLst>
              </a:tr>
            </a:tbl>
          </a:graphicData>
        </a:graphic>
      </p:graphicFrame>
      <p:sp>
        <p:nvSpPr>
          <p:cNvPr id="38" name="직사각형 37">
            <a:extLst>
              <a:ext uri="{FF2B5EF4-FFF2-40B4-BE49-F238E27FC236}">
                <a16:creationId xmlns:a16="http://schemas.microsoft.com/office/drawing/2014/main" id="{27F28EC4-C8EB-649F-A5A7-C40052DBE8DD}"/>
              </a:ext>
            </a:extLst>
          </p:cNvPr>
          <p:cNvSpPr/>
          <p:nvPr/>
        </p:nvSpPr>
        <p:spPr>
          <a:xfrm>
            <a:off x="1653680" y="4889912"/>
            <a:ext cx="2361869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파일을 첨부해주세요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F15B7529-43FD-D12B-5A8E-1681438E33D5}"/>
              </a:ext>
            </a:extLst>
          </p:cNvPr>
          <p:cNvSpPr/>
          <p:nvPr/>
        </p:nvSpPr>
        <p:spPr>
          <a:xfrm>
            <a:off x="4019818" y="4888159"/>
            <a:ext cx="692070" cy="211077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찾아보기</a:t>
            </a:r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4A896EA6-C80F-493B-C961-E023B39857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576" y="5227569"/>
            <a:ext cx="5575676" cy="585805"/>
          </a:xfrm>
          <a:prstGeom prst="rect">
            <a:avLst/>
          </a:prstGeom>
        </p:spPr>
      </p:pic>
      <p:sp>
        <p:nvSpPr>
          <p:cNvPr id="45" name="직사각형 44">
            <a:extLst>
              <a:ext uri="{FF2B5EF4-FFF2-40B4-BE49-F238E27FC236}">
                <a16:creationId xmlns:a16="http://schemas.microsoft.com/office/drawing/2014/main" id="{BD100F5F-DC33-192D-64CD-EAC5281E7022}"/>
              </a:ext>
            </a:extLst>
          </p:cNvPr>
          <p:cNvSpPr/>
          <p:nvPr/>
        </p:nvSpPr>
        <p:spPr>
          <a:xfrm>
            <a:off x="164467" y="6002544"/>
            <a:ext cx="699418" cy="2880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목록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A97CFB4B-FD8F-CB5F-3525-9AD8208EDDCB}"/>
              </a:ext>
            </a:extLst>
          </p:cNvPr>
          <p:cNvSpPr/>
          <p:nvPr/>
        </p:nvSpPr>
        <p:spPr>
          <a:xfrm>
            <a:off x="7221252" y="6002544"/>
            <a:ext cx="660361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저장</a:t>
            </a:r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56F0AF59-CFE1-F6E6-9133-0406F79DACCF}"/>
              </a:ext>
            </a:extLst>
          </p:cNvPr>
          <p:cNvSpPr/>
          <p:nvPr/>
        </p:nvSpPr>
        <p:spPr>
          <a:xfrm>
            <a:off x="7075280" y="5879145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9D9DB9F3-4BA3-AC6B-87BE-B59F52C34D43}"/>
              </a:ext>
            </a:extLst>
          </p:cNvPr>
          <p:cNvSpPr/>
          <p:nvPr/>
        </p:nvSpPr>
        <p:spPr>
          <a:xfrm>
            <a:off x="5637076" y="3609020"/>
            <a:ext cx="4176464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저장 시 유의사항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6DD0A622-138C-1652-A445-EE41D5D3A424}"/>
              </a:ext>
            </a:extLst>
          </p:cNvPr>
          <p:cNvSpPr/>
          <p:nvPr/>
        </p:nvSpPr>
        <p:spPr>
          <a:xfrm>
            <a:off x="5637076" y="3881933"/>
            <a:ext cx="4176464" cy="185143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3C6043AC-FA8C-D344-8B22-A85DC9C4F549}"/>
              </a:ext>
            </a:extLst>
          </p:cNvPr>
          <p:cNvSpPr/>
          <p:nvPr/>
        </p:nvSpPr>
        <p:spPr>
          <a:xfrm>
            <a:off x="9543540" y="3609020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AEAC2178-4981-455F-9B1A-93255A253002}"/>
              </a:ext>
            </a:extLst>
          </p:cNvPr>
          <p:cNvSpPr/>
          <p:nvPr/>
        </p:nvSpPr>
        <p:spPr>
          <a:xfrm>
            <a:off x="5744856" y="4295320"/>
            <a:ext cx="3960672" cy="879892"/>
          </a:xfrm>
          <a:prstGeom prst="rect">
            <a:avLst/>
          </a:prstGeom>
          <a:solidFill>
            <a:srgbClr val="FFFF00">
              <a:alpha val="20000"/>
            </a:srgb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108000" bIns="108000" rtlCol="0" anchor="ctr" anchorCtr="0"/>
          <a:lstStyle/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협력업체가 등록해야 하는 서류를 관리자가 직접 등록해 줄 수 있습니다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관리자가 등록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수정한 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 관련 서류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를 모두 저장합니다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 관련 서류를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저장하시겠습니까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pic>
        <p:nvPicPr>
          <p:cNvPr id="70" name="Picture 8" descr="Announcement, hailer, loudspeaker, megaphone, speaker icon - Download on Iconfinder">
            <a:extLst>
              <a:ext uri="{FF2B5EF4-FFF2-40B4-BE49-F238E27FC236}">
                <a16:creationId xmlns:a16="http://schemas.microsoft.com/office/drawing/2014/main" id="{8888597C-B656-7A35-3F20-ACF301F7A0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0977" y="4450046"/>
            <a:ext cx="570440" cy="57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2" name="직사각형 71">
            <a:extLst>
              <a:ext uri="{FF2B5EF4-FFF2-40B4-BE49-F238E27FC236}">
                <a16:creationId xmlns:a16="http://schemas.microsoft.com/office/drawing/2014/main" id="{D8E5730C-8A98-7D5D-2E7C-46B684A3AF48}"/>
              </a:ext>
            </a:extLst>
          </p:cNvPr>
          <p:cNvSpPr/>
          <p:nvPr/>
        </p:nvSpPr>
        <p:spPr>
          <a:xfrm>
            <a:off x="9002574" y="5283687"/>
            <a:ext cx="699418" cy="28803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취소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8D069DFD-7CF0-15E3-C35A-5530F995F5EE}"/>
              </a:ext>
            </a:extLst>
          </p:cNvPr>
          <p:cNvSpPr/>
          <p:nvPr/>
        </p:nvSpPr>
        <p:spPr>
          <a:xfrm>
            <a:off x="5768296" y="3978321"/>
            <a:ext cx="1085233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저장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 유의사항</a:t>
            </a: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84F9C50C-6893-EECC-43C2-94446EDA1554}"/>
              </a:ext>
            </a:extLst>
          </p:cNvPr>
          <p:cNvSpPr/>
          <p:nvPr/>
        </p:nvSpPr>
        <p:spPr>
          <a:xfrm>
            <a:off x="8250025" y="5283687"/>
            <a:ext cx="699419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저장</a:t>
            </a:r>
            <a:endParaRPr lang="en-US" altLang="ko-KR" sz="9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8" name="타원 77">
            <a:extLst>
              <a:ext uri="{FF2B5EF4-FFF2-40B4-BE49-F238E27FC236}">
                <a16:creationId xmlns:a16="http://schemas.microsoft.com/office/drawing/2014/main" id="{0A142326-EDEA-A8FE-8E5A-C20C73D4C15E}"/>
              </a:ext>
            </a:extLst>
          </p:cNvPr>
          <p:cNvSpPr/>
          <p:nvPr/>
        </p:nvSpPr>
        <p:spPr>
          <a:xfrm>
            <a:off x="8109708" y="5174109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2’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79" name="연결선: 꺾임 78">
            <a:extLst>
              <a:ext uri="{FF2B5EF4-FFF2-40B4-BE49-F238E27FC236}">
                <a16:creationId xmlns:a16="http://schemas.microsoft.com/office/drawing/2014/main" id="{6A11EBBE-72F3-DA5A-AB1A-7D78AEA84D1E}"/>
              </a:ext>
            </a:extLst>
          </p:cNvPr>
          <p:cNvCxnSpPr>
            <a:cxnSpLocks/>
            <a:stCxn id="48" idx="0"/>
            <a:endCxn id="64" idx="2"/>
          </p:cNvCxnSpPr>
          <p:nvPr/>
        </p:nvCxnSpPr>
        <p:spPr>
          <a:xfrm rot="5400000" flipH="1" flipV="1">
            <a:off x="7503784" y="5781021"/>
            <a:ext cx="269173" cy="173875"/>
          </a:xfrm>
          <a:prstGeom prst="bentConnector3">
            <a:avLst>
              <a:gd name="adj1" fmla="val 50000"/>
            </a:avLst>
          </a:prstGeom>
          <a:ln>
            <a:solidFill>
              <a:srgbClr val="C00000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02565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363A4-3A2E-3BE0-FA84-3D26957FA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A1CD167-5486-2DAE-4529-6BFA219850E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3251A1-1F71-041F-853D-509DEC3C6D31}"/>
              </a:ext>
            </a:extLst>
          </p:cNvPr>
          <p:cNvSpPr txBox="1"/>
          <p:nvPr/>
        </p:nvSpPr>
        <p:spPr>
          <a:xfrm>
            <a:off x="749224" y="25608"/>
            <a:ext cx="266290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현황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상세정보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 정보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C218E3D-76E1-7C36-E7DF-59783F3BC8FE}"/>
              </a:ext>
            </a:extLst>
          </p:cNvPr>
          <p:cNvSpPr/>
          <p:nvPr/>
        </p:nvSpPr>
        <p:spPr>
          <a:xfrm>
            <a:off x="164468" y="403565"/>
            <a:ext cx="756617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현황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68BA4043-6B9F-3FFA-65AC-AD56B49E98F1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A294C82-8501-C049-C611-06E532EE3E80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241FF6E-E746-8A1C-64BC-1CB807452256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</a:t>
            </a:r>
            <a:endParaRPr lang="ko-KR" altLang="en-US" sz="800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327C215-D808-DD3E-F008-6EC22FEEECC3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kumimoji="1"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67D2560-18B1-4492-474C-4BFC0BC649DC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전자입찰시스템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22" name="Picture 1">
            <a:extLst>
              <a:ext uri="{FF2B5EF4-FFF2-40B4-BE49-F238E27FC236}">
                <a16:creationId xmlns:a16="http://schemas.microsoft.com/office/drawing/2014/main" id="{11709EFD-7725-A183-EFB6-2E2E226FA7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5658A12-2389-D3A4-74E4-CB3B9C24F854}"/>
              </a:ext>
            </a:extLst>
          </p:cNvPr>
          <p:cNvSpPr txBox="1"/>
          <p:nvPr/>
        </p:nvSpPr>
        <p:spPr>
          <a:xfrm>
            <a:off x="8049344" y="584684"/>
            <a:ext cx="1856656" cy="23698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D8CC1683-4671-C456-0E82-EC30E87047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5668623"/>
              </p:ext>
            </p:extLst>
          </p:nvPr>
        </p:nvGraphicFramePr>
        <p:xfrm>
          <a:off x="164465" y="817960"/>
          <a:ext cx="7740858" cy="1351680"/>
        </p:xfrm>
        <a:graphic>
          <a:graphicData uri="http://schemas.openxmlformats.org/drawingml/2006/table">
            <a:tbl>
              <a:tblPr firstRow="1" bandRow="1"/>
              <a:tblGrid>
                <a:gridCol w="1083597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1230817">
                  <a:extLst>
                    <a:ext uri="{9D8B030D-6E8A-4147-A177-3AD203B41FA5}">
                      <a16:colId xmlns:a16="http://schemas.microsoft.com/office/drawing/2014/main" val="1731736782"/>
                    </a:ext>
                  </a:extLst>
                </a:gridCol>
                <a:gridCol w="699471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2252895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699471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794233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  <a:gridCol w="980374">
                  <a:extLst>
                    <a:ext uri="{9D8B030D-6E8A-4147-A177-3AD203B41FA5}">
                      <a16:colId xmlns:a16="http://schemas.microsoft.com/office/drawing/2014/main" val="186468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 번호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발주 구분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 구분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계약명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구분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계약방법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낙찰자 선정방법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CT_20260801_001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수주 기반 발주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본공고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서초동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1601-9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오피스텔 신축공사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중 도장공사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경쟁입찰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일반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제한적 최저가 입찰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 상대자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진행상태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계약금액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납기일</a:t>
                      </a:r>
                      <a:r>
                        <a:rPr lang="en-US" altLang="ko-KR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/</a:t>
                      </a: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공사기간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 체결일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사업담당자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계약담당자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91382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 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업체명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계약요청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요청전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48,507,800</a:t>
                      </a: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2026.08.01 ~ 2026.12.31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2026.07.31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홍길동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임꺽정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9146140"/>
                  </a:ext>
                </a:extLst>
              </a:tr>
            </a:tbl>
          </a:graphicData>
        </a:graphic>
      </p:graphicFrame>
      <p:graphicFrame>
        <p:nvGraphicFramePr>
          <p:cNvPr id="72" name="표 71">
            <a:extLst>
              <a:ext uri="{FF2B5EF4-FFF2-40B4-BE49-F238E27FC236}">
                <a16:creationId xmlns:a16="http://schemas.microsoft.com/office/drawing/2014/main" id="{8FD7B0DC-B356-D5F1-61A2-2B497F0B250C}"/>
              </a:ext>
            </a:extLst>
          </p:cNvPr>
          <p:cNvGraphicFramePr>
            <a:graphicFrameLocks noGrp="1"/>
          </p:cNvGraphicFramePr>
          <p:nvPr/>
        </p:nvGraphicFramePr>
        <p:xfrm>
          <a:off x="164467" y="3009710"/>
          <a:ext cx="7740859" cy="295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3591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387268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292486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발주계약 요청번호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PR2026-0003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2444"/>
                  </a:ext>
                </a:extLst>
              </a:tr>
              <a:tr h="292486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계약명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서초동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1601-9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오피스텔 신축공사 중 도장공사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065799"/>
                  </a:ext>
                </a:extLst>
              </a:tr>
              <a:tr h="292486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요청일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2026.06.30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357048"/>
                  </a:ext>
                </a:extLst>
              </a:tr>
              <a:tr h="292486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계약예정일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2026.07.20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0027310"/>
                  </a:ext>
                </a:extLst>
              </a:tr>
              <a:tr h="292486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구분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5394118"/>
                  </a:ext>
                </a:extLst>
              </a:tr>
              <a:tr h="806932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수주계약정보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수주계약번호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160011612-01-31-C</a:t>
                      </a: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수주계약명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: GE-4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에너지효율화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(ID Fan VVVF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설치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사업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수주계약 체결일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2026.12.23</a:t>
                      </a: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수주계약업체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군장에너지주식회사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777443"/>
                  </a:ext>
                </a:extLst>
              </a:tr>
              <a:tr h="292486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등록일시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2026.06.10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15:42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5100570"/>
                  </a:ext>
                </a:extLst>
              </a:tr>
            </a:tbl>
          </a:graphicData>
        </a:graphic>
      </p:graphicFrame>
      <p:sp>
        <p:nvSpPr>
          <p:cNvPr id="75" name="직사각형 74">
            <a:extLst>
              <a:ext uri="{FF2B5EF4-FFF2-40B4-BE49-F238E27FC236}">
                <a16:creationId xmlns:a16="http://schemas.microsoft.com/office/drawing/2014/main" id="{BE154220-9D09-8E14-A2EE-2880DDE3D0CA}"/>
              </a:ext>
            </a:extLst>
          </p:cNvPr>
          <p:cNvSpPr/>
          <p:nvPr/>
        </p:nvSpPr>
        <p:spPr>
          <a:xfrm>
            <a:off x="183392" y="2715496"/>
            <a:ext cx="7713520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 기본정보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680B1BC1-E220-9898-77F6-E3BC1382BDD4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계속</a:t>
            </a: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61A3AF48-56C4-C731-D92E-2705C185E360}"/>
              </a:ext>
            </a:extLst>
          </p:cNvPr>
          <p:cNvCxnSpPr>
            <a:cxnSpLocks/>
          </p:cNvCxnSpPr>
          <p:nvPr/>
        </p:nvCxnSpPr>
        <p:spPr>
          <a:xfrm>
            <a:off x="167468" y="2611278"/>
            <a:ext cx="7737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9B3EE8F3-F625-7C04-4E0B-6A54B4506F62}"/>
              </a:ext>
            </a:extLst>
          </p:cNvPr>
          <p:cNvSpPr/>
          <p:nvPr/>
        </p:nvSpPr>
        <p:spPr>
          <a:xfrm>
            <a:off x="163502" y="2321393"/>
            <a:ext cx="1125796" cy="29376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 정보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1CD700D-F07A-25F7-57ED-F233E41F1054}"/>
              </a:ext>
            </a:extLst>
          </p:cNvPr>
          <p:cNvSpPr/>
          <p:nvPr/>
        </p:nvSpPr>
        <p:spPr>
          <a:xfrm>
            <a:off x="2406249" y="2260692"/>
            <a:ext cx="1125796" cy="354461"/>
          </a:xfrm>
          <a:prstGeom prst="rect">
            <a:avLst/>
          </a:prstGeom>
          <a:solidFill>
            <a:srgbClr val="00B05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 정보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CE2B15B-3FBF-31D7-AC86-46927A4EA5E6}"/>
              </a:ext>
            </a:extLst>
          </p:cNvPr>
          <p:cNvSpPr/>
          <p:nvPr/>
        </p:nvSpPr>
        <p:spPr>
          <a:xfrm>
            <a:off x="3525142" y="2321393"/>
            <a:ext cx="1125796" cy="29376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 정보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B1FB013-B4A2-2DC7-E120-61C6A2DC1E84}"/>
              </a:ext>
            </a:extLst>
          </p:cNvPr>
          <p:cNvSpPr/>
          <p:nvPr/>
        </p:nvSpPr>
        <p:spPr>
          <a:xfrm>
            <a:off x="1283257" y="2321393"/>
            <a:ext cx="1125796" cy="29376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 관련 서류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ABEC0FE-8B7B-082F-CF48-1AD0B24E1705}"/>
              </a:ext>
            </a:extLst>
          </p:cNvPr>
          <p:cNvSpPr/>
          <p:nvPr/>
        </p:nvSpPr>
        <p:spPr>
          <a:xfrm>
            <a:off x="4649137" y="2322711"/>
            <a:ext cx="1125796" cy="29244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입찰계획 정보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AB49280-A3BB-3B10-33AB-047717348571}"/>
              </a:ext>
            </a:extLst>
          </p:cNvPr>
          <p:cNvSpPr/>
          <p:nvPr/>
        </p:nvSpPr>
        <p:spPr>
          <a:xfrm>
            <a:off x="-1690381" y="1098521"/>
            <a:ext cx="1467136" cy="34105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현황</a:t>
            </a:r>
            <a:endParaRPr lang="en-US" altLang="ko-KR" sz="800" u="sng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308329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B04E2-ABBD-53C1-EE2A-5110C8011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F12432E8-9D6B-AA20-7DEB-E4EAA00AFAD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3964C9-69C0-E187-6D52-3C9CE5BB276A}"/>
              </a:ext>
            </a:extLst>
          </p:cNvPr>
          <p:cNvSpPr txBox="1"/>
          <p:nvPr/>
        </p:nvSpPr>
        <p:spPr>
          <a:xfrm>
            <a:off x="749224" y="25608"/>
            <a:ext cx="266290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현황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상세정보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 정보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F8A4EA5-F19F-0453-A353-F30FE95402E3}"/>
              </a:ext>
            </a:extLst>
          </p:cNvPr>
          <p:cNvSpPr txBox="1"/>
          <p:nvPr/>
        </p:nvSpPr>
        <p:spPr>
          <a:xfrm>
            <a:off x="8049344" y="584684"/>
            <a:ext cx="1856656" cy="23698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C8B7ADA8-BB70-03BA-F48E-FB05CA1D5A94}"/>
              </a:ext>
            </a:extLst>
          </p:cNvPr>
          <p:cNvGraphicFramePr>
            <a:graphicFrameLocks noGrp="1"/>
          </p:cNvGraphicFramePr>
          <p:nvPr/>
        </p:nvGraphicFramePr>
        <p:xfrm>
          <a:off x="179901" y="927132"/>
          <a:ext cx="7717011" cy="116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8743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148268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결재문서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추진안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일상감사의견서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065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결재문서 등록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등록된 파일명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#1.pdf  </a:t>
                      </a:r>
                      <a:b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b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등록된 파일명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#2.pdf  </a:t>
                      </a:r>
                      <a:b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b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등록된 파일명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#3.pdf  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357048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D7CD760E-58BE-9527-F921-8EA000BA4001}"/>
              </a:ext>
            </a:extLst>
          </p:cNvPr>
          <p:cNvSpPr/>
          <p:nvPr/>
        </p:nvSpPr>
        <p:spPr>
          <a:xfrm>
            <a:off x="183392" y="641236"/>
            <a:ext cx="574171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결재 관련 정보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2384688-247C-0797-C295-8187E357B87D}"/>
              </a:ext>
            </a:extLst>
          </p:cNvPr>
          <p:cNvSpPr/>
          <p:nvPr/>
        </p:nvSpPr>
        <p:spPr>
          <a:xfrm>
            <a:off x="183392" y="2185585"/>
            <a:ext cx="574171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 세부정보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58ABC568-3E30-CDC3-4B42-A38367AAABF9}"/>
              </a:ext>
            </a:extLst>
          </p:cNvPr>
          <p:cNvGraphicFramePr>
            <a:graphicFrameLocks noGrp="1"/>
          </p:cNvGraphicFramePr>
          <p:nvPr/>
        </p:nvGraphicFramePr>
        <p:xfrm>
          <a:off x="164467" y="2462068"/>
          <a:ext cx="7776865" cy="337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9418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197447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추정금액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94,490,000 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구천사백사십구만원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 VAT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포함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2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계약기간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-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2026.07.20 ~ 2027.07.30</a:t>
                      </a:r>
                      <a:endParaRPr lang="ko-KR" altLang="en-US" sz="800" b="0" spc="-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69958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납품장소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현장 내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065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계약이행 </a:t>
                      </a:r>
                      <a:r>
                        <a:rPr kumimoji="0" lang="ko-KR" altLang="en-US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보증금률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10%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357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하자이행 </a:t>
                      </a:r>
                      <a:r>
                        <a:rPr kumimoji="0" lang="ko-KR" altLang="en-US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보증금률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3%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00273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하자이행 기간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5394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계약방법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경쟁입찰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일반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3071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낙찰자 선정방법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제한적 최저가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입찰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11073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근거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 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수의계약 사유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근거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수의계약 사유로 입력된 내용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96818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계약상대자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수의계약의 경우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매핑된 협력업체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주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큐비트엑스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(135-81-77202)</a:t>
                      </a:r>
                      <a:endParaRPr lang="en-US" altLang="ko-KR" sz="800" b="1" u="sng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0593969"/>
                  </a:ext>
                </a:extLst>
              </a:tr>
            </a:tbl>
          </a:graphicData>
        </a:graphic>
      </p:graphicFrame>
      <p:grpSp>
        <p:nvGrpSpPr>
          <p:cNvPr id="8" name="그룹 7">
            <a:extLst>
              <a:ext uri="{FF2B5EF4-FFF2-40B4-BE49-F238E27FC236}">
                <a16:creationId xmlns:a16="http://schemas.microsoft.com/office/drawing/2014/main" id="{688665D6-84E8-D9DE-FD0D-6D1AC5E83911}"/>
              </a:ext>
            </a:extLst>
          </p:cNvPr>
          <p:cNvGrpSpPr/>
          <p:nvPr/>
        </p:nvGrpSpPr>
        <p:grpSpPr>
          <a:xfrm>
            <a:off x="2909398" y="1329482"/>
            <a:ext cx="1275802" cy="198885"/>
            <a:chOff x="2909398" y="1312230"/>
            <a:chExt cx="1275802" cy="198885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F0DC58F9-FBD0-3D6F-DEBB-C0DE0B1E59A1}"/>
                </a:ext>
              </a:extLst>
            </p:cNvPr>
            <p:cNvSpPr/>
            <p:nvPr/>
          </p:nvSpPr>
          <p:spPr>
            <a:xfrm>
              <a:off x="2909398" y="1312230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320B91A0-630E-9050-9710-0C70EF9FCB7F}"/>
                </a:ext>
              </a:extLst>
            </p:cNvPr>
            <p:cNvSpPr/>
            <p:nvPr/>
          </p:nvSpPr>
          <p:spPr>
            <a:xfrm>
              <a:off x="3572235" y="1312230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8B396432-48D4-71B7-C2BE-CA18734D6C47}"/>
              </a:ext>
            </a:extLst>
          </p:cNvPr>
          <p:cNvGrpSpPr/>
          <p:nvPr/>
        </p:nvGrpSpPr>
        <p:grpSpPr>
          <a:xfrm>
            <a:off x="2909398" y="1580281"/>
            <a:ext cx="1275802" cy="198885"/>
            <a:chOff x="2909398" y="1579570"/>
            <a:chExt cx="1275802" cy="198885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6904A9F0-46B6-305E-46E6-4B3589904B0E}"/>
                </a:ext>
              </a:extLst>
            </p:cNvPr>
            <p:cNvSpPr/>
            <p:nvPr/>
          </p:nvSpPr>
          <p:spPr>
            <a:xfrm>
              <a:off x="2909398" y="1579570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B3B319EF-2F69-8DD4-EC07-766FFF7AE5F2}"/>
                </a:ext>
              </a:extLst>
            </p:cNvPr>
            <p:cNvSpPr/>
            <p:nvPr/>
          </p:nvSpPr>
          <p:spPr>
            <a:xfrm>
              <a:off x="3572235" y="1579570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76AE65D-F862-0C95-0BDF-E137D3C4A723}"/>
              </a:ext>
            </a:extLst>
          </p:cNvPr>
          <p:cNvSpPr/>
          <p:nvPr/>
        </p:nvSpPr>
        <p:spPr>
          <a:xfrm>
            <a:off x="183392" y="370160"/>
            <a:ext cx="7713520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 체크리스트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96DF3FE-9F9F-837C-E064-CFEC96962394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계속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620D101A-364B-6F51-730F-88FE87FD01B8}"/>
              </a:ext>
            </a:extLst>
          </p:cNvPr>
          <p:cNvGrpSpPr/>
          <p:nvPr/>
        </p:nvGrpSpPr>
        <p:grpSpPr>
          <a:xfrm>
            <a:off x="2909398" y="1831079"/>
            <a:ext cx="1275802" cy="198885"/>
            <a:chOff x="2909398" y="1831079"/>
            <a:chExt cx="1275802" cy="198885"/>
          </a:xfrm>
        </p:grpSpPr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9EE3BB02-36E6-2923-3AA7-980F9180B444}"/>
                </a:ext>
              </a:extLst>
            </p:cNvPr>
            <p:cNvSpPr/>
            <p:nvPr/>
          </p:nvSpPr>
          <p:spPr>
            <a:xfrm>
              <a:off x="2909398" y="1831079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DE9ECC52-82E2-5FB4-AB5A-CEEA51B309E0}"/>
                </a:ext>
              </a:extLst>
            </p:cNvPr>
            <p:cNvSpPr/>
            <p:nvPr/>
          </p:nvSpPr>
          <p:spPr>
            <a:xfrm>
              <a:off x="3572235" y="1831079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404081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271BC-4DC2-EECE-D5D7-8BEB6D421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8E545E21-E474-B193-27E9-A7E591D0BDB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7F2FA80-5B20-B5B6-5C84-0B728DFBDEE1}"/>
              </a:ext>
            </a:extLst>
          </p:cNvPr>
          <p:cNvSpPr txBox="1"/>
          <p:nvPr/>
        </p:nvSpPr>
        <p:spPr>
          <a:xfrm>
            <a:off x="749224" y="25608"/>
            <a:ext cx="266290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현황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상세정보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 정보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7C91C3-C217-3ADB-A8CF-57A477AB8D3B}"/>
              </a:ext>
            </a:extLst>
          </p:cNvPr>
          <p:cNvSpPr txBox="1"/>
          <p:nvPr/>
        </p:nvSpPr>
        <p:spPr>
          <a:xfrm>
            <a:off x="8049344" y="584684"/>
            <a:ext cx="1856656" cy="23698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6D5FE7C-9D7F-A5E8-379B-10DA4CEB6EFA}"/>
              </a:ext>
            </a:extLst>
          </p:cNvPr>
          <p:cNvSpPr/>
          <p:nvPr/>
        </p:nvSpPr>
        <p:spPr>
          <a:xfrm>
            <a:off x="164467" y="1491461"/>
            <a:ext cx="574171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첨부 서류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25778852-20B1-3F82-A8BC-85BC0140FE50}"/>
              </a:ext>
            </a:extLst>
          </p:cNvPr>
          <p:cNvGraphicFramePr>
            <a:graphicFrameLocks noGrp="1"/>
          </p:cNvGraphicFramePr>
          <p:nvPr/>
        </p:nvGraphicFramePr>
        <p:xfrm>
          <a:off x="164467" y="1794305"/>
          <a:ext cx="7776865" cy="140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9418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197447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용역</a:t>
                      </a:r>
                      <a:endParaRPr kumimoji="0" lang="en-US" altLang="ko-KR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  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원가계산서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(or 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산출내역서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), </a:t>
                      </a:r>
                      <a:b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  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과업지시서 등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#1.pdf  </a:t>
                      </a: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#2.pdf </a:t>
                      </a: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#3.pdf  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2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기타 서류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#1.pdf  </a:t>
                      </a: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#2.pdf  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6995847"/>
                  </a:ext>
                </a:extLst>
              </a:tr>
            </a:tbl>
          </a:graphicData>
        </a:graphic>
      </p:graphicFrame>
      <p:sp>
        <p:nvSpPr>
          <p:cNvPr id="22" name="직사각형 21">
            <a:extLst>
              <a:ext uri="{FF2B5EF4-FFF2-40B4-BE49-F238E27FC236}">
                <a16:creationId xmlns:a16="http://schemas.microsoft.com/office/drawing/2014/main" id="{8ABD617E-2FE8-ACEC-6537-7989CFFFF69A}"/>
              </a:ext>
            </a:extLst>
          </p:cNvPr>
          <p:cNvSpPr/>
          <p:nvPr/>
        </p:nvSpPr>
        <p:spPr>
          <a:xfrm>
            <a:off x="2909398" y="1851612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바로보기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2395A9C-7B1C-1776-E576-36B2A8E8D6CB}"/>
              </a:ext>
            </a:extLst>
          </p:cNvPr>
          <p:cNvSpPr/>
          <p:nvPr/>
        </p:nvSpPr>
        <p:spPr>
          <a:xfrm>
            <a:off x="3572235" y="1851612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C01B385-2235-C68C-D2D6-6362C8DCAC7A}"/>
              </a:ext>
            </a:extLst>
          </p:cNvPr>
          <p:cNvSpPr/>
          <p:nvPr/>
        </p:nvSpPr>
        <p:spPr>
          <a:xfrm>
            <a:off x="2909398" y="2101700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바로보기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E7947E4-7508-B52F-5B25-49AF39064A15}"/>
              </a:ext>
            </a:extLst>
          </p:cNvPr>
          <p:cNvSpPr/>
          <p:nvPr/>
        </p:nvSpPr>
        <p:spPr>
          <a:xfrm>
            <a:off x="3572235" y="2101700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2838F9D-3C9E-47B8-8508-99893F54714C}"/>
              </a:ext>
            </a:extLst>
          </p:cNvPr>
          <p:cNvSpPr/>
          <p:nvPr/>
        </p:nvSpPr>
        <p:spPr>
          <a:xfrm>
            <a:off x="2909398" y="2351788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바로보기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F0945943-6B4C-07D1-71A0-31B720C3F07E}"/>
              </a:ext>
            </a:extLst>
          </p:cNvPr>
          <p:cNvSpPr/>
          <p:nvPr/>
        </p:nvSpPr>
        <p:spPr>
          <a:xfrm>
            <a:off x="3572235" y="2351788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0876B15D-F1DA-C346-8F4C-3C28B35ACFCC}"/>
              </a:ext>
            </a:extLst>
          </p:cNvPr>
          <p:cNvSpPr/>
          <p:nvPr/>
        </p:nvSpPr>
        <p:spPr>
          <a:xfrm>
            <a:off x="2909398" y="2679225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바로보기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A92A676E-C402-0C19-3DAC-429CC16B9DF8}"/>
              </a:ext>
            </a:extLst>
          </p:cNvPr>
          <p:cNvSpPr/>
          <p:nvPr/>
        </p:nvSpPr>
        <p:spPr>
          <a:xfrm>
            <a:off x="3572235" y="2679225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EDE6780A-BD2D-924F-9086-8D71B9467714}"/>
              </a:ext>
            </a:extLst>
          </p:cNvPr>
          <p:cNvSpPr/>
          <p:nvPr/>
        </p:nvSpPr>
        <p:spPr>
          <a:xfrm>
            <a:off x="2909398" y="2946565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바로보기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D41B5F41-31FB-7818-390D-2B74EDCA5D4E}"/>
              </a:ext>
            </a:extLst>
          </p:cNvPr>
          <p:cNvSpPr/>
          <p:nvPr/>
        </p:nvSpPr>
        <p:spPr>
          <a:xfrm>
            <a:off x="3572235" y="2946565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78142A1C-97B5-738F-4034-B8BC082AF6FD}"/>
              </a:ext>
            </a:extLst>
          </p:cNvPr>
          <p:cNvSpPr/>
          <p:nvPr/>
        </p:nvSpPr>
        <p:spPr>
          <a:xfrm>
            <a:off x="183392" y="3340930"/>
            <a:ext cx="7713520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 정보   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※ 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해당 정보를 수정하고자 하는 경우 상단의 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‘STEP 03 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 정보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를 선택하여 수정해주세요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47" name="표 46">
            <a:extLst>
              <a:ext uri="{FF2B5EF4-FFF2-40B4-BE49-F238E27FC236}">
                <a16:creationId xmlns:a16="http://schemas.microsoft.com/office/drawing/2014/main" id="{1E760EA7-A3EB-413D-A75A-16BBF1967D96}"/>
              </a:ext>
            </a:extLst>
          </p:cNvPr>
          <p:cNvGraphicFramePr>
            <a:graphicFrameLocks noGrp="1"/>
          </p:cNvGraphicFramePr>
          <p:nvPr/>
        </p:nvGraphicFramePr>
        <p:xfrm>
          <a:off x="171333" y="3643827"/>
          <a:ext cx="8941023" cy="1013760"/>
        </p:xfrm>
        <a:graphic>
          <a:graphicData uri="http://schemas.openxmlformats.org/drawingml/2006/table">
            <a:tbl>
              <a:tblPr firstRow="1" bandRow="1"/>
              <a:tblGrid>
                <a:gridCol w="258001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97482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2113525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2317117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316734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302079">
                  <a:extLst>
                    <a:ext uri="{9D8B030D-6E8A-4147-A177-3AD203B41FA5}">
                      <a16:colId xmlns:a16="http://schemas.microsoft.com/office/drawing/2014/main" val="419952432"/>
                    </a:ext>
                  </a:extLst>
                </a:gridCol>
                <a:gridCol w="714047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481575">
                  <a:extLst>
                    <a:ext uri="{9D8B030D-6E8A-4147-A177-3AD203B41FA5}">
                      <a16:colId xmlns:a16="http://schemas.microsoft.com/office/drawing/2014/main" val="3408856969"/>
                    </a:ext>
                  </a:extLst>
                </a:gridCol>
                <a:gridCol w="1740463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No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품목코드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품목명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규격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단위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수량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납기요청일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입고장소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비고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A0106-001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고효율 인버터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품목구성방법이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‘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지정항목작성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’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인 경우에 등록됨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EA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3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2026.07.31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현장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품목등록의 비고에 들어간 내용입니다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서초동 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1601-9 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오피스텔 신축공사 중 도장공사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-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EA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3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2026.07.31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현장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품목등록의 비고에 들어간 내용입니다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311677"/>
                  </a:ext>
                </a:extLst>
              </a:tr>
            </a:tbl>
          </a:graphicData>
        </a:graphic>
      </p:graphicFrame>
      <p:sp>
        <p:nvSpPr>
          <p:cNvPr id="49" name="직사각형 48">
            <a:extLst>
              <a:ext uri="{FF2B5EF4-FFF2-40B4-BE49-F238E27FC236}">
                <a16:creationId xmlns:a16="http://schemas.microsoft.com/office/drawing/2014/main" id="{3944BDB4-7A21-750E-172F-009F136D60C4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53" name="표 52">
            <a:extLst>
              <a:ext uri="{FF2B5EF4-FFF2-40B4-BE49-F238E27FC236}">
                <a16:creationId xmlns:a16="http://schemas.microsoft.com/office/drawing/2014/main" id="{1DEC6F0F-B5C5-3DE1-E811-6A7445D22C82}"/>
              </a:ext>
            </a:extLst>
          </p:cNvPr>
          <p:cNvGraphicFramePr>
            <a:graphicFrameLocks noGrp="1"/>
          </p:cNvGraphicFramePr>
          <p:nvPr/>
        </p:nvGraphicFramePr>
        <p:xfrm>
          <a:off x="164467" y="1009287"/>
          <a:ext cx="7776865" cy="33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9418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197447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전문건설업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■ 도장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습식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방수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석공 사업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6995847"/>
                  </a:ext>
                </a:extLst>
              </a:tr>
            </a:tbl>
          </a:graphicData>
        </a:graphic>
      </p:graphicFrame>
      <p:sp>
        <p:nvSpPr>
          <p:cNvPr id="55" name="직사각형 54">
            <a:extLst>
              <a:ext uri="{FF2B5EF4-FFF2-40B4-BE49-F238E27FC236}">
                <a16:creationId xmlns:a16="http://schemas.microsoft.com/office/drawing/2014/main" id="{D7CD48F3-7D2C-E0CF-012C-3EF5C10664F3}"/>
              </a:ext>
            </a:extLst>
          </p:cNvPr>
          <p:cNvSpPr/>
          <p:nvPr/>
        </p:nvSpPr>
        <p:spPr>
          <a:xfrm>
            <a:off x="183392" y="381401"/>
            <a:ext cx="574171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계약업체 면허 설정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57" name="표 56">
            <a:extLst>
              <a:ext uri="{FF2B5EF4-FFF2-40B4-BE49-F238E27FC236}">
                <a16:creationId xmlns:a16="http://schemas.microsoft.com/office/drawing/2014/main" id="{60D33D3D-4FBC-228F-FD21-1B53F65D2C53}"/>
              </a:ext>
            </a:extLst>
          </p:cNvPr>
          <p:cNvGraphicFramePr>
            <a:graphicFrameLocks noGrp="1"/>
          </p:cNvGraphicFramePr>
          <p:nvPr/>
        </p:nvGraphicFramePr>
        <p:xfrm>
          <a:off x="164467" y="675136"/>
          <a:ext cx="7776865" cy="33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9418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197447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종합건설업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■ 건축설계 및 시공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2444"/>
                  </a:ext>
                </a:extLst>
              </a:tr>
            </a:tbl>
          </a:graphicData>
        </a:graphic>
      </p:graphicFrame>
      <p:sp>
        <p:nvSpPr>
          <p:cNvPr id="69" name="직사각형 68">
            <a:extLst>
              <a:ext uri="{FF2B5EF4-FFF2-40B4-BE49-F238E27FC236}">
                <a16:creationId xmlns:a16="http://schemas.microsoft.com/office/drawing/2014/main" id="{6A995E2B-75E7-35AB-D711-EC9C4C467754}"/>
              </a:ext>
            </a:extLst>
          </p:cNvPr>
          <p:cNvSpPr/>
          <p:nvPr/>
        </p:nvSpPr>
        <p:spPr>
          <a:xfrm>
            <a:off x="164467" y="4745386"/>
            <a:ext cx="699418" cy="2880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목록</a:t>
            </a:r>
          </a:p>
        </p:txBody>
      </p:sp>
    </p:spTree>
    <p:extLst>
      <p:ext uri="{BB962C8B-B14F-4D97-AF65-F5344CB8AC3E}">
        <p14:creationId xmlns:p14="http://schemas.microsoft.com/office/powerpoint/2010/main" val="36361190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7B2CF-B9C4-BB07-0A8C-BCB6FA0BE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82D1BBB8-3469-CFE8-F895-501ECABA6A1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E1305F-CEED-8B60-1230-03A0CD4BDDF1}"/>
              </a:ext>
            </a:extLst>
          </p:cNvPr>
          <p:cNvSpPr txBox="1"/>
          <p:nvPr/>
        </p:nvSpPr>
        <p:spPr>
          <a:xfrm>
            <a:off x="749224" y="25608"/>
            <a:ext cx="24416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현황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상세정보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 정보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032A89F-AC68-B5C6-6A1F-B882C5ADE562}"/>
              </a:ext>
            </a:extLst>
          </p:cNvPr>
          <p:cNvSpPr/>
          <p:nvPr/>
        </p:nvSpPr>
        <p:spPr>
          <a:xfrm>
            <a:off x="164468" y="403565"/>
            <a:ext cx="756617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현황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D1279021-A91F-394F-467C-52B8A5B95286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2524AD2-0465-7C18-5A51-18D824B9F215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0B4E849-EE0F-DD44-D3DB-B73D025254D3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</a:t>
            </a:r>
            <a:endParaRPr lang="ko-KR" altLang="en-US" sz="800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5F5F5C5-4FD7-5D81-79CD-7530446B0BCA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kumimoji="1"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2C977E0-F4BE-BC22-719E-8F6E444F00C5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전자입찰시스템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22" name="Picture 1">
            <a:extLst>
              <a:ext uri="{FF2B5EF4-FFF2-40B4-BE49-F238E27FC236}">
                <a16:creationId xmlns:a16="http://schemas.microsoft.com/office/drawing/2014/main" id="{ABF87932-80C3-C429-11AD-713310A39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F9FDBA2-9FD0-E2CB-4CB5-88BC93DB0CB1}"/>
              </a:ext>
            </a:extLst>
          </p:cNvPr>
          <p:cNvSpPr txBox="1"/>
          <p:nvPr/>
        </p:nvSpPr>
        <p:spPr>
          <a:xfrm>
            <a:off x="8049344" y="584684"/>
            <a:ext cx="1856656" cy="23698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734F4D7-C0BB-4309-871D-0DDF5EC99C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455229"/>
              </p:ext>
            </p:extLst>
          </p:nvPr>
        </p:nvGraphicFramePr>
        <p:xfrm>
          <a:off x="164465" y="817960"/>
          <a:ext cx="7740858" cy="1351680"/>
        </p:xfrm>
        <a:graphic>
          <a:graphicData uri="http://schemas.openxmlformats.org/drawingml/2006/table">
            <a:tbl>
              <a:tblPr firstRow="1" bandRow="1"/>
              <a:tblGrid>
                <a:gridCol w="1083597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1230817">
                  <a:extLst>
                    <a:ext uri="{9D8B030D-6E8A-4147-A177-3AD203B41FA5}">
                      <a16:colId xmlns:a16="http://schemas.microsoft.com/office/drawing/2014/main" val="1731736782"/>
                    </a:ext>
                  </a:extLst>
                </a:gridCol>
                <a:gridCol w="699471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2252895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699471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794233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  <a:gridCol w="980374">
                  <a:extLst>
                    <a:ext uri="{9D8B030D-6E8A-4147-A177-3AD203B41FA5}">
                      <a16:colId xmlns:a16="http://schemas.microsoft.com/office/drawing/2014/main" val="186468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 번호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발주 구분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 구분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계약명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구분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계약방법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낙찰자 선정방법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CT_20260801_001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수주 기반 발주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본공고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서초동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1601-9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오피스텔 신축공사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중 도장공사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경쟁입찰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일반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제한적 최저가 입찰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 상대자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진행상태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계약금액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납기일</a:t>
                      </a:r>
                      <a:r>
                        <a:rPr lang="en-US" altLang="ko-KR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/</a:t>
                      </a: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공사기간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 체결일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사업담당자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계약담당자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91382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 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업체명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계약요청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요청전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48,507,800</a:t>
                      </a: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2026.08.01 ~ 2026.12.31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2026.07.31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홍길동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임꺽정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9146140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0A016020-49C9-2E79-B6A9-70D96388BBB5}"/>
              </a:ext>
            </a:extLst>
          </p:cNvPr>
          <p:cNvSpPr/>
          <p:nvPr/>
        </p:nvSpPr>
        <p:spPr>
          <a:xfrm>
            <a:off x="0" y="6687799"/>
            <a:ext cx="8049344" cy="18002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계속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9FBD00E-2CA8-2060-BFCB-483DAF5A21E7}"/>
              </a:ext>
            </a:extLst>
          </p:cNvPr>
          <p:cNvSpPr/>
          <p:nvPr/>
        </p:nvSpPr>
        <p:spPr>
          <a:xfrm>
            <a:off x="183392" y="2728928"/>
            <a:ext cx="7713520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 기본정보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BEC526A6-A483-8448-AC63-3669767514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9727011"/>
              </p:ext>
            </p:extLst>
          </p:nvPr>
        </p:nvGraphicFramePr>
        <p:xfrm>
          <a:off x="164467" y="3027101"/>
          <a:ext cx="7740859" cy="295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3591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387268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발주계약 품의번호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PPW2026-0029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64422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계약명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서초동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1601-9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오피스텔 신축공사 중 도장공사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065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품의일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2026.06.05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471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요청일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2026.06.01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357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계약예정일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2026.07.31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00273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구분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5394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수주계약정보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수주계약번호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160011612-01-31-C</a:t>
                      </a: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수주계약명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: GE-4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에너지효율화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(ID Fan VVVF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설치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사업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수주계약 체결일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2026.12.23</a:t>
                      </a: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수주계약업체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군장에너지주식회사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777443"/>
                  </a:ext>
                </a:extLst>
              </a:tr>
            </a:tbl>
          </a:graphicData>
        </a:graphic>
      </p:graphicFrame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2E154B43-037D-08C7-97C4-05E6A9052C29}"/>
              </a:ext>
            </a:extLst>
          </p:cNvPr>
          <p:cNvCxnSpPr>
            <a:cxnSpLocks/>
          </p:cNvCxnSpPr>
          <p:nvPr/>
        </p:nvCxnSpPr>
        <p:spPr>
          <a:xfrm>
            <a:off x="167468" y="2611278"/>
            <a:ext cx="7737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6ACB63A4-618E-6933-8B8E-1C0A18DC8C14}"/>
              </a:ext>
            </a:extLst>
          </p:cNvPr>
          <p:cNvSpPr/>
          <p:nvPr/>
        </p:nvSpPr>
        <p:spPr>
          <a:xfrm>
            <a:off x="2406249" y="2321393"/>
            <a:ext cx="1125796" cy="29376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 정보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EA24074-46B2-AA1C-9056-C43988071B03}"/>
              </a:ext>
            </a:extLst>
          </p:cNvPr>
          <p:cNvSpPr/>
          <p:nvPr/>
        </p:nvSpPr>
        <p:spPr>
          <a:xfrm>
            <a:off x="3525142" y="2260692"/>
            <a:ext cx="1125796" cy="354461"/>
          </a:xfrm>
          <a:prstGeom prst="rect">
            <a:avLst/>
          </a:prstGeom>
          <a:solidFill>
            <a:srgbClr val="00B05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 정보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62D4E08-0C62-2C3D-4645-BF367722E58D}"/>
              </a:ext>
            </a:extLst>
          </p:cNvPr>
          <p:cNvSpPr/>
          <p:nvPr/>
        </p:nvSpPr>
        <p:spPr>
          <a:xfrm>
            <a:off x="4649137" y="2322711"/>
            <a:ext cx="1125796" cy="29244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입찰계획 정보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F8606EA-2FFF-576D-BD6D-3F115BAE49AC}"/>
              </a:ext>
            </a:extLst>
          </p:cNvPr>
          <p:cNvSpPr/>
          <p:nvPr/>
        </p:nvSpPr>
        <p:spPr>
          <a:xfrm>
            <a:off x="-1690381" y="1098521"/>
            <a:ext cx="1467136" cy="34105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현황</a:t>
            </a:r>
            <a:endParaRPr lang="en-US" altLang="ko-KR" sz="800" u="sng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B30D005-B2CF-969F-C7D4-70A85D587D72}"/>
              </a:ext>
            </a:extLst>
          </p:cNvPr>
          <p:cNvSpPr/>
          <p:nvPr/>
        </p:nvSpPr>
        <p:spPr>
          <a:xfrm>
            <a:off x="163502" y="2321393"/>
            <a:ext cx="1125796" cy="29376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 정보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833ABB7-B1EA-6370-14F3-4F89C9A3C985}"/>
              </a:ext>
            </a:extLst>
          </p:cNvPr>
          <p:cNvSpPr/>
          <p:nvPr/>
        </p:nvSpPr>
        <p:spPr>
          <a:xfrm>
            <a:off x="1283257" y="2321393"/>
            <a:ext cx="1125796" cy="29376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 관련 서류</a:t>
            </a:r>
          </a:p>
        </p:txBody>
      </p:sp>
    </p:spTree>
    <p:extLst>
      <p:ext uri="{BB962C8B-B14F-4D97-AF65-F5344CB8AC3E}">
        <p14:creationId xmlns:p14="http://schemas.microsoft.com/office/powerpoint/2010/main" val="15070090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881E7-E8B5-A840-0795-6BB807718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6195B11B-CAAD-FDCC-0360-6203EB9A4A2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54BD47-9CD6-89FC-631E-3C18C9076A88}"/>
              </a:ext>
            </a:extLst>
          </p:cNvPr>
          <p:cNvSpPr txBox="1"/>
          <p:nvPr/>
        </p:nvSpPr>
        <p:spPr>
          <a:xfrm>
            <a:off x="749224" y="25608"/>
            <a:ext cx="24416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현황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상세정보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 정보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21A082-02FA-D5CD-3721-831DA1CA2E16}"/>
              </a:ext>
            </a:extLst>
          </p:cNvPr>
          <p:cNvSpPr txBox="1"/>
          <p:nvPr/>
        </p:nvSpPr>
        <p:spPr>
          <a:xfrm>
            <a:off x="8049344" y="584684"/>
            <a:ext cx="1856656" cy="23698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A165B69-9A5C-C886-309A-289B197013B1}"/>
              </a:ext>
            </a:extLst>
          </p:cNvPr>
          <p:cNvGraphicFramePr>
            <a:graphicFrameLocks noGrp="1"/>
          </p:cNvGraphicFramePr>
          <p:nvPr/>
        </p:nvGraphicFramePr>
        <p:xfrm>
          <a:off x="164467" y="387419"/>
          <a:ext cx="7740859" cy="67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3591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387268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사업담당자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홍길동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2521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계약담당자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임꺽정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4933786"/>
                  </a:ext>
                </a:extLst>
              </a:tr>
            </a:tbl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008E8828-7B69-840A-F7AC-8F0D23A846FC}"/>
              </a:ext>
            </a:extLst>
          </p:cNvPr>
          <p:cNvSpPr/>
          <p:nvPr/>
        </p:nvSpPr>
        <p:spPr>
          <a:xfrm>
            <a:off x="183392" y="1143496"/>
            <a:ext cx="7713520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 체크리스트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628D14F-EFEC-5970-9271-DE604F65D458}"/>
              </a:ext>
            </a:extLst>
          </p:cNvPr>
          <p:cNvSpPr/>
          <p:nvPr/>
        </p:nvSpPr>
        <p:spPr>
          <a:xfrm>
            <a:off x="183392" y="1422902"/>
            <a:ext cx="574171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결재 관련 정보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747BAD6-9EAE-D53A-EC5F-34E18629FF63}"/>
              </a:ext>
            </a:extLst>
          </p:cNvPr>
          <p:cNvSpPr/>
          <p:nvPr/>
        </p:nvSpPr>
        <p:spPr>
          <a:xfrm>
            <a:off x="183392" y="2694668"/>
            <a:ext cx="574171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세부정보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748E2283-D8AD-C666-FF90-EBA551526DB2}"/>
              </a:ext>
            </a:extLst>
          </p:cNvPr>
          <p:cNvGraphicFramePr>
            <a:graphicFrameLocks noGrp="1"/>
          </p:cNvGraphicFramePr>
          <p:nvPr/>
        </p:nvGraphicFramePr>
        <p:xfrm>
          <a:off x="179901" y="1679215"/>
          <a:ext cx="7717011" cy="91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8743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148268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결재문서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추진안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일상감사의견서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065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결재문서 등록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등록된 파일명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#1.pdf  </a:t>
                      </a:r>
                      <a:b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b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등록된 파일명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#2.pdf  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357048"/>
                  </a:ext>
                </a:extLst>
              </a:tr>
            </a:tbl>
          </a:graphicData>
        </a:graphic>
      </p:graphicFrame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C01F48E8-DEF1-3845-60F3-0476A13DCF28}"/>
              </a:ext>
            </a:extLst>
          </p:cNvPr>
          <p:cNvGraphicFramePr>
            <a:graphicFrameLocks noGrp="1"/>
          </p:cNvGraphicFramePr>
          <p:nvPr/>
        </p:nvGraphicFramePr>
        <p:xfrm>
          <a:off x="164467" y="2970628"/>
          <a:ext cx="7776865" cy="2365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9418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197447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추정금액 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94,490,000 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구천사백사십구만원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 VAT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포함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2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계약기간 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-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2026.07.20 ~ 2027.07.30</a:t>
                      </a:r>
                      <a:endParaRPr lang="ko-KR" altLang="en-US" sz="800" b="0" spc="-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69958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납품장소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현장 내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065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계약이행 </a:t>
                      </a:r>
                      <a:r>
                        <a:rPr kumimoji="0" lang="ko-KR" altLang="en-US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보증금률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10%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357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하자이행 </a:t>
                      </a:r>
                      <a:r>
                        <a:rPr kumimoji="0" lang="ko-KR" altLang="en-US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보증금률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3%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00273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하자이행 기간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5394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계약방법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경쟁입찰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일반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307130"/>
                  </a:ext>
                </a:extLst>
              </a:tr>
            </a:tbl>
          </a:graphicData>
        </a:graphic>
      </p:graphicFrame>
      <p:sp>
        <p:nvSpPr>
          <p:cNvPr id="28" name="직사각형 27">
            <a:extLst>
              <a:ext uri="{FF2B5EF4-FFF2-40B4-BE49-F238E27FC236}">
                <a16:creationId xmlns:a16="http://schemas.microsoft.com/office/drawing/2014/main" id="{3C7673E5-6B7B-32E1-ADF4-B9820F2EFA5A}"/>
              </a:ext>
            </a:extLst>
          </p:cNvPr>
          <p:cNvSpPr/>
          <p:nvPr/>
        </p:nvSpPr>
        <p:spPr>
          <a:xfrm>
            <a:off x="2909398" y="2080904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바로보기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BDEFC7F-8D29-EB28-7E75-087B3BA2A577}"/>
              </a:ext>
            </a:extLst>
          </p:cNvPr>
          <p:cNvSpPr/>
          <p:nvPr/>
        </p:nvSpPr>
        <p:spPr>
          <a:xfrm>
            <a:off x="3572235" y="2080904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DB0F0965-755B-4137-D71E-8D53B924E4F6}"/>
              </a:ext>
            </a:extLst>
          </p:cNvPr>
          <p:cNvSpPr/>
          <p:nvPr/>
        </p:nvSpPr>
        <p:spPr>
          <a:xfrm>
            <a:off x="2909398" y="2348244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바로보기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B33952B-9856-D879-BF3A-20CCDAF11B46}"/>
              </a:ext>
            </a:extLst>
          </p:cNvPr>
          <p:cNvSpPr/>
          <p:nvPr/>
        </p:nvSpPr>
        <p:spPr>
          <a:xfrm>
            <a:off x="3572235" y="2348244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</a:p>
        </p:txBody>
      </p:sp>
      <p:graphicFrame>
        <p:nvGraphicFramePr>
          <p:cNvPr id="39" name="표 38">
            <a:extLst>
              <a:ext uri="{FF2B5EF4-FFF2-40B4-BE49-F238E27FC236}">
                <a16:creationId xmlns:a16="http://schemas.microsoft.com/office/drawing/2014/main" id="{49B1592F-2082-CF21-33F9-DEF3465F4D65}"/>
              </a:ext>
            </a:extLst>
          </p:cNvPr>
          <p:cNvGraphicFramePr>
            <a:graphicFrameLocks noGrp="1"/>
          </p:cNvGraphicFramePr>
          <p:nvPr/>
        </p:nvGraphicFramePr>
        <p:xfrm>
          <a:off x="164467" y="5332385"/>
          <a:ext cx="7776865" cy="33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9418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197447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낙찰자 선정방법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제한적 최저가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입찰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147291"/>
                  </a:ext>
                </a:extLst>
              </a:tr>
            </a:tbl>
          </a:graphicData>
        </a:graphic>
      </p:graphicFrame>
      <p:graphicFrame>
        <p:nvGraphicFramePr>
          <p:cNvPr id="48" name="표 47">
            <a:extLst>
              <a:ext uri="{FF2B5EF4-FFF2-40B4-BE49-F238E27FC236}">
                <a16:creationId xmlns:a16="http://schemas.microsoft.com/office/drawing/2014/main" id="{F9ECE2D8-736C-6524-30A1-08BEA0DB7EB0}"/>
              </a:ext>
            </a:extLst>
          </p:cNvPr>
          <p:cNvGraphicFramePr>
            <a:graphicFrameLocks noGrp="1"/>
          </p:cNvGraphicFramePr>
          <p:nvPr/>
        </p:nvGraphicFramePr>
        <p:xfrm>
          <a:off x="164410" y="5649246"/>
          <a:ext cx="7776865" cy="33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9418">
                  <a:extLst>
                    <a:ext uri="{9D8B030D-6E8A-4147-A177-3AD203B41FA5}">
                      <a16:colId xmlns:a16="http://schemas.microsoft.com/office/drawing/2014/main" val="2245626066"/>
                    </a:ext>
                  </a:extLst>
                </a:gridCol>
                <a:gridCol w="6197447">
                  <a:extLst>
                    <a:ext uri="{9D8B030D-6E8A-4147-A177-3AD203B41FA5}">
                      <a16:colId xmlns:a16="http://schemas.microsoft.com/office/drawing/2014/main" val="35705632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참가자격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제주도 관내 본사를 두고 있는 사업자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9842769"/>
                  </a:ext>
                </a:extLst>
              </a:tr>
            </a:tbl>
          </a:graphicData>
        </a:graphic>
      </p:graphicFrame>
      <p:sp>
        <p:nvSpPr>
          <p:cNvPr id="50" name="직사각형 49">
            <a:extLst>
              <a:ext uri="{FF2B5EF4-FFF2-40B4-BE49-F238E27FC236}">
                <a16:creationId xmlns:a16="http://schemas.microsoft.com/office/drawing/2014/main" id="{48E46069-3600-A815-7884-D9C0EA06E8DE}"/>
              </a:ext>
            </a:extLst>
          </p:cNvPr>
          <p:cNvSpPr/>
          <p:nvPr/>
        </p:nvSpPr>
        <p:spPr>
          <a:xfrm>
            <a:off x="0" y="6687799"/>
            <a:ext cx="8049344" cy="18002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계속</a:t>
            </a:r>
          </a:p>
        </p:txBody>
      </p:sp>
    </p:spTree>
    <p:extLst>
      <p:ext uri="{BB962C8B-B14F-4D97-AF65-F5344CB8AC3E}">
        <p14:creationId xmlns:p14="http://schemas.microsoft.com/office/powerpoint/2010/main" val="23456897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8FBFC-8CAA-770A-8BA6-04856C048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6E88D387-14D7-7C04-800B-CE2A70B9725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792DF7-F261-3E81-E85E-2B4538DF6A92}"/>
              </a:ext>
            </a:extLst>
          </p:cNvPr>
          <p:cNvSpPr txBox="1"/>
          <p:nvPr/>
        </p:nvSpPr>
        <p:spPr>
          <a:xfrm>
            <a:off x="749224" y="25608"/>
            <a:ext cx="24416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현황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상세정보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 정보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9042B0-C54B-F745-E681-91B935C79A29}"/>
              </a:ext>
            </a:extLst>
          </p:cNvPr>
          <p:cNvSpPr txBox="1"/>
          <p:nvPr/>
        </p:nvSpPr>
        <p:spPr>
          <a:xfrm>
            <a:off x="8049344" y="584684"/>
            <a:ext cx="1856656" cy="23698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623E2AD-5B01-DBA3-A29A-472078B5671F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6C6366A3-4FA0-5AF7-B358-131B7707D820}"/>
              </a:ext>
            </a:extLst>
          </p:cNvPr>
          <p:cNvGraphicFramePr>
            <a:graphicFrameLocks noGrp="1"/>
          </p:cNvGraphicFramePr>
          <p:nvPr/>
        </p:nvGraphicFramePr>
        <p:xfrm>
          <a:off x="164410" y="400476"/>
          <a:ext cx="7776865" cy="101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9418">
                  <a:extLst>
                    <a:ext uri="{9D8B030D-6E8A-4147-A177-3AD203B41FA5}">
                      <a16:colId xmlns:a16="http://schemas.microsoft.com/office/drawing/2014/main" val="2245626066"/>
                    </a:ext>
                  </a:extLst>
                </a:gridCol>
                <a:gridCol w="6197447">
                  <a:extLst>
                    <a:ext uri="{9D8B030D-6E8A-4147-A177-3AD203B41FA5}">
                      <a16:colId xmlns:a16="http://schemas.microsoft.com/office/drawing/2014/main" val="35705632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예정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예비가격 결정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예비가  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29719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예정가격 결정자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사장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|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본부장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58458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입찰 </a:t>
                      </a:r>
                      <a:r>
                        <a:rPr kumimoji="0" lang="ko-KR" altLang="en-US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보증금률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5%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8668122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AA3E1246-8F41-ACF2-1320-4FFF39522AD7}"/>
              </a:ext>
            </a:extLst>
          </p:cNvPr>
          <p:cNvSpPr/>
          <p:nvPr/>
        </p:nvSpPr>
        <p:spPr>
          <a:xfrm>
            <a:off x="183392" y="1509754"/>
            <a:ext cx="574171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계약업체 면허 설정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AA439A97-DEF2-2104-F308-52F2E7423C70}"/>
              </a:ext>
            </a:extLst>
          </p:cNvPr>
          <p:cNvGraphicFramePr>
            <a:graphicFrameLocks noGrp="1"/>
          </p:cNvGraphicFramePr>
          <p:nvPr/>
        </p:nvGraphicFramePr>
        <p:xfrm>
          <a:off x="164467" y="1803489"/>
          <a:ext cx="7776865" cy="67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9418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197447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종합건설업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■ 건축설계 및 시공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2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전문건설업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■ 도장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습식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방수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석공 사업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6995847"/>
                  </a:ext>
                </a:extLst>
              </a:tr>
            </a:tbl>
          </a:graphicData>
        </a:graphic>
      </p:graphicFrame>
      <p:sp>
        <p:nvSpPr>
          <p:cNvPr id="18" name="직사각형 17">
            <a:extLst>
              <a:ext uri="{FF2B5EF4-FFF2-40B4-BE49-F238E27FC236}">
                <a16:creationId xmlns:a16="http://schemas.microsoft.com/office/drawing/2014/main" id="{6D4F84A5-A9AD-BAD6-8A90-FD4DFD70FF6D}"/>
              </a:ext>
            </a:extLst>
          </p:cNvPr>
          <p:cNvSpPr/>
          <p:nvPr/>
        </p:nvSpPr>
        <p:spPr>
          <a:xfrm>
            <a:off x="164467" y="2573917"/>
            <a:ext cx="574171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첨부 서류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DDFF77C0-7E79-B5DA-51E7-75A69C47121D}"/>
              </a:ext>
            </a:extLst>
          </p:cNvPr>
          <p:cNvGraphicFramePr>
            <a:graphicFrameLocks noGrp="1"/>
          </p:cNvGraphicFramePr>
          <p:nvPr/>
        </p:nvGraphicFramePr>
        <p:xfrm>
          <a:off x="164467" y="2876761"/>
          <a:ext cx="7776865" cy="140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9418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197447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용역</a:t>
                      </a:r>
                      <a:endParaRPr kumimoji="0" lang="en-US" altLang="ko-KR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  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원가계산서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(or 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산출내역서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), </a:t>
                      </a:r>
                      <a:b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  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과업지시서 등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#1.pdf  </a:t>
                      </a: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#2.pdf </a:t>
                      </a: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#3.pdf  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2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기타 서류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#1.pdf  </a:t>
                      </a: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#2.pdf  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6995847"/>
                  </a:ext>
                </a:extLst>
              </a:tr>
            </a:tbl>
          </a:graphicData>
        </a:graphic>
      </p:graphicFrame>
      <p:sp>
        <p:nvSpPr>
          <p:cNvPr id="24" name="직사각형 23">
            <a:extLst>
              <a:ext uri="{FF2B5EF4-FFF2-40B4-BE49-F238E27FC236}">
                <a16:creationId xmlns:a16="http://schemas.microsoft.com/office/drawing/2014/main" id="{F1B10ACB-F483-CFFA-D59E-C92BE11A1D00}"/>
              </a:ext>
            </a:extLst>
          </p:cNvPr>
          <p:cNvSpPr/>
          <p:nvPr/>
        </p:nvSpPr>
        <p:spPr>
          <a:xfrm>
            <a:off x="2909398" y="2934068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바로보기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6006F90-4B81-A8AF-AC5A-8D024E9B89A3}"/>
              </a:ext>
            </a:extLst>
          </p:cNvPr>
          <p:cNvSpPr/>
          <p:nvPr/>
        </p:nvSpPr>
        <p:spPr>
          <a:xfrm>
            <a:off x="3572235" y="2934068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96D941C-B2C9-E593-12FA-19FE60BD741A}"/>
              </a:ext>
            </a:extLst>
          </p:cNvPr>
          <p:cNvSpPr/>
          <p:nvPr/>
        </p:nvSpPr>
        <p:spPr>
          <a:xfrm>
            <a:off x="2909398" y="3184156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바로보기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998D073A-876A-147C-2D46-F368FB963CD6}"/>
              </a:ext>
            </a:extLst>
          </p:cNvPr>
          <p:cNvSpPr/>
          <p:nvPr/>
        </p:nvSpPr>
        <p:spPr>
          <a:xfrm>
            <a:off x="3572235" y="3184156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9597D9FB-A9BE-D4FE-2D24-F68E88934C30}"/>
              </a:ext>
            </a:extLst>
          </p:cNvPr>
          <p:cNvSpPr/>
          <p:nvPr/>
        </p:nvSpPr>
        <p:spPr>
          <a:xfrm>
            <a:off x="2909398" y="3434244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바로보기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7C27B5EE-C87E-B593-DA96-2AC5E7EB1CBF}"/>
              </a:ext>
            </a:extLst>
          </p:cNvPr>
          <p:cNvSpPr/>
          <p:nvPr/>
        </p:nvSpPr>
        <p:spPr>
          <a:xfrm>
            <a:off x="3572235" y="3434244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84B56F39-F10B-FD2A-FF9C-145654045B8B}"/>
              </a:ext>
            </a:extLst>
          </p:cNvPr>
          <p:cNvSpPr/>
          <p:nvPr/>
        </p:nvSpPr>
        <p:spPr>
          <a:xfrm>
            <a:off x="2909398" y="3761681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바로보기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FAD8ADA5-3059-DCAD-7528-4B42629B000A}"/>
              </a:ext>
            </a:extLst>
          </p:cNvPr>
          <p:cNvSpPr/>
          <p:nvPr/>
        </p:nvSpPr>
        <p:spPr>
          <a:xfrm>
            <a:off x="3572235" y="3761681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88C06640-25BA-97B4-F654-AC26DF4ECE10}"/>
              </a:ext>
            </a:extLst>
          </p:cNvPr>
          <p:cNvSpPr/>
          <p:nvPr/>
        </p:nvSpPr>
        <p:spPr>
          <a:xfrm>
            <a:off x="2909398" y="4029021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바로보기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69859BC5-A78F-9E47-2FE6-B82A822BFD0E}"/>
              </a:ext>
            </a:extLst>
          </p:cNvPr>
          <p:cNvSpPr/>
          <p:nvPr/>
        </p:nvSpPr>
        <p:spPr>
          <a:xfrm>
            <a:off x="3572235" y="4029021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053E79C2-C84D-F7AA-B53B-9D8F14338816}"/>
              </a:ext>
            </a:extLst>
          </p:cNvPr>
          <p:cNvSpPr/>
          <p:nvPr/>
        </p:nvSpPr>
        <p:spPr>
          <a:xfrm>
            <a:off x="183392" y="4379400"/>
            <a:ext cx="7713520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 정보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54" name="표 53">
            <a:extLst>
              <a:ext uri="{FF2B5EF4-FFF2-40B4-BE49-F238E27FC236}">
                <a16:creationId xmlns:a16="http://schemas.microsoft.com/office/drawing/2014/main" id="{F7EA7F7D-5A16-1755-3672-6FAAA50FA62B}"/>
              </a:ext>
            </a:extLst>
          </p:cNvPr>
          <p:cNvGraphicFramePr>
            <a:graphicFrameLocks noGrp="1"/>
          </p:cNvGraphicFramePr>
          <p:nvPr/>
        </p:nvGraphicFramePr>
        <p:xfrm>
          <a:off x="171333" y="4682297"/>
          <a:ext cx="8974023" cy="675840"/>
        </p:xfrm>
        <a:graphic>
          <a:graphicData uri="http://schemas.openxmlformats.org/drawingml/2006/table">
            <a:tbl>
              <a:tblPr firstRow="1" bandRow="1"/>
              <a:tblGrid>
                <a:gridCol w="258001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97482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2113525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2317117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316734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302079">
                  <a:extLst>
                    <a:ext uri="{9D8B030D-6E8A-4147-A177-3AD203B41FA5}">
                      <a16:colId xmlns:a16="http://schemas.microsoft.com/office/drawing/2014/main" val="419952432"/>
                    </a:ext>
                  </a:extLst>
                </a:gridCol>
                <a:gridCol w="714047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481575">
                  <a:extLst>
                    <a:ext uri="{9D8B030D-6E8A-4147-A177-3AD203B41FA5}">
                      <a16:colId xmlns:a16="http://schemas.microsoft.com/office/drawing/2014/main" val="3408856969"/>
                    </a:ext>
                  </a:extLst>
                </a:gridCol>
                <a:gridCol w="1773463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No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품목코드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품목명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규격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단위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수량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납기요청일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입고장소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비고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서초동 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1601-9 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오피스텔 신축공사 중 도장공사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품목구성방법이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‘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지정항목작성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’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인 경우에 등록됨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2026.07.31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현장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품목등록의 비고에 들어간 내용입니다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</a:tbl>
          </a:graphicData>
        </a:graphic>
      </p:graphicFrame>
      <p:sp>
        <p:nvSpPr>
          <p:cNvPr id="56" name="직사각형 55">
            <a:extLst>
              <a:ext uri="{FF2B5EF4-FFF2-40B4-BE49-F238E27FC236}">
                <a16:creationId xmlns:a16="http://schemas.microsoft.com/office/drawing/2014/main" id="{98288974-7738-2EEE-E1AA-25961837C293}"/>
              </a:ext>
            </a:extLst>
          </p:cNvPr>
          <p:cNvSpPr/>
          <p:nvPr/>
        </p:nvSpPr>
        <p:spPr>
          <a:xfrm>
            <a:off x="164467" y="5486151"/>
            <a:ext cx="699418" cy="2880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목록</a:t>
            </a:r>
          </a:p>
        </p:txBody>
      </p:sp>
    </p:spTree>
    <p:extLst>
      <p:ext uri="{BB962C8B-B14F-4D97-AF65-F5344CB8AC3E}">
        <p14:creationId xmlns:p14="http://schemas.microsoft.com/office/powerpoint/2010/main" val="41202895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580E3-D8DD-04A1-EAF5-27D612544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54C11F5D-2960-08E4-0267-D76E34223BE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0B1F3B8-959B-F0E5-0202-2450E2105473}"/>
              </a:ext>
            </a:extLst>
          </p:cNvPr>
          <p:cNvSpPr txBox="1"/>
          <p:nvPr/>
        </p:nvSpPr>
        <p:spPr>
          <a:xfrm>
            <a:off x="749224" y="25608"/>
            <a:ext cx="305404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현황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상세정보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입찰계획 정보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시 화면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FA212AD-6DE2-FC07-57FB-7836EB837BF0}"/>
              </a:ext>
            </a:extLst>
          </p:cNvPr>
          <p:cNvSpPr/>
          <p:nvPr/>
        </p:nvSpPr>
        <p:spPr>
          <a:xfrm>
            <a:off x="164468" y="403565"/>
            <a:ext cx="756617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현황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342D9FBC-7B89-1FF2-2525-E1D37A3CD387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2AE7ECA-3435-BBC1-CF8A-B0C807F5D90D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3954269-7519-E1B4-4F29-E7FE1243E4D6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</a:t>
            </a:r>
            <a:endParaRPr lang="ko-KR" altLang="en-US" sz="800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F20B1DD-9E53-BCA9-5820-8B96D044C5CB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kumimoji="1"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6CA9BCC-7ADB-2540-4E40-0384496020ED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전자입찰시스템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22" name="Picture 1">
            <a:extLst>
              <a:ext uri="{FF2B5EF4-FFF2-40B4-BE49-F238E27FC236}">
                <a16:creationId xmlns:a16="http://schemas.microsoft.com/office/drawing/2014/main" id="{C42047C2-D8DA-3533-972A-44F130FA20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C134A65-0482-E6D7-301E-5B85DE94948E}"/>
              </a:ext>
            </a:extLst>
          </p:cNvPr>
          <p:cNvSpPr txBox="1"/>
          <p:nvPr/>
        </p:nvSpPr>
        <p:spPr>
          <a:xfrm>
            <a:off x="8049344" y="584684"/>
            <a:ext cx="1856656" cy="23698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rgbClr val="C00000"/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입찰 시 입찰계획 정보 제공 화면</a:t>
            </a:r>
            <a:endParaRPr lang="en-US" altLang="ko-KR" sz="800" dirty="0">
              <a:solidFill>
                <a:srgbClr val="C00000"/>
              </a:solidFill>
              <a:highlight>
                <a:srgbClr val="FFFF00"/>
              </a:highlight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54EC1785-37C1-F2AD-47DE-BB5720C5BA2F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F2EE8CFF-11AE-C74D-E820-A50A85A565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1497137"/>
              </p:ext>
            </p:extLst>
          </p:nvPr>
        </p:nvGraphicFramePr>
        <p:xfrm>
          <a:off x="164465" y="817960"/>
          <a:ext cx="7740858" cy="1351680"/>
        </p:xfrm>
        <a:graphic>
          <a:graphicData uri="http://schemas.openxmlformats.org/drawingml/2006/table">
            <a:tbl>
              <a:tblPr firstRow="1" bandRow="1"/>
              <a:tblGrid>
                <a:gridCol w="1083597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1230817">
                  <a:extLst>
                    <a:ext uri="{9D8B030D-6E8A-4147-A177-3AD203B41FA5}">
                      <a16:colId xmlns:a16="http://schemas.microsoft.com/office/drawing/2014/main" val="1731736782"/>
                    </a:ext>
                  </a:extLst>
                </a:gridCol>
                <a:gridCol w="699471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2252895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699471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794233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  <a:gridCol w="980374">
                  <a:extLst>
                    <a:ext uri="{9D8B030D-6E8A-4147-A177-3AD203B41FA5}">
                      <a16:colId xmlns:a16="http://schemas.microsoft.com/office/drawing/2014/main" val="186468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 번호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발주 구분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 구분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계약명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구분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계약방법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낙찰자 선정방법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CT_20260801_001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수주 기반 발주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본공고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서초동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1601-9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오피스텔 신축공사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중 도장공사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경쟁입찰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일반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제한적 최저가 입찰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 상대자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진행상태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계약금액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납기일</a:t>
                      </a:r>
                      <a:r>
                        <a:rPr lang="en-US" altLang="ko-KR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/</a:t>
                      </a: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공사기간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 체결일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사업담당자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계약담당자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91382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 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업체명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계약요청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요청전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48,507,800</a:t>
                      </a: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2026.08.01 ~ 2026.12.31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2026.07.31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홍길동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임꺽정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9146140"/>
                  </a:ext>
                </a:extLst>
              </a:tr>
            </a:tbl>
          </a:graphicData>
        </a:graphic>
      </p:graphicFrame>
      <p:sp>
        <p:nvSpPr>
          <p:cNvPr id="3" name="타원 2">
            <a:extLst>
              <a:ext uri="{FF2B5EF4-FFF2-40B4-BE49-F238E27FC236}">
                <a16:creationId xmlns:a16="http://schemas.microsoft.com/office/drawing/2014/main" id="{007545A8-E683-3647-0A5D-8B0344A966BA}"/>
              </a:ext>
            </a:extLst>
          </p:cNvPr>
          <p:cNvSpPr/>
          <p:nvPr/>
        </p:nvSpPr>
        <p:spPr>
          <a:xfrm>
            <a:off x="19825" y="272666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04045C5-1223-0147-F857-B513DF046394}"/>
              </a:ext>
            </a:extLst>
          </p:cNvPr>
          <p:cNvSpPr/>
          <p:nvPr/>
        </p:nvSpPr>
        <p:spPr>
          <a:xfrm>
            <a:off x="183392" y="2726407"/>
            <a:ext cx="7713520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입찰계획 상세정보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781D422F-27EB-117F-2D87-21702F465D77}"/>
              </a:ext>
            </a:extLst>
          </p:cNvPr>
          <p:cNvGraphicFramePr>
            <a:graphicFrameLocks noGrp="1"/>
          </p:cNvGraphicFramePr>
          <p:nvPr/>
        </p:nvGraphicFramePr>
        <p:xfrm>
          <a:off x="164467" y="3024580"/>
          <a:ext cx="7740859" cy="101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7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156682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입찰 시작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마감일시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2026.07.31 09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시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00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분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~ 2026.08.15 18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시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00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14883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입찰공고 게시기간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2026.07.28 09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00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분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~ 2026.08.15 18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00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630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현장설명회 일시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현장설명회 없음 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|   2026.08.05 16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00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8892629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9BD2DCEA-1CAC-0E85-9F4F-1F1E04BF125C}"/>
              </a:ext>
            </a:extLst>
          </p:cNvPr>
          <p:cNvGraphicFramePr>
            <a:graphicFrameLocks noGrp="1"/>
          </p:cNvGraphicFramePr>
          <p:nvPr/>
        </p:nvGraphicFramePr>
        <p:xfrm>
          <a:off x="164467" y="4030668"/>
          <a:ext cx="7776865" cy="2251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9418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197447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입찰공고문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2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입찰참가신청서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93583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입찰보증금지급각서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31658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시방서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구매견적서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과업지시서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09388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기타서류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3389591"/>
                  </a:ext>
                </a:extLst>
              </a:tr>
            </a:tbl>
          </a:graphicData>
        </a:graphic>
      </p:graphicFrame>
      <p:grpSp>
        <p:nvGrpSpPr>
          <p:cNvPr id="9" name="그룹 8">
            <a:extLst>
              <a:ext uri="{FF2B5EF4-FFF2-40B4-BE49-F238E27FC236}">
                <a16:creationId xmlns:a16="http://schemas.microsoft.com/office/drawing/2014/main" id="{AA881D58-66F1-A028-48E1-2DBE6DDBDBBB}"/>
              </a:ext>
            </a:extLst>
          </p:cNvPr>
          <p:cNvGrpSpPr/>
          <p:nvPr/>
        </p:nvGrpSpPr>
        <p:grpSpPr>
          <a:xfrm>
            <a:off x="2777097" y="4083066"/>
            <a:ext cx="1275802" cy="198885"/>
            <a:chOff x="2576736" y="3905324"/>
            <a:chExt cx="1275802" cy="198885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F82A9893-A0D0-B586-D7D9-9E704765A33E}"/>
                </a:ext>
              </a:extLst>
            </p:cNvPr>
            <p:cNvSpPr/>
            <p:nvPr/>
          </p:nvSpPr>
          <p:spPr>
            <a:xfrm>
              <a:off x="2576736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B18D844F-B795-E4BA-47ED-65CE34F67EC7}"/>
                </a:ext>
              </a:extLst>
            </p:cNvPr>
            <p:cNvSpPr/>
            <p:nvPr/>
          </p:nvSpPr>
          <p:spPr>
            <a:xfrm>
              <a:off x="3239573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97ACFEEE-84EF-B19E-A06F-06CD02A4E80F}"/>
              </a:ext>
            </a:extLst>
          </p:cNvPr>
          <p:cNvGrpSpPr/>
          <p:nvPr/>
        </p:nvGrpSpPr>
        <p:grpSpPr>
          <a:xfrm>
            <a:off x="2777097" y="4440561"/>
            <a:ext cx="1275802" cy="198885"/>
            <a:chOff x="2576736" y="3905324"/>
            <a:chExt cx="1275802" cy="198885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12D916B5-9C87-E439-08C8-B40A4D9B7275}"/>
                </a:ext>
              </a:extLst>
            </p:cNvPr>
            <p:cNvSpPr/>
            <p:nvPr/>
          </p:nvSpPr>
          <p:spPr>
            <a:xfrm>
              <a:off x="2576736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EE20CCD9-C5E8-B042-26A7-DCB0083075D2}"/>
                </a:ext>
              </a:extLst>
            </p:cNvPr>
            <p:cNvSpPr/>
            <p:nvPr/>
          </p:nvSpPr>
          <p:spPr>
            <a:xfrm>
              <a:off x="3239573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EC249DC5-68FA-1A5B-6ED5-580B867EB25B}"/>
              </a:ext>
            </a:extLst>
          </p:cNvPr>
          <p:cNvGrpSpPr/>
          <p:nvPr/>
        </p:nvGrpSpPr>
        <p:grpSpPr>
          <a:xfrm>
            <a:off x="2777097" y="4805504"/>
            <a:ext cx="1275802" cy="198885"/>
            <a:chOff x="2576736" y="3905324"/>
            <a:chExt cx="1275802" cy="198885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CCDB86BB-AE0B-32BC-9743-91E070B4A615}"/>
                </a:ext>
              </a:extLst>
            </p:cNvPr>
            <p:cNvSpPr/>
            <p:nvPr/>
          </p:nvSpPr>
          <p:spPr>
            <a:xfrm>
              <a:off x="2576736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14376F79-DB12-7055-3566-86A58671B4F4}"/>
                </a:ext>
              </a:extLst>
            </p:cNvPr>
            <p:cNvSpPr/>
            <p:nvPr/>
          </p:nvSpPr>
          <p:spPr>
            <a:xfrm>
              <a:off x="3239573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5CA64B76-3EBD-5858-5EDE-86721382C5AB}"/>
              </a:ext>
            </a:extLst>
          </p:cNvPr>
          <p:cNvGrpSpPr/>
          <p:nvPr/>
        </p:nvGrpSpPr>
        <p:grpSpPr>
          <a:xfrm>
            <a:off x="2777097" y="5068674"/>
            <a:ext cx="1275802" cy="198885"/>
            <a:chOff x="2576736" y="3905324"/>
            <a:chExt cx="1275802" cy="198885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42BA968E-83FB-AF1A-1B12-C0EF4E999FE5}"/>
                </a:ext>
              </a:extLst>
            </p:cNvPr>
            <p:cNvSpPr/>
            <p:nvPr/>
          </p:nvSpPr>
          <p:spPr>
            <a:xfrm>
              <a:off x="2576736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5A29F670-0894-C2BA-C706-4BAA3527AD7B}"/>
                </a:ext>
              </a:extLst>
            </p:cNvPr>
            <p:cNvSpPr/>
            <p:nvPr/>
          </p:nvSpPr>
          <p:spPr>
            <a:xfrm>
              <a:off x="3239573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BC2221C9-B0C7-5BAF-5564-80AA12EE8087}"/>
              </a:ext>
            </a:extLst>
          </p:cNvPr>
          <p:cNvGrpSpPr/>
          <p:nvPr/>
        </p:nvGrpSpPr>
        <p:grpSpPr>
          <a:xfrm>
            <a:off x="2777097" y="5401363"/>
            <a:ext cx="1275802" cy="198885"/>
            <a:chOff x="2576736" y="3905324"/>
            <a:chExt cx="1275802" cy="198885"/>
          </a:xfrm>
        </p:grpSpPr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0D312C9B-D939-4D3A-9D47-385E79889561}"/>
                </a:ext>
              </a:extLst>
            </p:cNvPr>
            <p:cNvSpPr/>
            <p:nvPr/>
          </p:nvSpPr>
          <p:spPr>
            <a:xfrm>
              <a:off x="2576736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E63DA144-11C1-8E3B-5632-6AEF35401F21}"/>
                </a:ext>
              </a:extLst>
            </p:cNvPr>
            <p:cNvSpPr/>
            <p:nvPr/>
          </p:nvSpPr>
          <p:spPr>
            <a:xfrm>
              <a:off x="3239573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DBE63BD6-AD15-DF3F-97E0-2384F56902E3}"/>
              </a:ext>
            </a:extLst>
          </p:cNvPr>
          <p:cNvGrpSpPr/>
          <p:nvPr/>
        </p:nvGrpSpPr>
        <p:grpSpPr>
          <a:xfrm>
            <a:off x="2777097" y="5664533"/>
            <a:ext cx="1275802" cy="198885"/>
            <a:chOff x="2576736" y="3905324"/>
            <a:chExt cx="1275802" cy="198885"/>
          </a:xfrm>
        </p:grpSpPr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75600713-1282-7847-D4CE-14C32195F865}"/>
                </a:ext>
              </a:extLst>
            </p:cNvPr>
            <p:cNvSpPr/>
            <p:nvPr/>
          </p:nvSpPr>
          <p:spPr>
            <a:xfrm>
              <a:off x="2576736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97165769-DD33-9882-0D6E-C3345A0532EA}"/>
                </a:ext>
              </a:extLst>
            </p:cNvPr>
            <p:cNvSpPr/>
            <p:nvPr/>
          </p:nvSpPr>
          <p:spPr>
            <a:xfrm>
              <a:off x="3239573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77AF37C7-456E-4436-244C-1F9331CCB5B6}"/>
              </a:ext>
            </a:extLst>
          </p:cNvPr>
          <p:cNvGrpSpPr/>
          <p:nvPr/>
        </p:nvGrpSpPr>
        <p:grpSpPr>
          <a:xfrm>
            <a:off x="2777097" y="5975725"/>
            <a:ext cx="1275802" cy="198885"/>
            <a:chOff x="2576736" y="3905324"/>
            <a:chExt cx="1275802" cy="198885"/>
          </a:xfrm>
        </p:grpSpPr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ED71702D-A918-3B0D-969A-5F6B76368ADD}"/>
                </a:ext>
              </a:extLst>
            </p:cNvPr>
            <p:cNvSpPr/>
            <p:nvPr/>
          </p:nvSpPr>
          <p:spPr>
            <a:xfrm>
              <a:off x="2576736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EC62ADCF-9703-C326-6C73-6BAF804E1243}"/>
                </a:ext>
              </a:extLst>
            </p:cNvPr>
            <p:cNvSpPr/>
            <p:nvPr/>
          </p:nvSpPr>
          <p:spPr>
            <a:xfrm>
              <a:off x="3239573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DE39462C-FDFF-08B1-6ECA-FA9EF72895E3}"/>
              </a:ext>
            </a:extLst>
          </p:cNvPr>
          <p:cNvCxnSpPr>
            <a:cxnSpLocks/>
          </p:cNvCxnSpPr>
          <p:nvPr/>
        </p:nvCxnSpPr>
        <p:spPr>
          <a:xfrm>
            <a:off x="167468" y="2611278"/>
            <a:ext cx="7737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BC3CD46-69A3-050A-2C52-BCB7129D9697}"/>
              </a:ext>
            </a:extLst>
          </p:cNvPr>
          <p:cNvSpPr/>
          <p:nvPr/>
        </p:nvSpPr>
        <p:spPr>
          <a:xfrm>
            <a:off x="2406249" y="2321393"/>
            <a:ext cx="1125796" cy="29376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 정보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BAE169A9-B51C-033A-CCAB-CDD120B9D60E}"/>
              </a:ext>
            </a:extLst>
          </p:cNvPr>
          <p:cNvSpPr/>
          <p:nvPr/>
        </p:nvSpPr>
        <p:spPr>
          <a:xfrm>
            <a:off x="3525142" y="2321393"/>
            <a:ext cx="1125796" cy="29376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 정보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A83331A2-F5B4-DE39-8FE6-E37E0E9559C3}"/>
              </a:ext>
            </a:extLst>
          </p:cNvPr>
          <p:cNvSpPr/>
          <p:nvPr/>
        </p:nvSpPr>
        <p:spPr>
          <a:xfrm>
            <a:off x="4649137" y="2257416"/>
            <a:ext cx="1125796" cy="357737"/>
          </a:xfrm>
          <a:prstGeom prst="rect">
            <a:avLst/>
          </a:prstGeom>
          <a:solidFill>
            <a:srgbClr val="00B05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입찰계획 정보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767ACF3A-D084-3241-4963-9601E459182F}"/>
              </a:ext>
            </a:extLst>
          </p:cNvPr>
          <p:cNvSpPr/>
          <p:nvPr/>
        </p:nvSpPr>
        <p:spPr>
          <a:xfrm>
            <a:off x="-1690381" y="1098521"/>
            <a:ext cx="1467136" cy="34105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현황</a:t>
            </a:r>
            <a:endParaRPr lang="en-US" altLang="ko-KR" sz="800" u="sng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B5D6EF1-B9E7-B717-24BB-AB9D3CF46692}"/>
              </a:ext>
            </a:extLst>
          </p:cNvPr>
          <p:cNvSpPr/>
          <p:nvPr/>
        </p:nvSpPr>
        <p:spPr>
          <a:xfrm>
            <a:off x="163502" y="2321393"/>
            <a:ext cx="1125796" cy="29376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 정보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ACDEEE37-78BB-DD8B-5EE5-186B3AFDBE2F}"/>
              </a:ext>
            </a:extLst>
          </p:cNvPr>
          <p:cNvSpPr/>
          <p:nvPr/>
        </p:nvSpPr>
        <p:spPr>
          <a:xfrm>
            <a:off x="1283257" y="2321393"/>
            <a:ext cx="1125796" cy="29376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 관련 서류</a:t>
            </a:r>
          </a:p>
        </p:txBody>
      </p:sp>
    </p:spTree>
    <p:extLst>
      <p:ext uri="{BB962C8B-B14F-4D97-AF65-F5344CB8AC3E}">
        <p14:creationId xmlns:p14="http://schemas.microsoft.com/office/powerpoint/2010/main" val="11012056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4EF3C-03D8-9640-EFF2-42884F4EC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A016245-A02A-149B-49DD-1029DC3E548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B45B76-0483-D4BD-3EDE-09E1AACAC021}"/>
              </a:ext>
            </a:extLst>
          </p:cNvPr>
          <p:cNvSpPr txBox="1"/>
          <p:nvPr/>
        </p:nvSpPr>
        <p:spPr>
          <a:xfrm>
            <a:off x="749224" y="25608"/>
            <a:ext cx="305404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현황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상세정보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입찰계획 정보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시 화면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F09D7B-92CB-F2EC-73CC-335D981DF654}"/>
              </a:ext>
            </a:extLst>
          </p:cNvPr>
          <p:cNvSpPr txBox="1"/>
          <p:nvPr/>
        </p:nvSpPr>
        <p:spPr>
          <a:xfrm>
            <a:off x="8049344" y="584684"/>
            <a:ext cx="1856656" cy="23698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rgbClr val="C00000"/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en-US" altLang="ko-KR" sz="800" dirty="0">
              <a:solidFill>
                <a:srgbClr val="C00000"/>
              </a:solidFill>
              <a:highlight>
                <a:srgbClr val="FFFF00"/>
              </a:highlight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EBA179E1-864A-2276-7C4A-5D556C8EF5A2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계속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FFDC54BF-6FA3-6C3F-DA2D-CDCF26139968}"/>
              </a:ext>
            </a:extLst>
          </p:cNvPr>
          <p:cNvSpPr/>
          <p:nvPr/>
        </p:nvSpPr>
        <p:spPr>
          <a:xfrm>
            <a:off x="183392" y="1454096"/>
            <a:ext cx="7713520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 </a:t>
            </a:r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투찰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기간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50" name="표 49">
            <a:extLst>
              <a:ext uri="{FF2B5EF4-FFF2-40B4-BE49-F238E27FC236}">
                <a16:creationId xmlns:a16="http://schemas.microsoft.com/office/drawing/2014/main" id="{1ED17B81-2C76-C974-8463-27A2AE0365FD}"/>
              </a:ext>
            </a:extLst>
          </p:cNvPr>
          <p:cNvGraphicFramePr>
            <a:graphicFrameLocks noGrp="1"/>
          </p:cNvGraphicFramePr>
          <p:nvPr/>
        </p:nvGraphicFramePr>
        <p:xfrm>
          <a:off x="164467" y="1724643"/>
          <a:ext cx="7740859" cy="33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7">
                  <a:extLst>
                    <a:ext uri="{9D8B030D-6E8A-4147-A177-3AD203B41FA5}">
                      <a16:colId xmlns:a16="http://schemas.microsoft.com/office/drawing/2014/main" val="2218358209"/>
                    </a:ext>
                  </a:extLst>
                </a:gridCol>
                <a:gridCol w="6156682">
                  <a:extLst>
                    <a:ext uri="{9D8B030D-6E8A-4147-A177-3AD203B41FA5}">
                      <a16:colId xmlns:a16="http://schemas.microsoft.com/office/drawing/2014/main" val="37664955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가격 </a:t>
                      </a:r>
                      <a:r>
                        <a:rPr kumimoji="0" lang="ko-KR" altLang="en-US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투찰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기간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2026.07.20 09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00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분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~ 2026.08.25 18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00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88328"/>
                  </a:ext>
                </a:extLst>
              </a:tr>
            </a:tbl>
          </a:graphicData>
        </a:graphic>
      </p:graphicFrame>
      <p:sp>
        <p:nvSpPr>
          <p:cNvPr id="52" name="직사각형 51">
            <a:extLst>
              <a:ext uri="{FF2B5EF4-FFF2-40B4-BE49-F238E27FC236}">
                <a16:creationId xmlns:a16="http://schemas.microsoft.com/office/drawing/2014/main" id="{FD592AE5-BFA9-034A-2F8F-FFF4DF038EFB}"/>
              </a:ext>
            </a:extLst>
          </p:cNvPr>
          <p:cNvSpPr/>
          <p:nvPr/>
        </p:nvSpPr>
        <p:spPr>
          <a:xfrm>
            <a:off x="183392" y="361231"/>
            <a:ext cx="7713520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입찰참여 가능 업체 선택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54" name="표 53">
            <a:extLst>
              <a:ext uri="{FF2B5EF4-FFF2-40B4-BE49-F238E27FC236}">
                <a16:creationId xmlns:a16="http://schemas.microsoft.com/office/drawing/2014/main" id="{BF856B9D-A36F-B27F-A3F6-C8831D95A974}"/>
              </a:ext>
            </a:extLst>
          </p:cNvPr>
          <p:cNvGraphicFramePr>
            <a:graphicFrameLocks noGrp="1"/>
          </p:cNvGraphicFramePr>
          <p:nvPr/>
        </p:nvGraphicFramePr>
        <p:xfrm>
          <a:off x="164467" y="631778"/>
          <a:ext cx="7740859" cy="73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7">
                  <a:extLst>
                    <a:ext uri="{9D8B030D-6E8A-4147-A177-3AD203B41FA5}">
                      <a16:colId xmlns:a16="http://schemas.microsoft.com/office/drawing/2014/main" val="2218358209"/>
                    </a:ext>
                  </a:extLst>
                </a:gridCol>
                <a:gridCol w="6156682">
                  <a:extLst>
                    <a:ext uri="{9D8B030D-6E8A-4147-A177-3AD203B41FA5}">
                      <a16:colId xmlns:a16="http://schemas.microsoft.com/office/drawing/2014/main" val="37664955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입찰참여 업체 선택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A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협력업체명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(123-45-67891)</a:t>
                      </a: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B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협력업체명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(123-45-67891)</a:t>
                      </a: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C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협력업체명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(123-45-67891)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88328"/>
                  </a:ext>
                </a:extLst>
              </a:tr>
            </a:tbl>
          </a:graphicData>
        </a:graphic>
      </p:graphicFrame>
      <p:sp>
        <p:nvSpPr>
          <p:cNvPr id="56" name="직사각형 55">
            <a:extLst>
              <a:ext uri="{FF2B5EF4-FFF2-40B4-BE49-F238E27FC236}">
                <a16:creationId xmlns:a16="http://schemas.microsoft.com/office/drawing/2014/main" id="{DE5245DB-F88A-2C56-A137-BBA8674C4C1E}"/>
              </a:ext>
            </a:extLst>
          </p:cNvPr>
          <p:cNvSpPr/>
          <p:nvPr/>
        </p:nvSpPr>
        <p:spPr>
          <a:xfrm>
            <a:off x="183392" y="2168860"/>
            <a:ext cx="7713520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심사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평가 관련 정보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58" name="표 57">
            <a:extLst>
              <a:ext uri="{FF2B5EF4-FFF2-40B4-BE49-F238E27FC236}">
                <a16:creationId xmlns:a16="http://schemas.microsoft.com/office/drawing/2014/main" id="{2AB30661-CDBF-DCE9-55D3-0A879F6B2A28}"/>
              </a:ext>
            </a:extLst>
          </p:cNvPr>
          <p:cNvGraphicFramePr>
            <a:graphicFrameLocks noGrp="1"/>
          </p:cNvGraphicFramePr>
          <p:nvPr/>
        </p:nvGraphicFramePr>
        <p:xfrm>
          <a:off x="164467" y="2444817"/>
          <a:ext cx="7740859" cy="101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7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156682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업체평가 종료일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2026.07.21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065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동점자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처리기준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규격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기술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357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평가자 매핑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홍길동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5394118"/>
                  </a:ext>
                </a:extLst>
              </a:tr>
            </a:tbl>
          </a:graphicData>
        </a:graphic>
      </p:graphicFrame>
      <p:graphicFrame>
        <p:nvGraphicFramePr>
          <p:cNvPr id="60" name="표 59">
            <a:extLst>
              <a:ext uri="{FF2B5EF4-FFF2-40B4-BE49-F238E27FC236}">
                <a16:creationId xmlns:a16="http://schemas.microsoft.com/office/drawing/2014/main" id="{84C95443-2887-3598-E0D6-A9F6A4F7FFD8}"/>
              </a:ext>
            </a:extLst>
          </p:cNvPr>
          <p:cNvGraphicFramePr>
            <a:graphicFrameLocks noGrp="1"/>
          </p:cNvGraphicFramePr>
          <p:nvPr/>
        </p:nvGraphicFramePr>
        <p:xfrm>
          <a:off x="164467" y="3458577"/>
          <a:ext cx="7740859" cy="107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7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156682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종합평가 비율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기술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 80%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|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가격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 20%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471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업체 전달사항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입찰 참여 시 등록해야 하는 서류를 꼼꼼히 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읽어보시고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빠짐없이 등록해주세요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777443"/>
                  </a:ext>
                </a:extLst>
              </a:tr>
            </a:tbl>
          </a:graphicData>
        </a:graphic>
      </p:graphicFrame>
      <p:sp>
        <p:nvSpPr>
          <p:cNvPr id="62" name="직사각형 61">
            <a:extLst>
              <a:ext uri="{FF2B5EF4-FFF2-40B4-BE49-F238E27FC236}">
                <a16:creationId xmlns:a16="http://schemas.microsoft.com/office/drawing/2014/main" id="{E84D5BCA-418A-9021-7964-896F4B028F19}"/>
              </a:ext>
            </a:extLst>
          </p:cNvPr>
          <p:cNvSpPr/>
          <p:nvPr/>
        </p:nvSpPr>
        <p:spPr>
          <a:xfrm>
            <a:off x="183392" y="4640871"/>
            <a:ext cx="7713520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제안발표 관련 정보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65" name="표 64">
            <a:extLst>
              <a:ext uri="{FF2B5EF4-FFF2-40B4-BE49-F238E27FC236}">
                <a16:creationId xmlns:a16="http://schemas.microsoft.com/office/drawing/2014/main" id="{1361CEDF-11E5-084C-44CE-1BF79D28B2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2179174"/>
              </p:ext>
            </p:extLst>
          </p:nvPr>
        </p:nvGraphicFramePr>
        <p:xfrm>
          <a:off x="164467" y="4939044"/>
          <a:ext cx="7740859" cy="135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153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372706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협상에 의한 계약 여부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협상에 의한 계약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20952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제안발표 여부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제안발표 진행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777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제안발표 일시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2026.08.31 16시 30분부터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진행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27298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제안발표 장소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전기회관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층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켑코이에스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대회의실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9575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20162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3E75F-FD75-91C0-38F8-DCE7B1C80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F3EA143-5E6A-5E6F-3198-F07549F38BD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ED6E7F5-BCCA-D0C1-80D1-67214F257616}"/>
              </a:ext>
            </a:extLst>
          </p:cNvPr>
          <p:cNvSpPr txBox="1"/>
          <p:nvPr/>
        </p:nvSpPr>
        <p:spPr>
          <a:xfrm>
            <a:off x="749224" y="25608"/>
            <a:ext cx="305404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현황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상세정보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입찰계획 정보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시 화면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C62196-A003-7914-B0CC-E212948A5117}"/>
              </a:ext>
            </a:extLst>
          </p:cNvPr>
          <p:cNvSpPr txBox="1"/>
          <p:nvPr/>
        </p:nvSpPr>
        <p:spPr>
          <a:xfrm>
            <a:off x="8049344" y="584684"/>
            <a:ext cx="1856656" cy="23698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rgbClr val="C00000"/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en-US" altLang="ko-KR" sz="800" dirty="0">
              <a:solidFill>
                <a:srgbClr val="C00000"/>
              </a:solidFill>
              <a:highlight>
                <a:srgbClr val="FFFF00"/>
              </a:highlight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6940D08-6EF5-2AB0-0445-789E2A07613E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계속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44AD623-63E8-E2F7-97A0-760C4222D494}"/>
              </a:ext>
            </a:extLst>
          </p:cNvPr>
          <p:cNvSpPr/>
          <p:nvPr/>
        </p:nvSpPr>
        <p:spPr>
          <a:xfrm>
            <a:off x="183392" y="388356"/>
            <a:ext cx="7713520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심사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평가 항목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DD87E2-4322-B16B-571A-601E4EC28597}"/>
              </a:ext>
            </a:extLst>
          </p:cNvPr>
          <p:cNvSpPr txBox="1"/>
          <p:nvPr/>
        </p:nvSpPr>
        <p:spPr>
          <a:xfrm>
            <a:off x="164468" y="660690"/>
            <a:ext cx="3053340" cy="2308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등록된 심사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평가 항목 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총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건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738C6668-6CC6-F2D5-851C-08209679EE6A}"/>
              </a:ext>
            </a:extLst>
          </p:cNvPr>
          <p:cNvGraphicFramePr>
            <a:graphicFrameLocks noGrp="1"/>
          </p:cNvGraphicFramePr>
          <p:nvPr/>
        </p:nvGraphicFramePr>
        <p:xfrm>
          <a:off x="171332" y="933024"/>
          <a:ext cx="7713521" cy="1013760"/>
        </p:xfrm>
        <a:graphic>
          <a:graphicData uri="http://schemas.openxmlformats.org/drawingml/2006/table">
            <a:tbl>
              <a:tblPr firstRow="1" bandRow="1"/>
              <a:tblGrid>
                <a:gridCol w="611564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1905497">
                  <a:extLst>
                    <a:ext uri="{9D8B030D-6E8A-4147-A177-3AD203B41FA5}">
                      <a16:colId xmlns:a16="http://schemas.microsoft.com/office/drawing/2014/main" val="2348944443"/>
                    </a:ext>
                  </a:extLst>
                </a:gridCol>
                <a:gridCol w="2413243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975994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1807223">
                  <a:extLst>
                    <a:ext uri="{9D8B030D-6E8A-4147-A177-3AD203B41FA5}">
                      <a16:colId xmlns:a16="http://schemas.microsoft.com/office/drawing/2014/main" val="20213102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No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심사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/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평가 구분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심사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/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평가 항목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배점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자가심사 여부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계량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정량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신용평가등급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10.00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필요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계량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정량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시공경험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일반공사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10.00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필요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C06E79EF-95E9-65B2-D443-BEFFBC888B5D}"/>
              </a:ext>
            </a:extLst>
          </p:cNvPr>
          <p:cNvGraphicFramePr>
            <a:graphicFrameLocks noGrp="1"/>
          </p:cNvGraphicFramePr>
          <p:nvPr/>
        </p:nvGraphicFramePr>
        <p:xfrm>
          <a:off x="171332" y="1915382"/>
          <a:ext cx="7713521" cy="675840"/>
        </p:xfrm>
        <a:graphic>
          <a:graphicData uri="http://schemas.openxmlformats.org/drawingml/2006/table">
            <a:tbl>
              <a:tblPr firstRow="1" bandRow="1"/>
              <a:tblGrid>
                <a:gridCol w="611564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1905497">
                  <a:extLst>
                    <a:ext uri="{9D8B030D-6E8A-4147-A177-3AD203B41FA5}">
                      <a16:colId xmlns:a16="http://schemas.microsoft.com/office/drawing/2014/main" val="2348944443"/>
                    </a:ext>
                  </a:extLst>
                </a:gridCol>
                <a:gridCol w="2413243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975994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1807223">
                  <a:extLst>
                    <a:ext uri="{9D8B030D-6E8A-4147-A177-3AD203B41FA5}">
                      <a16:colId xmlns:a16="http://schemas.microsoft.com/office/drawing/2014/main" val="2021310288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3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비계량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정성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제안 평가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60.00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불필요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076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총 배점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80.00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6865154"/>
                  </a:ext>
                </a:extLst>
              </a:tr>
            </a:tbl>
          </a:graphicData>
        </a:graphic>
      </p:graphicFrame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2CD1A4C1-767B-F6F9-8063-3F98B6A141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0845587"/>
              </p:ext>
            </p:extLst>
          </p:nvPr>
        </p:nvGraphicFramePr>
        <p:xfrm>
          <a:off x="164468" y="2709566"/>
          <a:ext cx="7736576" cy="33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4156">
                  <a:extLst>
                    <a:ext uri="{9D8B030D-6E8A-4147-A177-3AD203B41FA5}">
                      <a16:colId xmlns:a16="http://schemas.microsoft.com/office/drawing/2014/main" val="477224945"/>
                    </a:ext>
                  </a:extLst>
                </a:gridCol>
                <a:gridCol w="6332420">
                  <a:extLst>
                    <a:ext uri="{9D8B030D-6E8A-4147-A177-3AD203B41FA5}">
                      <a16:colId xmlns:a16="http://schemas.microsoft.com/office/drawing/2014/main" val="3478716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최저점수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적격여부 판단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60점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209096"/>
                  </a:ext>
                </a:extLst>
              </a:tr>
            </a:tbl>
          </a:graphicData>
        </a:graphic>
      </p:graphicFrame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7A406589-FCE0-077D-E4E7-D0B7D4AD39C6}"/>
              </a:ext>
            </a:extLst>
          </p:cNvPr>
          <p:cNvGraphicFramePr>
            <a:graphicFrameLocks noGrp="1"/>
          </p:cNvGraphicFramePr>
          <p:nvPr/>
        </p:nvGraphicFramePr>
        <p:xfrm>
          <a:off x="164468" y="3047486"/>
          <a:ext cx="7692855" cy="586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4156">
                  <a:extLst>
                    <a:ext uri="{9D8B030D-6E8A-4147-A177-3AD203B41FA5}">
                      <a16:colId xmlns:a16="http://schemas.microsoft.com/office/drawing/2014/main" val="477224945"/>
                    </a:ext>
                  </a:extLst>
                </a:gridCol>
                <a:gridCol w="6288699">
                  <a:extLst>
                    <a:ext uri="{9D8B030D-6E8A-4147-A177-3AD203B41FA5}">
                      <a16:colId xmlns:a16="http://schemas.microsoft.com/office/drawing/2014/main" val="3478716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심사기준</a:t>
                      </a:r>
                      <a:b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배점 및 평가기준 등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8533698"/>
                  </a:ext>
                </a:extLst>
              </a:tr>
            </a:tbl>
          </a:graphicData>
        </a:graphic>
      </p:graphicFrame>
      <p:sp>
        <p:nvSpPr>
          <p:cNvPr id="20" name="직사각형 19">
            <a:extLst>
              <a:ext uri="{FF2B5EF4-FFF2-40B4-BE49-F238E27FC236}">
                <a16:creationId xmlns:a16="http://schemas.microsoft.com/office/drawing/2014/main" id="{44C10F93-ACB1-D00D-CDBF-0EDB337F88C0}"/>
              </a:ext>
            </a:extLst>
          </p:cNvPr>
          <p:cNvSpPr/>
          <p:nvPr/>
        </p:nvSpPr>
        <p:spPr>
          <a:xfrm>
            <a:off x="2576736" y="3132267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바로보기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71991EC-9148-1773-5BCA-5355E143D181}"/>
              </a:ext>
            </a:extLst>
          </p:cNvPr>
          <p:cNvSpPr/>
          <p:nvPr/>
        </p:nvSpPr>
        <p:spPr>
          <a:xfrm>
            <a:off x="3239573" y="3132267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E84BD7F-391E-3ECC-FAF0-61EC8E82C7E0}"/>
              </a:ext>
            </a:extLst>
          </p:cNvPr>
          <p:cNvSpPr/>
          <p:nvPr/>
        </p:nvSpPr>
        <p:spPr>
          <a:xfrm>
            <a:off x="2576736" y="3374294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바로보기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425C3CA-698D-9E0B-502F-FE617EBE7F89}"/>
              </a:ext>
            </a:extLst>
          </p:cNvPr>
          <p:cNvSpPr/>
          <p:nvPr/>
        </p:nvSpPr>
        <p:spPr>
          <a:xfrm>
            <a:off x="3239573" y="3374294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14A1901-DD74-346C-B882-916BE621DC60}"/>
              </a:ext>
            </a:extLst>
          </p:cNvPr>
          <p:cNvSpPr/>
          <p:nvPr/>
        </p:nvSpPr>
        <p:spPr>
          <a:xfrm>
            <a:off x="183392" y="3744410"/>
            <a:ext cx="7713520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예정가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예비가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3CDAA30-90F9-EB52-EDEB-C3CEE4ADA949}"/>
              </a:ext>
            </a:extLst>
          </p:cNvPr>
          <p:cNvSpPr/>
          <p:nvPr/>
        </p:nvSpPr>
        <p:spPr>
          <a:xfrm>
            <a:off x="179899" y="4045031"/>
            <a:ext cx="7701579" cy="87921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l"/>
            <a:endParaRPr lang="ko-KR" altLang="en-US" sz="80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32" name="표 31">
            <a:extLst>
              <a:ext uri="{FF2B5EF4-FFF2-40B4-BE49-F238E27FC236}">
                <a16:creationId xmlns:a16="http://schemas.microsoft.com/office/drawing/2014/main" id="{4B578801-A53D-CB7B-844A-E530489594A8}"/>
              </a:ext>
            </a:extLst>
          </p:cNvPr>
          <p:cNvGraphicFramePr>
            <a:graphicFrameLocks noGrp="1"/>
          </p:cNvGraphicFramePr>
          <p:nvPr/>
        </p:nvGraphicFramePr>
        <p:xfrm>
          <a:off x="294012" y="4138524"/>
          <a:ext cx="7503304" cy="675840"/>
        </p:xfrm>
        <a:graphic>
          <a:graphicData uri="http://schemas.openxmlformats.org/drawingml/2006/table">
            <a:tbl>
              <a:tblPr firstRow="1" bandRow="1"/>
              <a:tblGrid>
                <a:gridCol w="1111607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1111607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1509613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977145">
                  <a:extLst>
                    <a:ext uri="{9D8B030D-6E8A-4147-A177-3AD203B41FA5}">
                      <a16:colId xmlns:a16="http://schemas.microsoft.com/office/drawing/2014/main" val="1035785104"/>
                    </a:ext>
                  </a:extLst>
                </a:gridCol>
                <a:gridCol w="1396666">
                  <a:extLst>
                    <a:ext uri="{9D8B030D-6E8A-4147-A177-3AD203B41FA5}">
                      <a16:colId xmlns:a16="http://schemas.microsoft.com/office/drawing/2014/main" val="2609742212"/>
                    </a:ext>
                  </a:extLst>
                </a:gridCol>
                <a:gridCol w="1396666">
                  <a:extLst>
                    <a:ext uri="{9D8B030D-6E8A-4147-A177-3AD203B41FA5}">
                      <a16:colId xmlns:a16="http://schemas.microsoft.com/office/drawing/2014/main" val="35865341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추정금액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사정금액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복수예비 기초금액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낙찰하한율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예정가격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낙찰하한가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94,710,000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94,710,000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91,088,550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87.745</a:t>
                      </a:r>
                      <a:endParaRPr lang="ko-KR" altLang="en-US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개찰 과정에서 정의됨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개찰 과정에서 정의됨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</a:tbl>
          </a:graphicData>
        </a:graphic>
      </p:graphicFrame>
      <p:sp>
        <p:nvSpPr>
          <p:cNvPr id="34" name="직사각형 33">
            <a:extLst>
              <a:ext uri="{FF2B5EF4-FFF2-40B4-BE49-F238E27FC236}">
                <a16:creationId xmlns:a16="http://schemas.microsoft.com/office/drawing/2014/main" id="{DF8D53DD-A79C-1F9E-757D-294A85AE64BE}"/>
              </a:ext>
            </a:extLst>
          </p:cNvPr>
          <p:cNvSpPr/>
          <p:nvPr/>
        </p:nvSpPr>
        <p:spPr>
          <a:xfrm>
            <a:off x="179899" y="5012471"/>
            <a:ext cx="7701579" cy="87921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l"/>
            <a:endParaRPr lang="ko-KR" altLang="en-US" sz="80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3F4A87E3-81AA-0037-14E5-F82B65182EBC}"/>
              </a:ext>
            </a:extLst>
          </p:cNvPr>
          <p:cNvGraphicFramePr>
            <a:graphicFrameLocks noGrp="1"/>
          </p:cNvGraphicFramePr>
          <p:nvPr/>
        </p:nvGraphicFramePr>
        <p:xfrm>
          <a:off x="294012" y="5105964"/>
          <a:ext cx="3681972" cy="675840"/>
        </p:xfrm>
        <a:graphic>
          <a:graphicData uri="http://schemas.openxmlformats.org/drawingml/2006/table">
            <a:tbl>
              <a:tblPr firstRow="1" bandRow="1"/>
              <a:tblGrid>
                <a:gridCol w="1227324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1227324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1227324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추정금액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사정금액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예정가격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26,482,500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26,482,500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26,482,500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857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CDF21-E65D-764C-FC7B-9D8793DDF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81AC7997-A39B-0A73-57C5-A4DE77FCE7D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F86F69-328C-8660-3F06-FA19B1AD9159}"/>
              </a:ext>
            </a:extLst>
          </p:cNvPr>
          <p:cNvSpPr txBox="1"/>
          <p:nvPr/>
        </p:nvSpPr>
        <p:spPr>
          <a:xfrm>
            <a:off x="749224" y="25608"/>
            <a:ext cx="305404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현황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상세정보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입찰계획 정보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시 화면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0C06D3F-912B-6C0F-3A73-DBC701FA1A19}"/>
              </a:ext>
            </a:extLst>
          </p:cNvPr>
          <p:cNvSpPr/>
          <p:nvPr/>
        </p:nvSpPr>
        <p:spPr>
          <a:xfrm>
            <a:off x="183392" y="368660"/>
            <a:ext cx="7713520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서류</a:t>
            </a:r>
            <a:endParaRPr lang="ko-KR" altLang="en-US" sz="80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48D84F-E2DA-0018-4C7D-C713530F86B5}"/>
              </a:ext>
            </a:extLst>
          </p:cNvPr>
          <p:cNvSpPr txBox="1"/>
          <p:nvPr/>
        </p:nvSpPr>
        <p:spPr>
          <a:xfrm>
            <a:off x="164468" y="640994"/>
            <a:ext cx="3053340" cy="2308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등록된 입찰 참여 서류 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총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건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0E12612D-728B-41F6-92AA-42C1D548CF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2360173"/>
              </p:ext>
            </p:extLst>
          </p:nvPr>
        </p:nvGraphicFramePr>
        <p:xfrm>
          <a:off x="171331" y="924082"/>
          <a:ext cx="7710148" cy="1351680"/>
        </p:xfrm>
        <a:graphic>
          <a:graphicData uri="http://schemas.openxmlformats.org/drawingml/2006/table">
            <a:tbl>
              <a:tblPr firstRow="1" bandRow="1"/>
              <a:tblGrid>
                <a:gridCol w="353365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1938552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5418231">
                  <a:extLst>
                    <a:ext uri="{9D8B030D-6E8A-4147-A177-3AD203B41FA5}">
                      <a16:colId xmlns:a16="http://schemas.microsoft.com/office/drawing/2014/main" val="9168936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No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입찰 참여 서류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설명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입찰참가신청서 </a:t>
                      </a: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날인본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입찰참가신청서는 반드시 날인이 되어있어야 합니다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날인이 빠진 경우 미입찰로 처리됩니다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.)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신용평가등급 확인서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신용평가등급 확인서는 반드시 유효기간 내에 있어야 합니다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3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법인인감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증명서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제출되는 법인인감증명서는 유효기간 내에 있어야 합니다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954169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C1697FF2-8E9E-9D84-2F65-9918937F2405}"/>
              </a:ext>
            </a:extLst>
          </p:cNvPr>
          <p:cNvGraphicFramePr>
            <a:graphicFrameLocks noGrp="1"/>
          </p:cNvGraphicFramePr>
          <p:nvPr/>
        </p:nvGraphicFramePr>
        <p:xfrm>
          <a:off x="171331" y="2253788"/>
          <a:ext cx="7710148" cy="675840"/>
        </p:xfrm>
        <a:graphic>
          <a:graphicData uri="http://schemas.openxmlformats.org/drawingml/2006/table">
            <a:tbl>
              <a:tblPr firstRow="1" bandRow="1"/>
              <a:tblGrid>
                <a:gridCol w="353365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1938552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5418231">
                  <a:extLst>
                    <a:ext uri="{9D8B030D-6E8A-4147-A177-3AD203B41FA5}">
                      <a16:colId xmlns:a16="http://schemas.microsoft.com/office/drawing/2014/main" val="9168936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4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제안서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제안서를 첨부해주세요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되도록 하나의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PDF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파일로 합쳐서 첨부해주세요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.)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64464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5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기타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4785494"/>
                  </a:ext>
                </a:extLst>
              </a:tr>
            </a:tbl>
          </a:graphicData>
        </a:graphic>
      </p:graphicFrame>
      <p:sp>
        <p:nvSpPr>
          <p:cNvPr id="16" name="직사각형 15">
            <a:extLst>
              <a:ext uri="{FF2B5EF4-FFF2-40B4-BE49-F238E27FC236}">
                <a16:creationId xmlns:a16="http://schemas.microsoft.com/office/drawing/2014/main" id="{CB627794-6630-87D1-754F-508F7CE9A502}"/>
              </a:ext>
            </a:extLst>
          </p:cNvPr>
          <p:cNvSpPr/>
          <p:nvPr/>
        </p:nvSpPr>
        <p:spPr>
          <a:xfrm>
            <a:off x="164467" y="3006362"/>
            <a:ext cx="699418" cy="2880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목록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CA1A44F-5B44-CCC4-ACE5-DDEFC6646326}"/>
              </a:ext>
            </a:extLst>
          </p:cNvPr>
          <p:cNvSpPr txBox="1"/>
          <p:nvPr/>
        </p:nvSpPr>
        <p:spPr>
          <a:xfrm>
            <a:off x="8049344" y="584684"/>
            <a:ext cx="1856656" cy="717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입찰신청이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진행되기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 전(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진행상태가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 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공고대기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’, ‘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공고게시중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인 상태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에는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입찰계획 단계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입찰정보 수정 가능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로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되돌릴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 수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있음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FFFF00"/>
              </a:highlight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9984335-4C27-6E62-7CC5-96CBFADA6E0B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359926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A5CD4-C7EF-6968-1C10-16ED23363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F1A976A9-21E2-8C29-56A5-27EBB90B730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94D61E-AB55-C61E-DDAC-8534EF1A0E50}"/>
              </a:ext>
            </a:extLst>
          </p:cNvPr>
          <p:cNvSpPr txBox="1"/>
          <p:nvPr/>
        </p:nvSpPr>
        <p:spPr>
          <a:xfrm>
            <a:off x="749224" y="25608"/>
            <a:ext cx="324640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현황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상세정보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입찰계획 정보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시 화면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A47BFC6-B3ED-F4BC-9664-C99A68DB59A5}"/>
              </a:ext>
            </a:extLst>
          </p:cNvPr>
          <p:cNvSpPr/>
          <p:nvPr/>
        </p:nvSpPr>
        <p:spPr>
          <a:xfrm>
            <a:off x="164468" y="403565"/>
            <a:ext cx="756617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현황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C091C8A7-1C76-D8CB-1389-B76DB03A2DA8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81A7925-6826-E0FA-60FF-2A1FB73637F9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8A09830-126B-8BEE-CC4B-AC78933EE867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</a:t>
            </a:r>
            <a:endParaRPr lang="ko-KR" altLang="en-US" sz="800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43BF22D-876F-909B-1609-EBC5F8623906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kumimoji="1"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3496703-742A-9C2B-C608-49C9E8F4D4C3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전자입찰시스템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22" name="Picture 1">
            <a:extLst>
              <a:ext uri="{FF2B5EF4-FFF2-40B4-BE49-F238E27FC236}">
                <a16:creationId xmlns:a16="http://schemas.microsoft.com/office/drawing/2014/main" id="{930C09C3-0D68-F4A6-D696-5A8B3F4930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B1B282A-271B-AAA9-16E6-10DAF0E1B3D7}"/>
              </a:ext>
            </a:extLst>
          </p:cNvPr>
          <p:cNvSpPr txBox="1"/>
          <p:nvPr/>
        </p:nvSpPr>
        <p:spPr>
          <a:xfrm>
            <a:off x="8049344" y="584684"/>
            <a:ext cx="1856656" cy="9541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rgbClr val="C00000"/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시 입찰계획 정보 제공 화면</a:t>
            </a:r>
            <a:endParaRPr lang="en-US" altLang="ko-KR" sz="800" dirty="0">
              <a:solidFill>
                <a:srgbClr val="C00000"/>
              </a:solidFill>
              <a:highlight>
                <a:srgbClr val="FFFF00"/>
              </a:highlight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해당 공고 건이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의 경우 탭 메뉴명은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계획 정보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’여야 함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EECD63E-7295-183D-C69F-31B32C039E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3938095"/>
              </p:ext>
            </p:extLst>
          </p:nvPr>
        </p:nvGraphicFramePr>
        <p:xfrm>
          <a:off x="164465" y="817960"/>
          <a:ext cx="7740858" cy="1351680"/>
        </p:xfrm>
        <a:graphic>
          <a:graphicData uri="http://schemas.openxmlformats.org/drawingml/2006/table">
            <a:tbl>
              <a:tblPr firstRow="1" bandRow="1"/>
              <a:tblGrid>
                <a:gridCol w="1083597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1230817">
                  <a:extLst>
                    <a:ext uri="{9D8B030D-6E8A-4147-A177-3AD203B41FA5}">
                      <a16:colId xmlns:a16="http://schemas.microsoft.com/office/drawing/2014/main" val="1731736782"/>
                    </a:ext>
                  </a:extLst>
                </a:gridCol>
                <a:gridCol w="699471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2252895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699471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794233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  <a:gridCol w="980374">
                  <a:extLst>
                    <a:ext uri="{9D8B030D-6E8A-4147-A177-3AD203B41FA5}">
                      <a16:colId xmlns:a16="http://schemas.microsoft.com/office/drawing/2014/main" val="186468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 번호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발주 구분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 구분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계약명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구분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계약방법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낙찰자 선정방법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CT_20260801_001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수주 기반 발주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본공고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서초동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1601-9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오피스텔 신축공사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중 도장공사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경쟁입찰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일반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제한적 최저가 입찰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 상대자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진행상태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계약금액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납기일</a:t>
                      </a:r>
                      <a:r>
                        <a:rPr lang="en-US" altLang="ko-KR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/</a:t>
                      </a: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공사기간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 체결일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사업담당자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계약담당자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91382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 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업체명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계약요청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요청전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48,507,800</a:t>
                      </a: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2026.08.01 ~ 2026.12.31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2026.07.31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홍길동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임꺽정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9146140"/>
                  </a:ext>
                </a:extLst>
              </a:tr>
            </a:tbl>
          </a:graphicData>
        </a:graphic>
      </p:graphicFrame>
      <p:sp>
        <p:nvSpPr>
          <p:cNvPr id="3" name="타원 2">
            <a:extLst>
              <a:ext uri="{FF2B5EF4-FFF2-40B4-BE49-F238E27FC236}">
                <a16:creationId xmlns:a16="http://schemas.microsoft.com/office/drawing/2014/main" id="{26424D9B-9B8D-ECAD-3B6A-E5D2E6CF6FB7}"/>
              </a:ext>
            </a:extLst>
          </p:cNvPr>
          <p:cNvSpPr/>
          <p:nvPr/>
        </p:nvSpPr>
        <p:spPr>
          <a:xfrm>
            <a:off x="19825" y="272666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965F1E61-EC0D-A7F0-A4CF-6B84A485F1A5}"/>
              </a:ext>
            </a:extLst>
          </p:cNvPr>
          <p:cNvSpPr/>
          <p:nvPr/>
        </p:nvSpPr>
        <p:spPr>
          <a:xfrm>
            <a:off x="183392" y="2725065"/>
            <a:ext cx="7713520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계획 상세정보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5497F4E1-8D59-E8EA-33DF-82D5B78942B9}"/>
              </a:ext>
            </a:extLst>
          </p:cNvPr>
          <p:cNvGraphicFramePr>
            <a:graphicFrameLocks noGrp="1"/>
          </p:cNvGraphicFramePr>
          <p:nvPr/>
        </p:nvGraphicFramePr>
        <p:xfrm>
          <a:off x="164467" y="3023238"/>
          <a:ext cx="7740859" cy="33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7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156682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수의계약 요청기간 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2026.07.31 09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시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00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분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~ 2026.08.15 18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시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00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1488396"/>
                  </a:ext>
                </a:extLst>
              </a:tr>
            </a:tbl>
          </a:graphicData>
        </a:graphic>
      </p:graphicFrame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72C96F2C-D850-3916-38C4-28AF4F86F024}"/>
              </a:ext>
            </a:extLst>
          </p:cNvPr>
          <p:cNvGraphicFramePr>
            <a:graphicFrameLocks noGrp="1"/>
          </p:cNvGraphicFramePr>
          <p:nvPr/>
        </p:nvGraphicFramePr>
        <p:xfrm>
          <a:off x="164467" y="3354906"/>
          <a:ext cx="7776865" cy="895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9418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197447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시방서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구매견적서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과업지시서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09388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기타 서류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3389591"/>
                  </a:ext>
                </a:extLst>
              </a:tr>
            </a:tbl>
          </a:graphicData>
        </a:graphic>
      </p:graphicFrame>
      <p:sp>
        <p:nvSpPr>
          <p:cNvPr id="47" name="직사각형 46">
            <a:extLst>
              <a:ext uri="{FF2B5EF4-FFF2-40B4-BE49-F238E27FC236}">
                <a16:creationId xmlns:a16="http://schemas.microsoft.com/office/drawing/2014/main" id="{9164E122-DC24-480E-7B9C-56E477F59C69}"/>
              </a:ext>
            </a:extLst>
          </p:cNvPr>
          <p:cNvSpPr/>
          <p:nvPr/>
        </p:nvSpPr>
        <p:spPr>
          <a:xfrm>
            <a:off x="183392" y="4375230"/>
            <a:ext cx="7713520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참여 가능 업체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48" name="표 47">
            <a:extLst>
              <a:ext uri="{FF2B5EF4-FFF2-40B4-BE49-F238E27FC236}">
                <a16:creationId xmlns:a16="http://schemas.microsoft.com/office/drawing/2014/main" id="{2587142E-D078-42CC-48C9-AF04BD18479E}"/>
              </a:ext>
            </a:extLst>
          </p:cNvPr>
          <p:cNvGraphicFramePr>
            <a:graphicFrameLocks noGrp="1"/>
          </p:cNvGraphicFramePr>
          <p:nvPr/>
        </p:nvGraphicFramePr>
        <p:xfrm>
          <a:off x="164467" y="4663390"/>
          <a:ext cx="7740859" cy="33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7">
                  <a:extLst>
                    <a:ext uri="{9D8B030D-6E8A-4147-A177-3AD203B41FA5}">
                      <a16:colId xmlns:a16="http://schemas.microsoft.com/office/drawing/2014/main" val="2218358209"/>
                    </a:ext>
                  </a:extLst>
                </a:gridCol>
                <a:gridCol w="6156682">
                  <a:extLst>
                    <a:ext uri="{9D8B030D-6E8A-4147-A177-3AD203B41FA5}">
                      <a16:colId xmlns:a16="http://schemas.microsoft.com/office/drawing/2014/main" val="37664955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수의계약 참여 업체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(주)큐비트엑스(135-81-77202)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88328"/>
                  </a:ext>
                </a:extLst>
              </a:tr>
            </a:tbl>
          </a:graphicData>
        </a:graphic>
      </p:graphicFrame>
      <p:grpSp>
        <p:nvGrpSpPr>
          <p:cNvPr id="49" name="그룹 48">
            <a:extLst>
              <a:ext uri="{FF2B5EF4-FFF2-40B4-BE49-F238E27FC236}">
                <a16:creationId xmlns:a16="http://schemas.microsoft.com/office/drawing/2014/main" id="{F098D417-392E-8BE8-E107-822454351154}"/>
              </a:ext>
            </a:extLst>
          </p:cNvPr>
          <p:cNvGrpSpPr/>
          <p:nvPr/>
        </p:nvGrpSpPr>
        <p:grpSpPr>
          <a:xfrm>
            <a:off x="2777097" y="3414686"/>
            <a:ext cx="1275802" cy="198885"/>
            <a:chOff x="2576736" y="3905324"/>
            <a:chExt cx="1275802" cy="198885"/>
          </a:xfrm>
        </p:grpSpPr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C96F0888-829F-1EB5-4E11-E41919D70DF4}"/>
                </a:ext>
              </a:extLst>
            </p:cNvPr>
            <p:cNvSpPr/>
            <p:nvPr/>
          </p:nvSpPr>
          <p:spPr>
            <a:xfrm>
              <a:off x="2576736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2CFD6B50-FFCC-C499-4E88-B3127E758A64}"/>
                </a:ext>
              </a:extLst>
            </p:cNvPr>
            <p:cNvSpPr/>
            <p:nvPr/>
          </p:nvSpPr>
          <p:spPr>
            <a:xfrm>
              <a:off x="3239573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9429D477-9FFE-AA9D-0093-EDE74B9B4A2C}"/>
              </a:ext>
            </a:extLst>
          </p:cNvPr>
          <p:cNvGrpSpPr/>
          <p:nvPr/>
        </p:nvGrpSpPr>
        <p:grpSpPr>
          <a:xfrm>
            <a:off x="2777097" y="3646549"/>
            <a:ext cx="1275802" cy="198885"/>
            <a:chOff x="2576736" y="3905324"/>
            <a:chExt cx="1275802" cy="198885"/>
          </a:xfrm>
        </p:grpSpPr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81F33257-7894-3E33-C475-3838CFE16B44}"/>
                </a:ext>
              </a:extLst>
            </p:cNvPr>
            <p:cNvSpPr/>
            <p:nvPr/>
          </p:nvSpPr>
          <p:spPr>
            <a:xfrm>
              <a:off x="2576736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97C50502-835E-E288-F04E-7BE4D8605A3D}"/>
                </a:ext>
              </a:extLst>
            </p:cNvPr>
            <p:cNvSpPr/>
            <p:nvPr/>
          </p:nvSpPr>
          <p:spPr>
            <a:xfrm>
              <a:off x="3239573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3B934373-0449-FECC-AE14-4427C28A080E}"/>
              </a:ext>
            </a:extLst>
          </p:cNvPr>
          <p:cNvSpPr/>
          <p:nvPr/>
        </p:nvSpPr>
        <p:spPr>
          <a:xfrm>
            <a:off x="183392" y="5102380"/>
            <a:ext cx="7713520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예정가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AF119DE4-5B86-8096-2AEA-2C905026FA60}"/>
              </a:ext>
            </a:extLst>
          </p:cNvPr>
          <p:cNvSpPr/>
          <p:nvPr/>
        </p:nvSpPr>
        <p:spPr>
          <a:xfrm>
            <a:off x="179899" y="5408703"/>
            <a:ext cx="7701579" cy="86754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l"/>
            <a:endParaRPr lang="ko-KR" altLang="en-US" sz="80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57" name="표 56">
            <a:extLst>
              <a:ext uri="{FF2B5EF4-FFF2-40B4-BE49-F238E27FC236}">
                <a16:creationId xmlns:a16="http://schemas.microsoft.com/office/drawing/2014/main" id="{746AFC7C-90BD-3A2F-8BE9-67986E7794C7}"/>
              </a:ext>
            </a:extLst>
          </p:cNvPr>
          <p:cNvGraphicFramePr>
            <a:graphicFrameLocks noGrp="1"/>
          </p:cNvGraphicFramePr>
          <p:nvPr/>
        </p:nvGraphicFramePr>
        <p:xfrm>
          <a:off x="294012" y="5502196"/>
          <a:ext cx="3681972" cy="675840"/>
        </p:xfrm>
        <a:graphic>
          <a:graphicData uri="http://schemas.openxmlformats.org/drawingml/2006/table">
            <a:tbl>
              <a:tblPr firstRow="1" bandRow="1"/>
              <a:tblGrid>
                <a:gridCol w="1227324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1227324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1227324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추정금액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사정금액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예정가격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26,482,500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26,482,500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26,482,500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</a:tbl>
          </a:graphicData>
        </a:graphic>
      </p:graphicFrame>
      <p:grpSp>
        <p:nvGrpSpPr>
          <p:cNvPr id="58" name="그룹 57">
            <a:extLst>
              <a:ext uri="{FF2B5EF4-FFF2-40B4-BE49-F238E27FC236}">
                <a16:creationId xmlns:a16="http://schemas.microsoft.com/office/drawing/2014/main" id="{063B1A6D-F1AD-9F00-B67E-EB90C5946440}"/>
              </a:ext>
            </a:extLst>
          </p:cNvPr>
          <p:cNvGrpSpPr/>
          <p:nvPr/>
        </p:nvGrpSpPr>
        <p:grpSpPr>
          <a:xfrm>
            <a:off x="2777097" y="3947975"/>
            <a:ext cx="1275802" cy="198885"/>
            <a:chOff x="2576736" y="3905324"/>
            <a:chExt cx="1275802" cy="198885"/>
          </a:xfrm>
        </p:grpSpPr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9DC1C562-C43C-0BB2-8D33-39F636B93F2D}"/>
                </a:ext>
              </a:extLst>
            </p:cNvPr>
            <p:cNvSpPr/>
            <p:nvPr/>
          </p:nvSpPr>
          <p:spPr>
            <a:xfrm>
              <a:off x="2576736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160E5637-3DBC-02E1-F794-5C47CE8B8532}"/>
                </a:ext>
              </a:extLst>
            </p:cNvPr>
            <p:cNvSpPr/>
            <p:nvPr/>
          </p:nvSpPr>
          <p:spPr>
            <a:xfrm>
              <a:off x="3239573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4992B48C-F8B2-AFD1-C588-0C8D04B8A886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계속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8928B344-3D5E-FF78-29FC-94ECBB1A4202}"/>
              </a:ext>
            </a:extLst>
          </p:cNvPr>
          <p:cNvCxnSpPr>
            <a:cxnSpLocks/>
          </p:cNvCxnSpPr>
          <p:nvPr/>
        </p:nvCxnSpPr>
        <p:spPr>
          <a:xfrm>
            <a:off x="167468" y="2611278"/>
            <a:ext cx="7737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A7D9383-D427-5157-F70C-06C598E703B4}"/>
              </a:ext>
            </a:extLst>
          </p:cNvPr>
          <p:cNvSpPr/>
          <p:nvPr/>
        </p:nvSpPr>
        <p:spPr>
          <a:xfrm>
            <a:off x="2406249" y="2321393"/>
            <a:ext cx="1125796" cy="29376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 정보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D1E5C23-95D6-A113-0FE3-C43A8D400513}"/>
              </a:ext>
            </a:extLst>
          </p:cNvPr>
          <p:cNvSpPr/>
          <p:nvPr/>
        </p:nvSpPr>
        <p:spPr>
          <a:xfrm>
            <a:off x="3525142" y="2321393"/>
            <a:ext cx="1125796" cy="29376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 정보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2CF5FFA-2201-4360-96DD-E9E1B48369BB}"/>
              </a:ext>
            </a:extLst>
          </p:cNvPr>
          <p:cNvSpPr/>
          <p:nvPr/>
        </p:nvSpPr>
        <p:spPr>
          <a:xfrm>
            <a:off x="4649137" y="2257416"/>
            <a:ext cx="1125796" cy="357737"/>
          </a:xfrm>
          <a:prstGeom prst="rect">
            <a:avLst/>
          </a:prstGeom>
          <a:solidFill>
            <a:srgbClr val="00B05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계획 정보</a:t>
            </a: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AD0BAE49-2049-D22C-2E6A-F5C3B1537C61}"/>
              </a:ext>
            </a:extLst>
          </p:cNvPr>
          <p:cNvSpPr/>
          <p:nvPr/>
        </p:nvSpPr>
        <p:spPr>
          <a:xfrm>
            <a:off x="4531234" y="2191241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A924C4F-D624-C79C-DC51-4E792B1BD113}"/>
              </a:ext>
            </a:extLst>
          </p:cNvPr>
          <p:cNvSpPr/>
          <p:nvPr/>
        </p:nvSpPr>
        <p:spPr>
          <a:xfrm>
            <a:off x="-1690381" y="1098521"/>
            <a:ext cx="1467136" cy="34105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현황</a:t>
            </a:r>
            <a:endParaRPr lang="en-US" altLang="ko-KR" sz="800" u="sng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445353F-3A26-6564-F265-0CA8B765C02E}"/>
              </a:ext>
            </a:extLst>
          </p:cNvPr>
          <p:cNvSpPr/>
          <p:nvPr/>
        </p:nvSpPr>
        <p:spPr>
          <a:xfrm>
            <a:off x="163502" y="2321393"/>
            <a:ext cx="1125796" cy="29376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 정보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CC70A7A-F10D-947E-8B54-67DF2607DABB}"/>
              </a:ext>
            </a:extLst>
          </p:cNvPr>
          <p:cNvSpPr/>
          <p:nvPr/>
        </p:nvSpPr>
        <p:spPr>
          <a:xfrm>
            <a:off x="1283257" y="2321393"/>
            <a:ext cx="1125796" cy="29376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 관련 서류</a:t>
            </a:r>
          </a:p>
        </p:txBody>
      </p:sp>
    </p:spTree>
    <p:extLst>
      <p:ext uri="{BB962C8B-B14F-4D97-AF65-F5344CB8AC3E}">
        <p14:creationId xmlns:p14="http://schemas.microsoft.com/office/powerpoint/2010/main" val="2838198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D9390-F309-6094-33C7-34A0F25CD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160A39E-D590-B882-B730-B95010BCDA9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5BF320F-BB0E-11A6-61C8-B58359A76898}"/>
              </a:ext>
            </a:extLst>
          </p:cNvPr>
          <p:cNvSpPr txBox="1"/>
          <p:nvPr/>
        </p:nvSpPr>
        <p:spPr>
          <a:xfrm>
            <a:off x="749224" y="25608"/>
            <a:ext cx="324640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현황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상세정보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입찰계획 정보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시 화면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70630CE-E1DF-E6D5-9A95-69568873F3B0}"/>
              </a:ext>
            </a:extLst>
          </p:cNvPr>
          <p:cNvSpPr txBox="1"/>
          <p:nvPr/>
        </p:nvSpPr>
        <p:spPr>
          <a:xfrm>
            <a:off x="8049344" y="584684"/>
            <a:ext cx="1856656" cy="23698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rgbClr val="C00000"/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EDBC94E-471E-2673-E550-27D6B0100B94}"/>
              </a:ext>
            </a:extLst>
          </p:cNvPr>
          <p:cNvSpPr/>
          <p:nvPr/>
        </p:nvSpPr>
        <p:spPr>
          <a:xfrm>
            <a:off x="183392" y="404664"/>
            <a:ext cx="7713520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참여 서류</a:t>
            </a:r>
            <a:endParaRPr lang="ko-KR" altLang="en-US" sz="80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1DCE90-DF53-32B3-C2E1-66E759BBB757}"/>
              </a:ext>
            </a:extLst>
          </p:cNvPr>
          <p:cNvSpPr txBox="1"/>
          <p:nvPr/>
        </p:nvSpPr>
        <p:spPr>
          <a:xfrm>
            <a:off x="164468" y="676998"/>
            <a:ext cx="3053340" cy="2308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등록된 수의계약 참여 서류 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총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건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3DB74E1D-2418-6790-2CE0-6A6B1A9FD1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7961947"/>
              </p:ext>
            </p:extLst>
          </p:nvPr>
        </p:nvGraphicFramePr>
        <p:xfrm>
          <a:off x="171331" y="960086"/>
          <a:ext cx="7710148" cy="1351680"/>
        </p:xfrm>
        <a:graphic>
          <a:graphicData uri="http://schemas.openxmlformats.org/drawingml/2006/table">
            <a:tbl>
              <a:tblPr firstRow="1" bandRow="1"/>
              <a:tblGrid>
                <a:gridCol w="353365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1938552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5418231">
                  <a:extLst>
                    <a:ext uri="{9D8B030D-6E8A-4147-A177-3AD203B41FA5}">
                      <a16:colId xmlns:a16="http://schemas.microsoft.com/office/drawing/2014/main" val="9168936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No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수의계약 참여 서류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설명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신용평가등급 확인서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신용평가등급 확인서는 반드시 유효기간 내에 있어야 합니다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법인인감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증명서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제출되는 법인인감증명서는 유효기간 내에 있어야 합니다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3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기타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954169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D67FBF12-967B-036C-4148-EDC7945E993D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E85F113-33F7-3C83-C307-DB200CA4E961}"/>
              </a:ext>
            </a:extLst>
          </p:cNvPr>
          <p:cNvSpPr/>
          <p:nvPr/>
        </p:nvSpPr>
        <p:spPr>
          <a:xfrm>
            <a:off x="164467" y="2409391"/>
            <a:ext cx="699418" cy="2880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목록</a:t>
            </a:r>
          </a:p>
        </p:txBody>
      </p:sp>
    </p:spTree>
    <p:extLst>
      <p:ext uri="{BB962C8B-B14F-4D97-AF65-F5344CB8AC3E}">
        <p14:creationId xmlns:p14="http://schemas.microsoft.com/office/powerpoint/2010/main" val="1456389971"/>
      </p:ext>
    </p:extLst>
  </p:cSld>
  <p:clrMapOvr>
    <a:masterClrMapping/>
  </p:clrMapOvr>
</p:sld>
</file>

<file path=ppt/theme/theme1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70CF86A4-D00E-424F-83E0-4E2EC7868F76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0e8f8347-06a0-4424-8c62-44f19d71d6c0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96A3D121-A0CF-4083-AF97-E215E2086303}">
  <we:reference id="wa200010215" version="2.0.0.0" store="ko-KR" storeType="OMEX"/>
  <we:alternateReferences>
    <we:reference id="WA200010215" version="2.0.0.0" store="WA200010215" storeType="OMEX"/>
  </we:alternateReferences>
  <we:properties>
    <we:property name="bps.codex_control.document_id" value="&quot;bc7b36be-f340-42d4-a02f-aa11c7906e5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248930</TotalTime>
  <Words>4300</Words>
  <Application>Microsoft Office PowerPoint</Application>
  <PresentationFormat>A4 용지(210x297mm)</PresentationFormat>
  <Paragraphs>1324</Paragraphs>
  <Slides>25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0" baseType="lpstr">
      <vt:lpstr>맑은 고딕</vt:lpstr>
      <vt:lpstr>Arial</vt:lpstr>
      <vt:lpstr>나눔고딕</vt:lpstr>
      <vt:lpstr>Wingdings</vt:lpstr>
      <vt:lpstr>3_디자인 사용자 지정</vt:lpstr>
      <vt:lpstr>PowerPoint 프레젠테이션</vt:lpstr>
      <vt:lpstr> </vt:lpstr>
      <vt:lpstr> </vt:lpstr>
      <vt:lpstr> </vt:lpstr>
      <vt:lpstr> </vt:lpstr>
      <vt:lpstr> </vt:lpstr>
      <vt:lpstr>PowerPoint 프레젠테이션</vt:lpstr>
      <vt:lpstr>PowerPoint 프레젠테이션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</vt:vector>
  </TitlesOfParts>
  <Company>HIST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사회보장위원회_사회보장통계</dc:title>
  <dc:creator>조헌진</dc:creator>
  <cp:lastModifiedBy>10249 10249</cp:lastModifiedBy>
  <cp:revision>8995</cp:revision>
  <cp:lastPrinted>2019-06-18T05:05:25Z</cp:lastPrinted>
  <dcterms:created xsi:type="dcterms:W3CDTF">2006-06-07T02:37:19Z</dcterms:created>
  <dcterms:modified xsi:type="dcterms:W3CDTF">2026-09-15T23:33:05Z</dcterms:modified>
</cp:coreProperties>
</file>