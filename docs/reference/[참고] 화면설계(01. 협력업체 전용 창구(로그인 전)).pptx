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17"/>
  </p:notesMasterIdLst>
  <p:handoutMasterIdLst>
    <p:handoutMasterId r:id="rId18"/>
  </p:handoutMasterIdLst>
  <p:sldIdLst>
    <p:sldId id="3218" r:id="rId2"/>
    <p:sldId id="3565" r:id="rId3"/>
    <p:sldId id="3578" r:id="rId4"/>
    <p:sldId id="3587" r:id="rId5"/>
    <p:sldId id="3592" r:id="rId6"/>
    <p:sldId id="3555" r:id="rId7"/>
    <p:sldId id="3569" r:id="rId8"/>
    <p:sldId id="3588" r:id="rId9"/>
    <p:sldId id="3582" r:id="rId10"/>
    <p:sldId id="3583" r:id="rId11"/>
    <p:sldId id="3589" r:id="rId12"/>
    <p:sldId id="3590" r:id="rId13"/>
    <p:sldId id="3591" r:id="rId14"/>
    <p:sldId id="3576" r:id="rId15"/>
    <p:sldId id="3577" r:id="rId16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19"/>
      <p:bold r:id="rId20"/>
    </p:embeddedFont>
    <p:embeddedFont>
      <p:font typeface="나눔고딕 ExtraBold" panose="020D0904000000000000" pitchFamily="50" charset="-127"/>
      <p:bold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C000"/>
    <a:srgbClr val="7F7F7F"/>
    <a:srgbClr val="FCFEFE"/>
    <a:srgbClr val="FEFFFE"/>
    <a:srgbClr val="404040"/>
    <a:srgbClr val="FFFFFF"/>
    <a:srgbClr val="00B050"/>
    <a:srgbClr val="C00000"/>
    <a:srgbClr val="DC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0" autoAdjust="0"/>
    <p:restoredTop sz="96391" autoAdjust="0"/>
  </p:normalViewPr>
  <p:slideViewPr>
    <p:cSldViewPr>
      <p:cViewPr varScale="1">
        <p:scale>
          <a:sx n="111" d="100"/>
          <a:sy n="111" d="100"/>
        </p:scale>
        <p:origin x="1962" y="114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93908"/>
              </p:ext>
            </p:extLst>
          </p:nvPr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3431"/>
              </p:ext>
            </p:extLst>
          </p:nvPr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#1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약관 및 개인정보 수집 동의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#2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#3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#4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 정보 확인 및 제출 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 #5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결과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접수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FCF737-B967-82AB-7BA2-571C85EBFFC2}"/>
              </a:ext>
            </a:extLst>
          </p:cNvPr>
          <p:cNvSpPr/>
          <p:nvPr/>
        </p:nvSpPr>
        <p:spPr>
          <a:xfrm>
            <a:off x="126273" y="1119117"/>
            <a:ext cx="1530610" cy="3237908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54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 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 현황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개찰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업체선정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조회</a:t>
            </a:r>
            <a:r>
              <a:rPr kumimoji="0" lang="en-US" altLang="ko-KR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체결 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현황 조회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IP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</p:spTree>
    <p:extLst>
      <p:ext uri="{BB962C8B-B14F-4D97-AF65-F5344CB8AC3E}">
        <p14:creationId xmlns:p14="http://schemas.microsoft.com/office/powerpoint/2010/main" val="3698757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6B7E6-A097-A9D0-D750-78FA118B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835EE8-DDBE-8387-B57E-2409A38B32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7FF375-5454-DD6A-EC0F-9C3121127427}"/>
              </a:ext>
            </a:extLst>
          </p:cNvPr>
          <p:cNvSpPr txBox="1"/>
          <p:nvPr/>
        </p:nvSpPr>
        <p:spPr>
          <a:xfrm>
            <a:off x="749224" y="25608"/>
            <a:ext cx="19014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82FBD-A3E5-1B22-7B17-6E8955E7BE44}"/>
              </a:ext>
            </a:extLst>
          </p:cNvPr>
          <p:cNvSpPr txBox="1"/>
          <p:nvPr/>
        </p:nvSpPr>
        <p:spPr>
          <a:xfrm>
            <a:off x="8049344" y="584684"/>
            <a:ext cx="1856656" cy="2388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또는 전자입찰시스템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홍보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표현해 줄 수 있는 핵심 메시지 제공 필요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문의를 담당해 줄 직원과 연락처 제공 필요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관리자에 의해 승인된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로그인 가능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승인된 협력업체일지라도 관리자에 의해 사용 여부가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N(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 안 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 로그인 불가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내역서: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팝업 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9CA4E6-8434-45C3-CF1A-DB74B2800C3C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8C329-8762-95BB-574D-B18F5A66282D}"/>
              </a:ext>
            </a:extLst>
          </p:cNvPr>
          <p:cNvSpPr txBox="1"/>
          <p:nvPr/>
        </p:nvSpPr>
        <p:spPr>
          <a:xfrm>
            <a:off x="218321" y="561664"/>
            <a:ext cx="4734679" cy="1590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13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켑코이에스는</a:t>
            </a:r>
            <a:br>
              <a:rPr lang="en-US" altLang="ko-KR" sz="13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ko-KR" sz="13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한국전력공사와 6개 발전사가 </a:t>
            </a:r>
            <a:br>
              <a:rPr lang="en-US" altLang="ko-KR" sz="13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ko-KR" sz="13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자본금 3천억 원으로 설립한 </a:t>
            </a:r>
            <a:br>
              <a:rPr lang="en-US" altLang="ko-KR" sz="13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ko-KR" sz="1300" b="1" i="0" dirty="0">
                <a:solidFill>
                  <a:srgbClr val="0070C0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에너지 효율 향상 전문기업</a:t>
            </a:r>
            <a:r>
              <a:rPr lang="ko-KR" altLang="ko-KR" sz="13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입니다.</a:t>
            </a:r>
            <a:endParaRPr lang="en-US" altLang="ko-KR" sz="13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marR="0" indent="0" algn="l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참여에서</a:t>
            </a:r>
            <a:r>
              <a:rPr lang="en-US" altLang="ko-KR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계약에 이르는 </a:t>
            </a:r>
            <a:r>
              <a:rPr lang="ko-KR" altLang="ko-KR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전 과정을 </a:t>
            </a:r>
            <a:br>
              <a:rPr lang="en-US" altLang="ko-KR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ko-KR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통합 관리하여 경영 투명성을 </a:t>
            </a:r>
            <a:r>
              <a:rPr lang="ko-KR" alt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보장</a:t>
            </a:r>
            <a:r>
              <a:rPr lang="ko-KR" altLang="ko-KR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합니다.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14EEBF2-D98B-FEEB-F813-70448876EE1E}"/>
              </a:ext>
            </a:extLst>
          </p:cNvPr>
          <p:cNvSpPr/>
          <p:nvPr/>
        </p:nvSpPr>
        <p:spPr>
          <a:xfrm>
            <a:off x="4592961" y="512676"/>
            <a:ext cx="3204355" cy="4622534"/>
          </a:xfrm>
          <a:prstGeom prst="roundRect">
            <a:avLst>
              <a:gd name="adj" fmla="val 2130"/>
            </a:avLst>
          </a:prstGeom>
          <a:solidFill>
            <a:srgbClr val="FCFEFE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1CFA60-8371-8EBC-D43C-88C31C99966D}"/>
              </a:ext>
            </a:extLst>
          </p:cNvPr>
          <p:cNvSpPr/>
          <p:nvPr/>
        </p:nvSpPr>
        <p:spPr>
          <a:xfrm>
            <a:off x="4745059" y="637486"/>
            <a:ext cx="1409040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9B5863-9F3C-7C4B-11E5-63185F606048}"/>
              </a:ext>
            </a:extLst>
          </p:cNvPr>
          <p:cNvSpPr/>
          <p:nvPr/>
        </p:nvSpPr>
        <p:spPr>
          <a:xfrm>
            <a:off x="4745059" y="935042"/>
            <a:ext cx="2234586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 계정으로 로그인해 업무를 시작하세요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58B4059-2331-BA0E-8864-6A65D0ADF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339" y="1236117"/>
            <a:ext cx="2978218" cy="279587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3E672D-B33A-939F-877C-5761406E70A4}"/>
              </a:ext>
            </a:extLst>
          </p:cNvPr>
          <p:cNvSpPr/>
          <p:nvPr/>
        </p:nvSpPr>
        <p:spPr>
          <a:xfrm>
            <a:off x="4791359" y="4039569"/>
            <a:ext cx="2840190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/>
            <a:r>
              <a:rPr lang="ko-KR" altLang="en-US" sz="80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ko-KR" altLang="en-US" sz="80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E63FD22-2171-24AA-7062-02F510EFE708}"/>
              </a:ext>
            </a:extLst>
          </p:cNvPr>
          <p:cNvSpPr/>
          <p:nvPr/>
        </p:nvSpPr>
        <p:spPr>
          <a:xfrm>
            <a:off x="4791359" y="3419545"/>
            <a:ext cx="2840190" cy="545241"/>
          </a:xfrm>
          <a:prstGeom prst="roundRect">
            <a:avLst>
              <a:gd name="adj" fmla="val 7756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1" hangingPunct="1"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로그인 문의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lang="ko-KR" alt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운영담당</a:t>
            </a:r>
            <a:r>
              <a:rPr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0" marR="0" lvl="0" indent="0" algn="l" defTabSz="914400" rtl="0" eaLnBrk="1" fontAlgn="base" latinLnBrk="1" hangingPunct="1"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홍길동 과장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02-6959-4561, simon@kepcoes.co.kr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2356F2F-E132-186F-31D7-1CB9E7AE555B}"/>
              </a:ext>
            </a:extLst>
          </p:cNvPr>
          <p:cNvSpPr/>
          <p:nvPr/>
        </p:nvSpPr>
        <p:spPr>
          <a:xfrm>
            <a:off x="175985" y="52497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FAEC9F1-0DBC-1EC4-B7B6-EE327D4050B7}"/>
              </a:ext>
            </a:extLst>
          </p:cNvPr>
          <p:cNvGrpSpPr/>
          <p:nvPr/>
        </p:nvGrpSpPr>
        <p:grpSpPr>
          <a:xfrm>
            <a:off x="4791359" y="4321169"/>
            <a:ext cx="2840190" cy="372360"/>
            <a:chOff x="4700972" y="4953488"/>
            <a:chExt cx="2766519" cy="372360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D08C0386-0098-CFA6-2FC3-033291D365EF}"/>
                </a:ext>
              </a:extLst>
            </p:cNvPr>
            <p:cNvSpPr/>
            <p:nvPr/>
          </p:nvSpPr>
          <p:spPr>
            <a:xfrm>
              <a:off x="4700972" y="4953488"/>
              <a:ext cx="1362740" cy="372360"/>
            </a:xfrm>
            <a:prstGeom prst="roundRect">
              <a:avLst>
                <a:gd name="adj" fmla="val 18984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협력업체</a:t>
              </a:r>
              <a:r>
                <a:rPr lang="en-US" altLang="ko-KR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 </a:t>
              </a:r>
              <a:r>
                <a:rPr lang="en-US" altLang="ko-KR" sz="900" dirty="0">
                  <a:latin typeface="나눔고딕" panose="020D0604000000000000" pitchFamily="50" charset="-127"/>
                  <a:ea typeface="나눔고딕" panose="020D0604000000000000" pitchFamily="50" charset="-127"/>
                  <a:sym typeface="Wingdings" panose="05000000000000000000" pitchFamily="2" charset="2"/>
                </a:rPr>
                <a:t>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4FEABA5A-3A87-88B5-FDF0-0D4331F81096}"/>
                </a:ext>
              </a:extLst>
            </p:cNvPr>
            <p:cNvSpPr/>
            <p:nvPr/>
          </p:nvSpPr>
          <p:spPr>
            <a:xfrm>
              <a:off x="6104751" y="4953488"/>
              <a:ext cx="1362740" cy="372360"/>
            </a:xfrm>
            <a:prstGeom prst="roundRect">
              <a:avLst>
                <a:gd name="adj" fmla="val 18984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협력업체 이용 매뉴얼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04758D-F6D9-403F-24C2-1525C280B5E9}"/>
              </a:ext>
            </a:extLst>
          </p:cNvPr>
          <p:cNvSpPr/>
          <p:nvPr/>
        </p:nvSpPr>
        <p:spPr>
          <a:xfrm>
            <a:off x="283997" y="3147706"/>
            <a:ext cx="117820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 중인 입찰공고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A06BBB-8488-5425-C49F-09BAA0BB7EA4}"/>
              </a:ext>
            </a:extLst>
          </p:cNvPr>
          <p:cNvSpPr/>
          <p:nvPr/>
        </p:nvSpPr>
        <p:spPr>
          <a:xfrm>
            <a:off x="283997" y="3507128"/>
            <a:ext cx="3876162" cy="162808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339A72-7AED-1155-22A7-E985AA45B84B}"/>
              </a:ext>
            </a:extLst>
          </p:cNvPr>
          <p:cNvSpPr txBox="1"/>
          <p:nvPr/>
        </p:nvSpPr>
        <p:spPr>
          <a:xfrm>
            <a:off x="577763" y="3634899"/>
            <a:ext cx="377026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E5A79-267C-902D-B175-11E0DC1E594B}"/>
              </a:ext>
            </a:extLst>
          </p:cNvPr>
          <p:cNvSpPr txBox="1"/>
          <p:nvPr/>
        </p:nvSpPr>
        <p:spPr>
          <a:xfrm>
            <a:off x="1014033" y="3634899"/>
            <a:ext cx="377027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53B52F-F76C-1724-5DB6-43661D939B08}"/>
              </a:ext>
            </a:extLst>
          </p:cNvPr>
          <p:cNvSpPr txBox="1"/>
          <p:nvPr/>
        </p:nvSpPr>
        <p:spPr>
          <a:xfrm>
            <a:off x="1450304" y="3634899"/>
            <a:ext cx="377027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87F57E-3EDE-6348-A47D-C497E65C48B9}"/>
              </a:ext>
            </a:extLst>
          </p:cNvPr>
          <p:cNvSpPr txBox="1"/>
          <p:nvPr/>
        </p:nvSpPr>
        <p:spPr>
          <a:xfrm>
            <a:off x="591812" y="3947973"/>
            <a:ext cx="3317039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서초동 </a:t>
            </a:r>
            <a:r>
              <a:rPr lang="en-US" altLang="ko-KR" sz="90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1601-9 </a:t>
            </a:r>
            <a:r>
              <a:rPr lang="ko-KR" altLang="en-US" sz="90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오피스텔 신축공사 중 기계식주차설비공사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9D7A26-4974-82A2-A065-360EA0422072}"/>
              </a:ext>
            </a:extLst>
          </p:cNvPr>
          <p:cNvSpPr txBox="1"/>
          <p:nvPr/>
        </p:nvSpPr>
        <p:spPr>
          <a:xfrm>
            <a:off x="591812" y="4196634"/>
            <a:ext cx="3317039" cy="61555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마감일시: 2026-08-18 16:00</a:t>
            </a: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계약방법: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72000" indent="-720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선정방법: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E56A593-760D-A675-F18C-11E079BC1958}"/>
              </a:ext>
            </a:extLst>
          </p:cNvPr>
          <p:cNvSpPr/>
          <p:nvPr/>
        </p:nvSpPr>
        <p:spPr>
          <a:xfrm>
            <a:off x="80210" y="4100859"/>
            <a:ext cx="407574" cy="407574"/>
          </a:xfrm>
          <a:prstGeom prst="ellipse">
            <a:avLst/>
          </a:prstGeom>
          <a:solidFill>
            <a:schemeClr val="bg1">
              <a:lumMod val="5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DE29E94A-3DDD-2C81-848B-48793D842866}"/>
              </a:ext>
            </a:extLst>
          </p:cNvPr>
          <p:cNvSpPr/>
          <p:nvPr/>
        </p:nvSpPr>
        <p:spPr>
          <a:xfrm>
            <a:off x="3950983" y="4100859"/>
            <a:ext cx="407574" cy="407574"/>
          </a:xfrm>
          <a:prstGeom prst="ellipse">
            <a:avLst/>
          </a:prstGeom>
          <a:solidFill>
            <a:schemeClr val="bg1">
              <a:lumMod val="50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75D82CB-0503-796D-3295-3A015E7D9610}"/>
              </a:ext>
            </a:extLst>
          </p:cNvPr>
          <p:cNvGrpSpPr/>
          <p:nvPr/>
        </p:nvGrpSpPr>
        <p:grpSpPr>
          <a:xfrm>
            <a:off x="2022212" y="4938077"/>
            <a:ext cx="399732" cy="99478"/>
            <a:chOff x="-879648" y="6101680"/>
            <a:chExt cx="578701" cy="144016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76B6CDD-338A-47FB-8AA0-9FC909949D52}"/>
                </a:ext>
              </a:extLst>
            </p:cNvPr>
            <p:cNvSpPr/>
            <p:nvPr/>
          </p:nvSpPr>
          <p:spPr>
            <a:xfrm>
              <a:off x="-879648" y="6101680"/>
              <a:ext cx="144016" cy="14401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6EB5CA8-AD2D-9B29-ED83-E28F8BEF21FB}"/>
                </a:ext>
              </a:extLst>
            </p:cNvPr>
            <p:cNvSpPr/>
            <p:nvPr/>
          </p:nvSpPr>
          <p:spPr>
            <a:xfrm>
              <a:off x="-662305" y="6101680"/>
              <a:ext cx="144016" cy="14401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C53DA272-BE46-18D9-C17B-BAC5D2AC223E}"/>
                </a:ext>
              </a:extLst>
            </p:cNvPr>
            <p:cNvSpPr/>
            <p:nvPr/>
          </p:nvSpPr>
          <p:spPr>
            <a:xfrm>
              <a:off x="-444963" y="6101680"/>
              <a:ext cx="144016" cy="14401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8BDF351D-51A6-5BB9-FEFA-4B33BD1EF265}"/>
              </a:ext>
            </a:extLst>
          </p:cNvPr>
          <p:cNvSpPr/>
          <p:nvPr/>
        </p:nvSpPr>
        <p:spPr>
          <a:xfrm>
            <a:off x="379365" y="379865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E2CB04CB-3ABB-B85F-270B-9FC15AF84590}"/>
              </a:ext>
            </a:extLst>
          </p:cNvPr>
          <p:cNvSpPr/>
          <p:nvPr/>
        </p:nvSpPr>
        <p:spPr>
          <a:xfrm>
            <a:off x="4683347" y="421315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BA7D0BF-C6B8-9440-1093-7BC99A0D5556}"/>
              </a:ext>
            </a:extLst>
          </p:cNvPr>
          <p:cNvSpPr/>
          <p:nvPr/>
        </p:nvSpPr>
        <p:spPr>
          <a:xfrm>
            <a:off x="4683347" y="32911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617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5393A-89CD-20B0-04E3-2F89AD35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7EC77EF-F2F9-A02C-E6E1-809AE09EC2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7F1FC2-0781-23FA-FF93-253EE64DA458}"/>
              </a:ext>
            </a:extLst>
          </p:cNvPr>
          <p:cNvSpPr txBox="1"/>
          <p:nvPr/>
        </p:nvSpPr>
        <p:spPr>
          <a:xfrm>
            <a:off x="749224" y="25608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내역서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9AC077-39A6-2AB7-D8A0-DA940A9C264C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내역서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A2D239-D72E-E094-B1C1-7C16890D03C3}"/>
              </a:ext>
            </a:extLst>
          </p:cNvPr>
          <p:cNvSpPr/>
          <p:nvPr/>
        </p:nvSpPr>
        <p:spPr>
          <a:xfrm>
            <a:off x="173183" y="687700"/>
            <a:ext cx="7391698" cy="59456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8D8E40-EC5A-AD97-245E-258C5785F7D1}"/>
              </a:ext>
            </a:extLst>
          </p:cNvPr>
          <p:cNvSpPr/>
          <p:nvPr/>
        </p:nvSpPr>
        <p:spPr>
          <a:xfrm>
            <a:off x="7294793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C6311E-1D7C-76C3-50C8-6F9DBEA6D449}"/>
              </a:ext>
            </a:extLst>
          </p:cNvPr>
          <p:cNvSpPr/>
          <p:nvPr/>
        </p:nvSpPr>
        <p:spPr>
          <a:xfrm>
            <a:off x="7461138" y="688542"/>
            <a:ext cx="108012" cy="594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64AB96-EBD1-9AF6-6E95-F75F9247C186}"/>
              </a:ext>
            </a:extLst>
          </p:cNvPr>
          <p:cNvSpPr/>
          <p:nvPr/>
        </p:nvSpPr>
        <p:spPr>
          <a:xfrm>
            <a:off x="7461138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AB1322-BA0F-CF22-A7F4-F4F645CCCB71}"/>
              </a:ext>
            </a:extLst>
          </p:cNvPr>
          <p:cNvSpPr/>
          <p:nvPr/>
        </p:nvSpPr>
        <p:spPr>
          <a:xfrm>
            <a:off x="301563" y="792082"/>
            <a:ext cx="10451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내역서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AD0646-9D5C-B368-12C2-9CE5675509E9}"/>
              </a:ext>
            </a:extLst>
          </p:cNvPr>
          <p:cNvSpPr/>
          <p:nvPr/>
        </p:nvSpPr>
        <p:spPr>
          <a:xfrm>
            <a:off x="301563" y="112904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진행사: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켑코이에스(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7EA591-697F-D6D5-48AA-FC7213F7FE78}"/>
              </a:ext>
            </a:extLst>
          </p:cNvPr>
          <p:cNvSpPr/>
          <p:nvPr/>
        </p:nvSpPr>
        <p:spPr>
          <a:xfrm>
            <a:off x="301563" y="231137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진행 방법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B5C06A-5F9B-0D88-5C07-86A41C5DFE5F}"/>
              </a:ext>
            </a:extLst>
          </p:cNvPr>
          <p:cNvSpPr/>
          <p:nvPr/>
        </p:nvSpPr>
        <p:spPr>
          <a:xfrm>
            <a:off x="301563" y="373352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보증금률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B39DF3E-454B-5B29-9A50-ADC3674CC0AC}"/>
              </a:ext>
            </a:extLst>
          </p:cNvPr>
          <p:cNvSpPr/>
          <p:nvPr/>
        </p:nvSpPr>
        <p:spPr>
          <a:xfrm>
            <a:off x="168335" y="6473146"/>
            <a:ext cx="7279820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96F380F-92F2-4162-0C53-7BD6379F6E2E}"/>
              </a:ext>
            </a:extLst>
          </p:cNvPr>
          <p:cNvGrpSpPr/>
          <p:nvPr/>
        </p:nvGrpSpPr>
        <p:grpSpPr>
          <a:xfrm>
            <a:off x="5781091" y="835105"/>
            <a:ext cx="1505075" cy="215441"/>
            <a:chOff x="5383899" y="1059428"/>
            <a:chExt cx="1902268" cy="21544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DCE8BB2-2927-E9A5-74E3-C36AE6C8ACD5}"/>
                </a:ext>
              </a:extLst>
            </p:cNvPr>
            <p:cNvSpPr/>
            <p:nvPr/>
          </p:nvSpPr>
          <p:spPr>
            <a:xfrm>
              <a:off x="6372455" y="1059428"/>
              <a:ext cx="913712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D7C67DA-A6E4-1B40-53D4-FC3AB9493BC3}"/>
                </a:ext>
              </a:extLst>
            </p:cNvPr>
            <p:cNvSpPr/>
            <p:nvPr/>
          </p:nvSpPr>
          <p:spPr>
            <a:xfrm>
              <a:off x="5383899" y="1059428"/>
              <a:ext cx="913712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인쇄</a:t>
              </a:r>
            </a:p>
          </p:txBody>
        </p:sp>
      </p:grpSp>
      <p:graphicFrame>
        <p:nvGraphicFramePr>
          <p:cNvPr id="31" name="Table 0">
            <a:extLst>
              <a:ext uri="{FF2B5EF4-FFF2-40B4-BE49-F238E27FC236}">
                <a16:creationId xmlns:a16="http://schemas.microsoft.com/office/drawing/2014/main" id="{0BDF3764-D9D2-A236-1B43-F2C24B613E8A}"/>
              </a:ext>
            </a:extLst>
          </p:cNvPr>
          <p:cNvGraphicFramePr>
            <a:graphicFrameLocks noGrp="1"/>
          </p:cNvGraphicFramePr>
          <p:nvPr/>
        </p:nvGraphicFramePr>
        <p:xfrm>
          <a:off x="301563" y="1409776"/>
          <a:ext cx="6984603" cy="822960"/>
        </p:xfrm>
        <a:graphic>
          <a:graphicData uri="http://schemas.openxmlformats.org/drawingml/2006/table">
            <a:tbl>
              <a:tblPr/>
              <a:tblGrid>
                <a:gridCol w="184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공고번호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BD2026-0025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상태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입찰공고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입찰담당자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이길수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개찰담당자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박승길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입찰건명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서초동 1601-9 오피스텔 신축공사 중 기계식주차설비공사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" name="Table 1">
            <a:extLst>
              <a:ext uri="{FF2B5EF4-FFF2-40B4-BE49-F238E27FC236}">
                <a16:creationId xmlns:a16="http://schemas.microsoft.com/office/drawing/2014/main" id="{E1B96BA0-F9CD-AD3E-00DA-38490EB86C34}"/>
              </a:ext>
            </a:extLst>
          </p:cNvPr>
          <p:cNvGraphicFramePr>
            <a:graphicFrameLocks noGrp="1"/>
          </p:cNvGraphicFramePr>
          <p:nvPr/>
        </p:nvGraphicFramePr>
        <p:xfrm>
          <a:off x="301563" y="2570383"/>
          <a:ext cx="6984603" cy="1097280"/>
        </p:xfrm>
        <a:graphic>
          <a:graphicData uri="http://schemas.openxmlformats.org/drawingml/2006/table">
            <a:tbl>
              <a:tblPr/>
              <a:tblGrid>
                <a:gridCol w="184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구분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공사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계약방법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경쟁입찰(일반)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낙찰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자 선정</a:t>
                      </a: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방법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제한적</a:t>
                      </a: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최저가</a:t>
                      </a: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수행기간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2026-08-20 ~ 2027-06-30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수행기간(일수)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314 일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납품장소(현장)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현장 내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2">
            <a:extLst>
              <a:ext uri="{FF2B5EF4-FFF2-40B4-BE49-F238E27FC236}">
                <a16:creationId xmlns:a16="http://schemas.microsoft.com/office/drawing/2014/main" id="{95BADCA6-F41D-03E0-35E7-3B3EBE465152}"/>
              </a:ext>
            </a:extLst>
          </p:cNvPr>
          <p:cNvGraphicFramePr>
            <a:graphicFrameLocks noGrp="1"/>
          </p:cNvGraphicFramePr>
          <p:nvPr/>
        </p:nvGraphicFramePr>
        <p:xfrm>
          <a:off x="301563" y="4004036"/>
          <a:ext cx="6984603" cy="548640"/>
        </p:xfrm>
        <a:graphic>
          <a:graphicData uri="http://schemas.openxmlformats.org/drawingml/2006/table">
            <a:tbl>
              <a:tblPr/>
              <a:tblGrid>
                <a:gridCol w="184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 보증금률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5 %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계약이행 보증금률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10 %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하자이행 보증금률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3 %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하자이행 기간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3 (년)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F9A392B9-65E7-F0BD-82E1-78759139BA9D}"/>
              </a:ext>
            </a:extLst>
          </p:cNvPr>
          <p:cNvSpPr/>
          <p:nvPr/>
        </p:nvSpPr>
        <p:spPr>
          <a:xfrm>
            <a:off x="301563" y="4632884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일정 계획</a:t>
            </a:r>
          </a:p>
        </p:txBody>
      </p:sp>
      <p:graphicFrame>
        <p:nvGraphicFramePr>
          <p:cNvPr id="80" name="Table 3">
            <a:extLst>
              <a:ext uri="{FF2B5EF4-FFF2-40B4-BE49-F238E27FC236}">
                <a16:creationId xmlns:a16="http://schemas.microsoft.com/office/drawing/2014/main" id="{9412833D-C3D2-AE3F-C760-553159C16DF5}"/>
              </a:ext>
            </a:extLst>
          </p:cNvPr>
          <p:cNvGraphicFramePr>
            <a:graphicFrameLocks noGrp="1"/>
          </p:cNvGraphicFramePr>
          <p:nvPr/>
        </p:nvGraphicFramePr>
        <p:xfrm>
          <a:off x="301563" y="4924004"/>
          <a:ext cx="6984603" cy="1097280"/>
        </p:xfrm>
        <a:graphic>
          <a:graphicData uri="http://schemas.openxmlformats.org/drawingml/2006/table">
            <a:tbl>
              <a:tblPr/>
              <a:tblGrid>
                <a:gridCol w="184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 시작일시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2026-08-04 16:00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공급업체 등록마감일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2026-08-10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현장설명회(일시/장소)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입찰참가 신청마감일시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2026-08-11 16:00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 마감일시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2026-08-18 16:00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제안발표(일시/장소)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675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E1F70-9AFE-84F9-36C9-AF39108B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880170E-A797-6493-D8FE-90FE92E5C85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5DC07-A7E2-65A8-235F-054F41F2902F}"/>
              </a:ext>
            </a:extLst>
          </p:cNvPr>
          <p:cNvSpPr txBox="1"/>
          <p:nvPr/>
        </p:nvSpPr>
        <p:spPr>
          <a:xfrm>
            <a:off x="749224" y="25608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내역서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B7F223-E7C6-32BB-9062-0001C90515BC}"/>
              </a:ext>
            </a:extLst>
          </p:cNvPr>
          <p:cNvSpPr/>
          <p:nvPr/>
        </p:nvSpPr>
        <p:spPr>
          <a:xfrm>
            <a:off x="173183" y="404664"/>
            <a:ext cx="7391698" cy="42124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36457E-E901-812B-AD57-98D38183B397}"/>
              </a:ext>
            </a:extLst>
          </p:cNvPr>
          <p:cNvSpPr/>
          <p:nvPr/>
        </p:nvSpPr>
        <p:spPr>
          <a:xfrm>
            <a:off x="7461138" y="405548"/>
            <a:ext cx="108012" cy="42118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D809C9-2988-5C5C-B50E-4CC80D27E68D}"/>
              </a:ext>
            </a:extLst>
          </p:cNvPr>
          <p:cNvSpPr/>
          <p:nvPr/>
        </p:nvSpPr>
        <p:spPr>
          <a:xfrm>
            <a:off x="7461138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6BC789-D6BC-269D-DAF4-1D25BAA69852}"/>
              </a:ext>
            </a:extLst>
          </p:cNvPr>
          <p:cNvSpPr/>
          <p:nvPr/>
        </p:nvSpPr>
        <p:spPr>
          <a:xfrm>
            <a:off x="301563" y="54868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입찰업체 전달내역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46D0505-1181-E789-A7DB-389D29ECADF7}"/>
              </a:ext>
            </a:extLst>
          </p:cNvPr>
          <p:cNvSpPr/>
          <p:nvPr/>
        </p:nvSpPr>
        <p:spPr>
          <a:xfrm>
            <a:off x="301563" y="269792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품목</a:t>
            </a:r>
          </a:p>
        </p:txBody>
      </p:sp>
      <p:graphicFrame>
        <p:nvGraphicFramePr>
          <p:cNvPr id="20" name="Table 4">
            <a:extLst>
              <a:ext uri="{FF2B5EF4-FFF2-40B4-BE49-F238E27FC236}">
                <a16:creationId xmlns:a16="http://schemas.microsoft.com/office/drawing/2014/main" id="{4A7B796A-478D-D711-786C-35CD16577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940318"/>
              </p:ext>
            </p:extLst>
          </p:nvPr>
        </p:nvGraphicFramePr>
        <p:xfrm>
          <a:off x="301563" y="853864"/>
          <a:ext cx="6984603" cy="1600200"/>
        </p:xfrm>
        <a:graphic>
          <a:graphicData uri="http://schemas.openxmlformats.org/drawingml/2006/table">
            <a:tbl>
              <a:tblPr/>
              <a:tblGrid>
                <a:gridCol w="184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업체 자격요건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승강기·삭도공사업 면허 보유업체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참여신청 제출서류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1. 입찰참가신청서.hwp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 제출서류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2. 입찰보증금지급각서.hwp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전달사항(비고)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입찰공고문의 입찰 참가자격, 참가신청 및 낙찰자 결정방법을 숙지하여 주시기 바랍니다.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입찰업체 배포서류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(제출서류 양식 외)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00. 입찰공고문_재공고(서초동 1601-9 오피스텔 신축공사 중 기계식주차설비공사).pdf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1699D60B-AEED-9E5A-8A5B-5CC4319B4F82}"/>
              </a:ext>
            </a:extLst>
          </p:cNvPr>
          <p:cNvGraphicFramePr>
            <a:graphicFrameLocks noGrp="1"/>
          </p:cNvGraphicFramePr>
          <p:nvPr/>
        </p:nvGraphicFramePr>
        <p:xfrm>
          <a:off x="301563" y="2969121"/>
          <a:ext cx="6984603" cy="960120"/>
        </p:xfrm>
        <a:graphic>
          <a:graphicData uri="http://schemas.openxmlformats.org/drawingml/2006/table">
            <a:tbl>
              <a:tblPr/>
              <a:tblGrid>
                <a:gridCol w="1799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8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품목명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규격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단위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수량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비고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서초동 1601-9 오피스텔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신축공사 중 기계식주차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설비공사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식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C60F1CFE-CC39-36CB-3309-5A96C5AA8C56}"/>
              </a:ext>
            </a:extLst>
          </p:cNvPr>
          <p:cNvSpPr/>
          <p:nvPr/>
        </p:nvSpPr>
        <p:spPr>
          <a:xfrm>
            <a:off x="6591183" y="4021158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</p:spTree>
    <p:extLst>
      <p:ext uri="{BB962C8B-B14F-4D97-AF65-F5344CB8AC3E}">
        <p14:creationId xmlns:p14="http://schemas.microsoft.com/office/powerpoint/2010/main" val="289824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18BE3-03D6-1167-42B4-57F9AA534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BAEDF23-4E19-8535-E2DF-8FC0EB58A3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E6EBD0-5715-CB17-4242-CE14979FB39F}"/>
              </a:ext>
            </a:extLst>
          </p:cNvPr>
          <p:cNvSpPr txBox="1"/>
          <p:nvPr/>
        </p:nvSpPr>
        <p:spPr>
          <a:xfrm>
            <a:off x="749224" y="25608"/>
            <a:ext cx="33922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약관 및 개인정보 수집 동의)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13247-B2FA-5E85-8466-8153DDA6BE23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기존의 이용약관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수집·이용 동의 내용 확인 후 현행화 필요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6165CF-8D9D-EB35-62CA-117037194E3A}"/>
              </a:ext>
            </a:extLst>
          </p:cNvPr>
          <p:cNvSpPr/>
          <p:nvPr/>
        </p:nvSpPr>
        <p:spPr>
          <a:xfrm>
            <a:off x="200471" y="332656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83BBE7-E42A-F95E-8455-9ABC90F1E9C5}"/>
              </a:ext>
            </a:extLst>
          </p:cNvPr>
          <p:cNvSpPr/>
          <p:nvPr/>
        </p:nvSpPr>
        <p:spPr>
          <a:xfrm>
            <a:off x="200472" y="605566"/>
            <a:ext cx="7391698" cy="56677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1A3686-F1AC-67B6-B6C7-C08C6FE84DE9}"/>
              </a:ext>
            </a:extLst>
          </p:cNvPr>
          <p:cNvSpPr/>
          <p:nvPr/>
        </p:nvSpPr>
        <p:spPr>
          <a:xfrm>
            <a:off x="7322170" y="33265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5944ABF-C24F-101A-744B-7F009D89CE6F}"/>
              </a:ext>
            </a:extLst>
          </p:cNvPr>
          <p:cNvSpPr/>
          <p:nvPr/>
        </p:nvSpPr>
        <p:spPr>
          <a:xfrm>
            <a:off x="7479889" y="606409"/>
            <a:ext cx="108012" cy="56669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2E23F7-52C5-59EC-9211-0426650DD6BB}"/>
              </a:ext>
            </a:extLst>
          </p:cNvPr>
          <p:cNvSpPr/>
          <p:nvPr/>
        </p:nvSpPr>
        <p:spPr>
          <a:xfrm>
            <a:off x="7479889" y="988187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A6BC3E4-1C1D-6DB0-6473-FA15BCB3ADDA}"/>
              </a:ext>
            </a:extLst>
          </p:cNvPr>
          <p:cNvSpPr/>
          <p:nvPr/>
        </p:nvSpPr>
        <p:spPr>
          <a:xfrm>
            <a:off x="337566" y="709948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92BFD10-3E6B-B513-FBD4-761E65D97CC7}"/>
              </a:ext>
            </a:extLst>
          </p:cNvPr>
          <p:cNvGrpSpPr/>
          <p:nvPr/>
        </p:nvGrpSpPr>
        <p:grpSpPr>
          <a:xfrm>
            <a:off x="337566" y="1902087"/>
            <a:ext cx="6984604" cy="643515"/>
            <a:chOff x="772714" y="2216865"/>
            <a:chExt cx="7739486" cy="888099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DC84575-220D-AD5D-A526-5E5FEC78B976}"/>
                </a:ext>
              </a:extLst>
            </p:cNvPr>
            <p:cNvSpPr/>
            <p:nvPr/>
          </p:nvSpPr>
          <p:spPr>
            <a:xfrm>
              <a:off x="772714" y="2217141"/>
              <a:ext cx="1476164" cy="887823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약관 및 개인정보 수집 동의 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5212925-E9CE-A1F4-90E7-6B37DD58BBB8}"/>
                </a:ext>
              </a:extLst>
            </p:cNvPr>
            <p:cNvSpPr/>
            <p:nvPr/>
          </p:nvSpPr>
          <p:spPr>
            <a:xfrm>
              <a:off x="2338887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  <a:endPara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 정보 입력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973CFDD-E6E5-BFA2-0A23-DB38946ED91C}"/>
                </a:ext>
              </a:extLst>
            </p:cNvPr>
            <p:cNvSpPr/>
            <p:nvPr/>
          </p:nvSpPr>
          <p:spPr>
            <a:xfrm>
              <a:off x="3905060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  <a:endPara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담당자 정보 입력 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E52157C-6183-B264-C13C-87CFFB4BDA8C}"/>
                </a:ext>
              </a:extLst>
            </p:cNvPr>
            <p:cNvSpPr/>
            <p:nvPr/>
          </p:nvSpPr>
          <p:spPr>
            <a:xfrm>
              <a:off x="5471233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  <a:endParaRPr lang="en-US" altLang="ko-KR" sz="9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 정보 확인 및 제출 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4EFB3B6-016D-76D3-8B97-72B46445830E}"/>
                </a:ext>
              </a:extLst>
            </p:cNvPr>
            <p:cNvSpPr/>
            <p:nvPr/>
          </p:nvSpPr>
          <p:spPr>
            <a:xfrm>
              <a:off x="7036036" y="2216865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  <a:endParaRPr lang="en-US" altLang="ko-KR" sz="9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협력업체 신청 완료 </a:t>
              </a: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87D7675-415A-9676-4D1A-0ADF2A98F425}"/>
              </a:ext>
            </a:extLst>
          </p:cNvPr>
          <p:cNvSpPr/>
          <p:nvPr/>
        </p:nvSpPr>
        <p:spPr>
          <a:xfrm>
            <a:off x="337566" y="2616583"/>
            <a:ext cx="686085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이용약관 동의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E02E69C-AFF5-AD6D-7DFD-FD101BA586A8}"/>
              </a:ext>
            </a:extLst>
          </p:cNvPr>
          <p:cNvSpPr/>
          <p:nvPr/>
        </p:nvSpPr>
        <p:spPr>
          <a:xfrm>
            <a:off x="327237" y="2880196"/>
            <a:ext cx="6994934" cy="1078844"/>
          </a:xfrm>
          <a:prstGeom prst="rect">
            <a:avLst/>
          </a:prstGeom>
          <a:solidFill>
            <a:schemeClr val="bg1">
              <a:alpha val="2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약관 내용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검토 후 삽입 필요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27E7ACF-3467-79BC-DB98-7E38F3579B44}"/>
              </a:ext>
            </a:extLst>
          </p:cNvPr>
          <p:cNvSpPr/>
          <p:nvPr/>
        </p:nvSpPr>
        <p:spPr>
          <a:xfrm>
            <a:off x="7206209" y="2878390"/>
            <a:ext cx="108012" cy="10801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D778B2E-0767-F5B8-6E28-2A93B069B11D}"/>
              </a:ext>
            </a:extLst>
          </p:cNvPr>
          <p:cNvSpPr/>
          <p:nvPr/>
        </p:nvSpPr>
        <p:spPr>
          <a:xfrm>
            <a:off x="7206209" y="3021836"/>
            <a:ext cx="108012" cy="93720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6104FD9-97D3-8DF0-AAF9-449F2BF18D52}"/>
              </a:ext>
            </a:extLst>
          </p:cNvPr>
          <p:cNvSpPr/>
          <p:nvPr/>
        </p:nvSpPr>
        <p:spPr>
          <a:xfrm>
            <a:off x="4664968" y="3987684"/>
            <a:ext cx="264925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이용약관을 읽어 보았으며 동의합니다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800" b="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4018BEE-8AFE-B32E-6297-CA4AE36689DF}"/>
              </a:ext>
            </a:extLst>
          </p:cNvPr>
          <p:cNvSpPr/>
          <p:nvPr/>
        </p:nvSpPr>
        <p:spPr>
          <a:xfrm>
            <a:off x="337566" y="4127695"/>
            <a:ext cx="1807122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수집 및 이용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6070F9E-BF9C-BA5F-FBD8-4A4384692C50}"/>
              </a:ext>
            </a:extLst>
          </p:cNvPr>
          <p:cNvSpPr/>
          <p:nvPr/>
        </p:nvSpPr>
        <p:spPr>
          <a:xfrm>
            <a:off x="327237" y="4391308"/>
            <a:ext cx="6994934" cy="1078844"/>
          </a:xfrm>
          <a:prstGeom prst="rect">
            <a:avLst/>
          </a:prstGeom>
          <a:solidFill>
            <a:schemeClr val="bg1">
              <a:alpha val="2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개인정보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수집 및 이용 관련 사항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검토 후 삽입 필요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E8C9CA2-FD7C-00D3-14F6-827B4CE91FF2}"/>
              </a:ext>
            </a:extLst>
          </p:cNvPr>
          <p:cNvSpPr/>
          <p:nvPr/>
        </p:nvSpPr>
        <p:spPr>
          <a:xfrm>
            <a:off x="7206209" y="4389502"/>
            <a:ext cx="108012" cy="10801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F523F5C-A425-91CC-49C9-32C3E079C60B}"/>
              </a:ext>
            </a:extLst>
          </p:cNvPr>
          <p:cNvSpPr/>
          <p:nvPr/>
        </p:nvSpPr>
        <p:spPr>
          <a:xfrm>
            <a:off x="7206209" y="4532948"/>
            <a:ext cx="108012" cy="93720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3EE1A8C-23AA-146F-EB0F-26512BFD9389}"/>
              </a:ext>
            </a:extLst>
          </p:cNvPr>
          <p:cNvSpPr/>
          <p:nvPr/>
        </p:nvSpPr>
        <p:spPr>
          <a:xfrm>
            <a:off x="3083164" y="5498796"/>
            <a:ext cx="4231057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개인정보 수집 및 이용 관련 내용을 읽어 보았으며 동의합니다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endParaRPr lang="ko-KR" altLang="en-US" sz="800" b="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B219EA7-D20E-9A05-4040-BFF7EB8FBE5B}"/>
              </a:ext>
            </a:extLst>
          </p:cNvPr>
          <p:cNvSpPr/>
          <p:nvPr/>
        </p:nvSpPr>
        <p:spPr>
          <a:xfrm>
            <a:off x="6429164" y="5828793"/>
            <a:ext cx="89775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단계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19631F0-354E-8F6B-0356-8E99FCDE9C13}"/>
              </a:ext>
            </a:extLst>
          </p:cNvPr>
          <p:cNvSpPr/>
          <p:nvPr/>
        </p:nvSpPr>
        <p:spPr>
          <a:xfrm>
            <a:off x="327236" y="1032618"/>
            <a:ext cx="6994934" cy="777440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켑코이에스의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발주 사업에 참여하기</a:t>
            </a:r>
            <a:r>
              <a:rPr kumimoji="1" lang="ko-KR" altLang="en-US" sz="8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위해서는 반드시 협력업체로 등록되어야 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아래의 단계에 따라 정보를 입력해 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모든 정보가 입력되면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관리자의 승인을 통해 협력업체로 등록이 완료됩니다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승인에 걸리는 시간은 영업일 기준 약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일이며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문의사항은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연락 부탁드립니다.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69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4C3AAC82-7ADB-B114-B8F5-38C28C9F3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58" y="113611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0EB1E68F-481D-C269-E233-9C63BA699F87}"/>
              </a:ext>
            </a:extLst>
          </p:cNvPr>
          <p:cNvSpPr/>
          <p:nvPr/>
        </p:nvSpPr>
        <p:spPr>
          <a:xfrm>
            <a:off x="175985" y="279772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28A26F3-BA18-2759-8470-8364EE55BA76}"/>
              </a:ext>
            </a:extLst>
          </p:cNvPr>
          <p:cNvSpPr/>
          <p:nvPr/>
        </p:nvSpPr>
        <p:spPr>
          <a:xfrm>
            <a:off x="175985" y="431115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8147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8253D-46FA-1F48-3233-B4EF13A6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DE0FDA-2EFF-6AA8-A1C7-4D5CA91582A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B9581B-AD8B-9CEE-7451-279D14A43536}"/>
              </a:ext>
            </a:extLst>
          </p:cNvPr>
          <p:cNvSpPr txBox="1"/>
          <p:nvPr/>
        </p:nvSpPr>
        <p:spPr>
          <a:xfrm>
            <a:off x="749224" y="25608"/>
            <a:ext cx="28761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입력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89954-409C-973C-B22F-3242B5D7767A}"/>
              </a:ext>
            </a:extLst>
          </p:cNvPr>
          <p:cNvSpPr txBox="1"/>
          <p:nvPr/>
        </p:nvSpPr>
        <p:spPr>
          <a:xfrm>
            <a:off x="8049344" y="584684"/>
            <a:ext cx="1856656" cy="222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 중복 시 협력업체 신청 불가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 협력업체로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등록되어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생성 규칙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공공기관 기준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특수기호 조합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8~20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전화번호/핸드폰 앞자리 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02, 031, 032, 033, 041, 042, 043, 044, 051, 052, 053, 054, 055, 061, 062, 063, 064, 010, 070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주소 검색 API를 활용하여 개발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233AB1-8ACE-9D92-4821-32F08FEE23E1}"/>
              </a:ext>
            </a:extLst>
          </p:cNvPr>
          <p:cNvSpPr/>
          <p:nvPr/>
        </p:nvSpPr>
        <p:spPr>
          <a:xfrm>
            <a:off x="200471" y="332656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BE2A3EF-002E-21C6-A89D-E5E9602528B8}"/>
              </a:ext>
            </a:extLst>
          </p:cNvPr>
          <p:cNvSpPr/>
          <p:nvPr/>
        </p:nvSpPr>
        <p:spPr>
          <a:xfrm>
            <a:off x="200472" y="605566"/>
            <a:ext cx="7391698" cy="602779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E0D12A-1BD5-5483-3606-A1AD509A47A7}"/>
              </a:ext>
            </a:extLst>
          </p:cNvPr>
          <p:cNvSpPr/>
          <p:nvPr/>
        </p:nvSpPr>
        <p:spPr>
          <a:xfrm>
            <a:off x="7322170" y="33265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601724-BA89-F64F-C3E9-12E130CFCA4F}"/>
              </a:ext>
            </a:extLst>
          </p:cNvPr>
          <p:cNvSpPr/>
          <p:nvPr/>
        </p:nvSpPr>
        <p:spPr>
          <a:xfrm>
            <a:off x="7479889" y="606409"/>
            <a:ext cx="108012" cy="60269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C9F55C-436B-07DE-B7A0-561184915C21}"/>
              </a:ext>
            </a:extLst>
          </p:cNvPr>
          <p:cNvSpPr/>
          <p:nvPr/>
        </p:nvSpPr>
        <p:spPr>
          <a:xfrm>
            <a:off x="7479889" y="988187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2427CA-C005-FA1F-C79B-8E5AD69DA0ED}"/>
              </a:ext>
            </a:extLst>
          </p:cNvPr>
          <p:cNvSpPr/>
          <p:nvPr/>
        </p:nvSpPr>
        <p:spPr>
          <a:xfrm>
            <a:off x="337566" y="709948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9B0112-8F37-0623-3AEC-98DFB859E4F5}"/>
              </a:ext>
            </a:extLst>
          </p:cNvPr>
          <p:cNvSpPr/>
          <p:nvPr/>
        </p:nvSpPr>
        <p:spPr>
          <a:xfrm>
            <a:off x="327236" y="1032618"/>
            <a:ext cx="6994934" cy="777440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켑코이에스의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발주 사업에 참여하기</a:t>
            </a:r>
            <a:r>
              <a:rPr kumimoji="1" lang="ko-KR" altLang="en-US" sz="8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위해서는 반드시 협력업체로 등록되어야 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아래의 단계에 따라 정보를 입력해 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모든 정보가 입력되면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관리자의 승인을 통해 협력업체로 등록이 완료됩니다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승인에 걸리는 시간은 영업일 기준 약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일이며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문의사항은 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연락 부탁드립니다.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F6EAB149-43EB-32BC-48B3-35E70B7BE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58" y="113611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AEC418A9-537F-0179-5AAA-1CC8861CDFDE}"/>
              </a:ext>
            </a:extLst>
          </p:cNvPr>
          <p:cNvSpPr/>
          <p:nvPr/>
        </p:nvSpPr>
        <p:spPr>
          <a:xfrm>
            <a:off x="337566" y="2615744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입력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0057168-0905-4463-434B-791AE27CB593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2914203"/>
          <a:ext cx="6983604" cy="33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사업자등록번호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                                           ※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사업자등록번호는 로그인 시 아이디로 사용됩니다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비밀번호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비밀번호 확인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회사명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대표자명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-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주소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3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959764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72281B2-3E5D-9D9B-CB17-1C24BFFA8597}"/>
              </a:ext>
            </a:extLst>
          </p:cNvPr>
          <p:cNvSpPr/>
          <p:nvPr/>
        </p:nvSpPr>
        <p:spPr>
          <a:xfrm>
            <a:off x="3640993" y="2975481"/>
            <a:ext cx="63305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중복 확인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428B4B-6414-1085-673C-6E8E8D8BF1D4}"/>
              </a:ext>
            </a:extLst>
          </p:cNvPr>
          <p:cNvSpPr/>
          <p:nvPr/>
        </p:nvSpPr>
        <p:spPr>
          <a:xfrm>
            <a:off x="1750980" y="2982916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숫자로만 입력해 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92810D7-C39C-8DC4-7514-BD95C9DB938C}"/>
              </a:ext>
            </a:extLst>
          </p:cNvPr>
          <p:cNvSpPr/>
          <p:nvPr/>
        </p:nvSpPr>
        <p:spPr>
          <a:xfrm>
            <a:off x="1750980" y="3319083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영문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특수기호 조합 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8~20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5CEDCED-3205-1116-125D-B7A1FF0BC5A7}"/>
              </a:ext>
            </a:extLst>
          </p:cNvPr>
          <p:cNvSpPr/>
          <p:nvPr/>
        </p:nvSpPr>
        <p:spPr>
          <a:xfrm>
            <a:off x="1750980" y="3654814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입력하신 비밀번호를 확인해 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AEC7AFD-F02A-1189-C8D0-C92B78F9350E}"/>
              </a:ext>
            </a:extLst>
          </p:cNvPr>
          <p:cNvSpPr/>
          <p:nvPr/>
        </p:nvSpPr>
        <p:spPr>
          <a:xfrm>
            <a:off x="1750980" y="3989878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b="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0A9F636-D024-8306-C160-54D807529EAC}"/>
              </a:ext>
            </a:extLst>
          </p:cNvPr>
          <p:cNvSpPr/>
          <p:nvPr/>
        </p:nvSpPr>
        <p:spPr>
          <a:xfrm>
            <a:off x="1750980" y="4325367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예) 홍길동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21D191F-7302-2D5D-E9C0-6DA777CEFBFF}"/>
              </a:ext>
            </a:extLst>
          </p:cNvPr>
          <p:cNvSpPr/>
          <p:nvPr/>
        </p:nvSpPr>
        <p:spPr>
          <a:xfrm>
            <a:off x="1738657" y="4668827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057B07C-75D0-3955-A14F-791DAA731EEA}"/>
              </a:ext>
            </a:extLst>
          </p:cNvPr>
          <p:cNvSpPr/>
          <p:nvPr/>
        </p:nvSpPr>
        <p:spPr>
          <a:xfrm>
            <a:off x="2223311" y="466882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A8517D6-35D6-84B6-81B8-7875946B4F24}"/>
              </a:ext>
            </a:extLst>
          </p:cNvPr>
          <p:cNvSpPr/>
          <p:nvPr/>
        </p:nvSpPr>
        <p:spPr>
          <a:xfrm>
            <a:off x="1589592" y="453337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AF76F7D-CD94-CD72-4C3C-8A07E35E3015}"/>
              </a:ext>
            </a:extLst>
          </p:cNvPr>
          <p:cNvSpPr/>
          <p:nvPr/>
        </p:nvSpPr>
        <p:spPr>
          <a:xfrm>
            <a:off x="2592720" y="4668827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6B0388E-02D7-8633-5B18-8D55175490E9}"/>
              </a:ext>
            </a:extLst>
          </p:cNvPr>
          <p:cNvSpPr/>
          <p:nvPr/>
        </p:nvSpPr>
        <p:spPr>
          <a:xfrm>
            <a:off x="3212332" y="4668827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95FA368-CDF9-0620-D151-7A42C66148C9}"/>
              </a:ext>
            </a:extLst>
          </p:cNvPr>
          <p:cNvSpPr/>
          <p:nvPr/>
        </p:nvSpPr>
        <p:spPr>
          <a:xfrm>
            <a:off x="1750980" y="5002711"/>
            <a:ext cx="359806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통신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50CF8D1-E87F-31FB-060D-187E9B46CFE1}"/>
              </a:ext>
            </a:extLst>
          </p:cNvPr>
          <p:cNvSpPr/>
          <p:nvPr/>
        </p:nvSpPr>
        <p:spPr>
          <a:xfrm>
            <a:off x="1750980" y="5338772"/>
            <a:ext cx="359806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전자부품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소프트웨어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1EE2D52-81E4-7224-985E-2FF3CEBBCCB8}"/>
              </a:ext>
            </a:extLst>
          </p:cNvPr>
          <p:cNvSpPr/>
          <p:nvPr/>
        </p:nvSpPr>
        <p:spPr>
          <a:xfrm>
            <a:off x="1750981" y="5691861"/>
            <a:ext cx="729808" cy="20800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우편번호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732B9C3-2720-B6AD-06FD-D1271F86C149}"/>
              </a:ext>
            </a:extLst>
          </p:cNvPr>
          <p:cNvSpPr/>
          <p:nvPr/>
        </p:nvSpPr>
        <p:spPr>
          <a:xfrm>
            <a:off x="3232165" y="5691861"/>
            <a:ext cx="3233003" cy="20800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주소는 검색 후 자동 입력됩니다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A7EB64B-3EF8-D2FA-8430-2EF8E0C81FB2}"/>
              </a:ext>
            </a:extLst>
          </p:cNvPr>
          <p:cNvSpPr/>
          <p:nvPr/>
        </p:nvSpPr>
        <p:spPr>
          <a:xfrm>
            <a:off x="2539950" y="5691861"/>
            <a:ext cx="63305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주소 검색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D6C6D64-5038-55F2-7512-D1F6AF431E5D}"/>
              </a:ext>
            </a:extLst>
          </p:cNvPr>
          <p:cNvSpPr/>
          <p:nvPr/>
        </p:nvSpPr>
        <p:spPr>
          <a:xfrm>
            <a:off x="1750980" y="6022560"/>
            <a:ext cx="359806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 주소를 입력해 주세요.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5B5C2396-0282-5F77-6DDA-CE57B4B32E8D}"/>
              </a:ext>
            </a:extLst>
          </p:cNvPr>
          <p:cNvGrpSpPr/>
          <p:nvPr/>
        </p:nvGrpSpPr>
        <p:grpSpPr>
          <a:xfrm>
            <a:off x="337566" y="1899935"/>
            <a:ext cx="6984604" cy="643515"/>
            <a:chOff x="772714" y="2216865"/>
            <a:chExt cx="7739486" cy="888099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5761C795-407F-C35C-DDF6-ACF9089A82B2}"/>
                </a:ext>
              </a:extLst>
            </p:cNvPr>
            <p:cNvSpPr/>
            <p:nvPr/>
          </p:nvSpPr>
          <p:spPr>
            <a:xfrm>
              <a:off x="772714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약관 및 개인정보 수집 동의 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C58BD39E-8F19-2259-1306-1631EACB48B4}"/>
                </a:ext>
              </a:extLst>
            </p:cNvPr>
            <p:cNvSpPr/>
            <p:nvPr/>
          </p:nvSpPr>
          <p:spPr>
            <a:xfrm>
              <a:off x="2338887" y="2217141"/>
              <a:ext cx="1476164" cy="887823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  <a:endPara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 정보 입력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97912C31-58C0-156A-5B66-6A7E08452F6D}"/>
                </a:ext>
              </a:extLst>
            </p:cNvPr>
            <p:cNvSpPr/>
            <p:nvPr/>
          </p:nvSpPr>
          <p:spPr>
            <a:xfrm>
              <a:off x="3905060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  <a:endPara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담당자 정보 입력 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C7CBDE84-D03A-45EF-0165-3041516B8233}"/>
                </a:ext>
              </a:extLst>
            </p:cNvPr>
            <p:cNvSpPr/>
            <p:nvPr/>
          </p:nvSpPr>
          <p:spPr>
            <a:xfrm>
              <a:off x="5471233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  <a:endParaRPr lang="en-US" altLang="ko-KR" sz="9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 </a:t>
              </a: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 확인 및 제출</a:t>
              </a: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A8ECD731-ED71-2669-CBA4-49C9E04092E1}"/>
                </a:ext>
              </a:extLst>
            </p:cNvPr>
            <p:cNvSpPr/>
            <p:nvPr/>
          </p:nvSpPr>
          <p:spPr>
            <a:xfrm>
              <a:off x="7036036" y="2216865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  <a:endParaRPr lang="en-US" altLang="ko-KR" sz="9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협력업체 신청 완료 </a:t>
              </a: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31164D6-64D2-658B-B094-059EBAC1F027}"/>
              </a:ext>
            </a:extLst>
          </p:cNvPr>
          <p:cNvSpPr/>
          <p:nvPr/>
        </p:nvSpPr>
        <p:spPr>
          <a:xfrm>
            <a:off x="206357" y="6453296"/>
            <a:ext cx="7269263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1A4294A-00C2-EFF3-C33D-B19F9A9E74FE}"/>
              </a:ext>
            </a:extLst>
          </p:cNvPr>
          <p:cNvSpPr/>
          <p:nvPr/>
        </p:nvSpPr>
        <p:spPr>
          <a:xfrm>
            <a:off x="175985" y="279772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08FE19C-43FF-9452-667E-318A230384E1}"/>
              </a:ext>
            </a:extLst>
          </p:cNvPr>
          <p:cNvSpPr/>
          <p:nvPr/>
        </p:nvSpPr>
        <p:spPr>
          <a:xfrm>
            <a:off x="175985" y="319419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D078B51-F018-3BAA-B023-022580D71EE1}"/>
              </a:ext>
            </a:extLst>
          </p:cNvPr>
          <p:cNvSpPr/>
          <p:nvPr/>
        </p:nvSpPr>
        <p:spPr>
          <a:xfrm>
            <a:off x="2417072" y="558328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781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E5FE7-1947-5FEC-E416-B8FBBA83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2BD27D0-3D4B-20F4-7C59-7A0D674517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6F736-FBC7-52DF-830E-7182B9C12039}"/>
              </a:ext>
            </a:extLst>
          </p:cNvPr>
          <p:cNvSpPr txBox="1"/>
          <p:nvPr/>
        </p:nvSpPr>
        <p:spPr>
          <a:xfrm>
            <a:off x="749224" y="25608"/>
            <a:ext cx="28761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 입력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491D0F-F5B0-5686-EB98-305687C68F97}"/>
              </a:ext>
            </a:extLst>
          </p:cNvPr>
          <p:cNvSpPr txBox="1"/>
          <p:nvPr/>
        </p:nvSpPr>
        <p:spPr>
          <a:xfrm>
            <a:off x="8049344" y="584684"/>
            <a:ext cx="1856656" cy="2394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파일 확장자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적용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),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hwp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hwpx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doc, docx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xls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xlsx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ppt, pptx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pdf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zip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영역에서는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PDF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입력되도록 할 것인지 확인 필요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AAA, AA+, AA, AA-, A+, A, A-, BBB+, BBB, BBB-, BB+, BB, BB-, B+, B, B-, CCC, CC, C, 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D78FFE-FE86-D9FD-5566-52BDB83F3E7C}"/>
              </a:ext>
            </a:extLst>
          </p:cNvPr>
          <p:cNvSpPr/>
          <p:nvPr/>
        </p:nvSpPr>
        <p:spPr>
          <a:xfrm>
            <a:off x="200472" y="404664"/>
            <a:ext cx="7391698" cy="406845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244634-483C-DD99-2CAF-FF991DF0EC01}"/>
              </a:ext>
            </a:extLst>
          </p:cNvPr>
          <p:cNvSpPr/>
          <p:nvPr/>
        </p:nvSpPr>
        <p:spPr>
          <a:xfrm>
            <a:off x="7479889" y="405537"/>
            <a:ext cx="108012" cy="40678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56D135-83D1-6C5D-9497-B156385D8033}"/>
              </a:ext>
            </a:extLst>
          </p:cNvPr>
          <p:cNvSpPr/>
          <p:nvPr/>
        </p:nvSpPr>
        <p:spPr>
          <a:xfrm>
            <a:off x="7479889" y="988187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5D62E6F-5006-4D90-098E-13ABFA325FC9}"/>
              </a:ext>
            </a:extLst>
          </p:cNvPr>
          <p:cNvSpPr/>
          <p:nvPr/>
        </p:nvSpPr>
        <p:spPr>
          <a:xfrm>
            <a:off x="337566" y="543407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관련 증빙서류 제출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7168A86-41F5-A5B4-A7CC-93F8BED9B3D6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841866"/>
          <a:ext cx="6983604" cy="16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 등록된 파일명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 파일은 되도록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 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 파일은 되도록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 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면허 등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 파일은 되도록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 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F822D3-5434-E87D-8AF0-FA87F7CCD5CD}"/>
              </a:ext>
            </a:extLst>
          </p:cNvPr>
          <p:cNvSpPr/>
          <p:nvPr/>
        </p:nvSpPr>
        <p:spPr>
          <a:xfrm>
            <a:off x="1758770" y="1114859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 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614BC4-D74B-467E-9996-CFD042FF6039}"/>
              </a:ext>
            </a:extLst>
          </p:cNvPr>
          <p:cNvSpPr/>
          <p:nvPr/>
        </p:nvSpPr>
        <p:spPr>
          <a:xfrm>
            <a:off x="4124908" y="1113106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187185-4EA0-4979-9A9F-E72560C9F33E}"/>
              </a:ext>
            </a:extLst>
          </p:cNvPr>
          <p:cNvSpPr/>
          <p:nvPr/>
        </p:nvSpPr>
        <p:spPr>
          <a:xfrm>
            <a:off x="1758770" y="1648414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 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AB26847-BF7C-9D99-AC07-52659155C9F6}"/>
              </a:ext>
            </a:extLst>
          </p:cNvPr>
          <p:cNvSpPr/>
          <p:nvPr/>
        </p:nvSpPr>
        <p:spPr>
          <a:xfrm>
            <a:off x="4124908" y="1646661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965912A-65FF-8AEB-334C-74486C5174B8}"/>
              </a:ext>
            </a:extLst>
          </p:cNvPr>
          <p:cNvSpPr/>
          <p:nvPr/>
        </p:nvSpPr>
        <p:spPr>
          <a:xfrm>
            <a:off x="1758770" y="2184568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 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6EE318-A9ED-1F01-F4DB-96DDA21C7BF6}"/>
              </a:ext>
            </a:extLst>
          </p:cNvPr>
          <p:cNvSpPr/>
          <p:nvPr/>
        </p:nvSpPr>
        <p:spPr>
          <a:xfrm>
            <a:off x="4124908" y="2182815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B240D10-F73E-7007-8C8F-9A8A265730E3}"/>
              </a:ext>
            </a:extLst>
          </p:cNvPr>
          <p:cNvSpPr/>
          <p:nvPr/>
        </p:nvSpPr>
        <p:spPr>
          <a:xfrm>
            <a:off x="337566" y="2613598"/>
            <a:ext cx="317527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관련 정보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시점 기준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F628BFF0-6DCA-8F2A-C92A-9ACEC85632D0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2914203"/>
          <a:ext cx="6983604" cy="8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신용평가등급 확인서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 파일은 되도록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 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F4F849-E790-8C7F-4D81-0C9CAE6343B3}"/>
              </a:ext>
            </a:extLst>
          </p:cNvPr>
          <p:cNvSpPr/>
          <p:nvPr/>
        </p:nvSpPr>
        <p:spPr>
          <a:xfrm>
            <a:off x="1738657" y="2977416"/>
            <a:ext cx="1522155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신용평가등급을 선택해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185DE98-CB0D-7919-E7E4-4660A4CB6AC7}"/>
              </a:ext>
            </a:extLst>
          </p:cNvPr>
          <p:cNvSpPr/>
          <p:nvPr/>
        </p:nvSpPr>
        <p:spPr>
          <a:xfrm>
            <a:off x="3252186" y="297741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C288E46-43B6-8CFB-0AC5-8210F42E19FB}"/>
              </a:ext>
            </a:extLst>
          </p:cNvPr>
          <p:cNvSpPr/>
          <p:nvPr/>
        </p:nvSpPr>
        <p:spPr>
          <a:xfrm>
            <a:off x="1758770" y="3525952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 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85FEDED-1B23-D6AA-F488-CAF24DF950E2}"/>
              </a:ext>
            </a:extLst>
          </p:cNvPr>
          <p:cNvSpPr/>
          <p:nvPr/>
        </p:nvSpPr>
        <p:spPr>
          <a:xfrm>
            <a:off x="4124908" y="3524199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D971851-4CC3-1BA4-9D07-52A5B3A1A5FF}"/>
              </a:ext>
            </a:extLst>
          </p:cNvPr>
          <p:cNvSpPr/>
          <p:nvPr/>
        </p:nvSpPr>
        <p:spPr>
          <a:xfrm>
            <a:off x="6429164" y="3901066"/>
            <a:ext cx="89775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단계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944EB56-3F37-BD82-C3C0-3A0403DF95E7}"/>
              </a:ext>
            </a:extLst>
          </p:cNvPr>
          <p:cNvSpPr/>
          <p:nvPr/>
        </p:nvSpPr>
        <p:spPr>
          <a:xfrm>
            <a:off x="5469803" y="3901066"/>
            <a:ext cx="897754" cy="2880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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 단계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C814329-B420-5972-C83D-43095F606B38}"/>
              </a:ext>
            </a:extLst>
          </p:cNvPr>
          <p:cNvSpPr/>
          <p:nvPr/>
        </p:nvSpPr>
        <p:spPr>
          <a:xfrm>
            <a:off x="1629478" y="102014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E7C6231-3EAF-6475-6426-4EBB84B61394}"/>
              </a:ext>
            </a:extLst>
          </p:cNvPr>
          <p:cNvSpPr/>
          <p:nvPr/>
        </p:nvSpPr>
        <p:spPr>
          <a:xfrm>
            <a:off x="1629478" y="288288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602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7A078-90F6-CAB9-6C3D-6BC222DA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F942D77-5148-BB04-9C58-07F92BF5D1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238579-DE85-6AA5-329E-54CA7364C9CF}"/>
              </a:ext>
            </a:extLst>
          </p:cNvPr>
          <p:cNvSpPr txBox="1"/>
          <p:nvPr/>
        </p:nvSpPr>
        <p:spPr>
          <a:xfrm>
            <a:off x="749224" y="25608"/>
            <a:ext cx="3023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입력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AE42F8-5EAA-9303-AE6C-BEDA39805BFA}"/>
              </a:ext>
            </a:extLst>
          </p:cNvPr>
          <p:cNvSpPr txBox="1"/>
          <p:nvPr/>
        </p:nvSpPr>
        <p:spPr>
          <a:xfrm>
            <a:off x="8049344" y="584684"/>
            <a:ext cx="1856656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 입력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서식에 공통 적용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naver.com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google.com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hanmail.net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daum.net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nate.com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B6D6E2-93B3-3E8E-EBE1-21348BAACE19}"/>
              </a:ext>
            </a:extLst>
          </p:cNvPr>
          <p:cNvSpPr/>
          <p:nvPr/>
        </p:nvSpPr>
        <p:spPr>
          <a:xfrm>
            <a:off x="200471" y="332656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FBD64F-73A0-8D09-EC2B-699C8246B93C}"/>
              </a:ext>
            </a:extLst>
          </p:cNvPr>
          <p:cNvSpPr/>
          <p:nvPr/>
        </p:nvSpPr>
        <p:spPr>
          <a:xfrm>
            <a:off x="200472" y="605566"/>
            <a:ext cx="7391698" cy="505568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0B154B-6BBC-F5C9-2628-12D369BA881B}"/>
              </a:ext>
            </a:extLst>
          </p:cNvPr>
          <p:cNvSpPr/>
          <p:nvPr/>
        </p:nvSpPr>
        <p:spPr>
          <a:xfrm>
            <a:off x="7322170" y="33265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0DD9CF-C395-AA68-1C50-B408ED4E3002}"/>
              </a:ext>
            </a:extLst>
          </p:cNvPr>
          <p:cNvSpPr/>
          <p:nvPr/>
        </p:nvSpPr>
        <p:spPr>
          <a:xfrm>
            <a:off x="7479889" y="606409"/>
            <a:ext cx="108012" cy="50549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3DCB27-071D-986D-4A9B-D9D3A67716BF}"/>
              </a:ext>
            </a:extLst>
          </p:cNvPr>
          <p:cNvSpPr/>
          <p:nvPr/>
        </p:nvSpPr>
        <p:spPr>
          <a:xfrm>
            <a:off x="7479889" y="988187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39BE18-B252-2DD3-CB73-89A9189BB10E}"/>
              </a:ext>
            </a:extLst>
          </p:cNvPr>
          <p:cNvSpPr/>
          <p:nvPr/>
        </p:nvSpPr>
        <p:spPr>
          <a:xfrm>
            <a:off x="337566" y="709948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9DA309A-F7BE-07AC-21FA-F8E6AFECBF23}"/>
              </a:ext>
            </a:extLst>
          </p:cNvPr>
          <p:cNvSpPr/>
          <p:nvPr/>
        </p:nvSpPr>
        <p:spPr>
          <a:xfrm>
            <a:off x="327236" y="1032618"/>
            <a:ext cx="6994934" cy="777440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켑코이에스의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발주 사업에 참여하기</a:t>
            </a:r>
            <a:r>
              <a:rPr kumimoji="1" lang="ko-KR" altLang="en-US" sz="8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위해서는 반드시 협력업체로 등록되어야 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아래의 단계에 따라 정보를 입력해 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모든 정보가 입력되면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관리자의 승인을 통해 협력업체로 등록이 완료됩니다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승인에 걸리는 시간은 영업일 기준 약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일이며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문의사항은 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연락 부탁드립니다.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F841CFA8-1167-7E31-C5EE-9BB865A02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58" y="113611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051B83B2-4651-6B54-94BF-EC96019FC311}"/>
              </a:ext>
            </a:extLst>
          </p:cNvPr>
          <p:cNvSpPr/>
          <p:nvPr/>
        </p:nvSpPr>
        <p:spPr>
          <a:xfrm>
            <a:off x="337566" y="2615744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입력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1CC3199-6A4D-6990-BAD1-8D8CC417C107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2914203"/>
          <a:ext cx="6983604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이메일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@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핸드폰 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- 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담당 업무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-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grpSp>
        <p:nvGrpSpPr>
          <p:cNvPr id="88" name="그룹 87">
            <a:extLst>
              <a:ext uri="{FF2B5EF4-FFF2-40B4-BE49-F238E27FC236}">
                <a16:creationId xmlns:a16="http://schemas.microsoft.com/office/drawing/2014/main" id="{3361E5D0-FB75-0A02-CF1E-D3621B1BED12}"/>
              </a:ext>
            </a:extLst>
          </p:cNvPr>
          <p:cNvGrpSpPr/>
          <p:nvPr/>
        </p:nvGrpSpPr>
        <p:grpSpPr>
          <a:xfrm>
            <a:off x="337566" y="1899935"/>
            <a:ext cx="6984604" cy="643515"/>
            <a:chOff x="772714" y="2216865"/>
            <a:chExt cx="7739486" cy="888099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32758E5B-EA72-6FDB-F54A-D44784D244EE}"/>
                </a:ext>
              </a:extLst>
            </p:cNvPr>
            <p:cNvSpPr/>
            <p:nvPr/>
          </p:nvSpPr>
          <p:spPr>
            <a:xfrm>
              <a:off x="772714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약관 및 개인정보 수집 동의 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2129528F-2F9E-0BA0-2444-F10BCD805887}"/>
                </a:ext>
              </a:extLst>
            </p:cNvPr>
            <p:cNvSpPr/>
            <p:nvPr/>
          </p:nvSpPr>
          <p:spPr>
            <a:xfrm>
              <a:off x="2338887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  <a:endPara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 정보 입력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E662769B-AFA9-F7CE-FFC2-F61266571753}"/>
                </a:ext>
              </a:extLst>
            </p:cNvPr>
            <p:cNvSpPr/>
            <p:nvPr/>
          </p:nvSpPr>
          <p:spPr>
            <a:xfrm>
              <a:off x="3905060" y="2217141"/>
              <a:ext cx="1476164" cy="887823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  <a:endPara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담당자 정보 입력 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0F6F6B85-688D-D290-5CF8-0492F53512E8}"/>
                </a:ext>
              </a:extLst>
            </p:cNvPr>
            <p:cNvSpPr/>
            <p:nvPr/>
          </p:nvSpPr>
          <p:spPr>
            <a:xfrm>
              <a:off x="5471233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  <a:endParaRPr lang="en-US" altLang="ko-KR" sz="9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 </a:t>
              </a: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 확인 및 제출</a:t>
              </a: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5F5EAD8F-4D9B-3164-0313-421CB62E19C0}"/>
                </a:ext>
              </a:extLst>
            </p:cNvPr>
            <p:cNvSpPr/>
            <p:nvPr/>
          </p:nvSpPr>
          <p:spPr>
            <a:xfrm>
              <a:off x="7036036" y="2216865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  <a:endParaRPr lang="en-US" altLang="ko-KR" sz="9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협력업체 신청 완료 </a:t>
              </a: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E0BC6C-C439-3600-DC14-2BB6CCD66761}"/>
              </a:ext>
            </a:extLst>
          </p:cNvPr>
          <p:cNvSpPr/>
          <p:nvPr/>
        </p:nvSpPr>
        <p:spPr>
          <a:xfrm>
            <a:off x="3287288" y="3311433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 선택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2201DB-3860-11C9-764F-460842536729}"/>
              </a:ext>
            </a:extLst>
          </p:cNvPr>
          <p:cNvSpPr/>
          <p:nvPr/>
        </p:nvSpPr>
        <p:spPr>
          <a:xfrm>
            <a:off x="4548677" y="3311435"/>
            <a:ext cx="227054" cy="20800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CA21C17-4639-993B-5433-0AEC780EF31A}"/>
              </a:ext>
            </a:extLst>
          </p:cNvPr>
          <p:cNvSpPr/>
          <p:nvPr/>
        </p:nvSpPr>
        <p:spPr>
          <a:xfrm>
            <a:off x="1750981" y="2972131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예) 홍길동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C0DD0AF-B8A0-9F7F-741A-18CDFF195D8A}"/>
              </a:ext>
            </a:extLst>
          </p:cNvPr>
          <p:cNvSpPr/>
          <p:nvPr/>
        </p:nvSpPr>
        <p:spPr>
          <a:xfrm>
            <a:off x="1750981" y="3311434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7846B3B-2997-A3B8-5118-1B923C6CD174}"/>
              </a:ext>
            </a:extLst>
          </p:cNvPr>
          <p:cNvSpPr/>
          <p:nvPr/>
        </p:nvSpPr>
        <p:spPr>
          <a:xfrm>
            <a:off x="4857185" y="3311433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 입력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6C1192E-B0B8-366D-9170-C47EF45B8F86}"/>
              </a:ext>
            </a:extLst>
          </p:cNvPr>
          <p:cNvSpPr/>
          <p:nvPr/>
        </p:nvSpPr>
        <p:spPr>
          <a:xfrm>
            <a:off x="1738657" y="3648874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24ED57A-28EE-650C-D2E3-19481CAEFA4A}"/>
              </a:ext>
            </a:extLst>
          </p:cNvPr>
          <p:cNvSpPr/>
          <p:nvPr/>
        </p:nvSpPr>
        <p:spPr>
          <a:xfrm>
            <a:off x="2223311" y="364887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CC17655-4520-5785-6C7C-76FF6FD5053B}"/>
              </a:ext>
            </a:extLst>
          </p:cNvPr>
          <p:cNvSpPr/>
          <p:nvPr/>
        </p:nvSpPr>
        <p:spPr>
          <a:xfrm>
            <a:off x="2592720" y="3648874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25DDC65-B0D0-EDF5-328F-39FF74EC3DD3}"/>
              </a:ext>
            </a:extLst>
          </p:cNvPr>
          <p:cNvSpPr/>
          <p:nvPr/>
        </p:nvSpPr>
        <p:spPr>
          <a:xfrm>
            <a:off x="3212332" y="3648874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B9C6D47-FBAC-185B-2392-6A6D74986EA0}"/>
              </a:ext>
            </a:extLst>
          </p:cNvPr>
          <p:cNvSpPr/>
          <p:nvPr/>
        </p:nvSpPr>
        <p:spPr>
          <a:xfrm>
            <a:off x="1750981" y="4005429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이사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대리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D5F6E71-6A6C-6F8F-2BF1-BD29FB075CCC}"/>
              </a:ext>
            </a:extLst>
          </p:cNvPr>
          <p:cNvSpPr/>
          <p:nvPr/>
        </p:nvSpPr>
        <p:spPr>
          <a:xfrm>
            <a:off x="1750981" y="4341678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영업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기획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8788BFC7-BA62-D40F-86F3-45774D436416}"/>
              </a:ext>
            </a:extLst>
          </p:cNvPr>
          <p:cNvSpPr/>
          <p:nvPr/>
        </p:nvSpPr>
        <p:spPr>
          <a:xfrm>
            <a:off x="1738657" y="4660124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B297D2A9-E800-0BA5-20CC-57959EB1CD94}"/>
              </a:ext>
            </a:extLst>
          </p:cNvPr>
          <p:cNvSpPr/>
          <p:nvPr/>
        </p:nvSpPr>
        <p:spPr>
          <a:xfrm>
            <a:off x="2223311" y="466012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CC0C832E-350A-2FE5-11FA-0F619C672307}"/>
              </a:ext>
            </a:extLst>
          </p:cNvPr>
          <p:cNvSpPr/>
          <p:nvPr/>
        </p:nvSpPr>
        <p:spPr>
          <a:xfrm>
            <a:off x="2592720" y="4660124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5457561-C4EC-8782-F65E-4FE3F54CA5C9}"/>
              </a:ext>
            </a:extLst>
          </p:cNvPr>
          <p:cNvSpPr/>
          <p:nvPr/>
        </p:nvSpPr>
        <p:spPr>
          <a:xfrm>
            <a:off x="3212332" y="4660124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FB5B20C-CF05-71D2-628F-591879B2AAEC}"/>
              </a:ext>
            </a:extLst>
          </p:cNvPr>
          <p:cNvSpPr/>
          <p:nvPr/>
        </p:nvSpPr>
        <p:spPr>
          <a:xfrm>
            <a:off x="6429164" y="5049180"/>
            <a:ext cx="89775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단계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80C5638-85AC-808E-2728-F274E3457A8A}"/>
              </a:ext>
            </a:extLst>
          </p:cNvPr>
          <p:cNvSpPr/>
          <p:nvPr/>
        </p:nvSpPr>
        <p:spPr>
          <a:xfrm>
            <a:off x="5469803" y="5049180"/>
            <a:ext cx="897754" cy="2880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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 단계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72F344-932C-E797-5B30-72193E06ABFA}"/>
              </a:ext>
            </a:extLst>
          </p:cNvPr>
          <p:cNvSpPr/>
          <p:nvPr/>
        </p:nvSpPr>
        <p:spPr>
          <a:xfrm>
            <a:off x="3163339" y="31951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9628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4D32D-0017-66C4-AE53-87BE5393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EE34F1C-83F8-F059-6128-04F8816906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4EF562-E15B-B508-3E03-171382F57E94}"/>
              </a:ext>
            </a:extLst>
          </p:cNvPr>
          <p:cNvSpPr txBox="1"/>
          <p:nvPr/>
        </p:nvSpPr>
        <p:spPr>
          <a:xfrm>
            <a:off x="749224" y="25608"/>
            <a:ext cx="3273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협력업체 신청(신청 정보 확인 및 제출)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B77C3-1EA9-835F-9566-C7B538141EE5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8ADFB0-88E9-27F5-CD02-8AA3A9942399}"/>
              </a:ext>
            </a:extLst>
          </p:cNvPr>
          <p:cNvSpPr/>
          <p:nvPr/>
        </p:nvSpPr>
        <p:spPr>
          <a:xfrm>
            <a:off x="200471" y="332656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84233F-76C4-DAC9-0980-7DE8B950CE91}"/>
              </a:ext>
            </a:extLst>
          </p:cNvPr>
          <p:cNvSpPr/>
          <p:nvPr/>
        </p:nvSpPr>
        <p:spPr>
          <a:xfrm>
            <a:off x="200472" y="605566"/>
            <a:ext cx="7391698" cy="602779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FD578E-238A-73EC-C92C-386994EBA45E}"/>
              </a:ext>
            </a:extLst>
          </p:cNvPr>
          <p:cNvSpPr/>
          <p:nvPr/>
        </p:nvSpPr>
        <p:spPr>
          <a:xfrm>
            <a:off x="7322170" y="33265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F0E1D3-80F9-F53F-5F4F-AF30D7F8F325}"/>
              </a:ext>
            </a:extLst>
          </p:cNvPr>
          <p:cNvSpPr/>
          <p:nvPr/>
        </p:nvSpPr>
        <p:spPr>
          <a:xfrm>
            <a:off x="7479889" y="606409"/>
            <a:ext cx="108012" cy="60269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31C41D-2A8F-3BBB-738A-1712F18878B2}"/>
              </a:ext>
            </a:extLst>
          </p:cNvPr>
          <p:cNvSpPr/>
          <p:nvPr/>
        </p:nvSpPr>
        <p:spPr>
          <a:xfrm>
            <a:off x="7479889" y="988187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925F52-B370-F25C-8C6F-635869FF6D74}"/>
              </a:ext>
            </a:extLst>
          </p:cNvPr>
          <p:cNvSpPr/>
          <p:nvPr/>
        </p:nvSpPr>
        <p:spPr>
          <a:xfrm>
            <a:off x="337566" y="709948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3E8D47-528B-74C0-415F-CFA7C354AA96}"/>
              </a:ext>
            </a:extLst>
          </p:cNvPr>
          <p:cNvSpPr/>
          <p:nvPr/>
        </p:nvSpPr>
        <p:spPr>
          <a:xfrm>
            <a:off x="327236" y="1032618"/>
            <a:ext cx="6994934" cy="777440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켑코이에스의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발주 사업에 참여하기</a:t>
            </a:r>
            <a:r>
              <a:rPr kumimoji="1" lang="ko-KR" altLang="en-US" sz="8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위해서는 반드시 협력업체로 등록되어야 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아래의 단계에 따라 정보를 입력해 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모든 정보가 입력되면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관리자의 승인을 통해 협력업체로 등록이 완료됩니다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승인에 걸리는 시간은 영업일 기준 약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일이며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문의사항은 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연락 부탁드립니다.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84963750-96BC-640E-93B2-FC5B56ACB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58" y="113611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8" name="그룹 87">
            <a:extLst>
              <a:ext uri="{FF2B5EF4-FFF2-40B4-BE49-F238E27FC236}">
                <a16:creationId xmlns:a16="http://schemas.microsoft.com/office/drawing/2014/main" id="{7121FC17-AFB0-6179-580E-3D7805512DF3}"/>
              </a:ext>
            </a:extLst>
          </p:cNvPr>
          <p:cNvGrpSpPr/>
          <p:nvPr/>
        </p:nvGrpSpPr>
        <p:grpSpPr>
          <a:xfrm>
            <a:off x="337566" y="1899935"/>
            <a:ext cx="6984604" cy="643515"/>
            <a:chOff x="772714" y="2216865"/>
            <a:chExt cx="7739486" cy="888099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A5F6DAB-C0F8-91AC-EABD-37CA96DB5A58}"/>
                </a:ext>
              </a:extLst>
            </p:cNvPr>
            <p:cNvSpPr/>
            <p:nvPr/>
          </p:nvSpPr>
          <p:spPr>
            <a:xfrm>
              <a:off x="772714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약관 및 개인정보 수집 동의 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7390ABA9-22D8-8A54-AA9F-A1E1B203981D}"/>
                </a:ext>
              </a:extLst>
            </p:cNvPr>
            <p:cNvSpPr/>
            <p:nvPr/>
          </p:nvSpPr>
          <p:spPr>
            <a:xfrm>
              <a:off x="2338887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  <a:endPara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 정보 입력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0335A99A-1650-8735-02AA-8F03B9FE99D9}"/>
                </a:ext>
              </a:extLst>
            </p:cNvPr>
            <p:cNvSpPr/>
            <p:nvPr/>
          </p:nvSpPr>
          <p:spPr>
            <a:xfrm>
              <a:off x="3905060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  <a:endPara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담당자 정보 입력 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7B1CC542-43E2-D5BA-FFC8-F41B74CDE5E1}"/>
                </a:ext>
              </a:extLst>
            </p:cNvPr>
            <p:cNvSpPr/>
            <p:nvPr/>
          </p:nvSpPr>
          <p:spPr>
            <a:xfrm>
              <a:off x="5471233" y="2217141"/>
              <a:ext cx="1476164" cy="887823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  <a:endParaRPr lang="en-US" altLang="ko-KR" sz="9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 </a:t>
              </a: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 확인 및 제출</a:t>
              </a: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C0B5A9CB-3BDD-1959-8B0B-68951B98D37B}"/>
                </a:ext>
              </a:extLst>
            </p:cNvPr>
            <p:cNvSpPr/>
            <p:nvPr/>
          </p:nvSpPr>
          <p:spPr>
            <a:xfrm>
              <a:off x="7036036" y="2216865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  <a:endParaRPr lang="en-US" altLang="ko-KR" sz="9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협력업체 신청 완료 </a:t>
              </a: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30AEC-BC7F-BC4E-DAB9-5ADFC2D32ADD}"/>
              </a:ext>
            </a:extLst>
          </p:cNvPr>
          <p:cNvSpPr/>
          <p:nvPr/>
        </p:nvSpPr>
        <p:spPr>
          <a:xfrm>
            <a:off x="337566" y="2615744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53A2A41-4944-03FA-185C-2BEE95B9CEA8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2914203"/>
          <a:ext cx="6983604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사업자등록번호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135-82-77202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회사명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대표자명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이홍태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윤지병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02-833-1650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인프라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소프트웨어 개발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주소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(12654)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경기도 고양시 일산서구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강선로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118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강선마을아파트 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208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39375"/>
                  </a:ext>
                </a:extLst>
              </a:tr>
            </a:tbl>
          </a:graphicData>
        </a:graphic>
      </p:graphicFrame>
      <p:sp>
        <p:nvSpPr>
          <p:cNvPr id="56" name="직사각형 55">
            <a:extLst>
              <a:ext uri="{FF2B5EF4-FFF2-40B4-BE49-F238E27FC236}">
                <a16:creationId xmlns:a16="http://schemas.microsoft.com/office/drawing/2014/main" id="{9CD623E6-89B2-9C20-8BD5-AAF27EDB4167}"/>
              </a:ext>
            </a:extLst>
          </p:cNvPr>
          <p:cNvSpPr/>
          <p:nvPr/>
        </p:nvSpPr>
        <p:spPr>
          <a:xfrm>
            <a:off x="337566" y="5364522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관련 증빙서류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C6B53430-A80E-E6FA-200E-ECB0D3763C8E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5662981"/>
          <a:ext cx="6983604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 등록된 파일명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다운로드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다운로드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sp>
        <p:nvSpPr>
          <p:cNvPr id="70" name="직사각형 69">
            <a:extLst>
              <a:ext uri="{FF2B5EF4-FFF2-40B4-BE49-F238E27FC236}">
                <a16:creationId xmlns:a16="http://schemas.microsoft.com/office/drawing/2014/main" id="{C1203115-C7D8-3A8C-CCA2-93564442F9F6}"/>
              </a:ext>
            </a:extLst>
          </p:cNvPr>
          <p:cNvSpPr/>
          <p:nvPr/>
        </p:nvSpPr>
        <p:spPr>
          <a:xfrm>
            <a:off x="1758770" y="7005683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 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906A6C3-0CD4-033A-C1D8-8C48D0790206}"/>
              </a:ext>
            </a:extLst>
          </p:cNvPr>
          <p:cNvSpPr/>
          <p:nvPr/>
        </p:nvSpPr>
        <p:spPr>
          <a:xfrm>
            <a:off x="4124908" y="7003930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E62BD08-0C80-49D0-EF25-2727C786C319}"/>
              </a:ext>
            </a:extLst>
          </p:cNvPr>
          <p:cNvSpPr/>
          <p:nvPr/>
        </p:nvSpPr>
        <p:spPr>
          <a:xfrm>
            <a:off x="206357" y="6453296"/>
            <a:ext cx="7269263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</p:spTree>
    <p:extLst>
      <p:ext uri="{BB962C8B-B14F-4D97-AF65-F5344CB8AC3E}">
        <p14:creationId xmlns:p14="http://schemas.microsoft.com/office/powerpoint/2010/main" val="2610323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0D947-6C5A-6608-D7A6-2E261B91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17A044B-B8CB-24C3-4A31-1333AB1973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E28490-558D-DA6B-39C4-D423AA6248D8}"/>
              </a:ext>
            </a:extLst>
          </p:cNvPr>
          <p:cNvSpPr txBox="1"/>
          <p:nvPr/>
        </p:nvSpPr>
        <p:spPr>
          <a:xfrm>
            <a:off x="749224" y="25608"/>
            <a:ext cx="3273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협력업체 신청(신청 정보 확인 및 제출)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1DEBE-62F2-1607-9217-303D9148C9C3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F27B5A-7A48-47C4-E33E-FDF1D824D448}"/>
              </a:ext>
            </a:extLst>
          </p:cNvPr>
          <p:cNvSpPr/>
          <p:nvPr/>
        </p:nvSpPr>
        <p:spPr>
          <a:xfrm>
            <a:off x="200472" y="368660"/>
            <a:ext cx="7391698" cy="50045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B89274-B48B-C3F4-8C68-4BD7A9FA4341}"/>
              </a:ext>
            </a:extLst>
          </p:cNvPr>
          <p:cNvSpPr/>
          <p:nvPr/>
        </p:nvSpPr>
        <p:spPr>
          <a:xfrm>
            <a:off x="7479889" y="369539"/>
            <a:ext cx="108012" cy="500382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B17EC8-76A8-1BBD-2EF2-59D0C19D62E8}"/>
              </a:ext>
            </a:extLst>
          </p:cNvPr>
          <p:cNvSpPr/>
          <p:nvPr/>
        </p:nvSpPr>
        <p:spPr>
          <a:xfrm>
            <a:off x="7479889" y="988187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5DDDDF3E-F684-510A-C012-7464EFBD7CBE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498559"/>
          <a:ext cx="6983604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면허 등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다운로드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</a:tbl>
          </a:graphicData>
        </a:graphic>
      </p:graphicFrame>
      <p:sp>
        <p:nvSpPr>
          <p:cNvPr id="70" name="직사각형 69">
            <a:extLst>
              <a:ext uri="{FF2B5EF4-FFF2-40B4-BE49-F238E27FC236}">
                <a16:creationId xmlns:a16="http://schemas.microsoft.com/office/drawing/2014/main" id="{41BB72E0-2891-6520-F753-FD4C47813890}"/>
              </a:ext>
            </a:extLst>
          </p:cNvPr>
          <p:cNvSpPr/>
          <p:nvPr/>
        </p:nvSpPr>
        <p:spPr>
          <a:xfrm>
            <a:off x="1758770" y="7005683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 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35D042E-4F82-A0A0-1B67-E10759775342}"/>
              </a:ext>
            </a:extLst>
          </p:cNvPr>
          <p:cNvSpPr/>
          <p:nvPr/>
        </p:nvSpPr>
        <p:spPr>
          <a:xfrm>
            <a:off x="4124908" y="7003930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2C78DB-3D9B-BB7E-CB7A-0802EC090CA4}"/>
              </a:ext>
            </a:extLst>
          </p:cNvPr>
          <p:cNvSpPr/>
          <p:nvPr/>
        </p:nvSpPr>
        <p:spPr>
          <a:xfrm>
            <a:off x="337566" y="944724"/>
            <a:ext cx="317527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관련 정보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시점 기준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62ED7C9-D052-1D52-3828-AEBB51EC8649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1245329"/>
          <a:ext cx="6983604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BB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신용평가등급 확인서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다운로드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FB70DAE-3B38-76F2-14F5-3124BC1C08FC}"/>
              </a:ext>
            </a:extLst>
          </p:cNvPr>
          <p:cNvSpPr/>
          <p:nvPr/>
        </p:nvSpPr>
        <p:spPr>
          <a:xfrm>
            <a:off x="337566" y="2048777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916002B-0BF4-5018-7264-8007397007B6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2347236"/>
          <a:ext cx="6983604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이메일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핸드폰 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담당 업무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PM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및 기획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02-6959-9857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EF1C6BE-DE61-06B2-16AC-03ADED78BF54}"/>
              </a:ext>
            </a:extLst>
          </p:cNvPr>
          <p:cNvSpPr/>
          <p:nvPr/>
        </p:nvSpPr>
        <p:spPr>
          <a:xfrm>
            <a:off x="337566" y="4458773"/>
            <a:ext cx="6983604" cy="5544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입력하신 내용을 확인해 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수정할 사항이 있는 경우 이전 단계로 이동하여 수정할 수 있습니다.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모든 정보를 확인한 후 최종 제출하면 협력업체 신청이 완료됩니다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943E21-E736-3617-89C0-20CB83AC808C}"/>
              </a:ext>
            </a:extLst>
          </p:cNvPr>
          <p:cNvSpPr/>
          <p:nvPr/>
        </p:nvSpPr>
        <p:spPr>
          <a:xfrm>
            <a:off x="6318531" y="4598380"/>
            <a:ext cx="89775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최종 제출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33E760-ECA4-9136-1658-8BD1728EECC8}"/>
              </a:ext>
            </a:extLst>
          </p:cNvPr>
          <p:cNvSpPr/>
          <p:nvPr/>
        </p:nvSpPr>
        <p:spPr>
          <a:xfrm>
            <a:off x="5359170" y="4598380"/>
            <a:ext cx="897754" cy="2880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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 단계</a:t>
            </a:r>
          </a:p>
        </p:txBody>
      </p:sp>
    </p:spTree>
    <p:extLst>
      <p:ext uri="{BB962C8B-B14F-4D97-AF65-F5344CB8AC3E}">
        <p14:creationId xmlns:p14="http://schemas.microsoft.com/office/powerpoint/2010/main" val="285943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2E630-3D01-A21E-ED3A-0E6FF690D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D77C295-1A75-A15C-0771-3E8DDDF719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5C4A11-B05F-C67E-F529-1877A33FF77D}"/>
              </a:ext>
            </a:extLst>
          </p:cNvPr>
          <p:cNvSpPr txBox="1"/>
          <p:nvPr/>
        </p:nvSpPr>
        <p:spPr>
          <a:xfrm>
            <a:off x="749224" y="25608"/>
            <a:ext cx="31197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협력업체 신청(협력업체 신청 완료)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8DB0D7-F457-D1FA-F6D2-D9609A47C799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통보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MSG-001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2FEFE9-56AF-3DC8-EABD-DB891C935634}"/>
              </a:ext>
            </a:extLst>
          </p:cNvPr>
          <p:cNvSpPr/>
          <p:nvPr/>
        </p:nvSpPr>
        <p:spPr>
          <a:xfrm>
            <a:off x="200471" y="332656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A48002-A8ED-F077-D6A6-743E1A89E12D}"/>
              </a:ext>
            </a:extLst>
          </p:cNvPr>
          <p:cNvSpPr/>
          <p:nvPr/>
        </p:nvSpPr>
        <p:spPr>
          <a:xfrm>
            <a:off x="200472" y="605566"/>
            <a:ext cx="7391698" cy="34355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E45992-B201-200D-D6DF-4274DAA1994A}"/>
              </a:ext>
            </a:extLst>
          </p:cNvPr>
          <p:cNvSpPr/>
          <p:nvPr/>
        </p:nvSpPr>
        <p:spPr>
          <a:xfrm>
            <a:off x="7322170" y="33265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FE673D-A767-DABE-36E2-516FDDF9603D}"/>
              </a:ext>
            </a:extLst>
          </p:cNvPr>
          <p:cNvSpPr/>
          <p:nvPr/>
        </p:nvSpPr>
        <p:spPr>
          <a:xfrm>
            <a:off x="7479889" y="606409"/>
            <a:ext cx="108012" cy="34349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A7132C-A8CF-A3AF-9BE0-2AB191D60D6E}"/>
              </a:ext>
            </a:extLst>
          </p:cNvPr>
          <p:cNvSpPr/>
          <p:nvPr/>
        </p:nvSpPr>
        <p:spPr>
          <a:xfrm>
            <a:off x="7479889" y="988187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48B7D4A-D55D-960C-AB03-5A914F959593}"/>
              </a:ext>
            </a:extLst>
          </p:cNvPr>
          <p:cNvSpPr/>
          <p:nvPr/>
        </p:nvSpPr>
        <p:spPr>
          <a:xfrm>
            <a:off x="337566" y="709948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3BF986B-BFB7-BAA1-0A98-C9F9088EDEEC}"/>
              </a:ext>
            </a:extLst>
          </p:cNvPr>
          <p:cNvSpPr/>
          <p:nvPr/>
        </p:nvSpPr>
        <p:spPr>
          <a:xfrm>
            <a:off x="327236" y="1032618"/>
            <a:ext cx="6994934" cy="777440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켑코이에스의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발주 사업에 참여하기</a:t>
            </a:r>
            <a:r>
              <a:rPr kumimoji="1" lang="ko-KR" altLang="en-US" sz="8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위해서는 반드시 협력업체로 등록되어야 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아래의 단계에 따라 정보를 입력해 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모든 정보가 입력되면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관리자의 승인을 통해 협력업체로 등록이 완료됩니다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승인에 걸리는 시간은 영업일 기준 약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일이며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문의사항은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연락 부탁드립니다.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3FF3D10E-6764-C494-6ECF-AB1A99D6A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58" y="113611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8" name="그룹 87">
            <a:extLst>
              <a:ext uri="{FF2B5EF4-FFF2-40B4-BE49-F238E27FC236}">
                <a16:creationId xmlns:a16="http://schemas.microsoft.com/office/drawing/2014/main" id="{92F65214-B121-5CAC-9FDC-E17C488A9CAF}"/>
              </a:ext>
            </a:extLst>
          </p:cNvPr>
          <p:cNvGrpSpPr/>
          <p:nvPr/>
        </p:nvGrpSpPr>
        <p:grpSpPr>
          <a:xfrm>
            <a:off x="337566" y="1899935"/>
            <a:ext cx="6984604" cy="643515"/>
            <a:chOff x="772714" y="2216865"/>
            <a:chExt cx="7739486" cy="888099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F8D61299-A5EA-7D9A-0536-5BE2DEB6C299}"/>
                </a:ext>
              </a:extLst>
            </p:cNvPr>
            <p:cNvSpPr/>
            <p:nvPr/>
          </p:nvSpPr>
          <p:spPr>
            <a:xfrm>
              <a:off x="772714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약관 및 개인정보 수집 동의 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35C8C11A-DDEB-EAB0-261B-373636E70A77}"/>
                </a:ext>
              </a:extLst>
            </p:cNvPr>
            <p:cNvSpPr/>
            <p:nvPr/>
          </p:nvSpPr>
          <p:spPr>
            <a:xfrm>
              <a:off x="2338887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  <a:endPara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 정보 입력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39BFA772-95B2-A56F-2978-620B12605778}"/>
                </a:ext>
              </a:extLst>
            </p:cNvPr>
            <p:cNvSpPr/>
            <p:nvPr/>
          </p:nvSpPr>
          <p:spPr>
            <a:xfrm>
              <a:off x="3905060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  <a:endParaRPr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담당자 정보 입력 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4B239ACC-E8EA-AACD-2B69-72C8861542A0}"/>
                </a:ext>
              </a:extLst>
            </p:cNvPr>
            <p:cNvSpPr/>
            <p:nvPr/>
          </p:nvSpPr>
          <p:spPr>
            <a:xfrm>
              <a:off x="5471233" y="2217141"/>
              <a:ext cx="1476164" cy="8878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  <a:endParaRPr lang="en-US" altLang="ko-KR" sz="9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 </a:t>
              </a: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 확인 및 제출</a:t>
              </a: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C36A32BC-F688-EC6A-FA7C-379E286CAD34}"/>
                </a:ext>
              </a:extLst>
            </p:cNvPr>
            <p:cNvSpPr/>
            <p:nvPr/>
          </p:nvSpPr>
          <p:spPr>
            <a:xfrm>
              <a:off x="7036036" y="2216865"/>
              <a:ext cx="1476164" cy="887823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  <a:endParaRPr lang="en-US" altLang="ko-KR" sz="9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협력업체 신청 완료 </a:t>
              </a:r>
              <a:r>
                <a:rPr lang="ko-KR" altLang="en-US" sz="800" b="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0464AC-493E-98B8-62AB-E6341DF68AB5}"/>
              </a:ext>
            </a:extLst>
          </p:cNvPr>
          <p:cNvSpPr/>
          <p:nvPr/>
        </p:nvSpPr>
        <p:spPr>
          <a:xfrm>
            <a:off x="337566" y="2615744"/>
            <a:ext cx="6984604" cy="87216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신청이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완료되었습니다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입력하신 협력업체 정보와 제출 서류가 정상적으로 등록되었습니다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내용은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켑코이에스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담당자 검토 후 승인 여부가 결정되며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검토 결과는 이메일 또는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SMS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통해 안내됩니다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3535717-C2F3-6DDF-3780-1D52EAB4A296}"/>
              </a:ext>
            </a:extLst>
          </p:cNvPr>
          <p:cNvSpPr/>
          <p:nvPr/>
        </p:nvSpPr>
        <p:spPr>
          <a:xfrm>
            <a:off x="1758770" y="7005683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 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97E8A43-F322-879F-04AB-CDB757307C87}"/>
              </a:ext>
            </a:extLst>
          </p:cNvPr>
          <p:cNvSpPr/>
          <p:nvPr/>
        </p:nvSpPr>
        <p:spPr>
          <a:xfrm>
            <a:off x="4124908" y="7003930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9862946-DFFD-AFCB-93A9-F73DD8ADEA02}"/>
              </a:ext>
            </a:extLst>
          </p:cNvPr>
          <p:cNvSpPr/>
          <p:nvPr/>
        </p:nvSpPr>
        <p:spPr>
          <a:xfrm>
            <a:off x="6213140" y="3429000"/>
            <a:ext cx="111377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신청 완료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293A135-3D3C-C25E-2276-05F07C56E6BE}"/>
              </a:ext>
            </a:extLst>
          </p:cNvPr>
          <p:cNvSpPr/>
          <p:nvPr/>
        </p:nvSpPr>
        <p:spPr>
          <a:xfrm>
            <a:off x="241204" y="303439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8759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AF57-7B26-0DF3-29E3-CF4A5EDD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29B5977-0883-3013-855D-4073A6BAE6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65246D-DF32-03D6-1889-5C1EC256299E}"/>
              </a:ext>
            </a:extLst>
          </p:cNvPr>
          <p:cNvSpPr txBox="1"/>
          <p:nvPr/>
        </p:nvSpPr>
        <p:spPr>
          <a:xfrm>
            <a:off x="749224" y="25608"/>
            <a:ext cx="23887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65359-A944-3E06-5C25-3FC73430C39C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팝업으로 사업자등록번호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아이디임을 안내함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A861DB-1937-568A-DC9F-E4A89D49446D}"/>
              </a:ext>
            </a:extLst>
          </p:cNvPr>
          <p:cNvSpPr/>
          <p:nvPr/>
        </p:nvSpPr>
        <p:spPr>
          <a:xfrm>
            <a:off x="164468" y="423450"/>
            <a:ext cx="439248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EA855B-8741-2E8F-36FA-89817898014F}"/>
              </a:ext>
            </a:extLst>
          </p:cNvPr>
          <p:cNvSpPr/>
          <p:nvPr/>
        </p:nvSpPr>
        <p:spPr>
          <a:xfrm>
            <a:off x="164468" y="696362"/>
            <a:ext cx="4392488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377A8C-AD32-3673-8AEB-49C081FFB367}"/>
              </a:ext>
            </a:extLst>
          </p:cNvPr>
          <p:cNvSpPr/>
          <p:nvPr/>
        </p:nvSpPr>
        <p:spPr>
          <a:xfrm>
            <a:off x="4286956" y="42345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243815-6688-8204-5FC5-40F2865B75DC}"/>
              </a:ext>
            </a:extLst>
          </p:cNvPr>
          <p:cNvSpPr/>
          <p:nvPr/>
        </p:nvSpPr>
        <p:spPr>
          <a:xfrm>
            <a:off x="272247" y="1109750"/>
            <a:ext cx="4176697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입찰시스템의 아이디는 협력업체의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’입니다.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사업자등록번호의 숫자만 입력해 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문의사항은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연락 부탁드립니다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E2F040FE-E97D-EF35-8874-F68C3AB20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69" y="1266371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CD0478-7EEA-2404-8F3A-401CA3034CCA}"/>
              </a:ext>
            </a:extLst>
          </p:cNvPr>
          <p:cNvSpPr/>
          <p:nvPr/>
        </p:nvSpPr>
        <p:spPr>
          <a:xfrm>
            <a:off x="295688" y="792751"/>
            <a:ext cx="77905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E4B8E2-1488-44F8-82A3-584460CBCAAE}"/>
              </a:ext>
            </a:extLst>
          </p:cNvPr>
          <p:cNvSpPr/>
          <p:nvPr/>
        </p:nvSpPr>
        <p:spPr>
          <a:xfrm>
            <a:off x="3532240" y="2100749"/>
            <a:ext cx="897754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2550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20A-E255-C174-92CA-C1FC804DC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9A77A44-94AB-C9BF-C62C-4AFC2BEB7C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D8E4C-35BB-344E-1793-AC09CC315EE8}"/>
              </a:ext>
            </a:extLst>
          </p:cNvPr>
          <p:cNvSpPr txBox="1"/>
          <p:nvPr/>
        </p:nvSpPr>
        <p:spPr>
          <a:xfrm>
            <a:off x="749224" y="25608"/>
            <a:ext cx="24849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F44F4-BCDD-52EA-B2A9-6E81E90D1111}"/>
              </a:ext>
            </a:extLst>
          </p:cNvPr>
          <p:cNvSpPr txBox="1"/>
          <p:nvPr/>
        </p:nvSpPr>
        <p:spPr>
          <a:xfrm>
            <a:off x="8049344" y="584684"/>
            <a:ext cx="185665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협력업체는 다수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담당자가 등록될 수 있으며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담당자의 정보와 일치하면 비밀번호 찾기 제공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매칭된 담당자의 이메일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 주소는 일부를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마스킹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처리할 것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마스킹 규칙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개발자 자유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임시 비밀번호 발송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생성 규칙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특수기호 조합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8~20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기준을 준수하는 범위에서 개발자 자유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통보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MSG-002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08772FB-3FC6-F808-3E5C-93BF09ACFAA7}"/>
              </a:ext>
            </a:extLst>
          </p:cNvPr>
          <p:cNvSpPr/>
          <p:nvPr/>
        </p:nvSpPr>
        <p:spPr>
          <a:xfrm>
            <a:off x="164468" y="423450"/>
            <a:ext cx="633670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094DD45-7DE8-6C3B-7148-FC8271E03B0E}"/>
              </a:ext>
            </a:extLst>
          </p:cNvPr>
          <p:cNvSpPr/>
          <p:nvPr/>
        </p:nvSpPr>
        <p:spPr>
          <a:xfrm>
            <a:off x="164468" y="696363"/>
            <a:ext cx="6336704" cy="29816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D8E9A04-DDA8-42C1-BBAB-B11EC8A8607B}"/>
              </a:ext>
            </a:extLst>
          </p:cNvPr>
          <p:cNvSpPr/>
          <p:nvPr/>
        </p:nvSpPr>
        <p:spPr>
          <a:xfrm>
            <a:off x="6233982" y="42345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E812340-4CDD-698D-BBD2-57FEDB4BF3EF}"/>
              </a:ext>
            </a:extLst>
          </p:cNvPr>
          <p:cNvSpPr/>
          <p:nvPr/>
        </p:nvSpPr>
        <p:spPr>
          <a:xfrm>
            <a:off x="272247" y="1109750"/>
            <a:ext cx="6097472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비밀번호를 찾기 위해서는 협력업체 신청 시 등록한 담당자의 정보 확인이 필요합니다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정보가 확인되면 담당자의 이메일로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임시 비밀번호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발송됩니다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문의사항은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연락 부탁드립니다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3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8F42F8CB-E27A-3F90-6B10-33E8CDC2F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69" y="1266371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0D06336F-AC91-007A-2FD7-C65A6D656C7A}"/>
              </a:ext>
            </a:extLst>
          </p:cNvPr>
          <p:cNvSpPr/>
          <p:nvPr/>
        </p:nvSpPr>
        <p:spPr>
          <a:xfrm>
            <a:off x="295688" y="792751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</a:p>
        </p:txBody>
      </p:sp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7EDF68C7-7027-4BB8-62BE-07E3746E85C6}"/>
              </a:ext>
            </a:extLst>
          </p:cNvPr>
          <p:cNvGraphicFramePr>
            <a:graphicFrameLocks noGrp="1"/>
          </p:cNvGraphicFramePr>
          <p:nvPr/>
        </p:nvGraphicFramePr>
        <p:xfrm>
          <a:off x="295688" y="2098409"/>
          <a:ext cx="6061468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472339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사업자등록번호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담당자 이메일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@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담당자 핸드폰 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- 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</a:tbl>
          </a:graphicData>
        </a:graphic>
      </p:graphicFrame>
      <p:sp>
        <p:nvSpPr>
          <p:cNvPr id="73" name="직사각형 72">
            <a:extLst>
              <a:ext uri="{FF2B5EF4-FFF2-40B4-BE49-F238E27FC236}">
                <a16:creationId xmlns:a16="http://schemas.microsoft.com/office/drawing/2014/main" id="{AB6CD370-B38B-B05D-8F78-7B0D83653BDE}"/>
              </a:ext>
            </a:extLst>
          </p:cNvPr>
          <p:cNvSpPr/>
          <p:nvPr/>
        </p:nvSpPr>
        <p:spPr>
          <a:xfrm>
            <a:off x="3244410" y="2495639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 선택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6723481-E37D-50A6-90F1-B42A32C49502}"/>
              </a:ext>
            </a:extLst>
          </p:cNvPr>
          <p:cNvSpPr/>
          <p:nvPr/>
        </p:nvSpPr>
        <p:spPr>
          <a:xfrm>
            <a:off x="4505799" y="2495641"/>
            <a:ext cx="227054" cy="20800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D93E5E6-A9D3-9840-14D9-A8421C1F1FD0}"/>
              </a:ext>
            </a:extLst>
          </p:cNvPr>
          <p:cNvSpPr/>
          <p:nvPr/>
        </p:nvSpPr>
        <p:spPr>
          <a:xfrm>
            <a:off x="1708103" y="2495640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7B6813F-00F3-3339-0D88-123528680D67}"/>
              </a:ext>
            </a:extLst>
          </p:cNvPr>
          <p:cNvSpPr/>
          <p:nvPr/>
        </p:nvSpPr>
        <p:spPr>
          <a:xfrm>
            <a:off x="4814307" y="2495639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 입력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98219015-66B4-4E90-DC2A-4B070A9F0CF0}"/>
              </a:ext>
            </a:extLst>
          </p:cNvPr>
          <p:cNvSpPr/>
          <p:nvPr/>
        </p:nvSpPr>
        <p:spPr>
          <a:xfrm>
            <a:off x="1695779" y="2833080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3C376FD-AAD0-3148-F674-673CFE468BE1}"/>
              </a:ext>
            </a:extLst>
          </p:cNvPr>
          <p:cNvSpPr/>
          <p:nvPr/>
        </p:nvSpPr>
        <p:spPr>
          <a:xfrm>
            <a:off x="2180433" y="283308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B48A1DA-1B61-B2A4-3906-437F8B9C8E62}"/>
              </a:ext>
            </a:extLst>
          </p:cNvPr>
          <p:cNvSpPr/>
          <p:nvPr/>
        </p:nvSpPr>
        <p:spPr>
          <a:xfrm>
            <a:off x="2549842" y="2833080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18267BEC-B5B2-B897-58C9-5173461F40AA}"/>
              </a:ext>
            </a:extLst>
          </p:cNvPr>
          <p:cNvSpPr/>
          <p:nvPr/>
        </p:nvSpPr>
        <p:spPr>
          <a:xfrm>
            <a:off x="3169454" y="2833080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3AB42BF-B2FD-99E4-CCA7-80F5D7A08D41}"/>
              </a:ext>
            </a:extLst>
          </p:cNvPr>
          <p:cNvSpPr/>
          <p:nvPr/>
        </p:nvSpPr>
        <p:spPr>
          <a:xfrm>
            <a:off x="1699843" y="2154857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숫자로만 입력해 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243149F8-5D43-0F2A-BF4C-901EE74ED166}"/>
              </a:ext>
            </a:extLst>
          </p:cNvPr>
          <p:cNvSpPr/>
          <p:nvPr/>
        </p:nvSpPr>
        <p:spPr>
          <a:xfrm>
            <a:off x="5479854" y="3216520"/>
            <a:ext cx="897754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7FE5A6A-251F-389A-CA0C-28A26260EAD3}"/>
              </a:ext>
            </a:extLst>
          </p:cNvPr>
          <p:cNvSpPr/>
          <p:nvPr/>
        </p:nvSpPr>
        <p:spPr>
          <a:xfrm>
            <a:off x="3524974" y="3216520"/>
            <a:ext cx="189583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비밀번호 찾기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임시 비밀번호 발송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D0F7D64-F2D7-FBA4-713E-9DA83BB6D98E}"/>
              </a:ext>
            </a:extLst>
          </p:cNvPr>
          <p:cNvSpPr/>
          <p:nvPr/>
        </p:nvSpPr>
        <p:spPr>
          <a:xfrm>
            <a:off x="164468" y="4041068"/>
            <a:ext cx="381642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 불일치 안내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33D027D-734E-0495-DEEC-0A1D108876DD}"/>
              </a:ext>
            </a:extLst>
          </p:cNvPr>
          <p:cNvSpPr/>
          <p:nvPr/>
        </p:nvSpPr>
        <p:spPr>
          <a:xfrm>
            <a:off x="164468" y="4313980"/>
            <a:ext cx="3816424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898CD46-4050-368B-3817-1789D3C30C83}"/>
              </a:ext>
            </a:extLst>
          </p:cNvPr>
          <p:cNvSpPr/>
          <p:nvPr/>
        </p:nvSpPr>
        <p:spPr>
          <a:xfrm>
            <a:off x="3710892" y="404106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23958ED-AD99-5EAF-9D40-C679C0CD6CC3}"/>
              </a:ext>
            </a:extLst>
          </p:cNvPr>
          <p:cNvSpPr/>
          <p:nvPr/>
        </p:nvSpPr>
        <p:spPr>
          <a:xfrm>
            <a:off x="272247" y="4727368"/>
            <a:ext cx="3600633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입력하신 정보가 일치하지 않습니다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정보가 확인되지 않은 경우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임시 비밀번호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발송할 수 없습니다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문의사항은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02-6959-4561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연락 부탁드립니다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6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75163369-5913-9509-B06C-03D9345C6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69" y="4883989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D0E4BF39-823F-5BBA-CBFC-A60516D5073F}"/>
              </a:ext>
            </a:extLst>
          </p:cNvPr>
          <p:cNvSpPr/>
          <p:nvPr/>
        </p:nvSpPr>
        <p:spPr>
          <a:xfrm>
            <a:off x="295688" y="4410369"/>
            <a:ext cx="1085233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 불일치 안내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929F688-0799-DB6B-780D-FA3D3C049D6D}"/>
              </a:ext>
            </a:extLst>
          </p:cNvPr>
          <p:cNvSpPr/>
          <p:nvPr/>
        </p:nvSpPr>
        <p:spPr>
          <a:xfrm>
            <a:off x="2975126" y="5718367"/>
            <a:ext cx="897754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9AED722-F164-03A2-B083-73004AC6AFC4}"/>
              </a:ext>
            </a:extLst>
          </p:cNvPr>
          <p:cNvSpPr/>
          <p:nvPr/>
        </p:nvSpPr>
        <p:spPr>
          <a:xfrm>
            <a:off x="4088671" y="4041068"/>
            <a:ext cx="381642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임시 비밀번호 발송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99DD2DFB-B1EF-738F-3028-581638A29864}"/>
              </a:ext>
            </a:extLst>
          </p:cNvPr>
          <p:cNvSpPr/>
          <p:nvPr/>
        </p:nvSpPr>
        <p:spPr>
          <a:xfrm>
            <a:off x="4088671" y="4313980"/>
            <a:ext cx="3816424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C32CDB81-5B1C-8147-2C06-24A651BB7BE7}"/>
              </a:ext>
            </a:extLst>
          </p:cNvPr>
          <p:cNvSpPr/>
          <p:nvPr/>
        </p:nvSpPr>
        <p:spPr>
          <a:xfrm>
            <a:off x="7635095" y="404106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81C1DECF-0689-F36E-7433-B1400C964B11}"/>
              </a:ext>
            </a:extLst>
          </p:cNvPr>
          <p:cNvSpPr/>
          <p:nvPr/>
        </p:nvSpPr>
        <p:spPr>
          <a:xfrm>
            <a:off x="4196450" y="4727368"/>
            <a:ext cx="3600633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leeh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**43@n*ver.com)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임시 비밀번호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전송되었습니다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임시 비밀번호로 로그인 후 반드시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변경해 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7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6490771C-EFA0-AD86-090B-AA4308770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572" y="4883989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B0F80DBB-3CEF-21E0-4B63-FE53F760A168}"/>
              </a:ext>
            </a:extLst>
          </p:cNvPr>
          <p:cNvSpPr/>
          <p:nvPr/>
        </p:nvSpPr>
        <p:spPr>
          <a:xfrm>
            <a:off x="4219891" y="4410369"/>
            <a:ext cx="2159245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임시 비밀번호 발송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86AA2470-1CA9-6F66-4D8B-3865DC597CA7}"/>
              </a:ext>
            </a:extLst>
          </p:cNvPr>
          <p:cNvSpPr/>
          <p:nvPr/>
        </p:nvSpPr>
        <p:spPr>
          <a:xfrm>
            <a:off x="6899329" y="5718367"/>
            <a:ext cx="897754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59E82B8E-34B6-84C0-986D-EE53D1D25894}"/>
              </a:ext>
            </a:extLst>
          </p:cNvPr>
          <p:cNvCxnSpPr>
            <a:cxnSpLocks/>
            <a:stCxn id="106" idx="2"/>
            <a:endCxn id="108" idx="0"/>
          </p:cNvCxnSpPr>
          <p:nvPr/>
        </p:nvCxnSpPr>
        <p:spPr>
          <a:xfrm rot="5400000">
            <a:off x="3004527" y="2572705"/>
            <a:ext cx="536516" cy="2400210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꺾임 132">
            <a:extLst>
              <a:ext uri="{FF2B5EF4-FFF2-40B4-BE49-F238E27FC236}">
                <a16:creationId xmlns:a16="http://schemas.microsoft.com/office/drawing/2014/main" id="{5FF4607F-0962-23AD-B078-052C289139B8}"/>
              </a:ext>
            </a:extLst>
          </p:cNvPr>
          <p:cNvCxnSpPr>
            <a:cxnSpLocks/>
            <a:stCxn id="106" idx="2"/>
            <a:endCxn id="123" idx="0"/>
          </p:cNvCxnSpPr>
          <p:nvPr/>
        </p:nvCxnSpPr>
        <p:spPr>
          <a:xfrm rot="16200000" flipH="1">
            <a:off x="4966628" y="3010813"/>
            <a:ext cx="536516" cy="152399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5409DE0F-96DD-E46A-8CBB-5C3311021C4D}"/>
              </a:ext>
            </a:extLst>
          </p:cNvPr>
          <p:cNvSpPr/>
          <p:nvPr/>
        </p:nvSpPr>
        <p:spPr>
          <a:xfrm>
            <a:off x="175985" y="233644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562B47E-6EBF-4797-870B-550962B65B89}"/>
              </a:ext>
            </a:extLst>
          </p:cNvPr>
          <p:cNvSpPr/>
          <p:nvPr/>
        </p:nvSpPr>
        <p:spPr>
          <a:xfrm>
            <a:off x="5250504" y="471933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E5BF31B-9743-5F43-186E-1B870DEC797E}"/>
              </a:ext>
            </a:extLst>
          </p:cNvPr>
          <p:cNvSpPr/>
          <p:nvPr/>
        </p:nvSpPr>
        <p:spPr>
          <a:xfrm>
            <a:off x="3407002" y="313125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9010563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28278A4-E4A9-4C64-B129-CEA9EB39FCAC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fb8f6cae-3f81-44f3-a558-afc5081bfe1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602EDF7-479A-417E-83FE-EC8ED50A9AD2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526cc970-e282-467f-be77-94e3156bd6f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241834</TotalTime>
  <Words>2267</Words>
  <Application>Microsoft Office PowerPoint</Application>
  <PresentationFormat>A4 용지(210x297mm)</PresentationFormat>
  <Paragraphs>519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맑은 고딕</vt:lpstr>
      <vt:lpstr>Arial</vt:lpstr>
      <vt:lpstr>나눔고딕 ExtraBold</vt:lpstr>
      <vt:lpstr>나눔고딕</vt:lpstr>
      <vt:lpstr>Wingdings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7859</cp:revision>
  <cp:lastPrinted>2019-06-18T05:05:25Z</cp:lastPrinted>
  <dcterms:created xsi:type="dcterms:W3CDTF">2006-06-07T02:37:19Z</dcterms:created>
  <dcterms:modified xsi:type="dcterms:W3CDTF">2026-09-15T23:33:34Z</dcterms:modified>
</cp:coreProperties>
</file>