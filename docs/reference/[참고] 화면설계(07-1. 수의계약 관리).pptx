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36"/>
  </p:notesMasterIdLst>
  <p:handoutMasterIdLst>
    <p:handoutMasterId r:id="rId37"/>
  </p:handoutMasterIdLst>
  <p:sldIdLst>
    <p:sldId id="3890" r:id="rId2"/>
    <p:sldId id="3937" r:id="rId3"/>
    <p:sldId id="3547" r:id="rId4"/>
    <p:sldId id="3938" r:id="rId5"/>
    <p:sldId id="3939" r:id="rId6"/>
    <p:sldId id="3949" r:id="rId7"/>
    <p:sldId id="3918" r:id="rId8"/>
    <p:sldId id="3754" r:id="rId9"/>
    <p:sldId id="3849" r:id="rId10"/>
    <p:sldId id="3919" r:id="rId11"/>
    <p:sldId id="3940" r:id="rId12"/>
    <p:sldId id="3921" r:id="rId13"/>
    <p:sldId id="3922" r:id="rId14"/>
    <p:sldId id="3923" r:id="rId15"/>
    <p:sldId id="3941" r:id="rId16"/>
    <p:sldId id="3942" r:id="rId17"/>
    <p:sldId id="3925" r:id="rId18"/>
    <p:sldId id="3926" r:id="rId19"/>
    <p:sldId id="3927" r:id="rId20"/>
    <p:sldId id="3950" r:id="rId21"/>
    <p:sldId id="3928" r:id="rId22"/>
    <p:sldId id="3825" r:id="rId23"/>
    <p:sldId id="3826" r:id="rId24"/>
    <p:sldId id="3929" r:id="rId25"/>
    <p:sldId id="3951" r:id="rId26"/>
    <p:sldId id="3931" r:id="rId27"/>
    <p:sldId id="3943" r:id="rId28"/>
    <p:sldId id="3897" r:id="rId29"/>
    <p:sldId id="3933" r:id="rId30"/>
    <p:sldId id="3966" r:id="rId31"/>
    <p:sldId id="3967" r:id="rId32"/>
    <p:sldId id="3965" r:id="rId33"/>
    <p:sldId id="3968" r:id="rId34"/>
    <p:sldId id="3947" r:id="rId35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38"/>
      <p:bold r:id="rId39"/>
    </p:embeddedFont>
    <p:embeddedFont>
      <p:font typeface="맑은 고딕" panose="020B0503020000020004" pitchFamily="50" charset="-127"/>
      <p:regular r:id="rId40"/>
      <p:bold r:id="rId41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C000"/>
    <a:srgbClr val="C00000"/>
    <a:srgbClr val="FFFF00"/>
    <a:srgbClr val="404040"/>
    <a:srgbClr val="00B050"/>
    <a:srgbClr val="DCE6F2"/>
    <a:srgbClr val="596F8A"/>
    <a:srgbClr val="003965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/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07-1.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/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8200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4462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50AAA6-3363-BE09-F14C-F7412847B845}"/>
              </a:ext>
            </a:extLst>
          </p:cNvPr>
          <p:cNvSpPr/>
          <p:nvPr/>
        </p:nvSpPr>
        <p:spPr>
          <a:xfrm>
            <a:off x="108649" y="1119117"/>
            <a:ext cx="1530610" cy="1805827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18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2941-9479-237F-FB48-09D5EFA7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493C7D-1068-7F11-B51E-EFA13AF05F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AB8C23-1688-7781-1BF4-87466894C8ED}"/>
              </a:ext>
            </a:extLst>
          </p:cNvPr>
          <p:cNvSpPr txBox="1"/>
          <p:nvPr/>
        </p:nvSpPr>
        <p:spPr>
          <a:xfrm>
            <a:off x="749224" y="25608"/>
            <a:ext cx="1885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참고자료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정리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A0CB-E7D3-FFCE-7F94-F8AF4F431FFD}"/>
              </a:ext>
            </a:extLst>
          </p:cNvPr>
          <p:cNvSpPr txBox="1"/>
          <p:nvPr/>
        </p:nvSpPr>
        <p:spPr>
          <a:xfrm>
            <a:off x="8049344" y="584684"/>
            <a:ext cx="1856656" cy="478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최저가’만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선택 항목은 비활성화 처리할 것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FAEE14-C97E-1FA9-1205-7D63D11E57F8}"/>
              </a:ext>
            </a:extLst>
          </p:cNvPr>
          <p:cNvSpPr/>
          <p:nvPr/>
        </p:nvSpPr>
        <p:spPr>
          <a:xfrm>
            <a:off x="56456" y="332656"/>
            <a:ext cx="7884876" cy="630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631107E-9505-6314-D1F3-E9C305838D5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28924"/>
          <a:ext cx="7668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</a:tbl>
          </a:graphicData>
        </a:graphic>
      </p:graphicFrame>
      <p:sp>
        <p:nvSpPr>
          <p:cNvPr id="20" name="타원 19">
            <a:extLst>
              <a:ext uri="{FF2B5EF4-FFF2-40B4-BE49-F238E27FC236}">
                <a16:creationId xmlns:a16="http://schemas.microsoft.com/office/drawing/2014/main" id="{93E6C0BF-4034-0E7F-6D75-9E784D1A7790}"/>
              </a:ext>
            </a:extLst>
          </p:cNvPr>
          <p:cNvSpPr/>
          <p:nvPr/>
        </p:nvSpPr>
        <p:spPr>
          <a:xfrm>
            <a:off x="1604628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25DF6B0-00D5-1512-FDB5-FC4498321864}"/>
              </a:ext>
            </a:extLst>
          </p:cNvPr>
          <p:cNvSpPr/>
          <p:nvPr/>
        </p:nvSpPr>
        <p:spPr>
          <a:xfrm>
            <a:off x="2396716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F0C5EF0-17C5-3F9B-7D34-8F7151A268F9}"/>
              </a:ext>
            </a:extLst>
          </p:cNvPr>
          <p:cNvSpPr/>
          <p:nvPr/>
        </p:nvSpPr>
        <p:spPr>
          <a:xfrm>
            <a:off x="329425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E9146C9-0AE8-CD8D-B9D2-050A54CD25E9}"/>
              </a:ext>
            </a:extLst>
          </p:cNvPr>
          <p:cNvSpPr/>
          <p:nvPr/>
        </p:nvSpPr>
        <p:spPr>
          <a:xfrm>
            <a:off x="420837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AA7CF10-688B-B274-DA6D-8F929F03E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23065"/>
              </p:ext>
            </p:extLst>
          </p:nvPr>
        </p:nvGraphicFramePr>
        <p:xfrm>
          <a:off x="164467" y="1788178"/>
          <a:ext cx="7668853" cy="466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최저가로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투찰한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업체가 우선협상자로 선정됨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입찰기간 중에 서류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가격을 동시에 제출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평가는 없으며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 협상자 선정 후 자격 확인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설정 필요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이상의 가격에 가장 가까운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 제출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투찰기간에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점수에 따라 적격여부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규격과 가격을 동시에 비율에 의해 산정하여 최고점수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동시에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가격과 합산함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9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이하의 제일 낮은 가격의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 제출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투찰기간에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점수에 따라 적격여부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이상의 가격에 가장 가까운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동시에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먼저 확인하여 적합한 업체의 적격여부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7012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4742A7-08B1-0B47-1E2A-22F8186F7B0E}"/>
              </a:ext>
            </a:extLst>
          </p:cNvPr>
          <p:cNvSpPr/>
          <p:nvPr/>
        </p:nvSpPr>
        <p:spPr>
          <a:xfrm>
            <a:off x="183392" y="148410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선정방법에 대한 이해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706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B641-D17C-6983-DD4A-1E831659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CCB4A31-5629-A711-0B82-7C9BDC22F5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E65008-32F3-E859-FA23-162610C3C866}"/>
              </a:ext>
            </a:extLst>
          </p:cNvPr>
          <p:cNvSpPr txBox="1"/>
          <p:nvPr/>
        </p:nvSpPr>
        <p:spPr>
          <a:xfrm>
            <a:off x="749224" y="25608"/>
            <a:ext cx="1885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참고자료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정리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82E5D-9329-2E39-0AED-AEF609DECCA9}"/>
              </a:ext>
            </a:extLst>
          </p:cNvPr>
          <p:cNvSpPr txBox="1"/>
          <p:nvPr/>
        </p:nvSpPr>
        <p:spPr>
          <a:xfrm>
            <a:off x="8049344" y="584684"/>
            <a:ext cx="1856656" cy="478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최저가’만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선택 항목은 비활성화 처리할 것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B6D03E-A93C-3508-B21D-D2F404CFE318}"/>
              </a:ext>
            </a:extLst>
          </p:cNvPr>
          <p:cNvSpPr/>
          <p:nvPr/>
        </p:nvSpPr>
        <p:spPr>
          <a:xfrm>
            <a:off x="56456" y="332656"/>
            <a:ext cx="7884876" cy="630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D10E14B-E2F9-B486-75BD-30B9C935B1C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28924"/>
          <a:ext cx="7668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</a:tbl>
          </a:graphicData>
        </a:graphic>
      </p:graphicFrame>
      <p:sp>
        <p:nvSpPr>
          <p:cNvPr id="20" name="타원 19">
            <a:extLst>
              <a:ext uri="{FF2B5EF4-FFF2-40B4-BE49-F238E27FC236}">
                <a16:creationId xmlns:a16="http://schemas.microsoft.com/office/drawing/2014/main" id="{4756C88F-F59A-B062-9205-3BCAD36A7971}"/>
              </a:ext>
            </a:extLst>
          </p:cNvPr>
          <p:cNvSpPr/>
          <p:nvPr/>
        </p:nvSpPr>
        <p:spPr>
          <a:xfrm>
            <a:off x="1604628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0E8720A-BEE3-271F-5B06-E3A5B2FB2FBF}"/>
              </a:ext>
            </a:extLst>
          </p:cNvPr>
          <p:cNvSpPr/>
          <p:nvPr/>
        </p:nvSpPr>
        <p:spPr>
          <a:xfrm>
            <a:off x="2396716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297E2B7-EF15-81F7-A182-E3D9D8CD88F8}"/>
              </a:ext>
            </a:extLst>
          </p:cNvPr>
          <p:cNvSpPr/>
          <p:nvPr/>
        </p:nvSpPr>
        <p:spPr>
          <a:xfrm>
            <a:off x="329425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3FDD4BB-588F-36FC-133A-AEEEECB9186A}"/>
              </a:ext>
            </a:extLst>
          </p:cNvPr>
          <p:cNvSpPr/>
          <p:nvPr/>
        </p:nvSpPr>
        <p:spPr>
          <a:xfrm>
            <a:off x="420837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57DED47-CD8A-35E0-6405-841A14773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210354"/>
              </p:ext>
            </p:extLst>
          </p:nvPr>
        </p:nvGraphicFramePr>
        <p:xfrm>
          <a:off x="164466" y="1788178"/>
          <a:ext cx="7687776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81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53439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149156">
                  <a:extLst>
                    <a:ext uri="{9D8B030D-6E8A-4147-A177-3AD203B41FA5}">
                      <a16:colId xmlns:a16="http://schemas.microsoft.com/office/drawing/2014/main" val="1062149080"/>
                    </a:ext>
                  </a:extLst>
                </a:gridCol>
                <a:gridCol w="576283">
                  <a:extLst>
                    <a:ext uri="{9D8B030D-6E8A-4147-A177-3AD203B41FA5}">
                      <a16:colId xmlns:a16="http://schemas.microsoft.com/office/drawing/2014/main" val="1514525174"/>
                    </a:ext>
                  </a:extLst>
                </a:gridCol>
                <a:gridCol w="1266924">
                  <a:extLst>
                    <a:ext uri="{9D8B030D-6E8A-4147-A177-3AD203B41FA5}">
                      <a16:colId xmlns:a16="http://schemas.microsoft.com/office/drawing/2014/main" val="2785311682"/>
                    </a:ext>
                  </a:extLst>
                </a:gridCol>
                <a:gridCol w="1127199">
                  <a:extLst>
                    <a:ext uri="{9D8B030D-6E8A-4147-A177-3AD203B41FA5}">
                      <a16:colId xmlns:a16="http://schemas.microsoft.com/office/drawing/2014/main" val="963557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동시제출 여부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평가여부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예비가(낙찰하한가)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동점자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처리기준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13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적격여부 확인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랜덤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설정 사항에 따름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9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적격여부 확인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7012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6F6EB-D7FD-37EB-A1FC-9EFC71AA84A0}"/>
              </a:ext>
            </a:extLst>
          </p:cNvPr>
          <p:cNvSpPr/>
          <p:nvPr/>
        </p:nvSpPr>
        <p:spPr>
          <a:xfrm>
            <a:off x="183392" y="148410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선정방법에 대한 이해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CE416D9-BB0A-E59F-8E50-F340AC6C9E01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3915153"/>
          <a:ext cx="7687778" cy="229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4156553755"/>
                    </a:ext>
                  </a:extLst>
                </a:gridCol>
                <a:gridCol w="5959586">
                  <a:extLst>
                    <a:ext uri="{9D8B030D-6E8A-4147-A177-3AD203B41FA5}">
                      <a16:colId xmlns:a16="http://schemas.microsoft.com/office/drawing/2014/main" val="557084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동일한 조건에서 가장 낮은 가격을 제시한 업체를 선정하여 예산을 절감하기 위해서입니다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기술보다 가격 경쟁이 가능한 단순한 물품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공사에 적합합니다.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870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지나치게 낮은 가격으로 인한 부실 이행을 방지하면서 가격 경쟁을 유도하기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일정한 가격 하한선 등 기준을 충족한 업체 중 최저가 업체를 선정합니다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5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단순히 가격만 보지 않고 요구되는 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성능을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충족하는지와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가격을 함께 평가하기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규격과 가격을 동시에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제출받아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기술적 적합성과 가격 경쟁력을 함께 고려합니다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먼저 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기술적 적합성을 검증한 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 업체끼리 가격 경쟁을 시키기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가격보다 요구조건을 제대로 충족하는 업체를 우선적으로 걸러내는 것이 목적입니다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4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가격만 낮은 업체가 아니라 실제로 계약을 수행할 능력이 있는 업체를 선정하기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입찰가격과 함께 실적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경영상태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수행능력 등을 종합적으로 심사합니다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16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96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3114-AA40-CA5F-CCB9-3876C6D7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D7852F3-64FB-B924-472A-47725F1B89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C73F9-D9C5-7174-5FD1-B85239DA1073}"/>
              </a:ext>
            </a:extLst>
          </p:cNvPr>
          <p:cNvSpPr txBox="1"/>
          <p:nvPr/>
        </p:nvSpPr>
        <p:spPr>
          <a:xfrm>
            <a:off x="749224" y="25608"/>
            <a:ext cx="21836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01D8C86-C8D7-1578-B23E-9ED15B931135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88439E6-17E0-EDCB-BF91-26E2A06B711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B2C7B9-6778-1B59-D545-E3124A250AF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5E62D0-5A85-0663-9D4D-63DA812D973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B2BC33-C016-7F83-105D-F8BF4076A2B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82408B0B-FFA2-F282-0FB1-BD657383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188453F-A160-1ABA-EAE3-85F8A8BF816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92A961-E3D1-A4CB-8F94-88ED40371002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D51FF1-BB2B-B96A-532A-EEBD32FF49F1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818BF29-A104-CE74-5020-E87D9B09785F}"/>
              </a:ext>
            </a:extLst>
          </p:cNvPr>
          <p:cNvSpPr txBox="1"/>
          <p:nvPr/>
        </p:nvSpPr>
        <p:spPr>
          <a:xfrm>
            <a:off x="8049344" y="584684"/>
            <a:ext cx="1856656" cy="446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건만 별도 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프로세스로 처리됨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전자결재가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승인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검색/조회 목록으로 데이터가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복사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되어 자동 등록됨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작성중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상태로 시작됨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건명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경우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구분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본공고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외에는 존재할 수 없음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‘작성중’인 건만 본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현황’ 검색/조회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화면에서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AE0D8275-4D20-CB2F-7F2A-2E5B2B4DD8FF}"/>
              </a:ext>
            </a:extLst>
          </p:cNvPr>
          <p:cNvSpPr/>
          <p:nvPr/>
        </p:nvSpPr>
        <p:spPr>
          <a:xfrm>
            <a:off x="164468" y="834983"/>
            <a:ext cx="7740859" cy="10454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FF05629-141D-595F-C900-DC2A028AA72C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69780B8-C7EA-EFD5-623C-32C04976C6DF}"/>
              </a:ext>
            </a:extLst>
          </p:cNvPr>
          <p:cNvSpPr txBox="1"/>
          <p:nvPr/>
        </p:nvSpPr>
        <p:spPr>
          <a:xfrm>
            <a:off x="235849" y="1528065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7088160F-F590-2EBC-072D-53D811AE8116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DEE1AF3-72E8-95CE-26D5-5E487EDCB920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F0EE253-9791-3AE6-3D68-F2059E43BD59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7F8B784-8DCA-F218-1A27-E46A0E37B3FB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BF94127F-4679-B7A7-AEF3-A48C7F7FBB43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FDCF9FA6-84CE-FF4B-4B1B-EE65128CD334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8995B7AB-BBAC-6B2C-99B2-DC7E55DFDABB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47CE159-8815-DFA8-ACC0-85E304CBEC87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D6C184D2-8150-F3C7-9952-EF7249FF5849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A8029F5-094B-0D25-7AAE-77074FDD6809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0098067-F398-72F0-5DCE-ED0285C713D4}"/>
              </a:ext>
            </a:extLst>
          </p:cNvPr>
          <p:cNvSpPr txBox="1"/>
          <p:nvPr/>
        </p:nvSpPr>
        <p:spPr>
          <a:xfrm>
            <a:off x="235849" y="124253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견적유형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BECD0DAE-B3AB-3563-788E-00DECAA43304}"/>
              </a:ext>
            </a:extLst>
          </p:cNvPr>
          <p:cNvSpPr/>
          <p:nvPr/>
        </p:nvSpPr>
        <p:spPr>
          <a:xfrm>
            <a:off x="1408523" y="152092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7978D7D9-35A1-D922-0064-9A6CC65ECE46}"/>
              </a:ext>
            </a:extLst>
          </p:cNvPr>
          <p:cNvSpPr/>
          <p:nvPr/>
        </p:nvSpPr>
        <p:spPr>
          <a:xfrm>
            <a:off x="2218774" y="152092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81E2342-EEBD-2F24-AC72-D457248AD532}"/>
              </a:ext>
            </a:extLst>
          </p:cNvPr>
          <p:cNvSpPr/>
          <p:nvPr/>
        </p:nvSpPr>
        <p:spPr>
          <a:xfrm>
            <a:off x="2533911" y="1520920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4EB6895-22DC-F24B-7C51-6C35EBBA4489}"/>
              </a:ext>
            </a:extLst>
          </p:cNvPr>
          <p:cNvSpPr/>
          <p:nvPr/>
        </p:nvSpPr>
        <p:spPr>
          <a:xfrm>
            <a:off x="6241919" y="1520922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965A7103-904C-2AEC-730E-3AFCF875EE3F}"/>
              </a:ext>
            </a:extLst>
          </p:cNvPr>
          <p:cNvSpPr/>
          <p:nvPr/>
        </p:nvSpPr>
        <p:spPr>
          <a:xfrm>
            <a:off x="5856272" y="198360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7CCDDA57-32F4-2D3F-2CC1-D835AE0409FD}"/>
              </a:ext>
            </a:extLst>
          </p:cNvPr>
          <p:cNvSpPr/>
          <p:nvPr/>
        </p:nvSpPr>
        <p:spPr>
          <a:xfrm>
            <a:off x="6677734" y="198360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17FD3DA-0C9B-85A1-F232-1897384824B7}"/>
              </a:ext>
            </a:extLst>
          </p:cNvPr>
          <p:cNvSpPr txBox="1"/>
          <p:nvPr/>
        </p:nvSpPr>
        <p:spPr>
          <a:xfrm>
            <a:off x="181506" y="1970088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84E8AB8F-35E9-05DB-1BA9-AF887ACC3F82}"/>
              </a:ext>
            </a:extLst>
          </p:cNvPr>
          <p:cNvSpPr/>
          <p:nvPr/>
        </p:nvSpPr>
        <p:spPr>
          <a:xfrm>
            <a:off x="6982990" y="1983606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D21D3611-181E-B258-CADC-D2A6CFAEB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52455"/>
              </p:ext>
            </p:extLst>
          </p:nvPr>
        </p:nvGraphicFramePr>
        <p:xfrm>
          <a:off x="164468" y="2279054"/>
          <a:ext cx="8451525" cy="1689600"/>
        </p:xfrm>
        <a:graphic>
          <a:graphicData uri="http://schemas.openxmlformats.org/drawingml/2006/table">
            <a:tbl>
              <a:tblPr firstRow="1" bandRow="1"/>
              <a:tblGrid>
                <a:gridCol w="45038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4091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2150">
                  <a:extLst>
                    <a:ext uri="{9D8B030D-6E8A-4147-A177-3AD203B41FA5}">
                      <a16:colId xmlns:a16="http://schemas.microsoft.com/office/drawing/2014/main" val="3079170989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867900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</a:tbl>
          </a:graphicData>
        </a:graphic>
      </p:graphicFrame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47970A1B-9166-5551-25B2-0BDDC00246F3}"/>
              </a:ext>
            </a:extLst>
          </p:cNvPr>
          <p:cNvGrpSpPr/>
          <p:nvPr/>
        </p:nvGrpSpPr>
        <p:grpSpPr>
          <a:xfrm>
            <a:off x="2004219" y="4077356"/>
            <a:ext cx="4025354" cy="216024"/>
            <a:chOff x="2992062" y="4869160"/>
            <a:chExt cx="4025354" cy="216024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5B553CC-0D72-C939-C2F6-B56B1E49DED0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DEC02FC0-FBC2-6193-49E6-4F666C807FCA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3750BBC-328B-87C8-2C8F-CAA9A20B9EDF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B7443F07-C4B4-3D60-00D3-24517E66D2D2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19B1D32C-2D72-7156-9E45-835E8A8D15DB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7EB4C5E8-DAAD-0B8C-2EF7-AD8E8BF332C8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A17B5A53-6E04-CC88-2145-7C008EDCDA5C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557D8108-8426-8AE5-150F-BB2E4FC067FD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228EA1AA-5E3A-F492-CB7D-F5FEB7908615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98FEBD53-4F25-AF94-EF74-44ACD8E9FAD1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983BA6FD-D779-1EFD-F755-ACCC794CDC6C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E311E4C4-E1A1-D0EF-366A-E25C27181D92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AC3DE5F7-A418-89B3-3F3C-DAF9DB27107E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AE1A83C-05BF-EFF6-FEB9-1777D337C4DF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76" name="타원 175">
            <a:extLst>
              <a:ext uri="{FF2B5EF4-FFF2-40B4-BE49-F238E27FC236}">
                <a16:creationId xmlns:a16="http://schemas.microsoft.com/office/drawing/2014/main" id="{E7B29571-073C-8D12-9B9F-0838EFF459F5}"/>
              </a:ext>
            </a:extLst>
          </p:cNvPr>
          <p:cNvSpPr/>
          <p:nvPr/>
        </p:nvSpPr>
        <p:spPr>
          <a:xfrm>
            <a:off x="1975820" y="211785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7661E651-A0AA-2861-F087-4D7A26D9A6C7}"/>
              </a:ext>
            </a:extLst>
          </p:cNvPr>
          <p:cNvSpPr/>
          <p:nvPr/>
        </p:nvSpPr>
        <p:spPr>
          <a:xfrm>
            <a:off x="1316596" y="137527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24F87A09-5B41-BF6F-3E89-6919639010ED}"/>
              </a:ext>
            </a:extLst>
          </p:cNvPr>
          <p:cNvSpPr/>
          <p:nvPr/>
        </p:nvSpPr>
        <p:spPr>
          <a:xfrm>
            <a:off x="1316596" y="211785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7740B646-DB45-FF16-E9DC-5361D9F76A33}"/>
              </a:ext>
            </a:extLst>
          </p:cNvPr>
          <p:cNvSpPr/>
          <p:nvPr/>
        </p:nvSpPr>
        <p:spPr>
          <a:xfrm>
            <a:off x="43577" y="24105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852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ECDD-19B4-5FA7-B7DD-7475BEA02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BD97372-8713-D393-ADB0-086684EA4D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70BEF-4124-8C30-2D83-B01585AC44F0}"/>
              </a:ext>
            </a:extLst>
          </p:cNvPr>
          <p:cNvSpPr txBox="1"/>
          <p:nvPr/>
        </p:nvSpPr>
        <p:spPr>
          <a:xfrm>
            <a:off x="749224" y="25608"/>
            <a:ext cx="37593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 확인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23FB36F-BE0F-7C9E-C711-BD910FC3AEB6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6C27C9B-D5C6-9406-0E7F-EBA21F67978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E87417-D4AF-AAD6-5C17-8ABEE2495E0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17853B-A7D5-66D2-7442-A5CEB8ECFFD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82F574B7-7863-18F5-F629-F9490767B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B467613-9A9E-A0F5-26AD-85F90E5609FF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2CDC6E-20B0-FFD3-8AB6-C97E998DA5F5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FC2B9E-2A81-7F46-45BC-FA4FF8384404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F8D4E3-1BF8-C638-88FC-02E0ED832F12}"/>
              </a:ext>
            </a:extLst>
          </p:cNvPr>
          <p:cNvSpPr txBox="1"/>
          <p:nvPr/>
        </p:nvSpPr>
        <p:spPr>
          <a:xfrm>
            <a:off x="8049344" y="584684"/>
            <a:ext cx="185665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넘어오면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자동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발번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발주계획에서 등록한 내용을 그대로 보여줌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당연히 수정 불가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수주계약이 있는 경우에만 보여줌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D333C01-06B7-9BEA-BBD9-18ECB05119B7}"/>
              </a:ext>
            </a:extLst>
          </p:cNvPr>
          <p:cNvGrpSpPr/>
          <p:nvPr/>
        </p:nvGrpSpPr>
        <p:grpSpPr>
          <a:xfrm>
            <a:off x="164467" y="826923"/>
            <a:ext cx="7713518" cy="643315"/>
            <a:chOff x="164467" y="826923"/>
            <a:chExt cx="6588733" cy="6433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CE9D6EB-6911-4502-1A2B-E2BF8E509F59}"/>
                </a:ext>
              </a:extLst>
            </p:cNvPr>
            <p:cNvSpPr/>
            <p:nvPr/>
          </p:nvSpPr>
          <p:spPr>
            <a:xfrm>
              <a:off x="12743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상세정보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E6BE2EB-F954-EE8D-D746-22865099B23E}"/>
                </a:ext>
              </a:extLst>
            </p:cNvPr>
            <p:cNvSpPr/>
            <p:nvPr/>
          </p:nvSpPr>
          <p:spPr>
            <a:xfrm>
              <a:off x="23841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예정가</a:t>
              </a:r>
              <a:endPara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F9CF34-C872-B3A2-4F9E-0E7C19787E60}"/>
                </a:ext>
              </a:extLst>
            </p:cNvPr>
            <p:cNvSpPr/>
            <p:nvPr/>
          </p:nvSpPr>
          <p:spPr>
            <a:xfrm>
              <a:off x="46038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51E0EB1-7C63-7B64-1A6D-11693385DDE8}"/>
                </a:ext>
              </a:extLst>
            </p:cNvPr>
            <p:cNvSpPr/>
            <p:nvPr/>
          </p:nvSpPr>
          <p:spPr>
            <a:xfrm>
              <a:off x="5713715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DD1BF2C-E3BF-031F-5821-3329CF2BC971}"/>
                </a:ext>
              </a:extLst>
            </p:cNvPr>
            <p:cNvSpPr/>
            <p:nvPr/>
          </p:nvSpPr>
          <p:spPr>
            <a:xfrm>
              <a:off x="34940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참여 서류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5992ADB-5F88-85A0-2889-D6B12F046B9F}"/>
                </a:ext>
              </a:extLst>
            </p:cNvPr>
            <p:cNvSpPr/>
            <p:nvPr/>
          </p:nvSpPr>
          <p:spPr>
            <a:xfrm>
              <a:off x="164467" y="826923"/>
              <a:ext cx="1039485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정보 확인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25FA7D4-E182-9C60-DF94-825A4DA00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840781"/>
              </p:ext>
            </p:extLst>
          </p:nvPr>
        </p:nvGraphicFramePr>
        <p:xfrm>
          <a:off x="164465" y="1556402"/>
          <a:ext cx="7713519" cy="675840"/>
        </p:xfrm>
        <a:graphic>
          <a:graphicData uri="http://schemas.openxmlformats.org/drawingml/2006/table">
            <a:tbl>
              <a:tblPr firstRow="1" bandRow="1"/>
              <a:tblGrid>
                <a:gridCol w="85541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67544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9631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3002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2382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5442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8AB538-B953-F4D6-3BB4-42B7586A2657}"/>
              </a:ext>
            </a:extLst>
          </p:cNvPr>
          <p:cNvSpPr/>
          <p:nvPr/>
        </p:nvSpPr>
        <p:spPr>
          <a:xfrm>
            <a:off x="183392" y="2321112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5042AD6-BAEB-AF16-7FA0-7829E0AC1BC1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619285"/>
          <a:ext cx="7740859" cy="397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4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품의일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sp>
        <p:nvSpPr>
          <p:cNvPr id="22" name="타원 21">
            <a:extLst>
              <a:ext uri="{FF2B5EF4-FFF2-40B4-BE49-F238E27FC236}">
                <a16:creationId xmlns:a16="http://schemas.microsoft.com/office/drawing/2014/main" id="{4C6A0BEE-B74A-7B63-C6E5-5EB8E168E7C9}"/>
              </a:ext>
            </a:extLst>
          </p:cNvPr>
          <p:cNvSpPr/>
          <p:nvPr/>
        </p:nvSpPr>
        <p:spPr>
          <a:xfrm>
            <a:off x="60738" y="252748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D7821DB-1CA5-222A-22DC-E326E237956C}"/>
              </a:ext>
            </a:extLst>
          </p:cNvPr>
          <p:cNvSpPr/>
          <p:nvPr/>
        </p:nvSpPr>
        <p:spPr>
          <a:xfrm>
            <a:off x="60738" y="558924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3699B57-6935-BD75-66CF-D9976E06C0BD}"/>
              </a:ext>
            </a:extLst>
          </p:cNvPr>
          <p:cNvSpPr/>
          <p:nvPr/>
        </p:nvSpPr>
        <p:spPr>
          <a:xfrm>
            <a:off x="0" y="6687799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</p:spTree>
    <p:extLst>
      <p:ext uri="{BB962C8B-B14F-4D97-AF65-F5344CB8AC3E}">
        <p14:creationId xmlns:p14="http://schemas.microsoft.com/office/powerpoint/2010/main" val="1677521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3602-86EA-62F3-0662-68778A2F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A4510A-2754-315A-6ED4-40489D9966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0DA19-8F1F-216A-1875-3D83D9DB2B26}"/>
              </a:ext>
            </a:extLst>
          </p:cNvPr>
          <p:cNvSpPr txBox="1"/>
          <p:nvPr/>
        </p:nvSpPr>
        <p:spPr>
          <a:xfrm>
            <a:off x="749224" y="25608"/>
            <a:ext cx="37593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22D4E-47C1-078E-B4DE-7F012107A266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79E3E02-7394-C263-EF40-85A36748B53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87419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2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93378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84765F1-40E9-F7F8-B673-B12665E4041B}"/>
              </a:ext>
            </a:extLst>
          </p:cNvPr>
          <p:cNvSpPr/>
          <p:nvPr/>
        </p:nvSpPr>
        <p:spPr>
          <a:xfrm>
            <a:off x="183392" y="116937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4145F-6F80-5E74-3640-619F0FE75D06}"/>
              </a:ext>
            </a:extLst>
          </p:cNvPr>
          <p:cNvSpPr/>
          <p:nvPr/>
        </p:nvSpPr>
        <p:spPr>
          <a:xfrm>
            <a:off x="183392" y="144878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31F8C6-CF31-BB5C-20CD-DC17D232759C}"/>
              </a:ext>
            </a:extLst>
          </p:cNvPr>
          <p:cNvSpPr/>
          <p:nvPr/>
        </p:nvSpPr>
        <p:spPr>
          <a:xfrm>
            <a:off x="183392" y="272054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44D087D-52C3-B613-3F8A-4CB508EFC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773464"/>
              </p:ext>
            </p:extLst>
          </p:nvPr>
        </p:nvGraphicFramePr>
        <p:xfrm>
          <a:off x="179901" y="1705093"/>
          <a:ext cx="7717011" cy="9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744DCFF-7A9C-D713-5745-9658A4B7D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90052"/>
              </p:ext>
            </p:extLst>
          </p:nvPr>
        </p:nvGraphicFramePr>
        <p:xfrm>
          <a:off x="164467" y="2996506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8D64C8-E28C-3568-5A15-EAB5F480F5A7}"/>
              </a:ext>
            </a:extLst>
          </p:cNvPr>
          <p:cNvSpPr/>
          <p:nvPr/>
        </p:nvSpPr>
        <p:spPr>
          <a:xfrm>
            <a:off x="2909398" y="210678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38B49A-684F-214F-F9CE-C02935D79B86}"/>
              </a:ext>
            </a:extLst>
          </p:cNvPr>
          <p:cNvSpPr/>
          <p:nvPr/>
        </p:nvSpPr>
        <p:spPr>
          <a:xfrm>
            <a:off x="3572235" y="210678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B7C60A-3A81-5F14-A71C-C714CE600978}"/>
              </a:ext>
            </a:extLst>
          </p:cNvPr>
          <p:cNvSpPr/>
          <p:nvPr/>
        </p:nvSpPr>
        <p:spPr>
          <a:xfrm>
            <a:off x="2909398" y="237412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2577F6-7338-70E0-A05F-C87F089488A3}"/>
              </a:ext>
            </a:extLst>
          </p:cNvPr>
          <p:cNvSpPr/>
          <p:nvPr/>
        </p:nvSpPr>
        <p:spPr>
          <a:xfrm>
            <a:off x="3572235" y="237412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12A9FB4-566D-4B8A-E503-503911D88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727096"/>
              </p:ext>
            </p:extLst>
          </p:nvPr>
        </p:nvGraphicFramePr>
        <p:xfrm>
          <a:off x="164467" y="5358263"/>
          <a:ext cx="7776865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추정가격이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미만으로 수의계약 진행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2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55033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0AC9B00-98BD-43FF-C93D-9CA132E895F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</p:spTree>
    <p:extLst>
      <p:ext uri="{BB962C8B-B14F-4D97-AF65-F5344CB8AC3E}">
        <p14:creationId xmlns:p14="http://schemas.microsoft.com/office/powerpoint/2010/main" val="285866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5A95-C766-F09E-9A63-D8BC5A3E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FD16B22-6EE9-1A00-7783-003CC74C8C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4A468-DD26-20C3-ACE0-C14F63B25B16}"/>
              </a:ext>
            </a:extLst>
          </p:cNvPr>
          <p:cNvSpPr txBox="1"/>
          <p:nvPr/>
        </p:nvSpPr>
        <p:spPr>
          <a:xfrm>
            <a:off x="749224" y="25608"/>
            <a:ext cx="37593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C2E7E-1B8C-AA48-A9B4-5FECA1BC16C2}"/>
              </a:ext>
            </a:extLst>
          </p:cNvPr>
          <p:cNvSpPr txBox="1"/>
          <p:nvPr/>
        </p:nvSpPr>
        <p:spPr>
          <a:xfrm>
            <a:off x="8049344" y="572346"/>
            <a:ext cx="1856656" cy="151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경우 예정가를 수립해서 진행하는 경우도 있음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설정된 경우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결정자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보여줌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단계에서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할 것인지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추정금액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전용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할 것인지 정해져서 전달됨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F3ACD9-FC3F-A4C6-2ACB-23387AF8AE7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3361C69-F42C-DC7F-840D-85EA61379B8F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397017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93597803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67370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습식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석공사업 보유업체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2184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10FECC4-10E5-700D-E03F-5F89FC13E476}"/>
              </a:ext>
            </a:extLst>
          </p:cNvPr>
          <p:cNvGraphicFramePr>
            <a:graphicFrameLocks noGrp="1"/>
          </p:cNvGraphicFramePr>
          <p:nvPr/>
        </p:nvGraphicFramePr>
        <p:xfrm>
          <a:off x="164410" y="721004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24562606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5705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|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전용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971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예정가격 결정자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587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0BA309-471A-1B35-F836-8D4A0CF07164}"/>
              </a:ext>
            </a:extLst>
          </p:cNvPr>
          <p:cNvSpPr/>
          <p:nvPr/>
        </p:nvSpPr>
        <p:spPr>
          <a:xfrm>
            <a:off x="183392" y="149770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45601F3E-D69C-FD5B-BF72-FC9B97B9A27B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91440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 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C4EBF1A7-A17B-C82A-B73D-51C7193CD3DF}"/>
              </a:ext>
            </a:extLst>
          </p:cNvPr>
          <p:cNvSpPr/>
          <p:nvPr/>
        </p:nvSpPr>
        <p:spPr>
          <a:xfrm>
            <a:off x="164467" y="256186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BFDB9A23-A7B4-F0B2-5065-A29C1A7021AA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864712"/>
          <a:ext cx="7776865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F9A747CA-D7B4-6DA3-FBF0-80F789202317}"/>
              </a:ext>
            </a:extLst>
          </p:cNvPr>
          <p:cNvSpPr/>
          <p:nvPr/>
        </p:nvSpPr>
        <p:spPr>
          <a:xfrm>
            <a:off x="2909398" y="292201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15B229D-E62C-819E-995F-462C09EB6EE9}"/>
              </a:ext>
            </a:extLst>
          </p:cNvPr>
          <p:cNvSpPr/>
          <p:nvPr/>
        </p:nvSpPr>
        <p:spPr>
          <a:xfrm>
            <a:off x="3572235" y="292201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19D5389-84C3-A3CB-8221-1BA315BC814A}"/>
              </a:ext>
            </a:extLst>
          </p:cNvPr>
          <p:cNvSpPr/>
          <p:nvPr/>
        </p:nvSpPr>
        <p:spPr>
          <a:xfrm>
            <a:off x="2909398" y="31721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8532F38-675B-6F83-8FF8-A20D1AC47206}"/>
              </a:ext>
            </a:extLst>
          </p:cNvPr>
          <p:cNvSpPr/>
          <p:nvPr/>
        </p:nvSpPr>
        <p:spPr>
          <a:xfrm>
            <a:off x="3572235" y="31721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757A970-A5DF-97D3-A46E-7E686BF384B4}"/>
              </a:ext>
            </a:extLst>
          </p:cNvPr>
          <p:cNvSpPr/>
          <p:nvPr/>
        </p:nvSpPr>
        <p:spPr>
          <a:xfrm>
            <a:off x="2909398" y="342219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8A9E0FC-8403-93AE-56D3-007E69A50787}"/>
              </a:ext>
            </a:extLst>
          </p:cNvPr>
          <p:cNvSpPr/>
          <p:nvPr/>
        </p:nvSpPr>
        <p:spPr>
          <a:xfrm>
            <a:off x="3572235" y="342219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09B89E7-9A2F-AD95-B28E-82808AC53951}"/>
              </a:ext>
            </a:extLst>
          </p:cNvPr>
          <p:cNvSpPr/>
          <p:nvPr/>
        </p:nvSpPr>
        <p:spPr>
          <a:xfrm>
            <a:off x="2909398" y="374963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249DD52-4BF6-DF79-CE56-316018AA5273}"/>
              </a:ext>
            </a:extLst>
          </p:cNvPr>
          <p:cNvSpPr/>
          <p:nvPr/>
        </p:nvSpPr>
        <p:spPr>
          <a:xfrm>
            <a:off x="3572235" y="374963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8C9A918-CEFE-0EFA-8F87-6EA33D4BE800}"/>
              </a:ext>
            </a:extLst>
          </p:cNvPr>
          <p:cNvSpPr/>
          <p:nvPr/>
        </p:nvSpPr>
        <p:spPr>
          <a:xfrm>
            <a:off x="2909398" y="401697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F3673E4-9ECE-B160-E147-1539C03293B1}"/>
              </a:ext>
            </a:extLst>
          </p:cNvPr>
          <p:cNvSpPr/>
          <p:nvPr/>
        </p:nvSpPr>
        <p:spPr>
          <a:xfrm>
            <a:off x="3572235" y="401697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E3B51A5-4EAA-92D3-39B6-8A03507ECB6B}"/>
              </a:ext>
            </a:extLst>
          </p:cNvPr>
          <p:cNvSpPr/>
          <p:nvPr/>
        </p:nvSpPr>
        <p:spPr>
          <a:xfrm>
            <a:off x="183392" y="4367351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9025D48B-476A-87FD-A9EB-F5036B5DB800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4670248"/>
          <a:ext cx="8974023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181F4847-6B2F-BF83-3532-55FFFFF3D03F}"/>
              </a:ext>
            </a:extLst>
          </p:cNvPr>
          <p:cNvSpPr/>
          <p:nvPr/>
        </p:nvSpPr>
        <p:spPr>
          <a:xfrm>
            <a:off x="164467" y="547410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30518773-093B-EDEC-9449-DE3BA604292E}"/>
              </a:ext>
            </a:extLst>
          </p:cNvPr>
          <p:cNvSpPr/>
          <p:nvPr/>
        </p:nvSpPr>
        <p:spPr>
          <a:xfrm>
            <a:off x="60738" y="64893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BF0B7D5-5693-3DA2-49CE-E626DDE7A38F}"/>
              </a:ext>
            </a:extLst>
          </p:cNvPr>
          <p:cNvSpPr/>
          <p:nvPr/>
        </p:nvSpPr>
        <p:spPr>
          <a:xfrm>
            <a:off x="60738" y="96893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99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A070-798F-9DEF-116F-70B4B25A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9E37265-C2F1-D58B-69E1-9669AEF58E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73543-AF14-9BC0-5519-2379B9E7DB0D}"/>
              </a:ext>
            </a:extLst>
          </p:cNvPr>
          <p:cNvSpPr txBox="1"/>
          <p:nvPr/>
        </p:nvSpPr>
        <p:spPr>
          <a:xfrm>
            <a:off x="749224" y="25608"/>
            <a:ext cx="39517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상세정보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1CC2B23-F415-F2FD-1717-9A8033D5FAF2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E4BDC3A-FF3E-5BE6-14E0-A9AAA3036BC7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18A6EC-B476-23C9-A24F-04C5AA2359D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B42E9B-7009-EAC7-CB24-E60B7600ECC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16B7385C-24F1-26C8-D532-E8489A64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A9E057B-F341-DE60-DDC6-976B84054E84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91AC6B-E645-2B2A-0EAE-59DBB8615B7D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C4402C-2B49-2BB7-F76B-0A27B3B21941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7DE415-AEB4-077D-095A-D81C47BC82CB}"/>
              </a:ext>
            </a:extLst>
          </p:cNvPr>
          <p:cNvSpPr txBox="1"/>
          <p:nvPr/>
        </p:nvSpPr>
        <p:spPr>
          <a:xfrm>
            <a:off x="8049344" y="584684"/>
            <a:ext cx="1856656" cy="1671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수의계약이 협력업체의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‘수의계약 요청 현황’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제공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표출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되는 기간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발주계획에서 등록된 파일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 시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수의계약에 참여 가능한 업체는 발주계약요청에서 이미 설정된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계약상대자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47771BD-29F3-D572-4A63-ACF45C001A67}"/>
              </a:ext>
            </a:extLst>
          </p:cNvPr>
          <p:cNvGrpSpPr/>
          <p:nvPr/>
        </p:nvGrpSpPr>
        <p:grpSpPr>
          <a:xfrm>
            <a:off x="164467" y="826923"/>
            <a:ext cx="7713518" cy="643315"/>
            <a:chOff x="164467" y="826923"/>
            <a:chExt cx="6588733" cy="6433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B094ED-E6D0-C28B-0D5A-5ED9BCA4783D}"/>
                </a:ext>
              </a:extLst>
            </p:cNvPr>
            <p:cNvSpPr/>
            <p:nvPr/>
          </p:nvSpPr>
          <p:spPr>
            <a:xfrm>
              <a:off x="1274317" y="826923"/>
              <a:ext cx="1039485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상세정보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45250E-A3CD-0E67-4530-E60C7FE1A473}"/>
                </a:ext>
              </a:extLst>
            </p:cNvPr>
            <p:cNvSpPr/>
            <p:nvPr/>
          </p:nvSpPr>
          <p:spPr>
            <a:xfrm>
              <a:off x="23841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예정가</a:t>
              </a:r>
              <a:endPara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A0D1291-06CF-29F1-7EBA-010BBF98C831}"/>
                </a:ext>
              </a:extLst>
            </p:cNvPr>
            <p:cNvSpPr/>
            <p:nvPr/>
          </p:nvSpPr>
          <p:spPr>
            <a:xfrm>
              <a:off x="46038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D285376-0E43-8E73-BC06-89262532F80E}"/>
                </a:ext>
              </a:extLst>
            </p:cNvPr>
            <p:cNvSpPr/>
            <p:nvPr/>
          </p:nvSpPr>
          <p:spPr>
            <a:xfrm>
              <a:off x="5713715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975F030-5550-A55F-3F1D-A6FC32BE4DCE}"/>
                </a:ext>
              </a:extLst>
            </p:cNvPr>
            <p:cNvSpPr/>
            <p:nvPr/>
          </p:nvSpPr>
          <p:spPr>
            <a:xfrm>
              <a:off x="34940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참여 서류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063AE1D-117D-0419-726B-46FADC3E1770}"/>
                </a:ext>
              </a:extLst>
            </p:cNvPr>
            <p:cNvSpPr/>
            <p:nvPr/>
          </p:nvSpPr>
          <p:spPr>
            <a:xfrm>
              <a:off x="1644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정보 확인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23DBF45-E1B2-54F3-317B-B14575F3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698027"/>
              </p:ext>
            </p:extLst>
          </p:nvPr>
        </p:nvGraphicFramePr>
        <p:xfrm>
          <a:off x="164465" y="1556402"/>
          <a:ext cx="7713519" cy="675840"/>
        </p:xfrm>
        <a:graphic>
          <a:graphicData uri="http://schemas.openxmlformats.org/drawingml/2006/table">
            <a:tbl>
              <a:tblPr firstRow="1" bandRow="1"/>
              <a:tblGrid>
                <a:gridCol w="85541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67544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9631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3002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2382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5442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A073AA73-E6A4-50A8-C025-BFFFD314A80B}"/>
              </a:ext>
            </a:extLst>
          </p:cNvPr>
          <p:cNvSpPr/>
          <p:nvPr/>
        </p:nvSpPr>
        <p:spPr>
          <a:xfrm>
            <a:off x="183392" y="233123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상세정보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10D1B0A-E775-694F-49B1-62F8AFD58E2B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629411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요청기간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~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66F51756-EABE-2AA4-D787-0DE1BEBC5582}"/>
              </a:ext>
            </a:extLst>
          </p:cNvPr>
          <p:cNvSpPr/>
          <p:nvPr/>
        </p:nvSpPr>
        <p:spPr>
          <a:xfrm>
            <a:off x="1820225" y="26869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9C3A49-A67E-CD67-10AB-03E5A2FDFB1D}"/>
              </a:ext>
            </a:extLst>
          </p:cNvPr>
          <p:cNvSpPr/>
          <p:nvPr/>
        </p:nvSpPr>
        <p:spPr>
          <a:xfrm>
            <a:off x="2630476" y="26869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C7E3EC9-5BED-B79B-B99C-6770B96111F2}"/>
              </a:ext>
            </a:extLst>
          </p:cNvPr>
          <p:cNvSpPr/>
          <p:nvPr/>
        </p:nvSpPr>
        <p:spPr>
          <a:xfrm>
            <a:off x="2915894" y="26869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선택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8E426F-6BA6-AE69-0C04-4A18F7A259F2}"/>
              </a:ext>
            </a:extLst>
          </p:cNvPr>
          <p:cNvSpPr/>
          <p:nvPr/>
        </p:nvSpPr>
        <p:spPr>
          <a:xfrm>
            <a:off x="3515976" y="26869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5575AD7-BD4B-0B81-F801-0339A56C2A9C}"/>
              </a:ext>
            </a:extLst>
          </p:cNvPr>
          <p:cNvSpPr/>
          <p:nvPr/>
        </p:nvSpPr>
        <p:spPr>
          <a:xfrm>
            <a:off x="3809851" y="26869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 선택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A7B091C-032E-050B-D6DB-D2E9F09D7E31}"/>
              </a:ext>
            </a:extLst>
          </p:cNvPr>
          <p:cNvSpPr/>
          <p:nvPr/>
        </p:nvSpPr>
        <p:spPr>
          <a:xfrm>
            <a:off x="4409933" y="26869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735DBA9-7964-068D-F802-01D933EE0952}"/>
              </a:ext>
            </a:extLst>
          </p:cNvPr>
          <p:cNvSpPr/>
          <p:nvPr/>
        </p:nvSpPr>
        <p:spPr>
          <a:xfrm>
            <a:off x="4850557" y="26869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699FD10-CF6A-93D1-E0CB-8F13CF2D4208}"/>
              </a:ext>
            </a:extLst>
          </p:cNvPr>
          <p:cNvSpPr/>
          <p:nvPr/>
        </p:nvSpPr>
        <p:spPr>
          <a:xfrm>
            <a:off x="5660808" y="26869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56411E2-3F5A-2A89-9DE5-9FC88D7A87BD}"/>
              </a:ext>
            </a:extLst>
          </p:cNvPr>
          <p:cNvSpPr/>
          <p:nvPr/>
        </p:nvSpPr>
        <p:spPr>
          <a:xfrm>
            <a:off x="5946226" y="26869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선택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B810146-0CC9-A91B-8396-B76F804BE8B4}"/>
              </a:ext>
            </a:extLst>
          </p:cNvPr>
          <p:cNvSpPr/>
          <p:nvPr/>
        </p:nvSpPr>
        <p:spPr>
          <a:xfrm>
            <a:off x="6546308" y="26869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3913188-3C32-2D59-8163-D3998FA5FE9C}"/>
              </a:ext>
            </a:extLst>
          </p:cNvPr>
          <p:cNvSpPr/>
          <p:nvPr/>
        </p:nvSpPr>
        <p:spPr>
          <a:xfrm>
            <a:off x="6840183" y="26869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 선택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A7A9B6-193E-743E-DC9D-00FD0C84C7C0}"/>
              </a:ext>
            </a:extLst>
          </p:cNvPr>
          <p:cNvSpPr/>
          <p:nvPr/>
        </p:nvSpPr>
        <p:spPr>
          <a:xfrm>
            <a:off x="7440265" y="26869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C6E25D5-CD0F-21F5-95DB-2DF8D98FC237}"/>
              </a:ext>
            </a:extLst>
          </p:cNvPr>
          <p:cNvSpPr/>
          <p:nvPr/>
        </p:nvSpPr>
        <p:spPr>
          <a:xfrm>
            <a:off x="1604201" y="253191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A9C14E60-4147-2BC0-4AB2-72C8230A9336}"/>
              </a:ext>
            </a:extLst>
          </p:cNvPr>
          <p:cNvSpPr/>
          <p:nvPr/>
        </p:nvSpPr>
        <p:spPr>
          <a:xfrm>
            <a:off x="183392" y="519169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가능 업체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C7F196D6-6412-FFA3-FEDC-D88BA9EA18E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5479856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2218358209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37664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참여 가능 업체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(주)큐비트엑스(135-81-77202)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328"/>
                  </a:ext>
                </a:extLst>
              </a:tr>
            </a:tbl>
          </a:graphicData>
        </a:graphic>
      </p:graphicFrame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63584F2-BB22-ED7F-2528-F8163E1125F4}"/>
              </a:ext>
            </a:extLst>
          </p:cNvPr>
          <p:cNvSpPr/>
          <p:nvPr/>
        </p:nvSpPr>
        <p:spPr>
          <a:xfrm>
            <a:off x="7198784" y="594044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CE70112-27DE-492F-B82A-5E8EFA8E49C8}"/>
              </a:ext>
            </a:extLst>
          </p:cNvPr>
          <p:cNvSpPr/>
          <p:nvPr/>
        </p:nvSpPr>
        <p:spPr>
          <a:xfrm>
            <a:off x="164467" y="5920528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7567B5E-3947-09F8-B8D9-459AF07836A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68C9D90-6D8E-6D18-BDDD-7370076CDB28}"/>
              </a:ext>
            </a:extLst>
          </p:cNvPr>
          <p:cNvSpPr/>
          <p:nvPr/>
        </p:nvSpPr>
        <p:spPr>
          <a:xfrm>
            <a:off x="1604201" y="537184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C0D317D-0125-DC99-B746-66C3F1EC73A4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952322"/>
          <a:ext cx="7776865" cy="119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7F0A609E-B562-0C31-0A46-842C2B673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288" y="3496445"/>
            <a:ext cx="5852418" cy="614880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86D3C1-8D02-D601-BADB-69C2E3F21AEF}"/>
              </a:ext>
            </a:extLst>
          </p:cNvPr>
          <p:cNvGrpSpPr/>
          <p:nvPr/>
        </p:nvGrpSpPr>
        <p:grpSpPr>
          <a:xfrm>
            <a:off x="2909398" y="3004233"/>
            <a:ext cx="1935659" cy="198885"/>
            <a:chOff x="2909398" y="4294358"/>
            <a:chExt cx="1935659" cy="19888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0104C13-575D-8EC1-F6A4-864B7084A066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93D989C-F98B-D555-0FD1-28E599857A4F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77847D1-5619-26FD-8A42-0EC496E0ED0D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927325B-A0A4-FF41-D4D6-1143C14962FC}"/>
              </a:ext>
            </a:extLst>
          </p:cNvPr>
          <p:cNvGrpSpPr/>
          <p:nvPr/>
        </p:nvGrpSpPr>
        <p:grpSpPr>
          <a:xfrm>
            <a:off x="2909398" y="3248906"/>
            <a:ext cx="1935659" cy="198885"/>
            <a:chOff x="2909398" y="4294358"/>
            <a:chExt cx="1935659" cy="198885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61C5CBF-A598-ED6D-7A7F-05580CF401DD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E20E8B4-7F81-3C3C-B923-7CC78FD70F87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8CE0809-AFD8-70F8-4A44-3F0EAF464BF0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sp>
        <p:nvSpPr>
          <p:cNvPr id="63" name="타원 62">
            <a:extLst>
              <a:ext uri="{FF2B5EF4-FFF2-40B4-BE49-F238E27FC236}">
                <a16:creationId xmlns:a16="http://schemas.microsoft.com/office/drawing/2014/main" id="{724BBB1A-A6B9-9707-E364-78490380AB7D}"/>
              </a:ext>
            </a:extLst>
          </p:cNvPr>
          <p:cNvSpPr/>
          <p:nvPr/>
        </p:nvSpPr>
        <p:spPr>
          <a:xfrm>
            <a:off x="1604201" y="29003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D6CDC8F8-79C7-402C-7B34-7724386D9BB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135007"/>
          <a:ext cx="7776865" cy="94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pic>
        <p:nvPicPr>
          <p:cNvPr id="75" name="그림 74">
            <a:extLst>
              <a:ext uri="{FF2B5EF4-FFF2-40B4-BE49-F238E27FC236}">
                <a16:creationId xmlns:a16="http://schemas.microsoft.com/office/drawing/2014/main" id="{89C85798-4C75-4B60-4878-EC48EFDFB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288" y="4413354"/>
            <a:ext cx="5852418" cy="614880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F163D871-B6EF-8FC5-2B65-868C437BC75A}"/>
              </a:ext>
            </a:extLst>
          </p:cNvPr>
          <p:cNvGrpSpPr/>
          <p:nvPr/>
        </p:nvGrpSpPr>
        <p:grpSpPr>
          <a:xfrm>
            <a:off x="2909398" y="4186918"/>
            <a:ext cx="1935659" cy="198885"/>
            <a:chOff x="2909398" y="4294358"/>
            <a:chExt cx="1935659" cy="198885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8E48F1F6-8491-B622-00E0-4F8403EB6CF0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F4FCB14-0221-A538-3AC7-FB867E471CFB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6E5624C-E171-75CE-F57B-BF70E1C43AC1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323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3B52-1D1F-AE46-FE0B-AEDA91C2D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312A4E9-66D0-AEC6-6BB2-44CD51E99F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B67AB-8BAC-1055-532B-6744D4C4A535}"/>
              </a:ext>
            </a:extLst>
          </p:cNvPr>
          <p:cNvSpPr txBox="1"/>
          <p:nvPr/>
        </p:nvSpPr>
        <p:spPr>
          <a:xfrm>
            <a:off x="749224" y="25608"/>
            <a:ext cx="32207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78B3F4-8A71-30C6-8E8F-303B42A5139A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49696D6-F13D-F90B-F4A9-FE308620D709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9632D36-49E8-3D37-86C1-289989EE1A01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EDE28A-375C-7225-A15B-02B588F5B666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8A80687D-8363-9832-67CB-3876B790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8AF1941-6BD7-0544-F5E0-548DD3A125BB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EA1062-451C-D9E4-2DE7-3907A73F1B6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9F9781-A7CD-FE7B-BD63-6CFA25B88D09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ADE7C-99F9-7DEF-0962-47A9DD38AB54}"/>
              </a:ext>
            </a:extLst>
          </p:cNvPr>
          <p:cNvSpPr txBox="1"/>
          <p:nvPr/>
        </p:nvSpPr>
        <p:spPr>
          <a:xfrm>
            <a:off x="8049344" y="584684"/>
            <a:ext cx="1856656" cy="159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추정금액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전용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이 아닌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설정되어 있는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경우에만 본 프로세스를 진행함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예정가가 아닌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추정금액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전용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으로 진행하는 경우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예정가를 등록하는 경우 세부 프로세스 진행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프로세스의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설정과 동일 기능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735C023-70F3-6975-4DC1-992819C7F8E2}"/>
              </a:ext>
            </a:extLst>
          </p:cNvPr>
          <p:cNvGrpSpPr/>
          <p:nvPr/>
        </p:nvGrpSpPr>
        <p:grpSpPr>
          <a:xfrm>
            <a:off x="164467" y="826923"/>
            <a:ext cx="7713518" cy="643315"/>
            <a:chOff x="164467" y="826923"/>
            <a:chExt cx="6588733" cy="6433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A840B-9C45-B3B1-2BED-39F495AE9B2F}"/>
                </a:ext>
              </a:extLst>
            </p:cNvPr>
            <p:cNvSpPr/>
            <p:nvPr/>
          </p:nvSpPr>
          <p:spPr>
            <a:xfrm>
              <a:off x="12743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상세정보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BF3D209-24D0-6293-96CD-DFE15FD8A014}"/>
                </a:ext>
              </a:extLst>
            </p:cNvPr>
            <p:cNvSpPr/>
            <p:nvPr/>
          </p:nvSpPr>
          <p:spPr>
            <a:xfrm>
              <a:off x="2384167" y="826923"/>
              <a:ext cx="1039485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예정가</a:t>
              </a:r>
              <a:endPara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746ECCB-92E5-3864-B262-ACAD73304A97}"/>
                </a:ext>
              </a:extLst>
            </p:cNvPr>
            <p:cNvSpPr/>
            <p:nvPr/>
          </p:nvSpPr>
          <p:spPr>
            <a:xfrm>
              <a:off x="46038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7163746-BB4A-FAAB-E4F0-317BF06F7856}"/>
                </a:ext>
              </a:extLst>
            </p:cNvPr>
            <p:cNvSpPr/>
            <p:nvPr/>
          </p:nvSpPr>
          <p:spPr>
            <a:xfrm>
              <a:off x="5713715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5FA2E20-B6A4-8C79-CA0C-8F462D8C161D}"/>
                </a:ext>
              </a:extLst>
            </p:cNvPr>
            <p:cNvSpPr/>
            <p:nvPr/>
          </p:nvSpPr>
          <p:spPr>
            <a:xfrm>
              <a:off x="34940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참여 서류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DB74C5B-9069-6A04-C2A8-5099BEC86D9B}"/>
                </a:ext>
              </a:extLst>
            </p:cNvPr>
            <p:cNvSpPr/>
            <p:nvPr/>
          </p:nvSpPr>
          <p:spPr>
            <a:xfrm>
              <a:off x="1644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정보 확인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C6B9FE1-2318-AFAD-BEFD-66731221F4A5}"/>
              </a:ext>
            </a:extLst>
          </p:cNvPr>
          <p:cNvGraphicFramePr>
            <a:graphicFrameLocks noGrp="1"/>
          </p:cNvGraphicFramePr>
          <p:nvPr/>
        </p:nvGraphicFramePr>
        <p:xfrm>
          <a:off x="164465" y="1556402"/>
          <a:ext cx="7713519" cy="675840"/>
        </p:xfrm>
        <a:graphic>
          <a:graphicData uri="http://schemas.openxmlformats.org/drawingml/2006/table">
            <a:tbl>
              <a:tblPr firstRow="1" bandRow="1"/>
              <a:tblGrid>
                <a:gridCol w="85541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67544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9631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3002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2382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5442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B1F687F-1E93-C980-052F-A878886A3AE8}"/>
              </a:ext>
            </a:extLst>
          </p:cNvPr>
          <p:cNvSpPr/>
          <p:nvPr/>
        </p:nvSpPr>
        <p:spPr>
          <a:xfrm>
            <a:off x="179900" y="2861117"/>
            <a:ext cx="1192419" cy="1035137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01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산출기초조서 </a:t>
            </a:r>
            <a:b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전자결재 요청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510C192-7133-0CD0-AEDE-02A35D00BE48}"/>
              </a:ext>
            </a:extLst>
          </p:cNvPr>
          <p:cNvSpPr/>
          <p:nvPr/>
        </p:nvSpPr>
        <p:spPr>
          <a:xfrm>
            <a:off x="2783565" y="2861117"/>
            <a:ext cx="1192419" cy="1035137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03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 요청</a:t>
            </a:r>
            <a:b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</a:t>
            </a:r>
            <a:endParaRPr lang="ko-KR" altLang="en-US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030B01-DB60-0846-7300-7D9C0650A791}"/>
              </a:ext>
            </a:extLst>
          </p:cNvPr>
          <p:cNvSpPr/>
          <p:nvPr/>
        </p:nvSpPr>
        <p:spPr>
          <a:xfrm>
            <a:off x="1481732" y="2861117"/>
            <a:ext cx="1192419" cy="1035137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02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산출기초조서 </a:t>
            </a:r>
            <a:b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7E2ED8-1AA6-982E-8EE0-6773E75601B2}"/>
              </a:ext>
            </a:extLst>
          </p:cNvPr>
          <p:cNvSpPr/>
          <p:nvPr/>
        </p:nvSpPr>
        <p:spPr>
          <a:xfrm>
            <a:off x="5387229" y="2861117"/>
            <a:ext cx="1192419" cy="1035137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05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</a:t>
            </a:r>
            <a:b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사장님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본부장님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7CECE2-60D7-2AA7-647D-35F364115761}"/>
              </a:ext>
            </a:extLst>
          </p:cNvPr>
          <p:cNvSpPr/>
          <p:nvPr/>
        </p:nvSpPr>
        <p:spPr>
          <a:xfrm>
            <a:off x="4085397" y="2861117"/>
            <a:ext cx="1192419" cy="1035137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04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 요청</a:t>
            </a:r>
            <a:b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801B487-0CC6-0696-A8A1-25128D705E6E}"/>
              </a:ext>
            </a:extLst>
          </p:cNvPr>
          <p:cNvSpPr/>
          <p:nvPr/>
        </p:nvSpPr>
        <p:spPr>
          <a:xfrm>
            <a:off x="1565667" y="363098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진행중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D50E8A1-F0C9-EE80-F3DD-B11CD40D9BD0}"/>
              </a:ext>
            </a:extLst>
          </p:cNvPr>
          <p:cNvSpPr/>
          <p:nvPr/>
        </p:nvSpPr>
        <p:spPr>
          <a:xfrm>
            <a:off x="2870117" y="3630988"/>
            <a:ext cx="45885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2FA4678-EB88-8633-7876-10ADDBF1BB55}"/>
              </a:ext>
            </a:extLst>
          </p:cNvPr>
          <p:cNvSpPr/>
          <p:nvPr/>
        </p:nvSpPr>
        <p:spPr>
          <a:xfrm>
            <a:off x="4150773" y="363098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진행중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8CE1DB8-4BDD-715B-22F0-32B56EB50DEA}"/>
              </a:ext>
            </a:extLst>
          </p:cNvPr>
          <p:cNvSpPr/>
          <p:nvPr/>
        </p:nvSpPr>
        <p:spPr>
          <a:xfrm>
            <a:off x="5485319" y="3630988"/>
            <a:ext cx="45885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D6CDC80-BD2C-1A34-DCE0-CCCB9A333B09}"/>
              </a:ext>
            </a:extLst>
          </p:cNvPr>
          <p:cNvSpPr/>
          <p:nvPr/>
        </p:nvSpPr>
        <p:spPr>
          <a:xfrm>
            <a:off x="2659151" y="72373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3003A12E-152E-0A82-5B62-9EE937040B0E}"/>
              </a:ext>
            </a:extLst>
          </p:cNvPr>
          <p:cNvSpPr/>
          <p:nvPr/>
        </p:nvSpPr>
        <p:spPr>
          <a:xfrm>
            <a:off x="1372318" y="3267866"/>
            <a:ext cx="254926" cy="24842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DE50A1C9-6FC3-E914-1989-2463FBA19590}"/>
              </a:ext>
            </a:extLst>
          </p:cNvPr>
          <p:cNvSpPr/>
          <p:nvPr/>
        </p:nvSpPr>
        <p:spPr>
          <a:xfrm>
            <a:off x="2674151" y="3267866"/>
            <a:ext cx="254926" cy="24842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E0A04299-BCDD-14AB-9A1E-F2D8624005F3}"/>
              </a:ext>
            </a:extLst>
          </p:cNvPr>
          <p:cNvSpPr/>
          <p:nvPr/>
        </p:nvSpPr>
        <p:spPr>
          <a:xfrm>
            <a:off x="3975984" y="3267866"/>
            <a:ext cx="254926" cy="24842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3336556F-D51A-3E6A-3060-929566A953AE}"/>
              </a:ext>
            </a:extLst>
          </p:cNvPr>
          <p:cNvSpPr/>
          <p:nvPr/>
        </p:nvSpPr>
        <p:spPr>
          <a:xfrm>
            <a:off x="5275089" y="3267866"/>
            <a:ext cx="254926" cy="24842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65BA27C-C0FA-DE6D-9F7E-BED9CE321E42}"/>
              </a:ext>
            </a:extLst>
          </p:cNvPr>
          <p:cNvSpPr/>
          <p:nvPr/>
        </p:nvSpPr>
        <p:spPr>
          <a:xfrm>
            <a:off x="179899" y="4000820"/>
            <a:ext cx="7701579" cy="879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D8CA4B10-0636-9729-C92A-8C6474FE7E28}"/>
              </a:ext>
            </a:extLst>
          </p:cNvPr>
          <p:cNvGraphicFramePr>
            <a:graphicFrameLocks noGrp="1"/>
          </p:cNvGraphicFramePr>
          <p:nvPr/>
        </p:nvGraphicFramePr>
        <p:xfrm>
          <a:off x="294012" y="4094313"/>
          <a:ext cx="3681972" cy="675840"/>
        </p:xfrm>
        <a:graphic>
          <a:graphicData uri="http://schemas.openxmlformats.org/drawingml/2006/table">
            <a:tbl>
              <a:tblPr firstRow="1" bandRow="1"/>
              <a:tblGrid>
                <a:gridCol w="122732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추정금액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26,482,500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68" name="직사각형 67">
            <a:extLst>
              <a:ext uri="{FF2B5EF4-FFF2-40B4-BE49-F238E27FC236}">
                <a16:creationId xmlns:a16="http://schemas.microsoft.com/office/drawing/2014/main" id="{D9B83A2B-7096-7B9B-FF78-F7F9B0BC17B9}"/>
              </a:ext>
            </a:extLst>
          </p:cNvPr>
          <p:cNvSpPr/>
          <p:nvPr/>
        </p:nvSpPr>
        <p:spPr>
          <a:xfrm>
            <a:off x="247345" y="3630988"/>
            <a:ext cx="45885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C1CFAEA-AE0B-1047-3112-37078C289960}"/>
              </a:ext>
            </a:extLst>
          </p:cNvPr>
          <p:cNvSpPr/>
          <p:nvPr/>
        </p:nvSpPr>
        <p:spPr>
          <a:xfrm>
            <a:off x="769268" y="3630988"/>
            <a:ext cx="548802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8FCCF1B-F962-57EE-AF81-79F8D7C58D1B}"/>
              </a:ext>
            </a:extLst>
          </p:cNvPr>
          <p:cNvSpPr/>
          <p:nvPr/>
        </p:nvSpPr>
        <p:spPr>
          <a:xfrm>
            <a:off x="2064019" y="3630988"/>
            <a:ext cx="548802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69B2347-3A34-9317-DE73-303D0B48ED50}"/>
              </a:ext>
            </a:extLst>
          </p:cNvPr>
          <p:cNvSpPr/>
          <p:nvPr/>
        </p:nvSpPr>
        <p:spPr>
          <a:xfrm>
            <a:off x="3361840" y="3630988"/>
            <a:ext cx="548802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A1C6645-1672-B876-44A4-2D2E6D7FC43A}"/>
              </a:ext>
            </a:extLst>
          </p:cNvPr>
          <p:cNvSpPr/>
          <p:nvPr/>
        </p:nvSpPr>
        <p:spPr>
          <a:xfrm>
            <a:off x="4640903" y="3630988"/>
            <a:ext cx="548802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B82CBF0-5016-C66A-D075-F82512ED45BD}"/>
              </a:ext>
            </a:extLst>
          </p:cNvPr>
          <p:cNvSpPr/>
          <p:nvPr/>
        </p:nvSpPr>
        <p:spPr>
          <a:xfrm>
            <a:off x="5983438" y="3630988"/>
            <a:ext cx="548802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DF7229A-100E-2C02-9AF4-C4FB08029076}"/>
              </a:ext>
            </a:extLst>
          </p:cNvPr>
          <p:cNvSpPr/>
          <p:nvPr/>
        </p:nvSpPr>
        <p:spPr>
          <a:xfrm>
            <a:off x="164467" y="4952093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BFCB9BE-AE5F-7740-1BA3-08786ACA3987}"/>
              </a:ext>
            </a:extLst>
          </p:cNvPr>
          <p:cNvSpPr/>
          <p:nvPr/>
        </p:nvSpPr>
        <p:spPr>
          <a:xfrm>
            <a:off x="164465" y="2321729"/>
            <a:ext cx="7713518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수의계약은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추정금액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진행하며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설정하지 않습니다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B22EE2B5-8E6C-2025-5EC0-0EFBA712398B}"/>
              </a:ext>
            </a:extLst>
          </p:cNvPr>
          <p:cNvSpPr/>
          <p:nvPr/>
        </p:nvSpPr>
        <p:spPr>
          <a:xfrm>
            <a:off x="71887" y="218704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57704F26-1DA1-2303-03F3-DBD6F34042DE}"/>
              </a:ext>
            </a:extLst>
          </p:cNvPr>
          <p:cNvSpPr/>
          <p:nvPr/>
        </p:nvSpPr>
        <p:spPr>
          <a:xfrm>
            <a:off x="71887" y="277303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7E3BAB45-C03C-96D5-A5C3-1F47955A1535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975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3EF74-ACD2-9E89-E752-AC83C59C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02C71E-F54E-4459-D91F-082DF218CEA3}"/>
              </a:ext>
            </a:extLst>
          </p:cNvPr>
          <p:cNvSpPr/>
          <p:nvPr/>
        </p:nvSpPr>
        <p:spPr>
          <a:xfrm>
            <a:off x="164468" y="368660"/>
            <a:ext cx="7765639" cy="62286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300EAF-22A4-B5C1-5F1D-AD6B671C7DCA}"/>
              </a:ext>
            </a:extLst>
          </p:cNvPr>
          <p:cNvSpPr/>
          <p:nvPr/>
        </p:nvSpPr>
        <p:spPr>
          <a:xfrm>
            <a:off x="7817540" y="385500"/>
            <a:ext cx="108012" cy="62168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39904D-9F02-8B55-7A2B-6FEEC9A9FE16}"/>
              </a:ext>
            </a:extLst>
          </p:cNvPr>
          <p:cNvSpPr/>
          <p:nvPr/>
        </p:nvSpPr>
        <p:spPr>
          <a:xfrm>
            <a:off x="7817540" y="1946644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A821F6-BEE3-9D8C-7150-9D33C6B39D09}"/>
              </a:ext>
            </a:extLst>
          </p:cNvPr>
          <p:cNvSpPr/>
          <p:nvPr/>
        </p:nvSpPr>
        <p:spPr>
          <a:xfrm>
            <a:off x="164468" y="368660"/>
            <a:ext cx="776108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산출기초조서 등록 및 전자결재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D9D1A3-D8FA-E025-8700-CDEBD932446B}"/>
              </a:ext>
            </a:extLst>
          </p:cNvPr>
          <p:cNvSpPr/>
          <p:nvPr/>
        </p:nvSpPr>
        <p:spPr>
          <a:xfrm>
            <a:off x="7662176" y="36866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A80B50-43E2-5C86-E0F4-8336F325618D}"/>
              </a:ext>
            </a:extLst>
          </p:cNvPr>
          <p:cNvSpPr/>
          <p:nvPr/>
        </p:nvSpPr>
        <p:spPr>
          <a:xfrm>
            <a:off x="332879" y="774485"/>
            <a:ext cx="280204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산출기초조서 등록 및 전자결재 요청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764D739-0E8F-B340-EC97-9610563A3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833350"/>
              </p:ext>
            </p:extLst>
          </p:nvPr>
        </p:nvGraphicFramePr>
        <p:xfrm>
          <a:off x="324654" y="2123157"/>
          <a:ext cx="7337522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00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33782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1133782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1122521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2448434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추정가액(A)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사정가액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증감액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(C=B-A)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공급가액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48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부가세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84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425343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887549EF-7866-4A30-60EB-F1346177B5D3}"/>
              </a:ext>
            </a:extLst>
          </p:cNvPr>
          <p:cNvSpPr/>
          <p:nvPr/>
        </p:nvSpPr>
        <p:spPr>
          <a:xfrm>
            <a:off x="416496" y="2520811"/>
            <a:ext cx="129614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직접 재료비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610B61-EF6E-CA89-3FBA-5CFE4C2E2F57}"/>
              </a:ext>
            </a:extLst>
          </p:cNvPr>
          <p:cNvSpPr/>
          <p:nvPr/>
        </p:nvSpPr>
        <p:spPr>
          <a:xfrm>
            <a:off x="1958641" y="2520811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31,619,400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310D2A-3238-1DD9-0448-20995DA22BC8}"/>
              </a:ext>
            </a:extLst>
          </p:cNvPr>
          <p:cNvSpPr/>
          <p:nvPr/>
        </p:nvSpPr>
        <p:spPr>
          <a:xfrm>
            <a:off x="3094865" y="2520811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31,619,400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686E67F-285D-47CF-9CCF-436A7EBE7F90}"/>
              </a:ext>
            </a:extLst>
          </p:cNvPr>
          <p:cNvSpPr/>
          <p:nvPr/>
        </p:nvSpPr>
        <p:spPr>
          <a:xfrm>
            <a:off x="5270160" y="2520811"/>
            <a:ext cx="195109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C05F495-A1E8-07B6-001E-A1775262B13C}"/>
              </a:ext>
            </a:extLst>
          </p:cNvPr>
          <p:cNvSpPr/>
          <p:nvPr/>
        </p:nvSpPr>
        <p:spPr>
          <a:xfrm>
            <a:off x="416496" y="2857573"/>
            <a:ext cx="129614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직접 노무비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584F28B-17BB-FD19-BD22-AEF2226ED5CA}"/>
              </a:ext>
            </a:extLst>
          </p:cNvPr>
          <p:cNvSpPr/>
          <p:nvPr/>
        </p:nvSpPr>
        <p:spPr>
          <a:xfrm>
            <a:off x="1958641" y="2857573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50,137,750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77A7F52-4D4B-2C13-6C3F-CAFE0F361315}"/>
              </a:ext>
            </a:extLst>
          </p:cNvPr>
          <p:cNvSpPr/>
          <p:nvPr/>
        </p:nvSpPr>
        <p:spPr>
          <a:xfrm>
            <a:off x="3094865" y="2857573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50,137,750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7CCA10C-935D-6341-F847-2F6845E02008}"/>
              </a:ext>
            </a:extLst>
          </p:cNvPr>
          <p:cNvSpPr/>
          <p:nvPr/>
        </p:nvSpPr>
        <p:spPr>
          <a:xfrm>
            <a:off x="5270160" y="2857573"/>
            <a:ext cx="195109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A4AEEFD-2028-6D2C-50A2-19B8615B84EF}"/>
              </a:ext>
            </a:extLst>
          </p:cNvPr>
          <p:cNvSpPr/>
          <p:nvPr/>
        </p:nvSpPr>
        <p:spPr>
          <a:xfrm>
            <a:off x="416496" y="3194335"/>
            <a:ext cx="129614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경비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43910A-8F30-7CF3-C457-432B97A13C4B}"/>
              </a:ext>
            </a:extLst>
          </p:cNvPr>
          <p:cNvSpPr/>
          <p:nvPr/>
        </p:nvSpPr>
        <p:spPr>
          <a:xfrm>
            <a:off x="1958641" y="3194335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4,342,850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08682E5-C433-F112-0EA7-A762B916D2F2}"/>
              </a:ext>
            </a:extLst>
          </p:cNvPr>
          <p:cNvSpPr/>
          <p:nvPr/>
        </p:nvSpPr>
        <p:spPr>
          <a:xfrm>
            <a:off x="3094865" y="3194335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4,342,850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7112A9C-FEDB-1B8A-D098-55016E9E2B84}"/>
              </a:ext>
            </a:extLst>
          </p:cNvPr>
          <p:cNvSpPr/>
          <p:nvPr/>
        </p:nvSpPr>
        <p:spPr>
          <a:xfrm>
            <a:off x="5270160" y="3194335"/>
            <a:ext cx="195109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C6D34CA-BE51-F88F-BBAF-A4DEFB5B8183}"/>
              </a:ext>
            </a:extLst>
          </p:cNvPr>
          <p:cNvSpPr/>
          <p:nvPr/>
        </p:nvSpPr>
        <p:spPr>
          <a:xfrm>
            <a:off x="1958641" y="3520246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86,100,000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744EDF9-9D45-B6F3-1908-DA0F0F197AFB}"/>
              </a:ext>
            </a:extLst>
          </p:cNvPr>
          <p:cNvSpPr/>
          <p:nvPr/>
        </p:nvSpPr>
        <p:spPr>
          <a:xfrm>
            <a:off x="1958641" y="3857008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8,610,000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4C37846-FDA4-CA8B-DDCA-CFADF2714C81}"/>
              </a:ext>
            </a:extLst>
          </p:cNvPr>
          <p:cNvSpPr/>
          <p:nvPr/>
        </p:nvSpPr>
        <p:spPr>
          <a:xfrm>
            <a:off x="1958641" y="4193770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94,710,000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8C0D037-55A8-4BD2-A106-10376A9E14DE}"/>
              </a:ext>
            </a:extLst>
          </p:cNvPr>
          <p:cNvSpPr/>
          <p:nvPr/>
        </p:nvSpPr>
        <p:spPr>
          <a:xfrm>
            <a:off x="5270160" y="3521956"/>
            <a:ext cx="195109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C95257-2274-A656-5847-E98B446D0EB5}"/>
              </a:ext>
            </a:extLst>
          </p:cNvPr>
          <p:cNvSpPr/>
          <p:nvPr/>
        </p:nvSpPr>
        <p:spPr>
          <a:xfrm>
            <a:off x="5270160" y="3858718"/>
            <a:ext cx="195109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419D981-6E4F-614E-B756-E85A6F39E7D5}"/>
              </a:ext>
            </a:extLst>
          </p:cNvPr>
          <p:cNvSpPr/>
          <p:nvPr/>
        </p:nvSpPr>
        <p:spPr>
          <a:xfrm>
            <a:off x="5270160" y="4195480"/>
            <a:ext cx="195109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B996038-46E1-F334-0540-FDA30E31659D}"/>
              </a:ext>
            </a:extLst>
          </p:cNvPr>
          <p:cNvSpPr/>
          <p:nvPr/>
        </p:nvSpPr>
        <p:spPr>
          <a:xfrm>
            <a:off x="3094865" y="3520246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86,100,000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105475E-0C07-5268-7343-39B4F58F6455}"/>
              </a:ext>
            </a:extLst>
          </p:cNvPr>
          <p:cNvSpPr/>
          <p:nvPr/>
        </p:nvSpPr>
        <p:spPr>
          <a:xfrm>
            <a:off x="3094865" y="3857008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8,610,000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60E57F1-BC9E-D691-C551-EAB7F12E6349}"/>
              </a:ext>
            </a:extLst>
          </p:cNvPr>
          <p:cNvSpPr/>
          <p:nvPr/>
        </p:nvSpPr>
        <p:spPr>
          <a:xfrm>
            <a:off x="3094865" y="4193770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94,710,000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1A1BD87A-7620-E398-1A97-6C1BBAD0FBC6}"/>
              </a:ext>
            </a:extLst>
          </p:cNvPr>
          <p:cNvGraphicFramePr>
            <a:graphicFrameLocks noGrp="1"/>
          </p:cNvGraphicFramePr>
          <p:nvPr/>
        </p:nvGraphicFramePr>
        <p:xfrm>
          <a:off x="332879" y="4600366"/>
          <a:ext cx="7356425" cy="146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77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86865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58335"/>
                  </a:ext>
                </a:extLst>
              </a:tr>
            </a:tbl>
          </a:graphicData>
        </a:graphic>
      </p:graphicFrame>
      <p:pic>
        <p:nvPicPr>
          <p:cNvPr id="94" name="그림 93">
            <a:extLst>
              <a:ext uri="{FF2B5EF4-FFF2-40B4-BE49-F238E27FC236}">
                <a16:creationId xmlns:a16="http://schemas.microsoft.com/office/drawing/2014/main" id="{2A1AC262-D53D-6EC4-7783-667A76E3D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60" y="5396076"/>
            <a:ext cx="5688632" cy="597671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85558F0-AC41-FE9B-8CDF-3DB612A8C4F5}"/>
              </a:ext>
            </a:extLst>
          </p:cNvPr>
          <p:cNvSpPr/>
          <p:nvPr/>
        </p:nvSpPr>
        <p:spPr>
          <a:xfrm>
            <a:off x="1887873" y="4654340"/>
            <a:ext cx="5774304" cy="60179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 Area</a:t>
            </a:r>
          </a:p>
          <a:p>
            <a:pPr algn="l"/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686EDD-8BBF-3B7C-F352-E4B04F8DD900}"/>
              </a:ext>
            </a:extLst>
          </p:cNvPr>
          <p:cNvSpPr txBox="1"/>
          <p:nvPr/>
        </p:nvSpPr>
        <p:spPr>
          <a:xfrm>
            <a:off x="749224" y="25608"/>
            <a:ext cx="51619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산출기초조서 등록 및 전자결재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CFCFDB5-4764-F73B-4D44-AD5358FEE92A}"/>
              </a:ext>
            </a:extLst>
          </p:cNvPr>
          <p:cNvSpPr/>
          <p:nvPr/>
        </p:nvSpPr>
        <p:spPr>
          <a:xfrm>
            <a:off x="4880992" y="6165304"/>
            <a:ext cx="72929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7BF6695-1046-7D53-D3B4-DE45FC507372}"/>
              </a:ext>
            </a:extLst>
          </p:cNvPr>
          <p:cNvSpPr/>
          <p:nvPr/>
        </p:nvSpPr>
        <p:spPr>
          <a:xfrm>
            <a:off x="6984572" y="616530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F2AB1C8-E439-BAAD-CA13-863B64BBB685}"/>
              </a:ext>
            </a:extLst>
          </p:cNvPr>
          <p:cNvSpPr/>
          <p:nvPr/>
        </p:nvSpPr>
        <p:spPr>
          <a:xfrm>
            <a:off x="5687964" y="6165304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D35E52F-3291-344A-5D5C-063CA20CBF38}"/>
              </a:ext>
            </a:extLst>
          </p:cNvPr>
          <p:cNvSpPr/>
          <p:nvPr/>
        </p:nvSpPr>
        <p:spPr>
          <a:xfrm>
            <a:off x="5997116" y="3716917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47A66E6-DE01-7428-39AF-3DB5C49D2EA9}"/>
              </a:ext>
            </a:extLst>
          </p:cNvPr>
          <p:cNvSpPr/>
          <p:nvPr/>
        </p:nvSpPr>
        <p:spPr>
          <a:xfrm>
            <a:off x="5997116" y="3989830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C54F8E0-9AC9-45A8-9C39-AE1AF06DB9AD}"/>
              </a:ext>
            </a:extLst>
          </p:cNvPr>
          <p:cNvSpPr/>
          <p:nvPr/>
        </p:nvSpPr>
        <p:spPr>
          <a:xfrm>
            <a:off x="9504448" y="371691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0AF3FE3-2B25-733F-C23D-BCB3D267643D}"/>
              </a:ext>
            </a:extLst>
          </p:cNvPr>
          <p:cNvSpPr/>
          <p:nvPr/>
        </p:nvSpPr>
        <p:spPr>
          <a:xfrm>
            <a:off x="6104895" y="4403217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전자결재 요청을 하면 더 이상 입력하신 예정가격 산출기초조서가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16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59C18DE4-6D7B-DA59-A277-0F6C10574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017" y="455983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AA40A81-309C-B61E-DD30-6D396459A440}"/>
              </a:ext>
            </a:extLst>
          </p:cNvPr>
          <p:cNvSpPr/>
          <p:nvPr/>
        </p:nvSpPr>
        <p:spPr>
          <a:xfrm>
            <a:off x="8948453" y="539158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03298CA-7BB8-FA7E-A94A-733790A89224}"/>
              </a:ext>
            </a:extLst>
          </p:cNvPr>
          <p:cNvSpPr/>
          <p:nvPr/>
        </p:nvSpPr>
        <p:spPr>
          <a:xfrm>
            <a:off x="6128336" y="4086218"/>
            <a:ext cx="165750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8A22F37-A0A8-F1C8-8DEE-8E964BB5365B}"/>
              </a:ext>
            </a:extLst>
          </p:cNvPr>
          <p:cNvSpPr/>
          <p:nvPr/>
        </p:nvSpPr>
        <p:spPr>
          <a:xfrm>
            <a:off x="7630173" y="5391584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429A1704-3E86-870B-802A-06441C63C249}"/>
              </a:ext>
            </a:extLst>
          </p:cNvPr>
          <p:cNvCxnSpPr>
            <a:cxnSpLocks/>
            <a:stCxn id="111" idx="0"/>
            <a:endCxn id="113" idx="2"/>
          </p:cNvCxnSpPr>
          <p:nvPr/>
        </p:nvCxnSpPr>
        <p:spPr>
          <a:xfrm rot="5400000" flipH="1" flipV="1">
            <a:off x="6938504" y="5216483"/>
            <a:ext cx="324036" cy="157360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361551-AB71-0DF0-9FCF-86A43B8C5BDD}"/>
              </a:ext>
            </a:extLst>
          </p:cNvPr>
          <p:cNvSpPr/>
          <p:nvPr/>
        </p:nvSpPr>
        <p:spPr>
          <a:xfrm>
            <a:off x="7276014" y="2527269"/>
            <a:ext cx="36976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삭제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BE5430-5294-BA3A-787F-50E4922AF037}"/>
              </a:ext>
            </a:extLst>
          </p:cNvPr>
          <p:cNvSpPr/>
          <p:nvPr/>
        </p:nvSpPr>
        <p:spPr>
          <a:xfrm>
            <a:off x="7276014" y="2858965"/>
            <a:ext cx="36976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삭제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1407A2-BD5C-50E1-9D99-8E82E8D81500}"/>
              </a:ext>
            </a:extLst>
          </p:cNvPr>
          <p:cNvSpPr/>
          <p:nvPr/>
        </p:nvSpPr>
        <p:spPr>
          <a:xfrm>
            <a:off x="7276014" y="3194335"/>
            <a:ext cx="36976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삭제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DF9E3F-84C2-AA11-198B-7DFCCD5E9F01}"/>
              </a:ext>
            </a:extLst>
          </p:cNvPr>
          <p:cNvSpPr/>
          <p:nvPr/>
        </p:nvSpPr>
        <p:spPr>
          <a:xfrm>
            <a:off x="7041232" y="1866061"/>
            <a:ext cx="604546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행 추가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+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0371F07-767B-64D5-4A60-FD5945977358}"/>
              </a:ext>
            </a:extLst>
          </p:cNvPr>
          <p:cNvSpPr/>
          <p:nvPr/>
        </p:nvSpPr>
        <p:spPr>
          <a:xfrm>
            <a:off x="4773305" y="605233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C6C262-199A-920D-3CE6-18886F54EC68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E39276-621B-B33B-9455-D16222347CDD}"/>
              </a:ext>
            </a:extLst>
          </p:cNvPr>
          <p:cNvSpPr/>
          <p:nvPr/>
        </p:nvSpPr>
        <p:spPr>
          <a:xfrm>
            <a:off x="5651372" y="605233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A558F92-59DF-88AB-5AD9-9CE0F8183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682190"/>
              </p:ext>
            </p:extLst>
          </p:nvPr>
        </p:nvGraphicFramePr>
        <p:xfrm>
          <a:off x="335823" y="1141996"/>
          <a:ext cx="7294350" cy="675840"/>
        </p:xfrm>
        <a:graphic>
          <a:graphicData uri="http://schemas.openxmlformats.org/drawingml/2006/table">
            <a:tbl>
              <a:tblPr firstRow="1" bandRow="1"/>
              <a:tblGrid>
                <a:gridCol w="8763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1433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4886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43724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47890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317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4886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07110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12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C518-7591-6DCD-12D1-5DD66FA5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A56E900-F38A-2020-F83B-1E06BDE2F6B0}"/>
              </a:ext>
            </a:extLst>
          </p:cNvPr>
          <p:cNvSpPr/>
          <p:nvPr/>
        </p:nvSpPr>
        <p:spPr>
          <a:xfrm>
            <a:off x="164468" y="413290"/>
            <a:ext cx="7765639" cy="5395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B46DA7-1266-54EA-0F63-B09A46D5DAC7}"/>
              </a:ext>
            </a:extLst>
          </p:cNvPr>
          <p:cNvSpPr/>
          <p:nvPr/>
        </p:nvSpPr>
        <p:spPr>
          <a:xfrm>
            <a:off x="7817540" y="421505"/>
            <a:ext cx="108012" cy="538474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53611B-B9E2-2FF1-ACA0-28A87FAB0D29}"/>
              </a:ext>
            </a:extLst>
          </p:cNvPr>
          <p:cNvSpPr/>
          <p:nvPr/>
        </p:nvSpPr>
        <p:spPr>
          <a:xfrm>
            <a:off x="7817540" y="1991274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E54492-B4CA-3D8A-A44B-C451B800BF8F}"/>
              </a:ext>
            </a:extLst>
          </p:cNvPr>
          <p:cNvSpPr/>
          <p:nvPr/>
        </p:nvSpPr>
        <p:spPr>
          <a:xfrm>
            <a:off x="164468" y="413290"/>
            <a:ext cx="776108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 요청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372F32-CD6D-ECE8-2471-E2C3956E1F3E}"/>
              </a:ext>
            </a:extLst>
          </p:cNvPr>
          <p:cNvSpPr/>
          <p:nvPr/>
        </p:nvSpPr>
        <p:spPr>
          <a:xfrm>
            <a:off x="7662176" y="4132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ED4191-747D-F8A9-A53B-A0E9ABFA7857}"/>
              </a:ext>
            </a:extLst>
          </p:cNvPr>
          <p:cNvSpPr/>
          <p:nvPr/>
        </p:nvSpPr>
        <p:spPr>
          <a:xfrm>
            <a:off x="332879" y="819115"/>
            <a:ext cx="12182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 요청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2026A8-0CD7-462D-102B-77E7D5A74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819652"/>
              </p:ext>
            </p:extLst>
          </p:nvPr>
        </p:nvGraphicFramePr>
        <p:xfrm>
          <a:off x="324654" y="1913773"/>
          <a:ext cx="7337522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00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33782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1133782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1122521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2448434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추정가액(A)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사정가액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증감액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(C=B-A)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공급가액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86,100,000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86,100,000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48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부가세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8,610,000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8,610,000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84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94,710,000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94,710,000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특이사항이 없어서 사정가액의 변화가 없습니다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425343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0C6AFD2A-447B-2603-30CF-22D815FDA17A}"/>
              </a:ext>
            </a:extLst>
          </p:cNvPr>
          <p:cNvGraphicFramePr>
            <a:graphicFrameLocks noGrp="1"/>
          </p:cNvGraphicFramePr>
          <p:nvPr/>
        </p:nvGraphicFramePr>
        <p:xfrm>
          <a:off x="332879" y="3678840"/>
          <a:ext cx="7356425" cy="146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77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86865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58335"/>
                  </a:ext>
                </a:extLst>
              </a:tr>
            </a:tbl>
          </a:graphicData>
        </a:graphic>
      </p:graphicFrame>
      <p:pic>
        <p:nvPicPr>
          <p:cNvPr id="40" name="그림 39">
            <a:extLst>
              <a:ext uri="{FF2B5EF4-FFF2-40B4-BE49-F238E27FC236}">
                <a16:creationId xmlns:a16="http://schemas.microsoft.com/office/drawing/2014/main" id="{B52B8C06-4A68-F6A8-9165-164A2681F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60" y="4474550"/>
            <a:ext cx="5688632" cy="597671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D62E67-3523-8E1E-2D5D-3568119AE9A1}"/>
              </a:ext>
            </a:extLst>
          </p:cNvPr>
          <p:cNvSpPr/>
          <p:nvPr/>
        </p:nvSpPr>
        <p:spPr>
          <a:xfrm>
            <a:off x="1887873" y="3732814"/>
            <a:ext cx="5774304" cy="60179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 Area</a:t>
            </a:r>
          </a:p>
          <a:p>
            <a:pPr algn="l"/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0F851C-B3C1-AC34-21B8-B4F7CFD91DD4}"/>
              </a:ext>
            </a:extLst>
          </p:cNvPr>
          <p:cNvSpPr txBox="1"/>
          <p:nvPr/>
        </p:nvSpPr>
        <p:spPr>
          <a:xfrm>
            <a:off x="749224" y="25608"/>
            <a:ext cx="40046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7EC444B-F64F-7592-AC02-B80642B02754}"/>
              </a:ext>
            </a:extLst>
          </p:cNvPr>
          <p:cNvSpPr/>
          <p:nvPr/>
        </p:nvSpPr>
        <p:spPr>
          <a:xfrm>
            <a:off x="4880992" y="5237826"/>
            <a:ext cx="72929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F5A9A35-3B37-3532-515D-746592387398}"/>
              </a:ext>
            </a:extLst>
          </p:cNvPr>
          <p:cNvSpPr/>
          <p:nvPr/>
        </p:nvSpPr>
        <p:spPr>
          <a:xfrm>
            <a:off x="6984572" y="5237826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FC06F7-34AF-6417-7CC0-860B8A28181E}"/>
              </a:ext>
            </a:extLst>
          </p:cNvPr>
          <p:cNvSpPr/>
          <p:nvPr/>
        </p:nvSpPr>
        <p:spPr>
          <a:xfrm>
            <a:off x="5687964" y="5237826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8533BCF5-377D-6D77-D870-A2A536BB98EE}"/>
              </a:ext>
            </a:extLst>
          </p:cNvPr>
          <p:cNvCxnSpPr>
            <a:cxnSpLocks/>
            <a:stCxn id="45" idx="0"/>
            <a:endCxn id="17" idx="2"/>
          </p:cNvCxnSpPr>
          <p:nvPr/>
        </p:nvCxnSpPr>
        <p:spPr>
          <a:xfrm rot="5400000" flipH="1" flipV="1">
            <a:off x="6935782" y="4322287"/>
            <a:ext cx="293477" cy="153760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FABDFE37-CBC9-B9CF-9DD8-F66CA660B6AF}"/>
              </a:ext>
            </a:extLst>
          </p:cNvPr>
          <p:cNvGraphicFramePr>
            <a:graphicFrameLocks noGrp="1"/>
          </p:cNvGraphicFramePr>
          <p:nvPr/>
        </p:nvGraphicFramePr>
        <p:xfrm>
          <a:off x="344489" y="3348366"/>
          <a:ext cx="7308811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16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예정가격 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사장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706610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13F65F-8CFF-57CD-9773-482327A91A14}"/>
              </a:ext>
            </a:extLst>
          </p:cNvPr>
          <p:cNvSpPr/>
          <p:nvPr/>
        </p:nvSpPr>
        <p:spPr>
          <a:xfrm>
            <a:off x="5961112" y="2819998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095702-859E-756E-1A1A-9024F1713435}"/>
              </a:ext>
            </a:extLst>
          </p:cNvPr>
          <p:cNvSpPr/>
          <p:nvPr/>
        </p:nvSpPr>
        <p:spPr>
          <a:xfrm>
            <a:off x="5961112" y="3092911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4AAC78-E3EC-7609-E3F5-0B39817A91CD}"/>
              </a:ext>
            </a:extLst>
          </p:cNvPr>
          <p:cNvSpPr/>
          <p:nvPr/>
        </p:nvSpPr>
        <p:spPr>
          <a:xfrm>
            <a:off x="9468444" y="281999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B181B7-F07A-D44F-6BDA-A16517FC4BFB}"/>
              </a:ext>
            </a:extLst>
          </p:cNvPr>
          <p:cNvSpPr/>
          <p:nvPr/>
        </p:nvSpPr>
        <p:spPr>
          <a:xfrm>
            <a:off x="6068891" y="3506298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전자결재 요청을 하면 더 이상 입력하신 예정가격 등록 요청 정보가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2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644982ED-4998-4B08-8092-9DB6466E2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013" y="3651417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957577-FC75-3724-A419-2240733F8559}"/>
              </a:ext>
            </a:extLst>
          </p:cNvPr>
          <p:cNvSpPr/>
          <p:nvPr/>
        </p:nvSpPr>
        <p:spPr>
          <a:xfrm>
            <a:off x="8912449" y="449466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58E333D-1248-312E-D405-02970C0009D3}"/>
              </a:ext>
            </a:extLst>
          </p:cNvPr>
          <p:cNvSpPr/>
          <p:nvPr/>
        </p:nvSpPr>
        <p:spPr>
          <a:xfrm>
            <a:off x="6092332" y="3189678"/>
            <a:ext cx="165750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29A696-E853-70FE-4FCC-2BDA2B81F070}"/>
              </a:ext>
            </a:extLst>
          </p:cNvPr>
          <p:cNvSpPr/>
          <p:nvPr/>
        </p:nvSpPr>
        <p:spPr>
          <a:xfrm>
            <a:off x="7594169" y="4494665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8AE441-AA5E-1FF7-115D-23E24EF35C99}"/>
              </a:ext>
            </a:extLst>
          </p:cNvPr>
          <p:cNvSpPr txBox="1"/>
          <p:nvPr/>
        </p:nvSpPr>
        <p:spPr>
          <a:xfrm>
            <a:off x="8049344" y="546348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898DE18-2842-C54C-811A-33028DA19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14431"/>
              </p:ext>
            </p:extLst>
          </p:nvPr>
        </p:nvGraphicFramePr>
        <p:xfrm>
          <a:off x="335823" y="1152122"/>
          <a:ext cx="7294350" cy="675840"/>
        </p:xfrm>
        <a:graphic>
          <a:graphicData uri="http://schemas.openxmlformats.org/drawingml/2006/table">
            <a:tbl>
              <a:tblPr firstRow="1" bandRow="1"/>
              <a:tblGrid>
                <a:gridCol w="8763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1433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4886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43724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47890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317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4886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07110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57424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103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AD95-365D-5D42-25B3-1C447C366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E615FB-4A44-255F-895A-C36F1A30C0CB}"/>
              </a:ext>
            </a:extLst>
          </p:cNvPr>
          <p:cNvSpPr/>
          <p:nvPr/>
        </p:nvSpPr>
        <p:spPr>
          <a:xfrm>
            <a:off x="164468" y="368660"/>
            <a:ext cx="7765639" cy="464451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04973E-9AD3-E40F-AFAC-123FB9FDC991}"/>
              </a:ext>
            </a:extLst>
          </p:cNvPr>
          <p:cNvSpPr/>
          <p:nvPr/>
        </p:nvSpPr>
        <p:spPr>
          <a:xfrm>
            <a:off x="7817540" y="376875"/>
            <a:ext cx="108012" cy="463565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797870-EB84-AB76-CA5A-9965B31AA7BB}"/>
              </a:ext>
            </a:extLst>
          </p:cNvPr>
          <p:cNvSpPr/>
          <p:nvPr/>
        </p:nvSpPr>
        <p:spPr>
          <a:xfrm>
            <a:off x="7817540" y="1946644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E033AD-7737-9EE6-8CCF-7C322C732FFE}"/>
              </a:ext>
            </a:extLst>
          </p:cNvPr>
          <p:cNvSpPr/>
          <p:nvPr/>
        </p:nvSpPr>
        <p:spPr>
          <a:xfrm>
            <a:off x="164468" y="368660"/>
            <a:ext cx="776108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D478F5-DBC1-BA19-E12C-4F717FEE7482}"/>
              </a:ext>
            </a:extLst>
          </p:cNvPr>
          <p:cNvSpPr/>
          <p:nvPr/>
        </p:nvSpPr>
        <p:spPr>
          <a:xfrm>
            <a:off x="7662176" y="36866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5391A4-68A8-5E77-2D9D-46E18BDE8E70}"/>
              </a:ext>
            </a:extLst>
          </p:cNvPr>
          <p:cNvSpPr/>
          <p:nvPr/>
        </p:nvSpPr>
        <p:spPr>
          <a:xfrm>
            <a:off x="332879" y="774485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E9ACD89-232B-55C1-6FA4-F9D4DF675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99782"/>
              </p:ext>
            </p:extLst>
          </p:nvPr>
        </p:nvGraphicFramePr>
        <p:xfrm>
          <a:off x="324654" y="1869143"/>
          <a:ext cx="7337522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00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33782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1133782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1122521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2448434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추정가액(A)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사정가액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증감액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(C=B-A)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공급가액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86,100,000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86,100,000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48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부가세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8,610,000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8,610,000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84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94,710,000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94,710,000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특이사항이 없어서 사정가액의 변화가 없습니다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425343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5C040BC1-13E5-4BF6-81E8-7F13C5CC5F51}"/>
              </a:ext>
            </a:extLst>
          </p:cNvPr>
          <p:cNvSpPr txBox="1"/>
          <p:nvPr/>
        </p:nvSpPr>
        <p:spPr>
          <a:xfrm>
            <a:off x="749224" y="25608"/>
            <a:ext cx="37834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예정가격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E695B5-E341-5597-5359-FF8060FA6C4E}"/>
              </a:ext>
            </a:extLst>
          </p:cNvPr>
          <p:cNvSpPr/>
          <p:nvPr/>
        </p:nvSpPr>
        <p:spPr>
          <a:xfrm>
            <a:off x="6188507" y="4432440"/>
            <a:ext cx="72929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3775DA-4B50-984C-D308-F18DCEE4B7D0}"/>
              </a:ext>
            </a:extLst>
          </p:cNvPr>
          <p:cNvSpPr/>
          <p:nvPr/>
        </p:nvSpPr>
        <p:spPr>
          <a:xfrm>
            <a:off x="6984572" y="4432440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2371B5D5-548D-09A3-FFF2-C6A52ADCEF46}"/>
              </a:ext>
            </a:extLst>
          </p:cNvPr>
          <p:cNvGraphicFramePr>
            <a:graphicFrameLocks noGrp="1"/>
          </p:cNvGraphicFramePr>
          <p:nvPr/>
        </p:nvGraphicFramePr>
        <p:xfrm>
          <a:off x="344489" y="3303736"/>
          <a:ext cx="7308811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16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사정금액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-2%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92,815,800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4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사정금액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-4%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90,921,600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예정가격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74315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6370FCC9-1613-0CA2-551B-8AEFD7FCE13E}"/>
              </a:ext>
            </a:extLst>
          </p:cNvPr>
          <p:cNvSpPr/>
          <p:nvPr/>
        </p:nvSpPr>
        <p:spPr>
          <a:xfrm>
            <a:off x="1885888" y="4037284"/>
            <a:ext cx="78086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91,800,000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EDF5174-D965-0880-D281-116B63C0A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731221"/>
              </p:ext>
            </p:extLst>
          </p:nvPr>
        </p:nvGraphicFramePr>
        <p:xfrm>
          <a:off x="335823" y="1088740"/>
          <a:ext cx="7317477" cy="675840"/>
        </p:xfrm>
        <a:graphic>
          <a:graphicData uri="http://schemas.openxmlformats.org/drawingml/2006/table">
            <a:tbl>
              <a:tblPr firstRow="1" bandRow="1"/>
              <a:tblGrid>
                <a:gridCol w="76794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99765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48096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06918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40656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070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4415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471902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576097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576097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999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476CC-96D1-0A72-7842-AE595D43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93ADAC3-F2ED-6ADC-536E-C8BEA75C54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54B708-3EC1-22BF-95B9-4B7B031AE5B7}"/>
              </a:ext>
            </a:extLst>
          </p:cNvPr>
          <p:cNvSpPr txBox="1"/>
          <p:nvPr/>
        </p:nvSpPr>
        <p:spPr>
          <a:xfrm>
            <a:off x="749224" y="25608"/>
            <a:ext cx="37593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3099729-5020-975E-6D30-E67C057E8D88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A501D6B-5BE4-6EEC-7D68-0D4EA670566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89571C-4B59-8562-6BEC-B1A811ADAB3F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426C35-4763-D797-93A1-CF59C8D20B9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00AC2F3F-4E36-6286-4A0F-58A0DBBB5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8671474-5009-4A55-C678-E9E8978D33A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6E612A-6A19-F367-BA91-15E9CA9BC16E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F62C40-0D80-B906-36DB-2CF71FB1985F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A3C902-179B-0EFD-AB8E-F35EFA035550}"/>
              </a:ext>
            </a:extLst>
          </p:cNvPr>
          <p:cNvSpPr txBox="1"/>
          <p:nvPr/>
        </p:nvSpPr>
        <p:spPr>
          <a:xfrm>
            <a:off x="8049344" y="584684"/>
            <a:ext cx="1856656" cy="374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보통 수의계약은 참여서류 등록이 없음(하지만 간혹 서류제출이 필요하다고 들었음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만약 가격제출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외에 서류 제출이 필요한 경우 해당 버튼을 클릭하고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이후 아래의 내용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시 협력업체가 첨부해야 하는 서류 목록 관리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메뉴에서 설정한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서류’ 항목만 불러와서 한 번에 완성하고 조정할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 참고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수동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추가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 참고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91102CE-D1D6-11A5-294F-20C612396EA1}"/>
              </a:ext>
            </a:extLst>
          </p:cNvPr>
          <p:cNvGrpSpPr/>
          <p:nvPr/>
        </p:nvGrpSpPr>
        <p:grpSpPr>
          <a:xfrm>
            <a:off x="164467" y="826923"/>
            <a:ext cx="7713518" cy="643315"/>
            <a:chOff x="164467" y="826923"/>
            <a:chExt cx="6588733" cy="6433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D9D8CEB-932A-B9AE-8C7A-CFEF249EBB3A}"/>
                </a:ext>
              </a:extLst>
            </p:cNvPr>
            <p:cNvSpPr/>
            <p:nvPr/>
          </p:nvSpPr>
          <p:spPr>
            <a:xfrm>
              <a:off x="12743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상세정보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6436C2C-69DB-5704-654E-29826951FD6A}"/>
                </a:ext>
              </a:extLst>
            </p:cNvPr>
            <p:cNvSpPr/>
            <p:nvPr/>
          </p:nvSpPr>
          <p:spPr>
            <a:xfrm>
              <a:off x="23841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예정가</a:t>
              </a:r>
              <a:endPara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3A9BCBA-4E0E-6A24-7DF3-7B4B91497320}"/>
                </a:ext>
              </a:extLst>
            </p:cNvPr>
            <p:cNvSpPr/>
            <p:nvPr/>
          </p:nvSpPr>
          <p:spPr>
            <a:xfrm>
              <a:off x="46038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40A6952-209C-7CE5-0E86-C35D5D4D2501}"/>
                </a:ext>
              </a:extLst>
            </p:cNvPr>
            <p:cNvSpPr/>
            <p:nvPr/>
          </p:nvSpPr>
          <p:spPr>
            <a:xfrm>
              <a:off x="5713715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F6A646D-5B55-60C6-3373-CBE1045FC0F5}"/>
                </a:ext>
              </a:extLst>
            </p:cNvPr>
            <p:cNvSpPr/>
            <p:nvPr/>
          </p:nvSpPr>
          <p:spPr>
            <a:xfrm>
              <a:off x="3494017" y="826923"/>
              <a:ext cx="1039485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참여 서류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0F29447-232B-07D2-A8FA-997AC0722D5F}"/>
                </a:ext>
              </a:extLst>
            </p:cNvPr>
            <p:cNvSpPr/>
            <p:nvPr/>
          </p:nvSpPr>
          <p:spPr>
            <a:xfrm>
              <a:off x="1644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정보 확인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B401F094-371F-0E5A-DFAF-24B433A26D1E}"/>
              </a:ext>
            </a:extLst>
          </p:cNvPr>
          <p:cNvGraphicFramePr>
            <a:graphicFrameLocks noGrp="1"/>
          </p:cNvGraphicFramePr>
          <p:nvPr/>
        </p:nvGraphicFramePr>
        <p:xfrm>
          <a:off x="164465" y="1556402"/>
          <a:ext cx="7713519" cy="675840"/>
        </p:xfrm>
        <a:graphic>
          <a:graphicData uri="http://schemas.openxmlformats.org/drawingml/2006/table">
            <a:tbl>
              <a:tblPr firstRow="1" bandRow="1"/>
              <a:tblGrid>
                <a:gridCol w="85541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67544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9631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3002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2382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5442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C67F8745-9081-BF1E-0425-1C9ED5FEE1F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3DC623-1F87-18A9-B8D6-A9B610CBBD69}"/>
              </a:ext>
            </a:extLst>
          </p:cNvPr>
          <p:cNvSpPr/>
          <p:nvPr/>
        </p:nvSpPr>
        <p:spPr>
          <a:xfrm>
            <a:off x="183392" y="287018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 </a:t>
            </a:r>
            <a:r>
              <a:rPr lang="ko-KR" altLang="en-US" sz="9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수의계약 참여 시 협력업체가 첨부해야 하는 서류 목록 관리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45C758-8F18-DA10-599C-0760BF1052CD}"/>
              </a:ext>
            </a:extLst>
          </p:cNvPr>
          <p:cNvSpPr txBox="1"/>
          <p:nvPr/>
        </p:nvSpPr>
        <p:spPr>
          <a:xfrm>
            <a:off x="164468" y="3142522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수의계약 참여 서류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B489FF4-93D8-6A8D-4A55-3BADF1097D1B}"/>
              </a:ext>
            </a:extLst>
          </p:cNvPr>
          <p:cNvGraphicFramePr>
            <a:graphicFrameLocks noGrp="1"/>
          </p:cNvGraphicFramePr>
          <p:nvPr/>
        </p:nvGraphicFramePr>
        <p:xfrm>
          <a:off x="171331" y="3442862"/>
          <a:ext cx="7710149" cy="1351680"/>
        </p:xfrm>
        <a:graphic>
          <a:graphicData uri="http://schemas.openxmlformats.org/drawingml/2006/table">
            <a:tbl>
              <a:tblPr firstRow="1" bandRow="1"/>
              <a:tblGrid>
                <a:gridCol w="29340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60960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4498837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071536691"/>
                    </a:ext>
                  </a:extLst>
                </a:gridCol>
                <a:gridCol w="588220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811DCA-2D5B-3E7D-5348-C4A6587777B3}"/>
              </a:ext>
            </a:extLst>
          </p:cNvPr>
          <p:cNvSpPr/>
          <p:nvPr/>
        </p:nvSpPr>
        <p:spPr>
          <a:xfrm>
            <a:off x="7352592" y="3846202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D34F477-D5D6-03A4-8B7A-A47AE461071C}"/>
              </a:ext>
            </a:extLst>
          </p:cNvPr>
          <p:cNvSpPr/>
          <p:nvPr/>
        </p:nvSpPr>
        <p:spPr>
          <a:xfrm>
            <a:off x="7352592" y="4182660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B24270B-D9B2-3510-B43F-AFC2440022A1}"/>
              </a:ext>
            </a:extLst>
          </p:cNvPr>
          <p:cNvSpPr/>
          <p:nvPr/>
        </p:nvSpPr>
        <p:spPr>
          <a:xfrm>
            <a:off x="7169986" y="4889666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92CF4D0-3D7F-9006-0467-E3BAEC9C264F}"/>
              </a:ext>
            </a:extLst>
          </p:cNvPr>
          <p:cNvSpPr/>
          <p:nvPr/>
        </p:nvSpPr>
        <p:spPr>
          <a:xfrm>
            <a:off x="5745088" y="4889666"/>
            <a:ext cx="1358187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2" charset="-127"/>
                <a:ea typeface="나눔고딕" pitchFamily="2" charset="-127"/>
              </a:rPr>
              <a:t>수의계약 참여 서류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추가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44892E5-9312-D6AE-3408-D1AC5F36BAEF}"/>
              </a:ext>
            </a:extLst>
          </p:cNvPr>
          <p:cNvSpPr/>
          <p:nvPr/>
        </p:nvSpPr>
        <p:spPr>
          <a:xfrm>
            <a:off x="4984104" y="4889666"/>
            <a:ext cx="69900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순서 적용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E27CA6-8C58-52D3-09DE-A8791A1063F9}"/>
              </a:ext>
            </a:extLst>
          </p:cNvPr>
          <p:cNvSpPr/>
          <p:nvPr/>
        </p:nvSpPr>
        <p:spPr>
          <a:xfrm>
            <a:off x="7352592" y="4519118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EE9789D-9941-CF17-3064-E74CE1280FC6}"/>
              </a:ext>
            </a:extLst>
          </p:cNvPr>
          <p:cNvSpPr/>
          <p:nvPr/>
        </p:nvSpPr>
        <p:spPr>
          <a:xfrm>
            <a:off x="164467" y="488966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AB30685-75C8-9C2C-0C6B-4C32C7EA71AF}"/>
              </a:ext>
            </a:extLst>
          </p:cNvPr>
          <p:cNvSpPr/>
          <p:nvPr/>
        </p:nvSpPr>
        <p:spPr>
          <a:xfrm>
            <a:off x="75380" y="335197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0163220-A0A9-0217-18D0-C9DEE571BB7D}"/>
              </a:ext>
            </a:extLst>
          </p:cNvPr>
          <p:cNvSpPr/>
          <p:nvPr/>
        </p:nvSpPr>
        <p:spPr>
          <a:xfrm>
            <a:off x="164466" y="2322327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본 수의계약은 수의계약 시 제출해야 할 참여 서류가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8338855-C2AC-5119-37AD-7AAEE6009B7D}"/>
              </a:ext>
            </a:extLst>
          </p:cNvPr>
          <p:cNvSpPr/>
          <p:nvPr/>
        </p:nvSpPr>
        <p:spPr>
          <a:xfrm>
            <a:off x="6424182" y="2406163"/>
            <a:ext cx="137851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등록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DB605067-DC16-30CF-FF9B-7E641D04230A}"/>
              </a:ext>
            </a:extLst>
          </p:cNvPr>
          <p:cNvSpPr/>
          <p:nvPr/>
        </p:nvSpPr>
        <p:spPr>
          <a:xfrm>
            <a:off x="6271636" y="23178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5C541B-6830-8013-5B3B-2C25FB92792E}"/>
              </a:ext>
            </a:extLst>
          </p:cNvPr>
          <p:cNvSpPr/>
          <p:nvPr/>
        </p:nvSpPr>
        <p:spPr>
          <a:xfrm>
            <a:off x="3108171" y="4889666"/>
            <a:ext cx="1809446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수의계약 참여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서류 불러오기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2AC879B-8584-0467-03F0-70F9F7CE9617}"/>
              </a:ext>
            </a:extLst>
          </p:cNvPr>
          <p:cNvSpPr/>
          <p:nvPr/>
        </p:nvSpPr>
        <p:spPr>
          <a:xfrm>
            <a:off x="2984005" y="478557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1F8E52-12E5-695B-2F35-53BBC0078EEA}"/>
              </a:ext>
            </a:extLst>
          </p:cNvPr>
          <p:cNvSpPr/>
          <p:nvPr/>
        </p:nvSpPr>
        <p:spPr>
          <a:xfrm>
            <a:off x="5653995" y="478557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4732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50AED-90CE-1A59-3349-A316CD69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F6EB404-2B90-6B6A-EA0D-88D29C9451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2B6017-6E7F-2897-F0A2-0D70EB0221E1}"/>
              </a:ext>
            </a:extLst>
          </p:cNvPr>
          <p:cNvSpPr txBox="1"/>
          <p:nvPr/>
        </p:nvSpPr>
        <p:spPr>
          <a:xfrm>
            <a:off x="749224" y="25608"/>
            <a:ext cx="52693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수의계약 참여 서류 불러오기 등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63556-9FBA-96A8-90D3-7B4E57D5C79D}"/>
              </a:ext>
            </a:extLst>
          </p:cNvPr>
          <p:cNvSpPr txBox="1"/>
          <p:nvPr/>
        </p:nvSpPr>
        <p:spPr>
          <a:xfrm>
            <a:off x="8049344" y="584684"/>
            <a:ext cx="185665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메뉴에서 설정한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서류’ 항목만 불러와서 한 번에 완성하고 조정할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수동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수의계약 참여 서류 추가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2884DAB-78C5-B9D6-5C23-945FC6CF90E0}"/>
              </a:ext>
            </a:extLst>
          </p:cNvPr>
          <p:cNvSpPr/>
          <p:nvPr/>
        </p:nvSpPr>
        <p:spPr>
          <a:xfrm>
            <a:off x="164468" y="3971913"/>
            <a:ext cx="491251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추가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E8C8AEE-5BDF-08AE-47DB-C50B95BCB411}"/>
              </a:ext>
            </a:extLst>
          </p:cNvPr>
          <p:cNvSpPr/>
          <p:nvPr/>
        </p:nvSpPr>
        <p:spPr>
          <a:xfrm>
            <a:off x="164468" y="4244826"/>
            <a:ext cx="4912518" cy="158461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3174FE6-68E9-2352-6530-BAB6D278431B}"/>
              </a:ext>
            </a:extLst>
          </p:cNvPr>
          <p:cNvSpPr/>
          <p:nvPr/>
        </p:nvSpPr>
        <p:spPr>
          <a:xfrm>
            <a:off x="4786699" y="397191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2BA1C90-ECC6-5EA3-C1C9-9B8E0FE1D787}"/>
              </a:ext>
            </a:extLst>
          </p:cNvPr>
          <p:cNvSpPr/>
          <p:nvPr/>
        </p:nvSpPr>
        <p:spPr>
          <a:xfrm>
            <a:off x="2828764" y="5419199"/>
            <a:ext cx="138642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참여 서류 추가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CE5A961-676E-87C5-61A5-55E7E77F307A}"/>
              </a:ext>
            </a:extLst>
          </p:cNvPr>
          <p:cNvSpPr/>
          <p:nvPr/>
        </p:nvSpPr>
        <p:spPr>
          <a:xfrm>
            <a:off x="4274932" y="5419199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0CEA2D1-5982-12F2-C53A-F8D947753140}"/>
              </a:ext>
            </a:extLst>
          </p:cNvPr>
          <p:cNvSpPr/>
          <p:nvPr/>
        </p:nvSpPr>
        <p:spPr>
          <a:xfrm>
            <a:off x="295688" y="4341214"/>
            <a:ext cx="1524456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추가</a:t>
            </a: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B867D6AE-7067-8CC7-4927-2B1C4F63FD52}"/>
              </a:ext>
            </a:extLst>
          </p:cNvPr>
          <p:cNvGraphicFramePr>
            <a:graphicFrameLocks noGrp="1"/>
          </p:cNvGraphicFramePr>
          <p:nvPr/>
        </p:nvGraphicFramePr>
        <p:xfrm>
          <a:off x="294651" y="4650072"/>
          <a:ext cx="4656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39521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참여 서류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52159"/>
                  </a:ext>
                </a:extLst>
              </a:tr>
            </a:tbl>
          </a:graphicData>
        </a:graphic>
      </p:graphicFrame>
      <p:sp>
        <p:nvSpPr>
          <p:cNvPr id="75" name="직사각형 74">
            <a:extLst>
              <a:ext uri="{FF2B5EF4-FFF2-40B4-BE49-F238E27FC236}">
                <a16:creationId xmlns:a16="http://schemas.microsoft.com/office/drawing/2014/main" id="{10265AB8-56AB-AD23-BDF8-4778583B7BAC}"/>
              </a:ext>
            </a:extLst>
          </p:cNvPr>
          <p:cNvSpPr/>
          <p:nvPr/>
        </p:nvSpPr>
        <p:spPr>
          <a:xfrm>
            <a:off x="1636684" y="4707307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A229E3C-80CB-A81E-A5D2-FD33E22F60CA}"/>
              </a:ext>
            </a:extLst>
          </p:cNvPr>
          <p:cNvSpPr/>
          <p:nvPr/>
        </p:nvSpPr>
        <p:spPr>
          <a:xfrm>
            <a:off x="1636684" y="5037285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5BEADB-9A29-2906-04E6-20E223771B30}"/>
              </a:ext>
            </a:extLst>
          </p:cNvPr>
          <p:cNvSpPr/>
          <p:nvPr/>
        </p:nvSpPr>
        <p:spPr>
          <a:xfrm>
            <a:off x="164468" y="449793"/>
            <a:ext cx="491251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수의계약 참여 서류 불러오기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91E674-2698-C3EF-84D6-672CFD34C9DF}"/>
              </a:ext>
            </a:extLst>
          </p:cNvPr>
          <p:cNvSpPr/>
          <p:nvPr/>
        </p:nvSpPr>
        <p:spPr>
          <a:xfrm>
            <a:off x="164468" y="722706"/>
            <a:ext cx="4912518" cy="30899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94390A-2EED-318A-D3B2-3949B7AF4C50}"/>
              </a:ext>
            </a:extLst>
          </p:cNvPr>
          <p:cNvSpPr/>
          <p:nvPr/>
        </p:nvSpPr>
        <p:spPr>
          <a:xfrm>
            <a:off x="4786699" y="44979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62F186A-1C92-8A89-CA69-11CC03227323}"/>
              </a:ext>
            </a:extLst>
          </p:cNvPr>
          <p:cNvGraphicFramePr>
            <a:graphicFrameLocks noGrp="1"/>
          </p:cNvGraphicFramePr>
          <p:nvPr/>
        </p:nvGraphicFramePr>
        <p:xfrm>
          <a:off x="294652" y="1933100"/>
          <a:ext cx="4657490" cy="1351680"/>
        </p:xfrm>
        <a:graphic>
          <a:graphicData uri="http://schemas.openxmlformats.org/drawingml/2006/table">
            <a:tbl>
              <a:tblPr firstRow="1" bandRow="1"/>
              <a:tblGrid>
                <a:gridCol w="3160692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669838">
                  <a:extLst>
                    <a:ext uri="{9D8B030D-6E8A-4147-A177-3AD203B41FA5}">
                      <a16:colId xmlns:a16="http://schemas.microsoft.com/office/drawing/2014/main" val="3081933007"/>
                    </a:ext>
                  </a:extLst>
                </a:gridCol>
                <a:gridCol w="826960">
                  <a:extLst>
                    <a:ext uri="{9D8B030D-6E8A-4147-A177-3AD203B41FA5}">
                      <a16:colId xmlns:a16="http://schemas.microsoft.com/office/drawing/2014/main" val="634847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서류 명칭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사업에 쓰이는 입찰 서류 목록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AD1E2A-891C-8F35-8C1B-F349809E5391}"/>
              </a:ext>
            </a:extLst>
          </p:cNvPr>
          <p:cNvSpPr/>
          <p:nvPr/>
        </p:nvSpPr>
        <p:spPr>
          <a:xfrm>
            <a:off x="295688" y="820655"/>
            <a:ext cx="209672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수의계약 참여 서류 불러오기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F12D24-FF39-713D-A967-122F495F8766}"/>
              </a:ext>
            </a:extLst>
          </p:cNvPr>
          <p:cNvSpPr/>
          <p:nvPr/>
        </p:nvSpPr>
        <p:spPr>
          <a:xfrm>
            <a:off x="4270074" y="2330626"/>
            <a:ext cx="555412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F8EA5FA-8ACE-6DAB-BAEB-719D1566C232}"/>
              </a:ext>
            </a:extLst>
          </p:cNvPr>
          <p:cNvGrpSpPr/>
          <p:nvPr/>
        </p:nvGrpSpPr>
        <p:grpSpPr>
          <a:xfrm>
            <a:off x="711628" y="3378067"/>
            <a:ext cx="4025354" cy="216024"/>
            <a:chOff x="2992062" y="4869160"/>
            <a:chExt cx="4025354" cy="21602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546708E-5C4B-E4B9-1570-BC9C3DEC1EB9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81F2DB5-9664-8CCD-8D04-D0EA63CE45D2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CD05896-45BF-9D60-03B7-B336218DA8D9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80FB8CB-741F-7664-6A7B-BFA9A346F921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600D17A-019A-1EC6-CBB6-6BB801DF685C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7829BAF-7A87-BA61-781B-F10CB95B7645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76144D1-7247-4C3F-9F01-FBF01DAED2F5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F7BEC63-2404-4B1F-143E-AB43BBDE52F8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9A21694-0C39-A982-C570-3D2FD95134AB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8C7BDCA-B618-F7B1-944E-182883D0217B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CBEF679-CFEE-E8A1-B920-732E197C1DC6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270E8E4-5674-2C02-9A97-25E05DCF873D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923BE28-1EB0-C1CD-823C-E89A45D9A70F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1594486-5B75-484C-C9DF-5B14C55A152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228A49-84EA-771E-F601-AE9B3B3786B8}"/>
              </a:ext>
            </a:extLst>
          </p:cNvPr>
          <p:cNvSpPr/>
          <p:nvPr/>
        </p:nvSpPr>
        <p:spPr>
          <a:xfrm>
            <a:off x="288346" y="1151740"/>
            <a:ext cx="4656852" cy="389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3C6AAB5-C974-A6FA-27D6-ADAD0DD59020}"/>
              </a:ext>
            </a:extLst>
          </p:cNvPr>
          <p:cNvSpPr/>
          <p:nvPr/>
        </p:nvSpPr>
        <p:spPr>
          <a:xfrm>
            <a:off x="1220656" y="1246197"/>
            <a:ext cx="269293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CC39324-C2A8-8D5A-C4E8-EAD77DE86C15}"/>
              </a:ext>
            </a:extLst>
          </p:cNvPr>
          <p:cNvSpPr/>
          <p:nvPr/>
        </p:nvSpPr>
        <p:spPr>
          <a:xfrm>
            <a:off x="3965600" y="1246199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F8EB69-69C4-B21D-CCC2-19886069EAE6}"/>
              </a:ext>
            </a:extLst>
          </p:cNvPr>
          <p:cNvSpPr txBox="1"/>
          <p:nvPr/>
        </p:nvSpPr>
        <p:spPr>
          <a:xfrm>
            <a:off x="359727" y="1253342"/>
            <a:ext cx="16789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서류 명칭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50624E1-74F7-CF9B-C3C2-E202498C9AA7}"/>
              </a:ext>
            </a:extLst>
          </p:cNvPr>
          <p:cNvSpPr/>
          <p:nvPr/>
        </p:nvSpPr>
        <p:spPr>
          <a:xfrm>
            <a:off x="4270074" y="2667187"/>
            <a:ext cx="555412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B0EA3D8-1256-B4D1-2ACC-2D3783A6DDB7}"/>
              </a:ext>
            </a:extLst>
          </p:cNvPr>
          <p:cNvSpPr/>
          <p:nvPr/>
        </p:nvSpPr>
        <p:spPr>
          <a:xfrm>
            <a:off x="4270074" y="3002766"/>
            <a:ext cx="555412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E224CBD-8185-CDD5-BA12-AA4BB06F2774}"/>
              </a:ext>
            </a:extLst>
          </p:cNvPr>
          <p:cNvSpPr/>
          <p:nvPr/>
        </p:nvSpPr>
        <p:spPr>
          <a:xfrm>
            <a:off x="3915239" y="164886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6C72EA1-5679-F78A-4F2C-7737C368106B}"/>
              </a:ext>
            </a:extLst>
          </p:cNvPr>
          <p:cNvSpPr/>
          <p:nvPr/>
        </p:nvSpPr>
        <p:spPr>
          <a:xfrm>
            <a:off x="4736701" y="164886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775549-99B8-1DC8-7A7A-91DF2E5086B5}"/>
              </a:ext>
            </a:extLst>
          </p:cNvPr>
          <p:cNvSpPr txBox="1"/>
          <p:nvPr/>
        </p:nvSpPr>
        <p:spPr>
          <a:xfrm>
            <a:off x="288346" y="1635351"/>
            <a:ext cx="2994059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C320044-A4F9-4BAA-AF9F-5E24889C21F3}"/>
              </a:ext>
            </a:extLst>
          </p:cNvPr>
          <p:cNvSpPr/>
          <p:nvPr/>
        </p:nvSpPr>
        <p:spPr>
          <a:xfrm>
            <a:off x="130450" y="32027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AFCD73D-B6A9-9C57-E05E-5ADC7B38B665}"/>
              </a:ext>
            </a:extLst>
          </p:cNvPr>
          <p:cNvSpPr/>
          <p:nvPr/>
        </p:nvSpPr>
        <p:spPr>
          <a:xfrm>
            <a:off x="130450" y="383768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9799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9AABA-8E30-E120-249A-B259A8F0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0A7B05E-1F18-1980-CF7C-4F255D94A4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C4F5C7-94C0-720B-D2E0-CB2E324564DC}"/>
              </a:ext>
            </a:extLst>
          </p:cNvPr>
          <p:cNvSpPr txBox="1"/>
          <p:nvPr/>
        </p:nvSpPr>
        <p:spPr>
          <a:xfrm>
            <a:off x="749224" y="25608"/>
            <a:ext cx="3345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32AAB6-6C2B-D7A9-1389-6C5050ECA58C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7B923BC-5474-238F-1E1E-68D625D1F9B0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954D4B-D130-6488-55C2-697287A099FE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53CA75-86CB-1DAE-848A-411B0F62291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3197D4D6-9E53-E7C7-6CEF-7A4E99CA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9344EE1-7BE1-066A-7CDA-1C2E1E9486E1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D6BEBC-7C63-0043-C1CB-455E93020A6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CA7861-67DA-AB42-C57C-C8493F767676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F270E3-0054-BE58-DB89-8E86B5553F4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예정가로 설정된 경우에만 보여줌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B908DFB-9BB6-E1CE-24C4-86C72C1BAA4B}"/>
              </a:ext>
            </a:extLst>
          </p:cNvPr>
          <p:cNvGrpSpPr/>
          <p:nvPr/>
        </p:nvGrpSpPr>
        <p:grpSpPr>
          <a:xfrm>
            <a:off x="164467" y="826923"/>
            <a:ext cx="7713518" cy="643315"/>
            <a:chOff x="164467" y="826923"/>
            <a:chExt cx="6588733" cy="6433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C20B769-6F97-7359-712C-87386D05F68E}"/>
                </a:ext>
              </a:extLst>
            </p:cNvPr>
            <p:cNvSpPr/>
            <p:nvPr/>
          </p:nvSpPr>
          <p:spPr>
            <a:xfrm>
              <a:off x="12743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상세정보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C39D20F-5476-F078-84B0-9C960E43D0EE}"/>
                </a:ext>
              </a:extLst>
            </p:cNvPr>
            <p:cNvSpPr/>
            <p:nvPr/>
          </p:nvSpPr>
          <p:spPr>
            <a:xfrm>
              <a:off x="23841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예정가</a:t>
              </a:r>
              <a:endPara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8DC7B32-3609-D024-5098-CDC0C9E27FDD}"/>
                </a:ext>
              </a:extLst>
            </p:cNvPr>
            <p:cNvSpPr/>
            <p:nvPr/>
          </p:nvSpPr>
          <p:spPr>
            <a:xfrm>
              <a:off x="4603867" y="826923"/>
              <a:ext cx="1039485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2B08EB5-EEE3-4760-4799-5BFDA3808D75}"/>
                </a:ext>
              </a:extLst>
            </p:cNvPr>
            <p:cNvSpPr/>
            <p:nvPr/>
          </p:nvSpPr>
          <p:spPr>
            <a:xfrm>
              <a:off x="5713715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E553E96-0F0B-2E18-90AC-1C29CDE509BF}"/>
                </a:ext>
              </a:extLst>
            </p:cNvPr>
            <p:cNvSpPr/>
            <p:nvPr/>
          </p:nvSpPr>
          <p:spPr>
            <a:xfrm>
              <a:off x="34940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참여 서류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E666E26-1D1A-023C-704C-074E09C91181}"/>
                </a:ext>
              </a:extLst>
            </p:cNvPr>
            <p:cNvSpPr/>
            <p:nvPr/>
          </p:nvSpPr>
          <p:spPr>
            <a:xfrm>
              <a:off x="1644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정보 확인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E30DD50-42A9-4BD8-83F7-6410ABBF5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062486"/>
              </p:ext>
            </p:extLst>
          </p:nvPr>
        </p:nvGraphicFramePr>
        <p:xfrm>
          <a:off x="164465" y="1556402"/>
          <a:ext cx="7713519" cy="675840"/>
        </p:xfrm>
        <a:graphic>
          <a:graphicData uri="http://schemas.openxmlformats.org/drawingml/2006/table">
            <a:tbl>
              <a:tblPr firstRow="1" bandRow="1"/>
              <a:tblGrid>
                <a:gridCol w="85541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67544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9631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3002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2382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5442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A95CE45-786C-5798-0A10-956DC957D6C4}"/>
              </a:ext>
            </a:extLst>
          </p:cNvPr>
          <p:cNvSpPr/>
          <p:nvPr/>
        </p:nvSpPr>
        <p:spPr>
          <a:xfrm>
            <a:off x="183392" y="233123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상세정보 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‘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02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상세정보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CC84DA8-E263-16F2-08C9-B52A6F8B23A7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629411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요청기간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2026.07.31 09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~ 2026.08.15 18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393C7D40-B09D-6C93-36C9-00CF59F6BE43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952322"/>
          <a:ext cx="7776865" cy="10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3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89591"/>
                  </a:ext>
                </a:extLst>
              </a:tr>
            </a:tbl>
          </a:graphicData>
        </a:graphic>
      </p:graphicFrame>
      <p:sp>
        <p:nvSpPr>
          <p:cNvPr id="88" name="직사각형 87">
            <a:extLst>
              <a:ext uri="{FF2B5EF4-FFF2-40B4-BE49-F238E27FC236}">
                <a16:creationId xmlns:a16="http://schemas.microsoft.com/office/drawing/2014/main" id="{E7A9ECFE-84F1-D0AE-6F71-ACB1BF19DF8D}"/>
              </a:ext>
            </a:extLst>
          </p:cNvPr>
          <p:cNvSpPr/>
          <p:nvPr/>
        </p:nvSpPr>
        <p:spPr>
          <a:xfrm>
            <a:off x="183392" y="414908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가능 업체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57E05460-D785-4562-FCEC-67182EEAAD8B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437240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2218358209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37664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참여 가능 업체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(주)큐비트엑스(135-81-77202)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328"/>
                  </a:ext>
                </a:extLst>
              </a:tr>
            </a:tbl>
          </a:graphicData>
        </a:graphic>
      </p:graphicFrame>
      <p:grpSp>
        <p:nvGrpSpPr>
          <p:cNvPr id="97" name="그룹 96">
            <a:extLst>
              <a:ext uri="{FF2B5EF4-FFF2-40B4-BE49-F238E27FC236}">
                <a16:creationId xmlns:a16="http://schemas.microsoft.com/office/drawing/2014/main" id="{3D84DC4C-D348-FE2D-35A8-67A35D677CC3}"/>
              </a:ext>
            </a:extLst>
          </p:cNvPr>
          <p:cNvGrpSpPr/>
          <p:nvPr/>
        </p:nvGrpSpPr>
        <p:grpSpPr>
          <a:xfrm>
            <a:off x="2777097" y="3012102"/>
            <a:ext cx="1275802" cy="198885"/>
            <a:chOff x="2576736" y="3905324"/>
            <a:chExt cx="1275802" cy="198885"/>
          </a:xfrm>
        </p:grpSpPr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ED6F2F0-28B9-02E9-A89A-C1E63D3F6561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B9EE2416-AFB1-718F-1F62-DCC91A4BDF0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C245E6AE-CE7C-916B-3D1A-8F0C8F941956}"/>
              </a:ext>
            </a:extLst>
          </p:cNvPr>
          <p:cNvGrpSpPr/>
          <p:nvPr/>
        </p:nvGrpSpPr>
        <p:grpSpPr>
          <a:xfrm>
            <a:off x="2777097" y="3243965"/>
            <a:ext cx="1275802" cy="198885"/>
            <a:chOff x="2576736" y="3905324"/>
            <a:chExt cx="1275802" cy="198885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EE476B4B-835C-D397-64AE-375610C51F06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1AD3780A-1D33-DE02-23C0-CE730AE1A91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5DC14D3-E2D9-19C7-E8DC-29690372E2E8}"/>
              </a:ext>
            </a:extLst>
          </p:cNvPr>
          <p:cNvGrpSpPr/>
          <p:nvPr/>
        </p:nvGrpSpPr>
        <p:grpSpPr>
          <a:xfrm>
            <a:off x="2777097" y="3545386"/>
            <a:ext cx="1275802" cy="198885"/>
            <a:chOff x="2576736" y="3905324"/>
            <a:chExt cx="1275802" cy="198885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AC339EDA-E40A-3D39-86D2-CCA8AD75DDD6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F947F36A-EA7B-619B-642C-C977E39FE6DC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B8D01A3C-FBE6-928C-B37D-43ADEB8FBA1D}"/>
              </a:ext>
            </a:extLst>
          </p:cNvPr>
          <p:cNvGrpSpPr/>
          <p:nvPr/>
        </p:nvGrpSpPr>
        <p:grpSpPr>
          <a:xfrm>
            <a:off x="2777097" y="3777249"/>
            <a:ext cx="1275802" cy="198885"/>
            <a:chOff x="2576736" y="3905324"/>
            <a:chExt cx="1275802" cy="198885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303C53AD-6815-5AA3-2C9D-02B93609F42C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B41B25F2-4E85-26E5-5B7F-F997C1D02185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43A1E44-D8A8-3668-C782-56BE44859A5B}"/>
              </a:ext>
            </a:extLst>
          </p:cNvPr>
          <p:cNvSpPr/>
          <p:nvPr/>
        </p:nvSpPr>
        <p:spPr>
          <a:xfrm>
            <a:off x="183392" y="490210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‘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03 </a:t>
            </a:r>
            <a:r>
              <a:rPr lang="ko-KR" altLang="en-US" sz="800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29B3C20-935C-4B56-25DA-EB6E2412DFBE}"/>
              </a:ext>
            </a:extLst>
          </p:cNvPr>
          <p:cNvSpPr/>
          <p:nvPr/>
        </p:nvSpPr>
        <p:spPr>
          <a:xfrm>
            <a:off x="179899" y="5208431"/>
            <a:ext cx="7701579" cy="8675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1EF1D4F7-0ED7-0B47-CC0B-3C8464697826}"/>
              </a:ext>
            </a:extLst>
          </p:cNvPr>
          <p:cNvGraphicFramePr>
            <a:graphicFrameLocks noGrp="1"/>
          </p:cNvGraphicFramePr>
          <p:nvPr/>
        </p:nvGraphicFramePr>
        <p:xfrm>
          <a:off x="294012" y="5301924"/>
          <a:ext cx="3681972" cy="675840"/>
        </p:xfrm>
        <a:graphic>
          <a:graphicData uri="http://schemas.openxmlformats.org/drawingml/2006/table">
            <a:tbl>
              <a:tblPr firstRow="1" bandRow="1"/>
              <a:tblGrid>
                <a:gridCol w="122732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추정금액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26,482,500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AD88FAC-B8BA-B5DB-A6CB-3F4F91B6DD7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A839D067-B5B4-C1A7-45A9-9F2F80A3CAA2}"/>
              </a:ext>
            </a:extLst>
          </p:cNvPr>
          <p:cNvSpPr/>
          <p:nvPr/>
        </p:nvSpPr>
        <p:spPr>
          <a:xfrm>
            <a:off x="75380" y="474778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476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698C-04ED-8AF4-B3C6-99C47A03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20C1753-7E97-2FC7-10B2-055A8ED9B0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0C8333-181E-E83A-26A7-4673C5CED9E4}"/>
              </a:ext>
            </a:extLst>
          </p:cNvPr>
          <p:cNvSpPr txBox="1"/>
          <p:nvPr/>
        </p:nvSpPr>
        <p:spPr>
          <a:xfrm>
            <a:off x="749224" y="25608"/>
            <a:ext cx="3345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4367F5-5A39-8690-8A45-EEEC2B936115}"/>
              </a:ext>
            </a:extLst>
          </p:cNvPr>
          <p:cNvSpPr/>
          <p:nvPr/>
        </p:nvSpPr>
        <p:spPr>
          <a:xfrm>
            <a:off x="183392" y="40466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 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‘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04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참여 서류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B5CA9-0100-C873-942F-259A990328EF}"/>
              </a:ext>
            </a:extLst>
          </p:cNvPr>
          <p:cNvSpPr txBox="1"/>
          <p:nvPr/>
        </p:nvSpPr>
        <p:spPr>
          <a:xfrm>
            <a:off x="164468" y="676998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수의계약 참여 서류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6DD66AA-FDAE-4C0C-78F2-836114C9E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233314"/>
              </p:ext>
            </p:extLst>
          </p:nvPr>
        </p:nvGraphicFramePr>
        <p:xfrm>
          <a:off x="171331" y="960086"/>
          <a:ext cx="7710148" cy="1351680"/>
        </p:xfrm>
        <a:graphic>
          <a:graphicData uri="http://schemas.openxmlformats.org/drawingml/2006/table">
            <a:tbl>
              <a:tblPr firstRow="1" bandRow="1"/>
              <a:tblGrid>
                <a:gridCol w="3533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385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18231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7FF58A1-1253-B185-1201-759258FD8753}"/>
              </a:ext>
            </a:extLst>
          </p:cNvPr>
          <p:cNvSpPr txBox="1"/>
          <p:nvPr/>
        </p:nvSpPr>
        <p:spPr>
          <a:xfrm>
            <a:off x="8049344" y="584684"/>
            <a:ext cx="1856656" cy="1997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계획을 최종저장하면 더 이상 입력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설정한 내역을 수정할 수 없으며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조회화면으로 이동됨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요청에서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요청기간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에는 수의계약 계획으로 되돌려서 정보를 수정할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진행상태를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‘수의계약 요청기간’에 따라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공고대기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‘공고게시중’으로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변경함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3F35209-47CA-2B7F-6853-979B67310EBC}"/>
              </a:ext>
            </a:extLst>
          </p:cNvPr>
          <p:cNvSpPr/>
          <p:nvPr/>
        </p:nvSpPr>
        <p:spPr>
          <a:xfrm>
            <a:off x="75380" y="30645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81FE3AE-2192-D92B-9F35-2B8506CC7BD3}"/>
              </a:ext>
            </a:extLst>
          </p:cNvPr>
          <p:cNvSpPr/>
          <p:nvPr/>
        </p:nvSpPr>
        <p:spPr>
          <a:xfrm>
            <a:off x="164466" y="2411446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수의계약 계획에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설정한 내역을 모두 확인하였습니다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9290D2F-D72C-E96F-DC04-C225988D3C36}"/>
              </a:ext>
            </a:extLst>
          </p:cNvPr>
          <p:cNvSpPr/>
          <p:nvPr/>
        </p:nvSpPr>
        <p:spPr>
          <a:xfrm>
            <a:off x="6285148" y="2482953"/>
            <a:ext cx="15035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최종저장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91A2AC3-6F72-DA9B-AF18-C899D2A0D14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8BA09F7-2A34-0A9E-8E2E-DBD01B3C2133}"/>
              </a:ext>
            </a:extLst>
          </p:cNvPr>
          <p:cNvSpPr/>
          <p:nvPr/>
        </p:nvSpPr>
        <p:spPr>
          <a:xfrm>
            <a:off x="2972780" y="3178653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최종저장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 유의사항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BF227FC-921E-C863-E655-7A326F8B03A4}"/>
              </a:ext>
            </a:extLst>
          </p:cNvPr>
          <p:cNvSpPr/>
          <p:nvPr/>
        </p:nvSpPr>
        <p:spPr>
          <a:xfrm>
            <a:off x="2972780" y="3451566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54A178-1614-B2BC-AAFF-0ABC9FF7A15E}"/>
              </a:ext>
            </a:extLst>
          </p:cNvPr>
          <p:cNvSpPr/>
          <p:nvPr/>
        </p:nvSpPr>
        <p:spPr>
          <a:xfrm>
            <a:off x="6480112" y="317865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F83550F-6A93-6F52-16BA-A2FF16A040FA}"/>
              </a:ext>
            </a:extLst>
          </p:cNvPr>
          <p:cNvSpPr/>
          <p:nvPr/>
        </p:nvSpPr>
        <p:spPr>
          <a:xfrm>
            <a:off x="3080559" y="3864953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계획을 최종저장하면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더 이상 입력하신 내역이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계획을 최종저장하시겠습니까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4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BFD673BB-5FE8-CE74-3488-E13F8CB93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681" y="402157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BD29B223-7B10-D544-4F30-E04B9E2A382B}"/>
              </a:ext>
            </a:extLst>
          </p:cNvPr>
          <p:cNvSpPr/>
          <p:nvPr/>
        </p:nvSpPr>
        <p:spPr>
          <a:xfrm>
            <a:off x="5924117" y="4853320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B7A4636-12A2-C175-EBD9-62C13E7E334A}"/>
              </a:ext>
            </a:extLst>
          </p:cNvPr>
          <p:cNvSpPr/>
          <p:nvPr/>
        </p:nvSpPr>
        <p:spPr>
          <a:xfrm>
            <a:off x="3104000" y="3547954"/>
            <a:ext cx="222977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최종저장 시 유의사항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AD89A74-88F2-5F9C-3BE1-5D932C0F08A9}"/>
              </a:ext>
            </a:extLst>
          </p:cNvPr>
          <p:cNvSpPr/>
          <p:nvPr/>
        </p:nvSpPr>
        <p:spPr>
          <a:xfrm>
            <a:off x="4376937" y="4853320"/>
            <a:ext cx="148041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최종저장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1220F963-FB91-B2AE-ECDA-ABF5CDC2F4FC}"/>
              </a:ext>
            </a:extLst>
          </p:cNvPr>
          <p:cNvCxnSpPr>
            <a:cxnSpLocks/>
            <a:stCxn id="37" idx="1"/>
            <a:endCxn id="39" idx="0"/>
          </p:cNvCxnSpPr>
          <p:nvPr/>
        </p:nvCxnSpPr>
        <p:spPr>
          <a:xfrm rot="10800000" flipV="1">
            <a:off x="4862990" y="2626969"/>
            <a:ext cx="1422158" cy="551684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2570390F-E476-4B6A-7D5E-626A2E5EBAA0}"/>
              </a:ext>
            </a:extLst>
          </p:cNvPr>
          <p:cNvSpPr/>
          <p:nvPr/>
        </p:nvSpPr>
        <p:spPr>
          <a:xfrm>
            <a:off x="6165814" y="236613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093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ADB4-268F-28E5-A4B1-2259D129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404FBC3-35AB-55E8-DBD7-890F14D37C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29B34-EB8D-D9A3-106A-FE0B7598C27E}"/>
              </a:ext>
            </a:extLst>
          </p:cNvPr>
          <p:cNvSpPr txBox="1"/>
          <p:nvPr/>
        </p:nvSpPr>
        <p:spPr>
          <a:xfrm>
            <a:off x="749224" y="25608"/>
            <a:ext cx="39805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등록 완료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5ECD336-E0FA-B687-4E86-8D90898CA4BE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6D930C7-482B-0E19-5F53-4F3009C4D5E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E1DE84-2AF9-9128-4F75-60FEF359FAFE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AB784E-DC9F-C637-9D05-1B0D9659950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53D8B5DF-5384-515B-7FEE-B3D7FAFB6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68D79C4-EB15-1FCD-8520-A0AE99A4709B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7B7DE1-DA5A-ACE8-E6C7-1E62CEC21681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5F43CE-597A-14D4-8EE4-18BA326E7440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9F1F0-71B1-DC1A-3E1A-DA7E40A0729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예정가가 있는 경우에만 보여줌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59B804D-4503-6D2E-5756-859D5D337899}"/>
              </a:ext>
            </a:extLst>
          </p:cNvPr>
          <p:cNvGrpSpPr/>
          <p:nvPr/>
        </p:nvGrpSpPr>
        <p:grpSpPr>
          <a:xfrm>
            <a:off x="164467" y="826923"/>
            <a:ext cx="7713518" cy="643315"/>
            <a:chOff x="164467" y="826923"/>
            <a:chExt cx="6588733" cy="6433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2538467-AB42-51D7-EE6F-A5C128714608}"/>
                </a:ext>
              </a:extLst>
            </p:cNvPr>
            <p:cNvSpPr/>
            <p:nvPr/>
          </p:nvSpPr>
          <p:spPr>
            <a:xfrm>
              <a:off x="12743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상세정보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9E48FD5-CBEA-2673-4B7C-599D3F725260}"/>
                </a:ext>
              </a:extLst>
            </p:cNvPr>
            <p:cNvSpPr/>
            <p:nvPr/>
          </p:nvSpPr>
          <p:spPr>
            <a:xfrm>
              <a:off x="23841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예정가</a:t>
              </a:r>
              <a:endPara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61CD4D2-63CA-083F-A8D7-B8642C071E5D}"/>
                </a:ext>
              </a:extLst>
            </p:cNvPr>
            <p:cNvSpPr/>
            <p:nvPr/>
          </p:nvSpPr>
          <p:spPr>
            <a:xfrm>
              <a:off x="46038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B17A953-90DC-6CF6-F27C-9C24227A70A2}"/>
                </a:ext>
              </a:extLst>
            </p:cNvPr>
            <p:cNvSpPr/>
            <p:nvPr/>
          </p:nvSpPr>
          <p:spPr>
            <a:xfrm>
              <a:off x="5713715" y="826923"/>
              <a:ext cx="1039485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695A930-E43C-589A-E84A-0EFD0EBD56A8}"/>
                </a:ext>
              </a:extLst>
            </p:cNvPr>
            <p:cNvSpPr/>
            <p:nvPr/>
          </p:nvSpPr>
          <p:spPr>
            <a:xfrm>
              <a:off x="349401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72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수의계약 참여 서류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C969DE6-F57A-6059-CCC7-F5F86A1C8EFB}"/>
                </a:ext>
              </a:extLst>
            </p:cNvPr>
            <p:cNvSpPr/>
            <p:nvPr/>
          </p:nvSpPr>
          <p:spPr>
            <a:xfrm>
              <a:off x="164467" y="826923"/>
              <a:ext cx="1039485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정보 확인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8953BA8-E170-98BE-1CBE-44839DBA5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416518"/>
              </p:ext>
            </p:extLst>
          </p:nvPr>
        </p:nvGraphicFramePr>
        <p:xfrm>
          <a:off x="164465" y="1556402"/>
          <a:ext cx="7713519" cy="675840"/>
        </p:xfrm>
        <a:graphic>
          <a:graphicData uri="http://schemas.openxmlformats.org/drawingml/2006/table">
            <a:tbl>
              <a:tblPr firstRow="1" bandRow="1"/>
              <a:tblGrid>
                <a:gridCol w="85541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67544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9631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3002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2382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35754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5442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172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공고대기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BA9ECFF-68A8-0548-86AC-1F2E88D3FC21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3B84E1-99AA-C0AA-7E09-6A9DC237C878}"/>
              </a:ext>
            </a:extLst>
          </p:cNvPr>
          <p:cNvSpPr/>
          <p:nvPr/>
        </p:nvSpPr>
        <p:spPr>
          <a:xfrm>
            <a:off x="163127" y="2323851"/>
            <a:ext cx="7740859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등록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설정이 완료되고 수의계약 현황 단계로 전개되었습니다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수의계약 계획은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메뉴에서 확인하실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메뉴를 통해 이후 단계를 진행하실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2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EBAE1769-AB61-56B2-D54C-11127A75D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50" y="2427351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9DA368D2-465D-8B43-8C8B-B09AC95FBC55}"/>
              </a:ext>
            </a:extLst>
          </p:cNvPr>
          <p:cNvSpPr/>
          <p:nvPr/>
        </p:nvSpPr>
        <p:spPr>
          <a:xfrm>
            <a:off x="6321151" y="3210226"/>
            <a:ext cx="15568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‘수의계약 현황’ 바로가기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480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0268-61AB-5862-03A2-C2E4FC4FB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1302F93-7387-66C5-2C7F-6A83250ED0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5F4E0-6D74-E8A1-F86D-29B590FD5C25}"/>
              </a:ext>
            </a:extLst>
          </p:cNvPr>
          <p:cNvSpPr txBox="1"/>
          <p:nvPr/>
        </p:nvSpPr>
        <p:spPr>
          <a:xfrm>
            <a:off x="749224" y="25608"/>
            <a:ext cx="19623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416FDF-E29A-F8D5-75CA-54B55D8EAC88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ED31410-C6F3-7446-C260-13021960EC7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DED486D-D3BE-CF42-0ED2-D0636BDE941A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4E5C51-7AE0-1A35-DE70-90C4CC5B451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BCA19F-801D-4F71-AB5C-9DD0552496E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E95E6398-7CC2-B943-D55A-30C956E26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891FD04-D29B-75F9-9C2D-2D58A0644F1F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883909-F45D-53E1-268F-195670EA8832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AB544A-0F73-0D91-6F18-9811BCA207E7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001C535-FC1D-8BDF-0543-B51567CCE201}"/>
              </a:ext>
            </a:extLst>
          </p:cNvPr>
          <p:cNvSpPr txBox="1"/>
          <p:nvPr/>
        </p:nvSpPr>
        <p:spPr>
          <a:xfrm>
            <a:off x="8049344" y="584684"/>
            <a:ext cx="1856656" cy="71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진행상태 정리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노란색 영역 참고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92229C08-DF4C-1A44-BC8A-E2EA79A03F86}"/>
              </a:ext>
            </a:extLst>
          </p:cNvPr>
          <p:cNvSpPr/>
          <p:nvPr/>
        </p:nvSpPr>
        <p:spPr>
          <a:xfrm>
            <a:off x="164468" y="834983"/>
            <a:ext cx="7740859" cy="133387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18957A1-AA8A-879B-6FE8-7A490D83F407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5115063-0636-3FEF-96C9-76B11498EFEF}"/>
              </a:ext>
            </a:extLst>
          </p:cNvPr>
          <p:cNvSpPr txBox="1"/>
          <p:nvPr/>
        </p:nvSpPr>
        <p:spPr>
          <a:xfrm>
            <a:off x="235849" y="1797213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CCFF87DA-AE49-02E4-7441-1A73D7138B50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1793519D-4F94-7BAA-A3E4-91B998C63B65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DDC66B8A-401B-027E-834B-2A10B0B0E302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96359CC-D58C-4661-DB02-274DAFBCA237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1646A64-5EA4-5730-A9DC-FF9D258D65AB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0778480-91B8-48D5-DDF5-ADADA9C80168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CCB17581-0B6F-F3AF-3854-F4E20706140F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9C6C363-E817-C520-19D9-33CB304799FE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93D3B72-B1FA-ADF8-0CFF-7C0BA02CC4DF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B87B1E9-B715-CD44-C07B-09D53D59298B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275EF96-A1CC-442E-8F66-662B75AC2655}"/>
              </a:ext>
            </a:extLst>
          </p:cNvPr>
          <p:cNvSpPr txBox="1"/>
          <p:nvPr/>
        </p:nvSpPr>
        <p:spPr>
          <a:xfrm>
            <a:off x="235849" y="124253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견적유형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0598A839-B95D-3173-C0A2-2008CE711228}"/>
              </a:ext>
            </a:extLst>
          </p:cNvPr>
          <p:cNvSpPr/>
          <p:nvPr/>
        </p:nvSpPr>
        <p:spPr>
          <a:xfrm>
            <a:off x="1408523" y="179006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8FA4F9C-575D-768A-32BC-1343DB9131F1}"/>
              </a:ext>
            </a:extLst>
          </p:cNvPr>
          <p:cNvSpPr/>
          <p:nvPr/>
        </p:nvSpPr>
        <p:spPr>
          <a:xfrm>
            <a:off x="2218774" y="179007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143BDAC9-7DED-46C3-FD1A-5DB51C2B52BD}"/>
              </a:ext>
            </a:extLst>
          </p:cNvPr>
          <p:cNvSpPr/>
          <p:nvPr/>
        </p:nvSpPr>
        <p:spPr>
          <a:xfrm>
            <a:off x="2533911" y="179006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012AE15E-179D-B804-81E2-47CCC046DEC6}"/>
              </a:ext>
            </a:extLst>
          </p:cNvPr>
          <p:cNvSpPr/>
          <p:nvPr/>
        </p:nvSpPr>
        <p:spPr>
          <a:xfrm>
            <a:off x="6241919" y="179007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2E23517B-497B-3828-BDA7-C9ED836AC2D2}"/>
              </a:ext>
            </a:extLst>
          </p:cNvPr>
          <p:cNvSpPr/>
          <p:nvPr/>
        </p:nvSpPr>
        <p:spPr>
          <a:xfrm>
            <a:off x="5856272" y="226451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E0C13D1C-E555-D5CF-E600-B352FC42B150}"/>
              </a:ext>
            </a:extLst>
          </p:cNvPr>
          <p:cNvSpPr/>
          <p:nvPr/>
        </p:nvSpPr>
        <p:spPr>
          <a:xfrm>
            <a:off x="6677734" y="226451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E03DDEF-EC73-FBC7-9E7F-F4388F91A8B2}"/>
              </a:ext>
            </a:extLst>
          </p:cNvPr>
          <p:cNvSpPr txBox="1"/>
          <p:nvPr/>
        </p:nvSpPr>
        <p:spPr>
          <a:xfrm>
            <a:off x="181506" y="225099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15D8EB7D-C506-EB62-6DAB-8C9BC60452A8}"/>
              </a:ext>
            </a:extLst>
          </p:cNvPr>
          <p:cNvSpPr/>
          <p:nvPr/>
        </p:nvSpPr>
        <p:spPr>
          <a:xfrm>
            <a:off x="6982990" y="2264512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AB35C0B2-4869-EFAF-7500-DFAD8DCCE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167616"/>
              </p:ext>
            </p:extLst>
          </p:nvPr>
        </p:nvGraphicFramePr>
        <p:xfrm>
          <a:off x="164468" y="2559960"/>
          <a:ext cx="9124625" cy="3041280"/>
        </p:xfrm>
        <a:graphic>
          <a:graphicData uri="http://schemas.openxmlformats.org/drawingml/2006/table">
            <a:tbl>
              <a:tblPr firstRow="1" bandRow="1"/>
              <a:tblGrid>
                <a:gridCol w="45038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4091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82150">
                  <a:extLst>
                    <a:ext uri="{9D8B030D-6E8A-4147-A177-3AD203B41FA5}">
                      <a16:colId xmlns:a16="http://schemas.microsoft.com/office/drawing/2014/main" val="3079170989"/>
                    </a:ext>
                  </a:extLst>
                </a:gridCol>
                <a:gridCol w="12266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867900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공고대기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공고게시중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66873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24967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견적제출 완료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가격협의 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계약품의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전자결재 요청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033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계약품의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전자결재 완료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27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본공고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취소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4116"/>
                  </a:ext>
                </a:extLst>
              </a:tr>
            </a:tbl>
          </a:graphicData>
        </a:graphic>
      </p:graphicFrame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97CAAF36-B90E-583E-CF22-56BCC755CB8D}"/>
              </a:ext>
            </a:extLst>
          </p:cNvPr>
          <p:cNvGrpSpPr/>
          <p:nvPr/>
        </p:nvGrpSpPr>
        <p:grpSpPr>
          <a:xfrm>
            <a:off x="2004219" y="5733256"/>
            <a:ext cx="4025354" cy="216024"/>
            <a:chOff x="2992062" y="4869160"/>
            <a:chExt cx="4025354" cy="216024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AFF86317-4A22-93E9-ABCD-F72D0C567E7F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2824A7A-2891-660A-83A6-5AA74AEB0AFB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7B04895-BCF6-B521-8B99-7ACFD2AD815D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52ABFC33-A453-4EF5-E7A0-E9015D0EEA30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CAABA6BF-12CA-40F3-0352-55A04DC997EF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A78BCB73-0AA5-2CFB-BB2C-D6B01DD4A30B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01E78D15-A1FE-FAA3-0F54-A1DE39F727CC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A4EC0548-5037-B15B-56BA-1168A941D628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86C8BD4E-A7CB-AF08-F512-80ED8CE31C14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8CF79A09-E80F-D1BB-5EDA-41643572D04D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CD7DD6D1-923D-AB74-B051-54B5B1F28DBF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85FBCE12-E3A8-C09E-B22B-D1C245CFF189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87A7BFEE-0634-A136-F346-6CCD1E737B30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7C99FCFE-14E9-0B48-79C7-AF329262623C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80" name="타원 179">
            <a:extLst>
              <a:ext uri="{FF2B5EF4-FFF2-40B4-BE49-F238E27FC236}">
                <a16:creationId xmlns:a16="http://schemas.microsoft.com/office/drawing/2014/main" id="{41795222-8789-A39B-78D0-B89EE81D0565}"/>
              </a:ext>
            </a:extLst>
          </p:cNvPr>
          <p:cNvSpPr/>
          <p:nvPr/>
        </p:nvSpPr>
        <p:spPr>
          <a:xfrm>
            <a:off x="43577" y="24105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816DFF-7D3D-3658-7E38-62F8BDA01D57}"/>
              </a:ext>
            </a:extLst>
          </p:cNvPr>
          <p:cNvSpPr txBox="1"/>
          <p:nvPr/>
        </p:nvSpPr>
        <p:spPr>
          <a:xfrm>
            <a:off x="235849" y="1517013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진행상태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605EB4-8192-B455-122C-F0D9573B1422}"/>
              </a:ext>
            </a:extLst>
          </p:cNvPr>
          <p:cNvSpPr/>
          <p:nvPr/>
        </p:nvSpPr>
        <p:spPr>
          <a:xfrm>
            <a:off x="2045556" y="2905773"/>
            <a:ext cx="1215256" cy="2695467"/>
          </a:xfrm>
          <a:prstGeom prst="rect">
            <a:avLst/>
          </a:prstGeom>
          <a:noFill/>
          <a:ln w="31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646F6D-9EB2-71FD-2428-C867B2E1EF31}"/>
              </a:ext>
            </a:extLst>
          </p:cNvPr>
          <p:cNvSpPr txBox="1"/>
          <p:nvPr/>
        </p:nvSpPr>
        <p:spPr>
          <a:xfrm>
            <a:off x="3543455" y="4005064"/>
            <a:ext cx="3900921" cy="1615827"/>
          </a:xfrm>
          <a:prstGeom prst="rect">
            <a:avLst/>
          </a:prstGeom>
          <a:solidFill>
            <a:srgbClr val="FFFF00">
              <a:alpha val="69804"/>
            </a:srgbClr>
          </a:solidFill>
        </p:spPr>
        <p:txBody>
          <a:bodyPr wrap="square">
            <a:spAutoFit/>
          </a:bodyPr>
          <a:lstStyle/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공고대기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요청기간 전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공고게시중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요청기간 중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위해 견적 요청 상태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견적제출 완료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위해 해당 업체가 견적을 제출한 상태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가격협의 완료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협의가 종료된 상태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계약품의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계약품의로 전자결재를 요청한 상태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계약품의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완료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계약품의 전자결재가 종료된 상태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최종상태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취소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특정 사정에 의해 수의계약 취소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D6BEDEE3-F9FC-4AF7-D403-5821CBB001F0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3260812" y="4253507"/>
            <a:ext cx="282643" cy="55947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22964C-66DF-613E-89A7-B246291DC13B}"/>
              </a:ext>
            </a:extLst>
          </p:cNvPr>
          <p:cNvSpPr/>
          <p:nvPr/>
        </p:nvSpPr>
        <p:spPr>
          <a:xfrm>
            <a:off x="1410291" y="1501868"/>
            <a:ext cx="139598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선택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FC14B74-EB69-BCBF-5EAA-B1ED4008CD37}"/>
              </a:ext>
            </a:extLst>
          </p:cNvPr>
          <p:cNvSpPr/>
          <p:nvPr/>
        </p:nvSpPr>
        <p:spPr>
          <a:xfrm>
            <a:off x="2806273" y="150187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2525420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9C689-A426-0976-5919-DA474E06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F29FEE5-9C53-320E-CF63-44EEE57E7D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D4A2D2-6AE8-C1BA-CE81-1FCEDCECF065}"/>
              </a:ext>
            </a:extLst>
          </p:cNvPr>
          <p:cNvSpPr txBox="1"/>
          <p:nvPr/>
        </p:nvSpPr>
        <p:spPr>
          <a:xfrm>
            <a:off x="749224" y="25608"/>
            <a:ext cx="2643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E908F5F-E82E-73AF-05A2-A880C92B7B6B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CB82920-B50D-6029-BC17-F86FBF48F98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DB23FE-A574-CE98-697B-28BA7B8C0F9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867668-3FB2-C663-5185-01B28D94A44D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5084E605-210B-D1B1-A9CE-EF278645E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D4D8F6F-A846-BCA6-ED3C-5C84293F79E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A5A00-516B-57A3-34C9-B9BF1DE327C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D091D9-248F-93D7-EC8F-8F3C286D2DFC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D3CA2B5-823D-88A3-04B6-9B149B543D7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D731913-2BE9-1E4C-42E4-26D88D83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912792"/>
              </p:ext>
            </p:extLst>
          </p:nvPr>
        </p:nvGraphicFramePr>
        <p:xfrm>
          <a:off x="164464" y="812299"/>
          <a:ext cx="7740859" cy="675840"/>
        </p:xfrm>
        <a:graphic>
          <a:graphicData uri="http://schemas.openxmlformats.org/drawingml/2006/table">
            <a:tbl>
              <a:tblPr firstRow="1" bandRow="1"/>
              <a:tblGrid>
                <a:gridCol w="83215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52111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75828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420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1501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2118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공고대기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0F080B2-8CA9-732B-73DE-0A4EA47F2ECE}"/>
              </a:ext>
            </a:extLst>
          </p:cNvPr>
          <p:cNvSpPr/>
          <p:nvPr/>
        </p:nvSpPr>
        <p:spPr>
          <a:xfrm>
            <a:off x="163503" y="1582007"/>
            <a:ext cx="1139031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00472C-CF06-B6DA-6092-C4E2E6B391E0}"/>
              </a:ext>
            </a:extLst>
          </p:cNvPr>
          <p:cNvSpPr/>
          <p:nvPr/>
        </p:nvSpPr>
        <p:spPr>
          <a:xfrm>
            <a:off x="2442062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5B78FE-E0F9-BBDA-562E-5FC1169D9347}"/>
              </a:ext>
            </a:extLst>
          </p:cNvPr>
          <p:cNvSpPr/>
          <p:nvPr/>
        </p:nvSpPr>
        <p:spPr>
          <a:xfrm>
            <a:off x="3576432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207F91-2A9C-2F93-1EA0-4039C0F0F89A}"/>
              </a:ext>
            </a:extLst>
          </p:cNvPr>
          <p:cNvSpPr/>
          <p:nvPr/>
        </p:nvSpPr>
        <p:spPr>
          <a:xfrm>
            <a:off x="1305150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D3F0055-8068-0F47-5E38-E825A23B649F}"/>
              </a:ext>
            </a:extLst>
          </p:cNvPr>
          <p:cNvCxnSpPr>
            <a:cxnSpLocks/>
          </p:cNvCxnSpPr>
          <p:nvPr/>
        </p:nvCxnSpPr>
        <p:spPr>
          <a:xfrm>
            <a:off x="167468" y="19325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87DD8E-C37F-8898-A07F-6E93D299DF41}"/>
              </a:ext>
            </a:extLst>
          </p:cNvPr>
          <p:cNvSpPr/>
          <p:nvPr/>
        </p:nvSpPr>
        <p:spPr>
          <a:xfrm>
            <a:off x="183392" y="2052222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C2565BE-E776-DEF3-70CD-1E546390197B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350395"/>
          <a:ext cx="7740859" cy="397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4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품의일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839B6FE4-14D9-2E42-A29F-B03054B75EA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</p:spTree>
    <p:extLst>
      <p:ext uri="{BB962C8B-B14F-4D97-AF65-F5344CB8AC3E}">
        <p14:creationId xmlns:p14="http://schemas.microsoft.com/office/powerpoint/2010/main" val="2075293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E7DF-BAA7-095F-6152-F6E35A812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E18A55F-3E4A-59E8-5995-15716C750B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CCF9F-97DE-D80A-0323-98D06DE0890D}"/>
              </a:ext>
            </a:extLst>
          </p:cNvPr>
          <p:cNvSpPr txBox="1"/>
          <p:nvPr/>
        </p:nvSpPr>
        <p:spPr>
          <a:xfrm>
            <a:off x="749224" y="25608"/>
            <a:ext cx="2643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5D1FC-77DA-A141-6ED0-F8B2EBF8A16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B91C130-62A7-A1A3-5367-A9AF912C535B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87419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2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93378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1B042B4-53BC-58A8-68AA-D43CA4D18402}"/>
              </a:ext>
            </a:extLst>
          </p:cNvPr>
          <p:cNvSpPr/>
          <p:nvPr/>
        </p:nvSpPr>
        <p:spPr>
          <a:xfrm>
            <a:off x="183392" y="116937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0C9607-4C5F-627A-7A70-0671E06BF803}"/>
              </a:ext>
            </a:extLst>
          </p:cNvPr>
          <p:cNvSpPr/>
          <p:nvPr/>
        </p:nvSpPr>
        <p:spPr>
          <a:xfrm>
            <a:off x="183392" y="144878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72EAA3-C911-BD08-2F99-9739AA0EC288}"/>
              </a:ext>
            </a:extLst>
          </p:cNvPr>
          <p:cNvSpPr/>
          <p:nvPr/>
        </p:nvSpPr>
        <p:spPr>
          <a:xfrm>
            <a:off x="183392" y="272054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71F17F1-87B7-58C5-5125-293CBE51041E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1705093"/>
          <a:ext cx="7717011" cy="9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AD1821A-B628-3CC6-7EBF-051382B9EC7B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996506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0BE1C3-B8C0-6089-A259-73F45D8D9404}"/>
              </a:ext>
            </a:extLst>
          </p:cNvPr>
          <p:cNvSpPr/>
          <p:nvPr/>
        </p:nvSpPr>
        <p:spPr>
          <a:xfrm>
            <a:off x="2909398" y="210678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BA8627D-73D6-A775-ECC0-145563D0A0D6}"/>
              </a:ext>
            </a:extLst>
          </p:cNvPr>
          <p:cNvSpPr/>
          <p:nvPr/>
        </p:nvSpPr>
        <p:spPr>
          <a:xfrm>
            <a:off x="3572235" y="210678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98882F-4E3A-415C-E5F3-1848A4FF9CB3}"/>
              </a:ext>
            </a:extLst>
          </p:cNvPr>
          <p:cNvSpPr/>
          <p:nvPr/>
        </p:nvSpPr>
        <p:spPr>
          <a:xfrm>
            <a:off x="2909398" y="237412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216C918-CE82-CBE8-4B2A-8FF963C7B631}"/>
              </a:ext>
            </a:extLst>
          </p:cNvPr>
          <p:cNvSpPr/>
          <p:nvPr/>
        </p:nvSpPr>
        <p:spPr>
          <a:xfrm>
            <a:off x="3572235" y="237412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CCE0304-0806-C1F1-3869-A2963110FC4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5358263"/>
          <a:ext cx="7776865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추정가격이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미만으로 수의계약 진행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2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55033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DA6F-9051-C20A-9CDA-E7268D1E241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</p:spTree>
    <p:extLst>
      <p:ext uri="{BB962C8B-B14F-4D97-AF65-F5344CB8AC3E}">
        <p14:creationId xmlns:p14="http://schemas.microsoft.com/office/powerpoint/2010/main" val="2693891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5643-C24D-17A1-688C-53AC7F5D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8B1137D-1248-524C-1766-DBFCD234A9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EDE71-C51D-94E2-7613-00D0BB17DC4C}"/>
              </a:ext>
            </a:extLst>
          </p:cNvPr>
          <p:cNvSpPr txBox="1"/>
          <p:nvPr/>
        </p:nvSpPr>
        <p:spPr>
          <a:xfrm>
            <a:off x="749224" y="25608"/>
            <a:ext cx="24769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A4ABF-0C52-ECA1-DDDF-69B7838B4419}"/>
              </a:ext>
            </a:extLst>
          </p:cNvPr>
          <p:cNvSpPr txBox="1"/>
          <p:nvPr/>
        </p:nvSpPr>
        <p:spPr>
          <a:xfrm>
            <a:off x="8049344" y="572346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2CBD87C-18B5-EA74-B6D6-672A399BC4B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AAB2A39-30A6-3174-DD0D-1C798F590951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397017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93597803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67370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도장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습식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석공사업 보유업체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2184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01AEC5B-AB47-E178-A826-DCE98062A0B6}"/>
              </a:ext>
            </a:extLst>
          </p:cNvPr>
          <p:cNvGraphicFramePr>
            <a:graphicFrameLocks noGrp="1"/>
          </p:cNvGraphicFramePr>
          <p:nvPr/>
        </p:nvGraphicFramePr>
        <p:xfrm>
          <a:off x="164410" y="721004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24562606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5705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|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전용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971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예정가격 결정자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587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FDE9A8-8AA3-A3C2-6529-D4803A0512E9}"/>
              </a:ext>
            </a:extLst>
          </p:cNvPr>
          <p:cNvSpPr/>
          <p:nvPr/>
        </p:nvSpPr>
        <p:spPr>
          <a:xfrm>
            <a:off x="183392" y="149770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FB31B4D3-8A90-F79D-9ADC-74336EFE171D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91440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 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D976DE-9160-B330-5646-9CBD30C1DC22}"/>
              </a:ext>
            </a:extLst>
          </p:cNvPr>
          <p:cNvSpPr/>
          <p:nvPr/>
        </p:nvSpPr>
        <p:spPr>
          <a:xfrm>
            <a:off x="164467" y="256186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7248778-6929-5852-7AFA-723BA33F3645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864712"/>
          <a:ext cx="7776865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E0F8DB89-6977-9A0C-9C87-A47DCBB788CE}"/>
              </a:ext>
            </a:extLst>
          </p:cNvPr>
          <p:cNvSpPr/>
          <p:nvPr/>
        </p:nvSpPr>
        <p:spPr>
          <a:xfrm>
            <a:off x="2909398" y="292201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AE46B89-2367-F32D-8DB3-D7E4AA8C10F8}"/>
              </a:ext>
            </a:extLst>
          </p:cNvPr>
          <p:cNvSpPr/>
          <p:nvPr/>
        </p:nvSpPr>
        <p:spPr>
          <a:xfrm>
            <a:off x="3572235" y="292201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40956FF-D09F-B68C-BDAD-23D4076B6F51}"/>
              </a:ext>
            </a:extLst>
          </p:cNvPr>
          <p:cNvSpPr/>
          <p:nvPr/>
        </p:nvSpPr>
        <p:spPr>
          <a:xfrm>
            <a:off x="2909398" y="31721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390E175-5E6E-7EE2-F396-F083A0C4F035}"/>
              </a:ext>
            </a:extLst>
          </p:cNvPr>
          <p:cNvSpPr/>
          <p:nvPr/>
        </p:nvSpPr>
        <p:spPr>
          <a:xfrm>
            <a:off x="3572235" y="31721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836D170-D66F-11C1-8CEE-A3BD6A2D344E}"/>
              </a:ext>
            </a:extLst>
          </p:cNvPr>
          <p:cNvSpPr/>
          <p:nvPr/>
        </p:nvSpPr>
        <p:spPr>
          <a:xfrm>
            <a:off x="2909398" y="342219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E4F41F-4166-680C-B829-2776963032EB}"/>
              </a:ext>
            </a:extLst>
          </p:cNvPr>
          <p:cNvSpPr/>
          <p:nvPr/>
        </p:nvSpPr>
        <p:spPr>
          <a:xfrm>
            <a:off x="3572235" y="342219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2108E97-5ADA-E21F-2637-4C5203493845}"/>
              </a:ext>
            </a:extLst>
          </p:cNvPr>
          <p:cNvSpPr/>
          <p:nvPr/>
        </p:nvSpPr>
        <p:spPr>
          <a:xfrm>
            <a:off x="2909398" y="374963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9243FAF-3F42-363F-8EFD-C4354FE2464B}"/>
              </a:ext>
            </a:extLst>
          </p:cNvPr>
          <p:cNvSpPr/>
          <p:nvPr/>
        </p:nvSpPr>
        <p:spPr>
          <a:xfrm>
            <a:off x="3572235" y="374963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AEB1881-EA97-5385-7C00-AFE4753D301F}"/>
              </a:ext>
            </a:extLst>
          </p:cNvPr>
          <p:cNvSpPr/>
          <p:nvPr/>
        </p:nvSpPr>
        <p:spPr>
          <a:xfrm>
            <a:off x="2909398" y="401697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A40D248-EE28-C23F-0AF5-337D7A08E723}"/>
              </a:ext>
            </a:extLst>
          </p:cNvPr>
          <p:cNvSpPr/>
          <p:nvPr/>
        </p:nvSpPr>
        <p:spPr>
          <a:xfrm>
            <a:off x="3572235" y="401697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B9E39B8-1F6E-79EB-EA46-09D7EFF9EB74}"/>
              </a:ext>
            </a:extLst>
          </p:cNvPr>
          <p:cNvSpPr/>
          <p:nvPr/>
        </p:nvSpPr>
        <p:spPr>
          <a:xfrm>
            <a:off x="183392" y="4367351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7FB73FFE-387E-A1FE-3B33-CB6C638C6DAC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4670248"/>
          <a:ext cx="8974023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6288BF59-34B4-BC14-5CD0-42D12EA971C5}"/>
              </a:ext>
            </a:extLst>
          </p:cNvPr>
          <p:cNvSpPr/>
          <p:nvPr/>
        </p:nvSpPr>
        <p:spPr>
          <a:xfrm>
            <a:off x="164467" y="547410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1458497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F8B0F-2F15-1450-2A7F-83C149E4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071C20-EB49-4FEA-FD1F-ABD601B87C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DE9344-C648-405E-732E-4D190C283286}"/>
              </a:ext>
            </a:extLst>
          </p:cNvPr>
          <p:cNvSpPr txBox="1"/>
          <p:nvPr/>
        </p:nvSpPr>
        <p:spPr>
          <a:xfrm>
            <a:off x="749224" y="25608"/>
            <a:ext cx="2864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374F2D-D623-8E65-02FC-6EA8A27853BF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7C3BE22-0E65-F2A1-E2EF-B17CBC58FC2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A86BC18-8BA7-2147-E3F6-3BC53CAAE802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161463-DAAB-E23E-5591-FA30DBFB226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42E1F8B6-0844-7401-A9B2-8A1A5AE20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BFD75C9-2A9B-CB51-0B3D-A110573B824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21E2BE-47FB-67C2-14AA-DAE269227BCC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13DF7B-DED0-02EB-60C5-0D6BB574051D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08E0CF1-F77F-4794-ED4E-453B9C3F8698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9125A84-20FD-74F0-76DB-1F1E48291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540151"/>
              </p:ext>
            </p:extLst>
          </p:nvPr>
        </p:nvGraphicFramePr>
        <p:xfrm>
          <a:off x="164464" y="812299"/>
          <a:ext cx="7740859" cy="675840"/>
        </p:xfrm>
        <a:graphic>
          <a:graphicData uri="http://schemas.openxmlformats.org/drawingml/2006/table">
            <a:tbl>
              <a:tblPr firstRow="1" bandRow="1"/>
              <a:tblGrid>
                <a:gridCol w="83215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52111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75828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420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1501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2118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공고대기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285942F3-FA0F-1D0E-56A8-BF40B1B68E43}"/>
              </a:ext>
            </a:extLst>
          </p:cNvPr>
          <p:cNvSpPr/>
          <p:nvPr/>
        </p:nvSpPr>
        <p:spPr>
          <a:xfrm>
            <a:off x="163503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4F7D42-CC1B-91D4-659D-F0E0E582F234}"/>
              </a:ext>
            </a:extLst>
          </p:cNvPr>
          <p:cNvSpPr/>
          <p:nvPr/>
        </p:nvSpPr>
        <p:spPr>
          <a:xfrm>
            <a:off x="2442062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27E568-2135-C6BE-724A-B8941AAC85AB}"/>
              </a:ext>
            </a:extLst>
          </p:cNvPr>
          <p:cNvSpPr/>
          <p:nvPr/>
        </p:nvSpPr>
        <p:spPr>
          <a:xfrm>
            <a:off x="3576432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385C3A-D2D0-69FE-3645-0410A9821FE1}"/>
              </a:ext>
            </a:extLst>
          </p:cNvPr>
          <p:cNvSpPr/>
          <p:nvPr/>
        </p:nvSpPr>
        <p:spPr>
          <a:xfrm>
            <a:off x="1305150" y="1588633"/>
            <a:ext cx="1139031" cy="347835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31EDED-D69D-302A-7AC8-E8DD07CF8F00}"/>
              </a:ext>
            </a:extLst>
          </p:cNvPr>
          <p:cNvCxnSpPr>
            <a:cxnSpLocks/>
          </p:cNvCxnSpPr>
          <p:nvPr/>
        </p:nvCxnSpPr>
        <p:spPr>
          <a:xfrm>
            <a:off x="167468" y="19325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7C7690-AAD6-49CD-7163-215E7480ED09}"/>
              </a:ext>
            </a:extLst>
          </p:cNvPr>
          <p:cNvSpPr/>
          <p:nvPr/>
        </p:nvSpPr>
        <p:spPr>
          <a:xfrm>
            <a:off x="183392" y="2069867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상세정보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8E7448-73F8-FED2-212E-B7A87E5AFB71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368040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요청기간 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2026.07.31 09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~ 2026.08.15 18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4A7CB19-8441-65DA-C4A0-9BA151C3E14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699708"/>
          <a:ext cx="7776865" cy="10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시방서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구매견적서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3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89591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5CCA0C-2AB3-4A42-9F78-E718EBF1BB39}"/>
              </a:ext>
            </a:extLst>
          </p:cNvPr>
          <p:cNvSpPr/>
          <p:nvPr/>
        </p:nvSpPr>
        <p:spPr>
          <a:xfrm>
            <a:off x="183392" y="387836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가능 업체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CEF012D-C042-4D0D-1FF9-664D33B0F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406786"/>
              </p:ext>
            </p:extLst>
          </p:nvPr>
        </p:nvGraphicFramePr>
        <p:xfrm>
          <a:off x="164467" y="4166528"/>
          <a:ext cx="7740859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2218358209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37664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참여 가능 업체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(주)큐비트엑스(135-81-77202)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328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4B4CF813-B689-CA7B-ACF5-395232813B31}"/>
              </a:ext>
            </a:extLst>
          </p:cNvPr>
          <p:cNvGrpSpPr/>
          <p:nvPr/>
        </p:nvGrpSpPr>
        <p:grpSpPr>
          <a:xfrm>
            <a:off x="2777097" y="2759488"/>
            <a:ext cx="1275802" cy="198885"/>
            <a:chOff x="2576736" y="3905324"/>
            <a:chExt cx="1275802" cy="19888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D8C3FB9-126D-0EEA-9F84-24B53D849F14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C59AE89-1BA8-AF8E-DCC9-6A080102EA41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4AF5E0-5AA2-00AC-240F-81576694BA9C}"/>
              </a:ext>
            </a:extLst>
          </p:cNvPr>
          <p:cNvGrpSpPr/>
          <p:nvPr/>
        </p:nvGrpSpPr>
        <p:grpSpPr>
          <a:xfrm>
            <a:off x="2777097" y="2991351"/>
            <a:ext cx="1275802" cy="198885"/>
            <a:chOff x="2576736" y="3905324"/>
            <a:chExt cx="1275802" cy="19888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DB09A4B-7FBD-E77C-A376-C33AAABF5A4C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6630FA0-9634-440E-6E16-F58E50C66F32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7A5A7B4-217B-9FF1-C195-F1F2248FA2D2}"/>
              </a:ext>
            </a:extLst>
          </p:cNvPr>
          <p:cNvSpPr/>
          <p:nvPr/>
        </p:nvSpPr>
        <p:spPr>
          <a:xfrm>
            <a:off x="183392" y="460551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051EF-922B-2E28-C1EC-4D9FA8042525}"/>
              </a:ext>
            </a:extLst>
          </p:cNvPr>
          <p:cNvSpPr/>
          <p:nvPr/>
        </p:nvSpPr>
        <p:spPr>
          <a:xfrm>
            <a:off x="179899" y="4911841"/>
            <a:ext cx="7701579" cy="8675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936FCF99-B4A6-C7FD-2CF0-5D66A52C2395}"/>
              </a:ext>
            </a:extLst>
          </p:cNvPr>
          <p:cNvGraphicFramePr>
            <a:graphicFrameLocks noGrp="1"/>
          </p:cNvGraphicFramePr>
          <p:nvPr/>
        </p:nvGraphicFramePr>
        <p:xfrm>
          <a:off x="294012" y="5005334"/>
          <a:ext cx="3681972" cy="675840"/>
        </p:xfrm>
        <a:graphic>
          <a:graphicData uri="http://schemas.openxmlformats.org/drawingml/2006/table">
            <a:tbl>
              <a:tblPr firstRow="1" bandRow="1"/>
              <a:tblGrid>
                <a:gridCol w="1227324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227324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추정금액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사정금액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예정가격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26,482,500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26,482,500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45" name="직사각형 44">
            <a:extLst>
              <a:ext uri="{FF2B5EF4-FFF2-40B4-BE49-F238E27FC236}">
                <a16:creationId xmlns:a16="http://schemas.microsoft.com/office/drawing/2014/main" id="{6D965278-609A-D5C6-BC9F-95D9AD3FC63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C3C5BD-2125-9F4F-CD04-C6DD80AA28D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F8B2B7-2C59-0489-04A1-F4BC6BD0FCC0}"/>
              </a:ext>
            </a:extLst>
          </p:cNvPr>
          <p:cNvGrpSpPr/>
          <p:nvPr/>
        </p:nvGrpSpPr>
        <p:grpSpPr>
          <a:xfrm>
            <a:off x="2777097" y="3292777"/>
            <a:ext cx="1275802" cy="198885"/>
            <a:chOff x="2576736" y="3905324"/>
            <a:chExt cx="1275802" cy="19888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F1A30F3-7AAF-45D1-A7F4-720C6373CD12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975EEFC-C4F4-BCD2-CAF3-27F043A82A0C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9D44D24-F9BF-D15B-480F-4890D9408987}"/>
              </a:ext>
            </a:extLst>
          </p:cNvPr>
          <p:cNvGrpSpPr/>
          <p:nvPr/>
        </p:nvGrpSpPr>
        <p:grpSpPr>
          <a:xfrm>
            <a:off x="2777097" y="3524640"/>
            <a:ext cx="1275802" cy="198885"/>
            <a:chOff x="2576736" y="3905324"/>
            <a:chExt cx="1275802" cy="19888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8852AF1-8141-F618-6B6E-BA36EF447308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8C4A31D-4E6D-B942-4CBE-5F2B9AA3377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8126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A68D-FF72-0BDD-6882-E8A81742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E8CCA6-8594-C0AB-0AC6-3E9D6452F0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EC1A8-D996-9867-B0BD-FCA82CE138B9}"/>
              </a:ext>
            </a:extLst>
          </p:cNvPr>
          <p:cNvSpPr txBox="1"/>
          <p:nvPr/>
        </p:nvSpPr>
        <p:spPr>
          <a:xfrm>
            <a:off x="749224" y="25608"/>
            <a:ext cx="2864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현황(상세정보) &gt; 수의계약 계획 정보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0D9F27-292C-FC41-228A-E8ABC52A6B2A}"/>
              </a:ext>
            </a:extLst>
          </p:cNvPr>
          <p:cNvSpPr/>
          <p:nvPr/>
        </p:nvSpPr>
        <p:spPr>
          <a:xfrm>
            <a:off x="183392" y="40466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EAE69-90B1-94A7-3170-FA832B504944}"/>
              </a:ext>
            </a:extLst>
          </p:cNvPr>
          <p:cNvSpPr txBox="1"/>
          <p:nvPr/>
        </p:nvSpPr>
        <p:spPr>
          <a:xfrm>
            <a:off x="164468" y="676998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수의계약 참여 서류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FC1601A-EA9E-75C7-708C-E601A54F0032}"/>
              </a:ext>
            </a:extLst>
          </p:cNvPr>
          <p:cNvGraphicFramePr>
            <a:graphicFrameLocks noGrp="1"/>
          </p:cNvGraphicFramePr>
          <p:nvPr/>
        </p:nvGraphicFramePr>
        <p:xfrm>
          <a:off x="171331" y="960086"/>
          <a:ext cx="7710148" cy="1351680"/>
        </p:xfrm>
        <a:graphic>
          <a:graphicData uri="http://schemas.openxmlformats.org/drawingml/2006/table">
            <a:tbl>
              <a:tblPr firstRow="1" bandRow="1"/>
              <a:tblGrid>
                <a:gridCol w="3533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93855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18231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확인서는 반드시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670C4B9D-F3B3-80E6-97F6-5D96D87D50D3}"/>
              </a:ext>
            </a:extLst>
          </p:cNvPr>
          <p:cNvSpPr txBox="1"/>
          <p:nvPr/>
        </p:nvSpPr>
        <p:spPr>
          <a:xfrm>
            <a:off x="8049344" y="584684"/>
            <a:ext cx="1856656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전(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이전인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되돌릴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수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있음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143163C-DC8E-7644-0EDD-C18F146F529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FE809F-6BF1-3CBA-5649-45AF19FA2207}"/>
              </a:ext>
            </a:extLst>
          </p:cNvPr>
          <p:cNvSpPr/>
          <p:nvPr/>
        </p:nvSpPr>
        <p:spPr>
          <a:xfrm>
            <a:off x="6161918" y="2409391"/>
            <a:ext cx="171956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되돌리기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C648F3-B231-A7C3-EDCD-D5CC55236B63}"/>
              </a:ext>
            </a:extLst>
          </p:cNvPr>
          <p:cNvSpPr/>
          <p:nvPr/>
        </p:nvSpPr>
        <p:spPr>
          <a:xfrm>
            <a:off x="164467" y="2409391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778D7F-4B9C-6851-CEF2-1BBDABB4D85E}"/>
              </a:ext>
            </a:extLst>
          </p:cNvPr>
          <p:cNvSpPr/>
          <p:nvPr/>
        </p:nvSpPr>
        <p:spPr>
          <a:xfrm>
            <a:off x="2936776" y="3227958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</a:t>
            </a:r>
            <a:r>
              <a:rPr lang="en-US" altLang="ko-KR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되돌리기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ABD0B4-5586-D55E-18CC-B2DCAFCDD2C8}"/>
              </a:ext>
            </a:extLst>
          </p:cNvPr>
          <p:cNvSpPr/>
          <p:nvPr/>
        </p:nvSpPr>
        <p:spPr>
          <a:xfrm>
            <a:off x="2936776" y="3500871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602344-EFB2-C479-1DCD-7851FDE8BF50}"/>
              </a:ext>
            </a:extLst>
          </p:cNvPr>
          <p:cNvSpPr/>
          <p:nvPr/>
        </p:nvSpPr>
        <p:spPr>
          <a:xfrm>
            <a:off x="6444108" y="322795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C83CDD-66B1-1F82-9975-B18CF61AD966}"/>
              </a:ext>
            </a:extLst>
          </p:cNvPr>
          <p:cNvSpPr/>
          <p:nvPr/>
        </p:nvSpPr>
        <p:spPr>
          <a:xfrm>
            <a:off x="3044555" y="3914258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등록된 내용 중 반드시 수정해야 할 사항이 있는 경우 해당 수의계약 건을 수의계약 계획 상태로 되돌릴 수 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계획으로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되돌리시겠습니까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0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7DF28A50-372F-0DE5-FED5-5E57FEF28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677" y="407087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8191E5-D0F7-261E-CE71-5318F40180F2}"/>
              </a:ext>
            </a:extLst>
          </p:cNvPr>
          <p:cNvSpPr/>
          <p:nvPr/>
        </p:nvSpPr>
        <p:spPr>
          <a:xfrm>
            <a:off x="5888113" y="490262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E0F454-06DE-ED75-B96E-64DDA846ADDC}"/>
              </a:ext>
            </a:extLst>
          </p:cNvPr>
          <p:cNvSpPr/>
          <p:nvPr/>
        </p:nvSpPr>
        <p:spPr>
          <a:xfrm>
            <a:off x="3067996" y="3597259"/>
            <a:ext cx="180177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‘수의계약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계획’으로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되돌리기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D2B70B-333F-3052-291D-814F5421D8F3}"/>
              </a:ext>
            </a:extLst>
          </p:cNvPr>
          <p:cNvSpPr/>
          <p:nvPr/>
        </p:nvSpPr>
        <p:spPr>
          <a:xfrm>
            <a:off x="4052900" y="4902625"/>
            <a:ext cx="176844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‘수의계약 </a:t>
            </a:r>
            <a:r>
              <a:rPr lang="ko-KR" altLang="en-US" sz="9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계획’으로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되돌리기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2E803DD-6DBB-3A20-7354-D2D756AFB53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5400000">
            <a:off x="5659076" y="1865334"/>
            <a:ext cx="530535" cy="219471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49DC2F1A-51F9-58E6-F974-C2E227116D2D}"/>
              </a:ext>
            </a:extLst>
          </p:cNvPr>
          <p:cNvSpPr/>
          <p:nvPr/>
        </p:nvSpPr>
        <p:spPr>
          <a:xfrm>
            <a:off x="6053906" y="228549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4076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F6C3-7977-EA05-241D-4B993A23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70A52E1-3411-E3B5-200E-29E1D3BC67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56D302-1970-BF02-5DC4-06565C73377E}"/>
              </a:ext>
            </a:extLst>
          </p:cNvPr>
          <p:cNvSpPr txBox="1"/>
          <p:nvPr/>
        </p:nvSpPr>
        <p:spPr>
          <a:xfrm>
            <a:off x="749224" y="25608"/>
            <a:ext cx="40270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및 확인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F0D178-E497-AE29-0A24-68AB73019CA5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F785D66-1FC0-DCB0-93C4-DD60D88FB74A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4F1EE9-E3B5-C964-F036-8B0FD52BFF3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FEC580-1500-2DD5-03CB-F6B12597F61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7F875E69-C67E-106B-BD6B-312FC9D32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F6EC8A5-70EE-FADD-DD27-C247CC9C28B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2D669-5834-55FA-508D-CFBAB2A5E795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BCFDD9A-7566-B1E4-B352-3734CBAEEDA9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9E026E1-71C9-0626-5A13-2C03CF9D68F4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443A845-CCF3-9527-F675-0FF8C234E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614719"/>
              </p:ext>
            </p:extLst>
          </p:nvPr>
        </p:nvGraphicFramePr>
        <p:xfrm>
          <a:off x="164464" y="812299"/>
          <a:ext cx="7740859" cy="675840"/>
        </p:xfrm>
        <a:graphic>
          <a:graphicData uri="http://schemas.openxmlformats.org/drawingml/2006/table">
            <a:tbl>
              <a:tblPr firstRow="1" bandRow="1"/>
              <a:tblGrid>
                <a:gridCol w="83215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52111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75828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420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1501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2118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공고대기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23E9B97-E6CB-B290-4219-82D69AB71BCB}"/>
              </a:ext>
            </a:extLst>
          </p:cNvPr>
          <p:cNvSpPr/>
          <p:nvPr/>
        </p:nvSpPr>
        <p:spPr>
          <a:xfrm>
            <a:off x="163503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1AB360-6E59-2EDE-B5D7-522B118E676B}"/>
              </a:ext>
            </a:extLst>
          </p:cNvPr>
          <p:cNvSpPr/>
          <p:nvPr/>
        </p:nvSpPr>
        <p:spPr>
          <a:xfrm>
            <a:off x="2442062" y="1599935"/>
            <a:ext cx="1139031" cy="33653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B4655D-49BF-348C-E8A8-23A84EC628D7}"/>
              </a:ext>
            </a:extLst>
          </p:cNvPr>
          <p:cNvSpPr/>
          <p:nvPr/>
        </p:nvSpPr>
        <p:spPr>
          <a:xfrm>
            <a:off x="3576432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420E3D-A783-B04A-7928-4DCA43FBF1C3}"/>
              </a:ext>
            </a:extLst>
          </p:cNvPr>
          <p:cNvSpPr/>
          <p:nvPr/>
        </p:nvSpPr>
        <p:spPr>
          <a:xfrm>
            <a:off x="1305150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A59284B-0B5D-051D-EED9-1FAFF6658B86}"/>
              </a:ext>
            </a:extLst>
          </p:cNvPr>
          <p:cNvCxnSpPr>
            <a:cxnSpLocks/>
          </p:cNvCxnSpPr>
          <p:nvPr/>
        </p:nvCxnSpPr>
        <p:spPr>
          <a:xfrm>
            <a:off x="167468" y="19325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9CC09BE-11DA-D947-345F-93C3ECEA0A93}"/>
              </a:ext>
            </a:extLst>
          </p:cNvPr>
          <p:cNvSpPr txBox="1"/>
          <p:nvPr/>
        </p:nvSpPr>
        <p:spPr>
          <a:xfrm>
            <a:off x="8049344" y="584684"/>
            <a:ext cx="1856656" cy="134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견적을 요청할 담당자 정보 선택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최초는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마감 일시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 시 업체에게 전달할 사항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 시 업체에게 전달할 자료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MSG-019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A1B0834-CC83-6B61-0C80-9506B601EA9B}"/>
              </a:ext>
            </a:extLst>
          </p:cNvPr>
          <p:cNvSpPr/>
          <p:nvPr/>
        </p:nvSpPr>
        <p:spPr>
          <a:xfrm>
            <a:off x="181506" y="2042460"/>
            <a:ext cx="1313872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담당자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9F91553-2727-6E1C-DAD4-10F5964B9464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339118"/>
          <a:ext cx="771949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696">
                  <a:extLst>
                    <a:ext uri="{9D8B030D-6E8A-4147-A177-3AD203B41FA5}">
                      <a16:colId xmlns:a16="http://schemas.microsoft.com/office/drawing/2014/main" val="3916647765"/>
                    </a:ext>
                  </a:extLst>
                </a:gridCol>
                <a:gridCol w="747590">
                  <a:extLst>
                    <a:ext uri="{9D8B030D-6E8A-4147-A177-3AD203B41FA5}">
                      <a16:colId xmlns:a16="http://schemas.microsoft.com/office/drawing/2014/main" val="1183147798"/>
                    </a:ext>
                  </a:extLst>
                </a:gridCol>
                <a:gridCol w="505816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380299">
                  <a:extLst>
                    <a:ext uri="{9D8B030D-6E8A-4147-A177-3AD203B41FA5}">
                      <a16:colId xmlns:a16="http://schemas.microsoft.com/office/drawing/2014/main" val="2761937130"/>
                    </a:ext>
                  </a:extLst>
                </a:gridCol>
                <a:gridCol w="1232942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102265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883087">
                  <a:extLst>
                    <a:ext uri="{9D8B030D-6E8A-4147-A177-3AD203B41FA5}">
                      <a16:colId xmlns:a16="http://schemas.microsoft.com/office/drawing/2014/main" val="3329224653"/>
                    </a:ext>
                  </a:extLst>
                </a:gridCol>
                <a:gridCol w="1148966">
                  <a:extLst>
                    <a:ext uri="{9D8B030D-6E8A-4147-A177-3AD203B41FA5}">
                      <a16:colId xmlns:a16="http://schemas.microsoft.com/office/drawing/2014/main" val="2705196257"/>
                    </a:ext>
                  </a:extLst>
                </a:gridCol>
                <a:gridCol w="1178447">
                  <a:extLst>
                    <a:ext uri="{9D8B030D-6E8A-4147-A177-3AD203B41FA5}">
                      <a16:colId xmlns:a16="http://schemas.microsoft.com/office/drawing/2014/main" val="1714677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담당업무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 담당자 변경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02-6959-9856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사내 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38E8DE-382F-7469-81AA-B571DC29C153}"/>
              </a:ext>
            </a:extLst>
          </p:cNvPr>
          <p:cNvSpPr/>
          <p:nvPr/>
        </p:nvSpPr>
        <p:spPr>
          <a:xfrm>
            <a:off x="181506" y="3131191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5FA34C50-A652-FD2F-0BDC-9DC6477F6C1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417974"/>
          <a:ext cx="774085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마감 일시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사항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자료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42041"/>
                  </a:ext>
                </a:extLst>
              </a:tr>
            </a:tbl>
          </a:graphicData>
        </a:graphic>
      </p:graphicFrame>
      <p:sp>
        <p:nvSpPr>
          <p:cNvPr id="52" name="직사각형 51">
            <a:extLst>
              <a:ext uri="{FF2B5EF4-FFF2-40B4-BE49-F238E27FC236}">
                <a16:creationId xmlns:a16="http://schemas.microsoft.com/office/drawing/2014/main" id="{2A8ED9AC-E99E-AA05-36F8-DABEB2BE9104}"/>
              </a:ext>
            </a:extLst>
          </p:cNvPr>
          <p:cNvSpPr/>
          <p:nvPr/>
        </p:nvSpPr>
        <p:spPr>
          <a:xfrm>
            <a:off x="1820225" y="347550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C5435BB-1154-2DA6-4E1D-151A0CC48327}"/>
              </a:ext>
            </a:extLst>
          </p:cNvPr>
          <p:cNvSpPr/>
          <p:nvPr/>
        </p:nvSpPr>
        <p:spPr>
          <a:xfrm>
            <a:off x="2630476" y="347550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7F978E3-3FA2-947C-D844-A75738909D78}"/>
              </a:ext>
            </a:extLst>
          </p:cNvPr>
          <p:cNvSpPr/>
          <p:nvPr/>
        </p:nvSpPr>
        <p:spPr>
          <a:xfrm>
            <a:off x="2915894" y="347550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선택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0C70E2A-55F1-B1BB-BCAA-4625F8B92D4F}"/>
              </a:ext>
            </a:extLst>
          </p:cNvPr>
          <p:cNvSpPr/>
          <p:nvPr/>
        </p:nvSpPr>
        <p:spPr>
          <a:xfrm>
            <a:off x="3515976" y="347550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D42A2D5-A4FB-D2B0-C569-290A144D6A6E}"/>
              </a:ext>
            </a:extLst>
          </p:cNvPr>
          <p:cNvSpPr/>
          <p:nvPr/>
        </p:nvSpPr>
        <p:spPr>
          <a:xfrm>
            <a:off x="3809851" y="347550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 선택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867B472-AC12-C265-0693-3FA8B949F8C6}"/>
              </a:ext>
            </a:extLst>
          </p:cNvPr>
          <p:cNvSpPr/>
          <p:nvPr/>
        </p:nvSpPr>
        <p:spPr>
          <a:xfrm>
            <a:off x="4409933" y="347550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EC85C863-6456-9F46-3048-C388AEDA9525}"/>
              </a:ext>
            </a:extLst>
          </p:cNvPr>
          <p:cNvSpPr/>
          <p:nvPr/>
        </p:nvSpPr>
        <p:spPr>
          <a:xfrm>
            <a:off x="1604201" y="337199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29DC5F8-36F5-8392-AB71-D47EA4ADC03A}"/>
              </a:ext>
            </a:extLst>
          </p:cNvPr>
          <p:cNvSpPr/>
          <p:nvPr/>
        </p:nvSpPr>
        <p:spPr>
          <a:xfrm>
            <a:off x="1820225" y="3821861"/>
            <a:ext cx="482316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E2002E7-009E-CD66-4160-E22B114D7AAF}"/>
              </a:ext>
            </a:extLst>
          </p:cNvPr>
          <p:cNvSpPr/>
          <p:nvPr/>
        </p:nvSpPr>
        <p:spPr>
          <a:xfrm>
            <a:off x="1604201" y="372558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C40FAAF-0DF4-A556-62F8-270459CDC8A7}"/>
              </a:ext>
            </a:extLst>
          </p:cNvPr>
          <p:cNvSpPr/>
          <p:nvPr/>
        </p:nvSpPr>
        <p:spPr>
          <a:xfrm>
            <a:off x="1820225" y="4157054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66C1F18-95D4-5DA1-17A6-3CB21C207DCD}"/>
              </a:ext>
            </a:extLst>
          </p:cNvPr>
          <p:cNvSpPr/>
          <p:nvPr/>
        </p:nvSpPr>
        <p:spPr>
          <a:xfrm>
            <a:off x="4177737" y="4158590"/>
            <a:ext cx="692070" cy="20647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745B90F-EE5D-2BDC-EC7E-CD6ABBAD187C}"/>
              </a:ext>
            </a:extLst>
          </p:cNvPr>
          <p:cNvSpPr/>
          <p:nvPr/>
        </p:nvSpPr>
        <p:spPr>
          <a:xfrm>
            <a:off x="1604201" y="404503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F79E90B-C041-4588-8116-3C99F3AABDE8}"/>
              </a:ext>
            </a:extLst>
          </p:cNvPr>
          <p:cNvSpPr/>
          <p:nvPr/>
        </p:nvSpPr>
        <p:spPr>
          <a:xfrm>
            <a:off x="6465167" y="4537349"/>
            <a:ext cx="143583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</a:t>
            </a:r>
          </a:p>
        </p:txBody>
      </p: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D70B8771-4054-5F7F-67F8-6BF7264E8A38}"/>
              </a:ext>
            </a:extLst>
          </p:cNvPr>
          <p:cNvCxnSpPr>
            <a:cxnSpLocks/>
            <a:stCxn id="128" idx="2"/>
            <a:endCxn id="158" idx="1"/>
          </p:cNvCxnSpPr>
          <p:nvPr/>
        </p:nvCxnSpPr>
        <p:spPr>
          <a:xfrm rot="16200000" flipH="1">
            <a:off x="7201963" y="4806502"/>
            <a:ext cx="936515" cy="974272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타원 129">
            <a:extLst>
              <a:ext uri="{FF2B5EF4-FFF2-40B4-BE49-F238E27FC236}">
                <a16:creationId xmlns:a16="http://schemas.microsoft.com/office/drawing/2014/main" id="{CBE9B977-C448-772C-2AA5-194EBC5C48A4}"/>
              </a:ext>
            </a:extLst>
          </p:cNvPr>
          <p:cNvSpPr/>
          <p:nvPr/>
        </p:nvSpPr>
        <p:spPr>
          <a:xfrm>
            <a:off x="59028" y="196061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125EB1F-A844-1211-34E4-89BAB235E034}"/>
              </a:ext>
            </a:extLst>
          </p:cNvPr>
          <p:cNvSpPr/>
          <p:nvPr/>
        </p:nvSpPr>
        <p:spPr>
          <a:xfrm>
            <a:off x="6756895" y="2734799"/>
            <a:ext cx="1080000" cy="215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담당자 변경</a:t>
            </a:r>
          </a:p>
        </p:txBody>
      </p:sp>
      <p:cxnSp>
        <p:nvCxnSpPr>
          <p:cNvPr id="149" name="연결선: 꺾임 148">
            <a:extLst>
              <a:ext uri="{FF2B5EF4-FFF2-40B4-BE49-F238E27FC236}">
                <a16:creationId xmlns:a16="http://schemas.microsoft.com/office/drawing/2014/main" id="{0511C904-E504-3FC9-AF76-AC0BBD0DB8DA}"/>
              </a:ext>
            </a:extLst>
          </p:cNvPr>
          <p:cNvCxnSpPr>
            <a:cxnSpLocks/>
            <a:stCxn id="132" idx="2"/>
            <a:endCxn id="19" idx="0"/>
          </p:cNvCxnSpPr>
          <p:nvPr/>
        </p:nvCxnSpPr>
        <p:spPr>
          <a:xfrm rot="5400000">
            <a:off x="4394677" y="1758208"/>
            <a:ext cx="1710187" cy="409425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4CFC5915-5074-4195-0ACA-C835A1AF5960}"/>
              </a:ext>
            </a:extLst>
          </p:cNvPr>
          <p:cNvSpPr txBox="1"/>
          <p:nvPr/>
        </p:nvSpPr>
        <p:spPr>
          <a:xfrm>
            <a:off x="8827549" y="5337144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90078F2-0871-D984-5EAE-46B087557533}"/>
              </a:ext>
            </a:extLst>
          </p:cNvPr>
          <p:cNvSpPr/>
          <p:nvPr/>
        </p:nvSpPr>
        <p:spPr>
          <a:xfrm>
            <a:off x="8157356" y="4591044"/>
            <a:ext cx="388912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 시 유의사항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3791B85-4694-4992-B7D5-C9109C17BD1C}"/>
              </a:ext>
            </a:extLst>
          </p:cNvPr>
          <p:cNvSpPr/>
          <p:nvPr/>
        </p:nvSpPr>
        <p:spPr>
          <a:xfrm>
            <a:off x="8157356" y="4863957"/>
            <a:ext cx="3889121" cy="17958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A8C6920F-D03E-3356-009A-20760403A0F9}"/>
              </a:ext>
            </a:extLst>
          </p:cNvPr>
          <p:cNvSpPr/>
          <p:nvPr/>
        </p:nvSpPr>
        <p:spPr>
          <a:xfrm>
            <a:off x="11757845" y="459104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CB827614-C01C-36D8-1133-0368A0ADFB19}"/>
              </a:ext>
            </a:extLst>
          </p:cNvPr>
          <p:cNvSpPr/>
          <p:nvPr/>
        </p:nvSpPr>
        <p:spPr>
          <a:xfrm>
            <a:off x="8265135" y="5277343"/>
            <a:ext cx="3659981" cy="817207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수의계약을 위한 견적요청 시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해당 업체에게 견적요청 메일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메시지가 자동으로 발송됩니다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 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수의계약을 위한 견적을 </a:t>
            </a:r>
            <a:r>
              <a:rPr kumimoji="1" lang="ko-KR" altLang="en-US" sz="80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6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543407E3-08DB-D5C3-C4F9-6ADB50524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257" y="541120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5B03145B-0D01-D9FA-53BB-CA7F52426086}"/>
              </a:ext>
            </a:extLst>
          </p:cNvPr>
          <p:cNvSpPr/>
          <p:nvPr/>
        </p:nvSpPr>
        <p:spPr>
          <a:xfrm>
            <a:off x="9630561" y="6207085"/>
            <a:ext cx="153321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1CAB383F-F599-72D3-5F26-53B561C24191}"/>
              </a:ext>
            </a:extLst>
          </p:cNvPr>
          <p:cNvSpPr/>
          <p:nvPr/>
        </p:nvSpPr>
        <p:spPr>
          <a:xfrm>
            <a:off x="11223518" y="620708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0DEB99F-06E6-9AD8-592F-7DD5FC18FB20}"/>
              </a:ext>
            </a:extLst>
          </p:cNvPr>
          <p:cNvSpPr/>
          <p:nvPr/>
        </p:nvSpPr>
        <p:spPr>
          <a:xfrm>
            <a:off x="8288576" y="4960345"/>
            <a:ext cx="2362826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 시 유의사항</a:t>
            </a:r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9215C054-C350-F483-70AF-CFAB15E8AC8A}"/>
              </a:ext>
            </a:extLst>
          </p:cNvPr>
          <p:cNvSpPr/>
          <p:nvPr/>
        </p:nvSpPr>
        <p:spPr>
          <a:xfrm>
            <a:off x="6357154" y="445198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1FF30FEB-A8ED-C619-29A8-EA34D0B72E7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11F061-FC06-3DB2-F239-2F4DEA239F68}"/>
              </a:ext>
            </a:extLst>
          </p:cNvPr>
          <p:cNvSpPr/>
          <p:nvPr/>
        </p:nvSpPr>
        <p:spPr>
          <a:xfrm>
            <a:off x="181506" y="4660427"/>
            <a:ext cx="604227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담당자 변경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007F64F-BC34-4782-35C1-5FFACBB91157}"/>
              </a:ext>
            </a:extLst>
          </p:cNvPr>
          <p:cNvSpPr/>
          <p:nvPr/>
        </p:nvSpPr>
        <p:spPr>
          <a:xfrm>
            <a:off x="181505" y="4933339"/>
            <a:ext cx="6042276" cy="16037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E95A97-33E7-F677-3A9F-C0AA6EFDD0F3}"/>
              </a:ext>
            </a:extLst>
          </p:cNvPr>
          <p:cNvSpPr/>
          <p:nvPr/>
        </p:nvSpPr>
        <p:spPr>
          <a:xfrm>
            <a:off x="5928175" y="466042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C433608-7F74-BE68-6822-F54A02A3BE11}"/>
              </a:ext>
            </a:extLst>
          </p:cNvPr>
          <p:cNvSpPr/>
          <p:nvPr/>
        </p:nvSpPr>
        <p:spPr>
          <a:xfrm>
            <a:off x="312725" y="5029728"/>
            <a:ext cx="135133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담당자 변경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4899F52A-B67C-1181-1FA1-378ADEC37BA3}"/>
              </a:ext>
            </a:extLst>
          </p:cNvPr>
          <p:cNvGraphicFramePr>
            <a:graphicFrameLocks noGrp="1"/>
          </p:cNvGraphicFramePr>
          <p:nvPr/>
        </p:nvGraphicFramePr>
        <p:xfrm>
          <a:off x="312725" y="5342809"/>
          <a:ext cx="5767040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7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81730">
                  <a:extLst>
                    <a:ext uri="{9D8B030D-6E8A-4147-A177-3AD203B41FA5}">
                      <a16:colId xmlns:a16="http://schemas.microsoft.com/office/drawing/2014/main" val="1183147798"/>
                    </a:ext>
                  </a:extLst>
                </a:gridCol>
                <a:gridCol w="461255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365396">
                  <a:extLst>
                    <a:ext uri="{9D8B030D-6E8A-4147-A177-3AD203B41FA5}">
                      <a16:colId xmlns:a16="http://schemas.microsoft.com/office/drawing/2014/main" val="2761937130"/>
                    </a:ext>
                  </a:extLst>
                </a:gridCol>
                <a:gridCol w="1192978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93256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247298">
                  <a:extLst>
                    <a:ext uri="{9D8B030D-6E8A-4147-A177-3AD203B41FA5}">
                      <a16:colId xmlns:a16="http://schemas.microsoft.com/office/drawing/2014/main" val="2705196257"/>
                    </a:ext>
                  </a:extLst>
                </a:gridCol>
                <a:gridCol w="574746">
                  <a:extLst>
                    <a:ext uri="{9D8B030D-6E8A-4147-A177-3AD203B41FA5}">
                      <a16:colId xmlns:a16="http://schemas.microsoft.com/office/drawing/2014/main" val="321497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담당업무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사내 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박일용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 업무 관련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DE857E9F-96BC-CB54-6F79-50EA4A8633C0}"/>
              </a:ext>
            </a:extLst>
          </p:cNvPr>
          <p:cNvSpPr/>
          <p:nvPr/>
        </p:nvSpPr>
        <p:spPr>
          <a:xfrm>
            <a:off x="5556952" y="5736100"/>
            <a:ext cx="458854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E84476F-A230-4346-CCB5-D06DCE779E06}"/>
              </a:ext>
            </a:extLst>
          </p:cNvPr>
          <p:cNvSpPr/>
          <p:nvPr/>
        </p:nvSpPr>
        <p:spPr>
          <a:xfrm>
            <a:off x="5556952" y="6077264"/>
            <a:ext cx="458854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3288812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CDFE5-71D9-16FC-07C2-44F28822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42595E0-7931-2EF7-D082-07546630BF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6C6BAA-C5AC-A597-08A6-632A6C1755E8}"/>
              </a:ext>
            </a:extLst>
          </p:cNvPr>
          <p:cNvSpPr txBox="1"/>
          <p:nvPr/>
        </p:nvSpPr>
        <p:spPr>
          <a:xfrm>
            <a:off x="749224" y="25608"/>
            <a:ext cx="35461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및 확인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현황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D817413-37F4-95DF-F697-65457D0710A3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B2F2078-0975-18DD-0165-5673170C8328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F9FD28A-D811-43B1-6F5E-AD6668CAF5F2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CA0B56-659D-E061-CB4E-A5B2C1F8E67E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A57B8E31-F4C8-35AB-B644-3A81AB077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1BCFA49-493C-8AA6-1758-6A561D171824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E8D27F-7DB2-3F72-25FA-7C777E06569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5486B8-6B9F-6A3C-2F68-C5AA5DD9FEDD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F3C6488-59DA-7EF4-F250-6C0DE580AECD}"/>
              </a:ext>
            </a:extLst>
          </p:cNvPr>
          <p:cNvSpPr txBox="1"/>
          <p:nvPr/>
        </p:nvSpPr>
        <p:spPr>
          <a:xfrm>
            <a:off x="8049344" y="584684"/>
            <a:ext cx="1856656" cy="341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 요청 후 요청 목록 화면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차수 표시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입찰견적서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업체명 클릭 시 견적요청 상세정보 화면으로 이동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상세견적서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가격이 적절한 경우 수의계약을 완료처리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 처리 시 진행상태를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가격협의 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상태로 변경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완료처리 되면 ‘최종 계약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금액’을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저장함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 화면으로 이동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F17E2F2-BBF3-CE66-77FA-3073BBFE8D59}"/>
              </a:ext>
            </a:extLst>
          </p:cNvPr>
          <p:cNvGraphicFramePr>
            <a:graphicFrameLocks noGrp="1"/>
          </p:cNvGraphicFramePr>
          <p:nvPr/>
        </p:nvGraphicFramePr>
        <p:xfrm>
          <a:off x="164463" y="812299"/>
          <a:ext cx="7728956" cy="675840"/>
        </p:xfrm>
        <a:graphic>
          <a:graphicData uri="http://schemas.openxmlformats.org/drawingml/2006/table">
            <a:tbl>
              <a:tblPr firstRow="1" bandRow="1"/>
              <a:tblGrid>
                <a:gridCol w="80016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30883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97362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86736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82869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90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42366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28246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00268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00268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견적요청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A1513BCD-80E5-30CB-40EF-BFE8638E03F2}"/>
              </a:ext>
            </a:extLst>
          </p:cNvPr>
          <p:cNvSpPr/>
          <p:nvPr/>
        </p:nvSpPr>
        <p:spPr>
          <a:xfrm>
            <a:off x="163503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3E0B1A-1317-E34A-3874-C38E95FCFB79}"/>
              </a:ext>
            </a:extLst>
          </p:cNvPr>
          <p:cNvSpPr/>
          <p:nvPr/>
        </p:nvSpPr>
        <p:spPr>
          <a:xfrm>
            <a:off x="2442062" y="1599935"/>
            <a:ext cx="1139031" cy="33653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F4F151-8898-55A5-BEC9-1F4195EDD09E}"/>
              </a:ext>
            </a:extLst>
          </p:cNvPr>
          <p:cNvSpPr/>
          <p:nvPr/>
        </p:nvSpPr>
        <p:spPr>
          <a:xfrm>
            <a:off x="3576432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876D64-ABE3-4BA7-9738-A9BDDF8C0FF5}"/>
              </a:ext>
            </a:extLst>
          </p:cNvPr>
          <p:cNvSpPr/>
          <p:nvPr/>
        </p:nvSpPr>
        <p:spPr>
          <a:xfrm>
            <a:off x="1305150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3ECE49E-3EB5-A6B4-EE11-2678C3563C5D}"/>
              </a:ext>
            </a:extLst>
          </p:cNvPr>
          <p:cNvCxnSpPr>
            <a:cxnSpLocks/>
          </p:cNvCxnSpPr>
          <p:nvPr/>
        </p:nvCxnSpPr>
        <p:spPr>
          <a:xfrm>
            <a:off x="167468" y="19325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2EDBA0E-7A5C-2390-079E-D91EF80BC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442424"/>
              </p:ext>
            </p:extLst>
          </p:nvPr>
        </p:nvGraphicFramePr>
        <p:xfrm>
          <a:off x="163503" y="2095399"/>
          <a:ext cx="7729918" cy="1351680"/>
        </p:xfrm>
        <a:graphic>
          <a:graphicData uri="http://schemas.openxmlformats.org/drawingml/2006/table">
            <a:tbl>
              <a:tblPr firstRow="1" bandRow="1"/>
              <a:tblGrid>
                <a:gridCol w="29825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9345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860024">
                  <a:extLst>
                    <a:ext uri="{9D8B030D-6E8A-4147-A177-3AD203B41FA5}">
                      <a16:colId xmlns:a16="http://schemas.microsoft.com/office/drawing/2014/main" val="4052911490"/>
                    </a:ext>
                  </a:extLst>
                </a:gridCol>
                <a:gridCol w="839393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52280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1052280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00868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16866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1008685">
                  <a:extLst>
                    <a:ext uri="{9D8B030D-6E8A-4147-A177-3AD203B41FA5}">
                      <a16:colId xmlns:a16="http://schemas.microsoft.com/office/drawing/2014/main" val="1411592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차수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 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제출 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견적 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상세견적서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QT2026-0031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업체명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2026.08.15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상세견적서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(0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파일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참여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QT2026-0030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업체명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2026.07.30 15:40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상세견적서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파일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참여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QT2026-0029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업체명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2026.07.15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2026.07.14 17:20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190,000,000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상세견적서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파일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참여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5C79CCB7-C060-E1F2-890F-0AE65525F1C9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0E86153-77B5-3F02-4191-87858DABCDB9}"/>
              </a:ext>
            </a:extLst>
          </p:cNvPr>
          <p:cNvSpPr/>
          <p:nvPr/>
        </p:nvSpPr>
        <p:spPr>
          <a:xfrm>
            <a:off x="57617" y="198884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1B18D1B-195A-B27C-05A7-5C9ED78DEA80}"/>
              </a:ext>
            </a:extLst>
          </p:cNvPr>
          <p:cNvSpPr/>
          <p:nvPr/>
        </p:nvSpPr>
        <p:spPr>
          <a:xfrm>
            <a:off x="852904" y="198884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B1AC8E-A50B-9257-E719-A9DF9AA3DB12}"/>
              </a:ext>
            </a:extLst>
          </p:cNvPr>
          <p:cNvSpPr/>
          <p:nvPr/>
        </p:nvSpPr>
        <p:spPr>
          <a:xfrm>
            <a:off x="163503" y="3543276"/>
            <a:ext cx="7729916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수의계약을 완료 처리하시겠습니까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9B40ECB-0C7D-837B-82E6-E52923B270A3}"/>
              </a:ext>
            </a:extLst>
          </p:cNvPr>
          <p:cNvSpPr/>
          <p:nvPr/>
        </p:nvSpPr>
        <p:spPr>
          <a:xfrm>
            <a:off x="5659616" y="198884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C3D9E3C-A0F1-4138-69B2-9D24E3A07630}"/>
              </a:ext>
            </a:extLst>
          </p:cNvPr>
          <p:cNvSpPr/>
          <p:nvPr/>
        </p:nvSpPr>
        <p:spPr>
          <a:xfrm>
            <a:off x="1712640" y="198884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2F8BC10-A8CC-AC9C-5060-BB203F01EB30}"/>
              </a:ext>
            </a:extLst>
          </p:cNvPr>
          <p:cNvSpPr/>
          <p:nvPr/>
        </p:nvSpPr>
        <p:spPr>
          <a:xfrm>
            <a:off x="5679508" y="3625189"/>
            <a:ext cx="1137485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완료처리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929508-CC50-240A-9EB5-4548F49EA838}"/>
              </a:ext>
            </a:extLst>
          </p:cNvPr>
          <p:cNvSpPr/>
          <p:nvPr/>
        </p:nvSpPr>
        <p:spPr>
          <a:xfrm>
            <a:off x="163503" y="4072318"/>
            <a:ext cx="7729916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견적 수신 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가격이 적합하지 않으면 재견적을 요청할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재견적을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9DC5C3-E48F-401C-4AF6-1A3E1C56F2B4}"/>
              </a:ext>
            </a:extLst>
          </p:cNvPr>
          <p:cNvSpPr/>
          <p:nvPr/>
        </p:nvSpPr>
        <p:spPr>
          <a:xfrm>
            <a:off x="6654052" y="4155915"/>
            <a:ext cx="1137485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재견적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요청하기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0EDCD4F-C993-E158-6D3E-DE380F49A56E}"/>
              </a:ext>
            </a:extLst>
          </p:cNvPr>
          <p:cNvSpPr/>
          <p:nvPr/>
        </p:nvSpPr>
        <p:spPr>
          <a:xfrm>
            <a:off x="6546040" y="405652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1E091F2-56D0-B2CF-4B58-2D72F2154980}"/>
              </a:ext>
            </a:extLst>
          </p:cNvPr>
          <p:cNvSpPr/>
          <p:nvPr/>
        </p:nvSpPr>
        <p:spPr>
          <a:xfrm>
            <a:off x="5571496" y="35155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AC7315-E9FF-7249-9792-D6A950A6B47F}"/>
              </a:ext>
            </a:extLst>
          </p:cNvPr>
          <p:cNvSpPr txBox="1"/>
          <p:nvPr/>
        </p:nvSpPr>
        <p:spPr>
          <a:xfrm>
            <a:off x="843287" y="5382673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85331F3-3966-CD4F-6688-E5A1C1A8E21D}"/>
              </a:ext>
            </a:extLst>
          </p:cNvPr>
          <p:cNvSpPr/>
          <p:nvPr/>
        </p:nvSpPr>
        <p:spPr>
          <a:xfrm>
            <a:off x="173094" y="4636573"/>
            <a:ext cx="388912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완료처리 시 유의사항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86B2D14-1AEE-0F42-2E95-6658B96BE487}"/>
              </a:ext>
            </a:extLst>
          </p:cNvPr>
          <p:cNvSpPr/>
          <p:nvPr/>
        </p:nvSpPr>
        <p:spPr>
          <a:xfrm>
            <a:off x="173094" y="4909486"/>
            <a:ext cx="3889121" cy="17958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8F52A8-41E1-E3F4-DA27-31007BC5A121}"/>
              </a:ext>
            </a:extLst>
          </p:cNvPr>
          <p:cNvSpPr/>
          <p:nvPr/>
        </p:nvSpPr>
        <p:spPr>
          <a:xfrm>
            <a:off x="3773583" y="463657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C32099-64A5-20B4-610D-3720103D0A9B}"/>
              </a:ext>
            </a:extLst>
          </p:cNvPr>
          <p:cNvSpPr/>
          <p:nvPr/>
        </p:nvSpPr>
        <p:spPr>
          <a:xfrm>
            <a:off x="280873" y="5322872"/>
            <a:ext cx="3659981" cy="817207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완료 처리 시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선정 업체를 대상으로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재견적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등의 업무처리가 불가합니다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수의계약을 완료 처리하시겠습니까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3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9F3C1E8E-165F-352B-3DC2-41D25EF50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95" y="5456733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D566BC-CFF0-C74F-3D53-FE5D43E3E545}"/>
              </a:ext>
            </a:extLst>
          </p:cNvPr>
          <p:cNvSpPr/>
          <p:nvPr/>
        </p:nvSpPr>
        <p:spPr>
          <a:xfrm>
            <a:off x="2044018" y="6252614"/>
            <a:ext cx="113549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완료처리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C4E733A-6DB2-E433-76A7-E90B9C30B9F7}"/>
              </a:ext>
            </a:extLst>
          </p:cNvPr>
          <p:cNvSpPr/>
          <p:nvPr/>
        </p:nvSpPr>
        <p:spPr>
          <a:xfrm>
            <a:off x="3239256" y="625261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1AF7A73-67B0-E970-3E2A-1ACFFD883CF1}"/>
              </a:ext>
            </a:extLst>
          </p:cNvPr>
          <p:cNvSpPr/>
          <p:nvPr/>
        </p:nvSpPr>
        <p:spPr>
          <a:xfrm>
            <a:off x="304314" y="5005874"/>
            <a:ext cx="192360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완료처리 시 유의사항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FDF3B14-A1D7-C6A7-D067-EFE190E4279B}"/>
              </a:ext>
            </a:extLst>
          </p:cNvPr>
          <p:cNvSpPr/>
          <p:nvPr/>
        </p:nvSpPr>
        <p:spPr>
          <a:xfrm>
            <a:off x="1894839" y="616865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76853926-80B7-2B58-7223-3FA77B44323E}"/>
              </a:ext>
            </a:extLst>
          </p:cNvPr>
          <p:cNvCxnSpPr>
            <a:cxnSpLocks/>
            <a:stCxn id="25" idx="1"/>
            <a:endCxn id="35" idx="0"/>
          </p:cNvCxnSpPr>
          <p:nvPr/>
        </p:nvCxnSpPr>
        <p:spPr>
          <a:xfrm rot="10800000" flipV="1">
            <a:off x="2117656" y="3769205"/>
            <a:ext cx="3561853" cy="867368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1E5F237A-4A35-00F3-3825-33D565D59776}"/>
              </a:ext>
            </a:extLst>
          </p:cNvPr>
          <p:cNvSpPr/>
          <p:nvPr/>
        </p:nvSpPr>
        <p:spPr>
          <a:xfrm>
            <a:off x="6804427" y="198884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07C8ECF-EBD6-1D52-0E07-5AB3441724F3}"/>
              </a:ext>
            </a:extLst>
          </p:cNvPr>
          <p:cNvSpPr/>
          <p:nvPr/>
        </p:nvSpPr>
        <p:spPr>
          <a:xfrm>
            <a:off x="4219964" y="4636573"/>
            <a:ext cx="528904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확인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90409FF-1799-50A7-4894-EDC4BBAA67B0}"/>
              </a:ext>
            </a:extLst>
          </p:cNvPr>
          <p:cNvSpPr/>
          <p:nvPr/>
        </p:nvSpPr>
        <p:spPr>
          <a:xfrm>
            <a:off x="4219964" y="4909486"/>
            <a:ext cx="5289041" cy="2238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611B439D-E6A5-ABED-B7B1-9E3D8FD59CD1}"/>
              </a:ext>
            </a:extLst>
          </p:cNvPr>
          <p:cNvSpPr/>
          <p:nvPr/>
        </p:nvSpPr>
        <p:spPr>
          <a:xfrm>
            <a:off x="9239005" y="463657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44163C77-08D0-4381-45F3-ECB6B34E0D25}"/>
              </a:ext>
            </a:extLst>
          </p:cNvPr>
          <p:cNvSpPr/>
          <p:nvPr/>
        </p:nvSpPr>
        <p:spPr>
          <a:xfrm>
            <a:off x="4351184" y="5005874"/>
            <a:ext cx="1524456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 확인</a:t>
            </a:r>
          </a:p>
        </p:txBody>
      </p:sp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4B7D12A5-750A-CC50-C017-85BD8DA87BC6}"/>
              </a:ext>
            </a:extLst>
          </p:cNvPr>
          <p:cNvGraphicFramePr>
            <a:graphicFrameLocks noGrp="1"/>
          </p:cNvGraphicFramePr>
          <p:nvPr/>
        </p:nvGraphicFramePr>
        <p:xfrm>
          <a:off x="4342301" y="5332480"/>
          <a:ext cx="5039191" cy="1351680"/>
        </p:xfrm>
        <a:graphic>
          <a:graphicData uri="http://schemas.openxmlformats.org/drawingml/2006/table">
            <a:tbl>
              <a:tblPr firstRow="1" bandRow="1"/>
              <a:tblGrid>
                <a:gridCol w="38298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31137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3344833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참여 서류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첨부파일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</a:tbl>
          </a:graphicData>
        </a:graphic>
      </p:graphicFrame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5BCB095B-64A6-4E3D-5D81-809A9717DEE7}"/>
              </a:ext>
            </a:extLst>
          </p:cNvPr>
          <p:cNvGrpSpPr/>
          <p:nvPr/>
        </p:nvGrpSpPr>
        <p:grpSpPr>
          <a:xfrm>
            <a:off x="7058484" y="5738684"/>
            <a:ext cx="1275802" cy="198885"/>
            <a:chOff x="3437130" y="1030552"/>
            <a:chExt cx="1275802" cy="198885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B98FCF19-FEFC-A434-CF97-E07E58324CCE}"/>
                </a:ext>
              </a:extLst>
            </p:cNvPr>
            <p:cNvSpPr/>
            <p:nvPr/>
          </p:nvSpPr>
          <p:spPr>
            <a:xfrm>
              <a:off x="3437130" y="103055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2035316F-5D49-50B2-192B-5C5D6BCB7656}"/>
                </a:ext>
              </a:extLst>
            </p:cNvPr>
            <p:cNvSpPr/>
            <p:nvPr/>
          </p:nvSpPr>
          <p:spPr>
            <a:xfrm>
              <a:off x="4099967" y="103055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B534C602-5DF8-E682-66C4-A98E7AE1DB9D}"/>
              </a:ext>
            </a:extLst>
          </p:cNvPr>
          <p:cNvGrpSpPr/>
          <p:nvPr/>
        </p:nvGrpSpPr>
        <p:grpSpPr>
          <a:xfrm>
            <a:off x="7058484" y="6076272"/>
            <a:ext cx="1275802" cy="198885"/>
            <a:chOff x="3545142" y="4085591"/>
            <a:chExt cx="1275802" cy="198885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5026F68C-144C-A4CF-4394-01DAA7DC545E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6E289740-47EF-5AAA-AF0E-0C0AFE3A662C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74F3F8B7-6A98-0F9F-0004-E9DA87802521}"/>
              </a:ext>
            </a:extLst>
          </p:cNvPr>
          <p:cNvGrpSpPr/>
          <p:nvPr/>
        </p:nvGrpSpPr>
        <p:grpSpPr>
          <a:xfrm>
            <a:off x="7058484" y="6413860"/>
            <a:ext cx="1275802" cy="198885"/>
            <a:chOff x="3545142" y="4085591"/>
            <a:chExt cx="1275802" cy="198885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F57E7139-6815-D633-ABF2-388BF4012E08}"/>
                </a:ext>
              </a:extLst>
            </p:cNvPr>
            <p:cNvSpPr/>
            <p:nvPr/>
          </p:nvSpPr>
          <p:spPr>
            <a:xfrm>
              <a:off x="3545142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EB676775-0E43-4CA7-CCDA-E85A2098323C}"/>
                </a:ext>
              </a:extLst>
            </p:cNvPr>
            <p:cNvSpPr/>
            <p:nvPr/>
          </p:nvSpPr>
          <p:spPr>
            <a:xfrm>
              <a:off x="4207979" y="4085591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AB8955E7-79DB-CF6D-4538-61351349ACD3}"/>
              </a:ext>
            </a:extLst>
          </p:cNvPr>
          <p:cNvSpPr/>
          <p:nvPr/>
        </p:nvSpPr>
        <p:spPr>
          <a:xfrm>
            <a:off x="8674587" y="6769436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AE055EC-76BF-7165-309B-9717CFAF4996}"/>
              </a:ext>
            </a:extLst>
          </p:cNvPr>
          <p:cNvSpPr/>
          <p:nvPr/>
        </p:nvSpPr>
        <p:spPr>
          <a:xfrm>
            <a:off x="6856173" y="3623562"/>
            <a:ext cx="934690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공고취소</a:t>
            </a:r>
          </a:p>
        </p:txBody>
      </p:sp>
    </p:spTree>
    <p:extLst>
      <p:ext uri="{BB962C8B-B14F-4D97-AF65-F5344CB8AC3E}">
        <p14:creationId xmlns:p14="http://schemas.microsoft.com/office/powerpoint/2010/main" val="1873602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176B-D6D2-FCCD-5F8D-BC68B4C2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67C0A4CE-14EF-FEFA-DFF4-6B85F91DAB57}"/>
              </a:ext>
            </a:extLst>
          </p:cNvPr>
          <p:cNvSpPr txBox="1"/>
          <p:nvPr/>
        </p:nvSpPr>
        <p:spPr>
          <a:xfrm>
            <a:off x="749224" y="25608"/>
            <a:ext cx="37834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및 확인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공고취소 처리하기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C3C44F5-D24F-8C99-73F3-65F0AB1B25C9}"/>
              </a:ext>
            </a:extLst>
          </p:cNvPr>
          <p:cNvSpPr/>
          <p:nvPr/>
        </p:nvSpPr>
        <p:spPr>
          <a:xfrm>
            <a:off x="164468" y="421916"/>
            <a:ext cx="547260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공고취소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처리하기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DA343B4-7DFC-01F0-2F3D-B1B8DD7BEE96}"/>
              </a:ext>
            </a:extLst>
          </p:cNvPr>
          <p:cNvSpPr/>
          <p:nvPr/>
        </p:nvSpPr>
        <p:spPr>
          <a:xfrm>
            <a:off x="164468" y="694828"/>
            <a:ext cx="5472608" cy="260740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04EE8E3-F87F-AC3B-D256-788FC1AC98F8}"/>
              </a:ext>
            </a:extLst>
          </p:cNvPr>
          <p:cNvSpPr/>
          <p:nvPr/>
        </p:nvSpPr>
        <p:spPr>
          <a:xfrm>
            <a:off x="5371103" y="42191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059FFA3-F57D-4676-D877-3CAEA16FB3CA}"/>
              </a:ext>
            </a:extLst>
          </p:cNvPr>
          <p:cNvSpPr/>
          <p:nvPr/>
        </p:nvSpPr>
        <p:spPr>
          <a:xfrm>
            <a:off x="272248" y="1108215"/>
            <a:ext cx="5220812" cy="1185909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공고취소로 처리하면 해당 </a:t>
            </a:r>
            <a:r>
              <a:rPr lang="ko-KR" altLang="en-US" sz="800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공고건은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무효가 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이후 업무 진행이 불가능하여 아래의 경우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공고취소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처리합니다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낙찰업체 또는 수의계약업체가 계약을 포기하는 경우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과정 중 가격협의가 이루어지지 않는 경우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 주관기관과 낙찰업체에게 특별한 사정이 있는 경우 등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5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BFC2CFEF-3CAA-A8B0-C1E4-72163E93A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70" y="141594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F5221B1A-D070-82F1-5028-369E19357B14}"/>
              </a:ext>
            </a:extLst>
          </p:cNvPr>
          <p:cNvSpPr/>
          <p:nvPr/>
        </p:nvSpPr>
        <p:spPr>
          <a:xfrm>
            <a:off x="295689" y="791596"/>
            <a:ext cx="117820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공고취소 처리하기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EF5857-A404-FFE3-3F0A-72EF7655B7DA}"/>
              </a:ext>
            </a:extLst>
          </p:cNvPr>
          <p:cNvSpPr txBox="1"/>
          <p:nvPr/>
        </p:nvSpPr>
        <p:spPr>
          <a:xfrm>
            <a:off x="8049344" y="584684"/>
            <a:ext cx="1856656" cy="183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공고취소 처리 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공고취소로 처리하면 해당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공고건은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무효가 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이후 업무 진행이 불가능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진행상태가 ‘공고취소’로 변경되어 종료됨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이후 본 공고가 다시 진행되려면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요청부터 다시 시작해야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별도의 건으로 취급함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F060B326-EF9E-0545-2022-55D30A2A2D33}"/>
              </a:ext>
            </a:extLst>
          </p:cNvPr>
          <p:cNvGraphicFramePr>
            <a:graphicFrameLocks noGrp="1"/>
          </p:cNvGraphicFramePr>
          <p:nvPr/>
        </p:nvGraphicFramePr>
        <p:xfrm>
          <a:off x="278798" y="2374136"/>
          <a:ext cx="5214262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02613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공고취소 사유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메모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C2786F83-8D4E-E38E-AA49-6874A802BFD3}"/>
              </a:ext>
            </a:extLst>
          </p:cNvPr>
          <p:cNvSpPr/>
          <p:nvPr/>
        </p:nvSpPr>
        <p:spPr>
          <a:xfrm>
            <a:off x="1564866" y="2434146"/>
            <a:ext cx="3806237" cy="215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입력해주세요.</a:t>
            </a:r>
            <a:endParaRPr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10420E8-4D06-1BCB-CD2E-1E7BE70CFAA9}"/>
              </a:ext>
            </a:extLst>
          </p:cNvPr>
          <p:cNvSpPr/>
          <p:nvPr/>
        </p:nvSpPr>
        <p:spPr>
          <a:xfrm>
            <a:off x="4801161" y="279711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516069-ED45-B973-61EB-6793E982DD1A}"/>
              </a:ext>
            </a:extLst>
          </p:cNvPr>
          <p:cNvSpPr/>
          <p:nvPr/>
        </p:nvSpPr>
        <p:spPr>
          <a:xfrm>
            <a:off x="3512839" y="2797119"/>
            <a:ext cx="122155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공고취소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처리하기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7A30CAC9-B308-C644-6F7C-8095173B1AEE}"/>
              </a:ext>
            </a:extLst>
          </p:cNvPr>
          <p:cNvSpPr/>
          <p:nvPr/>
        </p:nvSpPr>
        <p:spPr>
          <a:xfrm>
            <a:off x="3400800" y="268754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388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F90A-8C5E-5A49-972B-7D13B8DB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561A8E1-1674-6097-0C47-795F23BA95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9576D4-BCB8-218B-AB40-98C76DA3D45E}"/>
              </a:ext>
            </a:extLst>
          </p:cNvPr>
          <p:cNvSpPr txBox="1"/>
          <p:nvPr/>
        </p:nvSpPr>
        <p:spPr>
          <a:xfrm>
            <a:off x="749224" y="25608"/>
            <a:ext cx="44181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및 확인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BC8136-4AFD-3AA1-9BE5-E6FD74F27160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E2B3334-EB33-98E8-4540-80267121AAC8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0EFA156-3B22-D9A4-EA67-49D64DA00128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DA34CF-66C0-1212-BA46-3D1BDB59940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E86A12D1-9F21-0DFD-92A9-B50E1EE8A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BA03BE3-0936-E233-039A-A83605BCAFD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1ADA7C3-5A65-72D3-89C1-727792A287B7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B5255D-EC07-FF67-1A13-E4D278C9C42E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26B9C73-65CB-CA00-6E1C-75FCE0A1F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414407"/>
              </p:ext>
            </p:extLst>
          </p:nvPr>
        </p:nvGraphicFramePr>
        <p:xfrm>
          <a:off x="164464" y="812299"/>
          <a:ext cx="7740859" cy="675840"/>
        </p:xfrm>
        <a:graphic>
          <a:graphicData uri="http://schemas.openxmlformats.org/drawingml/2006/table">
            <a:tbl>
              <a:tblPr firstRow="1" bandRow="1"/>
              <a:tblGrid>
                <a:gridCol w="83215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52111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75828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420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1501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2118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계획수립 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9FE0205B-31EE-565E-A6DE-57D2D13E351C}"/>
              </a:ext>
            </a:extLst>
          </p:cNvPr>
          <p:cNvSpPr/>
          <p:nvPr/>
        </p:nvSpPr>
        <p:spPr>
          <a:xfrm>
            <a:off x="163503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C86666-EF05-7035-C49E-E3A77754AEB5}"/>
              </a:ext>
            </a:extLst>
          </p:cNvPr>
          <p:cNvSpPr/>
          <p:nvPr/>
        </p:nvSpPr>
        <p:spPr>
          <a:xfrm>
            <a:off x="2442062" y="1599935"/>
            <a:ext cx="1139031" cy="33653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E0E0CF-B3CF-4BA9-F7F6-E5F2F7E7C755}"/>
              </a:ext>
            </a:extLst>
          </p:cNvPr>
          <p:cNvSpPr/>
          <p:nvPr/>
        </p:nvSpPr>
        <p:spPr>
          <a:xfrm>
            <a:off x="3576432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EA3D57-02D5-1247-CEC9-C929161BC3A1}"/>
              </a:ext>
            </a:extLst>
          </p:cNvPr>
          <p:cNvSpPr/>
          <p:nvPr/>
        </p:nvSpPr>
        <p:spPr>
          <a:xfrm>
            <a:off x="1305150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F6E6F78-565C-3FCC-56F2-04D2BB077D24}"/>
              </a:ext>
            </a:extLst>
          </p:cNvPr>
          <p:cNvCxnSpPr>
            <a:cxnSpLocks/>
          </p:cNvCxnSpPr>
          <p:nvPr/>
        </p:nvCxnSpPr>
        <p:spPr>
          <a:xfrm>
            <a:off x="167468" y="19325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CFE8CE-43C2-7D97-0405-C6F452A002C0}"/>
              </a:ext>
            </a:extLst>
          </p:cNvPr>
          <p:cNvSpPr/>
          <p:nvPr/>
        </p:nvSpPr>
        <p:spPr>
          <a:xfrm>
            <a:off x="181506" y="2042460"/>
            <a:ext cx="1313872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담당자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BC115A8-CB3A-B9C0-08D2-30DB4F7F22AE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339118"/>
          <a:ext cx="771949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342">
                  <a:extLst>
                    <a:ext uri="{9D8B030D-6E8A-4147-A177-3AD203B41FA5}">
                      <a16:colId xmlns:a16="http://schemas.microsoft.com/office/drawing/2014/main" val="3916647765"/>
                    </a:ext>
                  </a:extLst>
                </a:gridCol>
                <a:gridCol w="882277">
                  <a:extLst>
                    <a:ext uri="{9D8B030D-6E8A-4147-A177-3AD203B41FA5}">
                      <a16:colId xmlns:a16="http://schemas.microsoft.com/office/drawing/2014/main" val="1183147798"/>
                    </a:ext>
                  </a:extLst>
                </a:gridCol>
                <a:gridCol w="596945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448814">
                  <a:extLst>
                    <a:ext uri="{9D8B030D-6E8A-4147-A177-3AD203B41FA5}">
                      <a16:colId xmlns:a16="http://schemas.microsoft.com/office/drawing/2014/main" val="2761937130"/>
                    </a:ext>
                  </a:extLst>
                </a:gridCol>
                <a:gridCol w="1455071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120689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042186">
                  <a:extLst>
                    <a:ext uri="{9D8B030D-6E8A-4147-A177-3AD203B41FA5}">
                      <a16:colId xmlns:a16="http://schemas.microsoft.com/office/drawing/2014/main" val="3329224653"/>
                    </a:ext>
                  </a:extLst>
                </a:gridCol>
                <a:gridCol w="1355966">
                  <a:extLst>
                    <a:ext uri="{9D8B030D-6E8A-4147-A177-3AD203B41FA5}">
                      <a16:colId xmlns:a16="http://schemas.microsoft.com/office/drawing/2014/main" val="2705196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담당업무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02-6959-9856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사내 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9F3AB5-6D65-483E-8E3D-A1CBBF330B05}"/>
              </a:ext>
            </a:extLst>
          </p:cNvPr>
          <p:cNvSpPr/>
          <p:nvPr/>
        </p:nvSpPr>
        <p:spPr>
          <a:xfrm>
            <a:off x="181506" y="3131191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수의계약을 위한 견적요청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6EDC735-D371-D799-804E-D50C6D951F5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417974"/>
          <a:ext cx="774085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마감 일시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2026.08.15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사항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귀사와의 수의계약을 위해 견적서 제출을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요청드립니다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요청 시 전달 자료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42041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F493F643-A11F-7278-B9AF-C44D7AE940A2}"/>
              </a:ext>
            </a:extLst>
          </p:cNvPr>
          <p:cNvSpPr/>
          <p:nvPr/>
        </p:nvSpPr>
        <p:spPr>
          <a:xfrm>
            <a:off x="184392" y="4542273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D09D48A-ACAD-F142-A6F1-6243830189DE}"/>
              </a:ext>
            </a:extLst>
          </p:cNvPr>
          <p:cNvSpPr/>
          <p:nvPr/>
        </p:nvSpPr>
        <p:spPr>
          <a:xfrm>
            <a:off x="2696614" y="415964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66AB802-03A3-7DCC-566F-A3FF81A561EC}"/>
              </a:ext>
            </a:extLst>
          </p:cNvPr>
          <p:cNvSpPr/>
          <p:nvPr/>
        </p:nvSpPr>
        <p:spPr>
          <a:xfrm>
            <a:off x="3359451" y="415964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2475275-5F8E-2C94-190D-554FC49433F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1885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87F7A-3B47-7F5D-3127-F492CEA3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28B3054-46A6-A0B0-7585-B57C8B544E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068D26-374C-AA42-42E8-7465CE4B15B3}"/>
              </a:ext>
            </a:extLst>
          </p:cNvPr>
          <p:cNvSpPr txBox="1"/>
          <p:nvPr/>
        </p:nvSpPr>
        <p:spPr>
          <a:xfrm>
            <a:off x="749224" y="25608"/>
            <a:ext cx="3324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및 확인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43FD13-AAF4-03FD-79F3-6B2D6B8D4992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939BA32-C7E7-4B1F-F70F-74A7E4CDA35A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B95D265-26ED-FE90-656B-C8F83DC88F9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4BDAAB-18A4-95ED-3339-52DC6659648B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E90C9425-89D5-226F-A100-F9B783462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74C0493-9008-5A69-DA73-6D2B1DDC7EE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87DF7B-51E6-0FD4-7002-CEFFAA7B575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E2200C-B59F-7319-7278-DCE0B20AEFA8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9A88CA6-A1AA-A16D-4AF7-007E7AD3DD12}"/>
              </a:ext>
            </a:extLst>
          </p:cNvPr>
          <p:cNvSpPr txBox="1"/>
          <p:nvPr/>
        </p:nvSpPr>
        <p:spPr>
          <a:xfrm>
            <a:off x="8049344" y="584684"/>
            <a:ext cx="1856656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저장된 ‘최종 계약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금액’을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보여줌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자동계산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소수 셋째 자리 반올림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대금 지급조건 선택에 따라 아래의 입력 폼이 달라짐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기성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준공의 비율 입력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비율은 반드시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100%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되어야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중도금 선택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 입력항목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텍스트박스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보여줌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하기 위해서는  반드시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 상대자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와 매핑 시켜야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에 전송될 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코드가 넘어가야 하기 때문임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매핑이 된 경우에는 회사명 옆에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거래처 코드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를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정보와 매핑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1DFA6B4-25D7-AAB8-B016-CA578DFB4020}"/>
              </a:ext>
            </a:extLst>
          </p:cNvPr>
          <p:cNvGraphicFramePr>
            <a:graphicFrameLocks noGrp="1"/>
          </p:cNvGraphicFramePr>
          <p:nvPr/>
        </p:nvGraphicFramePr>
        <p:xfrm>
          <a:off x="164464" y="812299"/>
          <a:ext cx="7740859" cy="675840"/>
        </p:xfrm>
        <a:graphic>
          <a:graphicData uri="http://schemas.openxmlformats.org/drawingml/2006/table">
            <a:tbl>
              <a:tblPr firstRow="1" bandRow="1"/>
              <a:tblGrid>
                <a:gridCol w="83215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52111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75828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420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1501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2118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계획수립 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8ADD10A0-59D6-B309-5E47-AD3250BB42D5}"/>
              </a:ext>
            </a:extLst>
          </p:cNvPr>
          <p:cNvSpPr/>
          <p:nvPr/>
        </p:nvSpPr>
        <p:spPr>
          <a:xfrm>
            <a:off x="163503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AFAC03-1DA3-5E5E-8D1F-215FD0197B3B}"/>
              </a:ext>
            </a:extLst>
          </p:cNvPr>
          <p:cNvSpPr/>
          <p:nvPr/>
        </p:nvSpPr>
        <p:spPr>
          <a:xfrm>
            <a:off x="2442062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3758A9-6465-7373-CA9F-E848C0D01103}"/>
              </a:ext>
            </a:extLst>
          </p:cNvPr>
          <p:cNvSpPr/>
          <p:nvPr/>
        </p:nvSpPr>
        <p:spPr>
          <a:xfrm>
            <a:off x="3576432" y="1599935"/>
            <a:ext cx="1139031" cy="33653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2F0F4E-0BB4-4948-112B-C562E0E1AEB2}"/>
              </a:ext>
            </a:extLst>
          </p:cNvPr>
          <p:cNvSpPr/>
          <p:nvPr/>
        </p:nvSpPr>
        <p:spPr>
          <a:xfrm>
            <a:off x="1305150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D6623A-AD4B-2500-653D-444DFA9ADEA9}"/>
              </a:ext>
            </a:extLst>
          </p:cNvPr>
          <p:cNvCxnSpPr>
            <a:cxnSpLocks/>
          </p:cNvCxnSpPr>
          <p:nvPr/>
        </p:nvCxnSpPr>
        <p:spPr>
          <a:xfrm>
            <a:off x="167468" y="19325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D0E85B8-82AA-1150-6824-36FAE2C823C0}"/>
              </a:ext>
            </a:extLst>
          </p:cNvPr>
          <p:cNvSpPr/>
          <p:nvPr/>
        </p:nvSpPr>
        <p:spPr>
          <a:xfrm>
            <a:off x="0" y="6597352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F48CCF-0571-F991-2B07-EF9F2CF678FD}"/>
              </a:ext>
            </a:extLst>
          </p:cNvPr>
          <p:cNvSpPr/>
          <p:nvPr/>
        </p:nvSpPr>
        <p:spPr>
          <a:xfrm>
            <a:off x="181506" y="2052222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FDCAE35-9974-6ECF-0F4D-BA3F9469D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591226"/>
              </p:ext>
            </p:extLst>
          </p:nvPr>
        </p:nvGraphicFramePr>
        <p:xfrm>
          <a:off x="164467" y="2339005"/>
          <a:ext cx="7740859" cy="343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계약명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승강기설치공사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&gt; 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거래처 코드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매핑 안됨 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|  02663)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42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계약금액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48,507,800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사천팔백오십만칠천팔백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원정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VAT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포함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796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대비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90.069%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903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공급가액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사천사백구만팔천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원정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470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대금 지급조건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○ 분할     ○ 일괄     ○ 기타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선금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                                 %  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기성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                                 %  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준공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                                 %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○ 선금    ○ 준공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134733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BD3C39-4BDC-0E18-15FA-33272A9CD533}"/>
              </a:ext>
            </a:extLst>
          </p:cNvPr>
          <p:cNvSpPr/>
          <p:nvPr/>
        </p:nvSpPr>
        <p:spPr>
          <a:xfrm>
            <a:off x="2161215" y="5484796"/>
            <a:ext cx="482316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.(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기성금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매월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3C34E09-B15C-D812-5D9F-A5861D11DF34}"/>
              </a:ext>
            </a:extLst>
          </p:cNvPr>
          <p:cNvSpPr/>
          <p:nvPr/>
        </p:nvSpPr>
        <p:spPr>
          <a:xfrm>
            <a:off x="1604201" y="364662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B8C221B-3492-A546-3413-2F875F588C64}"/>
              </a:ext>
            </a:extLst>
          </p:cNvPr>
          <p:cNvSpPr/>
          <p:nvPr/>
        </p:nvSpPr>
        <p:spPr>
          <a:xfrm>
            <a:off x="1604201" y="393990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F481E5-D73B-1261-0AAA-BE1BAD83B8E8}"/>
              </a:ext>
            </a:extLst>
          </p:cNvPr>
          <p:cNvSpPr/>
          <p:nvPr/>
        </p:nvSpPr>
        <p:spPr>
          <a:xfrm>
            <a:off x="2168289" y="500523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AB59CA9-E1D5-6CB8-4F4C-025C7225A467}"/>
              </a:ext>
            </a:extLst>
          </p:cNvPr>
          <p:cNvSpPr/>
          <p:nvPr/>
        </p:nvSpPr>
        <p:spPr>
          <a:xfrm>
            <a:off x="3656167" y="500523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327A8D4-BD33-C9DA-34C7-03B155AF25AD}"/>
              </a:ext>
            </a:extLst>
          </p:cNvPr>
          <p:cNvSpPr/>
          <p:nvPr/>
        </p:nvSpPr>
        <p:spPr>
          <a:xfrm>
            <a:off x="5135419" y="500523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0C61793-1849-4430-4CF8-17AD1AD0F6C1}"/>
              </a:ext>
            </a:extLst>
          </p:cNvPr>
          <p:cNvSpPr/>
          <p:nvPr/>
        </p:nvSpPr>
        <p:spPr>
          <a:xfrm>
            <a:off x="1604201" y="462508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B9A30F2-9BBD-EF3D-9368-BA2952B50C80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5760634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168839085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4170777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용역기한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~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214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 날인 시 유효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5157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525516-4BD1-D25C-7679-D9C197227358}"/>
              </a:ext>
            </a:extLst>
          </p:cNvPr>
          <p:cNvSpPr/>
          <p:nvPr/>
        </p:nvSpPr>
        <p:spPr>
          <a:xfrm>
            <a:off x="1820225" y="581675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1A0E12-0377-2069-988B-619FD9FFD159}"/>
              </a:ext>
            </a:extLst>
          </p:cNvPr>
          <p:cNvSpPr/>
          <p:nvPr/>
        </p:nvSpPr>
        <p:spPr>
          <a:xfrm>
            <a:off x="2630476" y="581675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E8CF321-1FDE-3143-73A7-D1723F78D5DD}"/>
              </a:ext>
            </a:extLst>
          </p:cNvPr>
          <p:cNvSpPr/>
          <p:nvPr/>
        </p:nvSpPr>
        <p:spPr>
          <a:xfrm>
            <a:off x="3041347" y="581675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86CC4D3-842A-CAA0-E224-FE1996A42DBA}"/>
              </a:ext>
            </a:extLst>
          </p:cNvPr>
          <p:cNvSpPr/>
          <p:nvPr/>
        </p:nvSpPr>
        <p:spPr>
          <a:xfrm>
            <a:off x="3851598" y="581675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446EFCC-4523-584C-6FE3-7774FB246DA4}"/>
              </a:ext>
            </a:extLst>
          </p:cNvPr>
          <p:cNvSpPr/>
          <p:nvPr/>
        </p:nvSpPr>
        <p:spPr>
          <a:xfrm>
            <a:off x="1820225" y="616458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8DA2075-3710-B077-4B92-934DD552D716}"/>
              </a:ext>
            </a:extLst>
          </p:cNvPr>
          <p:cNvSpPr/>
          <p:nvPr/>
        </p:nvSpPr>
        <p:spPr>
          <a:xfrm>
            <a:off x="2630476" y="616458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54A98FB-9D5A-D321-38CA-52202CD03F24}"/>
              </a:ext>
            </a:extLst>
          </p:cNvPr>
          <p:cNvSpPr/>
          <p:nvPr/>
        </p:nvSpPr>
        <p:spPr>
          <a:xfrm>
            <a:off x="3838625" y="3071335"/>
            <a:ext cx="1485593" cy="215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정보와 매핑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21A304D-5357-E331-B70A-2593911008F9}"/>
              </a:ext>
            </a:extLst>
          </p:cNvPr>
          <p:cNvSpPr/>
          <p:nvPr/>
        </p:nvSpPr>
        <p:spPr>
          <a:xfrm>
            <a:off x="1604201" y="292153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5348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8CE0F-222B-DACA-4247-2EBEBB90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63F62F6-09F2-46FF-26A9-EB9E732D05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86C22-32B1-05E4-CB33-33FE0DB2B432}"/>
              </a:ext>
            </a:extLst>
          </p:cNvPr>
          <p:cNvSpPr txBox="1"/>
          <p:nvPr/>
        </p:nvSpPr>
        <p:spPr>
          <a:xfrm>
            <a:off x="749224" y="25608"/>
            <a:ext cx="30877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및 확인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53971-4685-EC07-BAA7-B79A14F3576D}"/>
              </a:ext>
            </a:extLst>
          </p:cNvPr>
          <p:cNvSpPr txBox="1"/>
          <p:nvPr/>
        </p:nvSpPr>
        <p:spPr>
          <a:xfrm>
            <a:off x="8049344" y="584684"/>
            <a:ext cx="1856656" cy="431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보증보험 증권의 발급이 필요한 경우 항목을 체크함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발급 필요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 아래의 항목을 노출함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 상대자가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정보와 매핑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되지 않은 경우 계약요청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할 수 없음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전자결재가 요청되면 진행상태를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계약품의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 진행상태를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계약품의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문서 참조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[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샘플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계약체결을 위한 품의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.pdf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전송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 조회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계약관리로 정보가 넘어가더라도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정보를 복사해서 넘어가야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현 수의계약 관리&gt;수의계약 현황에는 목록이 유지됨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FD6593-BC40-E1C4-85C9-3A8E0E0E5620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757A3F0-87D2-5B70-AA66-669941672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35164"/>
              </p:ext>
            </p:extLst>
          </p:nvPr>
        </p:nvGraphicFramePr>
        <p:xfrm>
          <a:off x="164465" y="352611"/>
          <a:ext cx="7740859" cy="315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발급 필요   ○ 발급 필요 없음  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보증금률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                          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262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○ 발급 필요   ○ 발급 필요 없음  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선금이행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                           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○ 발급 필요   ○ 발급 필요 없음  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                           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0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계약서(비날인본)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21064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6CA02876-2021-B436-0BC6-93F9A0DBF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25" y="2178714"/>
            <a:ext cx="5270769" cy="55377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594BA9E-AF68-E19C-E3F7-D509E85AA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25" y="2870239"/>
            <a:ext cx="5270769" cy="55377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74C8237-B538-A608-084F-0B056C6C778A}"/>
              </a:ext>
            </a:extLst>
          </p:cNvPr>
          <p:cNvSpPr/>
          <p:nvPr/>
        </p:nvSpPr>
        <p:spPr>
          <a:xfrm>
            <a:off x="2740878" y="660506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A0152C-F098-6FF4-9518-BF7DE8F63255}"/>
              </a:ext>
            </a:extLst>
          </p:cNvPr>
          <p:cNvSpPr/>
          <p:nvPr/>
        </p:nvSpPr>
        <p:spPr>
          <a:xfrm>
            <a:off x="2740878" y="1243109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ABA361-7BD3-F814-7989-F54253EC8A88}"/>
              </a:ext>
            </a:extLst>
          </p:cNvPr>
          <p:cNvSpPr/>
          <p:nvPr/>
        </p:nvSpPr>
        <p:spPr>
          <a:xfrm>
            <a:off x="2740878" y="1816302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B90FE4D-F96E-4F20-0658-542F921C6691}"/>
              </a:ext>
            </a:extLst>
          </p:cNvPr>
          <p:cNvSpPr/>
          <p:nvPr/>
        </p:nvSpPr>
        <p:spPr>
          <a:xfrm>
            <a:off x="1616276" y="28802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39FE66-316F-3B0F-E5CC-D41FF6EBE66D}"/>
              </a:ext>
            </a:extLst>
          </p:cNvPr>
          <p:cNvSpPr/>
          <p:nvPr/>
        </p:nvSpPr>
        <p:spPr>
          <a:xfrm>
            <a:off x="181506" y="3589691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 사항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9AE84C2-82A2-ED4E-4CE5-47D5439BCDA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876474"/>
          <a:ext cx="7740859" cy="166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참조 문서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6B923F-7A99-D1E6-519C-6A1610E30BAA}"/>
              </a:ext>
            </a:extLst>
          </p:cNvPr>
          <p:cNvSpPr/>
          <p:nvPr/>
        </p:nvSpPr>
        <p:spPr>
          <a:xfrm>
            <a:off x="1848030" y="3966603"/>
            <a:ext cx="5949286" cy="7397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algn="l">
              <a:lnSpc>
                <a:spcPct val="130000"/>
              </a:lnSpc>
            </a:pPr>
            <a:r>
              <a:rPr lang="en-US" altLang="ko-KR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TextArea</a:t>
            </a:r>
            <a:b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인지세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35,000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인지세의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50%) /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종이문서용 전자수입인지 납부</a:t>
            </a:r>
            <a:b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물품대금 연동 : 연동제 미대상</a:t>
            </a:r>
            <a:endParaRPr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30000"/>
              </a:lnSpc>
            </a:pP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799C1860-B839-A774-4AD3-71E31D379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71" y="4858760"/>
            <a:ext cx="5949286" cy="625057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9ED315-6111-819C-59E5-B1F0EA5ACA6F}"/>
              </a:ext>
            </a:extLst>
          </p:cNvPr>
          <p:cNvSpPr/>
          <p:nvPr/>
        </p:nvSpPr>
        <p:spPr>
          <a:xfrm>
            <a:off x="6635817" y="5635370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416377-A047-62B2-73F9-8FE91124C43D}"/>
              </a:ext>
            </a:extLst>
          </p:cNvPr>
          <p:cNvSpPr/>
          <p:nvPr/>
        </p:nvSpPr>
        <p:spPr>
          <a:xfrm>
            <a:off x="-3959864" y="4402674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35DF82-7327-E236-A225-163B25F653BD}"/>
              </a:ext>
            </a:extLst>
          </p:cNvPr>
          <p:cNvSpPr/>
          <p:nvPr/>
        </p:nvSpPr>
        <p:spPr>
          <a:xfrm>
            <a:off x="-3959864" y="4675587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DFDCAE-7D76-9D3E-DB85-3CD3A1D12CDC}"/>
              </a:ext>
            </a:extLst>
          </p:cNvPr>
          <p:cNvSpPr/>
          <p:nvPr/>
        </p:nvSpPr>
        <p:spPr>
          <a:xfrm>
            <a:off x="-452532" y="440267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FA34D4-298F-2045-2C43-DB8CD458826F}"/>
              </a:ext>
            </a:extLst>
          </p:cNvPr>
          <p:cNvSpPr/>
          <p:nvPr/>
        </p:nvSpPr>
        <p:spPr>
          <a:xfrm>
            <a:off x="-3852085" y="5088974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전자결재 요청을 하면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더 이상 입력하신 계약 요청내역이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요청하시겠습니까?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6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5D598D4B-0B49-D62C-A95A-FB8465DFA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35963" y="5245595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34BD6B-70C9-099A-1828-42D6FC315253}"/>
              </a:ext>
            </a:extLst>
          </p:cNvPr>
          <p:cNvSpPr/>
          <p:nvPr/>
        </p:nvSpPr>
        <p:spPr>
          <a:xfrm>
            <a:off x="-1008527" y="6077341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D60AFE-2EB0-83A5-0254-F993506CBBB7}"/>
              </a:ext>
            </a:extLst>
          </p:cNvPr>
          <p:cNvSpPr/>
          <p:nvPr/>
        </p:nvSpPr>
        <p:spPr>
          <a:xfrm>
            <a:off x="-3828644" y="4771975"/>
            <a:ext cx="165750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55066C-0993-0434-259F-DB7EFB564818}"/>
              </a:ext>
            </a:extLst>
          </p:cNvPr>
          <p:cNvSpPr/>
          <p:nvPr/>
        </p:nvSpPr>
        <p:spPr>
          <a:xfrm>
            <a:off x="-2326807" y="6077341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FC92F7A-8F85-D07E-C5BC-40C5F736FFDA}"/>
              </a:ext>
            </a:extLst>
          </p:cNvPr>
          <p:cNvSpPr/>
          <p:nvPr/>
        </p:nvSpPr>
        <p:spPr>
          <a:xfrm>
            <a:off x="-4079254" y="429309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3041C33-67B8-FDAE-243D-8C0D04D35FAB}"/>
              </a:ext>
            </a:extLst>
          </p:cNvPr>
          <p:cNvSpPr/>
          <p:nvPr/>
        </p:nvSpPr>
        <p:spPr>
          <a:xfrm>
            <a:off x="-3959864" y="2107219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정보와 매핑 필요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8DA8BED-8402-983C-E813-85DAF11C7F08}"/>
              </a:ext>
            </a:extLst>
          </p:cNvPr>
          <p:cNvSpPr/>
          <p:nvPr/>
        </p:nvSpPr>
        <p:spPr>
          <a:xfrm>
            <a:off x="-3959864" y="2380132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8E37BD7-FD9D-DDD4-0B1F-2F970E6FFB63}"/>
              </a:ext>
            </a:extLst>
          </p:cNvPr>
          <p:cNvSpPr/>
          <p:nvPr/>
        </p:nvSpPr>
        <p:spPr>
          <a:xfrm>
            <a:off x="-452532" y="2107219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E6B86B9-3723-E661-BA5E-EFAF0B4F6655}"/>
              </a:ext>
            </a:extLst>
          </p:cNvPr>
          <p:cNvSpPr/>
          <p:nvPr/>
        </p:nvSpPr>
        <p:spPr>
          <a:xfrm>
            <a:off x="-3852085" y="2793519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계약요청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전자결재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처리를 위해서는 반드시 ‘계약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상대자’를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‘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ERP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의 거래처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정보’와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매핑 시켜야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상단의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정보와 매핑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버튼을 클릭하세요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55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8D37234-537A-95D7-EB38-EB2DFEF79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35963" y="2950140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69E1334A-8687-DF75-EC08-D64846995AB8}"/>
              </a:ext>
            </a:extLst>
          </p:cNvPr>
          <p:cNvSpPr/>
          <p:nvPr/>
        </p:nvSpPr>
        <p:spPr>
          <a:xfrm>
            <a:off x="-1008527" y="3781886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2409BA5-2713-AC85-E188-EAFAB40A8773}"/>
              </a:ext>
            </a:extLst>
          </p:cNvPr>
          <p:cNvSpPr/>
          <p:nvPr/>
        </p:nvSpPr>
        <p:spPr>
          <a:xfrm>
            <a:off x="-3828644" y="2476520"/>
            <a:ext cx="194925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ERP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정보와 매핑 필요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AEA4CD4-5597-4F71-5C8A-3F78ED87EFA7}"/>
              </a:ext>
            </a:extLst>
          </p:cNvPr>
          <p:cNvSpPr/>
          <p:nvPr/>
        </p:nvSpPr>
        <p:spPr>
          <a:xfrm>
            <a:off x="-4079254" y="199764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B316D111-6E3D-2806-B7ED-6900148F16B4}"/>
              </a:ext>
            </a:extLst>
          </p:cNvPr>
          <p:cNvCxnSpPr>
            <a:cxnSpLocks/>
            <a:stCxn id="37" idx="1"/>
            <a:endCxn id="9" idx="3"/>
          </p:cNvCxnSpPr>
          <p:nvPr/>
        </p:nvCxnSpPr>
        <p:spPr>
          <a:xfrm rot="10800000">
            <a:off x="-179443" y="5601306"/>
            <a:ext cx="6815261" cy="17808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CF8C910F-1D46-FFD0-125E-09EE79C62EBB}"/>
              </a:ext>
            </a:extLst>
          </p:cNvPr>
          <p:cNvCxnSpPr>
            <a:cxnSpLocks/>
            <a:endCxn id="41" idx="3"/>
          </p:cNvCxnSpPr>
          <p:nvPr/>
        </p:nvCxnSpPr>
        <p:spPr>
          <a:xfrm rot="10800000">
            <a:off x="-179443" y="3305852"/>
            <a:ext cx="6815265" cy="2473539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89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70BE-B301-533C-E7AA-F93A54B1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D475987-826A-974D-AC80-9933E35A0A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808C3-6223-180A-92C0-55A7F70A4A40}"/>
              </a:ext>
            </a:extLst>
          </p:cNvPr>
          <p:cNvSpPr txBox="1"/>
          <p:nvPr/>
        </p:nvSpPr>
        <p:spPr>
          <a:xfrm>
            <a:off x="749223" y="25608"/>
            <a:ext cx="44643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및 확인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&gt; (ERP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정보와 매핑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41BFF4-480E-6085-12BE-EB1C57628C7D}"/>
              </a:ext>
            </a:extLst>
          </p:cNvPr>
          <p:cNvSpPr/>
          <p:nvPr/>
        </p:nvSpPr>
        <p:spPr>
          <a:xfrm>
            <a:off x="200472" y="440668"/>
            <a:ext cx="334492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거래처 매핑 확인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AB6652-1112-C258-B8E1-0B4EA701D16E}"/>
              </a:ext>
            </a:extLst>
          </p:cNvPr>
          <p:cNvSpPr/>
          <p:nvPr/>
        </p:nvSpPr>
        <p:spPr>
          <a:xfrm>
            <a:off x="200472" y="713580"/>
            <a:ext cx="3344929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B453BF-0946-FAEB-D3A2-DA34F03AB095}"/>
              </a:ext>
            </a:extLst>
          </p:cNvPr>
          <p:cNvSpPr/>
          <p:nvPr/>
        </p:nvSpPr>
        <p:spPr>
          <a:xfrm>
            <a:off x="3280251" y="44066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E56590-8293-9A48-F608-78A4C64BD38E}"/>
              </a:ext>
            </a:extLst>
          </p:cNvPr>
          <p:cNvSpPr/>
          <p:nvPr/>
        </p:nvSpPr>
        <p:spPr>
          <a:xfrm>
            <a:off x="308251" y="1126968"/>
            <a:ext cx="3120512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계약 상대자의 사업자등록번호와 일치되는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정보가 매핑되었습니다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확정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계약정보로 전송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)’가 가능합니다.</a:t>
            </a:r>
          </a:p>
        </p:txBody>
      </p:sp>
      <p:pic>
        <p:nvPicPr>
          <p:cNvPr id="2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75A2DD00-232C-366C-B8A0-B40AD043F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73" y="128358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5001DC-C349-7DFD-CBF1-2FAB042380D1}"/>
              </a:ext>
            </a:extLst>
          </p:cNvPr>
          <p:cNvSpPr/>
          <p:nvPr/>
        </p:nvSpPr>
        <p:spPr>
          <a:xfrm>
            <a:off x="331692" y="809969"/>
            <a:ext cx="1085233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매핑 확인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7251122-CDB1-94A2-77E4-0D3907814E3F}"/>
              </a:ext>
            </a:extLst>
          </p:cNvPr>
          <p:cNvSpPr/>
          <p:nvPr/>
        </p:nvSpPr>
        <p:spPr>
          <a:xfrm>
            <a:off x="2917485" y="2117967"/>
            <a:ext cx="51127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9558005-B258-0B9D-8657-7B87AE280F18}"/>
              </a:ext>
            </a:extLst>
          </p:cNvPr>
          <p:cNvSpPr/>
          <p:nvPr/>
        </p:nvSpPr>
        <p:spPr>
          <a:xfrm>
            <a:off x="3690948" y="440668"/>
            <a:ext cx="334492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거래처 매핑 실패 안내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5EAF1D-56E2-A36F-5D59-83EEF9AB6C9B}"/>
              </a:ext>
            </a:extLst>
          </p:cNvPr>
          <p:cNvSpPr/>
          <p:nvPr/>
        </p:nvSpPr>
        <p:spPr>
          <a:xfrm>
            <a:off x="3690948" y="713580"/>
            <a:ext cx="3344929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BE744AF-134E-2DF4-AA57-347046D3FCC7}"/>
              </a:ext>
            </a:extLst>
          </p:cNvPr>
          <p:cNvSpPr/>
          <p:nvPr/>
        </p:nvSpPr>
        <p:spPr>
          <a:xfrm>
            <a:off x="6770727" y="44066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5D5DB35-3C7A-B0D0-5388-7CC11D601E5C}"/>
              </a:ext>
            </a:extLst>
          </p:cNvPr>
          <p:cNvSpPr/>
          <p:nvPr/>
        </p:nvSpPr>
        <p:spPr>
          <a:xfrm>
            <a:off x="3798727" y="1126968"/>
            <a:ext cx="3120512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계약 상대자의 사업자등록번호와 일치되는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정보가 없습니다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후 다시 시도해주세요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4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C2335308-E193-8B11-5116-C6AD31C42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849" y="128358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20FBC241-F0B8-6674-D7CE-E3AB630C7C29}"/>
              </a:ext>
            </a:extLst>
          </p:cNvPr>
          <p:cNvSpPr/>
          <p:nvPr/>
        </p:nvSpPr>
        <p:spPr>
          <a:xfrm>
            <a:off x="3822168" y="809969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매핑 실패 안내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A4E13A4-3EEE-D069-FCCC-9CF18307A2DA}"/>
              </a:ext>
            </a:extLst>
          </p:cNvPr>
          <p:cNvSpPr/>
          <p:nvPr/>
        </p:nvSpPr>
        <p:spPr>
          <a:xfrm>
            <a:off x="6407961" y="2117967"/>
            <a:ext cx="51127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25E7901-19BD-D509-4E47-FCE87811E766}"/>
              </a:ext>
            </a:extLst>
          </p:cNvPr>
          <p:cNvSpPr/>
          <p:nvPr/>
        </p:nvSpPr>
        <p:spPr>
          <a:xfrm>
            <a:off x="108705" y="35113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2E7361-2571-6E2A-D6A8-336CBCB9C7CE}"/>
              </a:ext>
            </a:extLst>
          </p:cNvPr>
          <p:cNvSpPr txBox="1"/>
          <p:nvPr/>
        </p:nvSpPr>
        <p:spPr>
          <a:xfrm>
            <a:off x="8049344" y="584684"/>
            <a:ext cx="1856656" cy="199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협력업체의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와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ERP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정보의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매핑 여부에 따른 안내 화면</a:t>
            </a:r>
            <a:b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 상대자의 사업자등록번호와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동일한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‘ERP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 다수인 경우에는 거래처 선택 매핑 </a:t>
            </a: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계약 상대자의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와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동일한 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‘ERP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</a:t>
            </a:r>
            <a:r>
              <a:rPr lang="en-US" altLang="ko-KR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가 다수인 경우에는 거래처 선택을 통해 매핑함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rgbClr val="C00000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AEAFCED-0221-CEC2-F700-E9BAE39C141A}"/>
              </a:ext>
            </a:extLst>
          </p:cNvPr>
          <p:cNvSpPr/>
          <p:nvPr/>
        </p:nvSpPr>
        <p:spPr>
          <a:xfrm>
            <a:off x="200472" y="2899358"/>
            <a:ext cx="74112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거래처 선택 매핑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2510069-6AE8-B524-94BF-7C6EB2A36F3C}"/>
              </a:ext>
            </a:extLst>
          </p:cNvPr>
          <p:cNvSpPr/>
          <p:nvPr/>
        </p:nvSpPr>
        <p:spPr>
          <a:xfrm>
            <a:off x="200472" y="3172270"/>
            <a:ext cx="7411220" cy="299432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58016D5-E328-5382-9715-F628C5D2D5B4}"/>
              </a:ext>
            </a:extLst>
          </p:cNvPr>
          <p:cNvSpPr/>
          <p:nvPr/>
        </p:nvSpPr>
        <p:spPr>
          <a:xfrm>
            <a:off x="7341692" y="289935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7708756-9175-51E9-8089-A5B62CE03A58}"/>
              </a:ext>
            </a:extLst>
          </p:cNvPr>
          <p:cNvSpPr/>
          <p:nvPr/>
        </p:nvSpPr>
        <p:spPr>
          <a:xfrm>
            <a:off x="308251" y="3585658"/>
            <a:ext cx="7129026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계약 상대자의 사업자등록번호와 일치되는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정보가 여러 개 발견되었습니다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정보에서 본 계약과 관련된 거래처 코드를 선택해주세요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만약 적합한 거래처 정보가 아니라면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먼저 거래처 정보를 등록하셔야 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DCCD3CE-C0E4-57E2-2B83-46C4185D9B85}"/>
              </a:ext>
            </a:extLst>
          </p:cNvPr>
          <p:cNvSpPr/>
          <p:nvPr/>
        </p:nvSpPr>
        <p:spPr>
          <a:xfrm>
            <a:off x="331692" y="3268659"/>
            <a:ext cx="1085233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선택 매핑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5B35CB-F049-B944-6363-9F6E93D1DDB2}"/>
              </a:ext>
            </a:extLst>
          </p:cNvPr>
          <p:cNvSpPr/>
          <p:nvPr/>
        </p:nvSpPr>
        <p:spPr>
          <a:xfrm>
            <a:off x="6925998" y="5678678"/>
            <a:ext cx="51127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FD48BB32-DC12-0F42-F1B6-C1FC9A33D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73" y="374227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023D13B4-7C79-54C6-86DF-6A80BAC7C51E}"/>
              </a:ext>
            </a:extLst>
          </p:cNvPr>
          <p:cNvGraphicFramePr>
            <a:graphicFrameLocks noGrp="1"/>
          </p:cNvGraphicFramePr>
          <p:nvPr/>
        </p:nvGraphicFramePr>
        <p:xfrm>
          <a:off x="317112" y="4569015"/>
          <a:ext cx="7120164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0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080625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864725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238555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715500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785350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611014">
                  <a:extLst>
                    <a:ext uri="{9D8B030D-6E8A-4147-A177-3AD203B41FA5}">
                      <a16:colId xmlns:a16="http://schemas.microsoft.com/office/drawing/2014/main" val="3248498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 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폐업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02663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349-83-01795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(leehee43@naver.com, 010-6844-2810)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02666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천안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349-83-01795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E78CF0D8-0E66-31BD-15A4-4672F7CF37AA}"/>
              </a:ext>
            </a:extLst>
          </p:cNvPr>
          <p:cNvSpPr/>
          <p:nvPr/>
        </p:nvSpPr>
        <p:spPr>
          <a:xfrm>
            <a:off x="6907232" y="4952950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E392C1C-A86A-3FC6-0615-49D04D82AAD8}"/>
              </a:ext>
            </a:extLst>
          </p:cNvPr>
          <p:cNvSpPr/>
          <p:nvPr/>
        </p:nvSpPr>
        <p:spPr>
          <a:xfrm>
            <a:off x="119556" y="273961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0F16607-0315-AC3B-78C0-A77A5AD4A685}"/>
              </a:ext>
            </a:extLst>
          </p:cNvPr>
          <p:cNvSpPr/>
          <p:nvPr/>
        </p:nvSpPr>
        <p:spPr>
          <a:xfrm>
            <a:off x="6907232" y="5305088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</a:p>
        </p:txBody>
      </p:sp>
    </p:spTree>
    <p:extLst>
      <p:ext uri="{BB962C8B-B14F-4D97-AF65-F5344CB8AC3E}">
        <p14:creationId xmlns:p14="http://schemas.microsoft.com/office/powerpoint/2010/main" val="1262652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3564C-DC53-018B-2EBC-F414AE75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302AD8-CA8C-2E67-6A15-C624CD8C1F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6C1E21-D3C8-BA03-A633-BB8BDF8BD291}"/>
              </a:ext>
            </a:extLst>
          </p:cNvPr>
          <p:cNvSpPr txBox="1"/>
          <p:nvPr/>
        </p:nvSpPr>
        <p:spPr>
          <a:xfrm>
            <a:off x="749224" y="25608"/>
            <a:ext cx="37273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완료 후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3DB1BD-0045-CDE9-60C4-219B91E69439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2CD2A3E-A3E7-6951-A707-97D474185679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686BE6-3CA8-41E2-01C7-127C91BE1A7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804768-281B-B9BE-77EC-065C60047EE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E4B1EAA1-4C32-4E63-FEE2-A44606676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635E603-D54F-3A4B-01D9-556DA3B2305F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487DE1-E9CC-A321-0AC6-D765CD4E2EB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43D51F-6636-D24E-C366-830F6044437F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D3E7D5D-8BE1-8019-8EC3-AAB7E33E7CC8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완료 후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EA8D732-7631-F5B2-B707-18B8EDAE1652}"/>
              </a:ext>
            </a:extLst>
          </p:cNvPr>
          <p:cNvGraphicFramePr>
            <a:graphicFrameLocks noGrp="1"/>
          </p:cNvGraphicFramePr>
          <p:nvPr/>
        </p:nvGraphicFramePr>
        <p:xfrm>
          <a:off x="164464" y="812299"/>
          <a:ext cx="7740859" cy="675840"/>
        </p:xfrm>
        <a:graphic>
          <a:graphicData uri="http://schemas.openxmlformats.org/drawingml/2006/table">
            <a:tbl>
              <a:tblPr firstRow="1" bandRow="1"/>
              <a:tblGrid>
                <a:gridCol w="83215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52111">
                  <a:extLst>
                    <a:ext uri="{9D8B030D-6E8A-4147-A177-3AD203B41FA5}">
                      <a16:colId xmlns:a16="http://schemas.microsoft.com/office/drawing/2014/main" val="2016786680"/>
                    </a:ext>
                  </a:extLst>
                </a:gridCol>
                <a:gridCol w="75828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94203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1017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1501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52118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18646811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2427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공고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수의계약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낙찰자 선정방법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BD2026-0023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본공고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계획수립 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9F57BC72-06C6-2CA8-18C7-92C23843CB0B}"/>
              </a:ext>
            </a:extLst>
          </p:cNvPr>
          <p:cNvSpPr/>
          <p:nvPr/>
        </p:nvSpPr>
        <p:spPr>
          <a:xfrm>
            <a:off x="163503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B5BECC-B62F-3FC5-C5A8-311CB8617EE8}"/>
              </a:ext>
            </a:extLst>
          </p:cNvPr>
          <p:cNvSpPr/>
          <p:nvPr/>
        </p:nvSpPr>
        <p:spPr>
          <a:xfrm>
            <a:off x="2442062" y="1650652"/>
            <a:ext cx="1139031" cy="2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C8E2BD-679D-ABF6-D7AD-40AC03AB90A5}"/>
              </a:ext>
            </a:extLst>
          </p:cNvPr>
          <p:cNvSpPr/>
          <p:nvPr/>
        </p:nvSpPr>
        <p:spPr>
          <a:xfrm>
            <a:off x="3576432" y="1599935"/>
            <a:ext cx="1139031" cy="336533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17FCF4-8D28-D587-7CFC-41480637318B}"/>
              </a:ext>
            </a:extLst>
          </p:cNvPr>
          <p:cNvSpPr/>
          <p:nvPr/>
        </p:nvSpPr>
        <p:spPr>
          <a:xfrm>
            <a:off x="1305150" y="1644026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정보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A3A1D26-96C5-60E9-C725-0DDFEFEA4AC8}"/>
              </a:ext>
            </a:extLst>
          </p:cNvPr>
          <p:cNvCxnSpPr>
            <a:cxnSpLocks/>
          </p:cNvCxnSpPr>
          <p:nvPr/>
        </p:nvCxnSpPr>
        <p:spPr>
          <a:xfrm>
            <a:off x="167468" y="1932593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AF7709D-C758-63F9-87AE-F3E85A994869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70B136-A6E8-5B88-F506-1C1541E5428D}"/>
              </a:ext>
            </a:extLst>
          </p:cNvPr>
          <p:cNvSpPr/>
          <p:nvPr/>
        </p:nvSpPr>
        <p:spPr>
          <a:xfrm>
            <a:off x="181506" y="2043596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6E26ECC-93AE-BF79-3D3D-8CFC6794B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165758"/>
              </p:ext>
            </p:extLst>
          </p:nvPr>
        </p:nvGraphicFramePr>
        <p:xfrm>
          <a:off x="164467" y="2330379"/>
          <a:ext cx="7740859" cy="377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계약명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승강기설치공사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&gt; 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거래처 코드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02663)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42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계약금액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48,507,800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사천팔백오십만칠천팔백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원정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VAT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포함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796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대비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90.069%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903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공급가액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사천사백구만팔천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원정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470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대금 지급조건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선금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33% /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기성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34% /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준공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33%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일괄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 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준공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 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사업기간 중 월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회 공정률을 확인하여 지급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13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용역기한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2026.01.01 ~ 2026.12.31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79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계약일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2026.01.01  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 날인 시 유효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105472"/>
                  </a:ext>
                </a:extLst>
              </a:tr>
            </a:tbl>
          </a:graphicData>
        </a:graphic>
      </p:graphicFrame>
      <p:sp>
        <p:nvSpPr>
          <p:cNvPr id="22" name="타원 21">
            <a:extLst>
              <a:ext uri="{FF2B5EF4-FFF2-40B4-BE49-F238E27FC236}">
                <a16:creationId xmlns:a16="http://schemas.microsoft.com/office/drawing/2014/main" id="{75ECD5EE-9CA2-675F-ED17-CD3DC75865B1}"/>
              </a:ext>
            </a:extLst>
          </p:cNvPr>
          <p:cNvSpPr/>
          <p:nvPr/>
        </p:nvSpPr>
        <p:spPr>
          <a:xfrm>
            <a:off x="73494" y="227442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826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6658-F38F-51C1-E171-6DDA4245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C1D4D83-9330-7F91-DF21-FAE5A9FB7D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722D8-FE3F-68F1-4A96-4A2C3783B71A}"/>
              </a:ext>
            </a:extLst>
          </p:cNvPr>
          <p:cNvSpPr txBox="1"/>
          <p:nvPr/>
        </p:nvSpPr>
        <p:spPr>
          <a:xfrm>
            <a:off x="749224" y="25608"/>
            <a:ext cx="37273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완료 후 화면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894BF6-4BB2-E7C2-1BA0-03C6ADBA5845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5ADE0-8A53-80B5-794E-B772D9D99D1C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2A97A7-E1B3-3764-1B8D-3503757F9F43}"/>
              </a:ext>
            </a:extLst>
          </p:cNvPr>
          <p:cNvSpPr/>
          <p:nvPr/>
        </p:nvSpPr>
        <p:spPr>
          <a:xfrm>
            <a:off x="181506" y="2907692"/>
            <a:ext cx="185665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 사항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C7FBE98-A8F9-9C35-9112-17FD5E222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6129"/>
              </p:ext>
            </p:extLst>
          </p:nvPr>
        </p:nvGraphicFramePr>
        <p:xfrm>
          <a:off x="164467" y="3194475"/>
          <a:ext cx="7740859" cy="131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인지세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35,000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전체 인지세의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50%) /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종이문서용 전자수입인지 납부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물품대금 연동 : 연동제 미대상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참조 문서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303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2ABE7D1-F56C-8DCC-D977-0B907411FCE7}"/>
              </a:ext>
            </a:extLst>
          </p:cNvPr>
          <p:cNvSpPr/>
          <p:nvPr/>
        </p:nvSpPr>
        <p:spPr>
          <a:xfrm>
            <a:off x="2780091" y="398954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454BFE-3ECF-BF0D-0365-C9EDF2D0437B}"/>
              </a:ext>
            </a:extLst>
          </p:cNvPr>
          <p:cNvSpPr/>
          <p:nvPr/>
        </p:nvSpPr>
        <p:spPr>
          <a:xfrm>
            <a:off x="3442928" y="398954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9E59D1-3E37-42DD-6E7B-6EF2429578F5}"/>
              </a:ext>
            </a:extLst>
          </p:cNvPr>
          <p:cNvSpPr/>
          <p:nvPr/>
        </p:nvSpPr>
        <p:spPr>
          <a:xfrm>
            <a:off x="2780091" y="42539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2D6055-439B-A8B4-606C-2330A6937CDD}"/>
              </a:ext>
            </a:extLst>
          </p:cNvPr>
          <p:cNvSpPr/>
          <p:nvPr/>
        </p:nvSpPr>
        <p:spPr>
          <a:xfrm>
            <a:off x="3442928" y="42539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E5E918-55B3-3EF3-C5F6-8BA3FDCD29FE}"/>
              </a:ext>
            </a:extLst>
          </p:cNvPr>
          <p:cNvSpPr/>
          <p:nvPr/>
        </p:nvSpPr>
        <p:spPr>
          <a:xfrm>
            <a:off x="2780091" y="42539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BEDCC8-2186-B7A9-02E5-72848B9B9EC2}"/>
              </a:ext>
            </a:extLst>
          </p:cNvPr>
          <p:cNvSpPr/>
          <p:nvPr/>
        </p:nvSpPr>
        <p:spPr>
          <a:xfrm>
            <a:off x="3442928" y="425390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7C19C1F-65EF-1B63-635A-FBFEA014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254609"/>
              </p:ext>
            </p:extLst>
          </p:nvPr>
        </p:nvGraphicFramePr>
        <p:xfrm>
          <a:off x="164465" y="352611"/>
          <a:ext cx="7740859" cy="242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5668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발급 필요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계약이행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보증금률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10%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262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선금이행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발급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선금이행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                           %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하자이행 보증보험 증권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발급 필요 없음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0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82106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81BF52-AFBD-ABD0-85E1-A52CEB49126A}"/>
              </a:ext>
            </a:extLst>
          </p:cNvPr>
          <p:cNvSpPr/>
          <p:nvPr/>
        </p:nvSpPr>
        <p:spPr>
          <a:xfrm>
            <a:off x="2740878" y="1243109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6DE620A-9C01-2F57-309E-9EB76D0EF6E4}"/>
              </a:ext>
            </a:extLst>
          </p:cNvPr>
          <p:cNvGrpSpPr/>
          <p:nvPr/>
        </p:nvGrpSpPr>
        <p:grpSpPr>
          <a:xfrm>
            <a:off x="2778598" y="1919376"/>
            <a:ext cx="1275802" cy="198885"/>
            <a:chOff x="2576736" y="3905324"/>
            <a:chExt cx="1275802" cy="19888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4E62318-DCD0-2541-D44E-BC9B0DFF5F77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6EF7146-76E1-FB87-4C7E-D53420EB5686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C60A28A-E134-D167-BCD9-70CEA0C0BA59}"/>
              </a:ext>
            </a:extLst>
          </p:cNvPr>
          <p:cNvGrpSpPr/>
          <p:nvPr/>
        </p:nvGrpSpPr>
        <p:grpSpPr>
          <a:xfrm>
            <a:off x="2787224" y="2259593"/>
            <a:ext cx="1275802" cy="198885"/>
            <a:chOff x="2576736" y="3905324"/>
            <a:chExt cx="1275802" cy="19888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DE25513-5C32-D7E4-BF1F-CBF340F638DF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530962B-0656-596B-9208-9E48F0A9BA5A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C6D3777-BB91-14C7-4549-9E8A9F8348D2}"/>
              </a:ext>
            </a:extLst>
          </p:cNvPr>
          <p:cNvGrpSpPr/>
          <p:nvPr/>
        </p:nvGrpSpPr>
        <p:grpSpPr>
          <a:xfrm>
            <a:off x="2787224" y="2518661"/>
            <a:ext cx="1275802" cy="198885"/>
            <a:chOff x="2576736" y="3905324"/>
            <a:chExt cx="1275802" cy="198885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2566658-D634-62C6-869A-56D736FBA66D}"/>
                </a:ext>
              </a:extLst>
            </p:cNvPr>
            <p:cNvSpPr/>
            <p:nvPr/>
          </p:nvSpPr>
          <p:spPr>
            <a:xfrm>
              <a:off x="2576736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726F65E-C797-3700-6A71-38DB40E5ACE8}"/>
                </a:ext>
              </a:extLst>
            </p:cNvPr>
            <p:cNvSpPr/>
            <p:nvPr/>
          </p:nvSpPr>
          <p:spPr>
            <a:xfrm>
              <a:off x="3239573" y="390532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57A0594-7D93-523E-C292-F0F333E9DF5E}"/>
              </a:ext>
            </a:extLst>
          </p:cNvPr>
          <p:cNvSpPr/>
          <p:nvPr/>
        </p:nvSpPr>
        <p:spPr>
          <a:xfrm>
            <a:off x="184392" y="459988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2460469343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4990359-2EBE-4229-BE87-8412C61BC5E9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70e4777-5de2-4d5b-87a7-abfc2f61d6a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CDB246B-644D-4AC6-B858-E93F2D052A8E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cfcf37a7-0379-49cb-b00d-027d5fbb43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243824</TotalTime>
  <Words>6943</Words>
  <Application>Microsoft Office PowerPoint</Application>
  <PresentationFormat>A4 용지(210x297mm)</PresentationFormat>
  <Paragraphs>2025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프레젠테이션</vt:lpstr>
      <vt:lpstr>PowerPoint 프레젠테이션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프레젠테이션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8212</cp:revision>
  <cp:lastPrinted>2019-06-18T05:05:25Z</cp:lastPrinted>
  <dcterms:created xsi:type="dcterms:W3CDTF">2006-06-07T02:37:19Z</dcterms:created>
  <dcterms:modified xsi:type="dcterms:W3CDTF">2026-09-15T23:34:25Z</dcterms:modified>
</cp:coreProperties>
</file>