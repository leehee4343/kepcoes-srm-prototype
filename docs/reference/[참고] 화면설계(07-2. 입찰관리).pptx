
<file path=[Content_Types].xml><?xml version="1.0" encoding="utf-8"?>
<Types xmlns="http://schemas.openxmlformats.org/package/2006/content-types">
  <Default Extension="fntdata" ContentType="application/x-fontdata"/>
  <Default Extension="png" ContentType="image/png"/>
  <Default Extension="rels" ContentType="application/vnd.openxmlformats-package.relationships+xml"/>
  <Default Extension="xml" ContentType="application/xml"/>
  <Override PartName="/ppt/webextensions/taskpanes.xml" ContentType="application/vnd.ms-office.webextensiontaskpanes+xml"/>
  <Override PartName="/ppt/webextensions/webextension1.xml" ContentType="application/vnd.ms-office.webextension+xml"/>
  <Override PartName="/ppt/webextensions/webextension2.xml" ContentType="application/vnd.ms-office.webextension+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officeDocument/2006/relationships/officeDocument" Target="ppt/presentation.xml"/><Relationship Id="rId1" Type="http://schemas.microsoft.com/office/2011/relationships/webextensiontaskpanes" Target="ppt/webextensions/taskpanes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>
  <p:sldMasterIdLst>
    <p:sldMasterId id="2147484698" r:id="rId1"/>
  </p:sldMasterIdLst>
  <p:notesMasterIdLst>
    <p:notesMasterId r:id="rId81"/>
  </p:notesMasterIdLst>
  <p:handoutMasterIdLst>
    <p:handoutMasterId r:id="rId82"/>
  </p:handoutMasterIdLst>
  <p:sldIdLst>
    <p:sldId id="3218" r:id="rId2"/>
    <p:sldId id="3918" r:id="rId3"/>
    <p:sldId id="3547" r:id="rId4"/>
    <p:sldId id="3967" r:id="rId5"/>
    <p:sldId id="3746" r:id="rId6"/>
    <p:sldId id="3947" r:id="rId7"/>
    <p:sldId id="3596" r:id="rId8"/>
    <p:sldId id="3754" r:id="rId9"/>
    <p:sldId id="3919" r:id="rId10"/>
    <p:sldId id="3646" r:id="rId11"/>
    <p:sldId id="3920" r:id="rId12"/>
    <p:sldId id="3816" r:id="rId13"/>
    <p:sldId id="3503" r:id="rId14"/>
    <p:sldId id="3948" r:id="rId15"/>
    <p:sldId id="3757" r:id="rId16"/>
    <p:sldId id="3758" r:id="rId17"/>
    <p:sldId id="3704" r:id="rId18"/>
    <p:sldId id="3846" r:id="rId19"/>
    <p:sldId id="3968" r:id="rId20"/>
    <p:sldId id="3686" r:id="rId21"/>
    <p:sldId id="3858" r:id="rId22"/>
    <p:sldId id="3923" r:id="rId23"/>
    <p:sldId id="3605" r:id="rId24"/>
    <p:sldId id="3969" r:id="rId25"/>
    <p:sldId id="3950" r:id="rId26"/>
    <p:sldId id="3728" r:id="rId27"/>
    <p:sldId id="3951" r:id="rId28"/>
    <p:sldId id="3820" r:id="rId29"/>
    <p:sldId id="3970" r:id="rId30"/>
    <p:sldId id="3658" r:id="rId31"/>
    <p:sldId id="3952" r:id="rId32"/>
    <p:sldId id="3903" r:id="rId33"/>
    <p:sldId id="3928" r:id="rId34"/>
    <p:sldId id="3953" r:id="rId35"/>
    <p:sldId id="3612" r:id="rId36"/>
    <p:sldId id="3852" r:id="rId37"/>
    <p:sldId id="3821" r:id="rId38"/>
    <p:sldId id="3667" r:id="rId39"/>
    <p:sldId id="3954" r:id="rId40"/>
    <p:sldId id="3694" r:id="rId41"/>
    <p:sldId id="3971" r:id="rId42"/>
    <p:sldId id="3955" r:id="rId43"/>
    <p:sldId id="3956" r:id="rId44"/>
    <p:sldId id="3718" r:id="rId45"/>
    <p:sldId id="3929" r:id="rId46"/>
    <p:sldId id="3911" r:id="rId47"/>
    <p:sldId id="3957" r:id="rId48"/>
    <p:sldId id="3680" r:id="rId49"/>
    <p:sldId id="3958" r:id="rId50"/>
    <p:sldId id="3622" r:id="rId51"/>
    <p:sldId id="3972" r:id="rId52"/>
    <p:sldId id="3932" r:id="rId53"/>
    <p:sldId id="3891" r:id="rId54"/>
    <p:sldId id="3892" r:id="rId55"/>
    <p:sldId id="3893" r:id="rId56"/>
    <p:sldId id="3973" r:id="rId57"/>
    <p:sldId id="3974" r:id="rId58"/>
    <p:sldId id="3975" r:id="rId59"/>
    <p:sldId id="3885" r:id="rId60"/>
    <p:sldId id="3976" r:id="rId61"/>
    <p:sldId id="3977" r:id="rId62"/>
    <p:sldId id="3894" r:id="rId63"/>
    <p:sldId id="3895" r:id="rId64"/>
    <p:sldId id="3935" r:id="rId65"/>
    <p:sldId id="3936" r:id="rId66"/>
    <p:sldId id="3937" r:id="rId67"/>
    <p:sldId id="3938" r:id="rId68"/>
    <p:sldId id="3939" r:id="rId69"/>
    <p:sldId id="3940" r:id="rId70"/>
    <p:sldId id="3941" r:id="rId71"/>
    <p:sldId id="3942" r:id="rId72"/>
    <p:sldId id="3943" r:id="rId73"/>
    <p:sldId id="3978" r:id="rId74"/>
    <p:sldId id="3961" r:id="rId75"/>
    <p:sldId id="3979" r:id="rId76"/>
    <p:sldId id="3962" r:id="rId77"/>
    <p:sldId id="3965" r:id="rId78"/>
    <p:sldId id="3980" r:id="rId79"/>
    <p:sldId id="3964" r:id="rId80"/>
  </p:sldIdLst>
  <p:sldSz cx="9906000" cy="6858000" type="A4"/>
  <p:notesSz cx="9926638" cy="6797675"/>
  <p:embeddedFontLst>
    <p:embeddedFont>
      <p:font typeface="나눔고딕" panose="020D0604000000000000" pitchFamily="50" charset="-127"/>
      <p:regular r:id="rId83"/>
      <p:bold r:id="rId84"/>
    </p:embeddedFont>
    <p:embeddedFont>
      <p:font typeface="맑은 고딕" panose="020B0503020000020004" pitchFamily="50" charset="-127"/>
      <p:regular r:id="rId85"/>
      <p:bold r:id="rId86"/>
    </p:embeddedFont>
  </p:embeddedFontLst>
  <p:defaultTextStyle>
    <a:defPPr>
      <a:defRPr lang="en-US"/>
    </a:defPPr>
    <a:lvl1pPr algn="ctr" rtl="0" fontAlgn="base" latinLnBrk="1">
      <a:spcBef>
        <a:spcPct val="0"/>
      </a:spcBef>
      <a:spcAft>
        <a:spcPct val="0"/>
      </a:spcAft>
      <a:defRPr kumimoji="1" sz="1000" b="1" kern="1200">
        <a:solidFill>
          <a:schemeClr val="bg1"/>
        </a:solidFill>
        <a:latin typeface="맑은 고딕" pitchFamily="50" charset="-127"/>
        <a:ea typeface="맑은 고딕" pitchFamily="50" charset="-127"/>
        <a:cs typeface="+mn-cs"/>
      </a:defRPr>
    </a:lvl1pPr>
    <a:lvl2pPr marL="548640" algn="ctr" rtl="0" fontAlgn="base" latinLnBrk="1">
      <a:spcBef>
        <a:spcPct val="0"/>
      </a:spcBef>
      <a:spcAft>
        <a:spcPct val="0"/>
      </a:spcAft>
      <a:defRPr kumimoji="1" sz="1000" b="1" kern="1200">
        <a:solidFill>
          <a:schemeClr val="bg1"/>
        </a:solidFill>
        <a:latin typeface="맑은 고딕" pitchFamily="50" charset="-127"/>
        <a:ea typeface="맑은 고딕" pitchFamily="50" charset="-127"/>
        <a:cs typeface="+mn-cs"/>
      </a:defRPr>
    </a:lvl2pPr>
    <a:lvl3pPr marL="1097280" algn="ctr" rtl="0" fontAlgn="base" latinLnBrk="1">
      <a:spcBef>
        <a:spcPct val="0"/>
      </a:spcBef>
      <a:spcAft>
        <a:spcPct val="0"/>
      </a:spcAft>
      <a:defRPr kumimoji="1" sz="1000" b="1" kern="1200">
        <a:solidFill>
          <a:schemeClr val="bg1"/>
        </a:solidFill>
        <a:latin typeface="맑은 고딕" pitchFamily="50" charset="-127"/>
        <a:ea typeface="맑은 고딕" pitchFamily="50" charset="-127"/>
        <a:cs typeface="+mn-cs"/>
      </a:defRPr>
    </a:lvl3pPr>
    <a:lvl4pPr marL="1645920" algn="ctr" rtl="0" fontAlgn="base" latinLnBrk="1">
      <a:spcBef>
        <a:spcPct val="0"/>
      </a:spcBef>
      <a:spcAft>
        <a:spcPct val="0"/>
      </a:spcAft>
      <a:defRPr kumimoji="1" sz="1000" b="1" kern="1200">
        <a:solidFill>
          <a:schemeClr val="bg1"/>
        </a:solidFill>
        <a:latin typeface="맑은 고딕" pitchFamily="50" charset="-127"/>
        <a:ea typeface="맑은 고딕" pitchFamily="50" charset="-127"/>
        <a:cs typeface="+mn-cs"/>
      </a:defRPr>
    </a:lvl4pPr>
    <a:lvl5pPr marL="2194560" algn="ctr" rtl="0" fontAlgn="base" latinLnBrk="1">
      <a:spcBef>
        <a:spcPct val="0"/>
      </a:spcBef>
      <a:spcAft>
        <a:spcPct val="0"/>
      </a:spcAft>
      <a:defRPr kumimoji="1" sz="1000" b="1" kern="1200">
        <a:solidFill>
          <a:schemeClr val="bg1"/>
        </a:solidFill>
        <a:latin typeface="맑은 고딕" pitchFamily="50" charset="-127"/>
        <a:ea typeface="맑은 고딕" pitchFamily="50" charset="-127"/>
        <a:cs typeface="+mn-cs"/>
      </a:defRPr>
    </a:lvl5pPr>
    <a:lvl6pPr marL="2743200" algn="l" defTabSz="1097280" rtl="0" eaLnBrk="1" latinLnBrk="1" hangingPunct="1">
      <a:defRPr kumimoji="1" sz="1000" b="1" kern="1200">
        <a:solidFill>
          <a:schemeClr val="bg1"/>
        </a:solidFill>
        <a:latin typeface="맑은 고딕" pitchFamily="50" charset="-127"/>
        <a:ea typeface="맑은 고딕" pitchFamily="50" charset="-127"/>
        <a:cs typeface="+mn-cs"/>
      </a:defRPr>
    </a:lvl6pPr>
    <a:lvl7pPr marL="3291840" algn="l" defTabSz="1097280" rtl="0" eaLnBrk="1" latinLnBrk="1" hangingPunct="1">
      <a:defRPr kumimoji="1" sz="1000" b="1" kern="1200">
        <a:solidFill>
          <a:schemeClr val="bg1"/>
        </a:solidFill>
        <a:latin typeface="맑은 고딕" pitchFamily="50" charset="-127"/>
        <a:ea typeface="맑은 고딕" pitchFamily="50" charset="-127"/>
        <a:cs typeface="+mn-cs"/>
      </a:defRPr>
    </a:lvl7pPr>
    <a:lvl8pPr marL="3840480" algn="l" defTabSz="1097280" rtl="0" eaLnBrk="1" latinLnBrk="1" hangingPunct="1">
      <a:defRPr kumimoji="1" sz="1000" b="1" kern="1200">
        <a:solidFill>
          <a:schemeClr val="bg1"/>
        </a:solidFill>
        <a:latin typeface="맑은 고딕" pitchFamily="50" charset="-127"/>
        <a:ea typeface="맑은 고딕" pitchFamily="50" charset="-127"/>
        <a:cs typeface="+mn-cs"/>
      </a:defRPr>
    </a:lvl8pPr>
    <a:lvl9pPr marL="4389120" algn="l" defTabSz="1097280" rtl="0" eaLnBrk="1" latinLnBrk="1" hangingPunct="1">
      <a:defRPr kumimoji="1" sz="1000" b="1" kern="1200">
        <a:solidFill>
          <a:schemeClr val="bg1"/>
        </a:solidFill>
        <a:latin typeface="맑은 고딕" pitchFamily="50" charset="-127"/>
        <a:ea typeface="맑은 고딕" pitchFamily="50" charset="-127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281">
          <p15:clr>
            <a:srgbClr val="A4A3A4"/>
          </p15:clr>
        </p15:guide>
        <p15:guide id="2" orient="horz" pos="1830">
          <p15:clr>
            <a:srgbClr val="A4A3A4"/>
          </p15:clr>
        </p15:guide>
        <p15:guide id="3" orient="horz" pos="2616">
          <p15:clr>
            <a:srgbClr val="A4A3A4"/>
          </p15:clr>
        </p15:guide>
        <p15:guide id="4" pos="3511">
          <p15:clr>
            <a:srgbClr val="A4A3A4"/>
          </p15:clr>
        </p15:guide>
        <p15:guide id="5" pos="335">
          <p15:clr>
            <a:srgbClr val="A4A3A4"/>
          </p15:clr>
        </p15:guide>
        <p15:guide id="6" pos="4447">
          <p15:clr>
            <a:srgbClr val="A4A3A4"/>
          </p15:clr>
        </p15:guide>
        <p15:guide id="7" pos="6067">
          <p15:clr>
            <a:srgbClr val="A4A3A4"/>
          </p15:clr>
        </p15:guide>
        <p15:guide id="8" pos="2269">
          <p15:clr>
            <a:srgbClr val="A4A3A4"/>
          </p15:clr>
        </p15:guide>
        <p15:guide id="9" pos="5805">
          <p15:clr>
            <a:srgbClr val="A4A3A4"/>
          </p15:clr>
        </p15:guide>
        <p15:guide id="10" pos="4069">
          <p15:clr>
            <a:srgbClr val="A4A3A4"/>
          </p15:clr>
        </p15:guide>
        <p15:guide id="11" pos="3448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ChulydA" initials="C" lastIdx="1" clrIdx="0">
    <p:extLst>
      <p:ext uri="{19B8F6BF-5375-455C-9EA6-DF929625EA0E}">
        <p15:presenceInfo xmlns:p15="http://schemas.microsoft.com/office/powerpoint/2012/main" userId="ChulydA" providerId="None"/>
      </p:ext>
    </p:extLst>
  </p:cmAuthor>
  <p:cmAuthor id="2" name="heesung lee" initials="hl" lastIdx="16" clrIdx="1">
    <p:extLst>
      <p:ext uri="{19B8F6BF-5375-455C-9EA6-DF929625EA0E}">
        <p15:presenceInfo xmlns:p15="http://schemas.microsoft.com/office/powerpoint/2012/main" userId="106ef8bdd38f3c94" providerId="Windows Live"/>
      </p:ext>
    </p:extLst>
  </p:cmAuthor>
  <p:cmAuthor id="3" name="10249 10249" initials="11" lastIdx="2" clrIdx="2">
    <p:extLst>
      <p:ext uri="{19B8F6BF-5375-455C-9EA6-DF929625EA0E}">
        <p15:presenceInfo xmlns:p15="http://schemas.microsoft.com/office/powerpoint/2012/main" userId="S::M10249@365e.me::2244da32-1411-4fa9-ae10-0967a5e09c96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C00000"/>
    <a:srgbClr val="FFFF00"/>
    <a:srgbClr val="FFC000"/>
    <a:srgbClr val="F2F2F2"/>
    <a:srgbClr val="404040"/>
    <a:srgbClr val="00B050"/>
    <a:srgbClr val="DCE6F2"/>
    <a:srgbClr val="596F8A"/>
    <a:srgbClr val="003965"/>
    <a:srgbClr val="C0504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3296810-A885-4BE3-A3E7-6D5BEEA58F35}" styleName="보통 스타일 2 - 강조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21E4AEA4-8DFA-4A89-87EB-49C32662AFE0}" styleName="보통 스타일 2 - 강조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0660B408-B3CF-4A94-85FC-2B1E0A45F4A2}" styleName="어두운 스타일 2 - 강조 1/강조 2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accent1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2"/>
          </a:solidFill>
        </a:fill>
      </a:tcStyle>
    </a:firstRow>
  </a:tblStyle>
  <a:tblStyle styleId="{69012ECD-51FC-41F1-AA8D-1B2483CD663E}" styleName="밝은 스타일 2 - 강조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  <a:tblStyle styleId="{10A1B5D5-9B99-4C35-A422-299274C87663}" styleName="보통 스타일 1 - 강조 6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6">
              <a:tint val="20000"/>
            </a:schemeClr>
          </a:solidFill>
        </a:fill>
      </a:tcStyle>
    </a:band1H>
    <a:band1V>
      <a:tcStyle>
        <a:tcBdr/>
        <a:fill>
          <a:solidFill>
            <a:schemeClr val="accent6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Row>
  </a:tblStyle>
  <a:tblStyle styleId="{91EBBBCC-DAD2-459C-BE2E-F6DE35CF9A28}" styleName="어두운 스타일 2 - 강조 3/강조 4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accent3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4"/>
          </a:solidFill>
        </a:fill>
      </a:tcStyle>
    </a:firstRow>
  </a:tblStyle>
  <a:tblStyle styleId="{0505E3EF-67EA-436B-97B2-0124C06EBD24}" styleName="보통 스타일 4 - 강조 3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 w="12700" cmpd="sng">
              <a:solidFill>
                <a:schemeClr val="accent3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3"/>
              </a:solidFill>
            </a:ln>
          </a:top>
        </a:tcBdr>
        <a:fill>
          <a:solidFill>
            <a:schemeClr val="accent3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3">
              <a:tint val="20000"/>
            </a:schemeClr>
          </a:solidFill>
        </a:fill>
      </a:tcStyle>
    </a:firstRow>
  </a:tblStyle>
  <a:tblStyle styleId="{F5AB1C69-6EDB-4FF4-983F-18BD219EF322}" styleName="보통 스타일 2 - 강조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5940675A-B579-460E-94D1-54222C63F5DA}" styleName="스타일 없음, 표 눈금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5172" autoAdjust="0"/>
    <p:restoredTop sz="96391" autoAdjust="0"/>
  </p:normalViewPr>
  <p:slideViewPr>
    <p:cSldViewPr>
      <p:cViewPr varScale="1">
        <p:scale>
          <a:sx n="111" d="100"/>
          <a:sy n="111" d="100"/>
        </p:scale>
        <p:origin x="1950" y="114"/>
      </p:cViewPr>
      <p:guideLst>
        <p:guide orient="horz" pos="1281"/>
        <p:guide orient="horz" pos="1830"/>
        <p:guide orient="horz" pos="2616"/>
        <p:guide pos="3511"/>
        <p:guide pos="335"/>
        <p:guide pos="4447"/>
        <p:guide pos="6067"/>
        <p:guide pos="2269"/>
        <p:guide pos="5805"/>
        <p:guide pos="4069"/>
        <p:guide pos="3448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3" d="2"/>
        <a:sy n="3" d="2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>
      <p:cViewPr varScale="1">
        <p:scale>
          <a:sx n="66" d="100"/>
          <a:sy n="66" d="100"/>
        </p:scale>
        <p:origin x="0" y="0"/>
      </p:cViewPr>
      <p:guideLst/>
    </p:cSldViewPr>
  </p:notesViewPr>
  <p:gridSpacing cx="36004" cy="36004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font" Target="fonts/font2.fntdata"/><Relationship Id="rId89" Type="http://schemas.openxmlformats.org/officeDocument/2006/relationships/viewProps" Target="viewProps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90" Type="http://schemas.openxmlformats.org/officeDocument/2006/relationships/theme" Target="theme/theme1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font" Target="fonts/font3.fntdata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font" Target="fonts/font1.fntdata"/><Relationship Id="rId88" Type="http://schemas.openxmlformats.org/officeDocument/2006/relationships/presProps" Target="presProps.xml"/><Relationship Id="rId91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notesMaster" Target="notesMasters/notesMaster1.xml"/><Relationship Id="rId86" Type="http://schemas.openxmlformats.org/officeDocument/2006/relationships/font" Target="fonts/font4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commentAuthors" Target="commentAuthors.xml"/><Relationship Id="rId61" Type="http://schemas.openxmlformats.org/officeDocument/2006/relationships/slide" Target="slides/slide60.xml"/><Relationship Id="rId82" Type="http://schemas.openxmlformats.org/officeDocument/2006/relationships/handoutMaster" Target="handoutMasters/handoutMaster1.xml"/><Relationship Id="rId19" Type="http://schemas.openxmlformats.org/officeDocument/2006/relationships/slide" Target="slides/slide18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42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2" y="2"/>
            <a:ext cx="4301086" cy="3398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36" tIns="45717" rIns="91436" bIns="45717" numCol="1" anchor="t" anchorCtr="0" compatLnSpc="1">
            <a:prstTxWarp prst="textNoShape">
              <a:avLst/>
            </a:prstTxWarp>
          </a:bodyPr>
          <a:lstStyle>
            <a:lvl1pPr algn="l" defTabSz="904158" latinLnBrk="0">
              <a:defRPr kumimoji="0" sz="1200" b="0" smtClean="0">
                <a:solidFill>
                  <a:schemeClr val="tx1"/>
                </a:solidFill>
                <a:latin typeface="Arial" charset="0"/>
                <a:ea typeface="굴림" pitchFamily="50" charset="-127"/>
              </a:defRPr>
            </a:lvl1pPr>
          </a:lstStyle>
          <a:p>
            <a:pPr>
              <a:defRPr/>
            </a:pPr>
            <a:endParaRPr lang="en-US" altLang="ko-KR" dirty="0">
              <a:latin typeface="나눔고딕" panose="020D0604000000000000" pitchFamily="50" charset="-127"/>
            </a:endParaRPr>
          </a:p>
        </p:txBody>
      </p:sp>
      <p:sp>
        <p:nvSpPr>
          <p:cNvPr id="368643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5623262" y="2"/>
            <a:ext cx="4301086" cy="3398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36" tIns="45717" rIns="91436" bIns="45717" numCol="1" anchor="t" anchorCtr="0" compatLnSpc="1">
            <a:prstTxWarp prst="textNoShape">
              <a:avLst/>
            </a:prstTxWarp>
          </a:bodyPr>
          <a:lstStyle>
            <a:lvl1pPr algn="r" defTabSz="904158" latinLnBrk="0">
              <a:defRPr kumimoji="0" sz="1200" b="0" smtClean="0">
                <a:solidFill>
                  <a:schemeClr val="tx1"/>
                </a:solidFill>
                <a:latin typeface="Arial" charset="0"/>
                <a:ea typeface="굴림" pitchFamily="50" charset="-127"/>
              </a:defRPr>
            </a:lvl1pPr>
          </a:lstStyle>
          <a:p>
            <a:pPr>
              <a:defRPr/>
            </a:pPr>
            <a:endParaRPr lang="en-US" altLang="ko-KR" dirty="0">
              <a:latin typeface="나눔고딕" panose="020D0604000000000000" pitchFamily="50" charset="-127"/>
            </a:endParaRPr>
          </a:p>
        </p:txBody>
      </p:sp>
      <p:sp>
        <p:nvSpPr>
          <p:cNvPr id="368644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2" y="6456714"/>
            <a:ext cx="4301086" cy="3398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36" tIns="45717" rIns="91436" bIns="45717" numCol="1" anchor="b" anchorCtr="0" compatLnSpc="1">
            <a:prstTxWarp prst="textNoShape">
              <a:avLst/>
            </a:prstTxWarp>
          </a:bodyPr>
          <a:lstStyle>
            <a:lvl1pPr algn="l" defTabSz="904158" latinLnBrk="0">
              <a:defRPr kumimoji="0" sz="1200" b="0" smtClean="0">
                <a:solidFill>
                  <a:schemeClr val="tx1"/>
                </a:solidFill>
                <a:latin typeface="Arial" charset="0"/>
                <a:ea typeface="굴림" pitchFamily="50" charset="-127"/>
              </a:defRPr>
            </a:lvl1pPr>
          </a:lstStyle>
          <a:p>
            <a:pPr>
              <a:defRPr/>
            </a:pPr>
            <a:endParaRPr lang="en-US" altLang="ko-KR" dirty="0">
              <a:latin typeface="나눔고딕" panose="020D0604000000000000" pitchFamily="50" charset="-127"/>
            </a:endParaRPr>
          </a:p>
        </p:txBody>
      </p:sp>
      <p:sp>
        <p:nvSpPr>
          <p:cNvPr id="368645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5623262" y="6456714"/>
            <a:ext cx="4301086" cy="3398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36" tIns="45717" rIns="91436" bIns="45717" numCol="1" anchor="b" anchorCtr="0" compatLnSpc="1">
            <a:prstTxWarp prst="textNoShape">
              <a:avLst/>
            </a:prstTxWarp>
          </a:bodyPr>
          <a:lstStyle>
            <a:lvl1pPr algn="r" defTabSz="904158" latinLnBrk="0">
              <a:defRPr kumimoji="0" sz="1200" b="0" smtClean="0">
                <a:solidFill>
                  <a:schemeClr val="tx1"/>
                </a:solidFill>
                <a:latin typeface="Arial" charset="0"/>
                <a:ea typeface="굴림" pitchFamily="50" charset="-127"/>
              </a:defRPr>
            </a:lvl1pPr>
          </a:lstStyle>
          <a:p>
            <a:pPr>
              <a:defRPr/>
            </a:pPr>
            <a:fld id="{958A078C-E9DF-4D7D-AA65-6B185DB752DA}" type="slidenum">
              <a:rPr lang="ko-KR" altLang="en-US">
                <a:latin typeface="나눔고딕" panose="020D0604000000000000" pitchFamily="50" charset="-127"/>
              </a:rPr>
              <a:pPr>
                <a:defRPr/>
              </a:pPr>
              <a:t>‹#›</a:t>
            </a:fld>
            <a:endParaRPr lang="en-US" altLang="ko-KR" dirty="0">
              <a:latin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76871005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2" y="2"/>
            <a:ext cx="4301086" cy="3398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36" tIns="45717" rIns="91436" bIns="45717" numCol="1" anchor="t" anchorCtr="0" compatLnSpc="1">
            <a:prstTxWarp prst="textNoShape">
              <a:avLst/>
            </a:prstTxWarp>
          </a:bodyPr>
          <a:lstStyle>
            <a:lvl1pPr algn="l" defTabSz="904158" latinLnBrk="0">
              <a:defRPr kumimoji="0" sz="1200" b="0" smtClean="0">
                <a:solidFill>
                  <a:schemeClr val="tx1"/>
                </a:solidFill>
                <a:latin typeface="나눔고딕" panose="020D0604000000000000" pitchFamily="50" charset="-127"/>
                <a:ea typeface="굴림" pitchFamily="50" charset="-127"/>
              </a:defRPr>
            </a:lvl1pPr>
          </a:lstStyle>
          <a:p>
            <a:pPr>
              <a:defRPr/>
            </a:pPr>
            <a:endParaRPr lang="en-US" altLang="ko-KR" dirty="0"/>
          </a:p>
        </p:txBody>
      </p:sp>
      <p:sp>
        <p:nvSpPr>
          <p:cNvPr id="67587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5623262" y="2"/>
            <a:ext cx="4301086" cy="3398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36" tIns="45717" rIns="91436" bIns="45717" numCol="1" anchor="t" anchorCtr="0" compatLnSpc="1">
            <a:prstTxWarp prst="textNoShape">
              <a:avLst/>
            </a:prstTxWarp>
          </a:bodyPr>
          <a:lstStyle>
            <a:lvl1pPr algn="r" defTabSz="904158" latinLnBrk="0">
              <a:defRPr kumimoji="0" sz="1200" b="0" smtClean="0">
                <a:solidFill>
                  <a:schemeClr val="tx1"/>
                </a:solidFill>
                <a:latin typeface="나눔고딕" panose="020D0604000000000000" pitchFamily="50" charset="-127"/>
                <a:ea typeface="굴림" pitchFamily="50" charset="-127"/>
              </a:defRPr>
            </a:lvl1pPr>
          </a:lstStyle>
          <a:p>
            <a:pPr>
              <a:defRPr/>
            </a:pPr>
            <a:endParaRPr lang="en-US" altLang="ko-KR" dirty="0"/>
          </a:p>
        </p:txBody>
      </p:sp>
      <p:sp>
        <p:nvSpPr>
          <p:cNvPr id="179204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3124200" y="509588"/>
            <a:ext cx="3679825" cy="2547937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67589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94499" y="3228357"/>
            <a:ext cx="7937644" cy="30600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36" tIns="45717" rIns="91436" bIns="45717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ko-KR" noProof="0" dirty="0"/>
              <a:t>Click to edit Master text styles</a:t>
            </a:r>
          </a:p>
          <a:p>
            <a:pPr lvl="1"/>
            <a:r>
              <a:rPr lang="en-US" altLang="ko-KR" noProof="0" dirty="0"/>
              <a:t>Second level</a:t>
            </a:r>
          </a:p>
          <a:p>
            <a:pPr lvl="2"/>
            <a:r>
              <a:rPr lang="en-US" altLang="ko-KR" noProof="0" dirty="0"/>
              <a:t>Third level</a:t>
            </a:r>
          </a:p>
          <a:p>
            <a:pPr lvl="3"/>
            <a:r>
              <a:rPr lang="en-US" altLang="ko-KR" noProof="0" dirty="0"/>
              <a:t>Fourth level</a:t>
            </a:r>
          </a:p>
          <a:p>
            <a:pPr lvl="4"/>
            <a:r>
              <a:rPr lang="en-US" altLang="ko-KR" noProof="0" dirty="0"/>
              <a:t>Fifth level</a:t>
            </a:r>
          </a:p>
        </p:txBody>
      </p:sp>
      <p:sp>
        <p:nvSpPr>
          <p:cNvPr id="67590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2" y="6456714"/>
            <a:ext cx="4301086" cy="3398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36" tIns="45717" rIns="91436" bIns="45717" numCol="1" anchor="b" anchorCtr="0" compatLnSpc="1">
            <a:prstTxWarp prst="textNoShape">
              <a:avLst/>
            </a:prstTxWarp>
          </a:bodyPr>
          <a:lstStyle>
            <a:lvl1pPr algn="l" defTabSz="904158" latinLnBrk="0">
              <a:defRPr kumimoji="0" sz="1200" b="0" smtClean="0">
                <a:solidFill>
                  <a:schemeClr val="tx1"/>
                </a:solidFill>
                <a:latin typeface="나눔고딕" panose="020D0604000000000000" pitchFamily="50" charset="-127"/>
                <a:ea typeface="굴림" pitchFamily="50" charset="-127"/>
              </a:defRPr>
            </a:lvl1pPr>
          </a:lstStyle>
          <a:p>
            <a:pPr>
              <a:defRPr/>
            </a:pPr>
            <a:endParaRPr lang="en-US" altLang="ko-KR" dirty="0"/>
          </a:p>
        </p:txBody>
      </p:sp>
      <p:sp>
        <p:nvSpPr>
          <p:cNvPr id="67591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5623262" y="6456714"/>
            <a:ext cx="4301086" cy="3398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36" tIns="45717" rIns="91436" bIns="45717" numCol="1" anchor="b" anchorCtr="0" compatLnSpc="1">
            <a:prstTxWarp prst="textNoShape">
              <a:avLst/>
            </a:prstTxWarp>
          </a:bodyPr>
          <a:lstStyle>
            <a:lvl1pPr algn="r" defTabSz="904158" latinLnBrk="0">
              <a:defRPr kumimoji="0" sz="1200" b="0" smtClean="0">
                <a:solidFill>
                  <a:schemeClr val="tx1"/>
                </a:solidFill>
                <a:latin typeface="나눔고딕" panose="020D0604000000000000" pitchFamily="50" charset="-127"/>
                <a:ea typeface="굴림" pitchFamily="50" charset="-127"/>
              </a:defRPr>
            </a:lvl1pPr>
          </a:lstStyle>
          <a:p>
            <a:pPr>
              <a:defRPr/>
            </a:pPr>
            <a:fld id="{E1EB2694-E1AF-4855-92FC-08368CF64987}" type="slidenum">
              <a:rPr lang="ko-KR" altLang="en-US" smtClean="0"/>
              <a:pPr>
                <a:defRPr/>
              </a:pPr>
              <a:t>‹#›</a:t>
            </a:fld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3209556974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400" kern="1200">
        <a:solidFill>
          <a:schemeClr val="tx1"/>
        </a:solidFill>
        <a:latin typeface="나눔고딕" panose="020D0604000000000000" pitchFamily="50" charset="-127"/>
        <a:ea typeface="나눔고딕" panose="020D0604000000000000" pitchFamily="50" charset="-127"/>
        <a:cs typeface="+mn-cs"/>
      </a:defRPr>
    </a:lvl1pPr>
    <a:lvl2pPr marL="548640" algn="l" rtl="0" eaLnBrk="0" fontAlgn="base" hangingPunct="0">
      <a:spcBef>
        <a:spcPct val="30000"/>
      </a:spcBef>
      <a:spcAft>
        <a:spcPct val="0"/>
      </a:spcAft>
      <a:defRPr sz="1400" kern="1200">
        <a:solidFill>
          <a:schemeClr val="tx1"/>
        </a:solidFill>
        <a:latin typeface="나눔고딕" panose="020D0604000000000000" pitchFamily="50" charset="-127"/>
        <a:ea typeface="나눔고딕" panose="020D0604000000000000" pitchFamily="50" charset="-127"/>
        <a:cs typeface="+mn-cs"/>
      </a:defRPr>
    </a:lvl2pPr>
    <a:lvl3pPr marL="1097280" algn="l" rtl="0" eaLnBrk="0" fontAlgn="base" hangingPunct="0">
      <a:spcBef>
        <a:spcPct val="30000"/>
      </a:spcBef>
      <a:spcAft>
        <a:spcPct val="0"/>
      </a:spcAft>
      <a:defRPr sz="1400" kern="1200">
        <a:solidFill>
          <a:schemeClr val="tx1"/>
        </a:solidFill>
        <a:latin typeface="나눔고딕" panose="020D0604000000000000" pitchFamily="50" charset="-127"/>
        <a:ea typeface="나눔고딕" panose="020D0604000000000000" pitchFamily="50" charset="-127"/>
        <a:cs typeface="+mn-cs"/>
      </a:defRPr>
    </a:lvl3pPr>
    <a:lvl4pPr marL="1645920" algn="l" rtl="0" eaLnBrk="0" fontAlgn="base" hangingPunct="0">
      <a:spcBef>
        <a:spcPct val="30000"/>
      </a:spcBef>
      <a:spcAft>
        <a:spcPct val="0"/>
      </a:spcAft>
      <a:defRPr sz="1400" kern="1200">
        <a:solidFill>
          <a:schemeClr val="tx1"/>
        </a:solidFill>
        <a:latin typeface="나눔고딕" panose="020D0604000000000000" pitchFamily="50" charset="-127"/>
        <a:ea typeface="나눔고딕" panose="020D0604000000000000" pitchFamily="50" charset="-127"/>
        <a:cs typeface="+mn-cs"/>
      </a:defRPr>
    </a:lvl4pPr>
    <a:lvl5pPr marL="2194560" algn="l" rtl="0" eaLnBrk="0" fontAlgn="base" hangingPunct="0">
      <a:spcBef>
        <a:spcPct val="30000"/>
      </a:spcBef>
      <a:spcAft>
        <a:spcPct val="0"/>
      </a:spcAft>
      <a:defRPr sz="1400" kern="1200">
        <a:solidFill>
          <a:schemeClr val="tx1"/>
        </a:solidFill>
        <a:latin typeface="나눔고딕" panose="020D0604000000000000" pitchFamily="50" charset="-127"/>
        <a:ea typeface="나눔고딕" panose="020D0604000000000000" pitchFamily="50" charset="-127"/>
        <a:cs typeface="+mn-cs"/>
      </a:defRPr>
    </a:lvl5pPr>
    <a:lvl6pPr marL="2743200" algn="l" defTabSz="1097280" rtl="0" eaLnBrk="1" latinLnBrk="1" hangingPunct="1">
      <a:defRPr sz="1400" kern="1200">
        <a:solidFill>
          <a:schemeClr val="tx1"/>
        </a:solidFill>
        <a:latin typeface="+mn-lt"/>
        <a:ea typeface="+mn-ea"/>
        <a:cs typeface="+mn-cs"/>
      </a:defRPr>
    </a:lvl6pPr>
    <a:lvl7pPr marL="3291840" algn="l" defTabSz="1097280" rtl="0" eaLnBrk="1" latinLnBrk="1" hangingPunct="1">
      <a:defRPr sz="1400" kern="1200">
        <a:solidFill>
          <a:schemeClr val="tx1"/>
        </a:solidFill>
        <a:latin typeface="+mn-lt"/>
        <a:ea typeface="+mn-ea"/>
        <a:cs typeface="+mn-cs"/>
      </a:defRPr>
    </a:lvl7pPr>
    <a:lvl8pPr marL="3840480" algn="l" defTabSz="1097280" rtl="0" eaLnBrk="1" latinLnBrk="1" hangingPunct="1">
      <a:defRPr sz="1400" kern="1200">
        <a:solidFill>
          <a:schemeClr val="tx1"/>
        </a:solidFill>
        <a:latin typeface="+mn-lt"/>
        <a:ea typeface="+mn-ea"/>
        <a:cs typeface="+mn-cs"/>
      </a:defRPr>
    </a:lvl8pPr>
    <a:lvl9pPr marL="4389120" algn="l" defTabSz="1097280" rtl="0" eaLnBrk="1" latinLnBrk="1" hangingPunct="1">
      <a:defRPr sz="14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3124200" y="509588"/>
            <a:ext cx="3679825" cy="2547937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E1EB2694-E1AF-4855-92FC-08368CF64987}" type="slidenum">
              <a:rPr lang="ko-KR" altLang="en-US" smtClean="0"/>
              <a:pPr>
                <a:defRPr/>
              </a:pPr>
              <a:t>1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425178141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Box 1099">
            <a:extLst>
              <a:ext uri="{FF2B5EF4-FFF2-40B4-BE49-F238E27FC236}">
                <a16:creationId xmlns:a16="http://schemas.microsoft.com/office/drawing/2014/main" id="{6F6EA833-4CCB-DDB7-25E2-F1E4EF28D162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6636" y="6644475"/>
            <a:ext cx="98927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fld id="{3BD61D90-F798-4BAC-AFEE-3BFFDAD41B14}" type="slidenum">
              <a:rPr lang="en-US" altLang="ko-KR" sz="900" smtClean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pPr algn="ctr" eaLnBrk="1" hangingPunct="1">
                <a:spcBef>
                  <a:spcPct val="50000"/>
                </a:spcBef>
                <a:defRPr/>
              </a:pPr>
              <a:t>‹#›</a:t>
            </a:fld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-</a:t>
            </a:r>
          </a:p>
        </p:txBody>
      </p:sp>
      <p:pic>
        <p:nvPicPr>
          <p:cNvPr id="4" name="table">
            <a:extLst>
              <a:ext uri="{FF2B5EF4-FFF2-40B4-BE49-F238E27FC236}">
                <a16:creationId xmlns:a16="http://schemas.microsoft.com/office/drawing/2014/main" id="{795D1FFF-603E-488F-38AE-89B81130BE29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283" y="-10086"/>
            <a:ext cx="9905433" cy="66444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3761639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2073285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684284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99" r:id="rId1"/>
    <p:sldLayoutId id="2147484703" r:id="rId2"/>
  </p:sldLayoutIdLst>
  <p:txStyles>
    <p:titleStyle>
      <a:lvl1pPr algn="ctr" rtl="0" eaLnBrk="0" fontAlgn="base" latinLnBrk="1" hangingPunct="0">
        <a:spcBef>
          <a:spcPct val="0"/>
        </a:spcBef>
        <a:spcAft>
          <a:spcPct val="0"/>
        </a:spcAft>
        <a:defRPr sz="53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latinLnBrk="1" hangingPunct="0">
        <a:spcBef>
          <a:spcPct val="0"/>
        </a:spcBef>
        <a:spcAft>
          <a:spcPct val="0"/>
        </a:spcAft>
        <a:defRPr sz="5300">
          <a:solidFill>
            <a:schemeClr val="tx1"/>
          </a:solidFill>
          <a:latin typeface="맑은 고딕" pitchFamily="50" charset="-127"/>
        </a:defRPr>
      </a:lvl2pPr>
      <a:lvl3pPr algn="ctr" rtl="0" eaLnBrk="0" fontAlgn="base" latinLnBrk="1" hangingPunct="0">
        <a:spcBef>
          <a:spcPct val="0"/>
        </a:spcBef>
        <a:spcAft>
          <a:spcPct val="0"/>
        </a:spcAft>
        <a:defRPr sz="5300">
          <a:solidFill>
            <a:schemeClr val="tx1"/>
          </a:solidFill>
          <a:latin typeface="맑은 고딕" pitchFamily="50" charset="-127"/>
        </a:defRPr>
      </a:lvl3pPr>
      <a:lvl4pPr algn="ctr" rtl="0" eaLnBrk="0" fontAlgn="base" latinLnBrk="1" hangingPunct="0">
        <a:spcBef>
          <a:spcPct val="0"/>
        </a:spcBef>
        <a:spcAft>
          <a:spcPct val="0"/>
        </a:spcAft>
        <a:defRPr sz="5300">
          <a:solidFill>
            <a:schemeClr val="tx1"/>
          </a:solidFill>
          <a:latin typeface="맑은 고딕" pitchFamily="50" charset="-127"/>
        </a:defRPr>
      </a:lvl4pPr>
      <a:lvl5pPr algn="ctr" rtl="0" eaLnBrk="0" fontAlgn="base" latinLnBrk="1" hangingPunct="0">
        <a:spcBef>
          <a:spcPct val="0"/>
        </a:spcBef>
        <a:spcAft>
          <a:spcPct val="0"/>
        </a:spcAft>
        <a:defRPr sz="5300">
          <a:solidFill>
            <a:schemeClr val="tx1"/>
          </a:solidFill>
          <a:latin typeface="맑은 고딕" pitchFamily="50" charset="-127"/>
        </a:defRPr>
      </a:lvl5pPr>
      <a:lvl6pPr marL="548640" algn="ctr" rtl="0" fontAlgn="base" latinLnBrk="1">
        <a:spcBef>
          <a:spcPct val="0"/>
        </a:spcBef>
        <a:spcAft>
          <a:spcPct val="0"/>
        </a:spcAft>
        <a:defRPr sz="5300">
          <a:solidFill>
            <a:schemeClr val="tx1"/>
          </a:solidFill>
          <a:latin typeface="맑은 고딕" pitchFamily="50" charset="-127"/>
        </a:defRPr>
      </a:lvl6pPr>
      <a:lvl7pPr marL="1097280" algn="ctr" rtl="0" fontAlgn="base" latinLnBrk="1">
        <a:spcBef>
          <a:spcPct val="0"/>
        </a:spcBef>
        <a:spcAft>
          <a:spcPct val="0"/>
        </a:spcAft>
        <a:defRPr sz="5300">
          <a:solidFill>
            <a:schemeClr val="tx1"/>
          </a:solidFill>
          <a:latin typeface="맑은 고딕" pitchFamily="50" charset="-127"/>
        </a:defRPr>
      </a:lvl7pPr>
      <a:lvl8pPr marL="1645920" algn="ctr" rtl="0" fontAlgn="base" latinLnBrk="1">
        <a:spcBef>
          <a:spcPct val="0"/>
        </a:spcBef>
        <a:spcAft>
          <a:spcPct val="0"/>
        </a:spcAft>
        <a:defRPr sz="5300">
          <a:solidFill>
            <a:schemeClr val="tx1"/>
          </a:solidFill>
          <a:latin typeface="맑은 고딕" pitchFamily="50" charset="-127"/>
        </a:defRPr>
      </a:lvl8pPr>
      <a:lvl9pPr marL="2194560" algn="ctr" rtl="0" fontAlgn="base" latinLnBrk="1">
        <a:spcBef>
          <a:spcPct val="0"/>
        </a:spcBef>
        <a:spcAft>
          <a:spcPct val="0"/>
        </a:spcAft>
        <a:defRPr sz="5300">
          <a:solidFill>
            <a:schemeClr val="tx1"/>
          </a:solidFill>
          <a:latin typeface="맑은 고딕" pitchFamily="50" charset="-127"/>
        </a:defRPr>
      </a:lvl9pPr>
    </p:titleStyle>
    <p:bodyStyle>
      <a:lvl1pPr marL="411480" indent="-411480" algn="l" rtl="0" eaLnBrk="0" fontAlgn="base" latinLnBrk="1" hangingPunct="0">
        <a:spcBef>
          <a:spcPct val="20000"/>
        </a:spcBef>
        <a:spcAft>
          <a:spcPct val="0"/>
        </a:spcAft>
        <a:buFont typeface="Arial" charset="0"/>
        <a:buChar char="•"/>
        <a:defRPr sz="3800" kern="1200">
          <a:solidFill>
            <a:schemeClr val="tx1"/>
          </a:solidFill>
          <a:latin typeface="+mn-lt"/>
          <a:ea typeface="+mn-ea"/>
          <a:cs typeface="+mn-cs"/>
        </a:defRPr>
      </a:lvl1pPr>
      <a:lvl2pPr marL="891540" indent="-342900" algn="l" rtl="0" eaLnBrk="0" fontAlgn="base" latinLnBrk="1" hangingPunct="0">
        <a:spcBef>
          <a:spcPct val="20000"/>
        </a:spcBef>
        <a:spcAft>
          <a:spcPct val="0"/>
        </a:spcAft>
        <a:buFont typeface="Arial" charset="0"/>
        <a:buChar char="–"/>
        <a:defRPr sz="3400" kern="1200">
          <a:solidFill>
            <a:schemeClr val="tx1"/>
          </a:solidFill>
          <a:latin typeface="+mn-lt"/>
          <a:ea typeface="+mn-ea"/>
          <a:cs typeface="+mn-cs"/>
        </a:defRPr>
      </a:lvl2pPr>
      <a:lvl3pPr marL="1371600" indent="-274320" algn="l" rtl="0" eaLnBrk="0" fontAlgn="base" latinLnBrk="1" hangingPunct="0">
        <a:spcBef>
          <a:spcPct val="20000"/>
        </a:spcBef>
        <a:spcAft>
          <a:spcPct val="0"/>
        </a:spcAft>
        <a:buFont typeface="Arial" charset="0"/>
        <a:buChar char="•"/>
        <a:defRPr sz="2900" kern="1200">
          <a:solidFill>
            <a:schemeClr val="tx1"/>
          </a:solidFill>
          <a:latin typeface="+mn-lt"/>
          <a:ea typeface="+mn-ea"/>
          <a:cs typeface="+mn-cs"/>
        </a:defRPr>
      </a:lvl3pPr>
      <a:lvl4pPr marL="1920240" indent="-274320" algn="l" rtl="0" eaLnBrk="0" fontAlgn="base" latinLnBrk="1" hangingPunct="0">
        <a:spcBef>
          <a:spcPct val="20000"/>
        </a:spcBef>
        <a:spcAft>
          <a:spcPct val="0"/>
        </a:spcAft>
        <a:buFont typeface="Arial" charset="0"/>
        <a:buChar char="–"/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68880" indent="-274320" algn="l" rtl="0" eaLnBrk="0" fontAlgn="base" latinLnBrk="1" hangingPunct="0">
        <a:spcBef>
          <a:spcPct val="20000"/>
        </a:spcBef>
        <a:spcAft>
          <a:spcPct val="0"/>
        </a:spcAft>
        <a:buFont typeface="Arial" charset="0"/>
        <a:buChar char="»"/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17520" indent="-274320" algn="l" defTabSz="1097280" rtl="0" eaLnBrk="1" latinLnBrk="1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566160" indent="-274320" algn="l" defTabSz="1097280" rtl="0" eaLnBrk="1" latinLnBrk="1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114800" indent="-274320" algn="l" defTabSz="1097280" rtl="0" eaLnBrk="1" latinLnBrk="1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663440" indent="-274320" algn="l" defTabSz="1097280" rtl="0" eaLnBrk="1" latinLnBrk="1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097280" rtl="0" eaLnBrk="1" latinLnBrk="1" hangingPunct="1">
        <a:defRPr sz="2200" kern="1200">
          <a:solidFill>
            <a:schemeClr val="tx1"/>
          </a:solidFill>
          <a:latin typeface="+mn-lt"/>
          <a:ea typeface="+mn-ea"/>
          <a:cs typeface="+mn-cs"/>
        </a:defRPr>
      </a:lvl1pPr>
      <a:lvl2pPr marL="548640" algn="l" defTabSz="1097280" rtl="0" eaLnBrk="1" latinLnBrk="1" hangingPunct="1">
        <a:defRPr sz="2200" kern="1200">
          <a:solidFill>
            <a:schemeClr val="tx1"/>
          </a:solidFill>
          <a:latin typeface="+mn-lt"/>
          <a:ea typeface="+mn-ea"/>
          <a:cs typeface="+mn-cs"/>
        </a:defRPr>
      </a:lvl2pPr>
      <a:lvl3pPr marL="1097280" algn="l" defTabSz="1097280" rtl="0" eaLnBrk="1" latinLnBrk="1" hangingPunct="1">
        <a:defRPr sz="2200" kern="1200">
          <a:solidFill>
            <a:schemeClr val="tx1"/>
          </a:solidFill>
          <a:latin typeface="+mn-lt"/>
          <a:ea typeface="+mn-ea"/>
          <a:cs typeface="+mn-cs"/>
        </a:defRPr>
      </a:lvl3pPr>
      <a:lvl4pPr marL="1645920" algn="l" defTabSz="1097280" rtl="0" eaLnBrk="1" latinLnBrk="1" hangingPunct="1">
        <a:defRPr sz="2200" kern="1200">
          <a:solidFill>
            <a:schemeClr val="tx1"/>
          </a:solidFill>
          <a:latin typeface="+mn-lt"/>
          <a:ea typeface="+mn-ea"/>
          <a:cs typeface="+mn-cs"/>
        </a:defRPr>
      </a:lvl4pPr>
      <a:lvl5pPr marL="2194560" algn="l" defTabSz="1097280" rtl="0" eaLnBrk="1" latinLnBrk="1" hangingPunct="1">
        <a:defRPr sz="2200" kern="1200">
          <a:solidFill>
            <a:schemeClr val="tx1"/>
          </a:solidFill>
          <a:latin typeface="+mn-lt"/>
          <a:ea typeface="+mn-ea"/>
          <a:cs typeface="+mn-cs"/>
        </a:defRPr>
      </a:lvl5pPr>
      <a:lvl6pPr marL="2743200" algn="l" defTabSz="1097280" rtl="0" eaLnBrk="1" latinLnBrk="1" hangingPunct="1">
        <a:defRPr sz="2200" kern="1200">
          <a:solidFill>
            <a:schemeClr val="tx1"/>
          </a:solidFill>
          <a:latin typeface="+mn-lt"/>
          <a:ea typeface="+mn-ea"/>
          <a:cs typeface="+mn-cs"/>
        </a:defRPr>
      </a:lvl6pPr>
      <a:lvl7pPr marL="3291840" algn="l" defTabSz="1097280" rtl="0" eaLnBrk="1" latinLnBrk="1" hangingPunct="1">
        <a:defRPr sz="2200" kern="1200">
          <a:solidFill>
            <a:schemeClr val="tx1"/>
          </a:solidFill>
          <a:latin typeface="+mn-lt"/>
          <a:ea typeface="+mn-ea"/>
          <a:cs typeface="+mn-cs"/>
        </a:defRPr>
      </a:lvl7pPr>
      <a:lvl8pPr marL="3840480" algn="l" defTabSz="1097280" rtl="0" eaLnBrk="1" latinLnBrk="1" hangingPunct="1">
        <a:defRPr sz="2200" kern="1200">
          <a:solidFill>
            <a:schemeClr val="tx1"/>
          </a:solidFill>
          <a:latin typeface="+mn-lt"/>
          <a:ea typeface="+mn-ea"/>
          <a:cs typeface="+mn-cs"/>
        </a:defRPr>
      </a:lvl8pPr>
      <a:lvl9pPr marL="4389120" algn="l" defTabSz="1097280" rtl="0" eaLnBrk="1" latinLnBrk="1" hangingPunct="1">
        <a:defRPr sz="22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135">
            <a:extLst>
              <a:ext uri="{FF2B5EF4-FFF2-40B4-BE49-F238E27FC236}">
                <a16:creationId xmlns:a16="http://schemas.microsoft.com/office/drawing/2014/main" id="{D0EE3C01-C659-42AF-B0F2-154A453489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6593908"/>
              </p:ext>
            </p:extLst>
          </p:nvPr>
        </p:nvGraphicFramePr>
        <p:xfrm>
          <a:off x="896550" y="5060591"/>
          <a:ext cx="8071982" cy="1068709"/>
        </p:xfrm>
        <a:graphic>
          <a:graphicData uri="http://schemas.openxmlformats.org/drawingml/2006/table">
            <a:tbl>
              <a:tblPr/>
              <a:tblGrid>
                <a:gridCol w="175219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032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651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5133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578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작 성 자</a:t>
                      </a:r>
                    </a:p>
                  </a:txBody>
                  <a:tcPr marL="77981" marR="77981" marT="17447" marB="17447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이  희  성</a:t>
                      </a:r>
                      <a:endParaRPr kumimoji="0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7981" marR="77981" marT="17447" marB="17447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  자</a:t>
                      </a:r>
                    </a:p>
                  </a:txBody>
                  <a:tcPr marL="77981" marR="77981" marT="17447" marB="17447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2026. 6. 10</a:t>
                      </a:r>
                    </a:p>
                  </a:txBody>
                  <a:tcPr marL="77981" marR="77981" marT="17447" marB="17447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46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검 토 자</a:t>
                      </a:r>
                    </a:p>
                  </a:txBody>
                  <a:tcPr marL="77981" marR="77981" marT="17447" marB="17447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0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7981" marR="77981" marT="17447" marB="17447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  자</a:t>
                      </a:r>
                    </a:p>
                  </a:txBody>
                  <a:tcPr marL="77981" marR="77981" marT="17447" marB="17447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0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7981" marR="77981" marT="17447" marB="17447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623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승 인 자</a:t>
                      </a:r>
                    </a:p>
                  </a:txBody>
                  <a:tcPr marL="77981" marR="77981" marT="17447" marB="17447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0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7981" marR="77981" marT="17447" marB="17447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  자</a:t>
                      </a:r>
                    </a:p>
                  </a:txBody>
                  <a:tcPr marL="77981" marR="77981" marT="17447" marB="17447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0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7981" marR="77981" marT="17447" marB="17447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" name="제목 6">
            <a:extLst>
              <a:ext uri="{FF2B5EF4-FFF2-40B4-BE49-F238E27FC236}">
                <a16:creationId xmlns:a16="http://schemas.microsoft.com/office/drawing/2014/main" id="{5586BA84-0607-EFC8-2890-2A14340D8C01}"/>
              </a:ext>
            </a:extLst>
          </p:cNvPr>
          <p:cNvSpPr>
            <a:spLocks noGrp="1"/>
          </p:cNvSpPr>
          <p:nvPr/>
        </p:nvSpPr>
        <p:spPr bwMode="auto">
          <a:xfrm>
            <a:off x="2576736" y="1198979"/>
            <a:ext cx="6401707" cy="7088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rm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r" eaLnBrk="1" fontAlgn="auto" hangingPunct="1">
              <a:spcAft>
                <a:spcPts val="0"/>
              </a:spcAft>
              <a:defRPr/>
            </a:pPr>
            <a:r>
              <a:rPr lang="ko-KR" altLang="en-US" sz="2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화면설계서</a:t>
            </a:r>
            <a:r>
              <a:rPr lang="en-US" altLang="ko-KR" sz="2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sz="2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" name="제목 6">
            <a:extLst>
              <a:ext uri="{FF2B5EF4-FFF2-40B4-BE49-F238E27FC236}">
                <a16:creationId xmlns:a16="http://schemas.microsoft.com/office/drawing/2014/main" id="{EA83B9F2-E3C0-B884-4551-ECFDC8AD04B1}"/>
              </a:ext>
            </a:extLst>
          </p:cNvPr>
          <p:cNvSpPr txBox="1">
            <a:spLocks/>
          </p:cNvSpPr>
          <p:nvPr/>
        </p:nvSpPr>
        <p:spPr bwMode="auto">
          <a:xfrm>
            <a:off x="3120491" y="1914815"/>
            <a:ext cx="5857953" cy="5158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lvl="0" algn="r" fontAlgn="auto" latinLnBrk="0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defRPr/>
            </a:pPr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07-2. </a:t>
            </a:r>
            <a:r>
              <a: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en-US" altLang="ko-KR" sz="14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5" name="Group 134">
            <a:extLst>
              <a:ext uri="{FF2B5EF4-FFF2-40B4-BE49-F238E27FC236}">
                <a16:creationId xmlns:a16="http://schemas.microsoft.com/office/drawing/2014/main" id="{21DC28CE-9A0A-8D52-E0A2-BBFE4CAB1F1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2653431"/>
              </p:ext>
            </p:extLst>
          </p:nvPr>
        </p:nvGraphicFramePr>
        <p:xfrm>
          <a:off x="884548" y="4196495"/>
          <a:ext cx="8083984" cy="623413"/>
        </p:xfrm>
        <a:graphic>
          <a:graphicData uri="http://schemas.openxmlformats.org/drawingml/2006/table">
            <a:tbl>
              <a:tblPr/>
              <a:tblGrid>
                <a:gridCol w="17678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3161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248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문서번호</a:t>
                      </a:r>
                    </a:p>
                  </a:txBody>
                  <a:tcPr marL="77981" marR="77981" marT="17447" marB="17447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KEPCOES-DE-004</a:t>
                      </a:r>
                    </a:p>
                  </a:txBody>
                  <a:tcPr marL="77981" marR="77981" marT="17447" marB="17447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09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프로젝트명</a:t>
                      </a:r>
                    </a:p>
                  </a:txBody>
                  <a:tcPr marL="77981" marR="77981" marT="17447" marB="17447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켑코이에스</a:t>
                      </a:r>
                      <a:r>
                        <a:rPr kumimoji="0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전산시스템</a:t>
                      </a:r>
                      <a:r>
                        <a:rPr kumimoji="0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(PMS·SRM) </a:t>
                      </a:r>
                      <a:r>
                        <a:rPr kumimoji="0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재구축 용역</a:t>
                      </a:r>
                    </a:p>
                  </a:txBody>
                  <a:tcPr marL="77981" marR="77981" marT="17447" marB="17447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텍스트 개체 틀 7">
            <a:extLst>
              <a:ext uri="{FF2B5EF4-FFF2-40B4-BE49-F238E27FC236}">
                <a16:creationId xmlns:a16="http://schemas.microsoft.com/office/drawing/2014/main" id="{487365A5-672A-A325-330C-5A5147263190}"/>
              </a:ext>
            </a:extLst>
          </p:cNvPr>
          <p:cNvSpPr>
            <a:spLocks noGrp="1"/>
          </p:cNvSpPr>
          <p:nvPr/>
        </p:nvSpPr>
        <p:spPr bwMode="auto">
          <a:xfrm>
            <a:off x="2590081" y="768744"/>
            <a:ext cx="6388363" cy="2472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no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r" eaLnBrk="1" fontAlgn="auto" hangingPunct="1">
              <a:spcAft>
                <a:spcPts val="0"/>
              </a:spcAft>
              <a:defRPr/>
            </a:pPr>
            <a:endParaRPr lang="ko-KR" altLang="en-US" sz="15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7" name="Picture 1">
            <a:extLst>
              <a:ext uri="{FF2B5EF4-FFF2-40B4-BE49-F238E27FC236}">
                <a16:creationId xmlns:a16="http://schemas.microsoft.com/office/drawing/2014/main" id="{D8D9BF40-3AAA-996A-98C9-15586676FD9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4468" y="116632"/>
            <a:ext cx="1843484" cy="432048"/>
          </a:xfrm>
          <a:prstGeom prst="rect">
            <a:avLst/>
          </a:prstGeom>
          <a:noFill/>
          <a:ln>
            <a:noFill/>
          </a:ln>
          <a:effectLst/>
        </p:spPr>
      </p:pic>
    </p:spTree>
    <p:extLst>
      <p:ext uri="{BB962C8B-B14F-4D97-AF65-F5344CB8AC3E}">
        <p14:creationId xmlns:p14="http://schemas.microsoft.com/office/powerpoint/2010/main" val="15838119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64B9AB45-3769-E1A9-6FDE-3F74DDE83B04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6" name="TextBox 15"/>
          <p:cNvSpPr txBox="1"/>
          <p:nvPr/>
        </p:nvSpPr>
        <p:spPr>
          <a:xfrm>
            <a:off x="749224" y="25608"/>
            <a:ext cx="95410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메뉴구조도(SRM)</a:t>
            </a:r>
          </a:p>
        </p:txBody>
      </p:sp>
      <p:sp>
        <p:nvSpPr>
          <p:cNvPr id="3" name="Rectangle 32">
            <a:extLst>
              <a:ext uri="{FF2B5EF4-FFF2-40B4-BE49-F238E27FC236}">
                <a16:creationId xmlns:a16="http://schemas.microsoft.com/office/drawing/2014/main" id="{A88DECC5-3C2E-3094-A449-440B9AD797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66711"/>
            <a:ext cx="9906000" cy="6383897"/>
          </a:xfrm>
          <a:prstGeom prst="rect">
            <a:avLst/>
          </a:prstGeom>
          <a:solidFill>
            <a:schemeClr val="bg1"/>
          </a:solidFill>
          <a:ln w="3175" algn="ctr">
            <a:noFill/>
            <a:prstDash val="sysDash"/>
            <a:miter lim="800000"/>
            <a:headEnd/>
            <a:tailEnd/>
          </a:ln>
        </p:spPr>
        <p:txBody>
          <a:bodyPr wrap="none" tIns="108000" bIns="108000" anchor="b" anchorCtr="0"/>
          <a:lstStyle/>
          <a:p>
            <a:pPr algn="ctr"/>
            <a:endParaRPr lang="ko-KR" altLang="en-US" sz="1000" b="1" dirty="0">
              <a:solidFill>
                <a:prstClr val="black"/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5" name="사각형: 둥근 모서리 107">
            <a:extLst>
              <a:ext uri="{FF2B5EF4-FFF2-40B4-BE49-F238E27FC236}">
                <a16:creationId xmlns:a16="http://schemas.microsoft.com/office/drawing/2014/main" id="{2756106C-5B0B-DBE9-7C86-3247285D0191}"/>
              </a:ext>
            </a:extLst>
          </p:cNvPr>
          <p:cNvSpPr/>
          <p:nvPr/>
        </p:nvSpPr>
        <p:spPr bwMode="auto">
          <a:xfrm>
            <a:off x="3992766" y="492348"/>
            <a:ext cx="1920468" cy="345789"/>
          </a:xfrm>
          <a:prstGeom prst="roundRect">
            <a:avLst>
              <a:gd name="adj" fmla="val 50000"/>
            </a:avLst>
          </a:prstGeom>
          <a:solidFill>
            <a:srgbClr val="0070C0"/>
          </a:solidFill>
          <a:ln w="2857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36000" rIns="91440" bIns="36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1" i="0" u="none" strike="noStrike" kern="1200" cap="none" spc="-5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전자입찰시스템</a:t>
            </a:r>
            <a:r>
              <a:rPr kumimoji="1" lang="en-US" altLang="ko-KR" sz="1000" b="1" i="0" u="none" strike="noStrike" kern="1200" cap="none" spc="-5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(SRM)</a:t>
            </a:r>
            <a:endParaRPr kumimoji="1" lang="ko-KR" altLang="en-US" sz="1000" b="1" i="0" u="none" strike="noStrike" kern="1200" cap="none" spc="-50" normalizeH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cxnSp>
        <p:nvCxnSpPr>
          <p:cNvPr id="7" name="연결선: 꺾임 145">
            <a:extLst>
              <a:ext uri="{FF2B5EF4-FFF2-40B4-BE49-F238E27FC236}">
                <a16:creationId xmlns:a16="http://schemas.microsoft.com/office/drawing/2014/main" id="{055B4038-FB00-BB2D-29E7-CB39AA30581E}"/>
              </a:ext>
            </a:extLst>
          </p:cNvPr>
          <p:cNvCxnSpPr>
            <a:cxnSpLocks/>
            <a:stCxn id="5" idx="2"/>
            <a:endCxn id="95" idx="0"/>
          </p:cNvCxnSpPr>
          <p:nvPr/>
        </p:nvCxnSpPr>
        <p:spPr bwMode="auto">
          <a:xfrm rot="5400000">
            <a:off x="4409069" y="575186"/>
            <a:ext cx="280981" cy="806883"/>
          </a:xfrm>
          <a:prstGeom prst="bentConnector3">
            <a:avLst>
              <a:gd name="adj1" fmla="val 50000"/>
            </a:avLst>
          </a:prstGeom>
          <a:solidFill>
            <a:schemeClr val="accent1"/>
          </a:solidFill>
          <a:ln w="3175" cap="flat" cmpd="sng" algn="ctr">
            <a:solidFill>
              <a:srgbClr val="0070C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" name="연결선: 꺾임 55">
            <a:extLst>
              <a:ext uri="{FF2B5EF4-FFF2-40B4-BE49-F238E27FC236}">
                <a16:creationId xmlns:a16="http://schemas.microsoft.com/office/drawing/2014/main" id="{61E1272A-265F-F840-4E25-03555EF7D500}"/>
              </a:ext>
            </a:extLst>
          </p:cNvPr>
          <p:cNvCxnSpPr>
            <a:cxnSpLocks/>
            <a:stCxn id="5" idx="2"/>
            <a:endCxn id="120" idx="0"/>
          </p:cNvCxnSpPr>
          <p:nvPr/>
        </p:nvCxnSpPr>
        <p:spPr bwMode="auto">
          <a:xfrm rot="16200000" flipH="1">
            <a:off x="6034311" y="-243175"/>
            <a:ext cx="280981" cy="2443603"/>
          </a:xfrm>
          <a:prstGeom prst="bentConnector3">
            <a:avLst>
              <a:gd name="adj1" fmla="val 50000"/>
            </a:avLst>
          </a:prstGeom>
          <a:solidFill>
            <a:schemeClr val="accent1"/>
          </a:solidFill>
          <a:ln w="3175" cap="flat" cmpd="sng" algn="ctr">
            <a:solidFill>
              <a:srgbClr val="0070C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" name="연결선: 꺾임 64">
            <a:extLst>
              <a:ext uri="{FF2B5EF4-FFF2-40B4-BE49-F238E27FC236}">
                <a16:creationId xmlns:a16="http://schemas.microsoft.com/office/drawing/2014/main" id="{9575E0FF-0D0C-8123-2CA2-67305D09EFE1}"/>
              </a:ext>
            </a:extLst>
          </p:cNvPr>
          <p:cNvCxnSpPr>
            <a:cxnSpLocks/>
            <a:stCxn id="5" idx="2"/>
            <a:endCxn id="146" idx="0"/>
          </p:cNvCxnSpPr>
          <p:nvPr/>
        </p:nvCxnSpPr>
        <p:spPr bwMode="auto">
          <a:xfrm rot="16200000" flipH="1">
            <a:off x="6846933" y="-1055797"/>
            <a:ext cx="280981" cy="4068847"/>
          </a:xfrm>
          <a:prstGeom prst="bentConnector3">
            <a:avLst>
              <a:gd name="adj1" fmla="val 50000"/>
            </a:avLst>
          </a:prstGeom>
          <a:solidFill>
            <a:schemeClr val="accent1"/>
          </a:solidFill>
          <a:ln w="3175" cap="flat" cmpd="sng" algn="ctr">
            <a:solidFill>
              <a:srgbClr val="0070C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" name="연결선: 꺾임 145">
            <a:extLst>
              <a:ext uri="{FF2B5EF4-FFF2-40B4-BE49-F238E27FC236}">
                <a16:creationId xmlns:a16="http://schemas.microsoft.com/office/drawing/2014/main" id="{68A3D591-143A-A287-49A2-D247E0FC4B9A}"/>
              </a:ext>
            </a:extLst>
          </p:cNvPr>
          <p:cNvCxnSpPr>
            <a:cxnSpLocks/>
            <a:stCxn id="5" idx="2"/>
            <a:endCxn id="87" idx="0"/>
          </p:cNvCxnSpPr>
          <p:nvPr/>
        </p:nvCxnSpPr>
        <p:spPr bwMode="auto">
          <a:xfrm rot="5400000">
            <a:off x="3596447" y="-237436"/>
            <a:ext cx="280981" cy="2432126"/>
          </a:xfrm>
          <a:prstGeom prst="bentConnector3">
            <a:avLst>
              <a:gd name="adj1" fmla="val 50000"/>
            </a:avLst>
          </a:prstGeom>
          <a:solidFill>
            <a:schemeClr val="accent1"/>
          </a:solidFill>
          <a:ln w="3175" cap="flat" cmpd="sng" algn="ctr">
            <a:solidFill>
              <a:srgbClr val="0070C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" name="연결선: 꺾임 145">
            <a:extLst>
              <a:ext uri="{FF2B5EF4-FFF2-40B4-BE49-F238E27FC236}">
                <a16:creationId xmlns:a16="http://schemas.microsoft.com/office/drawing/2014/main" id="{A034744A-7FB4-89EA-9A03-77A446DA239E}"/>
              </a:ext>
            </a:extLst>
          </p:cNvPr>
          <p:cNvCxnSpPr>
            <a:cxnSpLocks/>
            <a:stCxn id="5" idx="2"/>
            <a:endCxn id="19" idx="0"/>
          </p:cNvCxnSpPr>
          <p:nvPr/>
        </p:nvCxnSpPr>
        <p:spPr bwMode="auto">
          <a:xfrm rot="5400000">
            <a:off x="2783826" y="-1050057"/>
            <a:ext cx="280981" cy="4057369"/>
          </a:xfrm>
          <a:prstGeom prst="bentConnector3">
            <a:avLst>
              <a:gd name="adj1" fmla="val 50000"/>
            </a:avLst>
          </a:prstGeom>
          <a:solidFill>
            <a:schemeClr val="accent1"/>
          </a:solidFill>
          <a:ln w="3175" cap="flat" cmpd="sng" algn="ctr">
            <a:solidFill>
              <a:srgbClr val="0070C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" name="연결선: 꺾임 145">
            <a:extLst>
              <a:ext uri="{FF2B5EF4-FFF2-40B4-BE49-F238E27FC236}">
                <a16:creationId xmlns:a16="http://schemas.microsoft.com/office/drawing/2014/main" id="{5CE08FB6-4C52-2234-18BB-7BBE70621FC4}"/>
              </a:ext>
            </a:extLst>
          </p:cNvPr>
          <p:cNvCxnSpPr>
            <a:cxnSpLocks/>
            <a:stCxn id="5" idx="2"/>
            <a:endCxn id="103" idx="0"/>
          </p:cNvCxnSpPr>
          <p:nvPr/>
        </p:nvCxnSpPr>
        <p:spPr bwMode="auto">
          <a:xfrm rot="16200000" flipH="1">
            <a:off x="5221690" y="569447"/>
            <a:ext cx="280981" cy="818360"/>
          </a:xfrm>
          <a:prstGeom prst="bentConnector3">
            <a:avLst>
              <a:gd name="adj1" fmla="val 50000"/>
            </a:avLst>
          </a:prstGeom>
          <a:solidFill>
            <a:schemeClr val="accent1"/>
          </a:solidFill>
          <a:ln w="3175" cap="flat" cmpd="sng" algn="ctr">
            <a:solidFill>
              <a:srgbClr val="0070C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55031B6B-3138-9606-4556-72B8D9A3EFD9}"/>
              </a:ext>
            </a:extLst>
          </p:cNvPr>
          <p:cNvSpPr/>
          <p:nvPr/>
        </p:nvSpPr>
        <p:spPr>
          <a:xfrm>
            <a:off x="131466" y="1119118"/>
            <a:ext cx="1528329" cy="307303"/>
          </a:xfrm>
          <a:prstGeom prst="rect">
            <a:avLst/>
          </a:prstGeom>
          <a:solidFill>
            <a:srgbClr val="00B050">
              <a:alpha val="69804"/>
            </a:srgb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kern="0" spc="-50" dirty="0">
                <a:solidFill>
                  <a:prstClr val="whit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협력업체 전용 창구</a:t>
            </a:r>
            <a:r>
              <a:rPr kumimoji="0" lang="en-US" altLang="ko-KR" sz="900" kern="0" spc="-50" dirty="0">
                <a:solidFill>
                  <a:prstClr val="whit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kumimoji="0" lang="ko-KR" altLang="en-US" sz="900" kern="0" spc="-50" dirty="0">
                <a:solidFill>
                  <a:prstClr val="whit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로그인 전</a:t>
            </a:r>
            <a:r>
              <a:rPr kumimoji="0" lang="en-US" altLang="ko-KR" sz="900" kern="0" spc="-50" dirty="0">
                <a:solidFill>
                  <a:prstClr val="whit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kumimoji="0" lang="ko-KR" altLang="en-US" sz="900" b="1" i="0" u="none" strike="noStrike" kern="0" cap="none" spc="-5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355CEA5E-44EC-9B4C-CBF2-F282986821A5}"/>
              </a:ext>
            </a:extLst>
          </p:cNvPr>
          <p:cNvSpPr/>
          <p:nvPr/>
        </p:nvSpPr>
        <p:spPr>
          <a:xfrm>
            <a:off x="127630" y="1498044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협력업체 신청 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ECE74225-2ADC-D85A-D8EC-DE91BDDB1B8A}"/>
              </a:ext>
            </a:extLst>
          </p:cNvPr>
          <p:cNvSpPr/>
          <p:nvPr/>
        </p:nvSpPr>
        <p:spPr>
          <a:xfrm>
            <a:off x="127630" y="1752720"/>
            <a:ext cx="1529252" cy="1357286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noFill/>
            <a:prstDash val="solid"/>
          </a:ln>
          <a:effectLst/>
        </p:spPr>
        <p:txBody>
          <a:bodyPr lIns="72000" rIns="72000" rtlCol="0" anchor="ctr"/>
          <a:lstStyle/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Step#1 </a:t>
            </a: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약관 및 개인정보 수집 동의</a:t>
            </a:r>
          </a:p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Step#2 </a:t>
            </a: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기본 정보 입력</a:t>
            </a:r>
          </a:p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Step#3 </a:t>
            </a: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담당자 정보 입력</a:t>
            </a:r>
          </a:p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Step#4 </a:t>
            </a: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신청 정보 확인 및 제출 </a:t>
            </a:r>
          </a:p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Step#5 </a:t>
            </a: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협력업체 신청 완료</a:t>
            </a: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014F6B96-E775-D9A7-EA91-08EC3A32EC6E}"/>
              </a:ext>
            </a:extLst>
          </p:cNvPr>
          <p:cNvSpPr/>
          <p:nvPr/>
        </p:nvSpPr>
        <p:spPr>
          <a:xfrm>
            <a:off x="127630" y="3172738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아이디 찾기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A9921989-4B1D-CEEB-F694-E3DBDC758B0E}"/>
              </a:ext>
            </a:extLst>
          </p:cNvPr>
          <p:cNvSpPr/>
          <p:nvPr/>
        </p:nvSpPr>
        <p:spPr>
          <a:xfrm>
            <a:off x="127630" y="3483409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비밀번호 찾기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D7A3A18D-BBC4-326F-4F31-9B5CD06D0993}"/>
              </a:ext>
            </a:extLst>
          </p:cNvPr>
          <p:cNvSpPr/>
          <p:nvPr/>
        </p:nvSpPr>
        <p:spPr>
          <a:xfrm>
            <a:off x="127630" y="3794080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3A9A84AB-E38C-E88E-BD5D-FA4B7A6AA513}"/>
              </a:ext>
            </a:extLst>
          </p:cNvPr>
          <p:cNvSpPr/>
          <p:nvPr/>
        </p:nvSpPr>
        <p:spPr>
          <a:xfrm>
            <a:off x="127630" y="4104751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협력업체 이용 매뉴얼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739AC54A-4603-1A06-B470-F5CE35B93081}"/>
              </a:ext>
            </a:extLst>
          </p:cNvPr>
          <p:cNvSpPr/>
          <p:nvPr/>
        </p:nvSpPr>
        <p:spPr>
          <a:xfrm>
            <a:off x="1756709" y="1119118"/>
            <a:ext cx="1528329" cy="307303"/>
          </a:xfrm>
          <a:prstGeom prst="rect">
            <a:avLst/>
          </a:prstGeom>
          <a:solidFill>
            <a:srgbClr val="00B050">
              <a:alpha val="69804"/>
            </a:srgb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kern="0" spc="-50" dirty="0">
                <a:solidFill>
                  <a:prstClr val="whit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협력업체 전용 창구</a:t>
            </a:r>
            <a:r>
              <a:rPr kumimoji="0" lang="en-US" altLang="ko-KR" sz="900" kern="0" spc="-50" dirty="0">
                <a:solidFill>
                  <a:prstClr val="whit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kumimoji="0" lang="ko-KR" altLang="en-US" sz="900" kern="0" spc="-50" dirty="0">
                <a:solidFill>
                  <a:prstClr val="whit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로그인 후</a:t>
            </a:r>
            <a:r>
              <a:rPr kumimoji="0" lang="en-US" altLang="ko-KR" sz="900" kern="0" spc="-50" dirty="0">
                <a:solidFill>
                  <a:prstClr val="whit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kumimoji="0" lang="ko-KR" altLang="en-US" sz="900" b="1" i="0" u="none" strike="noStrike" kern="0" cap="none" spc="-5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1D1F3630-EED3-9948-BDC0-83051E91F895}"/>
              </a:ext>
            </a:extLst>
          </p:cNvPr>
          <p:cNvSpPr/>
          <p:nvPr/>
        </p:nvSpPr>
        <p:spPr>
          <a:xfrm>
            <a:off x="1752873" y="1498044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대시보드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1A725966-D3AC-ED98-1744-D5B07887B1F1}"/>
              </a:ext>
            </a:extLst>
          </p:cNvPr>
          <p:cNvSpPr/>
          <p:nvPr/>
        </p:nvSpPr>
        <p:spPr>
          <a:xfrm>
            <a:off x="1752873" y="3047375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수의계약 요청 현황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3417B091-2877-C651-F82B-9AB10534A006}"/>
              </a:ext>
            </a:extLst>
          </p:cNvPr>
          <p:cNvSpPr/>
          <p:nvPr/>
        </p:nvSpPr>
        <p:spPr>
          <a:xfrm>
            <a:off x="1752873" y="5226932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협력업체 정보 관리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11C47DCA-0266-33B0-A559-21AA9E3FDAA2}"/>
              </a:ext>
            </a:extLst>
          </p:cNvPr>
          <p:cNvSpPr/>
          <p:nvPr/>
        </p:nvSpPr>
        <p:spPr>
          <a:xfrm>
            <a:off x="3381952" y="1119118"/>
            <a:ext cx="1528329" cy="307303"/>
          </a:xfrm>
          <a:prstGeom prst="rect">
            <a:avLst/>
          </a:prstGeom>
          <a:solidFill>
            <a:srgbClr val="0070C0">
              <a:alpha val="69804"/>
            </a:srgb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kern="0" spc="-50" dirty="0">
                <a:solidFill>
                  <a:prstClr val="whit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대시보드 </a:t>
            </a:r>
            <a:endParaRPr kumimoji="0" lang="ko-KR" altLang="en-US" sz="900" b="1" i="0" u="none" strike="noStrike" kern="0" cap="none" spc="-5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E4A7083E-BF4B-F446-EBE7-B899895ECDB9}"/>
              </a:ext>
            </a:extLst>
          </p:cNvPr>
          <p:cNvSpPr/>
          <p:nvPr/>
        </p:nvSpPr>
        <p:spPr>
          <a:xfrm>
            <a:off x="3378116" y="1498044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대시보드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1D228922-9D76-9C43-A75D-90F2B3ED8E45}"/>
              </a:ext>
            </a:extLst>
          </p:cNvPr>
          <p:cNvSpPr/>
          <p:nvPr/>
        </p:nvSpPr>
        <p:spPr>
          <a:xfrm>
            <a:off x="5007195" y="1119118"/>
            <a:ext cx="1528329" cy="307303"/>
          </a:xfrm>
          <a:prstGeom prst="rect">
            <a:avLst/>
          </a:prstGeom>
          <a:solidFill>
            <a:srgbClr val="0070C0">
              <a:alpha val="69804"/>
            </a:srgb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kern="0" spc="-50" dirty="0">
                <a:solidFill>
                  <a:prstClr val="whit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사전 견적 관리 </a:t>
            </a:r>
            <a:endParaRPr kumimoji="0" lang="ko-KR" altLang="en-US" sz="900" b="1" i="0" u="none" strike="noStrike" kern="0" cap="none" spc="-5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CF2EA9CB-6E24-E53F-E5A6-C94809CB3D2C}"/>
              </a:ext>
            </a:extLst>
          </p:cNvPr>
          <p:cNvSpPr/>
          <p:nvPr/>
        </p:nvSpPr>
        <p:spPr>
          <a:xfrm>
            <a:off x="5003359" y="1498044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사전 견적 요청 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DE8FBC8F-623F-FFE5-65E3-A25E8E96ED59}"/>
              </a:ext>
            </a:extLst>
          </p:cNvPr>
          <p:cNvSpPr/>
          <p:nvPr/>
        </p:nvSpPr>
        <p:spPr>
          <a:xfrm>
            <a:off x="5003359" y="1803279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사전 견적 요청 현황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441233F4-F260-522C-0AA4-9C626EAEB198}"/>
              </a:ext>
            </a:extLst>
          </p:cNvPr>
          <p:cNvSpPr/>
          <p:nvPr/>
        </p:nvSpPr>
        <p:spPr>
          <a:xfrm>
            <a:off x="6632438" y="1119118"/>
            <a:ext cx="1528329" cy="307303"/>
          </a:xfrm>
          <a:prstGeom prst="rect">
            <a:avLst/>
          </a:prstGeom>
          <a:solidFill>
            <a:srgbClr val="0070C0">
              <a:alpha val="69804"/>
            </a:srgb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kern="0" spc="-50" dirty="0">
                <a:solidFill>
                  <a:prstClr val="whit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발주계약 요청</a:t>
            </a:r>
            <a:endParaRPr kumimoji="0" lang="ko-KR" altLang="en-US" sz="900" b="1" i="0" u="none" strike="noStrike" kern="0" cap="none" spc="-5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52691882-9F04-AAF6-027E-2875611F6CD3}"/>
              </a:ext>
            </a:extLst>
          </p:cNvPr>
          <p:cNvSpPr/>
          <p:nvPr/>
        </p:nvSpPr>
        <p:spPr>
          <a:xfrm>
            <a:off x="8257682" y="1119118"/>
            <a:ext cx="1528329" cy="307303"/>
          </a:xfrm>
          <a:prstGeom prst="rect">
            <a:avLst/>
          </a:prstGeom>
          <a:solidFill>
            <a:srgbClr val="0070C0">
              <a:alpha val="69804"/>
            </a:srgb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kern="0" spc="-50" dirty="0">
                <a:solidFill>
                  <a:prstClr val="whit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발주계획</a:t>
            </a:r>
            <a:endParaRPr kumimoji="0" lang="ko-KR" altLang="en-US" sz="900" b="1" i="0" u="none" strike="noStrike" kern="0" cap="none" spc="-5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112DC2C2-E43C-3766-CB42-FA1259397C91}"/>
              </a:ext>
            </a:extLst>
          </p:cNvPr>
          <p:cNvSpPr/>
          <p:nvPr/>
        </p:nvSpPr>
        <p:spPr>
          <a:xfrm>
            <a:off x="1752873" y="1805394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공지사항 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830CFC53-CFBF-4247-9FDC-CDDBDE6092A6}"/>
              </a:ext>
            </a:extLst>
          </p:cNvPr>
          <p:cNvSpPr/>
          <p:nvPr/>
        </p:nvSpPr>
        <p:spPr>
          <a:xfrm>
            <a:off x="1752873" y="2116065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질문과 답변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7D7D566-4D8F-3660-682E-B2E27CA62F20}"/>
              </a:ext>
            </a:extLst>
          </p:cNvPr>
          <p:cNvSpPr/>
          <p:nvPr/>
        </p:nvSpPr>
        <p:spPr>
          <a:xfrm>
            <a:off x="1752873" y="2426736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양식 등 자료실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7" name="직사각형 166">
            <a:extLst>
              <a:ext uri="{FF2B5EF4-FFF2-40B4-BE49-F238E27FC236}">
                <a16:creationId xmlns:a16="http://schemas.microsoft.com/office/drawing/2014/main" id="{D5365FA3-56EC-7C58-22E2-1979348C1B97}"/>
              </a:ext>
            </a:extLst>
          </p:cNvPr>
          <p:cNvSpPr/>
          <p:nvPr/>
        </p:nvSpPr>
        <p:spPr>
          <a:xfrm>
            <a:off x="1752873" y="2737407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사전 견적 관리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860D680-4B09-482D-4A6E-1C803CFA44A5}"/>
              </a:ext>
            </a:extLst>
          </p:cNvPr>
          <p:cNvSpPr/>
          <p:nvPr/>
        </p:nvSpPr>
        <p:spPr>
          <a:xfrm>
            <a:off x="1748146" y="3298876"/>
            <a:ext cx="1529252" cy="479466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noFill/>
            <a:prstDash val="solid"/>
          </a:ln>
          <a:effectLst/>
        </p:spPr>
        <p:txBody>
          <a:bodyPr lIns="72000" rIns="72000" rtlCol="0" anchor="ctr"/>
          <a:lstStyle/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공고 정보</a:t>
            </a:r>
          </a:p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견적 제출 현황</a:t>
            </a: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D2D1ED4E-E5E8-961F-16DB-A0639EBB2950}"/>
              </a:ext>
            </a:extLst>
          </p:cNvPr>
          <p:cNvSpPr/>
          <p:nvPr/>
        </p:nvSpPr>
        <p:spPr>
          <a:xfrm>
            <a:off x="1752873" y="3835263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참여 현황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" name="직사각형 170">
            <a:extLst>
              <a:ext uri="{FF2B5EF4-FFF2-40B4-BE49-F238E27FC236}">
                <a16:creationId xmlns:a16="http://schemas.microsoft.com/office/drawing/2014/main" id="{4245DF07-F90F-F9AE-165D-E01F074E18A7}"/>
              </a:ext>
            </a:extLst>
          </p:cNvPr>
          <p:cNvSpPr/>
          <p:nvPr/>
        </p:nvSpPr>
        <p:spPr>
          <a:xfrm>
            <a:off x="1748146" y="4087538"/>
            <a:ext cx="1529252" cy="1082472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noFill/>
            <a:prstDash val="solid"/>
          </a:ln>
          <a:effectLst/>
        </p:spPr>
        <p:txBody>
          <a:bodyPr lIns="72000" rIns="72000" rtlCol="0" anchor="ctr"/>
          <a:lstStyle/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입찰공고 정보</a:t>
            </a:r>
          </a:p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입찰 서류 제출</a:t>
            </a:r>
          </a:p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가격 </a:t>
            </a:r>
            <a:r>
              <a:rPr kumimoji="0" lang="ko-KR" altLang="en-US" sz="900" b="0" i="0" u="none" strike="noStrike" kern="0" cap="none" spc="-50" normalizeH="0" noProof="0" dirty="0" err="1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투찰</a:t>
            </a:r>
            <a:endParaRPr kumimoji="0" lang="ko-KR" altLang="en-US" sz="900" b="0" i="0" u="none" strike="noStrike" kern="0" cap="none" spc="-50" normalizeH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입찰 결과</a:t>
            </a:r>
          </a:p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0" cap="none" spc="-50" normalizeH="0" noProof="0" dirty="0" err="1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수의시담</a:t>
            </a:r>
            <a:endParaRPr kumimoji="0" lang="ko-KR" altLang="en-US" sz="900" b="0" i="0" u="none" strike="noStrike" kern="0" cap="none" spc="-50" normalizeH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6B371C43-7645-8F36-DB9B-858941ECB04D}"/>
              </a:ext>
            </a:extLst>
          </p:cNvPr>
          <p:cNvSpPr/>
          <p:nvPr/>
        </p:nvSpPr>
        <p:spPr>
          <a:xfrm>
            <a:off x="1748146" y="5478634"/>
            <a:ext cx="1529252" cy="897068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noFill/>
            <a:prstDash val="solid"/>
          </a:ln>
          <a:effectLst/>
        </p:spPr>
        <p:txBody>
          <a:bodyPr lIns="72000" rIns="72000" rtlCol="0" anchor="ctr"/>
          <a:lstStyle/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협력업체 정보 확인</a:t>
            </a:r>
          </a:p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기본 정보 수정 요청</a:t>
            </a:r>
          </a:p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담당자 정보 추가</a:t>
            </a:r>
            <a:r>
              <a:rPr kumimoji="0" lang="en-US" altLang="ko-KR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/</a:t>
            </a: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수정</a:t>
            </a:r>
          </a:p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비밀번호 변경 </a:t>
            </a:r>
          </a:p>
        </p:txBody>
      </p: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3F95A057-C9BA-CA97-1281-8B6D7A02DB0F}"/>
              </a:ext>
            </a:extLst>
          </p:cNvPr>
          <p:cNvSpPr/>
          <p:nvPr/>
        </p:nvSpPr>
        <p:spPr>
          <a:xfrm>
            <a:off x="3378116" y="1803279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공지사항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" name="직사각형 177">
            <a:extLst>
              <a:ext uri="{FF2B5EF4-FFF2-40B4-BE49-F238E27FC236}">
                <a16:creationId xmlns:a16="http://schemas.microsoft.com/office/drawing/2014/main" id="{D4C62549-217A-BAC2-E336-61018857F975}"/>
              </a:ext>
            </a:extLst>
          </p:cNvPr>
          <p:cNvSpPr/>
          <p:nvPr/>
        </p:nvSpPr>
        <p:spPr>
          <a:xfrm>
            <a:off x="3378116" y="2113950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양식 등 자료실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9B25D357-AF3A-B49F-C5A2-C2FACBFBEA76}"/>
              </a:ext>
            </a:extLst>
          </p:cNvPr>
          <p:cNvSpPr/>
          <p:nvPr/>
        </p:nvSpPr>
        <p:spPr>
          <a:xfrm>
            <a:off x="5007258" y="2051768"/>
            <a:ext cx="1529252" cy="479466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noFill/>
            <a:prstDash val="solid"/>
          </a:ln>
          <a:effectLst/>
        </p:spPr>
        <p:txBody>
          <a:bodyPr lIns="72000" rIns="72000" rtlCol="0" anchor="ctr"/>
          <a:lstStyle/>
          <a:p>
            <a:pPr marL="72000" lvl="0" indent="-72000" algn="l" fontAlgn="auto" latinLnBrk="0">
              <a:spcBef>
                <a:spcPts val="200"/>
              </a:spcBef>
              <a:spcAft>
                <a:spcPts val="200"/>
              </a:spcAft>
              <a:buFont typeface="Arial" panose="020B0604020202020204" pitchFamily="34" charset="0"/>
              <a:buChar char="•"/>
              <a:defRPr/>
            </a:pPr>
            <a:r>
              <a:rPr kumimoji="0" lang="ko-KR" altLang="en-US" sz="900" b="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견적 요청 내역</a:t>
            </a:r>
            <a:endParaRPr kumimoji="0" lang="en-US" altLang="ko-KR" sz="900" b="0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lvl="0" indent="-72000" algn="l" fontAlgn="auto" latinLnBrk="0">
              <a:spcBef>
                <a:spcPts val="200"/>
              </a:spcBef>
              <a:spcAft>
                <a:spcPts val="200"/>
              </a:spcAft>
              <a:buFont typeface="Arial" panose="020B0604020202020204" pitchFamily="34" charset="0"/>
              <a:buChar char="•"/>
              <a:defRPr/>
            </a:pPr>
            <a:r>
              <a:rPr kumimoji="0" lang="ko-KR" altLang="en-US" sz="900" b="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견적 제출 현황</a:t>
            </a:r>
            <a:endParaRPr kumimoji="0" lang="ko-KR" altLang="en-US" sz="900" b="0" i="0" u="none" strike="noStrike" kern="0" cap="none" spc="-50" normalizeH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sp>
        <p:nvSpPr>
          <p:cNvPr id="182" name="직사각형 181">
            <a:extLst>
              <a:ext uri="{FF2B5EF4-FFF2-40B4-BE49-F238E27FC236}">
                <a16:creationId xmlns:a16="http://schemas.microsoft.com/office/drawing/2014/main" id="{A62B9392-E5D6-E416-8709-B2166C5E1489}"/>
              </a:ext>
            </a:extLst>
          </p:cNvPr>
          <p:cNvSpPr/>
          <p:nvPr/>
        </p:nvSpPr>
        <p:spPr>
          <a:xfrm>
            <a:off x="6634000" y="1498044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발주계약 요청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E9EDD3AC-F2A8-4B60-25A4-3F90A97B4728}"/>
              </a:ext>
            </a:extLst>
          </p:cNvPr>
          <p:cNvSpPr/>
          <p:nvPr/>
        </p:nvSpPr>
        <p:spPr>
          <a:xfrm>
            <a:off x="6634000" y="1803279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발주계약 요청 현황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" name="직사각형 183">
            <a:extLst>
              <a:ext uri="{FF2B5EF4-FFF2-40B4-BE49-F238E27FC236}">
                <a16:creationId xmlns:a16="http://schemas.microsoft.com/office/drawing/2014/main" id="{99096261-758C-262E-CB8F-39B4ED0BDDEC}"/>
              </a:ext>
            </a:extLst>
          </p:cNvPr>
          <p:cNvSpPr/>
          <p:nvPr/>
        </p:nvSpPr>
        <p:spPr>
          <a:xfrm>
            <a:off x="8257682" y="1498044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발주계약 요청 접수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6F3A8D0B-D007-7D31-A6AD-FF7401B42457}"/>
              </a:ext>
            </a:extLst>
          </p:cNvPr>
          <p:cNvSpPr/>
          <p:nvPr/>
        </p:nvSpPr>
        <p:spPr>
          <a:xfrm>
            <a:off x="8257682" y="1803279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발주계획 등록 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3122691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C91B9B-3627-4660-FD69-DDDF952EC8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42DF35F6-D7C4-26BA-8F05-0B9D9F02A3C2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89922C1-7B88-800B-3F9E-D702306A7BB8}"/>
              </a:ext>
            </a:extLst>
          </p:cNvPr>
          <p:cNvSpPr txBox="1"/>
          <p:nvPr/>
        </p:nvSpPr>
        <p:spPr>
          <a:xfrm>
            <a:off x="749224" y="25608"/>
            <a:ext cx="95410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메뉴구조도(SRM)</a:t>
            </a:r>
          </a:p>
        </p:txBody>
      </p:sp>
      <p:sp>
        <p:nvSpPr>
          <p:cNvPr id="3" name="Rectangle 32">
            <a:extLst>
              <a:ext uri="{FF2B5EF4-FFF2-40B4-BE49-F238E27FC236}">
                <a16:creationId xmlns:a16="http://schemas.microsoft.com/office/drawing/2014/main" id="{908743FB-77BF-B659-D73D-DE3273D988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66711"/>
            <a:ext cx="9906000" cy="6383897"/>
          </a:xfrm>
          <a:prstGeom prst="rect">
            <a:avLst/>
          </a:prstGeom>
          <a:solidFill>
            <a:schemeClr val="bg1"/>
          </a:solidFill>
          <a:ln w="3175" algn="ctr">
            <a:noFill/>
            <a:prstDash val="sysDash"/>
            <a:miter lim="800000"/>
            <a:headEnd/>
            <a:tailEnd/>
          </a:ln>
        </p:spPr>
        <p:txBody>
          <a:bodyPr wrap="none" tIns="108000" bIns="108000" anchor="b" anchorCtr="0"/>
          <a:lstStyle/>
          <a:p>
            <a:pPr algn="ctr"/>
            <a:endParaRPr lang="ko-KR" altLang="en-US" sz="1000" b="1" dirty="0">
              <a:solidFill>
                <a:prstClr val="black"/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5" name="사각형: 둥근 모서리 107">
            <a:extLst>
              <a:ext uri="{FF2B5EF4-FFF2-40B4-BE49-F238E27FC236}">
                <a16:creationId xmlns:a16="http://schemas.microsoft.com/office/drawing/2014/main" id="{9C2DEE79-B178-032F-08AE-6E8A55918EBC}"/>
              </a:ext>
            </a:extLst>
          </p:cNvPr>
          <p:cNvSpPr/>
          <p:nvPr/>
        </p:nvSpPr>
        <p:spPr bwMode="auto">
          <a:xfrm>
            <a:off x="3992766" y="492348"/>
            <a:ext cx="1920468" cy="345789"/>
          </a:xfrm>
          <a:prstGeom prst="roundRect">
            <a:avLst>
              <a:gd name="adj" fmla="val 50000"/>
            </a:avLst>
          </a:prstGeom>
          <a:solidFill>
            <a:srgbClr val="0070C0"/>
          </a:solidFill>
          <a:ln w="2857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36000" rIns="91440" bIns="36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1" i="0" u="none" strike="noStrike" kern="1200" cap="none" spc="-5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전자입찰시스템</a:t>
            </a:r>
            <a:r>
              <a:rPr kumimoji="1" lang="en-US" altLang="ko-KR" sz="1000" b="1" i="0" u="none" strike="noStrike" kern="1200" cap="none" spc="-5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(SRM)</a:t>
            </a:r>
            <a:endParaRPr kumimoji="1" lang="ko-KR" altLang="en-US" sz="1000" b="1" i="0" u="none" strike="noStrike" kern="1200" cap="none" spc="-50" normalizeH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cxnSp>
        <p:nvCxnSpPr>
          <p:cNvPr id="7" name="연결선: 꺾임 145">
            <a:extLst>
              <a:ext uri="{FF2B5EF4-FFF2-40B4-BE49-F238E27FC236}">
                <a16:creationId xmlns:a16="http://schemas.microsoft.com/office/drawing/2014/main" id="{BC877F39-7E19-0FA3-CCE6-CE146D79456D}"/>
              </a:ext>
            </a:extLst>
          </p:cNvPr>
          <p:cNvCxnSpPr>
            <a:cxnSpLocks/>
            <a:stCxn id="5" idx="2"/>
            <a:endCxn id="95" idx="0"/>
          </p:cNvCxnSpPr>
          <p:nvPr/>
        </p:nvCxnSpPr>
        <p:spPr bwMode="auto">
          <a:xfrm rot="16200000" flipH="1">
            <a:off x="5221690" y="569446"/>
            <a:ext cx="280981" cy="818361"/>
          </a:xfrm>
          <a:prstGeom prst="bentConnector3">
            <a:avLst>
              <a:gd name="adj1" fmla="val 50000"/>
            </a:avLst>
          </a:prstGeom>
          <a:solidFill>
            <a:schemeClr val="accent1"/>
          </a:solidFill>
          <a:ln w="3175" cap="flat" cmpd="sng" algn="ctr">
            <a:solidFill>
              <a:srgbClr val="0070C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" name="연결선: 꺾임 55">
            <a:extLst>
              <a:ext uri="{FF2B5EF4-FFF2-40B4-BE49-F238E27FC236}">
                <a16:creationId xmlns:a16="http://schemas.microsoft.com/office/drawing/2014/main" id="{0C0A0657-D42F-87FC-DBD8-11DC547D8997}"/>
              </a:ext>
            </a:extLst>
          </p:cNvPr>
          <p:cNvCxnSpPr>
            <a:cxnSpLocks/>
            <a:stCxn id="5" idx="2"/>
            <a:endCxn id="120" idx="0"/>
          </p:cNvCxnSpPr>
          <p:nvPr/>
        </p:nvCxnSpPr>
        <p:spPr bwMode="auto">
          <a:xfrm rot="16200000" flipH="1">
            <a:off x="6846933" y="-1055797"/>
            <a:ext cx="280981" cy="4068847"/>
          </a:xfrm>
          <a:prstGeom prst="bentConnector3">
            <a:avLst>
              <a:gd name="adj1" fmla="val 50000"/>
            </a:avLst>
          </a:prstGeom>
          <a:solidFill>
            <a:schemeClr val="accent1"/>
          </a:solidFill>
          <a:ln w="3175" cap="flat" cmpd="sng" algn="ctr">
            <a:solidFill>
              <a:srgbClr val="0070C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" name="연결선: 꺾임 64">
            <a:extLst>
              <a:ext uri="{FF2B5EF4-FFF2-40B4-BE49-F238E27FC236}">
                <a16:creationId xmlns:a16="http://schemas.microsoft.com/office/drawing/2014/main" id="{83972492-5F8A-5CCF-7FE5-916E7ADF0F33}"/>
              </a:ext>
            </a:extLst>
          </p:cNvPr>
          <p:cNvCxnSpPr>
            <a:cxnSpLocks/>
            <a:stCxn id="5" idx="2"/>
          </p:cNvCxnSpPr>
          <p:nvPr/>
        </p:nvCxnSpPr>
        <p:spPr bwMode="auto">
          <a:xfrm rot="16200000" flipH="1">
            <a:off x="6846933" y="-1055797"/>
            <a:ext cx="280981" cy="4068847"/>
          </a:xfrm>
          <a:prstGeom prst="bentConnector3">
            <a:avLst>
              <a:gd name="adj1" fmla="val 50000"/>
            </a:avLst>
          </a:prstGeom>
          <a:solidFill>
            <a:schemeClr val="accent1"/>
          </a:solidFill>
          <a:ln w="3175" cap="flat" cmpd="sng" algn="ctr">
            <a:solidFill>
              <a:srgbClr val="0070C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" name="연결선: 꺾임 145">
            <a:extLst>
              <a:ext uri="{FF2B5EF4-FFF2-40B4-BE49-F238E27FC236}">
                <a16:creationId xmlns:a16="http://schemas.microsoft.com/office/drawing/2014/main" id="{BF5E2CF1-F999-28CD-A7EF-155CC5267895}"/>
              </a:ext>
            </a:extLst>
          </p:cNvPr>
          <p:cNvCxnSpPr>
            <a:cxnSpLocks/>
            <a:stCxn id="5" idx="2"/>
            <a:endCxn id="87" idx="0"/>
          </p:cNvCxnSpPr>
          <p:nvPr/>
        </p:nvCxnSpPr>
        <p:spPr bwMode="auto">
          <a:xfrm rot="5400000">
            <a:off x="4409069" y="575186"/>
            <a:ext cx="280981" cy="806882"/>
          </a:xfrm>
          <a:prstGeom prst="bentConnector3">
            <a:avLst>
              <a:gd name="adj1" fmla="val 50000"/>
            </a:avLst>
          </a:prstGeom>
          <a:solidFill>
            <a:schemeClr val="accent1"/>
          </a:solidFill>
          <a:ln w="3175" cap="flat" cmpd="sng" algn="ctr">
            <a:solidFill>
              <a:srgbClr val="0070C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" name="연결선: 꺾임 145">
            <a:extLst>
              <a:ext uri="{FF2B5EF4-FFF2-40B4-BE49-F238E27FC236}">
                <a16:creationId xmlns:a16="http://schemas.microsoft.com/office/drawing/2014/main" id="{94B53BDD-C2D3-BEB6-A792-688AC056B9B3}"/>
              </a:ext>
            </a:extLst>
          </p:cNvPr>
          <p:cNvCxnSpPr>
            <a:cxnSpLocks/>
            <a:stCxn id="5" idx="2"/>
            <a:endCxn id="19" idx="0"/>
          </p:cNvCxnSpPr>
          <p:nvPr/>
        </p:nvCxnSpPr>
        <p:spPr bwMode="auto">
          <a:xfrm rot="5400000">
            <a:off x="3596448" y="-237435"/>
            <a:ext cx="280981" cy="2432125"/>
          </a:xfrm>
          <a:prstGeom prst="bentConnector3">
            <a:avLst>
              <a:gd name="adj1" fmla="val 50000"/>
            </a:avLst>
          </a:prstGeom>
          <a:solidFill>
            <a:schemeClr val="accent1"/>
          </a:solidFill>
          <a:ln w="3175" cap="flat" cmpd="sng" algn="ctr">
            <a:solidFill>
              <a:srgbClr val="0070C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" name="연결선: 꺾임 145">
            <a:extLst>
              <a:ext uri="{FF2B5EF4-FFF2-40B4-BE49-F238E27FC236}">
                <a16:creationId xmlns:a16="http://schemas.microsoft.com/office/drawing/2014/main" id="{A34176ED-DA58-3416-CDF4-6784E404A8A1}"/>
              </a:ext>
            </a:extLst>
          </p:cNvPr>
          <p:cNvCxnSpPr>
            <a:cxnSpLocks/>
            <a:stCxn id="5" idx="2"/>
            <a:endCxn id="103" idx="0"/>
          </p:cNvCxnSpPr>
          <p:nvPr/>
        </p:nvCxnSpPr>
        <p:spPr bwMode="auto">
          <a:xfrm rot="16200000" flipH="1">
            <a:off x="6034312" y="-243175"/>
            <a:ext cx="280981" cy="2443604"/>
          </a:xfrm>
          <a:prstGeom prst="bentConnector3">
            <a:avLst>
              <a:gd name="adj1" fmla="val 50000"/>
            </a:avLst>
          </a:prstGeom>
          <a:solidFill>
            <a:schemeClr val="accent1"/>
          </a:solidFill>
          <a:ln w="3175" cap="flat" cmpd="sng" algn="ctr">
            <a:solidFill>
              <a:srgbClr val="0070C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C0E9D2ED-CC67-D056-DCF9-97303DEB50B0}"/>
              </a:ext>
            </a:extLst>
          </p:cNvPr>
          <p:cNvSpPr/>
          <p:nvPr/>
        </p:nvSpPr>
        <p:spPr>
          <a:xfrm>
            <a:off x="1756710" y="1119118"/>
            <a:ext cx="1528329" cy="307303"/>
          </a:xfrm>
          <a:prstGeom prst="rect">
            <a:avLst/>
          </a:prstGeom>
          <a:solidFill>
            <a:srgbClr val="0070C0">
              <a:alpha val="69804"/>
            </a:srgb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kern="0" spc="-50" dirty="0">
                <a:solidFill>
                  <a:prstClr val="whit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 </a:t>
            </a:r>
            <a:endParaRPr kumimoji="0" lang="ko-KR" altLang="en-US" sz="900" b="1" i="0" u="none" strike="noStrike" kern="0" cap="none" spc="-5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CFED5BDF-1CA6-A1ED-480A-6DE8F9AC2586}"/>
              </a:ext>
            </a:extLst>
          </p:cNvPr>
          <p:cNvSpPr/>
          <p:nvPr/>
        </p:nvSpPr>
        <p:spPr>
          <a:xfrm>
            <a:off x="1752874" y="1498044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 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B2F96BB8-AF77-1518-D341-D94009650B98}"/>
              </a:ext>
            </a:extLst>
          </p:cNvPr>
          <p:cNvSpPr/>
          <p:nvPr/>
        </p:nvSpPr>
        <p:spPr>
          <a:xfrm>
            <a:off x="1752874" y="1802125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</a:t>
            </a:r>
            <a:r>
              <a:rPr lang="en-US" altLang="ko-KR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현황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738BBF3F-CEF4-9113-67AD-859D7AFD446E}"/>
              </a:ext>
            </a:extLst>
          </p:cNvPr>
          <p:cNvSpPr/>
          <p:nvPr/>
        </p:nvSpPr>
        <p:spPr>
          <a:xfrm>
            <a:off x="3381953" y="1119118"/>
            <a:ext cx="1528329" cy="307303"/>
          </a:xfrm>
          <a:prstGeom prst="rect">
            <a:avLst/>
          </a:prstGeom>
          <a:solidFill>
            <a:srgbClr val="0070C0">
              <a:alpha val="69804"/>
            </a:srgb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kern="0" spc="-50" dirty="0">
                <a:solidFill>
                  <a:prstClr val="whit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계약관리 </a:t>
            </a:r>
            <a:endParaRPr kumimoji="0" lang="ko-KR" altLang="en-US" sz="900" b="1" i="0" u="none" strike="noStrike" kern="0" cap="none" spc="-5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2FDB5EA6-CA45-13A1-2C2F-9DBB401AE004}"/>
              </a:ext>
            </a:extLst>
          </p:cNvPr>
          <p:cNvSpPr/>
          <p:nvPr/>
        </p:nvSpPr>
        <p:spPr>
          <a:xfrm>
            <a:off x="3378117" y="1498044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발주계약 현황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86561C08-A936-2408-8EB7-68ABF9902C58}"/>
              </a:ext>
            </a:extLst>
          </p:cNvPr>
          <p:cNvSpPr/>
          <p:nvPr/>
        </p:nvSpPr>
        <p:spPr>
          <a:xfrm>
            <a:off x="5007196" y="1119118"/>
            <a:ext cx="1528329" cy="307303"/>
          </a:xfrm>
          <a:prstGeom prst="rect">
            <a:avLst/>
          </a:prstGeom>
          <a:solidFill>
            <a:srgbClr val="0070C0">
              <a:alpha val="69804"/>
            </a:srgb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kern="0" spc="-50" dirty="0">
                <a:solidFill>
                  <a:prstClr val="whit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협력업체 관리</a:t>
            </a:r>
            <a:endParaRPr kumimoji="0" lang="ko-KR" altLang="en-US" sz="900" b="1" i="0" u="none" strike="noStrike" kern="0" cap="none" spc="-5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B333CA17-0085-AD13-4685-8DD256F57090}"/>
              </a:ext>
            </a:extLst>
          </p:cNvPr>
          <p:cNvSpPr/>
          <p:nvPr/>
        </p:nvSpPr>
        <p:spPr>
          <a:xfrm>
            <a:off x="5003360" y="1498044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신청</a:t>
            </a:r>
            <a:r>
              <a:rPr lang="en-US" altLang="ko-KR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변경 요청 처리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7185E328-C7DE-E28D-BB30-A20978BE43C9}"/>
              </a:ext>
            </a:extLst>
          </p:cNvPr>
          <p:cNvSpPr/>
          <p:nvPr/>
        </p:nvSpPr>
        <p:spPr>
          <a:xfrm>
            <a:off x="6632439" y="1119118"/>
            <a:ext cx="1528329" cy="307303"/>
          </a:xfrm>
          <a:prstGeom prst="rect">
            <a:avLst/>
          </a:prstGeom>
          <a:solidFill>
            <a:srgbClr val="0070C0">
              <a:alpha val="69804"/>
            </a:srgb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kern="0" spc="-50" dirty="0">
                <a:solidFill>
                  <a:prstClr val="whit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기준 정보 관리</a:t>
            </a:r>
            <a:endParaRPr kumimoji="0" lang="ko-KR" altLang="en-US" sz="900" b="1" i="0" u="none" strike="noStrike" kern="0" cap="none" spc="-5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C627C1E7-FE4C-AA74-60CF-AF7C9647C81A}"/>
              </a:ext>
            </a:extLst>
          </p:cNvPr>
          <p:cNvSpPr/>
          <p:nvPr/>
        </p:nvSpPr>
        <p:spPr>
          <a:xfrm>
            <a:off x="8257682" y="1119118"/>
            <a:ext cx="1528329" cy="307303"/>
          </a:xfrm>
          <a:prstGeom prst="rect">
            <a:avLst/>
          </a:prstGeom>
          <a:solidFill>
            <a:srgbClr val="0070C0">
              <a:alpha val="69804"/>
            </a:srgb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kern="0" spc="-50" dirty="0">
                <a:solidFill>
                  <a:prstClr val="whit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공통관리</a:t>
            </a:r>
            <a:endParaRPr kumimoji="0" lang="ko-KR" altLang="en-US" sz="900" b="1" i="0" u="none" strike="noStrike" kern="0" cap="none" spc="-5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A8F2748B-474D-C57C-9C11-A5FC63F7B247}"/>
              </a:ext>
            </a:extLst>
          </p:cNvPr>
          <p:cNvSpPr/>
          <p:nvPr/>
        </p:nvSpPr>
        <p:spPr>
          <a:xfrm>
            <a:off x="3373390" y="1750318"/>
            <a:ext cx="1529252" cy="1082472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noFill/>
            <a:prstDash val="solid"/>
          </a:ln>
          <a:effectLst/>
        </p:spPr>
        <p:txBody>
          <a:bodyPr lIns="72000" rIns="72000" rtlCol="0" anchor="ctr"/>
          <a:lstStyle/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계약 관련 서류</a:t>
            </a:r>
          </a:p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계약 정보</a:t>
            </a:r>
          </a:p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발주계약 요청 정보</a:t>
            </a:r>
          </a:p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발주계획 정보</a:t>
            </a:r>
          </a:p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입찰계획 정보</a:t>
            </a:r>
          </a:p>
        </p:txBody>
      </p: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13BD4A2E-5817-A213-A41A-B1691C6BB497}"/>
              </a:ext>
            </a:extLst>
          </p:cNvPr>
          <p:cNvSpPr/>
          <p:nvPr/>
        </p:nvSpPr>
        <p:spPr>
          <a:xfrm>
            <a:off x="5003360" y="1803279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협력업체 관리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" name="직사각형 177">
            <a:extLst>
              <a:ext uri="{FF2B5EF4-FFF2-40B4-BE49-F238E27FC236}">
                <a16:creationId xmlns:a16="http://schemas.microsoft.com/office/drawing/2014/main" id="{3E0B09CB-67F5-D08E-512E-F82836F702E3}"/>
              </a:ext>
            </a:extLst>
          </p:cNvPr>
          <p:cNvSpPr/>
          <p:nvPr/>
        </p:nvSpPr>
        <p:spPr>
          <a:xfrm>
            <a:off x="5003360" y="2113950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양식 등 자료실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2" name="직사각형 181">
            <a:extLst>
              <a:ext uri="{FF2B5EF4-FFF2-40B4-BE49-F238E27FC236}">
                <a16:creationId xmlns:a16="http://schemas.microsoft.com/office/drawing/2014/main" id="{4B46B900-2336-6E72-624D-5811556726C5}"/>
              </a:ext>
            </a:extLst>
          </p:cNvPr>
          <p:cNvSpPr/>
          <p:nvPr/>
        </p:nvSpPr>
        <p:spPr>
          <a:xfrm>
            <a:off x="8259244" y="1498044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관리자 관리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3609E92F-DCBC-A112-BF4F-82565D80584E}"/>
              </a:ext>
            </a:extLst>
          </p:cNvPr>
          <p:cNvSpPr/>
          <p:nvPr/>
        </p:nvSpPr>
        <p:spPr>
          <a:xfrm>
            <a:off x="8259244" y="1803279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권한그룹 및 메뉴별 권한 관리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8A3BEAB-D241-F034-5691-2CF12180D83A}"/>
              </a:ext>
            </a:extLst>
          </p:cNvPr>
          <p:cNvSpPr/>
          <p:nvPr/>
        </p:nvSpPr>
        <p:spPr>
          <a:xfrm>
            <a:off x="1747476" y="2049414"/>
            <a:ext cx="1529252" cy="166761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noFill/>
            <a:prstDash val="solid"/>
          </a:ln>
          <a:effectLst/>
        </p:spPr>
        <p:txBody>
          <a:bodyPr lIns="72000" rIns="72000" rtlCol="0" anchor="ctr"/>
          <a:lstStyle/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발주계획 정보</a:t>
            </a:r>
          </a:p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입찰계획 정보</a:t>
            </a:r>
          </a:p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입찰 참여현황</a:t>
            </a:r>
          </a:p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심사</a:t>
            </a:r>
            <a:r>
              <a:rPr kumimoji="0" lang="en-US" altLang="ko-KR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/</a:t>
            </a: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평가</a:t>
            </a:r>
          </a:p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개찰</a:t>
            </a:r>
          </a:p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낙찰</a:t>
            </a:r>
            <a:r>
              <a:rPr kumimoji="0" lang="en-US" altLang="ko-KR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(</a:t>
            </a: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업체선정</a:t>
            </a:r>
            <a:r>
              <a:rPr kumimoji="0" lang="en-US" altLang="ko-KR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)</a:t>
            </a:r>
          </a:p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0" cap="none" spc="-50" normalizeH="0" noProof="0" dirty="0" err="1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수의시담</a:t>
            </a:r>
            <a:endParaRPr kumimoji="0" lang="ko-KR" altLang="en-US" sz="900" b="0" i="0" u="none" strike="noStrike" kern="0" cap="none" spc="-50" normalizeH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계약 요청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B703EBA4-956D-5AE3-A6B9-85747EBC6D9F}"/>
              </a:ext>
            </a:extLst>
          </p:cNvPr>
          <p:cNvSpPr/>
          <p:nvPr/>
        </p:nvSpPr>
        <p:spPr>
          <a:xfrm>
            <a:off x="5010319" y="2366224"/>
            <a:ext cx="1529252" cy="479466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noFill/>
            <a:prstDash val="solid"/>
          </a:ln>
          <a:effectLst/>
        </p:spPr>
        <p:txBody>
          <a:bodyPr lIns="72000" rIns="72000" rtlCol="0" anchor="ctr"/>
          <a:lstStyle/>
          <a:p>
            <a:pPr marL="72000" lvl="0" indent="-72000" algn="l" fontAlgn="auto" latinLnBrk="0">
              <a:spcBef>
                <a:spcPts val="200"/>
              </a:spcBef>
              <a:spcAft>
                <a:spcPts val="200"/>
              </a:spcAft>
              <a:buFont typeface="Arial" panose="020B0604020202020204" pitchFamily="34" charset="0"/>
              <a:buChar char="•"/>
              <a:defRPr/>
            </a:pPr>
            <a:r>
              <a:rPr kumimoji="0" lang="ko-KR" altLang="en-US" sz="900" b="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협력업체 조회</a:t>
            </a:r>
            <a:r>
              <a:rPr kumimoji="0" lang="en-US" altLang="ko-KR" sz="900" b="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kumimoji="0" lang="ko-KR" altLang="en-US" sz="900" b="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</a:p>
          <a:p>
            <a:pPr marL="72000" lvl="0" indent="-72000" algn="l" fontAlgn="auto" latinLnBrk="0">
              <a:spcBef>
                <a:spcPts val="200"/>
              </a:spcBef>
              <a:spcAft>
                <a:spcPts val="200"/>
              </a:spcAft>
              <a:buFont typeface="Arial" panose="020B0604020202020204" pitchFamily="34" charset="0"/>
              <a:buChar char="•"/>
              <a:defRPr/>
            </a:pPr>
            <a:r>
              <a:rPr kumimoji="0" lang="ko-KR" altLang="en-US" sz="900" b="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발주계약 체결현황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919549DB-D877-F7EF-5818-5862E3E581F1}"/>
              </a:ext>
            </a:extLst>
          </p:cNvPr>
          <p:cNvSpPr/>
          <p:nvPr/>
        </p:nvSpPr>
        <p:spPr>
          <a:xfrm>
            <a:off x="5003360" y="2904087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질문과 답변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1EE37C29-BED2-2EA4-7B51-5E88FE454FEB}"/>
              </a:ext>
            </a:extLst>
          </p:cNvPr>
          <p:cNvSpPr/>
          <p:nvPr/>
        </p:nvSpPr>
        <p:spPr>
          <a:xfrm>
            <a:off x="6631302" y="1498044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공통 품목관리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6396F577-1681-F0B3-CB76-DF1713368F19}"/>
              </a:ext>
            </a:extLst>
          </p:cNvPr>
          <p:cNvSpPr/>
          <p:nvPr/>
        </p:nvSpPr>
        <p:spPr>
          <a:xfrm>
            <a:off x="6631302" y="3047375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메일</a:t>
            </a:r>
            <a:r>
              <a:rPr lang="en-US" altLang="ko-KR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메시지 발송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8678AB96-F467-AD64-EA4C-59B911194A49}"/>
              </a:ext>
            </a:extLst>
          </p:cNvPr>
          <p:cNvSpPr/>
          <p:nvPr/>
        </p:nvSpPr>
        <p:spPr>
          <a:xfrm>
            <a:off x="6631302" y="1805394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 err="1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소싱그룹</a:t>
            </a: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관리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94D8FD29-559D-0A9B-4EFE-026617880984}"/>
              </a:ext>
            </a:extLst>
          </p:cNvPr>
          <p:cNvSpPr/>
          <p:nvPr/>
        </p:nvSpPr>
        <p:spPr>
          <a:xfrm>
            <a:off x="6631302" y="2116065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공통 심사</a:t>
            </a:r>
            <a:r>
              <a:rPr lang="en-US" altLang="ko-KR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 관리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8DBCA7E2-3882-2D3A-FEEC-C304D99BA9BC}"/>
              </a:ext>
            </a:extLst>
          </p:cNvPr>
          <p:cNvSpPr/>
          <p:nvPr/>
        </p:nvSpPr>
        <p:spPr>
          <a:xfrm>
            <a:off x="6631302" y="2426736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공통 서류 관리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319CC2FB-AE39-6D60-F7E4-AEBBC597415B}"/>
              </a:ext>
            </a:extLst>
          </p:cNvPr>
          <p:cNvSpPr/>
          <p:nvPr/>
        </p:nvSpPr>
        <p:spPr>
          <a:xfrm>
            <a:off x="6631302" y="2737407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메일</a:t>
            </a:r>
            <a:r>
              <a:rPr lang="en-US" altLang="ko-KR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메시지 발송 내용 관리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D3337320-9826-598A-0F6D-32ADBE602623}"/>
              </a:ext>
            </a:extLst>
          </p:cNvPr>
          <p:cNvSpPr/>
          <p:nvPr/>
        </p:nvSpPr>
        <p:spPr>
          <a:xfrm>
            <a:off x="6631302" y="3365062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메일</a:t>
            </a:r>
            <a:r>
              <a:rPr lang="en-US" altLang="ko-KR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메시지 발송현황 조회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37AA1ADE-C580-E067-B7E1-ABFFF171E01E}"/>
              </a:ext>
            </a:extLst>
          </p:cNvPr>
          <p:cNvSpPr/>
          <p:nvPr/>
        </p:nvSpPr>
        <p:spPr>
          <a:xfrm>
            <a:off x="8252285" y="3047375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로그인 현황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1DAD779-8964-380C-BD9F-8DD2E89C4F9A}"/>
              </a:ext>
            </a:extLst>
          </p:cNvPr>
          <p:cNvSpPr/>
          <p:nvPr/>
        </p:nvSpPr>
        <p:spPr>
          <a:xfrm>
            <a:off x="8252285" y="2116065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시스템 권한 관리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AF3BD33F-97D0-2BFC-26FB-D5828EDC0617}"/>
              </a:ext>
            </a:extLst>
          </p:cNvPr>
          <p:cNvSpPr/>
          <p:nvPr/>
        </p:nvSpPr>
        <p:spPr>
          <a:xfrm>
            <a:off x="8252285" y="2426736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접속 아이피</a:t>
            </a:r>
            <a:r>
              <a:rPr lang="en-US" altLang="ko-KR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(IP) </a:t>
            </a: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관리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32ED533-BF77-4DAF-4DC3-E9FD28FFD06D}"/>
              </a:ext>
            </a:extLst>
          </p:cNvPr>
          <p:cNvSpPr/>
          <p:nvPr/>
        </p:nvSpPr>
        <p:spPr>
          <a:xfrm>
            <a:off x="8252285" y="2737407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코드관리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12243C15-4788-8CD9-CC49-D5D72F05DDCF}"/>
              </a:ext>
            </a:extLst>
          </p:cNvPr>
          <p:cNvSpPr/>
          <p:nvPr/>
        </p:nvSpPr>
        <p:spPr>
          <a:xfrm>
            <a:off x="8252285" y="3365062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메뉴별 접속현황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433953B6-38E0-A387-EA33-439E00EAA897}"/>
              </a:ext>
            </a:extLst>
          </p:cNvPr>
          <p:cNvSpPr/>
          <p:nvPr/>
        </p:nvSpPr>
        <p:spPr>
          <a:xfrm>
            <a:off x="8252285" y="3671963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공지사항 관리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8FC70D5C-FD5D-B309-C4DE-CD5FFF93CA1C}"/>
              </a:ext>
            </a:extLst>
          </p:cNvPr>
          <p:cNvSpPr/>
          <p:nvPr/>
        </p:nvSpPr>
        <p:spPr>
          <a:xfrm>
            <a:off x="8252285" y="3986952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양식 등 자료실 관리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61894832-68A6-29D9-E4B4-D88353EA8D0C}"/>
              </a:ext>
            </a:extLst>
          </p:cNvPr>
          <p:cNvSpPr/>
          <p:nvPr/>
        </p:nvSpPr>
        <p:spPr>
          <a:xfrm>
            <a:off x="123105" y="1119118"/>
            <a:ext cx="1528329" cy="307303"/>
          </a:xfrm>
          <a:prstGeom prst="rect">
            <a:avLst/>
          </a:prstGeom>
          <a:solidFill>
            <a:srgbClr val="0070C0">
              <a:alpha val="69804"/>
            </a:srgb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kern="0" spc="-50" dirty="0">
                <a:solidFill>
                  <a:prstClr val="whit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수의계약 관리</a:t>
            </a:r>
            <a:endParaRPr kumimoji="0" lang="ko-KR" altLang="en-US" sz="900" b="1" i="0" u="none" strike="noStrike" kern="0" cap="none" spc="-5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B324642E-6B86-90B7-9DA7-4B2C9DAFCF23}"/>
              </a:ext>
            </a:extLst>
          </p:cNvPr>
          <p:cNvSpPr/>
          <p:nvPr/>
        </p:nvSpPr>
        <p:spPr>
          <a:xfrm>
            <a:off x="123105" y="1498044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수의계약 계획 현황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B6F15425-E273-5AD9-BDF3-9EAD2167EA9F}"/>
              </a:ext>
            </a:extLst>
          </p:cNvPr>
          <p:cNvSpPr/>
          <p:nvPr/>
        </p:nvSpPr>
        <p:spPr>
          <a:xfrm>
            <a:off x="123105" y="1803279"/>
            <a:ext cx="1529252" cy="25227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kern="0" spc="-50" dirty="0">
                <a:solidFill>
                  <a:prstClr val="black">
                    <a:lumMod val="65000"/>
                    <a:lumOff val="3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수의계약 현황</a:t>
            </a:r>
            <a:endParaRPr kumimoji="0" lang="ko-KR" altLang="en-US" sz="900" b="1" kern="0" spc="-50" dirty="0">
              <a:solidFill>
                <a:prstClr val="black">
                  <a:lumMod val="65000"/>
                  <a:lumOff val="3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808F26F8-C189-623B-12A5-E2A3CE7A5482}"/>
              </a:ext>
            </a:extLst>
          </p:cNvPr>
          <p:cNvSpPr/>
          <p:nvPr/>
        </p:nvSpPr>
        <p:spPr>
          <a:xfrm>
            <a:off x="130064" y="2051768"/>
            <a:ext cx="1529252" cy="873176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noFill/>
            <a:prstDash val="solid"/>
          </a:ln>
          <a:effectLst/>
        </p:spPr>
        <p:txBody>
          <a:bodyPr lIns="72000" rIns="72000" rtlCol="0" anchor="ctr"/>
          <a:lstStyle/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발주계획 정보</a:t>
            </a:r>
          </a:p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수의계약 계획 정보</a:t>
            </a:r>
          </a:p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견적 요청 및 확인</a:t>
            </a:r>
          </a:p>
          <a:p>
            <a:pPr marL="72000" marR="0" lvl="0" indent="-72000" algn="l" defTabSz="914400" rtl="0" eaLnBrk="1" fontAlgn="auto" latinLnBrk="0" hangingPunct="1">
              <a:spcBef>
                <a:spcPts val="200"/>
              </a:spcBef>
              <a:spcAft>
                <a:spcPts val="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0" cap="none" spc="-5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계약 요청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8DDF814-80F3-E319-C808-810F5BD1BFFC}"/>
              </a:ext>
            </a:extLst>
          </p:cNvPr>
          <p:cNvSpPr/>
          <p:nvPr/>
        </p:nvSpPr>
        <p:spPr>
          <a:xfrm>
            <a:off x="1747992" y="1119118"/>
            <a:ext cx="1530610" cy="2597914"/>
          </a:xfrm>
          <a:prstGeom prst="rect">
            <a:avLst/>
          </a:prstGeom>
          <a:solidFill>
            <a:srgbClr val="FFFF00">
              <a:alpha val="10196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6318591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472941-9479-237F-FB48-09D5EFA7F3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7B493C7D-1068-7F11-B51E-EFA13AF05FF6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7AB8C23-1688-7781-1BF4-87466894C8ED}"/>
              </a:ext>
            </a:extLst>
          </p:cNvPr>
          <p:cNvSpPr txBox="1"/>
          <p:nvPr/>
        </p:nvSpPr>
        <p:spPr>
          <a:xfrm>
            <a:off x="749224" y="25608"/>
            <a:ext cx="188545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[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참고자료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]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계약방법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 정리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309A0CB-E7D3-FFCE-7F94-F8AF4F431FFD}"/>
              </a:ext>
            </a:extLst>
          </p:cNvPr>
          <p:cNvSpPr txBox="1"/>
          <p:nvPr/>
        </p:nvSpPr>
        <p:spPr>
          <a:xfrm>
            <a:off x="8049344" y="584684"/>
            <a:ext cx="1856656" cy="47828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수의계약이 선택되는 경우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선정방법은 ‘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최저가’만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선택 가능</a:t>
            </a:r>
            <a:b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다른 선택 항목은 비활성화 처리할 것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일반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이 선택되는 경우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선정방법은 모두 선택 가능</a:t>
            </a:r>
            <a:b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최저가</a:t>
            </a:r>
            <a:b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제한적 최저가 입찰</a:t>
            </a:r>
            <a:b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동시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분리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적격심사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이 선택되는 경우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선정방법은 모두 선택 가능</a:t>
            </a:r>
            <a:b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최저가</a:t>
            </a:r>
            <a:b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제한적 최저가 입찰</a:t>
            </a:r>
            <a:b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동시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분리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적격심사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지명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이 선택되는 경우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선정방법은 모두 선택 가능</a:t>
            </a:r>
            <a:b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최저가</a:t>
            </a:r>
            <a:b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제한적 최저가 입찰</a:t>
            </a:r>
            <a:b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동시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분리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적격심사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2FAEE14-C97E-1FA9-1205-7D63D11E57F8}"/>
              </a:ext>
            </a:extLst>
          </p:cNvPr>
          <p:cNvSpPr/>
          <p:nvPr/>
        </p:nvSpPr>
        <p:spPr>
          <a:xfrm>
            <a:off x="56456" y="332656"/>
            <a:ext cx="7884876" cy="63007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A631107E-9505-6314-D1F3-E9C305838D58}"/>
              </a:ext>
            </a:extLst>
          </p:cNvPr>
          <p:cNvGraphicFramePr>
            <a:graphicFrameLocks noGrp="1"/>
          </p:cNvGraphicFramePr>
          <p:nvPr/>
        </p:nvGraphicFramePr>
        <p:xfrm>
          <a:off x="164467" y="628924"/>
          <a:ext cx="7668853" cy="67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57482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11371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계약방법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○ 수의계약     ○ 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     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○ 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     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○ 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지명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63071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낙찰자 선정방법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○ 최저가     ○ 제한적 최저가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   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○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단계 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규격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가격 동시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     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○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단계 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규격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가격 분리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    ○ 적격심사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187115"/>
                  </a:ext>
                </a:extLst>
              </a:tr>
            </a:tbl>
          </a:graphicData>
        </a:graphic>
      </p:graphicFrame>
      <p:sp>
        <p:nvSpPr>
          <p:cNvPr id="20" name="타원 19">
            <a:extLst>
              <a:ext uri="{FF2B5EF4-FFF2-40B4-BE49-F238E27FC236}">
                <a16:creationId xmlns:a16="http://schemas.microsoft.com/office/drawing/2014/main" id="{93E6C0BF-4034-0E7F-6D75-9E784D1A7790}"/>
              </a:ext>
            </a:extLst>
          </p:cNvPr>
          <p:cNvSpPr/>
          <p:nvPr/>
        </p:nvSpPr>
        <p:spPr>
          <a:xfrm>
            <a:off x="1604628" y="573443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A25DF6B0-00D5-1512-FDB5-FC4498321864}"/>
              </a:ext>
            </a:extLst>
          </p:cNvPr>
          <p:cNvSpPr/>
          <p:nvPr/>
        </p:nvSpPr>
        <p:spPr>
          <a:xfrm>
            <a:off x="2396716" y="573443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0F0C5EF0-17C5-3F9B-7D34-8F7151A268F9}"/>
              </a:ext>
            </a:extLst>
          </p:cNvPr>
          <p:cNvSpPr/>
          <p:nvPr/>
        </p:nvSpPr>
        <p:spPr>
          <a:xfrm>
            <a:off x="3294255" y="573443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DE9146C9-0AE8-CD8D-B9D2-050A54CD25E9}"/>
              </a:ext>
            </a:extLst>
          </p:cNvPr>
          <p:cNvSpPr/>
          <p:nvPr/>
        </p:nvSpPr>
        <p:spPr>
          <a:xfrm>
            <a:off x="4208375" y="573443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35" name="표 34">
            <a:extLst>
              <a:ext uri="{FF2B5EF4-FFF2-40B4-BE49-F238E27FC236}">
                <a16:creationId xmlns:a16="http://schemas.microsoft.com/office/drawing/2014/main" id="{1AA7CF10-688B-B274-DA6D-8F929F03EF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7433295"/>
              </p:ext>
            </p:extLst>
          </p:nvPr>
        </p:nvGraphicFramePr>
        <p:xfrm>
          <a:off x="164467" y="1788178"/>
          <a:ext cx="7668853" cy="4661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57482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11371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최저가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최저가로 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투찰한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업체가 우선협상자로 선정됨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입찰기간 중에 서류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가격을 동시에 제출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평가는 없으며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우선협상자 선정 후 자격 확인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‘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예정가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’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설정 필요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63071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제한적 최저가 입찰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점수가 적격인 업체 중 복수예비가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낙찰하한가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이상의 가격에 가장 가까운 업체가 우선협상자로 선정됨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입찰기간 중에 서류는 서류 제출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투찰기간에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가격 제출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평가가 있으며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점수에 따라 적격여부 확인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‘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복수예비가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낙찰하한가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)’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설정 필요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1871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단계 경쟁입찰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규격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가격 동시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규격과 가격을 동시에 비율에 의해 산정하여 최고점수 업체가 우선협상자로 선정됨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입찰기간 중에 서류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가격을 동시에 제출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평가가 있으며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가격과 합산함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‘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예정가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’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설정 필요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89933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단계 경쟁입찰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규격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가격 분리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점수가 적격인 업체 중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예정가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이하의 제일 낮은 가격의 업체가 우선협상자로 선정됨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입찰기간 중에 서류는 서류 제출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투찰기간에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가격 제출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평가가 있으며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점수에 따라 적격여부 확인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‘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예정가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’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설정 필요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59344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적격심사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점수가 적격인 업체 중 복수예비가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낙찰하한가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이상의 가격에 가장 가까운 업체가 우선협상자로 선정됨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입찰기간 중에 서류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가격을 동시에 제출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가격을 먼저 확인하여 적합한 업체의 적격여부 확인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‘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복수예비가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낙찰하한가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)’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설정 필요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9070123"/>
                  </a:ext>
                </a:extLst>
              </a:tr>
            </a:tbl>
          </a:graphicData>
        </a:graphic>
      </p:graphicFrame>
      <p:sp>
        <p:nvSpPr>
          <p:cNvPr id="38" name="직사각형 37">
            <a:extLst>
              <a:ext uri="{FF2B5EF4-FFF2-40B4-BE49-F238E27FC236}">
                <a16:creationId xmlns:a16="http://schemas.microsoft.com/office/drawing/2014/main" id="{034742A7-08B1-0B47-1E2A-22F8186F7B0E}"/>
              </a:ext>
            </a:extLst>
          </p:cNvPr>
          <p:cNvSpPr/>
          <p:nvPr/>
        </p:nvSpPr>
        <p:spPr>
          <a:xfrm>
            <a:off x="183392" y="1484108"/>
            <a:ext cx="5741716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선정방법에 대한 이해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5775727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8EB641-D17C-6983-DD4A-1E831659DC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4CCB4A31-5629-A711-0B82-7C9BDC22F51A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89E65008-32F3-E859-FA23-162610C3C866}"/>
              </a:ext>
            </a:extLst>
          </p:cNvPr>
          <p:cNvSpPr txBox="1"/>
          <p:nvPr/>
        </p:nvSpPr>
        <p:spPr>
          <a:xfrm>
            <a:off x="749224" y="25608"/>
            <a:ext cx="188545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[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참고자료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]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계약방법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 정리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A082E5D-9329-2E39-0AED-AEF609DECCA9}"/>
              </a:ext>
            </a:extLst>
          </p:cNvPr>
          <p:cNvSpPr txBox="1"/>
          <p:nvPr/>
        </p:nvSpPr>
        <p:spPr>
          <a:xfrm>
            <a:off x="8049344" y="584684"/>
            <a:ext cx="1856656" cy="47828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수의계약이 선택되는 경우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선정방법은 ‘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최저가’만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선택 가능</a:t>
            </a:r>
            <a:b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다른 선택 항목은 비활성화 처리할 것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일반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이 선택되는 경우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선정방법은 모두 선택 가능</a:t>
            </a:r>
            <a:b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최저가</a:t>
            </a:r>
            <a:b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제한적 최저가 입찰</a:t>
            </a:r>
            <a:b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동시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분리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적격심사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이 선택되는 경우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선정방법은 모두 선택 가능</a:t>
            </a:r>
            <a:b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최저가</a:t>
            </a:r>
            <a:b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제한적 최저가 입찰</a:t>
            </a:r>
            <a:b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동시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분리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적격심사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지명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이 선택되는 경우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선정방법은 모두 선택 가능</a:t>
            </a:r>
            <a:b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최저가</a:t>
            </a:r>
            <a:b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제한적 최저가 입찰</a:t>
            </a:r>
            <a:b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동시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분리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적격심사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66B6D03E-A93C-3508-B21D-D2F404CFE318}"/>
              </a:ext>
            </a:extLst>
          </p:cNvPr>
          <p:cNvSpPr/>
          <p:nvPr/>
        </p:nvSpPr>
        <p:spPr>
          <a:xfrm>
            <a:off x="56456" y="332656"/>
            <a:ext cx="7884876" cy="63007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BD10E14B-E2F9-B486-75BD-30B9C935B1C0}"/>
              </a:ext>
            </a:extLst>
          </p:cNvPr>
          <p:cNvGraphicFramePr>
            <a:graphicFrameLocks noGrp="1"/>
          </p:cNvGraphicFramePr>
          <p:nvPr/>
        </p:nvGraphicFramePr>
        <p:xfrm>
          <a:off x="164467" y="628924"/>
          <a:ext cx="7668853" cy="67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57482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11371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계약방법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○ 수의계약     ○ 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     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○ 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     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○ 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지명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63071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낙찰자 선정방법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○ 최저가     ○ 제한적 최저가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   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○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단계 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규격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가격 동시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     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○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단계 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규격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가격 분리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    ○ 적격심사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187115"/>
                  </a:ext>
                </a:extLst>
              </a:tr>
            </a:tbl>
          </a:graphicData>
        </a:graphic>
      </p:graphicFrame>
      <p:sp>
        <p:nvSpPr>
          <p:cNvPr id="20" name="타원 19">
            <a:extLst>
              <a:ext uri="{FF2B5EF4-FFF2-40B4-BE49-F238E27FC236}">
                <a16:creationId xmlns:a16="http://schemas.microsoft.com/office/drawing/2014/main" id="{4756C88F-F59A-B062-9205-3BCAD36A7971}"/>
              </a:ext>
            </a:extLst>
          </p:cNvPr>
          <p:cNvSpPr/>
          <p:nvPr/>
        </p:nvSpPr>
        <p:spPr>
          <a:xfrm>
            <a:off x="1604628" y="573443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50E8720A-BEE3-271F-5B06-E3A5B2FB2FBF}"/>
              </a:ext>
            </a:extLst>
          </p:cNvPr>
          <p:cNvSpPr/>
          <p:nvPr/>
        </p:nvSpPr>
        <p:spPr>
          <a:xfrm>
            <a:off x="2396716" y="573443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8297E2B7-EF15-81F7-A182-E3D9D8CD88F8}"/>
              </a:ext>
            </a:extLst>
          </p:cNvPr>
          <p:cNvSpPr/>
          <p:nvPr/>
        </p:nvSpPr>
        <p:spPr>
          <a:xfrm>
            <a:off x="3294255" y="573443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73FDD4BB-588F-36FC-133A-AEEEECB9186A}"/>
              </a:ext>
            </a:extLst>
          </p:cNvPr>
          <p:cNvSpPr/>
          <p:nvPr/>
        </p:nvSpPr>
        <p:spPr>
          <a:xfrm>
            <a:off x="4208375" y="573443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35" name="표 34">
            <a:extLst>
              <a:ext uri="{FF2B5EF4-FFF2-40B4-BE49-F238E27FC236}">
                <a16:creationId xmlns:a16="http://schemas.microsoft.com/office/drawing/2014/main" id="{357DED47-CD8A-35E0-6405-841A14773E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3364499"/>
              </p:ext>
            </p:extLst>
          </p:nvPr>
        </p:nvGraphicFramePr>
        <p:xfrm>
          <a:off x="164466" y="1788178"/>
          <a:ext cx="7687776" cy="2027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3816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1534398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  <a:gridCol w="1149156">
                  <a:extLst>
                    <a:ext uri="{9D8B030D-6E8A-4147-A177-3AD203B41FA5}">
                      <a16:colId xmlns:a16="http://schemas.microsoft.com/office/drawing/2014/main" val="1062149080"/>
                    </a:ext>
                  </a:extLst>
                </a:gridCol>
                <a:gridCol w="576283">
                  <a:extLst>
                    <a:ext uri="{9D8B030D-6E8A-4147-A177-3AD203B41FA5}">
                      <a16:colId xmlns:a16="http://schemas.microsoft.com/office/drawing/2014/main" val="1514525174"/>
                    </a:ext>
                  </a:extLst>
                </a:gridCol>
                <a:gridCol w="1266924">
                  <a:extLst>
                    <a:ext uri="{9D8B030D-6E8A-4147-A177-3AD203B41FA5}">
                      <a16:colId xmlns:a16="http://schemas.microsoft.com/office/drawing/2014/main" val="2785311682"/>
                    </a:ext>
                  </a:extLst>
                </a:gridCol>
                <a:gridCol w="1127199">
                  <a:extLst>
                    <a:ext uri="{9D8B030D-6E8A-4147-A177-3AD203B41FA5}">
                      <a16:colId xmlns:a16="http://schemas.microsoft.com/office/drawing/2014/main" val="96355708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낙찰자 선정방법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서류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가격 동시제출 여부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평가여부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예정가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예비가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낙찰하한가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동점자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처리기준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52131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최저가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○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X(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적격여부 확인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○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X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추첨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랜덤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63071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제한적 최저가 입찰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X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○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X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○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규격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기술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1871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단계 경쟁입찰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규격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가격 동시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○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○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○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X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설정 사항에 따름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89933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단계 경쟁입찰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규격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가격 분리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X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○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○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X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규격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기술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59344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적격심사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○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X(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적격여부 확인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X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○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규격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기술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9070123"/>
                  </a:ext>
                </a:extLst>
              </a:tr>
            </a:tbl>
          </a:graphicData>
        </a:graphic>
      </p:graphicFrame>
      <p:sp>
        <p:nvSpPr>
          <p:cNvPr id="38" name="직사각형 37">
            <a:extLst>
              <a:ext uri="{FF2B5EF4-FFF2-40B4-BE49-F238E27FC236}">
                <a16:creationId xmlns:a16="http://schemas.microsoft.com/office/drawing/2014/main" id="{5E76F6EB-D7FD-37EB-A1FC-9EFC71AA84A0}"/>
              </a:ext>
            </a:extLst>
          </p:cNvPr>
          <p:cNvSpPr/>
          <p:nvPr/>
        </p:nvSpPr>
        <p:spPr>
          <a:xfrm>
            <a:off x="183392" y="1484108"/>
            <a:ext cx="5741716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선정방법에 대한 이해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ACE416D9-BB0A-E59F-8E50-F340AC6C9E01}"/>
              </a:ext>
            </a:extLst>
          </p:cNvPr>
          <p:cNvGraphicFramePr>
            <a:graphicFrameLocks noGrp="1"/>
          </p:cNvGraphicFramePr>
          <p:nvPr/>
        </p:nvGraphicFramePr>
        <p:xfrm>
          <a:off x="164468" y="3915153"/>
          <a:ext cx="7687778" cy="229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28192">
                  <a:extLst>
                    <a:ext uri="{9D8B030D-6E8A-4147-A177-3AD203B41FA5}">
                      <a16:colId xmlns:a16="http://schemas.microsoft.com/office/drawing/2014/main" val="4156553755"/>
                    </a:ext>
                  </a:extLst>
                </a:gridCol>
                <a:gridCol w="5959586">
                  <a:extLst>
                    <a:ext uri="{9D8B030D-6E8A-4147-A177-3AD203B41FA5}">
                      <a16:colId xmlns:a16="http://schemas.microsoft.com/office/drawing/2014/main" val="55708453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최저가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동일한 조건에서 가장 낮은 가격을 제시한 업체를 선정하여 예산을 절감하기 위해서입니다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.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품질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·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기술보다 가격 경쟁이 가능한 단순한 물품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·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공사에 적합합니다.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28702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제한적 최저가 입찰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지나치게 낮은 가격으로 인한 부실 이행을 방지하면서 가격 경쟁을 유도하기 위해서입니다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일정한 가격 하한선 등 기준을 충족한 업체 중 최저가 업체를 선정합니다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510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단계 경쟁입찰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규격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가격 동시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단순히 가격만 보지 않고 요구되는 규격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성능을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충족하는지와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가격을 함께 평가하기 위해서입니다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규격과 가격을 동시에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제출받아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기술적 적합성과 가격 경쟁력을 함께 고려합니다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4925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단계 경쟁입찰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규격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가격 분리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먼저 규격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기술적 적합성을 검증한 뒤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적격 업체끼리 가격 경쟁을 시키기 위해서입니다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가격보다 요구조건을 제대로 충족하는 업체를 우선적으로 걸러내는 것이 목적입니다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41417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적격심사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가격만 낮은 업체가 아니라 실제로 계약을 수행할 능력이 있는 업체를 선정하기 위해서입니다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입찰가격과 함께 실적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경영상태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수행능력 등을 종합적으로 심사합니다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1613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0725793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E54E44-8092-BE30-546E-4CDED29482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780F62A3-0D9E-45E1-F280-F5B097A9A196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282172F-2BF0-8BEC-4D28-E7DD45FAEF1F}"/>
              </a:ext>
            </a:extLst>
          </p:cNvPr>
          <p:cNvSpPr txBox="1"/>
          <p:nvPr/>
        </p:nvSpPr>
        <p:spPr>
          <a:xfrm>
            <a:off x="749224" y="25608"/>
            <a:ext cx="178927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검색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조회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DF2E095-C92C-B6EE-4E0B-ABD7DFAF3E2F}"/>
              </a:ext>
            </a:extLst>
          </p:cNvPr>
          <p:cNvSpPr txBox="1"/>
          <p:nvPr/>
        </p:nvSpPr>
        <p:spPr>
          <a:xfrm>
            <a:off x="8049344" y="584684"/>
            <a:ext cx="1856656" cy="60693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발주계획의 전자결재가 완료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승인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되면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현황의 검색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조회 목록으로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데이터가 복사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되어 자동 등록됨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(‘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작성중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상태로 시작됨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수의계약 건은 별도 프로세스로 처리되기 때문에 입찰 건만 목록에서 제공됨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결국 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계약관리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메뉴에서 만남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‘작성중’인 건만 본 ‘입찰계획 현황’ 검색/조회 </a:t>
            </a:r>
            <a:r>
              <a:rPr lang="en-US" altLang="ko-KR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화면에서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제공함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공고 번호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건명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수주계약번호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발주계약 요청 번호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발주계약 품의번호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기본 최초의 입찰공고는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본공고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상태임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유찰되는 경우 본공고의 모든 내용이 복사되어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새로운 공고 번호로 </a:t>
            </a:r>
            <a:r>
              <a:rPr lang="ko-KR" altLang="en-US" sz="800" u="sng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발번되면서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u="sng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재공고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(1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차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2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차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표시됨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A02389E5-5E40-8793-91B5-5FA400FAAF7F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37579E08-0FDA-C553-C3BE-0C20FD9D86A0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AEF6A155-627C-AA8C-6D0E-9BAE1215281A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5666EBE8-655C-30E4-8284-842B6AADCF6E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E4219F3-F0E3-A082-92CA-FB1E2C57E820}"/>
              </a:ext>
            </a:extLst>
          </p:cNvPr>
          <p:cNvSpPr/>
          <p:nvPr/>
        </p:nvSpPr>
        <p:spPr>
          <a:xfrm>
            <a:off x="164468" y="834983"/>
            <a:ext cx="7740859" cy="121449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24744C0D-C5FF-15A7-82C4-F1503EF32E92}"/>
              </a:ext>
            </a:extLst>
          </p:cNvPr>
          <p:cNvSpPr txBox="1"/>
          <p:nvPr/>
        </p:nvSpPr>
        <p:spPr>
          <a:xfrm>
            <a:off x="235850" y="941488"/>
            <a:ext cx="6805382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72000" marR="0" lvl="0" indent="-7200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조회기간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(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등록일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)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:                                                                                                                                                                 ~    </a:t>
            </a:r>
            <a:endParaRPr kumimoji="1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13CDCC7C-31E7-1537-4F11-CA9CA6D47427}"/>
              </a:ext>
            </a:extLst>
          </p:cNvPr>
          <p:cNvSpPr txBox="1"/>
          <p:nvPr/>
        </p:nvSpPr>
        <p:spPr>
          <a:xfrm>
            <a:off x="235849" y="1727676"/>
            <a:ext cx="7561759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72000" lvl="0" indent="-72000" algn="l">
              <a:buFont typeface="Arial" panose="020B0604020202020204" pitchFamily="34" charset="0"/>
              <a:buChar char="•"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키워드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검색 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:</a:t>
            </a:r>
            <a:endParaRPr lang="ko-KR" altLang="en-US" sz="8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F2E93D47-78DC-D859-FF2B-31EDAF3F10CE}"/>
              </a:ext>
            </a:extLst>
          </p:cNvPr>
          <p:cNvSpPr/>
          <p:nvPr/>
        </p:nvSpPr>
        <p:spPr>
          <a:xfrm>
            <a:off x="4683665" y="929087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검색 시작일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ACBFABE5-EC2B-428A-7002-D875697C3E9D}"/>
              </a:ext>
            </a:extLst>
          </p:cNvPr>
          <p:cNvSpPr/>
          <p:nvPr/>
        </p:nvSpPr>
        <p:spPr>
          <a:xfrm>
            <a:off x="5493916" y="929089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AA3E8CDD-E63D-F165-90A3-A3F93473FA23}"/>
              </a:ext>
            </a:extLst>
          </p:cNvPr>
          <p:cNvSpPr/>
          <p:nvPr/>
        </p:nvSpPr>
        <p:spPr>
          <a:xfrm>
            <a:off x="5907171" y="929087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검색 종료일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C85E2EDF-1E69-2DF9-D529-4E4C4C48EDA1}"/>
              </a:ext>
            </a:extLst>
          </p:cNvPr>
          <p:cNvSpPr/>
          <p:nvPr/>
        </p:nvSpPr>
        <p:spPr>
          <a:xfrm>
            <a:off x="6717422" y="929089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3934D5E-2A77-53F5-D637-D7ACFBE52233}"/>
              </a:ext>
            </a:extLst>
          </p:cNvPr>
          <p:cNvSpPr/>
          <p:nvPr/>
        </p:nvSpPr>
        <p:spPr>
          <a:xfrm>
            <a:off x="1393889" y="929087"/>
            <a:ext cx="498772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r>
              <a:rPr lang="ko-KR" altLang="en-US" sz="80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하루 전</a:t>
            </a:r>
            <a:endParaRPr lang="ko-KR" altLang="en-US" sz="8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F5CD3ADB-2162-9430-8D03-FD4E5C35AE3B}"/>
              </a:ext>
            </a:extLst>
          </p:cNvPr>
          <p:cNvSpPr/>
          <p:nvPr/>
        </p:nvSpPr>
        <p:spPr>
          <a:xfrm>
            <a:off x="1942458" y="929087"/>
            <a:ext cx="498772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r>
              <a:rPr lang="en-US" altLang="ko-KR" sz="80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주일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5827772A-7FD2-39C9-ECCB-596EC38D1625}"/>
              </a:ext>
            </a:extLst>
          </p:cNvPr>
          <p:cNvSpPr/>
          <p:nvPr/>
        </p:nvSpPr>
        <p:spPr>
          <a:xfrm>
            <a:off x="2491027" y="929087"/>
            <a:ext cx="498772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r>
              <a:rPr lang="en-US" altLang="ko-KR" sz="80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개월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39EA444-B498-7DE3-89E8-620B4919C477}"/>
              </a:ext>
            </a:extLst>
          </p:cNvPr>
          <p:cNvSpPr/>
          <p:nvPr/>
        </p:nvSpPr>
        <p:spPr>
          <a:xfrm>
            <a:off x="3039596" y="929087"/>
            <a:ext cx="498772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r>
              <a:rPr lang="en-US" altLang="ko-KR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개월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7EC0FC62-6FB0-F392-78CE-8BEFE4112C2E}"/>
              </a:ext>
            </a:extLst>
          </p:cNvPr>
          <p:cNvSpPr/>
          <p:nvPr/>
        </p:nvSpPr>
        <p:spPr>
          <a:xfrm>
            <a:off x="3588165" y="929087"/>
            <a:ext cx="498772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r>
              <a:rPr lang="en-US" altLang="ko-KR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개월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FCE13165-124D-57B6-40B8-D487B9A6D73E}"/>
              </a:ext>
            </a:extLst>
          </p:cNvPr>
          <p:cNvSpPr/>
          <p:nvPr/>
        </p:nvSpPr>
        <p:spPr>
          <a:xfrm>
            <a:off x="4136733" y="929087"/>
            <a:ext cx="498772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r>
              <a:rPr lang="en-US" altLang="ko-KR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년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3D53B4E3-51C9-BADB-7E89-60FBFDAF3CB6}"/>
              </a:ext>
            </a:extLst>
          </p:cNvPr>
          <p:cNvSpPr txBox="1"/>
          <p:nvPr/>
        </p:nvSpPr>
        <p:spPr>
          <a:xfrm>
            <a:off x="235849" y="1456911"/>
            <a:ext cx="6697013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72000" indent="-72000" algn="l">
              <a:buFont typeface="Arial" panose="020B0604020202020204" pitchFamily="34" charset="0"/>
              <a:buChar char="•"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견적유형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:                     </a:t>
            </a:r>
            <a:r>
              <a:rPr lang="ko-KR" altLang="en-US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● 전체      ○ 공사     </a:t>
            </a:r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○ </a:t>
            </a:r>
            <a:r>
              <a:rPr lang="ko-KR" altLang="en-US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용역     </a:t>
            </a:r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○ </a:t>
            </a:r>
            <a:r>
              <a:rPr lang="ko-KR" altLang="en-US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물품</a:t>
            </a:r>
            <a:endParaRPr lang="en-US" altLang="ko-KR" sz="8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0FDCF1E0-73A1-22D1-2A0C-82EB9D73B171}"/>
              </a:ext>
            </a:extLst>
          </p:cNvPr>
          <p:cNvSpPr/>
          <p:nvPr/>
        </p:nvSpPr>
        <p:spPr>
          <a:xfrm>
            <a:off x="1408523" y="1720531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검색 구분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FB5C242-B0DA-CDDB-DF3A-B46A1290E92C}"/>
              </a:ext>
            </a:extLst>
          </p:cNvPr>
          <p:cNvSpPr/>
          <p:nvPr/>
        </p:nvSpPr>
        <p:spPr>
          <a:xfrm>
            <a:off x="2218774" y="1720533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281DFA6-41A5-91AF-1E47-64B5385EDD12}"/>
              </a:ext>
            </a:extLst>
          </p:cNvPr>
          <p:cNvSpPr/>
          <p:nvPr/>
        </p:nvSpPr>
        <p:spPr>
          <a:xfrm>
            <a:off x="2533911" y="1720531"/>
            <a:ext cx="3619804" cy="2080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검색어를 입력하세요</a:t>
            </a:r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800" b="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2ACD3F50-8C57-96C8-25E3-144E4A97C5A5}"/>
              </a:ext>
            </a:extLst>
          </p:cNvPr>
          <p:cNvSpPr/>
          <p:nvPr/>
        </p:nvSpPr>
        <p:spPr>
          <a:xfrm>
            <a:off x="6241919" y="1720533"/>
            <a:ext cx="625198" cy="2154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검색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0C010C00-6D66-A319-F97D-5F8C1B343310}"/>
              </a:ext>
            </a:extLst>
          </p:cNvPr>
          <p:cNvSpPr/>
          <p:nvPr/>
        </p:nvSpPr>
        <p:spPr>
          <a:xfrm>
            <a:off x="5856272" y="2148700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en-US" altLang="ko-KR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개씩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5AC71405-8F6D-A557-8A64-4847C85C86F7}"/>
              </a:ext>
            </a:extLst>
          </p:cNvPr>
          <p:cNvSpPr/>
          <p:nvPr/>
        </p:nvSpPr>
        <p:spPr>
          <a:xfrm>
            <a:off x="6677734" y="2148700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E6719506-179E-D591-5BB9-6F4018BB5CB2}"/>
              </a:ext>
            </a:extLst>
          </p:cNvPr>
          <p:cNvSpPr txBox="1"/>
          <p:nvPr/>
        </p:nvSpPr>
        <p:spPr>
          <a:xfrm>
            <a:off x="181506" y="2135182"/>
            <a:ext cx="2975920" cy="230832"/>
          </a:xfrm>
          <a:prstGeom prst="rect">
            <a:avLst/>
          </a:prstGeom>
          <a:noFill/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전체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1,523</a:t>
            </a:r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건 현재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en-US" altLang="ko-KR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/4</a:t>
            </a:r>
            <a:endParaRPr lang="ko-KR" altLang="en-US" sz="900" b="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B9BC6CB3-8004-CFA8-F53F-1E5BF826B5F5}"/>
              </a:ext>
            </a:extLst>
          </p:cNvPr>
          <p:cNvSpPr/>
          <p:nvPr/>
        </p:nvSpPr>
        <p:spPr>
          <a:xfrm>
            <a:off x="6982990" y="2148700"/>
            <a:ext cx="913712" cy="215441"/>
          </a:xfrm>
          <a:prstGeom prst="rect">
            <a:avLst/>
          </a:prstGeom>
          <a:solidFill>
            <a:srgbClr val="00B05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다운로드</a:t>
            </a:r>
            <a:r>
              <a:rPr lang="en-US" altLang="ko-KR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(Excel)</a:t>
            </a:r>
            <a:endParaRPr lang="ko-KR" altLang="en-US" sz="8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51" name="표 50">
            <a:extLst>
              <a:ext uri="{FF2B5EF4-FFF2-40B4-BE49-F238E27FC236}">
                <a16:creationId xmlns:a16="http://schemas.microsoft.com/office/drawing/2014/main" id="{06D720C3-E638-EEE3-EF57-743D65C958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7173440"/>
              </p:ext>
            </p:extLst>
          </p:nvPr>
        </p:nvGraphicFramePr>
        <p:xfrm>
          <a:off x="164468" y="2444148"/>
          <a:ext cx="9583413" cy="2365440"/>
        </p:xfrm>
        <a:graphic>
          <a:graphicData uri="http://schemas.openxmlformats.org/drawingml/2006/table">
            <a:tbl>
              <a:tblPr firstRow="1" bandRow="1"/>
              <a:tblGrid>
                <a:gridCol w="450387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840913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772650">
                  <a:extLst>
                    <a:ext uri="{9D8B030D-6E8A-4147-A177-3AD203B41FA5}">
                      <a16:colId xmlns:a16="http://schemas.microsoft.com/office/drawing/2014/main" val="491285110"/>
                    </a:ext>
                  </a:extLst>
                </a:gridCol>
                <a:gridCol w="553575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2185525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363075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817100">
                  <a:extLst>
                    <a:ext uri="{9D8B030D-6E8A-4147-A177-3AD203B41FA5}">
                      <a16:colId xmlns:a16="http://schemas.microsoft.com/office/drawing/2014/main" val="1960918577"/>
                    </a:ext>
                  </a:extLst>
                </a:gridCol>
                <a:gridCol w="1545763">
                  <a:extLst>
                    <a:ext uri="{9D8B030D-6E8A-4147-A177-3AD203B41FA5}">
                      <a16:colId xmlns:a16="http://schemas.microsoft.com/office/drawing/2014/main" val="2297195669"/>
                    </a:ext>
                  </a:extLst>
                </a:gridCol>
                <a:gridCol w="728200">
                  <a:extLst>
                    <a:ext uri="{9D8B030D-6E8A-4147-A177-3AD203B41FA5}">
                      <a16:colId xmlns:a16="http://schemas.microsoft.com/office/drawing/2014/main" val="2523826374"/>
                    </a:ext>
                  </a:extLst>
                </a:gridCol>
                <a:gridCol w="648825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677400">
                  <a:extLst>
                    <a:ext uri="{9D8B030D-6E8A-4147-A177-3AD203B41FA5}">
                      <a16:colId xmlns:a16="http://schemas.microsoft.com/office/drawing/2014/main" val="205180935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No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등록일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 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1,542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본공고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작성중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 중 도장공사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최저가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2026.06.10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임꺽정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1,541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BD2026-0024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재공고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(1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차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작성중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1601-9</a:t>
                      </a:r>
                      <a:r>
                        <a:rPr kumimoji="0" lang="en-US" altLang="ko-KR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 중 도장공사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용역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제한적 최저가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1,540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BD2026-0025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재공고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(2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차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작성중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1601-9</a:t>
                      </a:r>
                      <a:r>
                        <a:rPr kumimoji="0" lang="en-US" altLang="ko-KR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 중 도장공사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물품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2단계 경쟁입찰(규격/가격 동시)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작성중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경쟁입찰(지명)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단계 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규격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가격 분리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3946446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작성중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적격심사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87735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작성중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1373695"/>
                  </a:ext>
                </a:extLst>
              </a:tr>
            </a:tbl>
          </a:graphicData>
        </a:graphic>
      </p:graphicFrame>
      <p:grpSp>
        <p:nvGrpSpPr>
          <p:cNvPr id="52" name="그룹 51">
            <a:extLst>
              <a:ext uri="{FF2B5EF4-FFF2-40B4-BE49-F238E27FC236}">
                <a16:creationId xmlns:a16="http://schemas.microsoft.com/office/drawing/2014/main" id="{55DEA7DF-2A39-C424-6B53-4BC43BF21ED4}"/>
              </a:ext>
            </a:extLst>
          </p:cNvPr>
          <p:cNvGrpSpPr/>
          <p:nvPr/>
        </p:nvGrpSpPr>
        <p:grpSpPr>
          <a:xfrm>
            <a:off x="2004219" y="4935644"/>
            <a:ext cx="4025354" cy="216024"/>
            <a:chOff x="2992062" y="4869160"/>
            <a:chExt cx="4025354" cy="216024"/>
          </a:xfrm>
        </p:grpSpPr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DA7415BF-F579-F8F5-43CA-D4D9EBF3C01A}"/>
                </a:ext>
              </a:extLst>
            </p:cNvPr>
            <p:cNvSpPr/>
            <p:nvPr/>
          </p:nvSpPr>
          <p:spPr>
            <a:xfrm>
              <a:off x="2992062" y="4869160"/>
              <a:ext cx="216000" cy="21602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◀</a:t>
              </a:r>
            </a:p>
          </p:txBody>
        </p:sp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8EC40184-C05D-591C-4C78-A46C4C7F53AC}"/>
                </a:ext>
              </a:extLst>
            </p:cNvPr>
            <p:cNvSpPr/>
            <p:nvPr/>
          </p:nvSpPr>
          <p:spPr>
            <a:xfrm>
              <a:off x="3285089" y="4869160"/>
              <a:ext cx="216000" cy="21602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&lt;</a:t>
              </a:r>
              <a:endPara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5839BC5C-30BB-0E9F-176E-013B6DFA06FD}"/>
                </a:ext>
              </a:extLst>
            </p:cNvPr>
            <p:cNvSpPr/>
            <p:nvPr/>
          </p:nvSpPr>
          <p:spPr>
            <a:xfrm>
              <a:off x="3578116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E59E9E50-B284-C759-F644-ADB2E7934AC0}"/>
                </a:ext>
              </a:extLst>
            </p:cNvPr>
            <p:cNvSpPr/>
            <p:nvPr/>
          </p:nvSpPr>
          <p:spPr>
            <a:xfrm>
              <a:off x="3871143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2A33FFD3-A47A-A55E-20C9-158B38DFF5C0}"/>
                </a:ext>
              </a:extLst>
            </p:cNvPr>
            <p:cNvSpPr/>
            <p:nvPr/>
          </p:nvSpPr>
          <p:spPr>
            <a:xfrm>
              <a:off x="4164170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7789AED7-859C-0EF1-21ED-AFE5CA157784}"/>
                </a:ext>
              </a:extLst>
            </p:cNvPr>
            <p:cNvSpPr/>
            <p:nvPr/>
          </p:nvSpPr>
          <p:spPr>
            <a:xfrm>
              <a:off x="4457197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1EB1C8B6-BC91-9BDB-7647-3CB760F10E58}"/>
                </a:ext>
              </a:extLst>
            </p:cNvPr>
            <p:cNvSpPr/>
            <p:nvPr/>
          </p:nvSpPr>
          <p:spPr>
            <a:xfrm>
              <a:off x="4750224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A8468F0F-4662-945C-016A-55A48FBB4832}"/>
                </a:ext>
              </a:extLst>
            </p:cNvPr>
            <p:cNvSpPr/>
            <p:nvPr/>
          </p:nvSpPr>
          <p:spPr>
            <a:xfrm>
              <a:off x="5043251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E1F6BC54-CDA4-1543-D78C-82DCAEB6FC8E}"/>
                </a:ext>
              </a:extLst>
            </p:cNvPr>
            <p:cNvSpPr/>
            <p:nvPr/>
          </p:nvSpPr>
          <p:spPr>
            <a:xfrm>
              <a:off x="5336278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39240A1D-AF3E-4A3B-346F-1A23ABC1714F}"/>
                </a:ext>
              </a:extLst>
            </p:cNvPr>
            <p:cNvSpPr/>
            <p:nvPr/>
          </p:nvSpPr>
          <p:spPr>
            <a:xfrm>
              <a:off x="5629305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C978DE19-3FEF-0CEA-1460-2B6BD9443CA1}"/>
                </a:ext>
              </a:extLst>
            </p:cNvPr>
            <p:cNvSpPr/>
            <p:nvPr/>
          </p:nvSpPr>
          <p:spPr>
            <a:xfrm>
              <a:off x="5922332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" name="직사각형 63">
              <a:extLst>
                <a:ext uri="{FF2B5EF4-FFF2-40B4-BE49-F238E27FC236}">
                  <a16:creationId xmlns:a16="http://schemas.microsoft.com/office/drawing/2014/main" id="{37C5E1DF-BD6A-DE6A-5F5A-A28B41D3C134}"/>
                </a:ext>
              </a:extLst>
            </p:cNvPr>
            <p:cNvSpPr/>
            <p:nvPr/>
          </p:nvSpPr>
          <p:spPr>
            <a:xfrm>
              <a:off x="6215359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F2EA7BCC-AE1D-91A0-5A4A-3AADF0EF15A9}"/>
                </a:ext>
              </a:extLst>
            </p:cNvPr>
            <p:cNvSpPr/>
            <p:nvPr/>
          </p:nvSpPr>
          <p:spPr>
            <a:xfrm>
              <a:off x="6508386" y="4869160"/>
              <a:ext cx="216000" cy="21602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&gt;</a:t>
              </a:r>
              <a:endPara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715602B3-D6FB-8C3C-4F9B-6A293C0BF1A1}"/>
                </a:ext>
              </a:extLst>
            </p:cNvPr>
            <p:cNvSpPr/>
            <p:nvPr/>
          </p:nvSpPr>
          <p:spPr>
            <a:xfrm>
              <a:off x="6801416" y="4869160"/>
              <a:ext cx="216000" cy="21602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▶</a:t>
              </a:r>
            </a:p>
          </p:txBody>
        </p:sp>
      </p:grp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CD34045-4A87-DB0A-4C4B-99AA0C73E027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CF416F93-E28A-A081-3504-1F207E33FDD3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51A15BE5-738A-F18C-6804-D752C966BB72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22" name="Picture 1">
            <a:extLst>
              <a:ext uri="{FF2B5EF4-FFF2-40B4-BE49-F238E27FC236}">
                <a16:creationId xmlns:a16="http://schemas.microsoft.com/office/drawing/2014/main" id="{1D2B671E-E824-6DB9-AB5B-CE338DC324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24" name="직사각형 23">
            <a:extLst>
              <a:ext uri="{FF2B5EF4-FFF2-40B4-BE49-F238E27FC236}">
                <a16:creationId xmlns:a16="http://schemas.microsoft.com/office/drawing/2014/main" id="{79F70BB0-F51A-F6AE-8B6F-BBB269F62037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F3435337-8229-7288-5BFE-BF782ECEE6A8}"/>
              </a:ext>
            </a:extLst>
          </p:cNvPr>
          <p:cNvSpPr/>
          <p:nvPr/>
        </p:nvSpPr>
        <p:spPr>
          <a:xfrm>
            <a:off x="60738" y="260648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1D1037D4-40BA-9C7F-22E4-3D16B867F7BE}"/>
              </a:ext>
            </a:extLst>
          </p:cNvPr>
          <p:cNvSpPr/>
          <p:nvPr/>
        </p:nvSpPr>
        <p:spPr>
          <a:xfrm>
            <a:off x="2159433" y="2685752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E16D95E1-0DAB-E13E-DA9A-8BEFB6124DF0}"/>
              </a:ext>
            </a:extLst>
          </p:cNvPr>
          <p:cNvSpPr/>
          <p:nvPr/>
        </p:nvSpPr>
        <p:spPr>
          <a:xfrm>
            <a:off x="1316596" y="1574883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9D3B72D2-D341-0FF1-5D22-E04B0AD69F4E}"/>
              </a:ext>
            </a:extLst>
          </p:cNvPr>
          <p:cNvSpPr/>
          <p:nvPr/>
        </p:nvSpPr>
        <p:spPr>
          <a:xfrm>
            <a:off x="1330713" y="2685752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581292D-B922-2DDB-B745-FB6FF6D042DE}"/>
              </a:ext>
            </a:extLst>
          </p:cNvPr>
          <p:cNvSpPr txBox="1"/>
          <p:nvPr/>
        </p:nvSpPr>
        <p:spPr>
          <a:xfrm>
            <a:off x="235849" y="1215386"/>
            <a:ext cx="6697013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72000" lvl="0" indent="-72000" algn="l">
              <a:buFont typeface="Arial" panose="020B0604020202020204" pitchFamily="34" charset="0"/>
              <a:buChar char="•"/>
              <a:defRPr/>
            </a:pPr>
            <a:r>
              <a:rPr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공고 구분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:                    </a:t>
            </a:r>
            <a:r>
              <a:rPr lang="ko-KR" altLang="en-US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● 전체      ○ </a:t>
            </a:r>
            <a:r>
              <a:rPr lang="ko-KR" altLang="en-US" sz="800" b="0" dirty="0" err="1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본공고</a:t>
            </a:r>
            <a:r>
              <a:rPr lang="ko-KR" altLang="en-US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 </a:t>
            </a:r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○ </a:t>
            </a:r>
            <a:r>
              <a:rPr lang="ko-KR" altLang="en-US" sz="800" b="0" dirty="0" err="1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재공고</a:t>
            </a:r>
            <a:endParaRPr lang="en-US" altLang="ko-KR" sz="8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9822668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9C822E-CA76-FF0F-5E1F-63DF7B83A7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E2B47CF8-80C7-E531-C528-94A090AE57EE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3A1F8E9-05C5-9319-9FC7-6F14B3BB646D}"/>
              </a:ext>
            </a:extLst>
          </p:cNvPr>
          <p:cNvSpPr txBox="1"/>
          <p:nvPr/>
        </p:nvSpPr>
        <p:spPr>
          <a:xfrm>
            <a:off x="541635" y="25608"/>
            <a:ext cx="314380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설정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발주계획 정보 확인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429B525-AD1B-23EA-C664-C1942F1988E7}"/>
              </a:ext>
            </a:extLst>
          </p:cNvPr>
          <p:cNvSpPr txBox="1"/>
          <p:nvPr/>
        </p:nvSpPr>
        <p:spPr>
          <a:xfrm>
            <a:off x="8049344" y="584684"/>
            <a:ext cx="1856656" cy="8771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후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메뉴로 넘어오면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공고 번호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자동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발번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발주계획에서 등록한 내용을 그대로 보여줌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당연히 수정 불가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191BAF84-88F1-5056-6340-444A04889465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5C7FBB81-58F7-E14E-5636-50388270B51A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7300EECA-CF76-9BD4-CB96-C25A3B42AE53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F3744103-E6DF-7C20-E6E5-3B53C5722FC1}"/>
              </a:ext>
            </a:extLst>
          </p:cNvPr>
          <p:cNvSpPr/>
          <p:nvPr/>
        </p:nvSpPr>
        <p:spPr>
          <a:xfrm>
            <a:off x="0" y="6687799"/>
            <a:ext cx="8049344" cy="18002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계속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9D5C5FA5-F7AF-E767-EED1-189BBE7A9FFD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BF6A950-0FB8-1D74-7206-202FD7A77CF4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63CC661C-6DE7-E5AE-554D-B69768A3FC35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8" name="Picture 1">
            <a:extLst>
              <a:ext uri="{FF2B5EF4-FFF2-40B4-BE49-F238E27FC236}">
                <a16:creationId xmlns:a16="http://schemas.microsoft.com/office/drawing/2014/main" id="{5CB522CB-CA50-CF1C-BCBC-ACE20192C44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grpSp>
        <p:nvGrpSpPr>
          <p:cNvPr id="38" name="그룹 37">
            <a:extLst>
              <a:ext uri="{FF2B5EF4-FFF2-40B4-BE49-F238E27FC236}">
                <a16:creationId xmlns:a16="http://schemas.microsoft.com/office/drawing/2014/main" id="{A18DE4CC-458A-7CDF-2A18-F8A28E29A017}"/>
              </a:ext>
            </a:extLst>
          </p:cNvPr>
          <p:cNvGrpSpPr/>
          <p:nvPr/>
        </p:nvGrpSpPr>
        <p:grpSpPr>
          <a:xfrm>
            <a:off x="164467" y="826923"/>
            <a:ext cx="7717012" cy="643315"/>
            <a:chOff x="252353" y="826923"/>
            <a:chExt cx="7629126" cy="643315"/>
          </a:xfrm>
        </p:grpSpPr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C895516B-D067-CA70-2C24-4CD1FEAF9B66}"/>
                </a:ext>
              </a:extLst>
            </p:cNvPr>
            <p:cNvSpPr/>
            <p:nvPr/>
          </p:nvSpPr>
          <p:spPr>
            <a:xfrm>
              <a:off x="1352599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02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상세정보</a:t>
              </a:r>
              <a:endPara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F0A8F140-5143-8773-3878-E29F6E2E2002}"/>
                </a:ext>
              </a:extLst>
            </p:cNvPr>
            <p:cNvSpPr/>
            <p:nvPr/>
          </p:nvSpPr>
          <p:spPr>
            <a:xfrm>
              <a:off x="2452845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03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심사</a:t>
              </a:r>
              <a:r>
                <a:rPr lang="en-US" altLang="ko-KR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</a:t>
              </a: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평가 계획</a:t>
              </a:r>
            </a:p>
          </p:txBody>
        </p: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B68AA0F7-4081-84C3-3F31-E4289546F232}"/>
                </a:ext>
              </a:extLst>
            </p:cNvPr>
            <p:cNvSpPr/>
            <p:nvPr/>
          </p:nvSpPr>
          <p:spPr>
            <a:xfrm>
              <a:off x="3553091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04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b="1" spc="-5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예정가</a:t>
              </a:r>
              <a:r>
                <a:rPr lang="ko-KR" altLang="en-US" sz="800" b="1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</a:t>
              </a:r>
              <a:r>
                <a:rPr lang="en-US" altLang="ko-KR" sz="800" b="1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 </a:t>
              </a:r>
              <a:r>
                <a:rPr lang="ko-KR" altLang="en-US" sz="800" b="1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예비가</a:t>
              </a: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CCAA1FF5-AD97-FE1E-0EB5-9E56C2AA006F}"/>
                </a:ext>
              </a:extLst>
            </p:cNvPr>
            <p:cNvSpPr/>
            <p:nvPr/>
          </p:nvSpPr>
          <p:spPr>
            <a:xfrm>
              <a:off x="5753583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06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최종 점검</a:t>
              </a:r>
              <a:endPara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4912C517-70F5-B05E-92A7-53CBD7E3A68C}"/>
                </a:ext>
              </a:extLst>
            </p:cNvPr>
            <p:cNvSpPr/>
            <p:nvPr/>
          </p:nvSpPr>
          <p:spPr>
            <a:xfrm>
              <a:off x="6853832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07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등록 완료</a:t>
              </a:r>
              <a:endPara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0A34D303-04B6-BAFC-04D2-9E08570C9E1C}"/>
                </a:ext>
              </a:extLst>
            </p:cNvPr>
            <p:cNvSpPr/>
            <p:nvPr/>
          </p:nvSpPr>
          <p:spPr>
            <a:xfrm>
              <a:off x="4653337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72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05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 참여 서류</a:t>
              </a:r>
            </a:p>
          </p:txBody>
        </p:sp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A3CC0A38-BE1A-46DE-A5D6-C154A08AD08B}"/>
                </a:ext>
              </a:extLst>
            </p:cNvPr>
            <p:cNvSpPr/>
            <p:nvPr/>
          </p:nvSpPr>
          <p:spPr>
            <a:xfrm>
              <a:off x="252353" y="826923"/>
              <a:ext cx="1027647" cy="643315"/>
            </a:xfrm>
            <a:prstGeom prst="rect">
              <a:avLst/>
            </a:prstGeom>
            <a:solidFill>
              <a:srgbClr val="FFC000">
                <a:alpha val="69804"/>
              </a:srgb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01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발주계획 정보 확인</a:t>
              </a:r>
              <a:endPara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791E5CA9-6F61-40C3-79D2-D937E9CE2C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5728271"/>
              </p:ext>
            </p:extLst>
          </p:nvPr>
        </p:nvGraphicFramePr>
        <p:xfrm>
          <a:off x="164467" y="1556402"/>
          <a:ext cx="7713518" cy="675840"/>
        </p:xfrm>
        <a:graphic>
          <a:graphicData uri="http://schemas.openxmlformats.org/drawingml/2006/table">
            <a:tbl>
              <a:tblPr firstRow="1" bandRow="1"/>
              <a:tblGrid>
                <a:gridCol w="76858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697305">
                  <a:extLst>
                    <a:ext uri="{9D8B030D-6E8A-4147-A177-3AD203B41FA5}">
                      <a16:colId xmlns:a16="http://schemas.microsoft.com/office/drawing/2014/main" val="2016786680"/>
                    </a:ext>
                  </a:extLst>
                </a:gridCol>
                <a:gridCol w="479276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785871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631832">
                  <a:extLst>
                    <a:ext uri="{9D8B030D-6E8A-4147-A177-3AD203B41FA5}">
                      <a16:colId xmlns:a16="http://schemas.microsoft.com/office/drawing/2014/main" val="3053194834"/>
                    </a:ext>
                  </a:extLst>
                </a:gridCol>
                <a:gridCol w="289686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915335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997491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574071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574071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등록일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본공고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작성중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 중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2026.07.22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2FFAAA80-D93F-4431-F82C-9E40CC82985B}"/>
              </a:ext>
            </a:extLst>
          </p:cNvPr>
          <p:cNvSpPr/>
          <p:nvPr/>
        </p:nvSpPr>
        <p:spPr>
          <a:xfrm>
            <a:off x="183392" y="2321112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발주계획 기본정보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01018A03-0422-3747-EDDB-E54F85B14D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376022"/>
              </p:ext>
            </p:extLst>
          </p:nvPr>
        </p:nvGraphicFramePr>
        <p:xfrm>
          <a:off x="164467" y="2619285"/>
          <a:ext cx="7740859" cy="3973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53591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387268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7438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발주계약 요청번호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PR2026-0003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724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발주계약 품의번호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PPW2026-0029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64422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처리상태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작성중</a:t>
                      </a:r>
                      <a:endParaRPr lang="ko-KR" altLang="en-US" sz="800" b="0" spc="-5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69958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건명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서초동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1601-9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오피스텔 신축공사 중 습식공사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30657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품의일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2026.06.05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84718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요청일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2026.06.01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33570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계약예정일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2026.07.31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00273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53941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수주계약정보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·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수주계약번호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: 160011612-01-31-C</a:t>
                      </a: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·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수주계약명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: GE-4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에너지효율화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(ID Fan VVVF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설치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사업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·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수주계약일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: 2026.12.23</a:t>
                      </a: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·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수주계약업체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: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군장에너지주식회사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777443"/>
                  </a:ext>
                </a:extLst>
              </a:tr>
            </a:tbl>
          </a:graphicData>
        </a:graphic>
      </p:graphicFrame>
      <p:sp>
        <p:nvSpPr>
          <p:cNvPr id="14" name="타원 13">
            <a:extLst>
              <a:ext uri="{FF2B5EF4-FFF2-40B4-BE49-F238E27FC236}">
                <a16:creationId xmlns:a16="http://schemas.microsoft.com/office/drawing/2014/main" id="{9CF18F80-8A48-B2CB-2F93-DC05CE69B416}"/>
              </a:ext>
            </a:extLst>
          </p:cNvPr>
          <p:cNvSpPr/>
          <p:nvPr/>
        </p:nvSpPr>
        <p:spPr>
          <a:xfrm>
            <a:off x="60738" y="2527485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EAE75E07-3471-3B1B-45E7-5EEBB528AD8E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5509063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A93602-86EA-62F3-0662-68778A2F25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A0A4510A-2754-315A-6ED4-40489D9966A2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C70DA19-8F1F-216A-1875-3D83D9DB2B26}"/>
              </a:ext>
            </a:extLst>
          </p:cNvPr>
          <p:cNvSpPr txBox="1"/>
          <p:nvPr/>
        </p:nvSpPr>
        <p:spPr>
          <a:xfrm>
            <a:off x="749224" y="25608"/>
            <a:ext cx="314380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설정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발주계획 정보 확인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1722D4E-47C1-078E-B4DE-7F012107A266}"/>
              </a:ext>
            </a:extLst>
          </p:cNvPr>
          <p:cNvSpPr txBox="1"/>
          <p:nvPr/>
        </p:nvSpPr>
        <p:spPr>
          <a:xfrm>
            <a:off x="8049344" y="584684"/>
            <a:ext cx="1856656" cy="5570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발주계획에서 계약방법이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수의계약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인 건은 입찰관리의 목록으로 넘어오지 않음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41" name="표 40">
            <a:extLst>
              <a:ext uri="{FF2B5EF4-FFF2-40B4-BE49-F238E27FC236}">
                <a16:creationId xmlns:a16="http://schemas.microsoft.com/office/drawing/2014/main" id="{B79E3E02-7394-C263-EF40-85A36748B5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1085798"/>
              </p:ext>
            </p:extLst>
          </p:nvPr>
        </p:nvGraphicFramePr>
        <p:xfrm>
          <a:off x="164467" y="387419"/>
          <a:ext cx="7740859" cy="67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53591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387268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사업담당자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2521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계약담당자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493378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84765F1-40E9-F7F8-B673-B12665E4041B}"/>
              </a:ext>
            </a:extLst>
          </p:cNvPr>
          <p:cNvSpPr/>
          <p:nvPr/>
        </p:nvSpPr>
        <p:spPr>
          <a:xfrm>
            <a:off x="183392" y="1143496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발주계획 체크리스트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C244145F-6F80-5E74-3640-619F0FE75D06}"/>
              </a:ext>
            </a:extLst>
          </p:cNvPr>
          <p:cNvSpPr/>
          <p:nvPr/>
        </p:nvSpPr>
        <p:spPr>
          <a:xfrm>
            <a:off x="183392" y="1422902"/>
            <a:ext cx="5741716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결재 관련 정보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9E31F8C6-CF31-BB5C-20CD-DC17D232759C}"/>
              </a:ext>
            </a:extLst>
          </p:cNvPr>
          <p:cNvSpPr/>
          <p:nvPr/>
        </p:nvSpPr>
        <p:spPr>
          <a:xfrm>
            <a:off x="183392" y="2694668"/>
            <a:ext cx="5741716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발주계획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세부정보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E44D087D-52C3-B613-3F8A-4CB508EFCF49}"/>
              </a:ext>
            </a:extLst>
          </p:cNvPr>
          <p:cNvGraphicFramePr>
            <a:graphicFrameLocks noGrp="1"/>
          </p:cNvGraphicFramePr>
          <p:nvPr/>
        </p:nvGraphicFramePr>
        <p:xfrm>
          <a:off x="179901" y="1679215"/>
          <a:ext cx="7717011" cy="919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68743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48268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결재문서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추진안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일상감사의견서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30657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결재문서 등록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·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등록된 파일명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#1.pdf  </a:t>
                      </a:r>
                      <a:b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b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·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등록된 파일명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#2.pdf  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3357048"/>
                  </a:ext>
                </a:extLst>
              </a:tr>
            </a:tbl>
          </a:graphicData>
        </a:graphic>
      </p:graphicFrame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5744DCFF-7A9C-D713-5745-9658A4B7D405}"/>
              </a:ext>
            </a:extLst>
          </p:cNvPr>
          <p:cNvGraphicFramePr>
            <a:graphicFrameLocks noGrp="1"/>
          </p:cNvGraphicFramePr>
          <p:nvPr/>
        </p:nvGraphicFramePr>
        <p:xfrm>
          <a:off x="164467" y="2970628"/>
          <a:ext cx="7776865" cy="2365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79418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97447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추정금액 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94,490,000 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구천사백사십구만원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 VAT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포함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724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계약기간 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pc="-5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2026.07.20 ~ 2027.07.30</a:t>
                      </a:r>
                      <a:endParaRPr lang="ko-KR" altLang="en-US" sz="800" b="0" spc="-5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69958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납품장소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현장 내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30657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계약이행 </a:t>
                      </a:r>
                      <a:r>
                        <a:rPr kumimoji="0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보증금률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10%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33570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하자이행 </a:t>
                      </a:r>
                      <a:r>
                        <a:rPr kumimoji="0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보증금률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3%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00273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하자이행 기간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53941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계약방법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6307130"/>
                  </a:ext>
                </a:extLst>
              </a:tr>
            </a:tbl>
          </a:graphicData>
        </a:graphic>
      </p:graphicFrame>
      <p:sp>
        <p:nvSpPr>
          <p:cNvPr id="20" name="직사각형 19">
            <a:extLst>
              <a:ext uri="{FF2B5EF4-FFF2-40B4-BE49-F238E27FC236}">
                <a16:creationId xmlns:a16="http://schemas.microsoft.com/office/drawing/2014/main" id="{898D64C8-E28C-3568-5A15-EAB5F480F5A7}"/>
              </a:ext>
            </a:extLst>
          </p:cNvPr>
          <p:cNvSpPr/>
          <p:nvPr/>
        </p:nvSpPr>
        <p:spPr>
          <a:xfrm>
            <a:off x="2909398" y="2080904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바로보기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4738B49A-684F-214F-F9CE-C02935D79B86}"/>
              </a:ext>
            </a:extLst>
          </p:cNvPr>
          <p:cNvSpPr/>
          <p:nvPr/>
        </p:nvSpPr>
        <p:spPr>
          <a:xfrm>
            <a:off x="3572235" y="2080904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다운로드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13B7C60A-3A81-5F14-A71C-C714CE600978}"/>
              </a:ext>
            </a:extLst>
          </p:cNvPr>
          <p:cNvSpPr/>
          <p:nvPr/>
        </p:nvSpPr>
        <p:spPr>
          <a:xfrm>
            <a:off x="2909398" y="2348244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바로보기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822577F6-7338-70E0-A05F-C87F089488A3}"/>
              </a:ext>
            </a:extLst>
          </p:cNvPr>
          <p:cNvSpPr/>
          <p:nvPr/>
        </p:nvSpPr>
        <p:spPr>
          <a:xfrm>
            <a:off x="3572235" y="2348244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다운로드</a:t>
            </a: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A12A9FB4-566D-4B8A-E503-503911D885B0}"/>
              </a:ext>
            </a:extLst>
          </p:cNvPr>
          <p:cNvGraphicFramePr>
            <a:graphicFrameLocks noGrp="1"/>
          </p:cNvGraphicFramePr>
          <p:nvPr/>
        </p:nvGraphicFramePr>
        <p:xfrm>
          <a:off x="164467" y="5332385"/>
          <a:ext cx="7776865" cy="337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79418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97447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낙찰자 선정방법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147291"/>
                  </a:ext>
                </a:extLst>
              </a:tr>
            </a:tbl>
          </a:graphicData>
        </a:graphic>
      </p:graphicFrame>
      <p:sp>
        <p:nvSpPr>
          <p:cNvPr id="3" name="타원 2">
            <a:extLst>
              <a:ext uri="{FF2B5EF4-FFF2-40B4-BE49-F238E27FC236}">
                <a16:creationId xmlns:a16="http://schemas.microsoft.com/office/drawing/2014/main" id="{D899087E-FDB1-BA25-4465-B296D9448E4C}"/>
              </a:ext>
            </a:extLst>
          </p:cNvPr>
          <p:cNvSpPr/>
          <p:nvPr/>
        </p:nvSpPr>
        <p:spPr>
          <a:xfrm>
            <a:off x="124854" y="4931049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F4AD2BED-93F3-2567-5408-19F44275D4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4348431"/>
              </p:ext>
            </p:extLst>
          </p:nvPr>
        </p:nvGraphicFramePr>
        <p:xfrm>
          <a:off x="164410" y="5649246"/>
          <a:ext cx="7776865" cy="337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79418">
                  <a:extLst>
                    <a:ext uri="{9D8B030D-6E8A-4147-A177-3AD203B41FA5}">
                      <a16:colId xmlns:a16="http://schemas.microsoft.com/office/drawing/2014/main" val="2245626066"/>
                    </a:ext>
                  </a:extLst>
                </a:gridCol>
                <a:gridCol w="6197447">
                  <a:extLst>
                    <a:ext uri="{9D8B030D-6E8A-4147-A177-3AD203B41FA5}">
                      <a16:colId xmlns:a16="http://schemas.microsoft.com/office/drawing/2014/main" val="357056325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참가자격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제주도 관내 본사를 두고 있는 사업자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9842769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559333A8-13A5-D217-A0B2-9507D0A932A5}"/>
              </a:ext>
            </a:extLst>
          </p:cNvPr>
          <p:cNvSpPr/>
          <p:nvPr/>
        </p:nvSpPr>
        <p:spPr>
          <a:xfrm>
            <a:off x="0" y="6687799"/>
            <a:ext cx="8049344" cy="18002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계속</a:t>
            </a:r>
          </a:p>
        </p:txBody>
      </p:sp>
    </p:spTree>
    <p:extLst>
      <p:ext uri="{BB962C8B-B14F-4D97-AF65-F5344CB8AC3E}">
        <p14:creationId xmlns:p14="http://schemas.microsoft.com/office/powerpoint/2010/main" val="285866370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625A95-C766-F09E-9A63-D8BC5A3EAA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0FD16B22-6EE9-1A00-7783-003CC74C8C36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EE4A468-DD26-20C3-ACE0-C14F63B25B16}"/>
              </a:ext>
            </a:extLst>
          </p:cNvPr>
          <p:cNvSpPr txBox="1"/>
          <p:nvPr/>
        </p:nvSpPr>
        <p:spPr>
          <a:xfrm>
            <a:off x="749224" y="25608"/>
            <a:ext cx="314380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설정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발주계획 정보 확인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0CC2E7E-1B8C-AA48-A9B4-5FECA1BC16C2}"/>
              </a:ext>
            </a:extLst>
          </p:cNvPr>
          <p:cNvSpPr txBox="1"/>
          <p:nvPr/>
        </p:nvSpPr>
        <p:spPr>
          <a:xfrm>
            <a:off x="8049344" y="572346"/>
            <a:ext cx="1856656" cy="5570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해당 입찰 건을 예정가로 할 것인가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예비가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낙찰하한가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로 할 것인가가 발주계획에서 설정되어 있음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4CF3ACD9-FC3F-A4C6-2ACB-23387AF8AE74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5EED8085-F7E5-5B69-95EF-D39E59326F7D}"/>
              </a:ext>
            </a:extLst>
          </p:cNvPr>
          <p:cNvGraphicFramePr>
            <a:graphicFrameLocks noGrp="1"/>
          </p:cNvGraphicFramePr>
          <p:nvPr/>
        </p:nvGraphicFramePr>
        <p:xfrm>
          <a:off x="164410" y="400476"/>
          <a:ext cx="7776865" cy="1013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79418">
                  <a:extLst>
                    <a:ext uri="{9D8B030D-6E8A-4147-A177-3AD203B41FA5}">
                      <a16:colId xmlns:a16="http://schemas.microsoft.com/office/drawing/2014/main" val="2245626066"/>
                    </a:ext>
                  </a:extLst>
                </a:gridCol>
                <a:gridCol w="6197447">
                  <a:extLst>
                    <a:ext uri="{9D8B030D-6E8A-4147-A177-3AD203B41FA5}">
                      <a16:colId xmlns:a16="http://schemas.microsoft.com/office/drawing/2014/main" val="357056325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예정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예비가격 결정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예비가  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29719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예정가격 결정자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사장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본부장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58458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 </a:t>
                      </a:r>
                      <a:r>
                        <a:rPr kumimoji="0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보증금률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5%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8668122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702EFBA8-7047-0B90-8265-335A6543F70F}"/>
              </a:ext>
            </a:extLst>
          </p:cNvPr>
          <p:cNvSpPr/>
          <p:nvPr/>
        </p:nvSpPr>
        <p:spPr>
          <a:xfrm>
            <a:off x="183392" y="1509754"/>
            <a:ext cx="5741716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계약업체 면허 설정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FD7C28EB-BC22-9468-1339-58A8C55BD381}"/>
              </a:ext>
            </a:extLst>
          </p:cNvPr>
          <p:cNvGraphicFramePr>
            <a:graphicFrameLocks noGrp="1"/>
          </p:cNvGraphicFramePr>
          <p:nvPr/>
        </p:nvGraphicFramePr>
        <p:xfrm>
          <a:off x="164467" y="1803489"/>
          <a:ext cx="7776865" cy="67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79418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97447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종합건설업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■ 건축설계 및 시공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724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전문건설업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■ 도장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습식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방수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석공 사업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6995847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6A5C0DF0-85E7-2D54-F1BD-00F3C27D4936}"/>
              </a:ext>
            </a:extLst>
          </p:cNvPr>
          <p:cNvSpPr/>
          <p:nvPr/>
        </p:nvSpPr>
        <p:spPr>
          <a:xfrm>
            <a:off x="164467" y="2573917"/>
            <a:ext cx="5741716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첨부 서류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9B91AB5E-DF7C-9D3F-69B0-B26C8E2EF004}"/>
              </a:ext>
            </a:extLst>
          </p:cNvPr>
          <p:cNvGraphicFramePr>
            <a:graphicFrameLocks noGrp="1"/>
          </p:cNvGraphicFramePr>
          <p:nvPr/>
        </p:nvGraphicFramePr>
        <p:xfrm>
          <a:off x="164467" y="2876761"/>
          <a:ext cx="7776865" cy="1407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79418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97447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용역</a:t>
                      </a:r>
                      <a:endPara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원가계산서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(or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산출내역서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), </a:t>
                      </a:r>
                      <a:b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</a:b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과업지시서 등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#1.pdf  </a:t>
                      </a: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</a:b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</a:b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#2.pdf </a:t>
                      </a: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</a:b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</a:b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#1.pdf  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724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기타 서류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#1.pdf  </a:t>
                      </a: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</a:b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</a:b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#2.pdf  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6995847"/>
                  </a:ext>
                </a:extLst>
              </a:tr>
            </a:tbl>
          </a:graphicData>
        </a:graphic>
      </p:graphicFrame>
      <p:sp>
        <p:nvSpPr>
          <p:cNvPr id="23" name="직사각형 22">
            <a:extLst>
              <a:ext uri="{FF2B5EF4-FFF2-40B4-BE49-F238E27FC236}">
                <a16:creationId xmlns:a16="http://schemas.microsoft.com/office/drawing/2014/main" id="{F1F34162-1825-069F-BF63-0E8C18990D2C}"/>
              </a:ext>
            </a:extLst>
          </p:cNvPr>
          <p:cNvSpPr/>
          <p:nvPr/>
        </p:nvSpPr>
        <p:spPr>
          <a:xfrm>
            <a:off x="2909398" y="2934068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바로보기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A556622D-29C1-B5F2-C1D1-DA268C8A173E}"/>
              </a:ext>
            </a:extLst>
          </p:cNvPr>
          <p:cNvSpPr/>
          <p:nvPr/>
        </p:nvSpPr>
        <p:spPr>
          <a:xfrm>
            <a:off x="3572235" y="2934068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다운로드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5882F209-7549-F472-BCB1-89AE55308E1B}"/>
              </a:ext>
            </a:extLst>
          </p:cNvPr>
          <p:cNvSpPr/>
          <p:nvPr/>
        </p:nvSpPr>
        <p:spPr>
          <a:xfrm>
            <a:off x="2909398" y="3184156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바로보기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CEC6C169-B877-68B3-CE79-D20723B2A7C2}"/>
              </a:ext>
            </a:extLst>
          </p:cNvPr>
          <p:cNvSpPr/>
          <p:nvPr/>
        </p:nvSpPr>
        <p:spPr>
          <a:xfrm>
            <a:off x="3572235" y="3184156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다운로드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673D816-3C55-CCA3-26EA-6A146DA2A5A0}"/>
              </a:ext>
            </a:extLst>
          </p:cNvPr>
          <p:cNvSpPr/>
          <p:nvPr/>
        </p:nvSpPr>
        <p:spPr>
          <a:xfrm>
            <a:off x="2909398" y="3434244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바로보기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B81DF2CC-DD51-B933-3822-4BE3214E3ED7}"/>
              </a:ext>
            </a:extLst>
          </p:cNvPr>
          <p:cNvSpPr/>
          <p:nvPr/>
        </p:nvSpPr>
        <p:spPr>
          <a:xfrm>
            <a:off x="3572235" y="3434244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다운로드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B8DC9C5-BDB0-D716-7922-A1613C1C7B12}"/>
              </a:ext>
            </a:extLst>
          </p:cNvPr>
          <p:cNvSpPr/>
          <p:nvPr/>
        </p:nvSpPr>
        <p:spPr>
          <a:xfrm>
            <a:off x="2909398" y="3761681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바로보기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05C00214-DB88-3004-9A24-99EF7784A6B8}"/>
              </a:ext>
            </a:extLst>
          </p:cNvPr>
          <p:cNvSpPr/>
          <p:nvPr/>
        </p:nvSpPr>
        <p:spPr>
          <a:xfrm>
            <a:off x="3572235" y="3761681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다운로드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C09C8605-AD31-EC8D-70CF-B6B360E6844A}"/>
              </a:ext>
            </a:extLst>
          </p:cNvPr>
          <p:cNvSpPr/>
          <p:nvPr/>
        </p:nvSpPr>
        <p:spPr>
          <a:xfrm>
            <a:off x="2909398" y="4029021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바로보기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0D0DA09-0B7A-5B5F-250D-C15E93C6D2B5}"/>
              </a:ext>
            </a:extLst>
          </p:cNvPr>
          <p:cNvSpPr/>
          <p:nvPr/>
        </p:nvSpPr>
        <p:spPr>
          <a:xfrm>
            <a:off x="3572235" y="4029021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다운로드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664A7763-8540-DF8A-B4B5-30F62AE7E636}"/>
              </a:ext>
            </a:extLst>
          </p:cNvPr>
          <p:cNvSpPr/>
          <p:nvPr/>
        </p:nvSpPr>
        <p:spPr>
          <a:xfrm>
            <a:off x="183392" y="4379400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품목 정보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51" name="표 50">
            <a:extLst>
              <a:ext uri="{FF2B5EF4-FFF2-40B4-BE49-F238E27FC236}">
                <a16:creationId xmlns:a16="http://schemas.microsoft.com/office/drawing/2014/main" id="{F999DA35-B045-B5B9-F7E2-2B5428CDD993}"/>
              </a:ext>
            </a:extLst>
          </p:cNvPr>
          <p:cNvGraphicFramePr>
            <a:graphicFrameLocks noGrp="1"/>
          </p:cNvGraphicFramePr>
          <p:nvPr/>
        </p:nvGraphicFramePr>
        <p:xfrm>
          <a:off x="171333" y="4682297"/>
          <a:ext cx="8974023" cy="675840"/>
        </p:xfrm>
        <a:graphic>
          <a:graphicData uri="http://schemas.openxmlformats.org/drawingml/2006/table">
            <a:tbl>
              <a:tblPr firstRow="1" bandRow="1"/>
              <a:tblGrid>
                <a:gridCol w="258001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97482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2113525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2317117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316734">
                  <a:extLst>
                    <a:ext uri="{9D8B030D-6E8A-4147-A177-3AD203B41FA5}">
                      <a16:colId xmlns:a16="http://schemas.microsoft.com/office/drawing/2014/main" val="3053194834"/>
                    </a:ext>
                  </a:extLst>
                </a:gridCol>
                <a:gridCol w="302079">
                  <a:extLst>
                    <a:ext uri="{9D8B030D-6E8A-4147-A177-3AD203B41FA5}">
                      <a16:colId xmlns:a16="http://schemas.microsoft.com/office/drawing/2014/main" val="419952432"/>
                    </a:ext>
                  </a:extLst>
                </a:gridCol>
                <a:gridCol w="714047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481575">
                  <a:extLst>
                    <a:ext uri="{9D8B030D-6E8A-4147-A177-3AD203B41FA5}">
                      <a16:colId xmlns:a16="http://schemas.microsoft.com/office/drawing/2014/main" val="3408856969"/>
                    </a:ext>
                  </a:extLst>
                </a:gridCol>
                <a:gridCol w="1773463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No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품목코드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품목명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규격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단위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수량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납기요청일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입고장소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비고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-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서초동 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1601-9 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오피스텔 신축공사 중 도장공사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품목구성방법이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‘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지정항목작성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’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인 경우에 등록됨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2026.07.31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현장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품목등록의 비고에 들어간 내용입니다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.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53" name="직사각형 52">
            <a:extLst>
              <a:ext uri="{FF2B5EF4-FFF2-40B4-BE49-F238E27FC236}">
                <a16:creationId xmlns:a16="http://schemas.microsoft.com/office/drawing/2014/main" id="{93AAE394-A16A-1DAD-659D-908A9B0C8B64}"/>
              </a:ext>
            </a:extLst>
          </p:cNvPr>
          <p:cNvSpPr/>
          <p:nvPr/>
        </p:nvSpPr>
        <p:spPr>
          <a:xfrm>
            <a:off x="164467" y="5486151"/>
            <a:ext cx="699418" cy="288032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목록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38C743A5-EF2E-F488-C7D4-2FF2788DC13A}"/>
              </a:ext>
            </a:extLst>
          </p:cNvPr>
          <p:cNvSpPr/>
          <p:nvPr/>
        </p:nvSpPr>
        <p:spPr>
          <a:xfrm>
            <a:off x="60738" y="328411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3889108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D155A8-F1DE-02E7-057A-A07E10B9A8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F3FDB8F3-079B-48FB-77AD-372612FD1CB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42C7B4D-59BE-63FB-7949-EB571961D2E9}"/>
              </a:ext>
            </a:extLst>
          </p:cNvPr>
          <p:cNvSpPr txBox="1"/>
          <p:nvPr/>
        </p:nvSpPr>
        <p:spPr>
          <a:xfrm>
            <a:off x="749224" y="25608"/>
            <a:ext cx="311495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설정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상세정보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3B088A2-DB04-DDFA-384F-E6E4FFDFA99A}"/>
              </a:ext>
            </a:extLst>
          </p:cNvPr>
          <p:cNvSpPr txBox="1"/>
          <p:nvPr/>
        </p:nvSpPr>
        <p:spPr>
          <a:xfrm>
            <a:off x="8049344" y="584684"/>
            <a:ext cx="1856656" cy="12741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신규로 추가된 항목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입찰공고가 협력업체에게 공개되는 기간을 의미함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물론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시작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마감 일시 기간이 아니면 입찰 참여는 할 수 없음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현장설명회가 있는 경우에만 아래 항목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날짜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시간 지정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활성화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DC59B60F-97C2-D6B7-86C1-5288DE06D3F0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90CFBB7E-50B1-23C1-C880-3A8BE8CD6D29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6F052C58-7036-F37D-E0F0-67C739F50C1A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13E79397-59DD-04EC-8364-94B7F510B981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7465F83-39CD-E9FD-7C29-07A90C48523B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672840B7-0F79-DB94-156B-0F5C3400FC76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8" name="Picture 1">
            <a:extLst>
              <a:ext uri="{FF2B5EF4-FFF2-40B4-BE49-F238E27FC236}">
                <a16:creationId xmlns:a16="http://schemas.microsoft.com/office/drawing/2014/main" id="{3C2A5578-60BD-F7FC-CA4A-D6C5D70CB12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grpSp>
        <p:nvGrpSpPr>
          <p:cNvPr id="38" name="그룹 37">
            <a:extLst>
              <a:ext uri="{FF2B5EF4-FFF2-40B4-BE49-F238E27FC236}">
                <a16:creationId xmlns:a16="http://schemas.microsoft.com/office/drawing/2014/main" id="{D1D6DE1B-4EEB-D6A3-A668-F787682A9019}"/>
              </a:ext>
            </a:extLst>
          </p:cNvPr>
          <p:cNvGrpSpPr/>
          <p:nvPr/>
        </p:nvGrpSpPr>
        <p:grpSpPr>
          <a:xfrm>
            <a:off x="164467" y="826923"/>
            <a:ext cx="7717012" cy="643315"/>
            <a:chOff x="252353" y="826923"/>
            <a:chExt cx="7629126" cy="643315"/>
          </a:xfrm>
        </p:grpSpPr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D54DFE56-549E-8A1B-E445-6ABF4B9A91A3}"/>
                </a:ext>
              </a:extLst>
            </p:cNvPr>
            <p:cNvSpPr/>
            <p:nvPr/>
          </p:nvSpPr>
          <p:spPr>
            <a:xfrm>
              <a:off x="1352599" y="826923"/>
              <a:ext cx="1027647" cy="643315"/>
            </a:xfrm>
            <a:prstGeom prst="rect">
              <a:avLst/>
            </a:prstGeom>
            <a:solidFill>
              <a:srgbClr val="FFC000">
                <a:alpha val="69804"/>
              </a:srgb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02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상세정보</a:t>
              </a:r>
              <a:endPara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B8D9863B-CE7D-A788-2B65-A24E3ABBED23}"/>
                </a:ext>
              </a:extLst>
            </p:cNvPr>
            <p:cNvSpPr/>
            <p:nvPr/>
          </p:nvSpPr>
          <p:spPr>
            <a:xfrm>
              <a:off x="2452845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03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심사</a:t>
              </a:r>
              <a:r>
                <a:rPr lang="en-US" altLang="ko-KR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</a:t>
              </a: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평가 계획</a:t>
              </a:r>
            </a:p>
          </p:txBody>
        </p: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E3ABD50F-080A-640B-23F0-47977D551F81}"/>
                </a:ext>
              </a:extLst>
            </p:cNvPr>
            <p:cNvSpPr/>
            <p:nvPr/>
          </p:nvSpPr>
          <p:spPr>
            <a:xfrm>
              <a:off x="3553091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04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b="1" spc="-5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예정가</a:t>
              </a:r>
              <a:r>
                <a:rPr lang="ko-KR" altLang="en-US" sz="800" b="1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</a:t>
              </a:r>
              <a:r>
                <a:rPr lang="en-US" altLang="ko-KR" sz="800" b="1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 </a:t>
              </a:r>
              <a:r>
                <a:rPr lang="ko-KR" altLang="en-US" sz="800" b="1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예비가</a:t>
              </a: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AACCA619-F02F-15A3-B853-8C19DAE5D5AB}"/>
                </a:ext>
              </a:extLst>
            </p:cNvPr>
            <p:cNvSpPr/>
            <p:nvPr/>
          </p:nvSpPr>
          <p:spPr>
            <a:xfrm>
              <a:off x="5753583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06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최종 점검</a:t>
              </a:r>
              <a:endPara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41579DEE-D6B4-7FDB-42B3-24BD098AAE86}"/>
                </a:ext>
              </a:extLst>
            </p:cNvPr>
            <p:cNvSpPr/>
            <p:nvPr/>
          </p:nvSpPr>
          <p:spPr>
            <a:xfrm>
              <a:off x="6853832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07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등록 완료</a:t>
              </a:r>
              <a:endPara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78DD46AE-7981-26F6-E813-543D907C420C}"/>
                </a:ext>
              </a:extLst>
            </p:cNvPr>
            <p:cNvSpPr/>
            <p:nvPr/>
          </p:nvSpPr>
          <p:spPr>
            <a:xfrm>
              <a:off x="4653337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72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05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 참여 서류</a:t>
              </a:r>
            </a:p>
          </p:txBody>
        </p:sp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8B2DA000-30D8-7A82-4C37-91A591BF7775}"/>
                </a:ext>
              </a:extLst>
            </p:cNvPr>
            <p:cNvSpPr/>
            <p:nvPr/>
          </p:nvSpPr>
          <p:spPr>
            <a:xfrm>
              <a:off x="252353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01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발주계획 정보 확인</a:t>
              </a:r>
              <a:endPara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02A4E38F-9577-52E8-99A4-8C6FAB1523D7}"/>
              </a:ext>
            </a:extLst>
          </p:cNvPr>
          <p:cNvSpPr/>
          <p:nvPr/>
        </p:nvSpPr>
        <p:spPr>
          <a:xfrm>
            <a:off x="183392" y="2331238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상세정보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FC0F9550-0FE6-AF8A-D9CF-F70EFE96A71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2234996"/>
              </p:ext>
            </p:extLst>
          </p:nvPr>
        </p:nvGraphicFramePr>
        <p:xfrm>
          <a:off x="164467" y="2629411"/>
          <a:ext cx="7740859" cy="1501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4177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56682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 시작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마감일시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                                                                                                    ~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14883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입찰공고 게시기간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○ 입찰 시작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마감기간과 동일     ○ 입찰공고 게시기간 수동 설정</a:t>
                      </a:r>
                      <a:b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b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                                                                                                    ~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630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현장설명회 일시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○ 현장설명회 없음     ○ 현장설명회 있음</a:t>
                      </a:r>
                      <a:b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b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8892629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FC266D68-AF7C-399E-249E-CCD3EFE251FB}"/>
              </a:ext>
            </a:extLst>
          </p:cNvPr>
          <p:cNvSpPr/>
          <p:nvPr/>
        </p:nvSpPr>
        <p:spPr>
          <a:xfrm>
            <a:off x="1820225" y="2686944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날짜 선택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554103F2-738E-D5BC-9B0E-CA1A2099B4EF}"/>
              </a:ext>
            </a:extLst>
          </p:cNvPr>
          <p:cNvSpPr/>
          <p:nvPr/>
        </p:nvSpPr>
        <p:spPr>
          <a:xfrm>
            <a:off x="2630476" y="2686944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FC5CCCA0-B5C9-DBAD-4378-C7C6EF35EC98}"/>
              </a:ext>
            </a:extLst>
          </p:cNvPr>
          <p:cNvSpPr/>
          <p:nvPr/>
        </p:nvSpPr>
        <p:spPr>
          <a:xfrm>
            <a:off x="2915894" y="2686944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시간 선택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CFD65F9A-B0B6-2BF0-65D3-5549E5BA1036}"/>
              </a:ext>
            </a:extLst>
          </p:cNvPr>
          <p:cNvSpPr/>
          <p:nvPr/>
        </p:nvSpPr>
        <p:spPr>
          <a:xfrm>
            <a:off x="3515976" y="2686944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79A442A4-BF34-1114-21EF-10C07F6C9C96}"/>
              </a:ext>
            </a:extLst>
          </p:cNvPr>
          <p:cNvSpPr/>
          <p:nvPr/>
        </p:nvSpPr>
        <p:spPr>
          <a:xfrm>
            <a:off x="3809851" y="2686944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분 선택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6E8192C2-365D-A0C3-B3F0-3D17D3EBF798}"/>
              </a:ext>
            </a:extLst>
          </p:cNvPr>
          <p:cNvSpPr/>
          <p:nvPr/>
        </p:nvSpPr>
        <p:spPr>
          <a:xfrm>
            <a:off x="4409933" y="2686944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E43663F3-09A8-197C-0B02-3608A5C38A62}"/>
              </a:ext>
            </a:extLst>
          </p:cNvPr>
          <p:cNvSpPr/>
          <p:nvPr/>
        </p:nvSpPr>
        <p:spPr>
          <a:xfrm>
            <a:off x="4850557" y="2686944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날짜 선택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BD3F6920-ADCC-67AE-6585-9E0AC9BA848F}"/>
              </a:ext>
            </a:extLst>
          </p:cNvPr>
          <p:cNvSpPr/>
          <p:nvPr/>
        </p:nvSpPr>
        <p:spPr>
          <a:xfrm>
            <a:off x="5660808" y="2686944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0DC10F61-C33E-8B97-F8D8-D16D780280E3}"/>
              </a:ext>
            </a:extLst>
          </p:cNvPr>
          <p:cNvSpPr/>
          <p:nvPr/>
        </p:nvSpPr>
        <p:spPr>
          <a:xfrm>
            <a:off x="5946226" y="2686944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시간 선택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0EB48E1B-3070-E82B-3C58-C3C6DADAD2DB}"/>
              </a:ext>
            </a:extLst>
          </p:cNvPr>
          <p:cNvSpPr/>
          <p:nvPr/>
        </p:nvSpPr>
        <p:spPr>
          <a:xfrm>
            <a:off x="6546308" y="2686944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84E13349-8865-1AB9-8A99-CB39CA7B4F70}"/>
              </a:ext>
            </a:extLst>
          </p:cNvPr>
          <p:cNvSpPr/>
          <p:nvPr/>
        </p:nvSpPr>
        <p:spPr>
          <a:xfrm>
            <a:off x="6840183" y="2686944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분 선택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217316D1-B8FE-4995-307E-D0469BE3F050}"/>
              </a:ext>
            </a:extLst>
          </p:cNvPr>
          <p:cNvSpPr/>
          <p:nvPr/>
        </p:nvSpPr>
        <p:spPr>
          <a:xfrm>
            <a:off x="7440265" y="2686944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C59234EB-27B4-4B32-57F3-C590FC817EA6}"/>
              </a:ext>
            </a:extLst>
          </p:cNvPr>
          <p:cNvSpPr/>
          <p:nvPr/>
        </p:nvSpPr>
        <p:spPr>
          <a:xfrm>
            <a:off x="1820225" y="3848038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날짜 선택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F99F45B9-0925-8688-5AC9-8E373B4C0D1E}"/>
              </a:ext>
            </a:extLst>
          </p:cNvPr>
          <p:cNvSpPr/>
          <p:nvPr/>
        </p:nvSpPr>
        <p:spPr>
          <a:xfrm>
            <a:off x="2630476" y="3848038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3F2C951D-3AF4-09A5-D917-411B182F0AD5}"/>
              </a:ext>
            </a:extLst>
          </p:cNvPr>
          <p:cNvSpPr/>
          <p:nvPr/>
        </p:nvSpPr>
        <p:spPr>
          <a:xfrm>
            <a:off x="2915894" y="3848038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시간 선택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F06AEE9A-549E-3894-DA6C-12497108CE7E}"/>
              </a:ext>
            </a:extLst>
          </p:cNvPr>
          <p:cNvSpPr/>
          <p:nvPr/>
        </p:nvSpPr>
        <p:spPr>
          <a:xfrm>
            <a:off x="3515976" y="3848038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D1C3C433-A645-0052-9739-40A31012FDED}"/>
              </a:ext>
            </a:extLst>
          </p:cNvPr>
          <p:cNvSpPr/>
          <p:nvPr/>
        </p:nvSpPr>
        <p:spPr>
          <a:xfrm>
            <a:off x="3809851" y="3848038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분 선택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E3F53198-62A4-A9E4-916F-33BC01ECE02C}"/>
              </a:ext>
            </a:extLst>
          </p:cNvPr>
          <p:cNvSpPr/>
          <p:nvPr/>
        </p:nvSpPr>
        <p:spPr>
          <a:xfrm>
            <a:off x="4409933" y="3848038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BC3C3ED6-80B2-455E-E0E1-BBDC08D1BB4B}"/>
              </a:ext>
            </a:extLst>
          </p:cNvPr>
          <p:cNvSpPr/>
          <p:nvPr/>
        </p:nvSpPr>
        <p:spPr>
          <a:xfrm>
            <a:off x="1820225" y="3273358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날짜 선택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611EDA53-6B7F-2CA5-78FA-59B2EBEE7F88}"/>
              </a:ext>
            </a:extLst>
          </p:cNvPr>
          <p:cNvSpPr/>
          <p:nvPr/>
        </p:nvSpPr>
        <p:spPr>
          <a:xfrm>
            <a:off x="2630476" y="3273358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D8391729-7979-B64E-B648-FF51EE0F0072}"/>
              </a:ext>
            </a:extLst>
          </p:cNvPr>
          <p:cNvSpPr/>
          <p:nvPr/>
        </p:nvSpPr>
        <p:spPr>
          <a:xfrm>
            <a:off x="2915894" y="3273358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시간 선택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911692C3-0BD0-B8B5-CB21-F47D9C57DDF3}"/>
              </a:ext>
            </a:extLst>
          </p:cNvPr>
          <p:cNvSpPr/>
          <p:nvPr/>
        </p:nvSpPr>
        <p:spPr>
          <a:xfrm>
            <a:off x="3515976" y="3273358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03A8179B-AF91-D490-B605-348032B76856}"/>
              </a:ext>
            </a:extLst>
          </p:cNvPr>
          <p:cNvSpPr/>
          <p:nvPr/>
        </p:nvSpPr>
        <p:spPr>
          <a:xfrm>
            <a:off x="3809851" y="3273358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분 선택</a:t>
            </a: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C2CD7EE6-D9D4-F01F-1E13-FAE6DB7CCADC}"/>
              </a:ext>
            </a:extLst>
          </p:cNvPr>
          <p:cNvSpPr/>
          <p:nvPr/>
        </p:nvSpPr>
        <p:spPr>
          <a:xfrm>
            <a:off x="4409933" y="3273358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0251C55C-BCC1-E8A7-48FA-AAC8FD31B510}"/>
              </a:ext>
            </a:extLst>
          </p:cNvPr>
          <p:cNvSpPr/>
          <p:nvPr/>
        </p:nvSpPr>
        <p:spPr>
          <a:xfrm>
            <a:off x="4850557" y="3273358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날짜 선택</a:t>
            </a: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35BF5C6-2E9E-1960-2104-92D101CAA2AE}"/>
              </a:ext>
            </a:extLst>
          </p:cNvPr>
          <p:cNvSpPr/>
          <p:nvPr/>
        </p:nvSpPr>
        <p:spPr>
          <a:xfrm>
            <a:off x="5660808" y="3273358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CB410F35-B3A3-8D1D-3312-B399830B9B69}"/>
              </a:ext>
            </a:extLst>
          </p:cNvPr>
          <p:cNvSpPr/>
          <p:nvPr/>
        </p:nvSpPr>
        <p:spPr>
          <a:xfrm>
            <a:off x="5946226" y="3273358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시간 선택</a:t>
            </a: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0F4ECF96-7474-EE02-189C-32F1AC54E370}"/>
              </a:ext>
            </a:extLst>
          </p:cNvPr>
          <p:cNvSpPr/>
          <p:nvPr/>
        </p:nvSpPr>
        <p:spPr>
          <a:xfrm>
            <a:off x="6546308" y="3273358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85434AA8-CCF7-F2C8-A94C-153758360E1E}"/>
              </a:ext>
            </a:extLst>
          </p:cNvPr>
          <p:cNvSpPr/>
          <p:nvPr/>
        </p:nvSpPr>
        <p:spPr>
          <a:xfrm>
            <a:off x="6840183" y="3273358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분 선택</a:t>
            </a: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A042A227-183C-2A32-BE0E-CA9C1777C61E}"/>
              </a:ext>
            </a:extLst>
          </p:cNvPr>
          <p:cNvSpPr/>
          <p:nvPr/>
        </p:nvSpPr>
        <p:spPr>
          <a:xfrm>
            <a:off x="7440265" y="3273358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111" name="타원 110">
            <a:extLst>
              <a:ext uri="{FF2B5EF4-FFF2-40B4-BE49-F238E27FC236}">
                <a16:creationId xmlns:a16="http://schemas.microsoft.com/office/drawing/2014/main" id="{C0323DD2-5E62-6285-068C-A86DB2315BA6}"/>
              </a:ext>
            </a:extLst>
          </p:cNvPr>
          <p:cNvSpPr/>
          <p:nvPr/>
        </p:nvSpPr>
        <p:spPr>
          <a:xfrm>
            <a:off x="1604201" y="2867043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17" name="표 116">
            <a:extLst>
              <a:ext uri="{FF2B5EF4-FFF2-40B4-BE49-F238E27FC236}">
                <a16:creationId xmlns:a16="http://schemas.microsoft.com/office/drawing/2014/main" id="{E6EF8852-AAF5-B12C-4CF1-67289A36DF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3713354"/>
              </p:ext>
            </p:extLst>
          </p:nvPr>
        </p:nvGraphicFramePr>
        <p:xfrm>
          <a:off x="164467" y="4131828"/>
          <a:ext cx="7776865" cy="2202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79418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97447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입찰공고문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724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입찰참가신청서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93583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입찰보증금지급각서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3165848"/>
                  </a:ext>
                </a:extLst>
              </a:tr>
            </a:tbl>
          </a:graphicData>
        </a:graphic>
      </p:graphicFrame>
      <p:pic>
        <p:nvPicPr>
          <p:cNvPr id="119" name="그림 118">
            <a:extLst>
              <a:ext uri="{FF2B5EF4-FFF2-40B4-BE49-F238E27FC236}">
                <a16:creationId xmlns:a16="http://schemas.microsoft.com/office/drawing/2014/main" id="{D26201FC-BBDA-2D03-68BA-D160BDDA353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03288" y="4186951"/>
            <a:ext cx="6120000" cy="642993"/>
          </a:xfrm>
          <a:prstGeom prst="rect">
            <a:avLst/>
          </a:prstGeom>
        </p:spPr>
      </p:pic>
      <p:pic>
        <p:nvPicPr>
          <p:cNvPr id="121" name="그림 120">
            <a:extLst>
              <a:ext uri="{FF2B5EF4-FFF2-40B4-BE49-F238E27FC236}">
                <a16:creationId xmlns:a16="http://schemas.microsoft.com/office/drawing/2014/main" id="{103D9037-88F6-A1BC-9B99-30349D1D597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03288" y="4918912"/>
            <a:ext cx="6120000" cy="642993"/>
          </a:xfrm>
          <a:prstGeom prst="rect">
            <a:avLst/>
          </a:prstGeom>
        </p:spPr>
      </p:pic>
      <p:pic>
        <p:nvPicPr>
          <p:cNvPr id="123" name="그림 122">
            <a:extLst>
              <a:ext uri="{FF2B5EF4-FFF2-40B4-BE49-F238E27FC236}">
                <a16:creationId xmlns:a16="http://schemas.microsoft.com/office/drawing/2014/main" id="{403C7829-9B0A-E81C-EF8F-9BD880D28A8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03288" y="5650873"/>
            <a:ext cx="6120000" cy="642993"/>
          </a:xfrm>
          <a:prstGeom prst="rect">
            <a:avLst/>
          </a:prstGeom>
        </p:spPr>
      </p:pic>
      <p:sp>
        <p:nvSpPr>
          <p:cNvPr id="157" name="타원 156">
            <a:extLst>
              <a:ext uri="{FF2B5EF4-FFF2-40B4-BE49-F238E27FC236}">
                <a16:creationId xmlns:a16="http://schemas.microsoft.com/office/drawing/2014/main" id="{524ABA34-830E-9858-DC22-C1E9D2D2F9D8}"/>
              </a:ext>
            </a:extLst>
          </p:cNvPr>
          <p:cNvSpPr/>
          <p:nvPr/>
        </p:nvSpPr>
        <p:spPr>
          <a:xfrm>
            <a:off x="1604201" y="3564390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7074E4F-C3A4-1880-0D35-7632D17AD836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계속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E61BF1D8-2F5A-31D0-FC21-5556DB2A94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8067913"/>
              </p:ext>
            </p:extLst>
          </p:nvPr>
        </p:nvGraphicFramePr>
        <p:xfrm>
          <a:off x="164467" y="1556402"/>
          <a:ext cx="7713518" cy="675840"/>
        </p:xfrm>
        <a:graphic>
          <a:graphicData uri="http://schemas.openxmlformats.org/drawingml/2006/table">
            <a:tbl>
              <a:tblPr firstRow="1" bandRow="1"/>
              <a:tblGrid>
                <a:gridCol w="76858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697305">
                  <a:extLst>
                    <a:ext uri="{9D8B030D-6E8A-4147-A177-3AD203B41FA5}">
                      <a16:colId xmlns:a16="http://schemas.microsoft.com/office/drawing/2014/main" val="2016786680"/>
                    </a:ext>
                  </a:extLst>
                </a:gridCol>
                <a:gridCol w="479276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785871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631832">
                  <a:extLst>
                    <a:ext uri="{9D8B030D-6E8A-4147-A177-3AD203B41FA5}">
                      <a16:colId xmlns:a16="http://schemas.microsoft.com/office/drawing/2014/main" val="3053194834"/>
                    </a:ext>
                  </a:extLst>
                </a:gridCol>
                <a:gridCol w="289686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915335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997491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574071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574071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등록일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본공고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작성중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 중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2026.07.22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11" name="직사각형 10">
            <a:extLst>
              <a:ext uri="{FF2B5EF4-FFF2-40B4-BE49-F238E27FC236}">
                <a16:creationId xmlns:a16="http://schemas.microsoft.com/office/drawing/2014/main" id="{F4850552-6D22-4077-FD96-A187F46C55EC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1906638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59B185-9232-C533-25C8-A15B74B7CE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8E27EA54-4312-DB9B-066F-624B2B5A82AB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6AE30FC-13DA-2147-65D9-398657BE08AA}"/>
              </a:ext>
            </a:extLst>
          </p:cNvPr>
          <p:cNvSpPr txBox="1"/>
          <p:nvPr/>
        </p:nvSpPr>
        <p:spPr>
          <a:xfrm>
            <a:off x="749224" y="25608"/>
            <a:ext cx="311495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설정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상세정보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20A9A82-6576-4A0C-102E-EE1D383F0595}"/>
              </a:ext>
            </a:extLst>
          </p:cNvPr>
          <p:cNvSpPr txBox="1"/>
          <p:nvPr/>
        </p:nvSpPr>
        <p:spPr>
          <a:xfrm>
            <a:off x="8049344" y="584684"/>
            <a:ext cx="1856656" cy="60631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계약방법이 ‘경쟁입찰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지명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)’ 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인 경우 아래 입찰참여 가능 업체를 </a:t>
            </a:r>
            <a:r>
              <a:rPr lang="ko-KR" altLang="en-US" sz="800" u="sng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선택해야 함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입찰참여 가능 업체 추가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다음 페이지 팝업 호출</a:t>
            </a:r>
            <a:b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endParaRPr lang="en-US" altLang="ko-KR" sz="80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‘제한적 최저가 입찰’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‘2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분리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)’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인 경우 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u="sng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기간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항목 생성</a:t>
            </a:r>
            <a:endParaRPr lang="en-US" altLang="ko-KR" sz="800" u="sng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제한적 최저가 입찰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’, ‘2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동시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)’, ‘2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분리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)’, ‘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적격심사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의 경우 입력항목이 생성됨</a:t>
            </a:r>
            <a:endParaRPr lang="en-US" altLang="ko-KR" sz="800" u="sng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동점자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처리기준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자동 선택 또는 활성화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제한적 최저가 입찰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기술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가격 동시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 :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자유 선택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가격 분리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 :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기술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적격심사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: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기술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향후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동점자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발생 시 적용해야 함</a:t>
            </a:r>
            <a:b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endParaRPr lang="en-US" altLang="ko-KR" sz="80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평가자는 한 명만 매핑함. (해당 평가자가 취합하여 평가결과 작성)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AS-IS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와 다름</a:t>
            </a:r>
            <a:endParaRPr lang="en-US" altLang="ko-KR" sz="800" u="sng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업체평가 종료일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로 심사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 날짜를 제어할 것이 아니라면 삭제 필요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그대로 두는데 별도의 기능 제한과 연계되지 않음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47" name="표 46">
            <a:extLst>
              <a:ext uri="{FF2B5EF4-FFF2-40B4-BE49-F238E27FC236}">
                <a16:creationId xmlns:a16="http://schemas.microsoft.com/office/drawing/2014/main" id="{7CD29AE8-1EDD-37D2-7916-BF9A6306227A}"/>
              </a:ext>
            </a:extLst>
          </p:cNvPr>
          <p:cNvGraphicFramePr>
            <a:graphicFrameLocks noGrp="1"/>
          </p:cNvGraphicFramePr>
          <p:nvPr/>
        </p:nvGraphicFramePr>
        <p:xfrm>
          <a:off x="164467" y="365691"/>
          <a:ext cx="7776865" cy="1468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79418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97447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시방서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구매견적서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과업지시서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09388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기타서류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3389591"/>
                  </a:ext>
                </a:extLst>
              </a:tr>
            </a:tbl>
          </a:graphicData>
        </a:graphic>
      </p:graphicFrame>
      <p:pic>
        <p:nvPicPr>
          <p:cNvPr id="62" name="그림 61">
            <a:extLst>
              <a:ext uri="{FF2B5EF4-FFF2-40B4-BE49-F238E27FC236}">
                <a16:creationId xmlns:a16="http://schemas.microsoft.com/office/drawing/2014/main" id="{DC97CBB0-E508-7588-F799-2FF9460F929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03288" y="404664"/>
            <a:ext cx="6120000" cy="642993"/>
          </a:xfrm>
          <a:prstGeom prst="rect">
            <a:avLst/>
          </a:prstGeom>
        </p:spPr>
      </p:pic>
      <p:pic>
        <p:nvPicPr>
          <p:cNvPr id="64" name="그림 63">
            <a:extLst>
              <a:ext uri="{FF2B5EF4-FFF2-40B4-BE49-F238E27FC236}">
                <a16:creationId xmlns:a16="http://schemas.microsoft.com/office/drawing/2014/main" id="{1B7CFAEE-9D06-85E2-63D6-06FE7886BBD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03288" y="1136626"/>
            <a:ext cx="6120000" cy="642993"/>
          </a:xfrm>
          <a:prstGeom prst="rect">
            <a:avLst/>
          </a:prstGeom>
        </p:spPr>
      </p:pic>
      <p:sp>
        <p:nvSpPr>
          <p:cNvPr id="65" name="직사각형 64">
            <a:extLst>
              <a:ext uri="{FF2B5EF4-FFF2-40B4-BE49-F238E27FC236}">
                <a16:creationId xmlns:a16="http://schemas.microsoft.com/office/drawing/2014/main" id="{B80BDF41-5122-F192-ED84-607444645FA7}"/>
              </a:ext>
            </a:extLst>
          </p:cNvPr>
          <p:cNvSpPr/>
          <p:nvPr/>
        </p:nvSpPr>
        <p:spPr>
          <a:xfrm>
            <a:off x="183392" y="3587410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9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기간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D65AF61C-8A6A-A159-159C-1A6D63B9CBCA}"/>
              </a:ext>
            </a:extLst>
          </p:cNvPr>
          <p:cNvGraphicFramePr>
            <a:graphicFrameLocks noGrp="1"/>
          </p:cNvGraphicFramePr>
          <p:nvPr/>
        </p:nvGraphicFramePr>
        <p:xfrm>
          <a:off x="164467" y="3857957"/>
          <a:ext cx="7740859" cy="581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4177">
                  <a:extLst>
                    <a:ext uri="{9D8B030D-6E8A-4147-A177-3AD203B41FA5}">
                      <a16:colId xmlns:a16="http://schemas.microsoft.com/office/drawing/2014/main" val="2218358209"/>
                    </a:ext>
                  </a:extLst>
                </a:gridCol>
                <a:gridCol w="6156682">
                  <a:extLst>
                    <a:ext uri="{9D8B030D-6E8A-4147-A177-3AD203B41FA5}">
                      <a16:colId xmlns:a16="http://schemas.microsoft.com/office/drawing/2014/main" val="376649550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가격 </a:t>
                      </a:r>
                      <a:r>
                        <a:rPr kumimoji="0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투찰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기간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※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낙찰자 선정방법이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‘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제한적 최저가 입찰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’, ‘2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단계 경쟁입찰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규격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가격 분리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)’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인 경우 아래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가격투찰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기간을 입력해주세요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</a:t>
                      </a: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</a:b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</a:b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                                                                                                    ~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8832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11154A9-D6CB-4658-776B-4DA74BE42FB9}"/>
              </a:ext>
            </a:extLst>
          </p:cNvPr>
          <p:cNvSpPr/>
          <p:nvPr/>
        </p:nvSpPr>
        <p:spPr>
          <a:xfrm>
            <a:off x="1820225" y="4158271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날짜 선택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B29043EE-C3A3-51B3-5B97-E9C8C0E638FE}"/>
              </a:ext>
            </a:extLst>
          </p:cNvPr>
          <p:cNvSpPr/>
          <p:nvPr/>
        </p:nvSpPr>
        <p:spPr>
          <a:xfrm>
            <a:off x="2630476" y="4158271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F1DF205-527D-E664-5283-B48F14C90444}"/>
              </a:ext>
            </a:extLst>
          </p:cNvPr>
          <p:cNvSpPr/>
          <p:nvPr/>
        </p:nvSpPr>
        <p:spPr>
          <a:xfrm>
            <a:off x="2915894" y="4158271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시간 선택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BEFD0877-C22A-DF02-50F3-40A17CA665FA}"/>
              </a:ext>
            </a:extLst>
          </p:cNvPr>
          <p:cNvSpPr/>
          <p:nvPr/>
        </p:nvSpPr>
        <p:spPr>
          <a:xfrm>
            <a:off x="3515976" y="4158271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B0F4CB00-0D01-B439-62B7-418B2803847D}"/>
              </a:ext>
            </a:extLst>
          </p:cNvPr>
          <p:cNvSpPr/>
          <p:nvPr/>
        </p:nvSpPr>
        <p:spPr>
          <a:xfrm>
            <a:off x="3809851" y="4158271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분 선택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401BAB89-DB0E-8D45-8D21-9CFEF14C293B}"/>
              </a:ext>
            </a:extLst>
          </p:cNvPr>
          <p:cNvSpPr/>
          <p:nvPr/>
        </p:nvSpPr>
        <p:spPr>
          <a:xfrm>
            <a:off x="4409933" y="4158271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B4949E9D-37D0-72D0-9FFE-952B2F492024}"/>
              </a:ext>
            </a:extLst>
          </p:cNvPr>
          <p:cNvSpPr/>
          <p:nvPr/>
        </p:nvSpPr>
        <p:spPr>
          <a:xfrm>
            <a:off x="4850557" y="4158271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날짜 선택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CACCCF1E-735E-E6C7-0EFC-6CEBE58E91F7}"/>
              </a:ext>
            </a:extLst>
          </p:cNvPr>
          <p:cNvSpPr/>
          <p:nvPr/>
        </p:nvSpPr>
        <p:spPr>
          <a:xfrm>
            <a:off x="5660808" y="4158271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2AA15A6F-1127-6A15-E0A0-958A2548D0F5}"/>
              </a:ext>
            </a:extLst>
          </p:cNvPr>
          <p:cNvSpPr/>
          <p:nvPr/>
        </p:nvSpPr>
        <p:spPr>
          <a:xfrm>
            <a:off x="5946226" y="4158271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시간 선택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131F7C42-CF49-C759-1AD5-8487FB532F72}"/>
              </a:ext>
            </a:extLst>
          </p:cNvPr>
          <p:cNvSpPr/>
          <p:nvPr/>
        </p:nvSpPr>
        <p:spPr>
          <a:xfrm>
            <a:off x="6546308" y="4158271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5627CCD4-AD40-C051-6FDE-FB42FB33E069}"/>
              </a:ext>
            </a:extLst>
          </p:cNvPr>
          <p:cNvSpPr/>
          <p:nvPr/>
        </p:nvSpPr>
        <p:spPr>
          <a:xfrm>
            <a:off x="6840183" y="4158271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분 선택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CD1156D8-4A9D-9A9F-A6B5-FFECACBBE209}"/>
              </a:ext>
            </a:extLst>
          </p:cNvPr>
          <p:cNvSpPr/>
          <p:nvPr/>
        </p:nvSpPr>
        <p:spPr>
          <a:xfrm>
            <a:off x="7440265" y="4158271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47C0132-5E94-E7A8-0EC7-886BD162A4A5}"/>
              </a:ext>
            </a:extLst>
          </p:cNvPr>
          <p:cNvSpPr/>
          <p:nvPr/>
        </p:nvSpPr>
        <p:spPr>
          <a:xfrm>
            <a:off x="183392" y="1964517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입찰참여 가능 업체 선택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EF1795F-AC83-C7C3-AB30-EFB4F051A587}"/>
              </a:ext>
            </a:extLst>
          </p:cNvPr>
          <p:cNvGraphicFramePr>
            <a:graphicFrameLocks noGrp="1"/>
          </p:cNvGraphicFramePr>
          <p:nvPr/>
        </p:nvGraphicFramePr>
        <p:xfrm>
          <a:off x="164467" y="2235064"/>
          <a:ext cx="7740859" cy="1221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4177">
                  <a:extLst>
                    <a:ext uri="{9D8B030D-6E8A-4147-A177-3AD203B41FA5}">
                      <a16:colId xmlns:a16="http://schemas.microsoft.com/office/drawing/2014/main" val="2218358209"/>
                    </a:ext>
                  </a:extLst>
                </a:gridCol>
                <a:gridCol w="6156682">
                  <a:extLst>
                    <a:ext uri="{9D8B030D-6E8A-4147-A177-3AD203B41FA5}">
                      <a16:colId xmlns:a16="http://schemas.microsoft.com/office/drawing/2014/main" val="376649550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입찰참여 업체 선택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※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계약방법이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‘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경쟁입찰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지명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)’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인 경우 아래 입찰참여 가능 업체를 선택해주세요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</a:t>
                      </a: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</a:b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                                                        </a:t>
                      </a: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</a:b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</a:b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</a:b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A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협력업체명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(123-45-67891) [</a:t>
                      </a:r>
                      <a:r>
                        <a:rPr kumimoji="0" lang="ko-KR" altLang="en-US" sz="8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삭제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B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협력업체명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(123-45-67891) [</a:t>
                      </a:r>
                      <a:r>
                        <a:rPr kumimoji="0" lang="ko-KR" altLang="en-US" sz="8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삭제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C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협력업체명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(123-45-67891) [</a:t>
                      </a:r>
                      <a:r>
                        <a:rPr kumimoji="0" lang="ko-KR" altLang="en-US" sz="8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삭제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]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88328"/>
                  </a:ext>
                </a:extLst>
              </a:tr>
            </a:tbl>
          </a:graphicData>
        </a:graphic>
      </p:graphicFrame>
      <p:sp>
        <p:nvSpPr>
          <p:cNvPr id="33" name="타원 32">
            <a:extLst>
              <a:ext uri="{FF2B5EF4-FFF2-40B4-BE49-F238E27FC236}">
                <a16:creationId xmlns:a16="http://schemas.microsoft.com/office/drawing/2014/main" id="{801CFC38-4074-016C-CC70-EA1F7FE19DFB}"/>
              </a:ext>
            </a:extLst>
          </p:cNvPr>
          <p:cNvSpPr/>
          <p:nvPr/>
        </p:nvSpPr>
        <p:spPr>
          <a:xfrm>
            <a:off x="84579" y="1765714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2929A602-7818-5576-A533-31C266F7620D}"/>
              </a:ext>
            </a:extLst>
          </p:cNvPr>
          <p:cNvSpPr/>
          <p:nvPr/>
        </p:nvSpPr>
        <p:spPr>
          <a:xfrm>
            <a:off x="1803388" y="2530407"/>
            <a:ext cx="1313408" cy="215441"/>
          </a:xfrm>
          <a:prstGeom prst="rect">
            <a:avLst/>
          </a:prstGeom>
          <a:solidFill>
            <a:srgbClr val="FFC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입찰참여 가능 업체 추가</a:t>
            </a: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3D12BE48-BAA1-BB0C-3EB2-67C61274EC29}"/>
              </a:ext>
            </a:extLst>
          </p:cNvPr>
          <p:cNvSpPr/>
          <p:nvPr/>
        </p:nvSpPr>
        <p:spPr>
          <a:xfrm>
            <a:off x="84579" y="3414145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B6EFFBA0-7269-A214-2CEF-F3F915FF7ED1}"/>
              </a:ext>
            </a:extLst>
          </p:cNvPr>
          <p:cNvSpPr/>
          <p:nvPr/>
        </p:nvSpPr>
        <p:spPr>
          <a:xfrm>
            <a:off x="183392" y="4578418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 관련 정보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48" name="표 47">
            <a:extLst>
              <a:ext uri="{FF2B5EF4-FFF2-40B4-BE49-F238E27FC236}">
                <a16:creationId xmlns:a16="http://schemas.microsoft.com/office/drawing/2014/main" id="{BD376044-D9EA-7902-F995-1C550ED56038}"/>
              </a:ext>
            </a:extLst>
          </p:cNvPr>
          <p:cNvGraphicFramePr>
            <a:graphicFrameLocks noGrp="1"/>
          </p:cNvGraphicFramePr>
          <p:nvPr/>
        </p:nvGraphicFramePr>
        <p:xfrm>
          <a:off x="164467" y="4854375"/>
          <a:ext cx="7740859" cy="1473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4177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56682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업체평가 여부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※ </a:t>
                      </a:r>
                      <a:r>
                        <a:rPr lang="ko-KR" altLang="en-US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낙찰자 선정방법이 ‘제한적 최저가 입찰’</a:t>
                      </a:r>
                      <a:r>
                        <a:rPr lang="en-US" altLang="ko-KR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, ‘2</a:t>
                      </a:r>
                      <a:r>
                        <a:rPr lang="ko-KR" altLang="en-US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단계 경쟁입찰</a:t>
                      </a:r>
                      <a:r>
                        <a:rPr lang="en-US" altLang="ko-KR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규격</a:t>
                      </a:r>
                      <a:r>
                        <a:rPr lang="en-US" altLang="ko-KR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가격 동시</a:t>
                      </a:r>
                      <a:r>
                        <a:rPr lang="en-US" altLang="ko-KR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)’, ‘2</a:t>
                      </a:r>
                      <a:r>
                        <a:rPr lang="ko-KR" altLang="en-US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단계 경쟁입찰</a:t>
                      </a:r>
                      <a:r>
                        <a:rPr lang="en-US" altLang="ko-KR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규격</a:t>
                      </a:r>
                      <a:r>
                        <a:rPr lang="en-US" altLang="ko-KR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가격 분리</a:t>
                      </a:r>
                      <a:r>
                        <a:rPr lang="en-US" altLang="ko-KR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)’, ‘</a:t>
                      </a:r>
                      <a:r>
                        <a:rPr lang="ko-KR" altLang="en-US" sz="800" b="0" dirty="0" err="1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적격심사’의</a:t>
                      </a:r>
                      <a:r>
                        <a:rPr lang="ko-KR" altLang="en-US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경우 아래의 항목들을 입력해주세요</a:t>
                      </a:r>
                      <a:r>
                        <a:rPr lang="en-US" altLang="ko-KR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.</a:t>
                      </a:r>
                      <a:endParaRPr lang="ko-KR" altLang="en-US" sz="800" b="0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7438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업체평가 종료일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30657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동점자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처리기준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○ 규격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기술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   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○ 가격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33570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평가자 매핑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5394118"/>
                  </a:ext>
                </a:extLst>
              </a:tr>
            </a:tbl>
          </a:graphicData>
        </a:graphic>
      </p:graphicFrame>
      <p:sp>
        <p:nvSpPr>
          <p:cNvPr id="50" name="직사각형 49">
            <a:extLst>
              <a:ext uri="{FF2B5EF4-FFF2-40B4-BE49-F238E27FC236}">
                <a16:creationId xmlns:a16="http://schemas.microsoft.com/office/drawing/2014/main" id="{F8BEC14D-C94C-A3A2-405F-CD922E6F309F}"/>
              </a:ext>
            </a:extLst>
          </p:cNvPr>
          <p:cNvSpPr/>
          <p:nvPr/>
        </p:nvSpPr>
        <p:spPr>
          <a:xfrm>
            <a:off x="1820656" y="5373797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날짜 선택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6DDF7596-FFDD-32E3-90D4-0472557D41B2}"/>
              </a:ext>
            </a:extLst>
          </p:cNvPr>
          <p:cNvSpPr/>
          <p:nvPr/>
        </p:nvSpPr>
        <p:spPr>
          <a:xfrm>
            <a:off x="2630907" y="5373799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06A2A6F5-DA6A-3DE9-3CF9-0F475B2C4279}"/>
              </a:ext>
            </a:extLst>
          </p:cNvPr>
          <p:cNvSpPr/>
          <p:nvPr/>
        </p:nvSpPr>
        <p:spPr>
          <a:xfrm>
            <a:off x="2184686" y="6037640"/>
            <a:ext cx="741432" cy="241546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평가자 매핑</a:t>
            </a:r>
          </a:p>
        </p:txBody>
      </p:sp>
      <p:sp>
        <p:nvSpPr>
          <p:cNvPr id="68" name="타원 67">
            <a:extLst>
              <a:ext uri="{FF2B5EF4-FFF2-40B4-BE49-F238E27FC236}">
                <a16:creationId xmlns:a16="http://schemas.microsoft.com/office/drawing/2014/main" id="{7501DEB6-4E8F-C59A-2296-800183DA4C5A}"/>
              </a:ext>
            </a:extLst>
          </p:cNvPr>
          <p:cNvSpPr/>
          <p:nvPr/>
        </p:nvSpPr>
        <p:spPr>
          <a:xfrm>
            <a:off x="84579" y="4391462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0D3244CB-546A-E76C-973C-32990471968F}"/>
              </a:ext>
            </a:extLst>
          </p:cNvPr>
          <p:cNvSpPr/>
          <p:nvPr/>
        </p:nvSpPr>
        <p:spPr>
          <a:xfrm>
            <a:off x="1564036" y="5918033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" name="타원 70">
            <a:extLst>
              <a:ext uri="{FF2B5EF4-FFF2-40B4-BE49-F238E27FC236}">
                <a16:creationId xmlns:a16="http://schemas.microsoft.com/office/drawing/2014/main" id="{0E49646F-B23A-43EB-5D03-D29039FBF396}"/>
              </a:ext>
            </a:extLst>
          </p:cNvPr>
          <p:cNvSpPr/>
          <p:nvPr/>
        </p:nvSpPr>
        <p:spPr>
          <a:xfrm>
            <a:off x="1564036" y="5546544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4A6EB116-309D-3D35-E4F1-8D3D4272DBF7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계속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FEE45B32-A881-6CD6-BDA9-5316A28CF351}"/>
              </a:ext>
            </a:extLst>
          </p:cNvPr>
          <p:cNvSpPr/>
          <p:nvPr/>
        </p:nvSpPr>
        <p:spPr>
          <a:xfrm>
            <a:off x="-6871187" y="2618436"/>
            <a:ext cx="6602885" cy="423899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13043D65-DBE3-6CCE-905B-23440AB5CB78}"/>
              </a:ext>
            </a:extLst>
          </p:cNvPr>
          <p:cNvSpPr/>
          <p:nvPr/>
        </p:nvSpPr>
        <p:spPr>
          <a:xfrm>
            <a:off x="-6879880" y="2610957"/>
            <a:ext cx="6609287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평가자 매핑</a:t>
            </a:r>
            <a:endParaRPr lang="en-US" altLang="ko-KR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F674F788-49E4-808A-9803-A000E1AB65B7}"/>
              </a:ext>
            </a:extLst>
          </p:cNvPr>
          <p:cNvSpPr/>
          <p:nvPr/>
        </p:nvSpPr>
        <p:spPr>
          <a:xfrm>
            <a:off x="-540593" y="2608800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82A9BD4B-E067-482A-DDD4-226AF40D1A6C}"/>
              </a:ext>
            </a:extLst>
          </p:cNvPr>
          <p:cNvSpPr/>
          <p:nvPr/>
        </p:nvSpPr>
        <p:spPr>
          <a:xfrm>
            <a:off x="-6711469" y="3016782"/>
            <a:ext cx="779059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평가자 매핑</a:t>
            </a: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D18CA2C9-53E9-50F4-A8D3-5613A6624072}"/>
              </a:ext>
            </a:extLst>
          </p:cNvPr>
          <p:cNvSpPr/>
          <p:nvPr/>
        </p:nvSpPr>
        <p:spPr>
          <a:xfrm>
            <a:off x="-6717547" y="3370953"/>
            <a:ext cx="6198114" cy="47359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B0C9FDFE-7714-1DD7-20BE-2C03CB321680}"/>
              </a:ext>
            </a:extLst>
          </p:cNvPr>
          <p:cNvSpPr/>
          <p:nvPr/>
        </p:nvSpPr>
        <p:spPr>
          <a:xfrm>
            <a:off x="-5473493" y="3500621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검색 구분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4F0DEE59-8F5D-F0FA-E606-370A4977C58F}"/>
              </a:ext>
            </a:extLst>
          </p:cNvPr>
          <p:cNvSpPr/>
          <p:nvPr/>
        </p:nvSpPr>
        <p:spPr>
          <a:xfrm>
            <a:off x="-4663242" y="3500623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79269AA1-D6EE-5D73-2DCD-6B2A553BC866}"/>
              </a:ext>
            </a:extLst>
          </p:cNvPr>
          <p:cNvSpPr/>
          <p:nvPr/>
        </p:nvSpPr>
        <p:spPr>
          <a:xfrm>
            <a:off x="-4348105" y="3500621"/>
            <a:ext cx="2503682" cy="2080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검색어를 입력하세요</a:t>
            </a:r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800" b="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F59709D1-A2C3-390D-CC33-415B8CCBF4B3}"/>
              </a:ext>
            </a:extLst>
          </p:cNvPr>
          <p:cNvSpPr/>
          <p:nvPr/>
        </p:nvSpPr>
        <p:spPr>
          <a:xfrm>
            <a:off x="-1772164" y="3500623"/>
            <a:ext cx="625198" cy="2154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검색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187A0BC6-0B25-E453-FF3E-6591ECF74D1C}"/>
              </a:ext>
            </a:extLst>
          </p:cNvPr>
          <p:cNvSpPr txBox="1"/>
          <p:nvPr/>
        </p:nvSpPr>
        <p:spPr>
          <a:xfrm>
            <a:off x="-6646166" y="3507766"/>
            <a:ext cx="259548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72000" lvl="0" indent="-72000" algn="l">
              <a:buFont typeface="Arial" panose="020B0604020202020204" pitchFamily="34" charset="0"/>
              <a:buChar char="•"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키워드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검색 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:</a:t>
            </a:r>
            <a:endParaRPr lang="ko-KR" altLang="en-US" sz="8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86" name="표 85">
            <a:extLst>
              <a:ext uri="{FF2B5EF4-FFF2-40B4-BE49-F238E27FC236}">
                <a16:creationId xmlns:a16="http://schemas.microsoft.com/office/drawing/2014/main" id="{BEAC046F-7872-88F9-10A8-9407B25E1577}"/>
              </a:ext>
            </a:extLst>
          </p:cNvPr>
          <p:cNvGraphicFramePr>
            <a:graphicFrameLocks noGrp="1"/>
          </p:cNvGraphicFramePr>
          <p:nvPr/>
        </p:nvGraphicFramePr>
        <p:xfrm>
          <a:off x="-6719693" y="4243062"/>
          <a:ext cx="6194016" cy="2027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89192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72547">
                  <a:extLst>
                    <a:ext uri="{9D8B030D-6E8A-4147-A177-3AD203B41FA5}">
                      <a16:colId xmlns:a16="http://schemas.microsoft.com/office/drawing/2014/main" val="2264476566"/>
                    </a:ext>
                  </a:extLst>
                </a:gridCol>
                <a:gridCol w="672547">
                  <a:extLst>
                    <a:ext uri="{9D8B030D-6E8A-4147-A177-3AD203B41FA5}">
                      <a16:colId xmlns:a16="http://schemas.microsoft.com/office/drawing/2014/main" val="1900745260"/>
                    </a:ext>
                  </a:extLst>
                </a:gridCol>
                <a:gridCol w="952087">
                  <a:extLst>
                    <a:ext uri="{9D8B030D-6E8A-4147-A177-3AD203B41FA5}">
                      <a16:colId xmlns:a16="http://schemas.microsoft.com/office/drawing/2014/main" val="1854595363"/>
                    </a:ext>
                  </a:extLst>
                </a:gridCol>
                <a:gridCol w="532776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  <a:gridCol w="1737128">
                  <a:extLst>
                    <a:ext uri="{9D8B030D-6E8A-4147-A177-3AD203B41FA5}">
                      <a16:colId xmlns:a16="http://schemas.microsoft.com/office/drawing/2014/main" val="2048789610"/>
                    </a:ext>
                  </a:extLst>
                </a:gridCol>
                <a:gridCol w="737739">
                  <a:extLst>
                    <a:ext uri="{9D8B030D-6E8A-4147-A177-3AD203B41FA5}">
                      <a16:colId xmlns:a16="http://schemas.microsoft.com/office/drawing/2014/main" val="7009178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사원번호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아이디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사원명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직급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이메일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선택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2110004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simon</a:t>
                      </a:r>
                      <a:endParaRPr lang="ko-KR" altLang="en-US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기획지원팀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과장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simon@kepcoes.co.kr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3946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8773569"/>
                  </a:ext>
                </a:extLst>
              </a:tr>
            </a:tbl>
          </a:graphicData>
        </a:graphic>
      </p:graphicFrame>
      <p:grpSp>
        <p:nvGrpSpPr>
          <p:cNvPr id="87" name="그룹 86">
            <a:extLst>
              <a:ext uri="{FF2B5EF4-FFF2-40B4-BE49-F238E27FC236}">
                <a16:creationId xmlns:a16="http://schemas.microsoft.com/office/drawing/2014/main" id="{C3AFB3B8-7FD9-E02C-F90B-796C34653791}"/>
              </a:ext>
            </a:extLst>
          </p:cNvPr>
          <p:cNvGrpSpPr/>
          <p:nvPr/>
        </p:nvGrpSpPr>
        <p:grpSpPr>
          <a:xfrm>
            <a:off x="-5616192" y="6420554"/>
            <a:ext cx="4025354" cy="216024"/>
            <a:chOff x="2992062" y="4869160"/>
            <a:chExt cx="4025354" cy="216024"/>
          </a:xfrm>
        </p:grpSpPr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BEE8F930-B4CD-D51F-CAF9-E8FB9225E063}"/>
                </a:ext>
              </a:extLst>
            </p:cNvPr>
            <p:cNvSpPr/>
            <p:nvPr/>
          </p:nvSpPr>
          <p:spPr>
            <a:xfrm>
              <a:off x="2992062" y="4869160"/>
              <a:ext cx="216000" cy="21602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◀</a:t>
              </a:r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6D302F69-FA70-A3F7-D33C-C792F638E3B7}"/>
                </a:ext>
              </a:extLst>
            </p:cNvPr>
            <p:cNvSpPr/>
            <p:nvPr/>
          </p:nvSpPr>
          <p:spPr>
            <a:xfrm>
              <a:off x="3285089" y="4869160"/>
              <a:ext cx="216000" cy="21602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&lt;</a:t>
              </a:r>
              <a:endPara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F46EF361-6124-898E-FEFD-013333DC1281}"/>
                </a:ext>
              </a:extLst>
            </p:cNvPr>
            <p:cNvSpPr/>
            <p:nvPr/>
          </p:nvSpPr>
          <p:spPr>
            <a:xfrm>
              <a:off x="3578116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15FC2D5B-CD13-603B-23A3-EEDDC5B1360B}"/>
                </a:ext>
              </a:extLst>
            </p:cNvPr>
            <p:cNvSpPr/>
            <p:nvPr/>
          </p:nvSpPr>
          <p:spPr>
            <a:xfrm>
              <a:off x="3871143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930A42B4-CEDF-60C2-F56E-2A0256D2801A}"/>
                </a:ext>
              </a:extLst>
            </p:cNvPr>
            <p:cNvSpPr/>
            <p:nvPr/>
          </p:nvSpPr>
          <p:spPr>
            <a:xfrm>
              <a:off x="4164170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C7372E23-00D6-36EC-68AD-FC296B52F439}"/>
                </a:ext>
              </a:extLst>
            </p:cNvPr>
            <p:cNvSpPr/>
            <p:nvPr/>
          </p:nvSpPr>
          <p:spPr>
            <a:xfrm>
              <a:off x="4457197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2E037CC5-D54C-14BC-AA4E-CDA52D196A69}"/>
                </a:ext>
              </a:extLst>
            </p:cNvPr>
            <p:cNvSpPr/>
            <p:nvPr/>
          </p:nvSpPr>
          <p:spPr>
            <a:xfrm>
              <a:off x="4750224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" name="직사각형 94">
              <a:extLst>
                <a:ext uri="{FF2B5EF4-FFF2-40B4-BE49-F238E27FC236}">
                  <a16:creationId xmlns:a16="http://schemas.microsoft.com/office/drawing/2014/main" id="{97C7D6DC-22AC-4CF3-31FF-7D10A8DC0C54}"/>
                </a:ext>
              </a:extLst>
            </p:cNvPr>
            <p:cNvSpPr/>
            <p:nvPr/>
          </p:nvSpPr>
          <p:spPr>
            <a:xfrm>
              <a:off x="5043251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" name="직사각형 95">
              <a:extLst>
                <a:ext uri="{FF2B5EF4-FFF2-40B4-BE49-F238E27FC236}">
                  <a16:creationId xmlns:a16="http://schemas.microsoft.com/office/drawing/2014/main" id="{D3CBF377-FD09-C4A9-DA4C-CEEDDC57D620}"/>
                </a:ext>
              </a:extLst>
            </p:cNvPr>
            <p:cNvSpPr/>
            <p:nvPr/>
          </p:nvSpPr>
          <p:spPr>
            <a:xfrm>
              <a:off x="5336278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" name="직사각형 96">
              <a:extLst>
                <a:ext uri="{FF2B5EF4-FFF2-40B4-BE49-F238E27FC236}">
                  <a16:creationId xmlns:a16="http://schemas.microsoft.com/office/drawing/2014/main" id="{32209DA0-9746-F8D9-EABA-A2B51C1F456C}"/>
                </a:ext>
              </a:extLst>
            </p:cNvPr>
            <p:cNvSpPr/>
            <p:nvPr/>
          </p:nvSpPr>
          <p:spPr>
            <a:xfrm>
              <a:off x="5629305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935B9AFD-C550-9642-AE20-8EDD4C2D8F9F}"/>
                </a:ext>
              </a:extLst>
            </p:cNvPr>
            <p:cNvSpPr/>
            <p:nvPr/>
          </p:nvSpPr>
          <p:spPr>
            <a:xfrm>
              <a:off x="5922332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" name="직사각형 98">
              <a:extLst>
                <a:ext uri="{FF2B5EF4-FFF2-40B4-BE49-F238E27FC236}">
                  <a16:creationId xmlns:a16="http://schemas.microsoft.com/office/drawing/2014/main" id="{947FB354-D960-8CCC-0E84-EE632DE9415A}"/>
                </a:ext>
              </a:extLst>
            </p:cNvPr>
            <p:cNvSpPr/>
            <p:nvPr/>
          </p:nvSpPr>
          <p:spPr>
            <a:xfrm>
              <a:off x="6215359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EA9E26B7-DECC-ACC9-B206-470AE4D21629}"/>
                </a:ext>
              </a:extLst>
            </p:cNvPr>
            <p:cNvSpPr/>
            <p:nvPr/>
          </p:nvSpPr>
          <p:spPr>
            <a:xfrm>
              <a:off x="6508386" y="4869160"/>
              <a:ext cx="216000" cy="21602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&gt;</a:t>
              </a:r>
              <a:endPara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" name="직사각형 100">
              <a:extLst>
                <a:ext uri="{FF2B5EF4-FFF2-40B4-BE49-F238E27FC236}">
                  <a16:creationId xmlns:a16="http://schemas.microsoft.com/office/drawing/2014/main" id="{3891DE3D-E33B-D366-1A62-E289A56AE3CD}"/>
                </a:ext>
              </a:extLst>
            </p:cNvPr>
            <p:cNvSpPr/>
            <p:nvPr/>
          </p:nvSpPr>
          <p:spPr>
            <a:xfrm>
              <a:off x="6801416" y="4869160"/>
              <a:ext cx="216000" cy="21602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▶</a:t>
              </a:r>
            </a:p>
          </p:txBody>
        </p:sp>
      </p:grp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2296F54-7622-FA2C-1896-90CC4A700317}"/>
              </a:ext>
            </a:extLst>
          </p:cNvPr>
          <p:cNvSpPr/>
          <p:nvPr/>
        </p:nvSpPr>
        <p:spPr>
          <a:xfrm>
            <a:off x="-1562580" y="3954524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en-US" altLang="ko-KR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개씩</a:t>
            </a: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ABA92D4A-FD76-E39E-1F70-665D51060F4D}"/>
              </a:ext>
            </a:extLst>
          </p:cNvPr>
          <p:cNvSpPr/>
          <p:nvPr/>
        </p:nvSpPr>
        <p:spPr>
          <a:xfrm>
            <a:off x="-741118" y="3954524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59523F1B-C567-D0F9-667C-638AAA1892EA}"/>
              </a:ext>
            </a:extLst>
          </p:cNvPr>
          <p:cNvSpPr txBox="1"/>
          <p:nvPr/>
        </p:nvSpPr>
        <p:spPr>
          <a:xfrm>
            <a:off x="-6693504" y="3941006"/>
            <a:ext cx="2975920" cy="230832"/>
          </a:xfrm>
          <a:prstGeom prst="rect">
            <a:avLst/>
          </a:prstGeom>
          <a:noFill/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전체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55</a:t>
            </a:r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건 현재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en-US" altLang="ko-KR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/4</a:t>
            </a:r>
            <a:endParaRPr lang="ko-KR" altLang="en-US" sz="900" b="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CFED3E7A-9F5C-BF7B-DDE6-0F8104F9B024}"/>
              </a:ext>
            </a:extLst>
          </p:cNvPr>
          <p:cNvSpPr/>
          <p:nvPr/>
        </p:nvSpPr>
        <p:spPr>
          <a:xfrm>
            <a:off x="-1180722" y="4636390"/>
            <a:ext cx="555412" cy="215441"/>
          </a:xfrm>
          <a:prstGeom prst="rect">
            <a:avLst/>
          </a:prstGeom>
          <a:solidFill>
            <a:srgbClr val="00B05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매핑</a:t>
            </a: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377BDEE3-9AC6-5415-79AF-5B595EF8F566}"/>
              </a:ext>
            </a:extLst>
          </p:cNvPr>
          <p:cNvSpPr/>
          <p:nvPr/>
        </p:nvSpPr>
        <p:spPr>
          <a:xfrm>
            <a:off x="-1180722" y="4977239"/>
            <a:ext cx="555412" cy="215441"/>
          </a:xfrm>
          <a:prstGeom prst="rect">
            <a:avLst/>
          </a:prstGeom>
          <a:solidFill>
            <a:srgbClr val="00B05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매핑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FD59B883-B366-D5DF-33DB-8DC4BBC95016}"/>
              </a:ext>
            </a:extLst>
          </p:cNvPr>
          <p:cNvSpPr/>
          <p:nvPr/>
        </p:nvSpPr>
        <p:spPr>
          <a:xfrm>
            <a:off x="-1180722" y="5318088"/>
            <a:ext cx="555412" cy="215441"/>
          </a:xfrm>
          <a:prstGeom prst="rect">
            <a:avLst/>
          </a:prstGeom>
          <a:solidFill>
            <a:srgbClr val="00B05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매핑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200D80BE-EBCE-BFC2-9161-FFE8A4260F25}"/>
              </a:ext>
            </a:extLst>
          </p:cNvPr>
          <p:cNvSpPr/>
          <p:nvPr/>
        </p:nvSpPr>
        <p:spPr>
          <a:xfrm>
            <a:off x="-1180722" y="5658937"/>
            <a:ext cx="555412" cy="215441"/>
          </a:xfrm>
          <a:prstGeom prst="rect">
            <a:avLst/>
          </a:prstGeom>
          <a:solidFill>
            <a:srgbClr val="00B05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매핑</a:t>
            </a: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350DFD50-F0A3-CEFB-0B42-3B6F14C7E57B}"/>
              </a:ext>
            </a:extLst>
          </p:cNvPr>
          <p:cNvSpPr/>
          <p:nvPr/>
        </p:nvSpPr>
        <p:spPr>
          <a:xfrm>
            <a:off x="-1180722" y="5999786"/>
            <a:ext cx="555412" cy="215441"/>
          </a:xfrm>
          <a:prstGeom prst="rect">
            <a:avLst/>
          </a:prstGeom>
          <a:solidFill>
            <a:srgbClr val="00B05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매핑</a:t>
            </a:r>
          </a:p>
        </p:txBody>
      </p:sp>
      <p:cxnSp>
        <p:nvCxnSpPr>
          <p:cNvPr id="110" name="연결선: 꺾임 109">
            <a:extLst>
              <a:ext uri="{FF2B5EF4-FFF2-40B4-BE49-F238E27FC236}">
                <a16:creationId xmlns:a16="http://schemas.microsoft.com/office/drawing/2014/main" id="{EE965058-286B-EEE8-F240-D3ACD49577B1}"/>
              </a:ext>
            </a:extLst>
          </p:cNvPr>
          <p:cNvCxnSpPr>
            <a:cxnSpLocks/>
            <a:stCxn id="58" idx="0"/>
            <a:endCxn id="74" idx="3"/>
          </p:cNvCxnSpPr>
          <p:nvPr/>
        </p:nvCxnSpPr>
        <p:spPr>
          <a:xfrm rot="16200000" flipV="1">
            <a:off x="493697" y="3975935"/>
            <a:ext cx="1299707" cy="2823704"/>
          </a:xfrm>
          <a:prstGeom prst="bentConnector2">
            <a:avLst/>
          </a:prstGeom>
          <a:ln>
            <a:solidFill>
              <a:srgbClr val="C00000"/>
            </a:solidFill>
            <a:prstDash val="sysDash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타원 9">
            <a:extLst>
              <a:ext uri="{FF2B5EF4-FFF2-40B4-BE49-F238E27FC236}">
                <a16:creationId xmlns:a16="http://schemas.microsoft.com/office/drawing/2014/main" id="{1FDDEE0C-28B9-6CF9-EE81-BD5463364044}"/>
              </a:ext>
            </a:extLst>
          </p:cNvPr>
          <p:cNvSpPr/>
          <p:nvPr/>
        </p:nvSpPr>
        <p:spPr>
          <a:xfrm>
            <a:off x="2786417" y="5249044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92856886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55662C-5226-D437-AF2E-E431700E68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1F921563-7674-1699-2771-1A8D347F41CA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A7EE9377-96F7-BBAF-3D1B-FA1DEB6EECB7}"/>
              </a:ext>
            </a:extLst>
          </p:cNvPr>
          <p:cNvSpPr txBox="1"/>
          <p:nvPr/>
        </p:nvSpPr>
        <p:spPr>
          <a:xfrm>
            <a:off x="749224" y="25608"/>
            <a:ext cx="311495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설정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상세정보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08BE420-B788-8F3C-3399-48137E35581B}"/>
              </a:ext>
            </a:extLst>
          </p:cNvPr>
          <p:cNvSpPr txBox="1"/>
          <p:nvPr/>
        </p:nvSpPr>
        <p:spPr>
          <a:xfrm>
            <a:off x="8049344" y="584684"/>
            <a:ext cx="1856656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‘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동시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)’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인 경우에만 입력</a:t>
            </a:r>
            <a:b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endParaRPr lang="en-US" altLang="ko-KR" sz="80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‘협상에 의한 계약 아님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이 기본 값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(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이 경우 아래의 항목은 비활성화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b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협상에 의한 계약인 경우에만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제안발표가 있을 수 있음</a:t>
            </a:r>
            <a:b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무조건 제안발표를 하는 것은 아님</a:t>
            </a:r>
          </a:p>
        </p:txBody>
      </p:sp>
      <p:graphicFrame>
        <p:nvGraphicFramePr>
          <p:cNvPr id="41" name="표 40">
            <a:extLst>
              <a:ext uri="{FF2B5EF4-FFF2-40B4-BE49-F238E27FC236}">
                <a16:creationId xmlns:a16="http://schemas.microsoft.com/office/drawing/2014/main" id="{A34ADC79-762C-CFAC-77F3-80FA851FB6E2}"/>
              </a:ext>
            </a:extLst>
          </p:cNvPr>
          <p:cNvGraphicFramePr>
            <a:graphicFrameLocks noGrp="1"/>
          </p:cNvGraphicFramePr>
          <p:nvPr/>
        </p:nvGraphicFramePr>
        <p:xfrm>
          <a:off x="164467" y="368660"/>
          <a:ext cx="7740859" cy="1392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53591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387268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종합평가 비율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※ </a:t>
                      </a:r>
                      <a:r>
                        <a:rPr lang="ko-KR" altLang="en-US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낙찰자 선정방법이 ‘</a:t>
                      </a:r>
                      <a:r>
                        <a:rPr lang="en-US" altLang="ko-KR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r>
                        <a:rPr lang="ko-KR" altLang="en-US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단계 경쟁입찰</a:t>
                      </a:r>
                      <a:r>
                        <a:rPr lang="en-US" altLang="ko-KR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규격</a:t>
                      </a:r>
                      <a:r>
                        <a:rPr lang="en-US" altLang="ko-KR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가격 동시</a:t>
                      </a:r>
                      <a:r>
                        <a:rPr lang="en-US" altLang="ko-KR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)’</a:t>
                      </a:r>
                      <a:r>
                        <a:rPr lang="ko-KR" altLang="en-US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인 경우에만 아래의 항목들을 입력해주세요</a:t>
                      </a:r>
                      <a:r>
                        <a:rPr lang="en-US" altLang="ko-KR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.</a:t>
                      </a:r>
                      <a:endParaRPr lang="ko-KR" altLang="en-US" sz="800" b="0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기술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:                            %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 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   가격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:                            %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84718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업체 전달사항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777443"/>
                  </a:ext>
                </a:extLst>
              </a:tr>
            </a:tbl>
          </a:graphicData>
        </a:graphic>
      </p:graphicFrame>
      <p:sp>
        <p:nvSpPr>
          <p:cNvPr id="53" name="직사각형 52">
            <a:extLst>
              <a:ext uri="{FF2B5EF4-FFF2-40B4-BE49-F238E27FC236}">
                <a16:creationId xmlns:a16="http://schemas.microsoft.com/office/drawing/2014/main" id="{E2D8FED6-8B96-6874-C1FF-9EEE472C5DC7}"/>
              </a:ext>
            </a:extLst>
          </p:cNvPr>
          <p:cNvSpPr/>
          <p:nvPr/>
        </p:nvSpPr>
        <p:spPr>
          <a:xfrm>
            <a:off x="1910134" y="738225"/>
            <a:ext cx="682702" cy="2080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숫자로 입력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CA8285D2-AB8B-033A-DCBA-97E9A0113F38}"/>
              </a:ext>
            </a:extLst>
          </p:cNvPr>
          <p:cNvSpPr/>
          <p:nvPr/>
        </p:nvSpPr>
        <p:spPr>
          <a:xfrm>
            <a:off x="3321194" y="738225"/>
            <a:ext cx="682702" cy="2080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숫자로 입력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16A8EA52-3B7A-94F9-E8F0-3F7C8ABC5CC7}"/>
              </a:ext>
            </a:extLst>
          </p:cNvPr>
          <p:cNvSpPr/>
          <p:nvPr/>
        </p:nvSpPr>
        <p:spPr>
          <a:xfrm>
            <a:off x="1585817" y="1091215"/>
            <a:ext cx="6103487" cy="60179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en-US" altLang="ko-KR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Text Area</a:t>
            </a:r>
          </a:p>
          <a:p>
            <a:pPr algn="l"/>
            <a:endParaRPr lang="en-US" altLang="ko-KR" sz="8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l"/>
            <a:endParaRPr lang="en-US" altLang="ko-KR" sz="8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l"/>
            <a:endParaRPr lang="ko-KR" altLang="en-US" sz="8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" name="타원 62">
            <a:extLst>
              <a:ext uri="{FF2B5EF4-FFF2-40B4-BE49-F238E27FC236}">
                <a16:creationId xmlns:a16="http://schemas.microsoft.com/office/drawing/2014/main" id="{09B0A584-C7F9-FD8E-780F-6F0A2D3FC2AA}"/>
              </a:ext>
            </a:extLst>
          </p:cNvPr>
          <p:cNvSpPr/>
          <p:nvPr/>
        </p:nvSpPr>
        <p:spPr>
          <a:xfrm>
            <a:off x="1441799" y="282233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6B16DB3D-5BFF-FEC0-3371-BDB3152BAA7A}"/>
              </a:ext>
            </a:extLst>
          </p:cNvPr>
          <p:cNvSpPr/>
          <p:nvPr/>
        </p:nvSpPr>
        <p:spPr>
          <a:xfrm>
            <a:off x="183392" y="1855380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제안발표 관련 정보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72" name="표 71">
            <a:extLst>
              <a:ext uri="{FF2B5EF4-FFF2-40B4-BE49-F238E27FC236}">
                <a16:creationId xmlns:a16="http://schemas.microsoft.com/office/drawing/2014/main" id="{6CD5002B-F79C-1DB3-C0D4-1B6B0D8632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797912"/>
              </p:ext>
            </p:extLst>
          </p:nvPr>
        </p:nvGraphicFramePr>
        <p:xfrm>
          <a:off x="164467" y="2153553"/>
          <a:ext cx="7740859" cy="1549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68153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372706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협상에 의한 계약 여부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● 협상에 의한 계약 아님     ○ 협상에 의한 계약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23645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제안발표 여부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※ </a:t>
                      </a:r>
                      <a:r>
                        <a:rPr lang="ko-KR" altLang="en-US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협상에 의한 계약의 경우 </a:t>
                      </a:r>
                      <a:r>
                        <a:rPr lang="en-US" altLang="ko-KR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‘</a:t>
                      </a:r>
                      <a:r>
                        <a:rPr lang="ko-KR" altLang="en-US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제안발표</a:t>
                      </a:r>
                      <a:r>
                        <a:rPr lang="en-US" altLang="ko-KR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’</a:t>
                      </a:r>
                      <a:r>
                        <a:rPr lang="ko-KR" altLang="en-US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 진행됨</a:t>
                      </a: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○ 제안발표 안함     ○ 제안발표 진행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7774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제안발표 일시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                                                                                                    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부터 진행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27298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제안발표 장소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9957527"/>
                  </a:ext>
                </a:extLst>
              </a:tr>
            </a:tbl>
          </a:graphicData>
        </a:graphic>
      </p:graphicFrame>
      <p:sp>
        <p:nvSpPr>
          <p:cNvPr id="74" name="직사각형 73">
            <a:extLst>
              <a:ext uri="{FF2B5EF4-FFF2-40B4-BE49-F238E27FC236}">
                <a16:creationId xmlns:a16="http://schemas.microsoft.com/office/drawing/2014/main" id="{DF3CBFA1-BE71-8462-D6A9-F5F34C5A17A4}"/>
              </a:ext>
            </a:extLst>
          </p:cNvPr>
          <p:cNvSpPr/>
          <p:nvPr/>
        </p:nvSpPr>
        <p:spPr>
          <a:xfrm>
            <a:off x="1591288" y="3439108"/>
            <a:ext cx="4823162" cy="2080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50</a:t>
            </a:r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자 이내로 입력해주세요</a:t>
            </a:r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800" b="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CDF4CD2D-B89F-1827-ABA5-E26BCB5DBB03}"/>
              </a:ext>
            </a:extLst>
          </p:cNvPr>
          <p:cNvSpPr/>
          <p:nvPr/>
        </p:nvSpPr>
        <p:spPr>
          <a:xfrm>
            <a:off x="1613254" y="3097522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날짜 선택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A360B251-8D80-1B73-5091-8A8F412032A8}"/>
              </a:ext>
            </a:extLst>
          </p:cNvPr>
          <p:cNvSpPr/>
          <p:nvPr/>
        </p:nvSpPr>
        <p:spPr>
          <a:xfrm>
            <a:off x="2423505" y="3097522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F2D86FC9-13F1-AB9E-F81D-EE8DCAC747C7}"/>
              </a:ext>
            </a:extLst>
          </p:cNvPr>
          <p:cNvSpPr/>
          <p:nvPr/>
        </p:nvSpPr>
        <p:spPr>
          <a:xfrm>
            <a:off x="2708923" y="3097522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시간 선택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EF63E20A-A1CE-6C7D-0232-FC212FD7FBE4}"/>
              </a:ext>
            </a:extLst>
          </p:cNvPr>
          <p:cNvSpPr/>
          <p:nvPr/>
        </p:nvSpPr>
        <p:spPr>
          <a:xfrm>
            <a:off x="3309005" y="3097522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98D44C3A-72EB-89EA-8242-C3933E9EDF2D}"/>
              </a:ext>
            </a:extLst>
          </p:cNvPr>
          <p:cNvSpPr/>
          <p:nvPr/>
        </p:nvSpPr>
        <p:spPr>
          <a:xfrm>
            <a:off x="3602880" y="3097522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분 선택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AE1A73C7-3C9A-418E-580A-A2DFD4B2D635}"/>
              </a:ext>
            </a:extLst>
          </p:cNvPr>
          <p:cNvSpPr/>
          <p:nvPr/>
        </p:nvSpPr>
        <p:spPr>
          <a:xfrm>
            <a:off x="4202962" y="3097522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8A67DCE1-C7CB-FE71-72BA-B6210B2F3A45}"/>
              </a:ext>
            </a:extLst>
          </p:cNvPr>
          <p:cNvSpPr/>
          <p:nvPr/>
        </p:nvSpPr>
        <p:spPr>
          <a:xfrm>
            <a:off x="7198784" y="3825044"/>
            <a:ext cx="699418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>
                <a:latin typeface="나눔고딕" panose="020D0604000000000000" pitchFamily="50" charset="-127"/>
                <a:ea typeface="나눔고딕" panose="020D0604000000000000" pitchFamily="50" charset="-127"/>
              </a:rPr>
              <a:t>저장</a:t>
            </a:r>
            <a:endParaRPr lang="ko-KR" altLang="en-US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D0E69631-7C16-9539-C309-3C279B0491FD}"/>
              </a:ext>
            </a:extLst>
          </p:cNvPr>
          <p:cNvSpPr/>
          <p:nvPr/>
        </p:nvSpPr>
        <p:spPr>
          <a:xfrm>
            <a:off x="164467" y="3805127"/>
            <a:ext cx="699418" cy="288032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목록</a:t>
            </a:r>
          </a:p>
        </p:txBody>
      </p:sp>
      <p:sp>
        <p:nvSpPr>
          <p:cNvPr id="92" name="타원 91">
            <a:extLst>
              <a:ext uri="{FF2B5EF4-FFF2-40B4-BE49-F238E27FC236}">
                <a16:creationId xmlns:a16="http://schemas.microsoft.com/office/drawing/2014/main" id="{ED74496C-EBE0-0CAC-466C-3C8C06959081}"/>
              </a:ext>
            </a:extLst>
          </p:cNvPr>
          <p:cNvSpPr/>
          <p:nvPr/>
        </p:nvSpPr>
        <p:spPr>
          <a:xfrm>
            <a:off x="75380" y="1680215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FEADDB25-F6E5-8070-F72C-D888B38AE749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0005871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71A68C-70F4-32C3-C366-10350ED23F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D7913A2B-6620-DEBF-0F07-DB9F81A051D5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5C2B162-B1D1-6C9C-BD7D-4A8280344B98}"/>
              </a:ext>
            </a:extLst>
          </p:cNvPr>
          <p:cNvSpPr txBox="1"/>
          <p:nvPr/>
        </p:nvSpPr>
        <p:spPr>
          <a:xfrm>
            <a:off x="757088" y="25608"/>
            <a:ext cx="423705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설정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입찰참여 가능 업체 추가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AD76884-5D44-7FF3-4DD0-5CFDF7ED752A}"/>
              </a:ext>
            </a:extLst>
          </p:cNvPr>
          <p:cNvSpPr txBox="1"/>
          <p:nvPr/>
        </p:nvSpPr>
        <p:spPr>
          <a:xfrm>
            <a:off x="909787" y="696323"/>
            <a:ext cx="1856656" cy="3970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[</a:t>
            </a: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별첨</a:t>
            </a: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1]</a:t>
            </a: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품목 정보 추가를 위한 엑셀 다운로드 양식</a:t>
            </a: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.xlsx 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859C9E71-0E28-640B-B3CA-F7EA526E4028}"/>
              </a:ext>
            </a:extLst>
          </p:cNvPr>
          <p:cNvSpPr/>
          <p:nvPr/>
        </p:nvSpPr>
        <p:spPr>
          <a:xfrm>
            <a:off x="181720" y="414790"/>
            <a:ext cx="76516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입찰참여 가능 업체 추가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6F4D8983-1585-801F-33A6-424187A553EA}"/>
              </a:ext>
            </a:extLst>
          </p:cNvPr>
          <p:cNvSpPr/>
          <p:nvPr/>
        </p:nvSpPr>
        <p:spPr>
          <a:xfrm>
            <a:off x="181720" y="687702"/>
            <a:ext cx="7651600" cy="522557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7901F521-BD57-A07B-4574-245B8231F136}"/>
              </a:ext>
            </a:extLst>
          </p:cNvPr>
          <p:cNvSpPr/>
          <p:nvPr/>
        </p:nvSpPr>
        <p:spPr>
          <a:xfrm>
            <a:off x="7563320" y="414790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BEC5BB3B-01FD-6ABF-6553-F7F4EB223947}"/>
              </a:ext>
            </a:extLst>
          </p:cNvPr>
          <p:cNvSpPr/>
          <p:nvPr/>
        </p:nvSpPr>
        <p:spPr>
          <a:xfrm>
            <a:off x="312940" y="784091"/>
            <a:ext cx="1524456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입찰참여 가능 업체 추가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FAFF97A-B08B-A9E8-5F88-2F60376E409B}"/>
              </a:ext>
            </a:extLst>
          </p:cNvPr>
          <p:cNvSpPr/>
          <p:nvPr/>
        </p:nvSpPr>
        <p:spPr>
          <a:xfrm>
            <a:off x="312941" y="1126291"/>
            <a:ext cx="7376364" cy="131361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2E50720-267B-ABBA-63CF-E5C97692BDDD}"/>
              </a:ext>
            </a:extLst>
          </p:cNvPr>
          <p:cNvSpPr txBox="1"/>
          <p:nvPr/>
        </p:nvSpPr>
        <p:spPr>
          <a:xfrm>
            <a:off x="384322" y="1232796"/>
            <a:ext cx="6805382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72000" marR="0" lvl="0" indent="-7200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조회기간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(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신청일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)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:                                                                                                                                                                 ~    </a:t>
            </a:r>
            <a:endParaRPr kumimoji="1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CBC1D35-E929-CF1F-4644-4DB50F64930F}"/>
              </a:ext>
            </a:extLst>
          </p:cNvPr>
          <p:cNvSpPr txBox="1"/>
          <p:nvPr/>
        </p:nvSpPr>
        <p:spPr>
          <a:xfrm>
            <a:off x="384321" y="2076286"/>
            <a:ext cx="7561759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72000" lvl="0" indent="-72000" algn="l">
              <a:buFont typeface="Arial" panose="020B0604020202020204" pitchFamily="34" charset="0"/>
              <a:buChar char="•"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키워드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검색 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:</a:t>
            </a:r>
            <a:endParaRPr lang="ko-KR" altLang="en-US" sz="8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12B5116A-92AB-491D-B388-71D7A076B450}"/>
              </a:ext>
            </a:extLst>
          </p:cNvPr>
          <p:cNvSpPr/>
          <p:nvPr/>
        </p:nvSpPr>
        <p:spPr>
          <a:xfrm>
            <a:off x="4832137" y="1220395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검색 시작일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AE5F558A-1975-6E17-36E5-03D5025841A0}"/>
              </a:ext>
            </a:extLst>
          </p:cNvPr>
          <p:cNvSpPr/>
          <p:nvPr/>
        </p:nvSpPr>
        <p:spPr>
          <a:xfrm>
            <a:off x="5642388" y="1220397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C61B0E1-92E8-9072-9921-B538C1A5EDE4}"/>
              </a:ext>
            </a:extLst>
          </p:cNvPr>
          <p:cNvSpPr/>
          <p:nvPr/>
        </p:nvSpPr>
        <p:spPr>
          <a:xfrm>
            <a:off x="6055643" y="1220395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검색 종료일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12A17DEA-E87F-D921-D3F2-4B86382DF8E7}"/>
              </a:ext>
            </a:extLst>
          </p:cNvPr>
          <p:cNvSpPr/>
          <p:nvPr/>
        </p:nvSpPr>
        <p:spPr>
          <a:xfrm>
            <a:off x="6865894" y="1220397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95797170-E338-3D0B-9128-27A31274262B}"/>
              </a:ext>
            </a:extLst>
          </p:cNvPr>
          <p:cNvSpPr/>
          <p:nvPr/>
        </p:nvSpPr>
        <p:spPr>
          <a:xfrm>
            <a:off x="1542361" y="1220395"/>
            <a:ext cx="498772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r>
              <a:rPr lang="ko-KR" altLang="en-US" sz="80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하루 전</a:t>
            </a:r>
            <a:endParaRPr lang="ko-KR" altLang="en-US" sz="8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AE563CF6-E39B-6998-9FE3-101C65F865AD}"/>
              </a:ext>
            </a:extLst>
          </p:cNvPr>
          <p:cNvSpPr/>
          <p:nvPr/>
        </p:nvSpPr>
        <p:spPr>
          <a:xfrm>
            <a:off x="2090930" y="1220395"/>
            <a:ext cx="498772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r>
              <a:rPr lang="en-US" altLang="ko-KR" sz="80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주일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E475ADDF-EE3B-004B-5719-FE3B9DBBD011}"/>
              </a:ext>
            </a:extLst>
          </p:cNvPr>
          <p:cNvSpPr/>
          <p:nvPr/>
        </p:nvSpPr>
        <p:spPr>
          <a:xfrm>
            <a:off x="2639499" y="1220395"/>
            <a:ext cx="498772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r>
              <a:rPr lang="en-US" altLang="ko-KR" sz="80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개월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D941136-EE16-9D32-3D6F-BF557AEE9C36}"/>
              </a:ext>
            </a:extLst>
          </p:cNvPr>
          <p:cNvSpPr/>
          <p:nvPr/>
        </p:nvSpPr>
        <p:spPr>
          <a:xfrm>
            <a:off x="3188068" y="1220395"/>
            <a:ext cx="498772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r>
              <a:rPr lang="en-US" altLang="ko-KR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개월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8D31C2E7-C2A1-81F6-7B84-1D86DBE1BE71}"/>
              </a:ext>
            </a:extLst>
          </p:cNvPr>
          <p:cNvSpPr/>
          <p:nvPr/>
        </p:nvSpPr>
        <p:spPr>
          <a:xfrm>
            <a:off x="3736637" y="1220395"/>
            <a:ext cx="498772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r>
              <a:rPr lang="en-US" altLang="ko-KR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개월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7B18EFFB-8150-1857-23F0-849B2E06A022}"/>
              </a:ext>
            </a:extLst>
          </p:cNvPr>
          <p:cNvSpPr/>
          <p:nvPr/>
        </p:nvSpPr>
        <p:spPr>
          <a:xfrm>
            <a:off x="4285205" y="1220395"/>
            <a:ext cx="498772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r>
              <a:rPr lang="en-US" altLang="ko-KR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년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23B66973-92B9-8601-6456-714780E49362}"/>
              </a:ext>
            </a:extLst>
          </p:cNvPr>
          <p:cNvSpPr txBox="1"/>
          <p:nvPr/>
        </p:nvSpPr>
        <p:spPr>
          <a:xfrm>
            <a:off x="384321" y="1493410"/>
            <a:ext cx="6697013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72000" lvl="0" indent="-72000" algn="l">
              <a:buFont typeface="Arial" panose="020B0604020202020204" pitchFamily="34" charset="0"/>
              <a:buChar char="•"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신용평가등급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:</a:t>
            </a:r>
            <a:endParaRPr lang="en-US" altLang="ko-KR" sz="8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97AD68DD-26A5-F266-27B8-97CD026711F7}"/>
              </a:ext>
            </a:extLst>
          </p:cNvPr>
          <p:cNvSpPr/>
          <p:nvPr/>
        </p:nvSpPr>
        <p:spPr>
          <a:xfrm>
            <a:off x="1556995" y="2069141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검색 구분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B0EA4203-40A1-FF89-7399-40507C6A418C}"/>
              </a:ext>
            </a:extLst>
          </p:cNvPr>
          <p:cNvSpPr/>
          <p:nvPr/>
        </p:nvSpPr>
        <p:spPr>
          <a:xfrm>
            <a:off x="2367246" y="2069143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C713877C-014B-0C4E-7646-2F0559E28A85}"/>
              </a:ext>
            </a:extLst>
          </p:cNvPr>
          <p:cNvSpPr/>
          <p:nvPr/>
        </p:nvSpPr>
        <p:spPr>
          <a:xfrm>
            <a:off x="2682383" y="2069141"/>
            <a:ext cx="3619804" cy="2080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검색어를 입력하세요</a:t>
            </a:r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800" b="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6149A798-F7C0-FAFA-C045-FF4AE4142979}"/>
              </a:ext>
            </a:extLst>
          </p:cNvPr>
          <p:cNvSpPr/>
          <p:nvPr/>
        </p:nvSpPr>
        <p:spPr>
          <a:xfrm>
            <a:off x="6390391" y="2069143"/>
            <a:ext cx="625198" cy="2154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검색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ECF94FF6-D300-3E1A-BF01-FDF28919E72D}"/>
              </a:ext>
            </a:extLst>
          </p:cNvPr>
          <p:cNvSpPr/>
          <p:nvPr/>
        </p:nvSpPr>
        <p:spPr>
          <a:xfrm>
            <a:off x="1556995" y="1513303"/>
            <a:ext cx="1082504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신용평가등급 선택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C0817CA0-82CD-E97A-15B4-14ADE710D052}"/>
              </a:ext>
            </a:extLst>
          </p:cNvPr>
          <p:cNvSpPr/>
          <p:nvPr/>
        </p:nvSpPr>
        <p:spPr>
          <a:xfrm>
            <a:off x="2638952" y="1513305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CB6AC349-9669-154D-4249-CFF9CE37615D}"/>
              </a:ext>
            </a:extLst>
          </p:cNvPr>
          <p:cNvSpPr/>
          <p:nvPr/>
        </p:nvSpPr>
        <p:spPr>
          <a:xfrm>
            <a:off x="6643625" y="2551044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en-US" altLang="ko-KR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개씩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5F93E97F-3BD6-57E3-D5F2-0792833AA904}"/>
              </a:ext>
            </a:extLst>
          </p:cNvPr>
          <p:cNvSpPr/>
          <p:nvPr/>
        </p:nvSpPr>
        <p:spPr>
          <a:xfrm>
            <a:off x="7465087" y="2551044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6DCF87A6-52DE-35DD-426E-D43C55ACB7A5}"/>
              </a:ext>
            </a:extLst>
          </p:cNvPr>
          <p:cNvSpPr txBox="1"/>
          <p:nvPr/>
        </p:nvSpPr>
        <p:spPr>
          <a:xfrm>
            <a:off x="329978" y="2537526"/>
            <a:ext cx="2975920" cy="230832"/>
          </a:xfrm>
          <a:prstGeom prst="rect">
            <a:avLst/>
          </a:prstGeom>
          <a:noFill/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전체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1,523</a:t>
            </a:r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건 현재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en-US" altLang="ko-KR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/4</a:t>
            </a:r>
            <a:endParaRPr lang="ko-KR" altLang="en-US" sz="900" b="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CCE90690-F38F-D0C7-885A-728F72F9C4AD}"/>
              </a:ext>
            </a:extLst>
          </p:cNvPr>
          <p:cNvGraphicFramePr>
            <a:graphicFrameLocks noGrp="1"/>
          </p:cNvGraphicFramePr>
          <p:nvPr/>
        </p:nvGraphicFramePr>
        <p:xfrm>
          <a:off x="328373" y="2880996"/>
          <a:ext cx="7360930" cy="2027520"/>
        </p:xfrm>
        <a:graphic>
          <a:graphicData uri="http://schemas.openxmlformats.org/drawingml/2006/table">
            <a:tbl>
              <a:tblPr firstRow="1" bandRow="1"/>
              <a:tblGrid>
                <a:gridCol w="277606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1123784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1081026">
                  <a:extLst>
                    <a:ext uri="{9D8B030D-6E8A-4147-A177-3AD203B41FA5}">
                      <a16:colId xmlns:a16="http://schemas.microsoft.com/office/drawing/2014/main" val="3053194834"/>
                    </a:ext>
                  </a:extLst>
                </a:gridCol>
                <a:gridCol w="547663">
                  <a:extLst>
                    <a:ext uri="{9D8B030D-6E8A-4147-A177-3AD203B41FA5}">
                      <a16:colId xmlns:a16="http://schemas.microsoft.com/office/drawing/2014/main" val="419952432"/>
                    </a:ext>
                  </a:extLst>
                </a:gridCol>
                <a:gridCol w="588171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1211552">
                  <a:extLst>
                    <a:ext uri="{9D8B030D-6E8A-4147-A177-3AD203B41FA5}">
                      <a16:colId xmlns:a16="http://schemas.microsoft.com/office/drawing/2014/main" val="3408856969"/>
                    </a:ext>
                  </a:extLst>
                </a:gridCol>
                <a:gridCol w="1578380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952748">
                  <a:extLst>
                    <a:ext uri="{9D8B030D-6E8A-4147-A177-3AD203B41FA5}">
                      <a16:colId xmlns:a16="http://schemas.microsoft.com/office/drawing/2014/main" val="177855800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□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사업자번호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업체명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대표자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핸드폰번호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이메일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신용평가등급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itchFamily="2" charset="-127"/>
                          <a:ea typeface="나눔고딕" pitchFamily="2" charset="-127"/>
                          <a:cs typeface="+mn-cs"/>
                        </a:rPr>
                        <a:t>□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itchFamily="2" charset="-127"/>
                        <a:ea typeface="나눔고딕" pitchFamily="2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123-45-67891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삼전디에스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한지훈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010-1234-5678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leehee43@naver.com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-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itchFamily="2" charset="-127"/>
                          <a:ea typeface="나눔고딕" pitchFamily="2" charset="-127"/>
                          <a:cs typeface="+mn-cs"/>
                        </a:rPr>
                        <a:t>□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itchFamily="2" charset="-127"/>
                        <a:ea typeface="나눔고딕" pitchFamily="2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123-45-67891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넷퍼시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김미라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AAA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itchFamily="2" charset="-127"/>
                          <a:ea typeface="나눔고딕" pitchFamily="2" charset="-127"/>
                          <a:cs typeface="+mn-cs"/>
                        </a:rPr>
                        <a:t>□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itchFamily="2" charset="-127"/>
                        <a:ea typeface="나눔고딕" pitchFamily="2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123-45-67891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대현건설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하지영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-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itchFamily="2" charset="-127"/>
                          <a:ea typeface="나눔고딕" pitchFamily="2" charset="-127"/>
                          <a:cs typeface="+mn-cs"/>
                        </a:rPr>
                        <a:t>□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itchFamily="2" charset="-127"/>
                        <a:ea typeface="나눔고딕" pitchFamily="2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123-45-67891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한성건설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김지연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AAA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3946446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itchFamily="2" charset="-127"/>
                          <a:ea typeface="나눔고딕" pitchFamily="2" charset="-127"/>
                          <a:cs typeface="+mn-cs"/>
                        </a:rPr>
                        <a:t>□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123-45-67891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KEB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테크놀로지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박가람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AAA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8773569"/>
                  </a:ext>
                </a:extLst>
              </a:tr>
            </a:tbl>
          </a:graphicData>
        </a:graphic>
      </p:graphicFrame>
      <p:grpSp>
        <p:nvGrpSpPr>
          <p:cNvPr id="48" name="그룹 47">
            <a:extLst>
              <a:ext uri="{FF2B5EF4-FFF2-40B4-BE49-F238E27FC236}">
                <a16:creationId xmlns:a16="http://schemas.microsoft.com/office/drawing/2014/main" id="{A3E72EE9-ED7D-4482-D606-3645F35E1ABB}"/>
              </a:ext>
            </a:extLst>
          </p:cNvPr>
          <p:cNvGrpSpPr/>
          <p:nvPr/>
        </p:nvGrpSpPr>
        <p:grpSpPr>
          <a:xfrm>
            <a:off x="2152691" y="5038406"/>
            <a:ext cx="4025354" cy="216024"/>
            <a:chOff x="2992062" y="4869160"/>
            <a:chExt cx="4025354" cy="216024"/>
          </a:xfrm>
        </p:grpSpPr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2FD63F96-6688-798C-D0EF-FF38CE480504}"/>
                </a:ext>
              </a:extLst>
            </p:cNvPr>
            <p:cNvSpPr/>
            <p:nvPr/>
          </p:nvSpPr>
          <p:spPr>
            <a:xfrm>
              <a:off x="2992062" y="4869160"/>
              <a:ext cx="216000" cy="21602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◀</a:t>
              </a:r>
            </a:p>
          </p:txBody>
        </p:sp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D8091010-5A36-2E69-9F24-D881F8C8CAC3}"/>
                </a:ext>
              </a:extLst>
            </p:cNvPr>
            <p:cNvSpPr/>
            <p:nvPr/>
          </p:nvSpPr>
          <p:spPr>
            <a:xfrm>
              <a:off x="3285089" y="4869160"/>
              <a:ext cx="216000" cy="21602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&lt;</a:t>
              </a:r>
              <a:endPara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276C3096-143D-5943-93F7-F4D25B68B600}"/>
                </a:ext>
              </a:extLst>
            </p:cNvPr>
            <p:cNvSpPr/>
            <p:nvPr/>
          </p:nvSpPr>
          <p:spPr>
            <a:xfrm>
              <a:off x="3578116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3FDE1727-EB00-A746-01CB-B67B7E7BB9D4}"/>
                </a:ext>
              </a:extLst>
            </p:cNvPr>
            <p:cNvSpPr/>
            <p:nvPr/>
          </p:nvSpPr>
          <p:spPr>
            <a:xfrm>
              <a:off x="3871143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4F769EF0-345F-91FF-7C87-1CE38E76FD65}"/>
                </a:ext>
              </a:extLst>
            </p:cNvPr>
            <p:cNvSpPr/>
            <p:nvPr/>
          </p:nvSpPr>
          <p:spPr>
            <a:xfrm>
              <a:off x="4164170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7A40CF68-CB5C-48E8-DFCC-21D2D70B8B1F}"/>
                </a:ext>
              </a:extLst>
            </p:cNvPr>
            <p:cNvSpPr/>
            <p:nvPr/>
          </p:nvSpPr>
          <p:spPr>
            <a:xfrm>
              <a:off x="4457197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8BA9F1D0-516E-BEA2-1599-547DF98DCB41}"/>
                </a:ext>
              </a:extLst>
            </p:cNvPr>
            <p:cNvSpPr/>
            <p:nvPr/>
          </p:nvSpPr>
          <p:spPr>
            <a:xfrm>
              <a:off x="4750224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029927A8-34A5-13E6-6754-0B732E50DDB5}"/>
                </a:ext>
              </a:extLst>
            </p:cNvPr>
            <p:cNvSpPr/>
            <p:nvPr/>
          </p:nvSpPr>
          <p:spPr>
            <a:xfrm>
              <a:off x="5043251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0C2651A3-1691-3E68-F24F-3FD83CC9893B}"/>
                </a:ext>
              </a:extLst>
            </p:cNvPr>
            <p:cNvSpPr/>
            <p:nvPr/>
          </p:nvSpPr>
          <p:spPr>
            <a:xfrm>
              <a:off x="5336278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DB37A816-22D7-5B61-6FD3-256F7D5894BA}"/>
                </a:ext>
              </a:extLst>
            </p:cNvPr>
            <p:cNvSpPr/>
            <p:nvPr/>
          </p:nvSpPr>
          <p:spPr>
            <a:xfrm>
              <a:off x="5629305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FADA94E9-0B29-B4F4-A631-3CA048E86E3A}"/>
                </a:ext>
              </a:extLst>
            </p:cNvPr>
            <p:cNvSpPr/>
            <p:nvPr/>
          </p:nvSpPr>
          <p:spPr>
            <a:xfrm>
              <a:off x="5922332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4F1539D5-28D2-4FB9-4D2E-8580B60EFEDB}"/>
                </a:ext>
              </a:extLst>
            </p:cNvPr>
            <p:cNvSpPr/>
            <p:nvPr/>
          </p:nvSpPr>
          <p:spPr>
            <a:xfrm>
              <a:off x="6215359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0BA10770-FBE5-AAE0-6F77-287ACC7CD32D}"/>
                </a:ext>
              </a:extLst>
            </p:cNvPr>
            <p:cNvSpPr/>
            <p:nvPr/>
          </p:nvSpPr>
          <p:spPr>
            <a:xfrm>
              <a:off x="6508386" y="4869160"/>
              <a:ext cx="216000" cy="21602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&gt;</a:t>
              </a:r>
              <a:endPara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789A4DBC-6650-0B55-D6D5-F48CFB349D9B}"/>
                </a:ext>
              </a:extLst>
            </p:cNvPr>
            <p:cNvSpPr/>
            <p:nvPr/>
          </p:nvSpPr>
          <p:spPr>
            <a:xfrm>
              <a:off x="6801416" y="4869160"/>
              <a:ext cx="216000" cy="21602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▶</a:t>
              </a:r>
            </a:p>
          </p:txBody>
        </p:sp>
      </p:grpSp>
      <p:sp>
        <p:nvSpPr>
          <p:cNvPr id="63" name="TextBox 62">
            <a:extLst>
              <a:ext uri="{FF2B5EF4-FFF2-40B4-BE49-F238E27FC236}">
                <a16:creationId xmlns:a16="http://schemas.microsoft.com/office/drawing/2014/main" id="{4053FF4B-C823-9840-7045-32A9C96858F1}"/>
              </a:ext>
            </a:extLst>
          </p:cNvPr>
          <p:cNvSpPr txBox="1"/>
          <p:nvPr/>
        </p:nvSpPr>
        <p:spPr>
          <a:xfrm>
            <a:off x="384321" y="1763561"/>
            <a:ext cx="6697013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72000" lvl="0" indent="-72000" algn="l">
              <a:buFont typeface="Arial" panose="020B0604020202020204" pitchFamily="34" charset="0"/>
              <a:buChar char="•"/>
              <a:defRPr/>
            </a:pPr>
            <a:r>
              <a:rPr kumimoji="1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소싱 그룹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:</a:t>
            </a:r>
            <a:endParaRPr lang="en-US" altLang="ko-KR" sz="8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FB86064C-0F3B-4C6C-EAD2-83DB8E85D4A7}"/>
              </a:ext>
            </a:extLst>
          </p:cNvPr>
          <p:cNvSpPr/>
          <p:nvPr/>
        </p:nvSpPr>
        <p:spPr>
          <a:xfrm>
            <a:off x="1556995" y="1789534"/>
            <a:ext cx="1297398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대분류 선택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30461C6B-F415-7484-7E02-BD33BE13B2DB}"/>
              </a:ext>
            </a:extLst>
          </p:cNvPr>
          <p:cNvSpPr/>
          <p:nvPr/>
        </p:nvSpPr>
        <p:spPr>
          <a:xfrm>
            <a:off x="2648276" y="1789536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3665EEAA-79B5-E894-FC7B-DD5A5B455482}"/>
              </a:ext>
            </a:extLst>
          </p:cNvPr>
          <p:cNvSpPr/>
          <p:nvPr/>
        </p:nvSpPr>
        <p:spPr>
          <a:xfrm>
            <a:off x="2933204" y="1789534"/>
            <a:ext cx="1297398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중분류 선택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DD204E6A-7430-B135-CB19-BA0A07AF74FC}"/>
              </a:ext>
            </a:extLst>
          </p:cNvPr>
          <p:cNvSpPr/>
          <p:nvPr/>
        </p:nvSpPr>
        <p:spPr>
          <a:xfrm>
            <a:off x="4024485" y="1789536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774CDEB1-7CE1-EAB6-4CFC-C5E9B7BAAB0A}"/>
              </a:ext>
            </a:extLst>
          </p:cNvPr>
          <p:cNvSpPr/>
          <p:nvPr/>
        </p:nvSpPr>
        <p:spPr>
          <a:xfrm>
            <a:off x="4302662" y="1789534"/>
            <a:ext cx="1297398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소분류 선택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AAE77D45-5297-C96E-2FAE-490605591078}"/>
              </a:ext>
            </a:extLst>
          </p:cNvPr>
          <p:cNvSpPr/>
          <p:nvPr/>
        </p:nvSpPr>
        <p:spPr>
          <a:xfrm>
            <a:off x="5393943" y="1789536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5E783774-5CF4-42A2-46D9-A76BE13E9C45}"/>
              </a:ext>
            </a:extLst>
          </p:cNvPr>
          <p:cNvSpPr/>
          <p:nvPr/>
        </p:nvSpPr>
        <p:spPr>
          <a:xfrm>
            <a:off x="6876888" y="5375017"/>
            <a:ext cx="813083" cy="28803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70B347-E34D-7736-C84B-058A302257F7}"/>
              </a:ext>
            </a:extLst>
          </p:cNvPr>
          <p:cNvSpPr/>
          <p:nvPr/>
        </p:nvSpPr>
        <p:spPr>
          <a:xfrm>
            <a:off x="6013123" y="5375017"/>
            <a:ext cx="813083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선택 추가</a:t>
            </a: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0417330B-6704-38EB-8FAA-8A4D0C454455}"/>
              </a:ext>
            </a:extLst>
          </p:cNvPr>
          <p:cNvSpPr/>
          <p:nvPr/>
        </p:nvSpPr>
        <p:spPr>
          <a:xfrm>
            <a:off x="220361" y="2326273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192766F-0C81-9544-4E8E-9E6E4212B797}"/>
              </a:ext>
            </a:extLst>
          </p:cNvPr>
          <p:cNvSpPr txBox="1"/>
          <p:nvPr/>
        </p:nvSpPr>
        <p:spPr>
          <a:xfrm>
            <a:off x="8049344" y="584684"/>
            <a:ext cx="1856656" cy="23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승인된 협력업체만 호출함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67290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9DBF90-C370-1024-9A8A-DE3EA5E5C6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C2C2D55E-837F-3775-CFC1-C1DBDD4E9F23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CDAE71A-A23D-311C-2FDC-EF64F82EB630}"/>
              </a:ext>
            </a:extLst>
          </p:cNvPr>
          <p:cNvSpPr txBox="1"/>
          <p:nvPr/>
        </p:nvSpPr>
        <p:spPr>
          <a:xfrm>
            <a:off x="749224" y="25608"/>
            <a:ext cx="296106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설정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 계획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14805A0-18B4-07EF-798C-736624796E3D}"/>
              </a:ext>
            </a:extLst>
          </p:cNvPr>
          <p:cNvSpPr txBox="1"/>
          <p:nvPr/>
        </p:nvSpPr>
        <p:spPr>
          <a:xfrm>
            <a:off x="8039819" y="584684"/>
            <a:ext cx="1856656" cy="60631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평가를 하지 않는 경우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최저가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인 경우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에는 접근하지 못함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Alert 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본 공고는 심사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 대상이 아닙니다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.’</a:t>
            </a: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자가심사 여부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: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필수로 체크된 건들만 협력업체의 자가심사 항목으로 관리됨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기준정보 관리에서 설정해 둔 공통 심사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 내역을 불러와서 설정할 수 있음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다음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페이지 팝업 호출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협력업체의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화면에 보일 심사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평가의 순서 조정 기능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심사/평가 항목을 개별적으로 등록하는 경우 사용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다음 페이지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평가항목 추가/수정’ 팝업 호출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제한적 최저가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’, ‘2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분리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)’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의 경우에는</a:t>
            </a:r>
            <a:b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b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총 배점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반드시 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45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점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‘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최저점수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적격여부 판단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)’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반드시 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점으로 세팅되어야 저장할 수 있음</a:t>
            </a:r>
            <a:b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Alert</a:t>
            </a:r>
            <a:b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“‘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총 배점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반드시 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45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점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‘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최저점수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적격여부 판단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)’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반드시 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점으로 세팅되어야 합니다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.”</a:t>
            </a:r>
            <a:endParaRPr lang="ko-KR" altLang="en-US" sz="800" u="sng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2BD186A3-9F14-7BE3-6DB2-3570DDF5F1EA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F6498EE8-82A7-E9A3-5EDA-C470543C741A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C963062F-ACAF-54A7-EA24-29027942FEAF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B189A49-11FB-AB66-851A-E9FA62959822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50232A3D-93FE-4E41-C379-50D978C1D765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6D855C76-2462-C9A5-0224-A217EE15FD68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8" name="Picture 1">
            <a:extLst>
              <a:ext uri="{FF2B5EF4-FFF2-40B4-BE49-F238E27FC236}">
                <a16:creationId xmlns:a16="http://schemas.microsoft.com/office/drawing/2014/main" id="{1DF064D3-B0A6-0AB3-75FA-87D0AE8BA4E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grpSp>
        <p:nvGrpSpPr>
          <p:cNvPr id="38" name="그룹 37">
            <a:extLst>
              <a:ext uri="{FF2B5EF4-FFF2-40B4-BE49-F238E27FC236}">
                <a16:creationId xmlns:a16="http://schemas.microsoft.com/office/drawing/2014/main" id="{544476DD-0F7A-034B-8161-4CC4C4A3CF1C}"/>
              </a:ext>
            </a:extLst>
          </p:cNvPr>
          <p:cNvGrpSpPr/>
          <p:nvPr/>
        </p:nvGrpSpPr>
        <p:grpSpPr>
          <a:xfrm>
            <a:off x="164467" y="826923"/>
            <a:ext cx="7717012" cy="643315"/>
            <a:chOff x="252353" y="826923"/>
            <a:chExt cx="7629126" cy="643315"/>
          </a:xfrm>
        </p:grpSpPr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8FD93B0C-B78B-68A2-E7DF-E08FCA479307}"/>
                </a:ext>
              </a:extLst>
            </p:cNvPr>
            <p:cNvSpPr/>
            <p:nvPr/>
          </p:nvSpPr>
          <p:spPr>
            <a:xfrm>
              <a:off x="1352599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02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상세정보</a:t>
              </a:r>
              <a:endPara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B7FE4FA6-1AA8-54C4-7FA0-2A43EF30D289}"/>
                </a:ext>
              </a:extLst>
            </p:cNvPr>
            <p:cNvSpPr/>
            <p:nvPr/>
          </p:nvSpPr>
          <p:spPr>
            <a:xfrm>
              <a:off x="2452845" y="826923"/>
              <a:ext cx="1027647" cy="643315"/>
            </a:xfrm>
            <a:prstGeom prst="rect">
              <a:avLst/>
            </a:prstGeom>
            <a:solidFill>
              <a:srgbClr val="FFC000">
                <a:alpha val="69804"/>
              </a:srgb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03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심사</a:t>
              </a:r>
              <a:r>
                <a:rPr lang="en-US" altLang="ko-KR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</a:t>
              </a: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평가 계획</a:t>
              </a:r>
            </a:p>
          </p:txBody>
        </p: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3F49FC55-4419-8869-48A7-F85FE1327A85}"/>
                </a:ext>
              </a:extLst>
            </p:cNvPr>
            <p:cNvSpPr/>
            <p:nvPr/>
          </p:nvSpPr>
          <p:spPr>
            <a:xfrm>
              <a:off x="3553091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04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b="1" spc="-5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예정가</a:t>
              </a:r>
              <a:r>
                <a:rPr lang="ko-KR" altLang="en-US" sz="800" b="1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</a:t>
              </a:r>
              <a:r>
                <a:rPr lang="en-US" altLang="ko-KR" sz="800" b="1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 </a:t>
              </a:r>
              <a:r>
                <a:rPr lang="ko-KR" altLang="en-US" sz="800" b="1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예비가</a:t>
              </a: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5CD03E5B-DB7D-C55E-9727-61AD2E50CBCA}"/>
                </a:ext>
              </a:extLst>
            </p:cNvPr>
            <p:cNvSpPr/>
            <p:nvPr/>
          </p:nvSpPr>
          <p:spPr>
            <a:xfrm>
              <a:off x="5753583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06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최종 점검</a:t>
              </a:r>
              <a:endPara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789AF5FF-8B53-2708-ADCB-748364B19F25}"/>
                </a:ext>
              </a:extLst>
            </p:cNvPr>
            <p:cNvSpPr/>
            <p:nvPr/>
          </p:nvSpPr>
          <p:spPr>
            <a:xfrm>
              <a:off x="6853832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07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등록 완료</a:t>
              </a:r>
              <a:endPara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C37FFA95-591D-0395-C7C7-353FCE077020}"/>
                </a:ext>
              </a:extLst>
            </p:cNvPr>
            <p:cNvSpPr/>
            <p:nvPr/>
          </p:nvSpPr>
          <p:spPr>
            <a:xfrm>
              <a:off x="4653337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72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05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 참여 서류</a:t>
              </a:r>
            </a:p>
          </p:txBody>
        </p:sp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0CC36937-1059-EB98-ED1D-D52C68CD333A}"/>
                </a:ext>
              </a:extLst>
            </p:cNvPr>
            <p:cNvSpPr/>
            <p:nvPr/>
          </p:nvSpPr>
          <p:spPr>
            <a:xfrm>
              <a:off x="252353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01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발주계획 정보 확인</a:t>
              </a:r>
              <a:endPara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47848F58-4EC5-5001-FFC4-564B33C5F305}"/>
              </a:ext>
            </a:extLst>
          </p:cNvPr>
          <p:cNvSpPr/>
          <p:nvPr/>
        </p:nvSpPr>
        <p:spPr>
          <a:xfrm>
            <a:off x="183392" y="2331238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 항목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FFBE5F9-A3E5-C7AD-5660-F26A4E74BAF4}"/>
              </a:ext>
            </a:extLst>
          </p:cNvPr>
          <p:cNvSpPr txBox="1"/>
          <p:nvPr/>
        </p:nvSpPr>
        <p:spPr>
          <a:xfrm>
            <a:off x="164468" y="2584522"/>
            <a:ext cx="3053340" cy="230832"/>
          </a:xfrm>
          <a:prstGeom prst="rect">
            <a:avLst/>
          </a:prstGeom>
          <a:noFill/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등록된 심사</a:t>
            </a:r>
            <a:r>
              <a:rPr lang="en-US" altLang="ko-KR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 항목 </a:t>
            </a:r>
            <a:r>
              <a:rPr lang="en-US" altLang="ko-KR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총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건</a:t>
            </a: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FE63739D-4420-95C2-9A30-4A8A89CE09F3}"/>
              </a:ext>
            </a:extLst>
          </p:cNvPr>
          <p:cNvGraphicFramePr>
            <a:graphicFrameLocks noGrp="1"/>
          </p:cNvGraphicFramePr>
          <p:nvPr/>
        </p:nvGraphicFramePr>
        <p:xfrm>
          <a:off x="164468" y="5022948"/>
          <a:ext cx="7736576" cy="1315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88918">
                  <a:extLst>
                    <a:ext uri="{9D8B030D-6E8A-4147-A177-3AD203B41FA5}">
                      <a16:colId xmlns:a16="http://schemas.microsoft.com/office/drawing/2014/main" val="477224945"/>
                    </a:ext>
                  </a:extLst>
                </a:gridCol>
                <a:gridCol w="6347658">
                  <a:extLst>
                    <a:ext uri="{9D8B030D-6E8A-4147-A177-3AD203B41FA5}">
                      <a16:colId xmlns:a16="http://schemas.microsoft.com/office/drawing/2014/main" val="34787164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최저점수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적격여부 판단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※ </a:t>
                      </a:r>
                      <a:r>
                        <a:rPr lang="ko-KR" altLang="en-US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낙찰자 선정방법이 ‘제한적 최저가’</a:t>
                      </a:r>
                      <a:r>
                        <a:rPr lang="en-US" altLang="ko-KR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, ‘2</a:t>
                      </a:r>
                      <a:r>
                        <a:rPr lang="ko-KR" altLang="en-US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단계 경쟁입찰</a:t>
                      </a:r>
                      <a:r>
                        <a:rPr lang="en-US" altLang="ko-KR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규격</a:t>
                      </a:r>
                      <a:r>
                        <a:rPr lang="en-US" altLang="ko-KR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가격 동시</a:t>
                      </a:r>
                      <a:r>
                        <a:rPr lang="en-US" altLang="ko-KR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)’, ‘2</a:t>
                      </a:r>
                      <a:r>
                        <a:rPr lang="ko-KR" altLang="en-US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단계 경쟁입찰</a:t>
                      </a:r>
                      <a:r>
                        <a:rPr lang="en-US" altLang="ko-KR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규격</a:t>
                      </a:r>
                      <a:r>
                        <a:rPr lang="en-US" altLang="ko-KR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가격 분리</a:t>
                      </a:r>
                      <a:r>
                        <a:rPr lang="en-US" altLang="ko-KR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)’, ‘</a:t>
                      </a:r>
                      <a:r>
                        <a:rPr lang="ko-KR" altLang="en-US" sz="800" b="0" dirty="0" err="1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적격심사’의</a:t>
                      </a:r>
                      <a:r>
                        <a:rPr lang="ko-KR" altLang="en-US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경우에만 입력해주세요</a:t>
                      </a:r>
                      <a:r>
                        <a:rPr lang="en-US" altLang="ko-KR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.</a:t>
                      </a:r>
                      <a:br>
                        <a:rPr lang="ko-KR" altLang="en-US" sz="800" b="0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b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                        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점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2090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심사기준</a:t>
                      </a:r>
                      <a:b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</a:b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배점 및 평가기준 등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8533698"/>
                  </a:ext>
                </a:extLst>
              </a:tr>
            </a:tbl>
          </a:graphicData>
        </a:graphic>
      </p:graphicFrame>
      <p:sp>
        <p:nvSpPr>
          <p:cNvPr id="28" name="직사각형 27">
            <a:extLst>
              <a:ext uri="{FF2B5EF4-FFF2-40B4-BE49-F238E27FC236}">
                <a16:creationId xmlns:a16="http://schemas.microsoft.com/office/drawing/2014/main" id="{054D19F4-55FA-A826-73D3-159D9E083369}"/>
              </a:ext>
            </a:extLst>
          </p:cNvPr>
          <p:cNvSpPr/>
          <p:nvPr/>
        </p:nvSpPr>
        <p:spPr>
          <a:xfrm>
            <a:off x="6681192" y="4633635"/>
            <a:ext cx="1095462" cy="28803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평가항목 추가</a:t>
            </a:r>
          </a:p>
        </p:txBody>
      </p:sp>
      <p:pic>
        <p:nvPicPr>
          <p:cNvPr id="50" name="그림 49">
            <a:extLst>
              <a:ext uri="{FF2B5EF4-FFF2-40B4-BE49-F238E27FC236}">
                <a16:creationId xmlns:a16="http://schemas.microsoft.com/office/drawing/2014/main" id="{38C0EA04-6C4B-1DAC-A164-1C3EEFEE318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31107" y="5678916"/>
            <a:ext cx="5643259" cy="592905"/>
          </a:xfrm>
          <a:prstGeom prst="rect">
            <a:avLst/>
          </a:prstGeom>
        </p:spPr>
      </p:pic>
      <p:sp>
        <p:nvSpPr>
          <p:cNvPr id="55" name="직사각형 54">
            <a:extLst>
              <a:ext uri="{FF2B5EF4-FFF2-40B4-BE49-F238E27FC236}">
                <a16:creationId xmlns:a16="http://schemas.microsoft.com/office/drawing/2014/main" id="{4957E850-BE31-ABB8-3D2D-D98F77CEC386}"/>
              </a:ext>
            </a:extLst>
          </p:cNvPr>
          <p:cNvSpPr/>
          <p:nvPr/>
        </p:nvSpPr>
        <p:spPr>
          <a:xfrm>
            <a:off x="5933701" y="4635134"/>
            <a:ext cx="699002" cy="28803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순서 적용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185C37DC-9C92-C1FC-87FB-28E65485A1D6}"/>
              </a:ext>
            </a:extLst>
          </p:cNvPr>
          <p:cNvGraphicFramePr>
            <a:graphicFrameLocks noGrp="1"/>
          </p:cNvGraphicFramePr>
          <p:nvPr/>
        </p:nvGraphicFramePr>
        <p:xfrm>
          <a:off x="171332" y="2846102"/>
          <a:ext cx="7710143" cy="1689600"/>
        </p:xfrm>
        <a:graphic>
          <a:graphicData uri="http://schemas.openxmlformats.org/drawingml/2006/table">
            <a:tbl>
              <a:tblPr firstRow="1" bandRow="1"/>
              <a:tblGrid>
                <a:gridCol w="414857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1292602">
                  <a:extLst>
                    <a:ext uri="{9D8B030D-6E8A-4147-A177-3AD203B41FA5}">
                      <a16:colId xmlns:a16="http://schemas.microsoft.com/office/drawing/2014/main" val="2348944443"/>
                    </a:ext>
                  </a:extLst>
                </a:gridCol>
                <a:gridCol w="1637033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662069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1225937">
                  <a:extLst>
                    <a:ext uri="{9D8B030D-6E8A-4147-A177-3AD203B41FA5}">
                      <a16:colId xmlns:a16="http://schemas.microsoft.com/office/drawing/2014/main" val="2021310288"/>
                    </a:ext>
                  </a:extLst>
                </a:gridCol>
                <a:gridCol w="892617">
                  <a:extLst>
                    <a:ext uri="{9D8B030D-6E8A-4147-A177-3AD203B41FA5}">
                      <a16:colId xmlns:a16="http://schemas.microsoft.com/office/drawing/2014/main" val="2051809351"/>
                    </a:ext>
                  </a:extLst>
                </a:gridCol>
                <a:gridCol w="792514">
                  <a:extLst>
                    <a:ext uri="{9D8B030D-6E8A-4147-A177-3AD203B41FA5}">
                      <a16:colId xmlns:a16="http://schemas.microsoft.com/office/drawing/2014/main" val="2389845546"/>
                    </a:ext>
                  </a:extLst>
                </a:gridCol>
                <a:gridCol w="792514">
                  <a:extLst>
                    <a:ext uri="{9D8B030D-6E8A-4147-A177-3AD203B41FA5}">
                      <a16:colId xmlns:a16="http://schemas.microsoft.com/office/drawing/2014/main" val="187472664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No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심사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/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평가 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심사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/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평가 항목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배점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자가심사 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순서 조정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수정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삭제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계량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정량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신용평가등급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필요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▼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계량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정량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시공경험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일반공사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필요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▼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 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▲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비계량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정성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제안 평가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60.00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불필요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▲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총 배점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80.00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6865154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14C89F14-C204-0C90-5EBB-423A7D1FDC21}"/>
              </a:ext>
            </a:extLst>
          </p:cNvPr>
          <p:cNvSpPr/>
          <p:nvPr/>
        </p:nvSpPr>
        <p:spPr>
          <a:xfrm>
            <a:off x="6452473" y="3249442"/>
            <a:ext cx="458854" cy="215441"/>
          </a:xfrm>
          <a:prstGeom prst="rect">
            <a:avLst/>
          </a:prstGeom>
          <a:solidFill>
            <a:schemeClr val="bg1">
              <a:lumMod val="7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수정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86F172A-DE65-686E-E24E-4DF87355A779}"/>
              </a:ext>
            </a:extLst>
          </p:cNvPr>
          <p:cNvSpPr/>
          <p:nvPr/>
        </p:nvSpPr>
        <p:spPr>
          <a:xfrm>
            <a:off x="6452473" y="3588640"/>
            <a:ext cx="458854" cy="215441"/>
          </a:xfrm>
          <a:prstGeom prst="rect">
            <a:avLst/>
          </a:prstGeom>
          <a:solidFill>
            <a:schemeClr val="bg1">
              <a:lumMod val="7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수정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57C83748-A24C-1F23-D33B-AC5926D915E1}"/>
              </a:ext>
            </a:extLst>
          </p:cNvPr>
          <p:cNvSpPr/>
          <p:nvPr/>
        </p:nvSpPr>
        <p:spPr>
          <a:xfrm>
            <a:off x="6452473" y="3927838"/>
            <a:ext cx="458854" cy="215441"/>
          </a:xfrm>
          <a:prstGeom prst="rect">
            <a:avLst/>
          </a:prstGeom>
          <a:solidFill>
            <a:schemeClr val="bg1">
              <a:lumMod val="7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수정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16C164DB-32F8-C6A9-45E1-A54CA469C916}"/>
              </a:ext>
            </a:extLst>
          </p:cNvPr>
          <p:cNvSpPr/>
          <p:nvPr/>
        </p:nvSpPr>
        <p:spPr>
          <a:xfrm>
            <a:off x="7274366" y="3249442"/>
            <a:ext cx="458854" cy="2154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삭제</a:t>
            </a:r>
            <a:endParaRPr lang="en-US" altLang="ko-KR" sz="8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BC745795-A6FC-1473-8AA6-6AE4081163B0}"/>
              </a:ext>
            </a:extLst>
          </p:cNvPr>
          <p:cNvSpPr/>
          <p:nvPr/>
        </p:nvSpPr>
        <p:spPr>
          <a:xfrm>
            <a:off x="7274366" y="3588640"/>
            <a:ext cx="458854" cy="2154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삭제</a:t>
            </a:r>
            <a:endParaRPr lang="en-US" altLang="ko-KR" sz="8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945F5E4E-F580-E1F2-C37A-04236AB6564C}"/>
              </a:ext>
            </a:extLst>
          </p:cNvPr>
          <p:cNvSpPr/>
          <p:nvPr/>
        </p:nvSpPr>
        <p:spPr>
          <a:xfrm>
            <a:off x="7274366" y="3927838"/>
            <a:ext cx="458854" cy="2154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삭제</a:t>
            </a:r>
            <a:endParaRPr lang="en-US" altLang="ko-KR" sz="8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CA03ADC6-82FD-6C4F-8B75-623AC18B4FB2}"/>
              </a:ext>
            </a:extLst>
          </p:cNvPr>
          <p:cNvSpPr/>
          <p:nvPr/>
        </p:nvSpPr>
        <p:spPr>
          <a:xfrm>
            <a:off x="4448944" y="4635134"/>
            <a:ext cx="1425759" cy="288032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공통 심사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 불러오기</a:t>
            </a: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39FF0953-2EAD-3281-865F-214E85206644}"/>
              </a:ext>
            </a:extLst>
          </p:cNvPr>
          <p:cNvSpPr/>
          <p:nvPr/>
        </p:nvSpPr>
        <p:spPr>
          <a:xfrm>
            <a:off x="4124908" y="2743634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8A3767EC-8A2D-C97D-F522-6D4098DFEA1E}"/>
              </a:ext>
            </a:extLst>
          </p:cNvPr>
          <p:cNvSpPr/>
          <p:nvPr/>
        </p:nvSpPr>
        <p:spPr>
          <a:xfrm>
            <a:off x="5312239" y="2743634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0D099A30-36EB-2386-B1F7-24B496FCF084}"/>
              </a:ext>
            </a:extLst>
          </p:cNvPr>
          <p:cNvSpPr/>
          <p:nvPr/>
        </p:nvSpPr>
        <p:spPr>
          <a:xfrm>
            <a:off x="4311433" y="4535352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00F2EFF8-749C-49C0-ACD9-44C6F4C675D9}"/>
              </a:ext>
            </a:extLst>
          </p:cNvPr>
          <p:cNvSpPr/>
          <p:nvPr/>
        </p:nvSpPr>
        <p:spPr>
          <a:xfrm>
            <a:off x="6552531" y="4535352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70E9D928-8E54-01B2-7B3E-79673FCBA558}"/>
              </a:ext>
            </a:extLst>
          </p:cNvPr>
          <p:cNvSpPr/>
          <p:nvPr/>
        </p:nvSpPr>
        <p:spPr>
          <a:xfrm>
            <a:off x="1634938" y="5317644"/>
            <a:ext cx="682702" cy="2080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숫자로 입력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90F95331-B15D-0DEF-E56D-B040E0C50304}"/>
              </a:ext>
            </a:extLst>
          </p:cNvPr>
          <p:cNvSpPr/>
          <p:nvPr/>
        </p:nvSpPr>
        <p:spPr>
          <a:xfrm>
            <a:off x="0" y="6417333"/>
            <a:ext cx="8039819" cy="55194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EFF96E3-EED2-7B8D-678A-7C1094224262}"/>
              </a:ext>
            </a:extLst>
          </p:cNvPr>
          <p:cNvSpPr/>
          <p:nvPr/>
        </p:nvSpPr>
        <p:spPr>
          <a:xfrm>
            <a:off x="7206065" y="6417332"/>
            <a:ext cx="699418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>
                <a:latin typeface="나눔고딕" panose="020D0604000000000000" pitchFamily="50" charset="-127"/>
                <a:ea typeface="나눔고딕" panose="020D0604000000000000" pitchFamily="50" charset="-127"/>
              </a:rPr>
              <a:t>저장</a:t>
            </a:r>
            <a:endParaRPr lang="ko-KR" altLang="en-US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3B78AC42-CF97-CB08-D6B7-81AE88F0A33F}"/>
              </a:ext>
            </a:extLst>
          </p:cNvPr>
          <p:cNvSpPr/>
          <p:nvPr/>
        </p:nvSpPr>
        <p:spPr>
          <a:xfrm>
            <a:off x="0" y="6814816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07B78322-B32B-1614-3646-65751C0DD513}"/>
              </a:ext>
            </a:extLst>
          </p:cNvPr>
          <p:cNvSpPr/>
          <p:nvPr/>
        </p:nvSpPr>
        <p:spPr>
          <a:xfrm>
            <a:off x="193067" y="6417332"/>
            <a:ext cx="699418" cy="288032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목록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7FADA97A-57F7-4954-B453-9E8C15BB1981}"/>
              </a:ext>
            </a:extLst>
          </p:cNvPr>
          <p:cNvGraphicFramePr>
            <a:graphicFrameLocks noGrp="1"/>
          </p:cNvGraphicFramePr>
          <p:nvPr/>
        </p:nvGraphicFramePr>
        <p:xfrm>
          <a:off x="164467" y="1556402"/>
          <a:ext cx="7713518" cy="675840"/>
        </p:xfrm>
        <a:graphic>
          <a:graphicData uri="http://schemas.openxmlformats.org/drawingml/2006/table">
            <a:tbl>
              <a:tblPr firstRow="1" bandRow="1"/>
              <a:tblGrid>
                <a:gridCol w="76858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697305">
                  <a:extLst>
                    <a:ext uri="{9D8B030D-6E8A-4147-A177-3AD203B41FA5}">
                      <a16:colId xmlns:a16="http://schemas.microsoft.com/office/drawing/2014/main" val="2016786680"/>
                    </a:ext>
                  </a:extLst>
                </a:gridCol>
                <a:gridCol w="479276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785871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631832">
                  <a:extLst>
                    <a:ext uri="{9D8B030D-6E8A-4147-A177-3AD203B41FA5}">
                      <a16:colId xmlns:a16="http://schemas.microsoft.com/office/drawing/2014/main" val="3053194834"/>
                    </a:ext>
                  </a:extLst>
                </a:gridCol>
                <a:gridCol w="289686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915335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997491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574071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574071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등록일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본공고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작성중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 중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2026.07.22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25" name="타원 24">
            <a:extLst>
              <a:ext uri="{FF2B5EF4-FFF2-40B4-BE49-F238E27FC236}">
                <a16:creationId xmlns:a16="http://schemas.microsoft.com/office/drawing/2014/main" id="{EBED51DC-8BB5-30CE-EC3D-94D143D89816}"/>
              </a:ext>
            </a:extLst>
          </p:cNvPr>
          <p:cNvSpPr/>
          <p:nvPr/>
        </p:nvSpPr>
        <p:spPr>
          <a:xfrm>
            <a:off x="7098053" y="6334884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4F6360D4-D00E-003E-EDAD-84CBFE6528FC}"/>
              </a:ext>
            </a:extLst>
          </p:cNvPr>
          <p:cNvSpPr/>
          <p:nvPr/>
        </p:nvSpPr>
        <p:spPr>
          <a:xfrm>
            <a:off x="6314698" y="3156865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5’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AC955AF4-8AE5-1E01-DCC6-E4DBC30C0B86}"/>
              </a:ext>
            </a:extLst>
          </p:cNvPr>
          <p:cNvSpPr/>
          <p:nvPr/>
        </p:nvSpPr>
        <p:spPr>
          <a:xfrm>
            <a:off x="2285944" y="734257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0B8636C3-8276-D7E9-DD87-07AACAA195B8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8335736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4AEBE1-4EA0-6468-2AA6-E969115FCA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DC383559-948B-805D-AD3C-4B7F902FAC10}"/>
              </a:ext>
            </a:extLst>
          </p:cNvPr>
          <p:cNvSpPr/>
          <p:nvPr/>
        </p:nvSpPr>
        <p:spPr>
          <a:xfrm>
            <a:off x="166921" y="378185"/>
            <a:ext cx="4912518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공통 심사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평가 불러오기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E54D6E8F-4790-398E-C6EB-DC046A9F053D}"/>
              </a:ext>
            </a:extLst>
          </p:cNvPr>
          <p:cNvSpPr/>
          <p:nvPr/>
        </p:nvSpPr>
        <p:spPr>
          <a:xfrm>
            <a:off x="166921" y="648183"/>
            <a:ext cx="4912518" cy="335688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33BE0AA4-E341-4A1C-E5DF-91B1AB69AAA3}"/>
              </a:ext>
            </a:extLst>
          </p:cNvPr>
          <p:cNvSpPr/>
          <p:nvPr/>
        </p:nvSpPr>
        <p:spPr>
          <a:xfrm>
            <a:off x="4789152" y="378185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7B56BA6B-EC03-5128-D087-2729C2051F5E}"/>
              </a:ext>
            </a:extLst>
          </p:cNvPr>
          <p:cNvGraphicFramePr>
            <a:graphicFrameLocks noGrp="1"/>
          </p:cNvGraphicFramePr>
          <p:nvPr/>
        </p:nvGraphicFramePr>
        <p:xfrm>
          <a:off x="297105" y="2140519"/>
          <a:ext cx="4657490" cy="1351680"/>
        </p:xfrm>
        <a:graphic>
          <a:graphicData uri="http://schemas.openxmlformats.org/drawingml/2006/table">
            <a:tbl>
              <a:tblPr firstRow="1" bandRow="1"/>
              <a:tblGrid>
                <a:gridCol w="2339585">
                  <a:extLst>
                    <a:ext uri="{9D8B030D-6E8A-4147-A177-3AD203B41FA5}">
                      <a16:colId xmlns:a16="http://schemas.microsoft.com/office/drawing/2014/main" val="2348944443"/>
                    </a:ext>
                  </a:extLst>
                </a:gridCol>
                <a:gridCol w="967786">
                  <a:extLst>
                    <a:ext uri="{9D8B030D-6E8A-4147-A177-3AD203B41FA5}">
                      <a16:colId xmlns:a16="http://schemas.microsoft.com/office/drawing/2014/main" val="3081933007"/>
                    </a:ext>
                  </a:extLst>
                </a:gridCol>
                <a:gridCol w="617903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732216">
                  <a:extLst>
                    <a:ext uri="{9D8B030D-6E8A-4147-A177-3AD203B41FA5}">
                      <a16:colId xmlns:a16="http://schemas.microsoft.com/office/drawing/2014/main" val="63484771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공통 심사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/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평가 명칭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심사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평가항목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수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사용여부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선택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1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1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공통</a:t>
                      </a:r>
                      <a:r>
                        <a:rPr lang="en-US" altLang="ko-KR" sz="800" b="1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1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 사업 기준</a:t>
                      </a:r>
                      <a:r>
                        <a:rPr lang="en-US" altLang="ko-KR" sz="800" b="1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 </a:t>
                      </a:r>
                      <a:r>
                        <a:rPr lang="ko-KR" altLang="en-US" sz="800" b="1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사업에 쓰이는 심사</a:t>
                      </a:r>
                      <a:r>
                        <a:rPr lang="en-US" altLang="ko-KR" sz="800" b="1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1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평가</a:t>
                      </a:r>
                      <a:endParaRPr lang="en-US" altLang="ko-KR" sz="800" b="1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사용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(Y)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중지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(N)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</a:tbl>
          </a:graphicData>
        </a:graphic>
      </p:graphicFrame>
      <p:sp>
        <p:nvSpPr>
          <p:cNvPr id="22" name="직사각형 21">
            <a:extLst>
              <a:ext uri="{FF2B5EF4-FFF2-40B4-BE49-F238E27FC236}">
                <a16:creationId xmlns:a16="http://schemas.microsoft.com/office/drawing/2014/main" id="{F3CE9437-817B-EDEA-1CFF-7107E91FA958}"/>
              </a:ext>
            </a:extLst>
          </p:cNvPr>
          <p:cNvSpPr/>
          <p:nvPr/>
        </p:nvSpPr>
        <p:spPr>
          <a:xfrm>
            <a:off x="298141" y="729997"/>
            <a:ext cx="1537280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공통 심사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 불러오기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A2F70A3C-7302-F203-86B4-0A8A0A699B5B}"/>
              </a:ext>
            </a:extLst>
          </p:cNvPr>
          <p:cNvSpPr/>
          <p:nvPr/>
        </p:nvSpPr>
        <p:spPr>
          <a:xfrm>
            <a:off x="4309946" y="2538045"/>
            <a:ext cx="555412" cy="215441"/>
          </a:xfrm>
          <a:prstGeom prst="rect">
            <a:avLst/>
          </a:prstGeom>
          <a:solidFill>
            <a:srgbClr val="00B05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선택</a:t>
            </a:r>
            <a:endParaRPr lang="ko-KR" altLang="en-US" sz="8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20B71D09-671C-1350-4158-1C1427A27B72}"/>
              </a:ext>
            </a:extLst>
          </p:cNvPr>
          <p:cNvGrpSpPr/>
          <p:nvPr/>
        </p:nvGrpSpPr>
        <p:grpSpPr>
          <a:xfrm>
            <a:off x="714081" y="3585486"/>
            <a:ext cx="4025354" cy="216024"/>
            <a:chOff x="2992062" y="4869160"/>
            <a:chExt cx="4025354" cy="216024"/>
          </a:xfrm>
        </p:grpSpPr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7E2BC15-58B8-2C90-E713-E06247ED3D86}"/>
                </a:ext>
              </a:extLst>
            </p:cNvPr>
            <p:cNvSpPr/>
            <p:nvPr/>
          </p:nvSpPr>
          <p:spPr>
            <a:xfrm>
              <a:off x="2992062" y="4869160"/>
              <a:ext cx="216000" cy="21602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◀</a:t>
              </a: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3D6E57C2-AA85-16E9-6EA0-2BEC6CC5105C}"/>
                </a:ext>
              </a:extLst>
            </p:cNvPr>
            <p:cNvSpPr/>
            <p:nvPr/>
          </p:nvSpPr>
          <p:spPr>
            <a:xfrm>
              <a:off x="3285089" y="4869160"/>
              <a:ext cx="216000" cy="21602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&lt;</a:t>
              </a:r>
              <a:endPara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1A297D75-C6F1-F2FC-2FFD-A10F63648C2B}"/>
                </a:ext>
              </a:extLst>
            </p:cNvPr>
            <p:cNvSpPr/>
            <p:nvPr/>
          </p:nvSpPr>
          <p:spPr>
            <a:xfrm>
              <a:off x="3578116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DBE35898-85F0-63B5-6DF9-3268F3A91072}"/>
                </a:ext>
              </a:extLst>
            </p:cNvPr>
            <p:cNvSpPr/>
            <p:nvPr/>
          </p:nvSpPr>
          <p:spPr>
            <a:xfrm>
              <a:off x="3871143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7F6257CF-9305-BD8C-9EFE-36DF550FD9CD}"/>
                </a:ext>
              </a:extLst>
            </p:cNvPr>
            <p:cNvSpPr/>
            <p:nvPr/>
          </p:nvSpPr>
          <p:spPr>
            <a:xfrm>
              <a:off x="4164170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DB7125A2-8823-16FB-547A-8B13CB36C42C}"/>
                </a:ext>
              </a:extLst>
            </p:cNvPr>
            <p:cNvSpPr/>
            <p:nvPr/>
          </p:nvSpPr>
          <p:spPr>
            <a:xfrm>
              <a:off x="4457197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FEA0AA54-04BA-02AC-7C4C-D3DFFADFA303}"/>
                </a:ext>
              </a:extLst>
            </p:cNvPr>
            <p:cNvSpPr/>
            <p:nvPr/>
          </p:nvSpPr>
          <p:spPr>
            <a:xfrm>
              <a:off x="4750224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6EB75ABF-4AAF-2750-58A6-FBE5316F1C42}"/>
                </a:ext>
              </a:extLst>
            </p:cNvPr>
            <p:cNvSpPr/>
            <p:nvPr/>
          </p:nvSpPr>
          <p:spPr>
            <a:xfrm>
              <a:off x="5043251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4B6D371A-AD67-463C-026F-7F03BC4EF3AD}"/>
                </a:ext>
              </a:extLst>
            </p:cNvPr>
            <p:cNvSpPr/>
            <p:nvPr/>
          </p:nvSpPr>
          <p:spPr>
            <a:xfrm>
              <a:off x="5336278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24CCE8CC-A357-45CC-1B86-E682DDFF91A1}"/>
                </a:ext>
              </a:extLst>
            </p:cNvPr>
            <p:cNvSpPr/>
            <p:nvPr/>
          </p:nvSpPr>
          <p:spPr>
            <a:xfrm>
              <a:off x="5629305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E46450DA-35A0-B55C-9DA7-F7EDE74B1C3C}"/>
                </a:ext>
              </a:extLst>
            </p:cNvPr>
            <p:cNvSpPr/>
            <p:nvPr/>
          </p:nvSpPr>
          <p:spPr>
            <a:xfrm>
              <a:off x="5922332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FB913053-A10D-2448-3C40-AFAA1638A6AB}"/>
                </a:ext>
              </a:extLst>
            </p:cNvPr>
            <p:cNvSpPr/>
            <p:nvPr/>
          </p:nvSpPr>
          <p:spPr>
            <a:xfrm>
              <a:off x="6215359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A53B299F-87B7-BE86-32B0-083D0AC67FF3}"/>
                </a:ext>
              </a:extLst>
            </p:cNvPr>
            <p:cNvSpPr/>
            <p:nvPr/>
          </p:nvSpPr>
          <p:spPr>
            <a:xfrm>
              <a:off x="6508386" y="4869160"/>
              <a:ext cx="216000" cy="21602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&gt;</a:t>
              </a:r>
              <a:endPara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" name="직사각형 63">
              <a:extLst>
                <a:ext uri="{FF2B5EF4-FFF2-40B4-BE49-F238E27FC236}">
                  <a16:creationId xmlns:a16="http://schemas.microsoft.com/office/drawing/2014/main" id="{6DA94D1B-040D-59B6-0D0C-D1E333F77140}"/>
                </a:ext>
              </a:extLst>
            </p:cNvPr>
            <p:cNvSpPr/>
            <p:nvPr/>
          </p:nvSpPr>
          <p:spPr>
            <a:xfrm>
              <a:off x="6801416" y="4869160"/>
              <a:ext cx="216000" cy="21602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▶</a:t>
              </a:r>
            </a:p>
          </p:txBody>
        </p:sp>
      </p:grp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E8DE8630-14BF-12F6-9154-1F737E8AC134}"/>
              </a:ext>
            </a:extLst>
          </p:cNvPr>
          <p:cNvSpPr/>
          <p:nvPr/>
        </p:nvSpPr>
        <p:spPr>
          <a:xfrm>
            <a:off x="290799" y="1061082"/>
            <a:ext cx="4656852" cy="68247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1F7C9BC6-8ED7-3ACF-6169-3F7E3099817E}"/>
              </a:ext>
            </a:extLst>
          </p:cNvPr>
          <p:cNvSpPr/>
          <p:nvPr/>
        </p:nvSpPr>
        <p:spPr>
          <a:xfrm>
            <a:off x="1538522" y="1426360"/>
            <a:ext cx="2496801" cy="2080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검색어를 입력하세요</a:t>
            </a:r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800" b="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7E5C4711-829C-FDA8-1FEB-C06679117B22}"/>
              </a:ext>
            </a:extLst>
          </p:cNvPr>
          <p:cNvSpPr/>
          <p:nvPr/>
        </p:nvSpPr>
        <p:spPr>
          <a:xfrm>
            <a:off x="4104265" y="1426362"/>
            <a:ext cx="625198" cy="2154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검색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7809FA33-67F2-4B92-75A0-0176777EF8EF}"/>
              </a:ext>
            </a:extLst>
          </p:cNvPr>
          <p:cNvSpPr txBox="1"/>
          <p:nvPr/>
        </p:nvSpPr>
        <p:spPr>
          <a:xfrm>
            <a:off x="362179" y="1433505"/>
            <a:ext cx="240309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72000" lvl="0" indent="-72000" algn="l">
              <a:buFont typeface="Arial" panose="020B0604020202020204" pitchFamily="34" charset="0"/>
              <a:buChar char="•"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공통 심사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/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평가 명칭 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:</a:t>
            </a:r>
            <a:endParaRPr lang="ko-KR" altLang="en-US" sz="8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2D327F90-67E2-65C4-4E02-6024298D0EF7}"/>
              </a:ext>
            </a:extLst>
          </p:cNvPr>
          <p:cNvSpPr txBox="1"/>
          <p:nvPr/>
        </p:nvSpPr>
        <p:spPr>
          <a:xfrm>
            <a:off x="362180" y="1169406"/>
            <a:ext cx="446841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72000" lvl="0" indent="-72000" algn="l">
              <a:buFont typeface="Arial" panose="020B0604020202020204" pitchFamily="34" charset="0"/>
              <a:buChar char="•"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사용여부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:                     </a:t>
            </a:r>
            <a:r>
              <a:rPr lang="ko-KR" altLang="en-US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● 전체      ○ 사용</a:t>
            </a:r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(Y)      ○</a:t>
            </a:r>
            <a:r>
              <a:rPr lang="ko-KR" altLang="en-US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중지</a:t>
            </a:r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(N)</a:t>
            </a:r>
            <a:endParaRPr lang="ko-KR" altLang="en-US" sz="8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F228988A-0F1A-8569-0262-A572A68504FE}"/>
              </a:ext>
            </a:extLst>
          </p:cNvPr>
          <p:cNvSpPr/>
          <p:nvPr/>
        </p:nvSpPr>
        <p:spPr>
          <a:xfrm>
            <a:off x="4309946" y="2874606"/>
            <a:ext cx="555412" cy="215441"/>
          </a:xfrm>
          <a:prstGeom prst="rect">
            <a:avLst/>
          </a:prstGeom>
          <a:solidFill>
            <a:srgbClr val="00B05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선택</a:t>
            </a:r>
            <a:endParaRPr lang="ko-KR" altLang="en-US" sz="8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863494BE-5690-DF25-6811-F6BAEA508AC8}"/>
              </a:ext>
            </a:extLst>
          </p:cNvPr>
          <p:cNvSpPr/>
          <p:nvPr/>
        </p:nvSpPr>
        <p:spPr>
          <a:xfrm>
            <a:off x="4309946" y="3210185"/>
            <a:ext cx="555412" cy="215441"/>
          </a:xfrm>
          <a:prstGeom prst="rect">
            <a:avLst/>
          </a:prstGeom>
          <a:solidFill>
            <a:srgbClr val="00B05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선택</a:t>
            </a:r>
            <a:endParaRPr lang="ko-KR" altLang="en-US" sz="8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0EBF28B4-77D0-8CEA-2D8F-87330AC73C88}"/>
              </a:ext>
            </a:extLst>
          </p:cNvPr>
          <p:cNvSpPr/>
          <p:nvPr/>
        </p:nvSpPr>
        <p:spPr>
          <a:xfrm>
            <a:off x="3917692" y="1856288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en-US" altLang="ko-KR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개씩</a:t>
            </a: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3F934F4B-A1EB-1570-5C40-34F8BF06EAF6}"/>
              </a:ext>
            </a:extLst>
          </p:cNvPr>
          <p:cNvSpPr/>
          <p:nvPr/>
        </p:nvSpPr>
        <p:spPr>
          <a:xfrm>
            <a:off x="4739154" y="1856288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8D15DA2F-EB25-9F2E-A65C-7B14B4FBE7E5}"/>
              </a:ext>
            </a:extLst>
          </p:cNvPr>
          <p:cNvSpPr txBox="1"/>
          <p:nvPr/>
        </p:nvSpPr>
        <p:spPr>
          <a:xfrm>
            <a:off x="290799" y="1842770"/>
            <a:ext cx="2994059" cy="230832"/>
          </a:xfrm>
          <a:prstGeom prst="rect">
            <a:avLst/>
          </a:prstGeom>
          <a:noFill/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전체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55</a:t>
            </a:r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건 현재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en-US" altLang="ko-KR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/4</a:t>
            </a:r>
            <a:endParaRPr lang="ko-KR" altLang="en-US" sz="900" b="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31B5B6B9-F6C3-B152-9622-BA329861F450}"/>
              </a:ext>
            </a:extLst>
          </p:cNvPr>
          <p:cNvSpPr txBox="1"/>
          <p:nvPr/>
        </p:nvSpPr>
        <p:spPr>
          <a:xfrm>
            <a:off x="749224" y="25608"/>
            <a:ext cx="503214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설정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 계획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공통 심사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 불러오기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 항목 관리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728D79C4-C8E7-9486-B2E1-EADF0899B2EE}"/>
              </a:ext>
            </a:extLst>
          </p:cNvPr>
          <p:cNvSpPr/>
          <p:nvPr/>
        </p:nvSpPr>
        <p:spPr>
          <a:xfrm>
            <a:off x="164468" y="4099458"/>
            <a:ext cx="4912518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평가항목 추가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수정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11759801-FFD5-1A31-3BF2-36EDAC4AE10E}"/>
              </a:ext>
            </a:extLst>
          </p:cNvPr>
          <p:cNvSpPr/>
          <p:nvPr/>
        </p:nvSpPr>
        <p:spPr>
          <a:xfrm>
            <a:off x="164468" y="4372371"/>
            <a:ext cx="4912518" cy="224736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EB3045C4-B82E-9E4A-9446-D310FBD27B17}"/>
              </a:ext>
            </a:extLst>
          </p:cNvPr>
          <p:cNvSpPr/>
          <p:nvPr/>
        </p:nvSpPr>
        <p:spPr>
          <a:xfrm>
            <a:off x="4786699" y="4099458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863E64E4-BA14-163E-EAF9-251BA5E32588}"/>
              </a:ext>
            </a:extLst>
          </p:cNvPr>
          <p:cNvSpPr/>
          <p:nvPr/>
        </p:nvSpPr>
        <p:spPr>
          <a:xfrm>
            <a:off x="2236511" y="6228044"/>
            <a:ext cx="1180529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평가 항목 추가</a:t>
            </a: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D05850D-ED74-C294-3CC8-FED706117989}"/>
              </a:ext>
            </a:extLst>
          </p:cNvPr>
          <p:cNvSpPr/>
          <p:nvPr/>
        </p:nvSpPr>
        <p:spPr>
          <a:xfrm>
            <a:off x="4249054" y="6228044"/>
            <a:ext cx="699418" cy="28803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5DA6A895-444B-0BB1-FC9C-DA61BD95435C}"/>
              </a:ext>
            </a:extLst>
          </p:cNvPr>
          <p:cNvSpPr/>
          <p:nvPr/>
        </p:nvSpPr>
        <p:spPr>
          <a:xfrm>
            <a:off x="295688" y="4468759"/>
            <a:ext cx="1550104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평가항목 추가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수정</a:t>
            </a:r>
          </a:p>
        </p:txBody>
      </p:sp>
      <p:graphicFrame>
        <p:nvGraphicFramePr>
          <p:cNvPr id="133" name="표 132">
            <a:extLst>
              <a:ext uri="{FF2B5EF4-FFF2-40B4-BE49-F238E27FC236}">
                <a16:creationId xmlns:a16="http://schemas.microsoft.com/office/drawing/2014/main" id="{8030931C-8162-15B0-9E29-3463E4E858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977294"/>
              </p:ext>
            </p:extLst>
          </p:nvPr>
        </p:nvGraphicFramePr>
        <p:xfrm>
          <a:off x="294651" y="4777617"/>
          <a:ext cx="4656853" cy="135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61639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3395214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indent="-7200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심사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평가 구분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○ 계량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정량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     ○ 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비계량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정성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6039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indent="-7200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심사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평가 항목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배점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1752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자가심사 여부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○ 불필요     ○ 필요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087966"/>
                  </a:ext>
                </a:extLst>
              </a:tr>
            </a:tbl>
          </a:graphicData>
        </a:graphic>
      </p:graphicFrame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638C8D08-73A5-C001-4F2C-4E57737A43EA}"/>
              </a:ext>
            </a:extLst>
          </p:cNvPr>
          <p:cNvSpPr/>
          <p:nvPr/>
        </p:nvSpPr>
        <p:spPr>
          <a:xfrm>
            <a:off x="1636684" y="5512545"/>
            <a:ext cx="1912160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숫자로만 입력해주세요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.(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소수점 가능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)</a:t>
            </a:r>
            <a:endParaRPr lang="ko-KR" altLang="en-US" sz="8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61DBEA3-7AA4-FC69-EDF1-CE7B69C78A7C}"/>
              </a:ext>
            </a:extLst>
          </p:cNvPr>
          <p:cNvSpPr/>
          <p:nvPr/>
        </p:nvSpPr>
        <p:spPr>
          <a:xfrm>
            <a:off x="1636684" y="5173401"/>
            <a:ext cx="3060340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endParaRPr lang="ko-KR" altLang="en-US" sz="8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AD2BD85-B831-FE83-FB1A-6B0C13376E00}"/>
              </a:ext>
            </a:extLst>
          </p:cNvPr>
          <p:cNvSpPr/>
          <p:nvPr/>
        </p:nvSpPr>
        <p:spPr>
          <a:xfrm>
            <a:off x="3483338" y="6228044"/>
            <a:ext cx="699418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수정</a:t>
            </a: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DA9C9E59-AC69-65FD-015B-15279AA96EB0}"/>
              </a:ext>
            </a:extLst>
          </p:cNvPr>
          <p:cNvSpPr/>
          <p:nvPr/>
        </p:nvSpPr>
        <p:spPr>
          <a:xfrm>
            <a:off x="56456" y="337548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C338DD4-FADB-7C6A-3748-FFBC0E9B3E83}"/>
              </a:ext>
            </a:extLst>
          </p:cNvPr>
          <p:cNvSpPr txBox="1"/>
          <p:nvPr/>
        </p:nvSpPr>
        <p:spPr>
          <a:xfrm>
            <a:off x="8039819" y="584684"/>
            <a:ext cx="1856656" cy="7940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기준정보관리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공통 심사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를 호출하여 편리하게 등록할 수 있음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평가항목을 개별적으로 하나씩 추가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수정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9E24D150-4B6C-8FC2-5BB3-96DBFC78414E}"/>
              </a:ext>
            </a:extLst>
          </p:cNvPr>
          <p:cNvSpPr/>
          <p:nvPr/>
        </p:nvSpPr>
        <p:spPr>
          <a:xfrm>
            <a:off x="56456" y="4005064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30023762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9C7EC6-1D7D-27E1-0E0A-E90ACE5BC9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75544C2D-F63D-B723-4556-B684811804CF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08CDAAB-C00D-BB05-2664-035C30BDFFAA}"/>
              </a:ext>
            </a:extLst>
          </p:cNvPr>
          <p:cNvSpPr txBox="1"/>
          <p:nvPr/>
        </p:nvSpPr>
        <p:spPr>
          <a:xfrm>
            <a:off x="749224" y="25608"/>
            <a:ext cx="404630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설정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예비가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예비가를 입력하는 경우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15DBBCDE-2E34-07DE-A3E6-10349103BC67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9E267E5D-2118-803B-D886-955F5F0FE6B0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FCB5FB6E-1E73-C5FB-D046-003D1552C573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5699E642-8884-8561-6CEB-26932F374073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CD5641C6-B915-DD78-F459-206665097CBB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EE23A481-6362-1729-39D2-3A91E6800931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8" name="Picture 1">
            <a:extLst>
              <a:ext uri="{FF2B5EF4-FFF2-40B4-BE49-F238E27FC236}">
                <a16:creationId xmlns:a16="http://schemas.microsoft.com/office/drawing/2014/main" id="{988105AD-86A2-64C3-88D1-794E733704F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grpSp>
        <p:nvGrpSpPr>
          <p:cNvPr id="38" name="그룹 37">
            <a:extLst>
              <a:ext uri="{FF2B5EF4-FFF2-40B4-BE49-F238E27FC236}">
                <a16:creationId xmlns:a16="http://schemas.microsoft.com/office/drawing/2014/main" id="{67C7C883-655C-97E3-FB3A-307EC508D3AD}"/>
              </a:ext>
            </a:extLst>
          </p:cNvPr>
          <p:cNvGrpSpPr/>
          <p:nvPr/>
        </p:nvGrpSpPr>
        <p:grpSpPr>
          <a:xfrm>
            <a:off x="164467" y="826923"/>
            <a:ext cx="7717012" cy="643315"/>
            <a:chOff x="252353" y="826923"/>
            <a:chExt cx="7629126" cy="643315"/>
          </a:xfrm>
        </p:grpSpPr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349BC9DE-C93E-EBB9-B2C9-A7AACBEB27E6}"/>
                </a:ext>
              </a:extLst>
            </p:cNvPr>
            <p:cNvSpPr/>
            <p:nvPr/>
          </p:nvSpPr>
          <p:spPr>
            <a:xfrm>
              <a:off x="1352599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02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상세정보</a:t>
              </a:r>
              <a:endPara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A745B0C6-68C0-BB4D-B161-2EC493471A5D}"/>
                </a:ext>
              </a:extLst>
            </p:cNvPr>
            <p:cNvSpPr/>
            <p:nvPr/>
          </p:nvSpPr>
          <p:spPr>
            <a:xfrm>
              <a:off x="2452845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03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심사</a:t>
              </a:r>
              <a:r>
                <a:rPr lang="en-US" altLang="ko-KR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</a:t>
              </a: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평가 계획</a:t>
              </a:r>
            </a:p>
          </p:txBody>
        </p: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E90B8A20-4B2F-5578-3E69-684301CC5FCE}"/>
                </a:ext>
              </a:extLst>
            </p:cNvPr>
            <p:cNvSpPr/>
            <p:nvPr/>
          </p:nvSpPr>
          <p:spPr>
            <a:xfrm>
              <a:off x="3553091" y="826923"/>
              <a:ext cx="1027647" cy="643315"/>
            </a:xfrm>
            <a:prstGeom prst="rect">
              <a:avLst/>
            </a:prstGeom>
            <a:solidFill>
              <a:srgbClr val="FFC000">
                <a:alpha val="69804"/>
              </a:srgb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04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b="1" spc="-5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예정가</a:t>
              </a:r>
              <a:r>
                <a:rPr lang="ko-KR" altLang="en-US" sz="800" b="1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</a:t>
              </a:r>
              <a:r>
                <a:rPr lang="en-US" altLang="ko-KR" sz="800" b="1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 </a:t>
              </a:r>
              <a:r>
                <a:rPr lang="ko-KR" altLang="en-US" sz="800" b="1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예비가</a:t>
              </a: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AB1D49C3-65F3-0152-A341-532D2574C1CB}"/>
                </a:ext>
              </a:extLst>
            </p:cNvPr>
            <p:cNvSpPr/>
            <p:nvPr/>
          </p:nvSpPr>
          <p:spPr>
            <a:xfrm>
              <a:off x="5753583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06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최종 점검</a:t>
              </a:r>
              <a:endPara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08C67361-4DB2-11BB-8E35-2645280A3459}"/>
                </a:ext>
              </a:extLst>
            </p:cNvPr>
            <p:cNvSpPr/>
            <p:nvPr/>
          </p:nvSpPr>
          <p:spPr>
            <a:xfrm>
              <a:off x="6853832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07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등록 완료</a:t>
              </a:r>
              <a:endPara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CAEA3108-DF61-FEBC-89E7-B41F5215D65E}"/>
                </a:ext>
              </a:extLst>
            </p:cNvPr>
            <p:cNvSpPr/>
            <p:nvPr/>
          </p:nvSpPr>
          <p:spPr>
            <a:xfrm>
              <a:off x="4653337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72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05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 참여 서류</a:t>
              </a:r>
            </a:p>
          </p:txBody>
        </p:sp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90410B7F-5FC2-1F48-1758-98B699EA040B}"/>
                </a:ext>
              </a:extLst>
            </p:cNvPr>
            <p:cNvSpPr/>
            <p:nvPr/>
          </p:nvSpPr>
          <p:spPr>
            <a:xfrm>
              <a:off x="252353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01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발주계획 정보 확인</a:t>
              </a:r>
              <a:endPara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6AD90111-33A6-AD84-8D8B-A20F0EA164B3}"/>
              </a:ext>
            </a:extLst>
          </p:cNvPr>
          <p:cNvSpPr txBox="1"/>
          <p:nvPr/>
        </p:nvSpPr>
        <p:spPr>
          <a:xfrm>
            <a:off x="8049344" y="584684"/>
            <a:ext cx="1856656" cy="27915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예비가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u="sng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낙찰하한가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로 설정된 경우의 세부 프로세스</a:t>
            </a:r>
            <a:b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제한적 최저가 입찰은 공정성을 확보하기 위해 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복수예비가격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이 도출되어야 함</a:t>
            </a:r>
            <a:endParaRPr lang="en-US" altLang="ko-KR" sz="800" u="sng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전자결재는 확인단계가 있을 수 없음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확인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이 있는 경우에는 각 화면의 확인 팝업을 제공함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과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낙찰하한가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는 입찰계획 수립 상태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현 단계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에서는 확인할 수 없으며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시 만들어지는 정보임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추후 해당 부분을 안 보여 주는 것으로 처리할 수 있음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1292E0D2-43DD-7627-1376-5BD2DB55B391}"/>
              </a:ext>
            </a:extLst>
          </p:cNvPr>
          <p:cNvSpPr/>
          <p:nvPr/>
        </p:nvSpPr>
        <p:spPr>
          <a:xfrm>
            <a:off x="179900" y="2351597"/>
            <a:ext cx="1192419" cy="1035137"/>
          </a:xfrm>
          <a:prstGeom prst="rect">
            <a:avLst/>
          </a:prstGeom>
          <a:solidFill>
            <a:srgbClr val="F2F2F2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t" anchorCtr="0"/>
          <a:lstStyle/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en-US" altLang="ko-KR" sz="900" b="1" spc="-5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STEP 01</a:t>
            </a:r>
          </a:p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ko-KR" altLang="en-US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예정가격 산출기초조서 </a:t>
            </a:r>
            <a:br>
              <a: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등록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및 전자</a:t>
            </a:r>
            <a:r>
              <a:rPr lang="ko-KR" altLang="en-US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결재 요청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5BDADB5E-4135-4988-A1C0-737D4AE2763F}"/>
              </a:ext>
            </a:extLst>
          </p:cNvPr>
          <p:cNvSpPr/>
          <p:nvPr/>
        </p:nvSpPr>
        <p:spPr>
          <a:xfrm>
            <a:off x="2783565" y="2351597"/>
            <a:ext cx="1192419" cy="1035137"/>
          </a:xfrm>
          <a:prstGeom prst="rect">
            <a:avLst/>
          </a:prstGeom>
          <a:solidFill>
            <a:srgbClr val="F2F2F2"/>
          </a:solidFill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t" anchorCtr="0"/>
          <a:lstStyle/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en-US" altLang="ko-KR" sz="900" b="1" spc="-5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STEP 03</a:t>
            </a:r>
          </a:p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ko-KR" altLang="en-US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예비가격 등록 요청</a:t>
            </a:r>
            <a:br>
              <a: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요청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E6EF97C6-6F0A-63B7-8402-48E0780BC9AE}"/>
              </a:ext>
            </a:extLst>
          </p:cNvPr>
          <p:cNvSpPr/>
          <p:nvPr/>
        </p:nvSpPr>
        <p:spPr>
          <a:xfrm>
            <a:off x="1481732" y="2351597"/>
            <a:ext cx="1192419" cy="1035137"/>
          </a:xfrm>
          <a:prstGeom prst="rect">
            <a:avLst/>
          </a:prstGeom>
          <a:solidFill>
            <a:srgbClr val="F2F2F2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t" anchorCtr="0"/>
          <a:lstStyle/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en-US" altLang="ko-KR" sz="900" b="1" spc="-5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STEP 02</a:t>
            </a:r>
          </a:p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예정가격 산출기초조서 </a:t>
            </a:r>
            <a:b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</a:t>
            </a:r>
            <a:endParaRPr lang="ko-KR" altLang="en-US" sz="800" b="1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D2A280A0-1E11-6143-78A1-4C1060D9F01A}"/>
              </a:ext>
            </a:extLst>
          </p:cNvPr>
          <p:cNvSpPr/>
          <p:nvPr/>
        </p:nvSpPr>
        <p:spPr>
          <a:xfrm>
            <a:off x="5387229" y="2351597"/>
            <a:ext cx="1192419" cy="1035137"/>
          </a:xfrm>
          <a:prstGeom prst="rect">
            <a:avLst/>
          </a:prstGeom>
          <a:solidFill>
            <a:srgbClr val="F2F2F2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t" anchorCtr="0"/>
          <a:lstStyle/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en-US" altLang="ko-KR" sz="900" b="1" spc="-5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STEP 05</a:t>
            </a:r>
          </a:p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ko-KR" altLang="en-US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복수예비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기초금액</a:t>
            </a:r>
            <a:br>
              <a: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등록</a:t>
            </a:r>
            <a:r>
              <a: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사장님</a:t>
            </a:r>
            <a:r>
              <a: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본부장님</a:t>
            </a:r>
            <a:r>
              <a: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b="1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290600C2-3474-FE43-00A7-99BD01583E4F}"/>
              </a:ext>
            </a:extLst>
          </p:cNvPr>
          <p:cNvSpPr/>
          <p:nvPr/>
        </p:nvSpPr>
        <p:spPr>
          <a:xfrm>
            <a:off x="4085397" y="2351597"/>
            <a:ext cx="1192419" cy="1035137"/>
          </a:xfrm>
          <a:prstGeom prst="rect">
            <a:avLst/>
          </a:prstGeom>
          <a:solidFill>
            <a:srgbClr val="F2F2F2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t" anchorCtr="0"/>
          <a:lstStyle/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en-US" altLang="ko-KR" sz="900" b="1" spc="-5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STEP 04</a:t>
            </a:r>
          </a:p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예비가격 등록 요청</a:t>
            </a:r>
            <a:b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</a:t>
            </a:r>
            <a:r>
              <a:rPr lang="ko-KR" altLang="en-US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결재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E0675026-FB62-3CDF-BFA6-26EAAAACB2B0}"/>
              </a:ext>
            </a:extLst>
          </p:cNvPr>
          <p:cNvSpPr/>
          <p:nvPr/>
        </p:nvSpPr>
        <p:spPr>
          <a:xfrm>
            <a:off x="6689060" y="2351597"/>
            <a:ext cx="1192419" cy="1035137"/>
          </a:xfrm>
          <a:prstGeom prst="rect">
            <a:avLst/>
          </a:prstGeom>
          <a:solidFill>
            <a:srgbClr val="F2F2F2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t" anchorCtr="0"/>
          <a:lstStyle/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en-US" altLang="ko-KR" sz="900" b="1" spc="-5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STEP 06</a:t>
            </a:r>
          </a:p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ko-KR" altLang="en-US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복수예비가격표</a:t>
            </a:r>
            <a:br>
              <a: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등록</a:t>
            </a:r>
            <a:r>
              <a: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설정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584A713D-A820-05CB-84E7-EA747112A820}"/>
              </a:ext>
            </a:extLst>
          </p:cNvPr>
          <p:cNvSpPr/>
          <p:nvPr/>
        </p:nvSpPr>
        <p:spPr>
          <a:xfrm>
            <a:off x="247345" y="3098048"/>
            <a:ext cx="458854" cy="215441"/>
          </a:xfrm>
          <a:prstGeom prst="rect">
            <a:avLst/>
          </a:prstGeom>
          <a:solidFill>
            <a:srgbClr val="00B05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등록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B7180DBA-50C7-8833-8E71-EDEEA112FBA9}"/>
              </a:ext>
            </a:extLst>
          </p:cNvPr>
          <p:cNvSpPr/>
          <p:nvPr/>
        </p:nvSpPr>
        <p:spPr>
          <a:xfrm>
            <a:off x="769268" y="3098048"/>
            <a:ext cx="548802" cy="2154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완료</a:t>
            </a:r>
            <a:r>
              <a:rPr lang="en-US" altLang="ko-KR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확인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E251BD9A-AF8E-75FF-AEA4-B5D3E51EDB90}"/>
              </a:ext>
            </a:extLst>
          </p:cNvPr>
          <p:cNvSpPr/>
          <p:nvPr/>
        </p:nvSpPr>
        <p:spPr>
          <a:xfrm>
            <a:off x="1557041" y="3098048"/>
            <a:ext cx="458854" cy="215441"/>
          </a:xfrm>
          <a:prstGeom prst="rect">
            <a:avLst/>
          </a:prstGeom>
          <a:solidFill>
            <a:schemeClr val="bg1">
              <a:lumMod val="7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진행중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65A6C903-78C2-AAE4-8A42-DFDA7DF5D74A}"/>
              </a:ext>
            </a:extLst>
          </p:cNvPr>
          <p:cNvSpPr/>
          <p:nvPr/>
        </p:nvSpPr>
        <p:spPr>
          <a:xfrm>
            <a:off x="2870117" y="3098048"/>
            <a:ext cx="458854" cy="215441"/>
          </a:xfrm>
          <a:prstGeom prst="rect">
            <a:avLst/>
          </a:prstGeom>
          <a:solidFill>
            <a:srgbClr val="00B05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등록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DBF77385-69A6-90CF-28B4-8F25E523CEDA}"/>
              </a:ext>
            </a:extLst>
          </p:cNvPr>
          <p:cNvSpPr/>
          <p:nvPr/>
        </p:nvSpPr>
        <p:spPr>
          <a:xfrm>
            <a:off x="4150773" y="3098048"/>
            <a:ext cx="458854" cy="215441"/>
          </a:xfrm>
          <a:prstGeom prst="rect">
            <a:avLst/>
          </a:prstGeom>
          <a:solidFill>
            <a:schemeClr val="bg1">
              <a:lumMod val="7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진행중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408D96E0-F0BD-D219-019E-37CEA682CA48}"/>
              </a:ext>
            </a:extLst>
          </p:cNvPr>
          <p:cNvSpPr/>
          <p:nvPr/>
        </p:nvSpPr>
        <p:spPr>
          <a:xfrm>
            <a:off x="5485319" y="3098048"/>
            <a:ext cx="458854" cy="215441"/>
          </a:xfrm>
          <a:prstGeom prst="rect">
            <a:avLst/>
          </a:prstGeom>
          <a:solidFill>
            <a:srgbClr val="00B05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등록</a:t>
            </a: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41877A68-9688-247E-9B22-A584F7CDD201}"/>
              </a:ext>
            </a:extLst>
          </p:cNvPr>
          <p:cNvSpPr/>
          <p:nvPr/>
        </p:nvSpPr>
        <p:spPr>
          <a:xfrm>
            <a:off x="6759929" y="3098048"/>
            <a:ext cx="458854" cy="215441"/>
          </a:xfrm>
          <a:prstGeom prst="rect">
            <a:avLst/>
          </a:prstGeom>
          <a:solidFill>
            <a:srgbClr val="00B05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등록</a:t>
            </a: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7472FCD7-F7B2-28FC-352B-1F8A20F5FFFC}"/>
              </a:ext>
            </a:extLst>
          </p:cNvPr>
          <p:cNvSpPr/>
          <p:nvPr/>
        </p:nvSpPr>
        <p:spPr>
          <a:xfrm>
            <a:off x="71888" y="2305227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" name="화살표: 오른쪽 119">
            <a:extLst>
              <a:ext uri="{FF2B5EF4-FFF2-40B4-BE49-F238E27FC236}">
                <a16:creationId xmlns:a16="http://schemas.microsoft.com/office/drawing/2014/main" id="{ED40B81C-5156-73B5-D1CA-E227003C574F}"/>
              </a:ext>
            </a:extLst>
          </p:cNvPr>
          <p:cNvSpPr/>
          <p:nvPr/>
        </p:nvSpPr>
        <p:spPr>
          <a:xfrm>
            <a:off x="1372318" y="2749923"/>
            <a:ext cx="254926" cy="248425"/>
          </a:xfrm>
          <a:prstGeom prst="rightArrow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" name="화살표: 오른쪽 121">
            <a:extLst>
              <a:ext uri="{FF2B5EF4-FFF2-40B4-BE49-F238E27FC236}">
                <a16:creationId xmlns:a16="http://schemas.microsoft.com/office/drawing/2014/main" id="{9F1EB5F4-B727-F2B7-41C6-D3142F6DACF9}"/>
              </a:ext>
            </a:extLst>
          </p:cNvPr>
          <p:cNvSpPr/>
          <p:nvPr/>
        </p:nvSpPr>
        <p:spPr>
          <a:xfrm>
            <a:off x="2674151" y="2749923"/>
            <a:ext cx="254926" cy="248425"/>
          </a:xfrm>
          <a:prstGeom prst="rightArrow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4" name="화살표: 오른쪽 123">
            <a:extLst>
              <a:ext uri="{FF2B5EF4-FFF2-40B4-BE49-F238E27FC236}">
                <a16:creationId xmlns:a16="http://schemas.microsoft.com/office/drawing/2014/main" id="{23572601-2F53-3AC6-C622-524C75FD28E7}"/>
              </a:ext>
            </a:extLst>
          </p:cNvPr>
          <p:cNvSpPr/>
          <p:nvPr/>
        </p:nvSpPr>
        <p:spPr>
          <a:xfrm>
            <a:off x="3975984" y="2749923"/>
            <a:ext cx="254926" cy="248425"/>
          </a:xfrm>
          <a:prstGeom prst="rightArrow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6" name="화살표: 오른쪽 125">
            <a:extLst>
              <a:ext uri="{FF2B5EF4-FFF2-40B4-BE49-F238E27FC236}">
                <a16:creationId xmlns:a16="http://schemas.microsoft.com/office/drawing/2014/main" id="{8EC592A9-F065-0AD2-F62F-C8001D8343DD}"/>
              </a:ext>
            </a:extLst>
          </p:cNvPr>
          <p:cNvSpPr/>
          <p:nvPr/>
        </p:nvSpPr>
        <p:spPr>
          <a:xfrm>
            <a:off x="5275089" y="2749923"/>
            <a:ext cx="254926" cy="248425"/>
          </a:xfrm>
          <a:prstGeom prst="rightArrow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8" name="화살표: 오른쪽 127">
            <a:extLst>
              <a:ext uri="{FF2B5EF4-FFF2-40B4-BE49-F238E27FC236}">
                <a16:creationId xmlns:a16="http://schemas.microsoft.com/office/drawing/2014/main" id="{C0A38865-B154-DA70-F839-F089C9146354}"/>
              </a:ext>
            </a:extLst>
          </p:cNvPr>
          <p:cNvSpPr/>
          <p:nvPr/>
        </p:nvSpPr>
        <p:spPr>
          <a:xfrm>
            <a:off x="6589484" y="2749923"/>
            <a:ext cx="254926" cy="248425"/>
          </a:xfrm>
          <a:prstGeom prst="rightArrow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5010E119-4EAE-A0FB-04B2-274E3D863FC9}"/>
              </a:ext>
            </a:extLst>
          </p:cNvPr>
          <p:cNvSpPr/>
          <p:nvPr/>
        </p:nvSpPr>
        <p:spPr>
          <a:xfrm>
            <a:off x="179899" y="3478023"/>
            <a:ext cx="7701579" cy="87921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endParaRPr lang="ko-KR" altLang="en-US" sz="80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40" name="표 139">
            <a:extLst>
              <a:ext uri="{FF2B5EF4-FFF2-40B4-BE49-F238E27FC236}">
                <a16:creationId xmlns:a16="http://schemas.microsoft.com/office/drawing/2014/main" id="{400F3D11-59BB-5407-9C87-82064B23A3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6409095"/>
              </p:ext>
            </p:extLst>
          </p:nvPr>
        </p:nvGraphicFramePr>
        <p:xfrm>
          <a:off x="294012" y="3571516"/>
          <a:ext cx="7503304" cy="675840"/>
        </p:xfrm>
        <a:graphic>
          <a:graphicData uri="http://schemas.openxmlformats.org/drawingml/2006/table">
            <a:tbl>
              <a:tblPr firstRow="1" bandRow="1"/>
              <a:tblGrid>
                <a:gridCol w="1111607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1111607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509613">
                  <a:extLst>
                    <a:ext uri="{9D8B030D-6E8A-4147-A177-3AD203B41FA5}">
                      <a16:colId xmlns:a16="http://schemas.microsoft.com/office/drawing/2014/main" val="3053194834"/>
                    </a:ext>
                  </a:extLst>
                </a:gridCol>
                <a:gridCol w="977145">
                  <a:extLst>
                    <a:ext uri="{9D8B030D-6E8A-4147-A177-3AD203B41FA5}">
                      <a16:colId xmlns:a16="http://schemas.microsoft.com/office/drawing/2014/main" val="1035785104"/>
                    </a:ext>
                  </a:extLst>
                </a:gridCol>
                <a:gridCol w="1396666">
                  <a:extLst>
                    <a:ext uri="{9D8B030D-6E8A-4147-A177-3AD203B41FA5}">
                      <a16:colId xmlns:a16="http://schemas.microsoft.com/office/drawing/2014/main" val="2609742212"/>
                    </a:ext>
                  </a:extLst>
                </a:gridCol>
                <a:gridCol w="1396666">
                  <a:extLst>
                    <a:ext uri="{9D8B030D-6E8A-4147-A177-3AD203B41FA5}">
                      <a16:colId xmlns:a16="http://schemas.microsoft.com/office/drawing/2014/main" val="358653415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추정금액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사정금액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복수예비 기초금액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낙찰하한율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예정가격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낙찰하한가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94,710,000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94,710,000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91,088,550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87.745</a:t>
                      </a:r>
                      <a:endParaRPr lang="ko-KR" altLang="en-US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개찰 과정에서 정의됨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개찰 과정에서 정의됨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886109E4-0D7A-4DE9-2D89-9EA66515742E}"/>
              </a:ext>
            </a:extLst>
          </p:cNvPr>
          <p:cNvSpPr/>
          <p:nvPr/>
        </p:nvSpPr>
        <p:spPr>
          <a:xfrm>
            <a:off x="2064019" y="3098048"/>
            <a:ext cx="548802" cy="2154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완료</a:t>
            </a: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BB41256E-CD3D-449B-1384-384BBBBC8DFF}"/>
              </a:ext>
            </a:extLst>
          </p:cNvPr>
          <p:cNvSpPr/>
          <p:nvPr/>
        </p:nvSpPr>
        <p:spPr>
          <a:xfrm>
            <a:off x="3361840" y="3098048"/>
            <a:ext cx="548802" cy="2154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완료</a:t>
            </a:r>
            <a:r>
              <a:rPr lang="en-US" altLang="ko-KR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확인</a:t>
            </a:r>
          </a:p>
        </p:txBody>
      </p: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15906D43-EE64-AB55-D761-88EB811CE6F0}"/>
              </a:ext>
            </a:extLst>
          </p:cNvPr>
          <p:cNvSpPr/>
          <p:nvPr/>
        </p:nvSpPr>
        <p:spPr>
          <a:xfrm>
            <a:off x="4637152" y="3098048"/>
            <a:ext cx="548802" cy="2154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완료</a:t>
            </a: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196E8C14-5FD1-293C-6416-DAE1144A7984}"/>
              </a:ext>
            </a:extLst>
          </p:cNvPr>
          <p:cNvSpPr/>
          <p:nvPr/>
        </p:nvSpPr>
        <p:spPr>
          <a:xfrm>
            <a:off x="5974411" y="3098048"/>
            <a:ext cx="548802" cy="2154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완료</a:t>
            </a:r>
            <a:r>
              <a:rPr lang="en-US" altLang="ko-KR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확인</a:t>
            </a: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C808F5E7-A3AA-EA34-7B9B-AD5135DE72F6}"/>
              </a:ext>
            </a:extLst>
          </p:cNvPr>
          <p:cNvSpPr/>
          <p:nvPr/>
        </p:nvSpPr>
        <p:spPr>
          <a:xfrm>
            <a:off x="7248513" y="3098048"/>
            <a:ext cx="548802" cy="2154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완료</a:t>
            </a:r>
            <a:r>
              <a:rPr lang="en-US" altLang="ko-KR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확인</a:t>
            </a: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AE619E35-0ABB-8F98-ACEC-7C2C9553CB7D}"/>
              </a:ext>
            </a:extLst>
          </p:cNvPr>
          <p:cNvSpPr/>
          <p:nvPr/>
        </p:nvSpPr>
        <p:spPr>
          <a:xfrm>
            <a:off x="164467" y="4441450"/>
            <a:ext cx="699418" cy="288032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목록</a:t>
            </a: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F0B05A09-724B-4EE2-4E53-9699CADDB80E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CC77F834-4CA3-DC32-E7A7-857485F9B76B}"/>
              </a:ext>
            </a:extLst>
          </p:cNvPr>
          <p:cNvSpPr/>
          <p:nvPr/>
        </p:nvSpPr>
        <p:spPr>
          <a:xfrm>
            <a:off x="4919867" y="3478023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963A35BC-E28F-92AB-3B80-280E6E89D4A4}"/>
              </a:ext>
            </a:extLst>
          </p:cNvPr>
          <p:cNvSpPr/>
          <p:nvPr/>
        </p:nvSpPr>
        <p:spPr>
          <a:xfrm>
            <a:off x="1962281" y="2972990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16B33AC6-F9BE-0597-F4E0-07FC77CBAD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8067913"/>
              </p:ext>
            </p:extLst>
          </p:nvPr>
        </p:nvGraphicFramePr>
        <p:xfrm>
          <a:off x="164467" y="1556402"/>
          <a:ext cx="7713518" cy="675840"/>
        </p:xfrm>
        <a:graphic>
          <a:graphicData uri="http://schemas.openxmlformats.org/drawingml/2006/table">
            <a:tbl>
              <a:tblPr firstRow="1" bandRow="1"/>
              <a:tblGrid>
                <a:gridCol w="76858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697305">
                  <a:extLst>
                    <a:ext uri="{9D8B030D-6E8A-4147-A177-3AD203B41FA5}">
                      <a16:colId xmlns:a16="http://schemas.microsoft.com/office/drawing/2014/main" val="2016786680"/>
                    </a:ext>
                  </a:extLst>
                </a:gridCol>
                <a:gridCol w="479276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785871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631832">
                  <a:extLst>
                    <a:ext uri="{9D8B030D-6E8A-4147-A177-3AD203B41FA5}">
                      <a16:colId xmlns:a16="http://schemas.microsoft.com/office/drawing/2014/main" val="3053194834"/>
                    </a:ext>
                  </a:extLst>
                </a:gridCol>
                <a:gridCol w="289686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915335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997491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574071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574071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등록일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본공고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작성중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 중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2026.07.22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5C0B54E0-E468-B49B-EABD-F81BD2DF95BB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88249174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4DF0EF-A76F-035C-5EDE-E2511F2D96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8CCFB237-1CD8-BC9C-4073-3ADE53BBB706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F0FC3E2-2772-BBDD-4BA7-9E875D586C3D}"/>
              </a:ext>
            </a:extLst>
          </p:cNvPr>
          <p:cNvSpPr txBox="1"/>
          <p:nvPr/>
        </p:nvSpPr>
        <p:spPr>
          <a:xfrm>
            <a:off x="749224" y="25608"/>
            <a:ext cx="415690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설정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예비가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예정가를 입력하는 경우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5EFA2D08-3E7C-D69F-A0B1-AD824C5273AA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04EC62C0-8A53-469D-68C8-E0A689E1DC77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E4E8C332-C9D6-FF99-0EAA-A3FEAC26D954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30C88E92-02F1-AD34-970B-EBF25A98D7B6}"/>
              </a:ext>
            </a:extLst>
          </p:cNvPr>
          <p:cNvGrpSpPr/>
          <p:nvPr/>
        </p:nvGrpSpPr>
        <p:grpSpPr>
          <a:xfrm>
            <a:off x="164467" y="826923"/>
            <a:ext cx="7717012" cy="643315"/>
            <a:chOff x="252353" y="826923"/>
            <a:chExt cx="7629126" cy="643315"/>
          </a:xfrm>
        </p:grpSpPr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C39CF5F4-1224-D14B-9535-C52294BF7EDE}"/>
                </a:ext>
              </a:extLst>
            </p:cNvPr>
            <p:cNvSpPr/>
            <p:nvPr/>
          </p:nvSpPr>
          <p:spPr>
            <a:xfrm>
              <a:off x="1352599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02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상세정보</a:t>
              </a:r>
              <a:endPara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81C8F25D-0D12-C143-F813-C19729706051}"/>
                </a:ext>
              </a:extLst>
            </p:cNvPr>
            <p:cNvSpPr/>
            <p:nvPr/>
          </p:nvSpPr>
          <p:spPr>
            <a:xfrm>
              <a:off x="2452845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03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심사</a:t>
              </a:r>
              <a:r>
                <a:rPr lang="en-US" altLang="ko-KR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</a:t>
              </a: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평가 계획</a:t>
              </a:r>
            </a:p>
          </p:txBody>
        </p: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14F82027-34D8-2766-8728-E4A342D8E09D}"/>
                </a:ext>
              </a:extLst>
            </p:cNvPr>
            <p:cNvSpPr/>
            <p:nvPr/>
          </p:nvSpPr>
          <p:spPr>
            <a:xfrm>
              <a:off x="3553091" y="826923"/>
              <a:ext cx="1027647" cy="643315"/>
            </a:xfrm>
            <a:prstGeom prst="rect">
              <a:avLst/>
            </a:prstGeom>
            <a:solidFill>
              <a:srgbClr val="FFC000">
                <a:alpha val="69804"/>
              </a:srgb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04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b="1" spc="-5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예정가</a:t>
              </a:r>
              <a:r>
                <a:rPr lang="ko-KR" altLang="en-US" sz="800" b="1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</a:t>
              </a:r>
              <a:r>
                <a:rPr lang="en-US" altLang="ko-KR" sz="800" b="1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 </a:t>
              </a:r>
              <a:r>
                <a:rPr lang="ko-KR" altLang="en-US" sz="800" b="1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예비가</a:t>
              </a: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3BDA94CE-6412-0747-294E-14D3B54D1CBB}"/>
                </a:ext>
              </a:extLst>
            </p:cNvPr>
            <p:cNvSpPr/>
            <p:nvPr/>
          </p:nvSpPr>
          <p:spPr>
            <a:xfrm>
              <a:off x="5753583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06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최종 점검</a:t>
              </a:r>
              <a:endPara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4A27068E-FF14-5951-A1D0-FB28C6055724}"/>
                </a:ext>
              </a:extLst>
            </p:cNvPr>
            <p:cNvSpPr/>
            <p:nvPr/>
          </p:nvSpPr>
          <p:spPr>
            <a:xfrm>
              <a:off x="6853832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07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등록 완료</a:t>
              </a:r>
              <a:endPara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93A0DAA7-ACC5-93EB-A1FA-B27138BE4413}"/>
                </a:ext>
              </a:extLst>
            </p:cNvPr>
            <p:cNvSpPr/>
            <p:nvPr/>
          </p:nvSpPr>
          <p:spPr>
            <a:xfrm>
              <a:off x="4653337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72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05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 참여 서류</a:t>
              </a:r>
            </a:p>
          </p:txBody>
        </p:sp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FC779D6F-50D3-0FC1-37E1-9FB9F089C45C}"/>
                </a:ext>
              </a:extLst>
            </p:cNvPr>
            <p:cNvSpPr/>
            <p:nvPr/>
          </p:nvSpPr>
          <p:spPr>
            <a:xfrm>
              <a:off x="252353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01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발주계획 정보 확인</a:t>
              </a:r>
              <a:endPara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162F313B-6FF5-6D56-1F5C-2A13BFD5D6D4}"/>
              </a:ext>
            </a:extLst>
          </p:cNvPr>
          <p:cNvSpPr txBox="1"/>
          <p:nvPr/>
        </p:nvSpPr>
        <p:spPr>
          <a:xfrm>
            <a:off x="8049344" y="584684"/>
            <a:ext cx="1856656" cy="12741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예정가로 설정된 경우의 세부 프로세스</a:t>
            </a:r>
            <a:endParaRPr lang="en-US" altLang="ko-KR" sz="800" u="sng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전자결재는 확인단계가 있을 수 없음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확인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이 있는 경우에는 각 화면의 확인 팝업을 제공함</a:t>
            </a:r>
            <a:b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061A1BDE-7AB6-97B2-AC39-9B173B92F9C0}"/>
              </a:ext>
            </a:extLst>
          </p:cNvPr>
          <p:cNvSpPr/>
          <p:nvPr/>
        </p:nvSpPr>
        <p:spPr>
          <a:xfrm>
            <a:off x="179900" y="2350474"/>
            <a:ext cx="1192419" cy="1035137"/>
          </a:xfrm>
          <a:prstGeom prst="rect">
            <a:avLst/>
          </a:prstGeom>
          <a:solidFill>
            <a:srgbClr val="F2F2F2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t" anchorCtr="0"/>
          <a:lstStyle/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en-US" altLang="ko-KR" sz="900" b="1" spc="-5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STEP 01</a:t>
            </a:r>
          </a:p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예정가격 산출기초조서 </a:t>
            </a:r>
            <a:b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등록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및 전자결재 요청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F5A746B4-1DA1-E661-9D4C-F672893A9325}"/>
              </a:ext>
            </a:extLst>
          </p:cNvPr>
          <p:cNvSpPr/>
          <p:nvPr/>
        </p:nvSpPr>
        <p:spPr>
          <a:xfrm>
            <a:off x="2783565" y="2350474"/>
            <a:ext cx="1192419" cy="1035137"/>
          </a:xfrm>
          <a:prstGeom prst="rect">
            <a:avLst/>
          </a:prstGeom>
          <a:solidFill>
            <a:srgbClr val="F2F2F2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t" anchorCtr="0"/>
          <a:lstStyle/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en-US" altLang="ko-KR" sz="900" b="1" spc="-5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STEP 03</a:t>
            </a:r>
          </a:p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ko-KR" altLang="en-US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예정가격 등록 요청</a:t>
            </a:r>
            <a:br>
              <a: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b="1" spc="-5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요청</a:t>
            </a:r>
            <a:endParaRPr lang="ko-KR" altLang="en-US" sz="800" b="1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BE1ECDFB-832B-D9C7-62BD-7C294511FD90}"/>
              </a:ext>
            </a:extLst>
          </p:cNvPr>
          <p:cNvSpPr/>
          <p:nvPr/>
        </p:nvSpPr>
        <p:spPr>
          <a:xfrm>
            <a:off x="1481732" y="2350474"/>
            <a:ext cx="1192419" cy="1035137"/>
          </a:xfrm>
          <a:prstGeom prst="rect">
            <a:avLst/>
          </a:prstGeom>
          <a:solidFill>
            <a:srgbClr val="F2F2F2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t" anchorCtr="0"/>
          <a:lstStyle/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en-US" altLang="ko-KR" sz="900" b="1" spc="-5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STEP 02</a:t>
            </a:r>
          </a:p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예정가격 산출기초조서 </a:t>
            </a:r>
            <a:b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00956B4E-95C5-34A7-DB99-55E5B5321CE6}"/>
              </a:ext>
            </a:extLst>
          </p:cNvPr>
          <p:cNvSpPr/>
          <p:nvPr/>
        </p:nvSpPr>
        <p:spPr>
          <a:xfrm>
            <a:off x="5387229" y="2350474"/>
            <a:ext cx="1192419" cy="1035137"/>
          </a:xfrm>
          <a:prstGeom prst="rect">
            <a:avLst/>
          </a:prstGeom>
          <a:solidFill>
            <a:srgbClr val="F2F2F2"/>
          </a:solidFill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t" anchorCtr="0"/>
          <a:lstStyle/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en-US" altLang="ko-KR" sz="900" b="1" spc="-5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STEP 05</a:t>
            </a:r>
          </a:p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ko-KR" altLang="en-US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예정가격</a:t>
            </a:r>
            <a:br>
              <a: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등록</a:t>
            </a:r>
            <a:r>
              <a: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사장님</a:t>
            </a:r>
            <a:r>
              <a: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본부장님</a:t>
            </a:r>
            <a:r>
              <a: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b="1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C818F165-D7C0-4F84-807D-563923994526}"/>
              </a:ext>
            </a:extLst>
          </p:cNvPr>
          <p:cNvSpPr/>
          <p:nvPr/>
        </p:nvSpPr>
        <p:spPr>
          <a:xfrm>
            <a:off x="4085397" y="2350474"/>
            <a:ext cx="1192419" cy="1035137"/>
          </a:xfrm>
          <a:prstGeom prst="rect">
            <a:avLst/>
          </a:prstGeom>
          <a:solidFill>
            <a:srgbClr val="F2F2F2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t" anchorCtr="0"/>
          <a:lstStyle/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en-US" altLang="ko-KR" sz="900" b="1" spc="-5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STEP 04</a:t>
            </a:r>
          </a:p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ko-KR" altLang="en-US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예정가격 등록 요청</a:t>
            </a:r>
            <a:br>
              <a: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</a:t>
            </a: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2F5AA07-0E2B-2C7B-DB1B-1CFB36E807AB}"/>
              </a:ext>
            </a:extLst>
          </p:cNvPr>
          <p:cNvSpPr/>
          <p:nvPr/>
        </p:nvSpPr>
        <p:spPr>
          <a:xfrm>
            <a:off x="1565667" y="3120345"/>
            <a:ext cx="458854" cy="215441"/>
          </a:xfrm>
          <a:prstGeom prst="rect">
            <a:avLst/>
          </a:prstGeom>
          <a:solidFill>
            <a:schemeClr val="bg1">
              <a:lumMod val="7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진행중</a:t>
            </a: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3260C0B5-2A0D-E9FA-9BB9-DF7F4365AE7B}"/>
              </a:ext>
            </a:extLst>
          </p:cNvPr>
          <p:cNvSpPr/>
          <p:nvPr/>
        </p:nvSpPr>
        <p:spPr>
          <a:xfrm>
            <a:off x="2870117" y="3120345"/>
            <a:ext cx="458854" cy="215441"/>
          </a:xfrm>
          <a:prstGeom prst="rect">
            <a:avLst/>
          </a:prstGeom>
          <a:solidFill>
            <a:srgbClr val="00B05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등록</a:t>
            </a: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1C2DC918-EC63-3A62-D28A-1AEE2C00CE3C}"/>
              </a:ext>
            </a:extLst>
          </p:cNvPr>
          <p:cNvSpPr/>
          <p:nvPr/>
        </p:nvSpPr>
        <p:spPr>
          <a:xfrm>
            <a:off x="4150773" y="3120345"/>
            <a:ext cx="458854" cy="215441"/>
          </a:xfrm>
          <a:prstGeom prst="rect">
            <a:avLst/>
          </a:prstGeom>
          <a:solidFill>
            <a:schemeClr val="bg1">
              <a:lumMod val="7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진행중</a:t>
            </a: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030D27B0-CBD6-6624-00D9-90210FDD7340}"/>
              </a:ext>
            </a:extLst>
          </p:cNvPr>
          <p:cNvSpPr/>
          <p:nvPr/>
        </p:nvSpPr>
        <p:spPr>
          <a:xfrm>
            <a:off x="5485319" y="3120345"/>
            <a:ext cx="458854" cy="215441"/>
          </a:xfrm>
          <a:prstGeom prst="rect">
            <a:avLst/>
          </a:prstGeom>
          <a:solidFill>
            <a:srgbClr val="00B05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등록</a:t>
            </a:r>
          </a:p>
        </p:txBody>
      </p:sp>
      <p:sp>
        <p:nvSpPr>
          <p:cNvPr id="118" name="타원 117">
            <a:extLst>
              <a:ext uri="{FF2B5EF4-FFF2-40B4-BE49-F238E27FC236}">
                <a16:creationId xmlns:a16="http://schemas.microsoft.com/office/drawing/2014/main" id="{6FD1E424-B84E-E53C-65FB-A1127769987B}"/>
              </a:ext>
            </a:extLst>
          </p:cNvPr>
          <p:cNvSpPr/>
          <p:nvPr/>
        </p:nvSpPr>
        <p:spPr>
          <a:xfrm>
            <a:off x="71888" y="2302128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0" name="화살표: 오른쪽 129">
            <a:extLst>
              <a:ext uri="{FF2B5EF4-FFF2-40B4-BE49-F238E27FC236}">
                <a16:creationId xmlns:a16="http://schemas.microsoft.com/office/drawing/2014/main" id="{ED9127FC-96A7-611E-B959-5055DCB1A415}"/>
              </a:ext>
            </a:extLst>
          </p:cNvPr>
          <p:cNvSpPr/>
          <p:nvPr/>
        </p:nvSpPr>
        <p:spPr>
          <a:xfrm>
            <a:off x="1372318" y="2757223"/>
            <a:ext cx="254926" cy="248425"/>
          </a:xfrm>
          <a:prstGeom prst="rightArrow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" name="화살표: 오른쪽 131">
            <a:extLst>
              <a:ext uri="{FF2B5EF4-FFF2-40B4-BE49-F238E27FC236}">
                <a16:creationId xmlns:a16="http://schemas.microsoft.com/office/drawing/2014/main" id="{1B17BA9E-A0DE-D44A-9D95-90236E5A05A8}"/>
              </a:ext>
            </a:extLst>
          </p:cNvPr>
          <p:cNvSpPr/>
          <p:nvPr/>
        </p:nvSpPr>
        <p:spPr>
          <a:xfrm>
            <a:off x="2674151" y="2757223"/>
            <a:ext cx="254926" cy="248425"/>
          </a:xfrm>
          <a:prstGeom prst="rightArrow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4" name="화살표: 오른쪽 133">
            <a:extLst>
              <a:ext uri="{FF2B5EF4-FFF2-40B4-BE49-F238E27FC236}">
                <a16:creationId xmlns:a16="http://schemas.microsoft.com/office/drawing/2014/main" id="{EE05BC89-8D84-A680-B12A-DB68756506C3}"/>
              </a:ext>
            </a:extLst>
          </p:cNvPr>
          <p:cNvSpPr/>
          <p:nvPr/>
        </p:nvSpPr>
        <p:spPr>
          <a:xfrm>
            <a:off x="3975984" y="2757223"/>
            <a:ext cx="254926" cy="248425"/>
          </a:xfrm>
          <a:prstGeom prst="rightArrow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" name="화살표: 오른쪽 135">
            <a:extLst>
              <a:ext uri="{FF2B5EF4-FFF2-40B4-BE49-F238E27FC236}">
                <a16:creationId xmlns:a16="http://schemas.microsoft.com/office/drawing/2014/main" id="{26D660EC-B307-A716-3CD1-27472D9E4EAA}"/>
              </a:ext>
            </a:extLst>
          </p:cNvPr>
          <p:cNvSpPr/>
          <p:nvPr/>
        </p:nvSpPr>
        <p:spPr>
          <a:xfrm>
            <a:off x="5275089" y="2757223"/>
            <a:ext cx="254926" cy="248425"/>
          </a:xfrm>
          <a:prstGeom prst="rightArrow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1ECB42F9-15C0-094A-73D3-D057D594F9DF}"/>
              </a:ext>
            </a:extLst>
          </p:cNvPr>
          <p:cNvSpPr/>
          <p:nvPr/>
        </p:nvSpPr>
        <p:spPr>
          <a:xfrm>
            <a:off x="179899" y="3472925"/>
            <a:ext cx="7701579" cy="87921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endParaRPr lang="ko-KR" altLang="en-US" sz="80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44" name="표 143">
            <a:extLst>
              <a:ext uri="{FF2B5EF4-FFF2-40B4-BE49-F238E27FC236}">
                <a16:creationId xmlns:a16="http://schemas.microsoft.com/office/drawing/2014/main" id="{712E903F-56E1-DD77-01E6-E37AA90008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7048890"/>
              </p:ext>
            </p:extLst>
          </p:nvPr>
        </p:nvGraphicFramePr>
        <p:xfrm>
          <a:off x="294012" y="3566418"/>
          <a:ext cx="3681972" cy="675840"/>
        </p:xfrm>
        <a:graphic>
          <a:graphicData uri="http://schemas.openxmlformats.org/drawingml/2006/table">
            <a:tbl>
              <a:tblPr firstRow="1" bandRow="1"/>
              <a:tblGrid>
                <a:gridCol w="1227324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1227324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227324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추정금액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사정금액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예정가격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26,482,500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26,482,500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26,482,500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2D9D767-E93C-C4EA-A894-C69762E0C488}"/>
              </a:ext>
            </a:extLst>
          </p:cNvPr>
          <p:cNvSpPr/>
          <p:nvPr/>
        </p:nvSpPr>
        <p:spPr>
          <a:xfrm>
            <a:off x="247345" y="3120345"/>
            <a:ext cx="458854" cy="215441"/>
          </a:xfrm>
          <a:prstGeom prst="rect">
            <a:avLst/>
          </a:prstGeom>
          <a:solidFill>
            <a:srgbClr val="00B05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등록</a:t>
            </a: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23833C63-4E35-40CF-ECBB-C9DC4626285A}"/>
              </a:ext>
            </a:extLst>
          </p:cNvPr>
          <p:cNvSpPr/>
          <p:nvPr/>
        </p:nvSpPr>
        <p:spPr>
          <a:xfrm>
            <a:off x="769268" y="3120345"/>
            <a:ext cx="548802" cy="2154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완료</a:t>
            </a:r>
            <a:r>
              <a:rPr lang="en-US" altLang="ko-KR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확인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06A4CA17-242F-188A-B580-EAD88471592D}"/>
              </a:ext>
            </a:extLst>
          </p:cNvPr>
          <p:cNvSpPr/>
          <p:nvPr/>
        </p:nvSpPr>
        <p:spPr>
          <a:xfrm>
            <a:off x="2064019" y="3120345"/>
            <a:ext cx="548802" cy="2154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완료</a:t>
            </a: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43549A46-C581-9EE3-6B4A-20486CE5B7FD}"/>
              </a:ext>
            </a:extLst>
          </p:cNvPr>
          <p:cNvSpPr/>
          <p:nvPr/>
        </p:nvSpPr>
        <p:spPr>
          <a:xfrm>
            <a:off x="3361840" y="3120345"/>
            <a:ext cx="548802" cy="2154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완료</a:t>
            </a:r>
            <a:r>
              <a:rPr lang="en-US" altLang="ko-KR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확인</a:t>
            </a: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EF1114DE-59FF-F97F-30AC-105811628408}"/>
              </a:ext>
            </a:extLst>
          </p:cNvPr>
          <p:cNvSpPr/>
          <p:nvPr/>
        </p:nvSpPr>
        <p:spPr>
          <a:xfrm>
            <a:off x="4640903" y="3120345"/>
            <a:ext cx="548802" cy="2154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완료</a:t>
            </a: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D4DB1310-DA7E-C666-57DC-B89B50D4A356}"/>
              </a:ext>
            </a:extLst>
          </p:cNvPr>
          <p:cNvSpPr/>
          <p:nvPr/>
        </p:nvSpPr>
        <p:spPr>
          <a:xfrm>
            <a:off x="5983438" y="3120345"/>
            <a:ext cx="548802" cy="2154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완료</a:t>
            </a:r>
            <a:r>
              <a:rPr lang="en-US" altLang="ko-KR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확인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72C7CDF2-1564-5FEB-6B0F-CC2AEE097DB2}"/>
              </a:ext>
            </a:extLst>
          </p:cNvPr>
          <p:cNvSpPr/>
          <p:nvPr/>
        </p:nvSpPr>
        <p:spPr>
          <a:xfrm>
            <a:off x="164467" y="4441450"/>
            <a:ext cx="699418" cy="288032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목록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17A5FE66-1E81-50DA-676C-21DC5852A031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83C85561-B0AD-21B0-C503-E850A7054E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8067913"/>
              </p:ext>
            </p:extLst>
          </p:nvPr>
        </p:nvGraphicFramePr>
        <p:xfrm>
          <a:off x="164467" y="1556402"/>
          <a:ext cx="7713518" cy="675840"/>
        </p:xfrm>
        <a:graphic>
          <a:graphicData uri="http://schemas.openxmlformats.org/drawingml/2006/table">
            <a:tbl>
              <a:tblPr firstRow="1" bandRow="1"/>
              <a:tblGrid>
                <a:gridCol w="76858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697305">
                  <a:extLst>
                    <a:ext uri="{9D8B030D-6E8A-4147-A177-3AD203B41FA5}">
                      <a16:colId xmlns:a16="http://schemas.microsoft.com/office/drawing/2014/main" val="2016786680"/>
                    </a:ext>
                  </a:extLst>
                </a:gridCol>
                <a:gridCol w="479276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785871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631832">
                  <a:extLst>
                    <a:ext uri="{9D8B030D-6E8A-4147-A177-3AD203B41FA5}">
                      <a16:colId xmlns:a16="http://schemas.microsoft.com/office/drawing/2014/main" val="3053194834"/>
                    </a:ext>
                  </a:extLst>
                </a:gridCol>
                <a:gridCol w="289686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915335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997491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574071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574071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등록일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본공고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작성중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 중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2026.07.22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5" name="타원 4">
            <a:extLst>
              <a:ext uri="{FF2B5EF4-FFF2-40B4-BE49-F238E27FC236}">
                <a16:creationId xmlns:a16="http://schemas.microsoft.com/office/drawing/2014/main" id="{CD30611A-0E1E-0A8E-9CE8-6FA071E7677E}"/>
              </a:ext>
            </a:extLst>
          </p:cNvPr>
          <p:cNvSpPr/>
          <p:nvPr/>
        </p:nvSpPr>
        <p:spPr>
          <a:xfrm>
            <a:off x="1962281" y="2972990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62712024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73EF74-ACD2-9E89-E752-AC83C59CBB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1902C71E-F54E-4459-D91F-082DF218CEA3}"/>
              </a:ext>
            </a:extLst>
          </p:cNvPr>
          <p:cNvSpPr/>
          <p:nvPr/>
        </p:nvSpPr>
        <p:spPr>
          <a:xfrm>
            <a:off x="164468" y="368660"/>
            <a:ext cx="7765639" cy="6228692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51300EAF-22A4-B5C1-5F1D-AD6B671C7DCA}"/>
              </a:ext>
            </a:extLst>
          </p:cNvPr>
          <p:cNvSpPr/>
          <p:nvPr/>
        </p:nvSpPr>
        <p:spPr>
          <a:xfrm>
            <a:off x="7817540" y="385500"/>
            <a:ext cx="108012" cy="621680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F939904D-9F02-8B55-7A2B-6FEEC9A9FE16}"/>
              </a:ext>
            </a:extLst>
          </p:cNvPr>
          <p:cNvSpPr/>
          <p:nvPr/>
        </p:nvSpPr>
        <p:spPr>
          <a:xfrm>
            <a:off x="7817540" y="1946644"/>
            <a:ext cx="108012" cy="1800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7A821F6-BEE3-9D8C-7150-9D33C6B39D09}"/>
              </a:ext>
            </a:extLst>
          </p:cNvPr>
          <p:cNvSpPr/>
          <p:nvPr/>
        </p:nvSpPr>
        <p:spPr>
          <a:xfrm>
            <a:off x="164468" y="368660"/>
            <a:ext cx="7761084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예정가격 산출기초조서 등록 및 전자결재 요청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AD9D1A3-D8FA-E025-8700-CDEBD932446B}"/>
              </a:ext>
            </a:extLst>
          </p:cNvPr>
          <p:cNvSpPr/>
          <p:nvPr/>
        </p:nvSpPr>
        <p:spPr>
          <a:xfrm>
            <a:off x="7662176" y="368660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C7A80B50-43E2-5C86-E0F4-8336F325618D}"/>
              </a:ext>
            </a:extLst>
          </p:cNvPr>
          <p:cNvSpPr/>
          <p:nvPr/>
        </p:nvSpPr>
        <p:spPr>
          <a:xfrm>
            <a:off x="332879" y="774485"/>
            <a:ext cx="2802049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예정가격 산출기초조서 등록 및 전자결재 요청</a:t>
            </a: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2764D739-0E8F-B340-EC97-9610563A3F32}"/>
              </a:ext>
            </a:extLst>
          </p:cNvPr>
          <p:cNvGraphicFramePr>
            <a:graphicFrameLocks noGrp="1"/>
          </p:cNvGraphicFramePr>
          <p:nvPr/>
        </p:nvGraphicFramePr>
        <p:xfrm>
          <a:off x="324654" y="2123157"/>
          <a:ext cx="7337522" cy="2365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99003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1133782">
                  <a:extLst>
                    <a:ext uri="{9D8B030D-6E8A-4147-A177-3AD203B41FA5}">
                      <a16:colId xmlns:a16="http://schemas.microsoft.com/office/drawing/2014/main" val="2264476566"/>
                    </a:ext>
                  </a:extLst>
                </a:gridCol>
                <a:gridCol w="1133782">
                  <a:extLst>
                    <a:ext uri="{9D8B030D-6E8A-4147-A177-3AD203B41FA5}">
                      <a16:colId xmlns:a16="http://schemas.microsoft.com/office/drawing/2014/main" val="1900745260"/>
                    </a:ext>
                  </a:extLst>
                </a:gridCol>
                <a:gridCol w="1122521">
                  <a:extLst>
                    <a:ext uri="{9D8B030D-6E8A-4147-A177-3AD203B41FA5}">
                      <a16:colId xmlns:a16="http://schemas.microsoft.com/office/drawing/2014/main" val="1854595363"/>
                    </a:ext>
                  </a:extLst>
                </a:gridCol>
                <a:gridCol w="2448434">
                  <a:extLst>
                    <a:ext uri="{9D8B030D-6E8A-4147-A177-3AD203B41FA5}">
                      <a16:colId xmlns:a16="http://schemas.microsoft.com/office/drawing/2014/main" val="7009178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구분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추정가액 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(A)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사정가액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(B)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증감액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(C=B-A)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비고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합계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공급가액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04864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부가세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02843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총계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425343"/>
                  </a:ext>
                </a:extLst>
              </a:tr>
            </a:tbl>
          </a:graphicData>
        </a:graphic>
      </p:graphicFrame>
      <p:sp>
        <p:nvSpPr>
          <p:cNvPr id="43" name="직사각형 42">
            <a:extLst>
              <a:ext uri="{FF2B5EF4-FFF2-40B4-BE49-F238E27FC236}">
                <a16:creationId xmlns:a16="http://schemas.microsoft.com/office/drawing/2014/main" id="{887549EF-7866-4A30-60EB-F1346177B5D3}"/>
              </a:ext>
            </a:extLst>
          </p:cNvPr>
          <p:cNvSpPr/>
          <p:nvPr/>
        </p:nvSpPr>
        <p:spPr>
          <a:xfrm>
            <a:off x="416496" y="2520811"/>
            <a:ext cx="1296144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직접 재료비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11610B61-EF6E-CA89-3FBA-5CFE4C2E2F57}"/>
              </a:ext>
            </a:extLst>
          </p:cNvPr>
          <p:cNvSpPr/>
          <p:nvPr/>
        </p:nvSpPr>
        <p:spPr>
          <a:xfrm>
            <a:off x="1958641" y="2520811"/>
            <a:ext cx="78086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31,619,400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6310D2A-3238-1DD9-0448-20995DA22BC8}"/>
              </a:ext>
            </a:extLst>
          </p:cNvPr>
          <p:cNvSpPr/>
          <p:nvPr/>
        </p:nvSpPr>
        <p:spPr>
          <a:xfrm>
            <a:off x="3094865" y="2520811"/>
            <a:ext cx="78086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31,619,400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D686E67F-285D-47CF-9CCF-436A7EBE7F90}"/>
              </a:ext>
            </a:extLst>
          </p:cNvPr>
          <p:cNvSpPr/>
          <p:nvPr/>
        </p:nvSpPr>
        <p:spPr>
          <a:xfrm>
            <a:off x="5270160" y="2520811"/>
            <a:ext cx="1951092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자 이내로 간략히 작성해주세요</a:t>
            </a:r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1C05F495-A1E8-07B6-001E-A1775262B13C}"/>
              </a:ext>
            </a:extLst>
          </p:cNvPr>
          <p:cNvSpPr/>
          <p:nvPr/>
        </p:nvSpPr>
        <p:spPr>
          <a:xfrm>
            <a:off x="416496" y="2857573"/>
            <a:ext cx="1296144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직접 노무비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D584F28B-17BB-FD19-BD22-AEF2226ED5CA}"/>
              </a:ext>
            </a:extLst>
          </p:cNvPr>
          <p:cNvSpPr/>
          <p:nvPr/>
        </p:nvSpPr>
        <p:spPr>
          <a:xfrm>
            <a:off x="1958641" y="2857573"/>
            <a:ext cx="78086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50,137,750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677A7F52-4D4B-2C13-6C3F-CAFE0F361315}"/>
              </a:ext>
            </a:extLst>
          </p:cNvPr>
          <p:cNvSpPr/>
          <p:nvPr/>
        </p:nvSpPr>
        <p:spPr>
          <a:xfrm>
            <a:off x="3094865" y="2857573"/>
            <a:ext cx="78086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50,137,750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37CCA10C-935D-6341-F847-2F6845E02008}"/>
              </a:ext>
            </a:extLst>
          </p:cNvPr>
          <p:cNvSpPr/>
          <p:nvPr/>
        </p:nvSpPr>
        <p:spPr>
          <a:xfrm>
            <a:off x="5270160" y="2857573"/>
            <a:ext cx="1951092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자 이내로 간략히 작성해주세요</a:t>
            </a:r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7A4AEEFD-2028-6D2C-50A2-19B8615B84EF}"/>
              </a:ext>
            </a:extLst>
          </p:cNvPr>
          <p:cNvSpPr/>
          <p:nvPr/>
        </p:nvSpPr>
        <p:spPr>
          <a:xfrm>
            <a:off x="416496" y="3194335"/>
            <a:ext cx="1296144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경비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5F43910A-8F30-7CF3-C457-432B97A13C4B}"/>
              </a:ext>
            </a:extLst>
          </p:cNvPr>
          <p:cNvSpPr/>
          <p:nvPr/>
        </p:nvSpPr>
        <p:spPr>
          <a:xfrm>
            <a:off x="1958641" y="3194335"/>
            <a:ext cx="78086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4,342,850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408682E5-C433-F112-0EA7-A762B916D2F2}"/>
              </a:ext>
            </a:extLst>
          </p:cNvPr>
          <p:cNvSpPr/>
          <p:nvPr/>
        </p:nvSpPr>
        <p:spPr>
          <a:xfrm>
            <a:off x="3094865" y="3194335"/>
            <a:ext cx="78086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4,342,850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A7112A9C-FEDB-1B8A-D098-55016E9E2B84}"/>
              </a:ext>
            </a:extLst>
          </p:cNvPr>
          <p:cNvSpPr/>
          <p:nvPr/>
        </p:nvSpPr>
        <p:spPr>
          <a:xfrm>
            <a:off x="5270160" y="3194335"/>
            <a:ext cx="1951092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자 이내로 간략히 작성해주세요</a:t>
            </a:r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0C6D34CA-BE51-F88F-BBAF-A4DEFB5B8183}"/>
              </a:ext>
            </a:extLst>
          </p:cNvPr>
          <p:cNvSpPr/>
          <p:nvPr/>
        </p:nvSpPr>
        <p:spPr>
          <a:xfrm>
            <a:off x="1958641" y="3520246"/>
            <a:ext cx="78086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86,100,000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9744EDF9-9D45-B6F3-1908-DA0F0F197AFB}"/>
              </a:ext>
            </a:extLst>
          </p:cNvPr>
          <p:cNvSpPr/>
          <p:nvPr/>
        </p:nvSpPr>
        <p:spPr>
          <a:xfrm>
            <a:off x="1958641" y="3857008"/>
            <a:ext cx="78086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8,610,000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A4C37846-FDA4-CA8B-DDCA-CFADF2714C81}"/>
              </a:ext>
            </a:extLst>
          </p:cNvPr>
          <p:cNvSpPr/>
          <p:nvPr/>
        </p:nvSpPr>
        <p:spPr>
          <a:xfrm>
            <a:off x="1958641" y="4193770"/>
            <a:ext cx="78086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94,710,000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98C0D037-55A8-4BD2-A106-10376A9E14DE}"/>
              </a:ext>
            </a:extLst>
          </p:cNvPr>
          <p:cNvSpPr/>
          <p:nvPr/>
        </p:nvSpPr>
        <p:spPr>
          <a:xfrm>
            <a:off x="5270160" y="3521956"/>
            <a:ext cx="1951092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자 이내로 간략히 작성해주세요</a:t>
            </a:r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F0C95257-2274-A656-5847-E98B446D0EB5}"/>
              </a:ext>
            </a:extLst>
          </p:cNvPr>
          <p:cNvSpPr/>
          <p:nvPr/>
        </p:nvSpPr>
        <p:spPr>
          <a:xfrm>
            <a:off x="5270160" y="3858718"/>
            <a:ext cx="1951092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자 이내로 간략히 작성해주세요</a:t>
            </a:r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0419D981-6E4F-614E-B756-E85A6F39E7D5}"/>
              </a:ext>
            </a:extLst>
          </p:cNvPr>
          <p:cNvSpPr/>
          <p:nvPr/>
        </p:nvSpPr>
        <p:spPr>
          <a:xfrm>
            <a:off x="5270160" y="4195480"/>
            <a:ext cx="1951092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자 이내로 간략히 작성해주세요</a:t>
            </a:r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AB996038-46E1-F334-0540-FDA30E31659D}"/>
              </a:ext>
            </a:extLst>
          </p:cNvPr>
          <p:cNvSpPr/>
          <p:nvPr/>
        </p:nvSpPr>
        <p:spPr>
          <a:xfrm>
            <a:off x="3094865" y="3520246"/>
            <a:ext cx="78086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86,100,000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105475E-0C07-5268-7343-39B4F58F6455}"/>
              </a:ext>
            </a:extLst>
          </p:cNvPr>
          <p:cNvSpPr/>
          <p:nvPr/>
        </p:nvSpPr>
        <p:spPr>
          <a:xfrm>
            <a:off x="3094865" y="3857008"/>
            <a:ext cx="78086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8,610,000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060E57F1-BC9E-D691-C551-EAB7F12E6349}"/>
              </a:ext>
            </a:extLst>
          </p:cNvPr>
          <p:cNvSpPr/>
          <p:nvPr/>
        </p:nvSpPr>
        <p:spPr>
          <a:xfrm>
            <a:off x="3094865" y="4193770"/>
            <a:ext cx="78086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94,710,000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90" name="표 89">
            <a:extLst>
              <a:ext uri="{FF2B5EF4-FFF2-40B4-BE49-F238E27FC236}">
                <a16:creationId xmlns:a16="http://schemas.microsoft.com/office/drawing/2014/main" id="{1A1BD87A-7620-E398-1A97-6C1BBAD0FBC6}"/>
              </a:ext>
            </a:extLst>
          </p:cNvPr>
          <p:cNvGraphicFramePr>
            <a:graphicFrameLocks noGrp="1"/>
          </p:cNvGraphicFramePr>
          <p:nvPr/>
        </p:nvGraphicFramePr>
        <p:xfrm>
          <a:off x="332879" y="4600366"/>
          <a:ext cx="7356425" cy="1468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87773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5868652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비고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724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첨부파일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9358335"/>
                  </a:ext>
                </a:extLst>
              </a:tr>
            </a:tbl>
          </a:graphicData>
        </a:graphic>
      </p:graphicFrame>
      <p:pic>
        <p:nvPicPr>
          <p:cNvPr id="94" name="그림 93">
            <a:extLst>
              <a:ext uri="{FF2B5EF4-FFF2-40B4-BE49-F238E27FC236}">
                <a16:creationId xmlns:a16="http://schemas.microsoft.com/office/drawing/2014/main" id="{2A1AC262-D53D-6EC4-7783-667A76E3D0D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92660" y="5396076"/>
            <a:ext cx="5688632" cy="597671"/>
          </a:xfrm>
          <a:prstGeom prst="rect">
            <a:avLst/>
          </a:prstGeom>
        </p:spPr>
      </p:pic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85558F0-AC41-FE9B-8CDF-3DB612A8C4F5}"/>
              </a:ext>
            </a:extLst>
          </p:cNvPr>
          <p:cNvSpPr/>
          <p:nvPr/>
        </p:nvSpPr>
        <p:spPr>
          <a:xfrm>
            <a:off x="1887873" y="4654340"/>
            <a:ext cx="5774304" cy="60179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en-US" altLang="ko-KR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Text Area</a:t>
            </a:r>
          </a:p>
          <a:p>
            <a:pPr algn="l"/>
            <a:endParaRPr lang="en-US" altLang="ko-KR" sz="8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l"/>
            <a:endParaRPr lang="en-US" altLang="ko-KR" sz="8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l"/>
            <a:endParaRPr lang="ko-KR" altLang="en-US" sz="8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32686EDD-8BBF-3B7C-F352-E4B04F8DD900}"/>
              </a:ext>
            </a:extLst>
          </p:cNvPr>
          <p:cNvSpPr txBox="1"/>
          <p:nvPr/>
        </p:nvSpPr>
        <p:spPr>
          <a:xfrm>
            <a:off x="749224" y="25608"/>
            <a:ext cx="514916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설정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예비가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예정가격 산출기초조서 등록 및 전자결재 요청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CFCFDB5-4764-F73B-4D44-AD5358FEE92A}"/>
              </a:ext>
            </a:extLst>
          </p:cNvPr>
          <p:cNvSpPr/>
          <p:nvPr/>
        </p:nvSpPr>
        <p:spPr>
          <a:xfrm>
            <a:off x="4880992" y="6165304"/>
            <a:ext cx="729290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>
                <a:latin typeface="나눔고딕" panose="020D0604000000000000" pitchFamily="50" charset="-127"/>
                <a:ea typeface="나눔고딕" panose="020D0604000000000000" pitchFamily="50" charset="-127"/>
              </a:rPr>
              <a:t>저장</a:t>
            </a:r>
            <a:endParaRPr lang="ko-KR" altLang="en-US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57BF6695-1046-7D53-D3B4-DE45FC507372}"/>
              </a:ext>
            </a:extLst>
          </p:cNvPr>
          <p:cNvSpPr/>
          <p:nvPr/>
        </p:nvSpPr>
        <p:spPr>
          <a:xfrm>
            <a:off x="6984572" y="6165304"/>
            <a:ext cx="699418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6F2AB1C8-E439-BAAD-CA13-863B64BBB685}"/>
              </a:ext>
            </a:extLst>
          </p:cNvPr>
          <p:cNvSpPr/>
          <p:nvPr/>
        </p:nvSpPr>
        <p:spPr>
          <a:xfrm>
            <a:off x="5687964" y="6165304"/>
            <a:ext cx="1251509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요청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 </a:t>
            </a:r>
            <a:endParaRPr lang="ko-KR" altLang="en-US" sz="9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CD35E52F-3291-344A-5D5C-063CA20CBF38}"/>
              </a:ext>
            </a:extLst>
          </p:cNvPr>
          <p:cNvSpPr/>
          <p:nvPr/>
        </p:nvSpPr>
        <p:spPr>
          <a:xfrm>
            <a:off x="5997116" y="3716917"/>
            <a:ext cx="378042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요청 시 유의사항</a:t>
            </a: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547A66E6-DE01-7428-39AF-3DB5C49D2EA9}"/>
              </a:ext>
            </a:extLst>
          </p:cNvPr>
          <p:cNvSpPr/>
          <p:nvPr/>
        </p:nvSpPr>
        <p:spPr>
          <a:xfrm>
            <a:off x="5997116" y="3989830"/>
            <a:ext cx="3780420" cy="185143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3C54F8E0-9AC9-45A8-9C39-AE1AF06DB9AD}"/>
              </a:ext>
            </a:extLst>
          </p:cNvPr>
          <p:cNvSpPr/>
          <p:nvPr/>
        </p:nvSpPr>
        <p:spPr>
          <a:xfrm>
            <a:off x="9504448" y="3716917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B0AF3FE3-2B25-733F-C23D-BCB3D267643D}"/>
              </a:ext>
            </a:extLst>
          </p:cNvPr>
          <p:cNvSpPr/>
          <p:nvPr/>
        </p:nvSpPr>
        <p:spPr>
          <a:xfrm>
            <a:off x="6104895" y="4403217"/>
            <a:ext cx="3532535" cy="879892"/>
          </a:xfrm>
          <a:prstGeom prst="rect">
            <a:avLst/>
          </a:prstGeom>
          <a:solidFill>
            <a:srgbClr val="FFFF00">
              <a:alpha val="20000"/>
            </a:srgb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56000" tIns="108000" bIns="108000" rtlCol="0" anchor="ctr" anchorCtr="0"/>
          <a:lstStyle/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전자결재 요청을 하면 더 이상 입력하신 예정가격 산출기초조서가 수정되지 않습니다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.</a:t>
            </a:r>
          </a:p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요청하시겠습니까</a:t>
            </a: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?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pic>
        <p:nvPicPr>
          <p:cNvPr id="116" name="Picture 8" descr="Announcement, hailer, loudspeaker, megaphone, speaker icon - Download on Iconfinder">
            <a:extLst>
              <a:ext uri="{FF2B5EF4-FFF2-40B4-BE49-F238E27FC236}">
                <a16:creationId xmlns:a16="http://schemas.microsoft.com/office/drawing/2014/main" id="{59C18DE4-6D7B-DA59-A277-0F6C105745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1017" y="4559838"/>
            <a:ext cx="570440" cy="5704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0AA40A81-309C-B61E-DD30-6D396459A440}"/>
              </a:ext>
            </a:extLst>
          </p:cNvPr>
          <p:cNvSpPr/>
          <p:nvPr/>
        </p:nvSpPr>
        <p:spPr>
          <a:xfrm>
            <a:off x="8948453" y="5391584"/>
            <a:ext cx="699418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103298CA-7BB8-FA7E-A94A-733790A89224}"/>
              </a:ext>
            </a:extLst>
          </p:cNvPr>
          <p:cNvSpPr/>
          <p:nvPr/>
        </p:nvSpPr>
        <p:spPr>
          <a:xfrm>
            <a:off x="6128336" y="4086218"/>
            <a:ext cx="1657505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요청 시 유의사항</a:t>
            </a: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A8A22F37-A0A8-F1C8-8DEE-8E964BB5365B}"/>
              </a:ext>
            </a:extLst>
          </p:cNvPr>
          <p:cNvSpPr/>
          <p:nvPr/>
        </p:nvSpPr>
        <p:spPr>
          <a:xfrm>
            <a:off x="7630173" y="5391584"/>
            <a:ext cx="1251509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요청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 </a:t>
            </a:r>
            <a:endParaRPr lang="ko-KR" altLang="en-US" sz="9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20" name="연결선: 꺾임 119">
            <a:extLst>
              <a:ext uri="{FF2B5EF4-FFF2-40B4-BE49-F238E27FC236}">
                <a16:creationId xmlns:a16="http://schemas.microsoft.com/office/drawing/2014/main" id="{429A1704-3E86-870B-802A-06441C63C249}"/>
              </a:ext>
            </a:extLst>
          </p:cNvPr>
          <p:cNvCxnSpPr>
            <a:cxnSpLocks/>
            <a:stCxn id="111" idx="0"/>
            <a:endCxn id="113" idx="2"/>
          </p:cNvCxnSpPr>
          <p:nvPr/>
        </p:nvCxnSpPr>
        <p:spPr>
          <a:xfrm rot="5400000" flipH="1" flipV="1">
            <a:off x="6938504" y="5216483"/>
            <a:ext cx="324036" cy="1573607"/>
          </a:xfrm>
          <a:prstGeom prst="bentConnector3">
            <a:avLst>
              <a:gd name="adj1" fmla="val 50000"/>
            </a:avLst>
          </a:prstGeom>
          <a:ln>
            <a:solidFill>
              <a:srgbClr val="C00000"/>
            </a:solidFill>
            <a:prstDash val="sysDash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extLst>
              <a:ext uri="{FF2B5EF4-FFF2-40B4-BE49-F238E27FC236}">
                <a16:creationId xmlns:a16="http://schemas.microsoft.com/office/drawing/2014/main" id="{9F361551-AB71-0DF0-9FCF-86A43B8C5BDD}"/>
              </a:ext>
            </a:extLst>
          </p:cNvPr>
          <p:cNvSpPr/>
          <p:nvPr/>
        </p:nvSpPr>
        <p:spPr>
          <a:xfrm>
            <a:off x="7276014" y="2527269"/>
            <a:ext cx="369764" cy="2154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삭제</a:t>
            </a:r>
            <a:endParaRPr lang="ko-KR" altLang="en-US" sz="8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2BE5430-5294-BA3A-787F-50E4922AF037}"/>
              </a:ext>
            </a:extLst>
          </p:cNvPr>
          <p:cNvSpPr/>
          <p:nvPr/>
        </p:nvSpPr>
        <p:spPr>
          <a:xfrm>
            <a:off x="7276014" y="2858965"/>
            <a:ext cx="369764" cy="2154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삭제</a:t>
            </a:r>
            <a:endParaRPr lang="ko-KR" altLang="en-US" sz="8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11407A2-BD5C-50E1-9D99-8E82E8D81500}"/>
              </a:ext>
            </a:extLst>
          </p:cNvPr>
          <p:cNvSpPr/>
          <p:nvPr/>
        </p:nvSpPr>
        <p:spPr>
          <a:xfrm>
            <a:off x="7276014" y="3194335"/>
            <a:ext cx="369764" cy="2154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삭제</a:t>
            </a:r>
            <a:endParaRPr lang="ko-KR" altLang="en-US" sz="8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A1DF9E3F-84C2-AA11-198B-7DFCCD5E9F01}"/>
              </a:ext>
            </a:extLst>
          </p:cNvPr>
          <p:cNvSpPr/>
          <p:nvPr/>
        </p:nvSpPr>
        <p:spPr>
          <a:xfrm>
            <a:off x="7041232" y="1866061"/>
            <a:ext cx="604546" cy="215441"/>
          </a:xfrm>
          <a:prstGeom prst="rect">
            <a:avLst/>
          </a:prstGeom>
          <a:solidFill>
            <a:srgbClr val="00B05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행 추가 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+</a:t>
            </a:r>
            <a:endParaRPr lang="ko-KR" altLang="en-US" sz="8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D0371F07-767B-64D5-4A60-FD5945977358}"/>
              </a:ext>
            </a:extLst>
          </p:cNvPr>
          <p:cNvSpPr/>
          <p:nvPr/>
        </p:nvSpPr>
        <p:spPr>
          <a:xfrm>
            <a:off x="4773305" y="6052335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87C6C262-199A-920D-3CE6-18886F54EC68}"/>
              </a:ext>
            </a:extLst>
          </p:cNvPr>
          <p:cNvSpPr txBox="1"/>
          <p:nvPr/>
        </p:nvSpPr>
        <p:spPr>
          <a:xfrm>
            <a:off x="8049344" y="584684"/>
            <a:ext cx="1856656" cy="28684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항목을 추가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삭제하여 산출기초조서를 작성할 수 있음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위의 항목이 입력되면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아래의 항목이 계산되어 채워져야 함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완료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확인 상태에서 이 화면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팝업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을 호출하는 경우에는 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저장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요청 버튼이 노출되지 않음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또한 위의 입력 컨트롤 대신 작성된 내용으로 보임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**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별도로 설계하지 않겠습니다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**</a:t>
            </a: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전자결재를 위해 그룹웨어에게 관련 정보 전송 필요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참고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[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샘플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]04.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예정가격 산출기초조서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.pdf</a:t>
            </a: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19637865-3E03-DCFD-B360-C2922037088D}"/>
              </a:ext>
            </a:extLst>
          </p:cNvPr>
          <p:cNvSpPr/>
          <p:nvPr/>
        </p:nvSpPr>
        <p:spPr>
          <a:xfrm>
            <a:off x="1791997" y="3423627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0BE39276-621B-B33B-9455-D16222347CDD}"/>
              </a:ext>
            </a:extLst>
          </p:cNvPr>
          <p:cNvSpPr/>
          <p:nvPr/>
        </p:nvSpPr>
        <p:spPr>
          <a:xfrm>
            <a:off x="5651372" y="6052335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AA558F92-59DF-88AB-5AD9-9CE0F8183594}"/>
              </a:ext>
            </a:extLst>
          </p:cNvPr>
          <p:cNvGraphicFramePr>
            <a:graphicFrameLocks noGrp="1"/>
          </p:cNvGraphicFramePr>
          <p:nvPr/>
        </p:nvGraphicFramePr>
        <p:xfrm>
          <a:off x="335823" y="1141996"/>
          <a:ext cx="7294348" cy="675840"/>
        </p:xfrm>
        <a:graphic>
          <a:graphicData uri="http://schemas.openxmlformats.org/drawingml/2006/table">
            <a:tbl>
              <a:tblPr firstRow="1" bandRow="1"/>
              <a:tblGrid>
                <a:gridCol w="77691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707937">
                  <a:extLst>
                    <a:ext uri="{9D8B030D-6E8A-4147-A177-3AD203B41FA5}">
                      <a16:colId xmlns:a16="http://schemas.microsoft.com/office/drawing/2014/main" val="2016786680"/>
                    </a:ext>
                  </a:extLst>
                </a:gridCol>
                <a:gridCol w="486584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279710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641466">
                  <a:extLst>
                    <a:ext uri="{9D8B030D-6E8A-4147-A177-3AD203B41FA5}">
                      <a16:colId xmlns:a16="http://schemas.microsoft.com/office/drawing/2014/main" val="3053194834"/>
                    </a:ext>
                  </a:extLst>
                </a:gridCol>
                <a:gridCol w="294102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929291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1012700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582824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582824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등록일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본공고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작성중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2026.07.22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26" name="타원 25">
            <a:extLst>
              <a:ext uri="{FF2B5EF4-FFF2-40B4-BE49-F238E27FC236}">
                <a16:creationId xmlns:a16="http://schemas.microsoft.com/office/drawing/2014/main" id="{664340A1-7483-92C0-B4AE-852C7CDA68E1}"/>
              </a:ext>
            </a:extLst>
          </p:cNvPr>
          <p:cNvSpPr/>
          <p:nvPr/>
        </p:nvSpPr>
        <p:spPr>
          <a:xfrm>
            <a:off x="6865965" y="1766637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48967655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4ABF03-9A32-2F0C-2F30-0B763E5DB6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2060F8DB-9E7D-41B1-7145-A5C5C754B801}"/>
              </a:ext>
            </a:extLst>
          </p:cNvPr>
          <p:cNvSpPr/>
          <p:nvPr/>
        </p:nvSpPr>
        <p:spPr>
          <a:xfrm>
            <a:off x="164468" y="368660"/>
            <a:ext cx="7765639" cy="626469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5E74CCE-06E4-527E-2B4F-C7123AECE5E5}"/>
              </a:ext>
            </a:extLst>
          </p:cNvPr>
          <p:cNvSpPr/>
          <p:nvPr/>
        </p:nvSpPr>
        <p:spPr>
          <a:xfrm>
            <a:off x="7817540" y="376875"/>
            <a:ext cx="108012" cy="625274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9865B47-B608-2447-6461-9D69E4D3516A}"/>
              </a:ext>
            </a:extLst>
          </p:cNvPr>
          <p:cNvSpPr/>
          <p:nvPr/>
        </p:nvSpPr>
        <p:spPr>
          <a:xfrm>
            <a:off x="7817540" y="1946644"/>
            <a:ext cx="108012" cy="1800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282E6315-65C0-9144-3859-0015C7B8BC35}"/>
              </a:ext>
            </a:extLst>
          </p:cNvPr>
          <p:cNvSpPr/>
          <p:nvPr/>
        </p:nvSpPr>
        <p:spPr>
          <a:xfrm>
            <a:off x="164468" y="368660"/>
            <a:ext cx="7761084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예비가격 등록 요청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D4DAEA45-9A60-7BDD-EAB4-5EA704695E9D}"/>
              </a:ext>
            </a:extLst>
          </p:cNvPr>
          <p:cNvSpPr/>
          <p:nvPr/>
        </p:nvSpPr>
        <p:spPr>
          <a:xfrm>
            <a:off x="7662176" y="368660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57E8A89E-4A6C-2CE1-D33C-E02E78B8F435}"/>
              </a:ext>
            </a:extLst>
          </p:cNvPr>
          <p:cNvSpPr/>
          <p:nvPr/>
        </p:nvSpPr>
        <p:spPr>
          <a:xfrm>
            <a:off x="332879" y="774485"/>
            <a:ext cx="1218282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예비가격 등록 요청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DD529FB3-776C-3530-78DF-5DA3AA3C3CA2}"/>
              </a:ext>
            </a:extLst>
          </p:cNvPr>
          <p:cNvGraphicFramePr>
            <a:graphicFrameLocks noGrp="1"/>
          </p:cNvGraphicFramePr>
          <p:nvPr/>
        </p:nvGraphicFramePr>
        <p:xfrm>
          <a:off x="324654" y="1869143"/>
          <a:ext cx="7337522" cy="135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99003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1133782">
                  <a:extLst>
                    <a:ext uri="{9D8B030D-6E8A-4147-A177-3AD203B41FA5}">
                      <a16:colId xmlns:a16="http://schemas.microsoft.com/office/drawing/2014/main" val="2264476566"/>
                    </a:ext>
                  </a:extLst>
                </a:gridCol>
                <a:gridCol w="1133782">
                  <a:extLst>
                    <a:ext uri="{9D8B030D-6E8A-4147-A177-3AD203B41FA5}">
                      <a16:colId xmlns:a16="http://schemas.microsoft.com/office/drawing/2014/main" val="1900745260"/>
                    </a:ext>
                  </a:extLst>
                </a:gridCol>
                <a:gridCol w="1122521">
                  <a:extLst>
                    <a:ext uri="{9D8B030D-6E8A-4147-A177-3AD203B41FA5}">
                      <a16:colId xmlns:a16="http://schemas.microsoft.com/office/drawing/2014/main" val="1854595363"/>
                    </a:ext>
                  </a:extLst>
                </a:gridCol>
                <a:gridCol w="2448434">
                  <a:extLst>
                    <a:ext uri="{9D8B030D-6E8A-4147-A177-3AD203B41FA5}">
                      <a16:colId xmlns:a16="http://schemas.microsoft.com/office/drawing/2014/main" val="7009178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구분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추정가액 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(A)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사정가액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(B)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증감액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(C=B-A)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비고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합계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공급가액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86,100,000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86,100,000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04864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부가세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8,610,000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8,610,000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02843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총계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94,710,000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94,710,000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특이사항이 없어서 사정가액의 변화가 없습니다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425343"/>
                  </a:ext>
                </a:extLst>
              </a:tr>
            </a:tbl>
          </a:graphicData>
        </a:graphic>
      </p:graphicFrame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A17DB5F8-6AFA-81DE-5A50-0B729547A70A}"/>
              </a:ext>
            </a:extLst>
          </p:cNvPr>
          <p:cNvGraphicFramePr>
            <a:graphicFrameLocks noGrp="1"/>
          </p:cNvGraphicFramePr>
          <p:nvPr/>
        </p:nvGraphicFramePr>
        <p:xfrm>
          <a:off x="332879" y="4644510"/>
          <a:ext cx="7356425" cy="1468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87773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5868652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비고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724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첨부파일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9358335"/>
                  </a:ext>
                </a:extLst>
              </a:tr>
            </a:tbl>
          </a:graphicData>
        </a:graphic>
      </p:graphicFrame>
      <p:pic>
        <p:nvPicPr>
          <p:cNvPr id="40" name="그림 39">
            <a:extLst>
              <a:ext uri="{FF2B5EF4-FFF2-40B4-BE49-F238E27FC236}">
                <a16:creationId xmlns:a16="http://schemas.microsoft.com/office/drawing/2014/main" id="{F7EDFBBE-F0F9-28FF-7DCF-F129DC594BF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92660" y="5440220"/>
            <a:ext cx="5688632" cy="597671"/>
          </a:xfrm>
          <a:prstGeom prst="rect">
            <a:avLst/>
          </a:prstGeom>
        </p:spPr>
      </p:pic>
      <p:sp>
        <p:nvSpPr>
          <p:cNvPr id="41" name="직사각형 40">
            <a:extLst>
              <a:ext uri="{FF2B5EF4-FFF2-40B4-BE49-F238E27FC236}">
                <a16:creationId xmlns:a16="http://schemas.microsoft.com/office/drawing/2014/main" id="{6D493223-1A2B-939D-3B51-B1BA07BA39B6}"/>
              </a:ext>
            </a:extLst>
          </p:cNvPr>
          <p:cNvSpPr/>
          <p:nvPr/>
        </p:nvSpPr>
        <p:spPr>
          <a:xfrm>
            <a:off x="1887873" y="4715736"/>
            <a:ext cx="5774304" cy="60179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en-US" altLang="ko-KR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Text Area</a:t>
            </a:r>
          </a:p>
          <a:p>
            <a:pPr algn="l"/>
            <a:endParaRPr lang="en-US" altLang="ko-KR" sz="8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l"/>
            <a:endParaRPr lang="en-US" altLang="ko-KR" sz="8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l"/>
            <a:endParaRPr lang="ko-KR" altLang="en-US" sz="8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4CD1881A-AF5A-5FA7-BA57-4D19149844AF}"/>
              </a:ext>
            </a:extLst>
          </p:cNvPr>
          <p:cNvSpPr txBox="1"/>
          <p:nvPr/>
        </p:nvSpPr>
        <p:spPr>
          <a:xfrm>
            <a:off x="749224" y="25608"/>
            <a:ext cx="397576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설정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예비가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예비가격 등록 요청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9934B7F3-DE5E-17AF-BD22-7701EB4267C4}"/>
              </a:ext>
            </a:extLst>
          </p:cNvPr>
          <p:cNvSpPr/>
          <p:nvPr/>
        </p:nvSpPr>
        <p:spPr>
          <a:xfrm>
            <a:off x="4880992" y="6196808"/>
            <a:ext cx="729290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>
                <a:latin typeface="나눔고딕" panose="020D0604000000000000" pitchFamily="50" charset="-127"/>
                <a:ea typeface="나눔고딕" panose="020D0604000000000000" pitchFamily="50" charset="-127"/>
              </a:rPr>
              <a:t>저장</a:t>
            </a:r>
            <a:endParaRPr lang="ko-KR" altLang="en-US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9AA0B1D1-CDE7-A6F5-0A97-B3816D6DF15D}"/>
              </a:ext>
            </a:extLst>
          </p:cNvPr>
          <p:cNvSpPr/>
          <p:nvPr/>
        </p:nvSpPr>
        <p:spPr>
          <a:xfrm>
            <a:off x="6984572" y="6196808"/>
            <a:ext cx="699418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64DE4062-D83C-FC17-B5CD-7B939C429EF0}"/>
              </a:ext>
            </a:extLst>
          </p:cNvPr>
          <p:cNvSpPr/>
          <p:nvPr/>
        </p:nvSpPr>
        <p:spPr>
          <a:xfrm>
            <a:off x="5687964" y="6196808"/>
            <a:ext cx="1251509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요청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 </a:t>
            </a:r>
            <a:endParaRPr lang="ko-KR" altLang="en-US" sz="9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54" name="연결선: 꺾임 53">
            <a:extLst>
              <a:ext uri="{FF2B5EF4-FFF2-40B4-BE49-F238E27FC236}">
                <a16:creationId xmlns:a16="http://schemas.microsoft.com/office/drawing/2014/main" id="{6A4C946D-E3A0-67E4-73E7-83F1518AD0FD}"/>
              </a:ext>
            </a:extLst>
          </p:cNvPr>
          <p:cNvCxnSpPr>
            <a:cxnSpLocks/>
            <a:stCxn id="45" idx="0"/>
            <a:endCxn id="17" idx="2"/>
          </p:cNvCxnSpPr>
          <p:nvPr/>
        </p:nvCxnSpPr>
        <p:spPr>
          <a:xfrm rot="5400000" flipH="1" flipV="1">
            <a:off x="6931378" y="5259613"/>
            <a:ext cx="319536" cy="1554855"/>
          </a:xfrm>
          <a:prstGeom prst="bentConnector3">
            <a:avLst>
              <a:gd name="adj1" fmla="val 50000"/>
            </a:avLst>
          </a:prstGeom>
          <a:ln>
            <a:solidFill>
              <a:srgbClr val="C00000"/>
            </a:solidFill>
            <a:prstDash val="sysDash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6" name="표 55">
            <a:extLst>
              <a:ext uri="{FF2B5EF4-FFF2-40B4-BE49-F238E27FC236}">
                <a16:creationId xmlns:a16="http://schemas.microsoft.com/office/drawing/2014/main" id="{8F382D9D-E991-29B8-2D66-3939563328D3}"/>
              </a:ext>
            </a:extLst>
          </p:cNvPr>
          <p:cNvGraphicFramePr>
            <a:graphicFrameLocks noGrp="1"/>
          </p:cNvGraphicFramePr>
          <p:nvPr/>
        </p:nvGraphicFramePr>
        <p:xfrm>
          <a:off x="344489" y="3303736"/>
          <a:ext cx="7308811" cy="135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76163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5832648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사정금액 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-2%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92,815,800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7438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사정금액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-4%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90,921,600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30657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낙찰하한율 기준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84718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예정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예비가격 결정 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사장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본부장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2706610"/>
                  </a:ext>
                </a:extLst>
              </a:tr>
            </a:tbl>
          </a:graphicData>
        </a:graphic>
      </p:graphicFrame>
      <p:sp>
        <p:nvSpPr>
          <p:cNvPr id="58" name="직사각형 57">
            <a:extLst>
              <a:ext uri="{FF2B5EF4-FFF2-40B4-BE49-F238E27FC236}">
                <a16:creationId xmlns:a16="http://schemas.microsoft.com/office/drawing/2014/main" id="{7C7CB716-5FFE-87AF-243A-4FFB3B4235DB}"/>
              </a:ext>
            </a:extLst>
          </p:cNvPr>
          <p:cNvSpPr/>
          <p:nvPr/>
        </p:nvSpPr>
        <p:spPr>
          <a:xfrm>
            <a:off x="1885888" y="4036434"/>
            <a:ext cx="320377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공사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 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억 미만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(87.745%)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E2DA041-133D-F87F-D94A-418AEC2D61D9}"/>
              </a:ext>
            </a:extLst>
          </p:cNvPr>
          <p:cNvSpPr/>
          <p:nvPr/>
        </p:nvSpPr>
        <p:spPr>
          <a:xfrm>
            <a:off x="4874220" y="4036436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5E69F381-A904-21EF-B35A-958BA1C7F082}"/>
              </a:ext>
            </a:extLst>
          </p:cNvPr>
          <p:cNvSpPr/>
          <p:nvPr/>
        </p:nvSpPr>
        <p:spPr>
          <a:xfrm>
            <a:off x="1759869" y="3927840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C46A5453-7A9B-6455-8B97-5E94D77CF325}"/>
              </a:ext>
            </a:extLst>
          </p:cNvPr>
          <p:cNvSpPr/>
          <p:nvPr/>
        </p:nvSpPr>
        <p:spPr>
          <a:xfrm>
            <a:off x="5978364" y="3752921"/>
            <a:ext cx="378042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요청 시 유의사항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4B106DC7-24D2-16F0-C201-863CAF7F00F9}"/>
              </a:ext>
            </a:extLst>
          </p:cNvPr>
          <p:cNvSpPr/>
          <p:nvPr/>
        </p:nvSpPr>
        <p:spPr>
          <a:xfrm>
            <a:off x="5978364" y="4025834"/>
            <a:ext cx="3780420" cy="185143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ECAD8623-FFFC-053D-C531-4DE4C2370D2F}"/>
              </a:ext>
            </a:extLst>
          </p:cNvPr>
          <p:cNvSpPr/>
          <p:nvPr/>
        </p:nvSpPr>
        <p:spPr>
          <a:xfrm>
            <a:off x="9485696" y="3752921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30DA16D-29B5-EC0B-DC00-5D7DD8EFBC38}"/>
              </a:ext>
            </a:extLst>
          </p:cNvPr>
          <p:cNvSpPr/>
          <p:nvPr/>
        </p:nvSpPr>
        <p:spPr>
          <a:xfrm>
            <a:off x="6086143" y="4439221"/>
            <a:ext cx="3532535" cy="879892"/>
          </a:xfrm>
          <a:prstGeom prst="rect">
            <a:avLst/>
          </a:prstGeom>
          <a:solidFill>
            <a:srgbClr val="FFFF00">
              <a:alpha val="20000"/>
            </a:srgb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56000" tIns="108000" bIns="108000" rtlCol="0" anchor="ctr" anchorCtr="0"/>
          <a:lstStyle/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전자결재 요청을 하면 더 이상 입력하신 예비가격 등록 요청 정보가 수정되지 않습니다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.</a:t>
            </a:r>
          </a:p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요청하시겠습니까</a:t>
            </a: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?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pic>
        <p:nvPicPr>
          <p:cNvPr id="23" name="Picture 8" descr="Announcement, hailer, loudspeaker, megaphone, speaker icon - Download on Iconfinder">
            <a:extLst>
              <a:ext uri="{FF2B5EF4-FFF2-40B4-BE49-F238E27FC236}">
                <a16:creationId xmlns:a16="http://schemas.microsoft.com/office/drawing/2014/main" id="{BB3A08BD-504A-2E1D-1B6C-1176A2C71E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02265" y="4595842"/>
            <a:ext cx="570440" cy="5704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" name="직사각형 24">
            <a:extLst>
              <a:ext uri="{FF2B5EF4-FFF2-40B4-BE49-F238E27FC236}">
                <a16:creationId xmlns:a16="http://schemas.microsoft.com/office/drawing/2014/main" id="{A37B371F-A4F4-4ADF-F6DF-84D113499919}"/>
              </a:ext>
            </a:extLst>
          </p:cNvPr>
          <p:cNvSpPr/>
          <p:nvPr/>
        </p:nvSpPr>
        <p:spPr>
          <a:xfrm>
            <a:off x="8929701" y="5427588"/>
            <a:ext cx="699418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552B3EF7-17AD-2B95-93F8-D92D4C9B5929}"/>
              </a:ext>
            </a:extLst>
          </p:cNvPr>
          <p:cNvSpPr/>
          <p:nvPr/>
        </p:nvSpPr>
        <p:spPr>
          <a:xfrm>
            <a:off x="6109584" y="4122222"/>
            <a:ext cx="1657505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요청 시 유의사항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05BA07D9-7EC0-59B8-67E7-E7095EF3B474}"/>
              </a:ext>
            </a:extLst>
          </p:cNvPr>
          <p:cNvSpPr/>
          <p:nvPr/>
        </p:nvSpPr>
        <p:spPr>
          <a:xfrm>
            <a:off x="7611421" y="5427588"/>
            <a:ext cx="1251509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요청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 </a:t>
            </a:r>
            <a:endParaRPr lang="ko-KR" altLang="en-US" sz="9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2249E5B2-E8D2-31CE-FBA2-379D08E3C816}"/>
              </a:ext>
            </a:extLst>
          </p:cNvPr>
          <p:cNvSpPr/>
          <p:nvPr/>
        </p:nvSpPr>
        <p:spPr>
          <a:xfrm>
            <a:off x="4773305" y="6088796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ED531615-25A0-9796-4A74-17D64F45DE50}"/>
              </a:ext>
            </a:extLst>
          </p:cNvPr>
          <p:cNvSpPr txBox="1"/>
          <p:nvPr/>
        </p:nvSpPr>
        <p:spPr>
          <a:xfrm>
            <a:off x="8049344" y="584684"/>
            <a:ext cx="1856656" cy="30285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셀렉트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박스 참고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붉은색 영역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이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셀렉트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박스 내용의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비율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을 시스템이 알고 있어야 함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향후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낙찰하한가를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계산하는 데 활용되어야 함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highlight>
                <a:srgbClr val="FFFF00"/>
              </a:highlight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발주계획에서 설정된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kumimoji="0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</a:t>
            </a:r>
            <a:r>
              <a:rPr kumimoji="0"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kumimoji="0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예비가격 결정자</a:t>
            </a:r>
            <a:r>
              <a:rPr kumimoji="0"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kumimoji="0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표시</a:t>
            </a:r>
            <a:endParaRPr kumimoji="0" lang="en-US" altLang="ko-KR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완료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확인 상태에서 이 화면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팝업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을 호출하는 경우에는 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저장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요청 버튼이 노출되지 않음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또한 위의 입력 컨트롤 대신 작성된 내용으로 보임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**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별도로 설계하지 않겠습니다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**</a:t>
            </a: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요청 시 그룹웨어에게 정보를 전송해야 함</a:t>
            </a:r>
            <a:b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참고 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03. 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예비가격 등록 요청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r>
              <a:rPr lang="en-US" altLang="ko-KR" sz="800" u="sng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png</a:t>
            </a:r>
            <a:endParaRPr lang="en-US" altLang="ko-KR" sz="800" u="sng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11D4789A-C000-8810-9A8B-48AEB28FCB37}"/>
              </a:ext>
            </a:extLst>
          </p:cNvPr>
          <p:cNvSpPr/>
          <p:nvPr/>
        </p:nvSpPr>
        <p:spPr>
          <a:xfrm>
            <a:off x="1759869" y="4220349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BC37E176-FC46-30DB-71A3-34E9D832C748}"/>
              </a:ext>
            </a:extLst>
          </p:cNvPr>
          <p:cNvSpPr/>
          <p:nvPr/>
        </p:nvSpPr>
        <p:spPr>
          <a:xfrm>
            <a:off x="5637965" y="6088796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15506812-84F0-50AB-9C1A-2925C7769478}"/>
              </a:ext>
            </a:extLst>
          </p:cNvPr>
          <p:cNvGraphicFramePr>
            <a:graphicFrameLocks noGrp="1"/>
          </p:cNvGraphicFramePr>
          <p:nvPr/>
        </p:nvGraphicFramePr>
        <p:xfrm>
          <a:off x="335823" y="1141996"/>
          <a:ext cx="7294348" cy="675840"/>
        </p:xfrm>
        <a:graphic>
          <a:graphicData uri="http://schemas.openxmlformats.org/drawingml/2006/table">
            <a:tbl>
              <a:tblPr firstRow="1" bandRow="1"/>
              <a:tblGrid>
                <a:gridCol w="77691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707937">
                  <a:extLst>
                    <a:ext uri="{9D8B030D-6E8A-4147-A177-3AD203B41FA5}">
                      <a16:colId xmlns:a16="http://schemas.microsoft.com/office/drawing/2014/main" val="2016786680"/>
                    </a:ext>
                  </a:extLst>
                </a:gridCol>
                <a:gridCol w="486584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279710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641466">
                  <a:extLst>
                    <a:ext uri="{9D8B030D-6E8A-4147-A177-3AD203B41FA5}">
                      <a16:colId xmlns:a16="http://schemas.microsoft.com/office/drawing/2014/main" val="3053194834"/>
                    </a:ext>
                  </a:extLst>
                </a:gridCol>
                <a:gridCol w="294102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929291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1012700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582824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582824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등록일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본공고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작성중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2026.07.22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2047ADD8-3EF2-486B-D33A-3B8DBBC4FEF0}"/>
              </a:ext>
            </a:extLst>
          </p:cNvPr>
          <p:cNvSpPr txBox="1"/>
          <p:nvPr/>
        </p:nvSpPr>
        <p:spPr>
          <a:xfrm>
            <a:off x="-2949300" y="1219249"/>
            <a:ext cx="2858063" cy="4835592"/>
          </a:xfrm>
          <a:prstGeom prst="rect">
            <a:avLst/>
          </a:prstGeom>
          <a:solidFill>
            <a:srgbClr val="FFFF00">
              <a:alpha val="69804"/>
            </a:srgbClr>
          </a:solidFill>
        </p:spPr>
        <p:txBody>
          <a:bodyPr wrap="square" lIns="108000" tIns="108000" rIns="108000" bIns="108000">
            <a:spAutoFit/>
          </a:bodyPr>
          <a:lstStyle/>
          <a:p>
            <a:pPr marL="72000" lvl="0" indent="-72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ko-KR" altLang="en-US" sz="800" dirty="0">
                <a:solidFill>
                  <a:srgbClr val="C00000"/>
                </a:solidFill>
              </a:rPr>
              <a:t>공사</a:t>
            </a:r>
            <a:br>
              <a:rPr lang="en-US" altLang="ko-KR" sz="800" dirty="0">
                <a:solidFill>
                  <a:srgbClr val="C00000"/>
                </a:solidFill>
              </a:rPr>
            </a:br>
            <a:r>
              <a:rPr lang="en-US" altLang="ko-KR" sz="800" dirty="0">
                <a:solidFill>
                  <a:srgbClr val="C00000"/>
                </a:solidFill>
              </a:rPr>
              <a:t>- </a:t>
            </a:r>
            <a:r>
              <a:rPr lang="ko-KR" altLang="ko-KR" sz="800" dirty="0">
                <a:solidFill>
                  <a:srgbClr val="C00000"/>
                </a:solidFill>
              </a:rPr>
              <a:t>공사/</a:t>
            </a:r>
            <a:r>
              <a:rPr lang="ko-KR" altLang="ko-KR" sz="800" dirty="0" err="1">
                <a:solidFill>
                  <a:srgbClr val="C00000"/>
                </a:solidFill>
              </a:rPr>
              <a:t>최저가입찰_낙찰하한율</a:t>
            </a:r>
            <a:r>
              <a:rPr lang="ko-KR" altLang="ko-KR" sz="800" dirty="0">
                <a:solidFill>
                  <a:srgbClr val="C00000"/>
                </a:solidFill>
              </a:rPr>
              <a:t>(0%)</a:t>
            </a:r>
            <a:br>
              <a:rPr lang="en-US" altLang="ko-KR" sz="800" dirty="0">
                <a:solidFill>
                  <a:srgbClr val="C00000"/>
                </a:solidFill>
              </a:rPr>
            </a:br>
            <a:r>
              <a:rPr lang="en-US" altLang="ko-KR" sz="800" dirty="0">
                <a:solidFill>
                  <a:srgbClr val="C00000"/>
                </a:solidFill>
              </a:rPr>
              <a:t>- </a:t>
            </a:r>
            <a:r>
              <a:rPr lang="ko-KR" altLang="ko-KR" sz="800" dirty="0">
                <a:solidFill>
                  <a:srgbClr val="C00000"/>
                </a:solidFill>
              </a:rPr>
              <a:t>공사 / 100억 이상 300억 이하 (79.995%)</a:t>
            </a:r>
            <a:br>
              <a:rPr lang="en-US" altLang="ko-KR" sz="800" dirty="0">
                <a:solidFill>
                  <a:srgbClr val="C00000"/>
                </a:solidFill>
              </a:rPr>
            </a:br>
            <a:r>
              <a:rPr lang="en-US" altLang="ko-KR" sz="800" dirty="0">
                <a:solidFill>
                  <a:srgbClr val="C00000"/>
                </a:solidFill>
              </a:rPr>
              <a:t>- </a:t>
            </a:r>
            <a:r>
              <a:rPr lang="ko-KR" altLang="ko-KR" sz="800" dirty="0">
                <a:solidFill>
                  <a:srgbClr val="C00000"/>
                </a:solidFill>
              </a:rPr>
              <a:t>공사 / 50억 이상 100억 미만 (85.495%)</a:t>
            </a:r>
            <a:br>
              <a:rPr lang="en-US" altLang="ko-KR" sz="800" dirty="0">
                <a:solidFill>
                  <a:srgbClr val="C00000"/>
                </a:solidFill>
              </a:rPr>
            </a:br>
            <a:r>
              <a:rPr lang="en-US" altLang="ko-KR" sz="800" dirty="0">
                <a:solidFill>
                  <a:srgbClr val="C00000"/>
                </a:solidFill>
              </a:rPr>
              <a:t>- </a:t>
            </a:r>
            <a:r>
              <a:rPr lang="ko-KR" altLang="ko-KR" sz="800" dirty="0">
                <a:solidFill>
                  <a:srgbClr val="C00000"/>
                </a:solidFill>
              </a:rPr>
              <a:t>공사 / 30억 이상 50억 미만 (86.745%)</a:t>
            </a:r>
            <a:br>
              <a:rPr lang="en-US" altLang="ko-KR" sz="800" dirty="0">
                <a:solidFill>
                  <a:srgbClr val="C00000"/>
                </a:solidFill>
              </a:rPr>
            </a:br>
            <a:r>
              <a:rPr lang="en-US" altLang="ko-KR" sz="800" dirty="0">
                <a:solidFill>
                  <a:srgbClr val="C00000"/>
                </a:solidFill>
              </a:rPr>
              <a:t>- </a:t>
            </a:r>
            <a:r>
              <a:rPr lang="ko-KR" altLang="ko-KR" sz="800" dirty="0">
                <a:solidFill>
                  <a:srgbClr val="C00000"/>
                </a:solidFill>
              </a:rPr>
              <a:t>공사 / 10억 이상 30억 미만 (86.745%)</a:t>
            </a:r>
            <a:br>
              <a:rPr lang="en-US" altLang="ko-KR" sz="800" dirty="0">
                <a:solidFill>
                  <a:srgbClr val="C00000"/>
                </a:solidFill>
              </a:rPr>
            </a:br>
            <a:r>
              <a:rPr lang="en-US" altLang="ko-KR" sz="800" dirty="0">
                <a:solidFill>
                  <a:srgbClr val="C00000"/>
                </a:solidFill>
              </a:rPr>
              <a:t>- </a:t>
            </a:r>
            <a:r>
              <a:rPr lang="ko-KR" altLang="ko-KR" sz="800" dirty="0">
                <a:solidFill>
                  <a:srgbClr val="C00000"/>
                </a:solidFill>
              </a:rPr>
              <a:t>공사 / 3억 이상 10억 미만 (87.745%)</a:t>
            </a:r>
            <a:br>
              <a:rPr lang="en-US" altLang="ko-KR" sz="800" dirty="0">
                <a:solidFill>
                  <a:srgbClr val="C00000"/>
                </a:solidFill>
              </a:rPr>
            </a:br>
            <a:r>
              <a:rPr lang="en-US" altLang="ko-KR" sz="800" dirty="0">
                <a:solidFill>
                  <a:srgbClr val="C00000"/>
                </a:solidFill>
              </a:rPr>
              <a:t>- </a:t>
            </a:r>
            <a:r>
              <a:rPr lang="ko-KR" altLang="ko-KR" sz="800" dirty="0">
                <a:solidFill>
                  <a:srgbClr val="C00000"/>
                </a:solidFill>
              </a:rPr>
              <a:t>공사 / 2억 이상 3억 미만 (87.745%)</a:t>
            </a:r>
            <a:br>
              <a:rPr lang="en-US" altLang="ko-KR" sz="800" dirty="0">
                <a:solidFill>
                  <a:srgbClr val="C00000"/>
                </a:solidFill>
              </a:rPr>
            </a:br>
            <a:r>
              <a:rPr lang="en-US" altLang="ko-KR" sz="800" dirty="0">
                <a:solidFill>
                  <a:srgbClr val="C00000"/>
                </a:solidFill>
              </a:rPr>
              <a:t>- </a:t>
            </a:r>
            <a:r>
              <a:rPr lang="ko-KR" altLang="ko-KR" sz="800" dirty="0">
                <a:solidFill>
                  <a:srgbClr val="C00000"/>
                </a:solidFill>
              </a:rPr>
              <a:t>공사 / 2억 미만 (87.745%)</a:t>
            </a:r>
            <a:br>
              <a:rPr lang="en-US" altLang="ko-KR" sz="800" dirty="0">
                <a:solidFill>
                  <a:srgbClr val="C00000"/>
                </a:solidFill>
              </a:rPr>
            </a:br>
            <a:r>
              <a:rPr lang="en-US" altLang="ko-KR" sz="800" dirty="0">
                <a:solidFill>
                  <a:srgbClr val="C00000"/>
                </a:solidFill>
              </a:rPr>
              <a:t>- </a:t>
            </a:r>
            <a:r>
              <a:rPr lang="ko-KR" altLang="ko-KR" sz="800" dirty="0" err="1">
                <a:solidFill>
                  <a:srgbClr val="C00000"/>
                </a:solidFill>
              </a:rPr>
              <a:t>전기_정보통신공사</a:t>
            </a:r>
            <a:r>
              <a:rPr lang="ko-KR" altLang="ko-KR" sz="800" dirty="0">
                <a:solidFill>
                  <a:srgbClr val="C00000"/>
                </a:solidFill>
              </a:rPr>
              <a:t> / 30억 이상 (86.745%)</a:t>
            </a:r>
            <a:br>
              <a:rPr lang="en-US" altLang="ko-KR" sz="800" dirty="0">
                <a:solidFill>
                  <a:srgbClr val="C00000"/>
                </a:solidFill>
              </a:rPr>
            </a:br>
            <a:r>
              <a:rPr lang="en-US" altLang="ko-KR" sz="800" dirty="0">
                <a:solidFill>
                  <a:srgbClr val="C00000"/>
                </a:solidFill>
              </a:rPr>
              <a:t>- </a:t>
            </a:r>
            <a:r>
              <a:rPr lang="ko-KR" altLang="ko-KR" sz="800" dirty="0" err="1">
                <a:solidFill>
                  <a:srgbClr val="C00000"/>
                </a:solidFill>
              </a:rPr>
              <a:t>전기_정보통신공사</a:t>
            </a:r>
            <a:r>
              <a:rPr lang="ko-KR" altLang="ko-KR" sz="800" dirty="0">
                <a:solidFill>
                  <a:srgbClr val="C00000"/>
                </a:solidFill>
              </a:rPr>
              <a:t> / 3억 이상 30억 미만 (86.745%)</a:t>
            </a:r>
            <a:br>
              <a:rPr lang="en-US" altLang="ko-KR" sz="800" dirty="0">
                <a:solidFill>
                  <a:srgbClr val="C00000"/>
                </a:solidFill>
              </a:rPr>
            </a:br>
            <a:r>
              <a:rPr lang="en-US" altLang="ko-KR" sz="800" dirty="0">
                <a:solidFill>
                  <a:srgbClr val="C00000"/>
                </a:solidFill>
              </a:rPr>
              <a:t>- </a:t>
            </a:r>
            <a:r>
              <a:rPr lang="ko-KR" altLang="ko-KR" sz="800" dirty="0" err="1">
                <a:solidFill>
                  <a:srgbClr val="C00000"/>
                </a:solidFill>
              </a:rPr>
              <a:t>전기_정보통신공사</a:t>
            </a:r>
            <a:r>
              <a:rPr lang="ko-KR" altLang="ko-KR" sz="800" dirty="0">
                <a:solidFill>
                  <a:srgbClr val="C00000"/>
                </a:solidFill>
              </a:rPr>
              <a:t> / 1.5억 이상 3억 미만 (87.745%)</a:t>
            </a:r>
            <a:br>
              <a:rPr lang="en-US" altLang="ko-KR" sz="800" dirty="0">
                <a:solidFill>
                  <a:srgbClr val="C00000"/>
                </a:solidFill>
              </a:rPr>
            </a:br>
            <a:r>
              <a:rPr lang="en-US" altLang="ko-KR" sz="800" dirty="0">
                <a:solidFill>
                  <a:srgbClr val="C00000"/>
                </a:solidFill>
              </a:rPr>
              <a:t>- </a:t>
            </a:r>
            <a:r>
              <a:rPr lang="ko-KR" altLang="ko-KR" sz="800" dirty="0" err="1">
                <a:solidFill>
                  <a:srgbClr val="C00000"/>
                </a:solidFill>
              </a:rPr>
              <a:t>전기_정보통신공사</a:t>
            </a:r>
            <a:r>
              <a:rPr lang="ko-KR" altLang="ko-KR" sz="800" dirty="0">
                <a:solidFill>
                  <a:srgbClr val="C00000"/>
                </a:solidFill>
              </a:rPr>
              <a:t> / 1.5억 미만 (87.745%)</a:t>
            </a:r>
            <a:endParaRPr lang="en-US" altLang="ko-KR" sz="800" dirty="0">
              <a:solidFill>
                <a:srgbClr val="C00000"/>
              </a:solidFill>
            </a:endParaRPr>
          </a:p>
          <a:p>
            <a:pPr marL="72000" lvl="0" indent="-72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ko-KR" altLang="en-US" sz="800" dirty="0">
                <a:solidFill>
                  <a:srgbClr val="C00000"/>
                </a:solidFill>
              </a:rPr>
              <a:t>용역</a:t>
            </a:r>
            <a:br>
              <a:rPr lang="en-US" altLang="ko-KR" sz="800" dirty="0">
                <a:solidFill>
                  <a:srgbClr val="C00000"/>
                </a:solidFill>
              </a:rPr>
            </a:br>
            <a:r>
              <a:rPr lang="en-US" altLang="ko-KR" sz="800" dirty="0">
                <a:solidFill>
                  <a:srgbClr val="C00000"/>
                </a:solidFill>
              </a:rPr>
              <a:t>- </a:t>
            </a:r>
            <a:r>
              <a:rPr lang="ko-KR" altLang="en-US" sz="800" dirty="0">
                <a:solidFill>
                  <a:srgbClr val="C00000"/>
                </a:solidFill>
              </a:rPr>
              <a:t>기술용역 </a:t>
            </a:r>
            <a:r>
              <a:rPr lang="en-US" altLang="ko-KR" sz="800" dirty="0">
                <a:solidFill>
                  <a:srgbClr val="C00000"/>
                </a:solidFill>
              </a:rPr>
              <a:t>/ 30</a:t>
            </a:r>
            <a:r>
              <a:rPr lang="ko-KR" altLang="en-US" sz="800" dirty="0">
                <a:solidFill>
                  <a:srgbClr val="C00000"/>
                </a:solidFill>
              </a:rPr>
              <a:t>억 이상 </a:t>
            </a:r>
            <a:r>
              <a:rPr lang="en-US" altLang="ko-KR" sz="800" dirty="0">
                <a:solidFill>
                  <a:srgbClr val="C00000"/>
                </a:solidFill>
              </a:rPr>
              <a:t>(72.995%)</a:t>
            </a:r>
            <a:br>
              <a:rPr lang="en-US" altLang="ko-KR" sz="800" dirty="0">
                <a:solidFill>
                  <a:srgbClr val="C00000"/>
                </a:solidFill>
              </a:rPr>
            </a:br>
            <a:r>
              <a:rPr lang="en-US" altLang="ko-KR" sz="800" dirty="0">
                <a:solidFill>
                  <a:srgbClr val="C00000"/>
                </a:solidFill>
              </a:rPr>
              <a:t>- </a:t>
            </a:r>
            <a:r>
              <a:rPr lang="ko-KR" altLang="en-US" sz="800" dirty="0">
                <a:solidFill>
                  <a:srgbClr val="C00000"/>
                </a:solidFill>
              </a:rPr>
              <a:t>기술용역 </a:t>
            </a:r>
            <a:r>
              <a:rPr lang="en-US" altLang="ko-KR" sz="800" dirty="0">
                <a:solidFill>
                  <a:srgbClr val="C00000"/>
                </a:solidFill>
              </a:rPr>
              <a:t>/ 10</a:t>
            </a:r>
            <a:r>
              <a:rPr lang="ko-KR" altLang="en-US" sz="800" dirty="0">
                <a:solidFill>
                  <a:srgbClr val="C00000"/>
                </a:solidFill>
              </a:rPr>
              <a:t>억 이상 </a:t>
            </a:r>
            <a:r>
              <a:rPr lang="en-US" altLang="ko-KR" sz="800" dirty="0">
                <a:solidFill>
                  <a:srgbClr val="C00000"/>
                </a:solidFill>
              </a:rPr>
              <a:t>~ 30</a:t>
            </a:r>
            <a:r>
              <a:rPr lang="ko-KR" altLang="en-US" sz="800" dirty="0">
                <a:solidFill>
                  <a:srgbClr val="C00000"/>
                </a:solidFill>
              </a:rPr>
              <a:t>억 미만 </a:t>
            </a:r>
            <a:r>
              <a:rPr lang="en-US" altLang="ko-KR" sz="800" dirty="0">
                <a:solidFill>
                  <a:srgbClr val="C00000"/>
                </a:solidFill>
              </a:rPr>
              <a:t>(77.995%)</a:t>
            </a:r>
            <a:br>
              <a:rPr lang="en-US" altLang="ko-KR" sz="800" dirty="0">
                <a:solidFill>
                  <a:srgbClr val="C00000"/>
                </a:solidFill>
              </a:rPr>
            </a:br>
            <a:r>
              <a:rPr lang="en-US" altLang="ko-KR" sz="800" dirty="0">
                <a:solidFill>
                  <a:srgbClr val="C00000"/>
                </a:solidFill>
              </a:rPr>
              <a:t>- </a:t>
            </a:r>
            <a:r>
              <a:rPr lang="ko-KR" altLang="en-US" sz="800" dirty="0">
                <a:solidFill>
                  <a:srgbClr val="C00000"/>
                </a:solidFill>
              </a:rPr>
              <a:t>기술용역 </a:t>
            </a:r>
            <a:r>
              <a:rPr lang="en-US" altLang="ko-KR" sz="800" dirty="0">
                <a:solidFill>
                  <a:srgbClr val="C00000"/>
                </a:solidFill>
              </a:rPr>
              <a:t>/ 5</a:t>
            </a:r>
            <a:r>
              <a:rPr lang="ko-KR" altLang="en-US" sz="800" dirty="0">
                <a:solidFill>
                  <a:srgbClr val="C00000"/>
                </a:solidFill>
              </a:rPr>
              <a:t>억 이상 </a:t>
            </a:r>
            <a:r>
              <a:rPr lang="en-US" altLang="ko-KR" sz="800" dirty="0">
                <a:solidFill>
                  <a:srgbClr val="C00000"/>
                </a:solidFill>
              </a:rPr>
              <a:t>~ 10</a:t>
            </a:r>
            <a:r>
              <a:rPr lang="ko-KR" altLang="en-US" sz="800" dirty="0">
                <a:solidFill>
                  <a:srgbClr val="C00000"/>
                </a:solidFill>
              </a:rPr>
              <a:t>억 미만 </a:t>
            </a:r>
            <a:r>
              <a:rPr lang="en-US" altLang="ko-KR" sz="800" dirty="0">
                <a:solidFill>
                  <a:srgbClr val="C00000"/>
                </a:solidFill>
              </a:rPr>
              <a:t>(85.495%)</a:t>
            </a:r>
            <a:br>
              <a:rPr lang="en-US" altLang="ko-KR" sz="800" dirty="0">
                <a:solidFill>
                  <a:srgbClr val="C00000"/>
                </a:solidFill>
              </a:rPr>
            </a:br>
            <a:r>
              <a:rPr lang="en-US" altLang="ko-KR" sz="800" dirty="0">
                <a:solidFill>
                  <a:srgbClr val="C00000"/>
                </a:solidFill>
              </a:rPr>
              <a:t>- </a:t>
            </a:r>
            <a:r>
              <a:rPr lang="ko-KR" altLang="en-US" sz="800" dirty="0">
                <a:solidFill>
                  <a:srgbClr val="C00000"/>
                </a:solidFill>
              </a:rPr>
              <a:t>기술용역 </a:t>
            </a:r>
            <a:r>
              <a:rPr lang="en-US" altLang="ko-KR" sz="800" dirty="0">
                <a:solidFill>
                  <a:srgbClr val="C00000"/>
                </a:solidFill>
              </a:rPr>
              <a:t>/ 5</a:t>
            </a:r>
            <a:r>
              <a:rPr lang="ko-KR" altLang="en-US" sz="800" dirty="0">
                <a:solidFill>
                  <a:srgbClr val="C00000"/>
                </a:solidFill>
              </a:rPr>
              <a:t>억 미만 </a:t>
            </a:r>
            <a:r>
              <a:rPr lang="en-US" altLang="ko-KR" sz="800" dirty="0">
                <a:solidFill>
                  <a:srgbClr val="C00000"/>
                </a:solidFill>
              </a:rPr>
              <a:t>~ 2</a:t>
            </a:r>
            <a:r>
              <a:rPr lang="ko-KR" altLang="en-US" sz="800" dirty="0">
                <a:solidFill>
                  <a:srgbClr val="C00000"/>
                </a:solidFill>
              </a:rPr>
              <a:t>억 이상 </a:t>
            </a:r>
            <a:r>
              <a:rPr lang="en-US" altLang="ko-KR" sz="800" dirty="0">
                <a:solidFill>
                  <a:srgbClr val="C00000"/>
                </a:solidFill>
              </a:rPr>
              <a:t>(86.745%)</a:t>
            </a:r>
            <a:br>
              <a:rPr lang="en-US" altLang="ko-KR" sz="800" dirty="0">
                <a:solidFill>
                  <a:srgbClr val="C00000"/>
                </a:solidFill>
              </a:rPr>
            </a:br>
            <a:r>
              <a:rPr lang="en-US" altLang="ko-KR" sz="800" dirty="0">
                <a:solidFill>
                  <a:srgbClr val="C00000"/>
                </a:solidFill>
              </a:rPr>
              <a:t>- </a:t>
            </a:r>
            <a:r>
              <a:rPr lang="ko-KR" altLang="en-US" sz="800" dirty="0">
                <a:solidFill>
                  <a:srgbClr val="C00000"/>
                </a:solidFill>
              </a:rPr>
              <a:t>기술용역 </a:t>
            </a:r>
            <a:r>
              <a:rPr lang="en-US" altLang="ko-KR" sz="800" dirty="0">
                <a:solidFill>
                  <a:srgbClr val="C00000"/>
                </a:solidFill>
              </a:rPr>
              <a:t>/ 1</a:t>
            </a:r>
            <a:r>
              <a:rPr lang="ko-KR" altLang="en-US" sz="800" dirty="0">
                <a:solidFill>
                  <a:srgbClr val="C00000"/>
                </a:solidFill>
              </a:rPr>
              <a:t>억 이상 </a:t>
            </a:r>
            <a:r>
              <a:rPr lang="en-US" altLang="ko-KR" sz="800" dirty="0">
                <a:solidFill>
                  <a:srgbClr val="C00000"/>
                </a:solidFill>
              </a:rPr>
              <a:t>~ 2</a:t>
            </a:r>
            <a:r>
              <a:rPr lang="ko-KR" altLang="en-US" sz="800" dirty="0">
                <a:solidFill>
                  <a:srgbClr val="C00000"/>
                </a:solidFill>
              </a:rPr>
              <a:t>억 미만 </a:t>
            </a:r>
            <a:r>
              <a:rPr lang="en-US" altLang="ko-KR" sz="800" dirty="0">
                <a:solidFill>
                  <a:srgbClr val="C00000"/>
                </a:solidFill>
              </a:rPr>
              <a:t>(87.745%)</a:t>
            </a:r>
            <a:br>
              <a:rPr lang="en-US" altLang="ko-KR" sz="800" dirty="0">
                <a:solidFill>
                  <a:srgbClr val="C00000"/>
                </a:solidFill>
              </a:rPr>
            </a:br>
            <a:r>
              <a:rPr lang="en-US" altLang="ko-KR" sz="800" dirty="0">
                <a:solidFill>
                  <a:srgbClr val="C00000"/>
                </a:solidFill>
              </a:rPr>
              <a:t>- </a:t>
            </a:r>
            <a:r>
              <a:rPr lang="ko-KR" altLang="en-US" sz="800" dirty="0">
                <a:solidFill>
                  <a:srgbClr val="C00000"/>
                </a:solidFill>
              </a:rPr>
              <a:t>기술용역 </a:t>
            </a:r>
            <a:r>
              <a:rPr lang="en-US" altLang="ko-KR" sz="800" dirty="0">
                <a:solidFill>
                  <a:srgbClr val="C00000"/>
                </a:solidFill>
              </a:rPr>
              <a:t>/ 1</a:t>
            </a:r>
            <a:r>
              <a:rPr lang="ko-KR" altLang="en-US" sz="800" dirty="0">
                <a:solidFill>
                  <a:srgbClr val="C00000"/>
                </a:solidFill>
              </a:rPr>
              <a:t>억 미만 </a:t>
            </a:r>
            <a:r>
              <a:rPr lang="en-US" altLang="ko-KR" sz="800" dirty="0">
                <a:solidFill>
                  <a:srgbClr val="C00000"/>
                </a:solidFill>
              </a:rPr>
              <a:t>(87.745%)</a:t>
            </a:r>
            <a:br>
              <a:rPr lang="en-US" altLang="ko-KR" sz="800" dirty="0">
                <a:solidFill>
                  <a:srgbClr val="C00000"/>
                </a:solidFill>
              </a:rPr>
            </a:br>
            <a:r>
              <a:rPr lang="en-US" altLang="ko-KR" sz="800" dirty="0">
                <a:solidFill>
                  <a:srgbClr val="C00000"/>
                </a:solidFill>
              </a:rPr>
              <a:t>- </a:t>
            </a:r>
            <a:r>
              <a:rPr lang="ko-KR" altLang="en-US" sz="800" dirty="0">
                <a:solidFill>
                  <a:srgbClr val="C00000"/>
                </a:solidFill>
              </a:rPr>
              <a:t>학술용역 </a:t>
            </a:r>
            <a:r>
              <a:rPr lang="en-US" altLang="ko-KR" sz="800" dirty="0">
                <a:solidFill>
                  <a:srgbClr val="C00000"/>
                </a:solidFill>
              </a:rPr>
              <a:t>/ 2</a:t>
            </a:r>
            <a:r>
              <a:rPr lang="ko-KR" altLang="en-US" sz="800" dirty="0">
                <a:solidFill>
                  <a:srgbClr val="C00000"/>
                </a:solidFill>
              </a:rPr>
              <a:t>억 이상 </a:t>
            </a:r>
            <a:r>
              <a:rPr lang="en-US" altLang="ko-KR" sz="800" dirty="0">
                <a:solidFill>
                  <a:srgbClr val="C00000"/>
                </a:solidFill>
              </a:rPr>
              <a:t>(80.495%)</a:t>
            </a:r>
            <a:br>
              <a:rPr lang="en-US" altLang="ko-KR" sz="800" dirty="0">
                <a:solidFill>
                  <a:srgbClr val="C00000"/>
                </a:solidFill>
              </a:rPr>
            </a:br>
            <a:r>
              <a:rPr lang="en-US" altLang="ko-KR" sz="800" dirty="0">
                <a:solidFill>
                  <a:srgbClr val="C00000"/>
                </a:solidFill>
              </a:rPr>
              <a:t>- </a:t>
            </a:r>
            <a:r>
              <a:rPr lang="ko-KR" altLang="en-US" sz="800" dirty="0">
                <a:solidFill>
                  <a:srgbClr val="C00000"/>
                </a:solidFill>
              </a:rPr>
              <a:t>학술용역 </a:t>
            </a:r>
            <a:r>
              <a:rPr lang="en-US" altLang="ko-KR" sz="800" dirty="0">
                <a:solidFill>
                  <a:srgbClr val="C00000"/>
                </a:solidFill>
              </a:rPr>
              <a:t>/ 1</a:t>
            </a:r>
            <a:r>
              <a:rPr lang="ko-KR" altLang="en-US" sz="800" dirty="0">
                <a:solidFill>
                  <a:srgbClr val="C00000"/>
                </a:solidFill>
              </a:rPr>
              <a:t>억 이상 </a:t>
            </a:r>
            <a:r>
              <a:rPr lang="en-US" altLang="ko-KR" sz="800" dirty="0">
                <a:solidFill>
                  <a:srgbClr val="C00000"/>
                </a:solidFill>
              </a:rPr>
              <a:t>~ 2</a:t>
            </a:r>
            <a:r>
              <a:rPr lang="ko-KR" altLang="en-US" sz="800" dirty="0">
                <a:solidFill>
                  <a:srgbClr val="C00000"/>
                </a:solidFill>
              </a:rPr>
              <a:t>억 미만 </a:t>
            </a:r>
            <a:r>
              <a:rPr lang="en-US" altLang="ko-KR" sz="800" dirty="0">
                <a:solidFill>
                  <a:srgbClr val="C00000"/>
                </a:solidFill>
              </a:rPr>
              <a:t>(80.495%)</a:t>
            </a:r>
            <a:br>
              <a:rPr lang="en-US" altLang="ko-KR" sz="800" dirty="0">
                <a:solidFill>
                  <a:srgbClr val="C00000"/>
                </a:solidFill>
              </a:rPr>
            </a:br>
            <a:r>
              <a:rPr lang="en-US" altLang="ko-KR" sz="800" dirty="0">
                <a:solidFill>
                  <a:srgbClr val="C00000"/>
                </a:solidFill>
              </a:rPr>
              <a:t>- </a:t>
            </a:r>
            <a:r>
              <a:rPr lang="ko-KR" altLang="en-US" sz="800" dirty="0">
                <a:solidFill>
                  <a:srgbClr val="C00000"/>
                </a:solidFill>
              </a:rPr>
              <a:t>학술용역 </a:t>
            </a:r>
            <a:r>
              <a:rPr lang="en-US" altLang="ko-KR" sz="800" dirty="0">
                <a:solidFill>
                  <a:srgbClr val="C00000"/>
                </a:solidFill>
              </a:rPr>
              <a:t>/ 1</a:t>
            </a:r>
            <a:r>
              <a:rPr lang="ko-KR" altLang="en-US" sz="800" dirty="0">
                <a:solidFill>
                  <a:srgbClr val="C00000"/>
                </a:solidFill>
              </a:rPr>
              <a:t>억 미만 </a:t>
            </a:r>
            <a:r>
              <a:rPr lang="en-US" altLang="ko-KR" sz="800" dirty="0">
                <a:solidFill>
                  <a:srgbClr val="C00000"/>
                </a:solidFill>
              </a:rPr>
              <a:t>(80.495%)</a:t>
            </a:r>
          </a:p>
          <a:p>
            <a:pPr marL="72000" lvl="0" indent="-72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ko-KR" altLang="en-US" sz="800" dirty="0">
                <a:solidFill>
                  <a:srgbClr val="C00000"/>
                </a:solidFill>
              </a:rPr>
              <a:t>물품</a:t>
            </a:r>
            <a:br>
              <a:rPr lang="en-US" altLang="ko-KR" sz="800" dirty="0">
                <a:solidFill>
                  <a:srgbClr val="C00000"/>
                </a:solidFill>
              </a:rPr>
            </a:br>
            <a:r>
              <a:rPr lang="en-US" altLang="ko-KR" sz="800" dirty="0">
                <a:solidFill>
                  <a:srgbClr val="C00000"/>
                </a:solidFill>
              </a:rPr>
              <a:t>- </a:t>
            </a:r>
            <a:r>
              <a:rPr lang="ko-KR" altLang="en-US" sz="800" dirty="0">
                <a:solidFill>
                  <a:srgbClr val="C00000"/>
                </a:solidFill>
              </a:rPr>
              <a:t>물품</a:t>
            </a:r>
            <a:r>
              <a:rPr lang="en-US" altLang="ko-KR" sz="800" dirty="0">
                <a:solidFill>
                  <a:srgbClr val="C00000"/>
                </a:solidFill>
              </a:rPr>
              <a:t>/</a:t>
            </a:r>
            <a:r>
              <a:rPr lang="ko-KR" altLang="en-US" sz="800" dirty="0">
                <a:solidFill>
                  <a:srgbClr val="C00000"/>
                </a:solidFill>
              </a:rPr>
              <a:t>최저가입찰</a:t>
            </a:r>
            <a:r>
              <a:rPr lang="en-US" altLang="ko-KR" sz="800" dirty="0">
                <a:solidFill>
                  <a:srgbClr val="C00000"/>
                </a:solidFill>
              </a:rPr>
              <a:t>_</a:t>
            </a:r>
            <a:r>
              <a:rPr lang="ko-KR" altLang="en-US" sz="800" dirty="0">
                <a:solidFill>
                  <a:srgbClr val="C00000"/>
                </a:solidFill>
              </a:rPr>
              <a:t>낙찰하한율</a:t>
            </a:r>
            <a:r>
              <a:rPr lang="en-US" altLang="ko-KR" sz="800" dirty="0">
                <a:solidFill>
                  <a:srgbClr val="C00000"/>
                </a:solidFill>
              </a:rPr>
              <a:t>(0%)</a:t>
            </a:r>
            <a:br>
              <a:rPr lang="en-US" altLang="ko-KR" sz="800" dirty="0">
                <a:solidFill>
                  <a:srgbClr val="C00000"/>
                </a:solidFill>
              </a:rPr>
            </a:br>
            <a:r>
              <a:rPr lang="en-US" altLang="ko-KR" sz="800" dirty="0">
                <a:solidFill>
                  <a:srgbClr val="C00000"/>
                </a:solidFill>
              </a:rPr>
              <a:t>- </a:t>
            </a:r>
            <a:r>
              <a:rPr lang="ko-KR" altLang="en-US" sz="800" dirty="0">
                <a:solidFill>
                  <a:srgbClr val="C00000"/>
                </a:solidFill>
              </a:rPr>
              <a:t>물품구매 </a:t>
            </a:r>
            <a:r>
              <a:rPr lang="en-US" altLang="ko-KR" sz="800" dirty="0">
                <a:solidFill>
                  <a:srgbClr val="C00000"/>
                </a:solidFill>
              </a:rPr>
              <a:t>/ 10</a:t>
            </a:r>
            <a:r>
              <a:rPr lang="ko-KR" altLang="en-US" sz="800" dirty="0">
                <a:solidFill>
                  <a:srgbClr val="C00000"/>
                </a:solidFill>
              </a:rPr>
              <a:t>억 이상 </a:t>
            </a:r>
            <a:r>
              <a:rPr lang="en-US" altLang="ko-KR" sz="800" dirty="0">
                <a:solidFill>
                  <a:srgbClr val="C00000"/>
                </a:solidFill>
              </a:rPr>
              <a:t>(80.495%)</a:t>
            </a:r>
            <a:br>
              <a:rPr lang="en-US" altLang="ko-KR" sz="800" dirty="0">
                <a:solidFill>
                  <a:srgbClr val="C00000"/>
                </a:solidFill>
              </a:rPr>
            </a:br>
            <a:r>
              <a:rPr lang="en-US" altLang="ko-KR" sz="800" dirty="0">
                <a:solidFill>
                  <a:srgbClr val="C00000"/>
                </a:solidFill>
              </a:rPr>
              <a:t>- </a:t>
            </a:r>
            <a:r>
              <a:rPr lang="ko-KR" altLang="en-US" sz="800" dirty="0">
                <a:solidFill>
                  <a:srgbClr val="C00000"/>
                </a:solidFill>
              </a:rPr>
              <a:t>물품구매 </a:t>
            </a:r>
            <a:r>
              <a:rPr lang="en-US" altLang="ko-KR" sz="800" dirty="0">
                <a:solidFill>
                  <a:srgbClr val="C00000"/>
                </a:solidFill>
              </a:rPr>
              <a:t>/ 2</a:t>
            </a:r>
            <a:r>
              <a:rPr lang="ko-KR" altLang="en-US" sz="800" dirty="0">
                <a:solidFill>
                  <a:srgbClr val="C00000"/>
                </a:solidFill>
              </a:rPr>
              <a:t>억 이상 </a:t>
            </a:r>
            <a:r>
              <a:rPr lang="en-US" altLang="ko-KR" sz="800" dirty="0">
                <a:solidFill>
                  <a:srgbClr val="C00000"/>
                </a:solidFill>
              </a:rPr>
              <a:t>~ 10</a:t>
            </a:r>
            <a:r>
              <a:rPr lang="ko-KR" altLang="en-US" sz="800" dirty="0">
                <a:solidFill>
                  <a:srgbClr val="C00000"/>
                </a:solidFill>
              </a:rPr>
              <a:t>억 미만 </a:t>
            </a:r>
            <a:r>
              <a:rPr lang="en-US" altLang="ko-KR" sz="800" dirty="0">
                <a:solidFill>
                  <a:srgbClr val="C00000"/>
                </a:solidFill>
              </a:rPr>
              <a:t>(80.495%)</a:t>
            </a:r>
            <a:br>
              <a:rPr lang="en-US" altLang="ko-KR" sz="800" dirty="0">
                <a:solidFill>
                  <a:srgbClr val="C00000"/>
                </a:solidFill>
              </a:rPr>
            </a:br>
            <a:r>
              <a:rPr lang="en-US" altLang="ko-KR" sz="800" dirty="0">
                <a:solidFill>
                  <a:srgbClr val="C00000"/>
                </a:solidFill>
              </a:rPr>
              <a:t>- </a:t>
            </a:r>
            <a:r>
              <a:rPr lang="ko-KR" altLang="en-US" sz="800" dirty="0">
                <a:solidFill>
                  <a:srgbClr val="C00000"/>
                </a:solidFill>
              </a:rPr>
              <a:t>물품구매 </a:t>
            </a:r>
            <a:r>
              <a:rPr lang="en-US" altLang="ko-KR" sz="800" dirty="0">
                <a:solidFill>
                  <a:srgbClr val="C00000"/>
                </a:solidFill>
              </a:rPr>
              <a:t>/ 2</a:t>
            </a:r>
            <a:r>
              <a:rPr lang="ko-KR" altLang="en-US" sz="800" dirty="0">
                <a:solidFill>
                  <a:srgbClr val="C00000"/>
                </a:solidFill>
              </a:rPr>
              <a:t>억 미만 </a:t>
            </a:r>
            <a:r>
              <a:rPr lang="en-US" altLang="ko-KR" sz="800" dirty="0">
                <a:solidFill>
                  <a:srgbClr val="C00000"/>
                </a:solidFill>
              </a:rPr>
              <a:t>(84.245%)</a:t>
            </a:r>
            <a:endParaRPr lang="ko-KR" altLang="ko-KR" sz="800" dirty="0">
              <a:solidFill>
                <a:srgbClr val="C00000"/>
              </a:solidFill>
            </a:endParaRPr>
          </a:p>
        </p:txBody>
      </p:sp>
      <p:cxnSp>
        <p:nvCxnSpPr>
          <p:cNvPr id="22" name="연결선: 꺾임 21">
            <a:extLst>
              <a:ext uri="{FF2B5EF4-FFF2-40B4-BE49-F238E27FC236}">
                <a16:creationId xmlns:a16="http://schemas.microsoft.com/office/drawing/2014/main" id="{2DF5381D-4813-A434-FD07-AADAFEFA0485}"/>
              </a:ext>
            </a:extLst>
          </p:cNvPr>
          <p:cNvCxnSpPr>
            <a:cxnSpLocks/>
            <a:stCxn id="58" idx="0"/>
            <a:endCxn id="16" idx="3"/>
          </p:cNvCxnSpPr>
          <p:nvPr/>
        </p:nvCxnSpPr>
        <p:spPr>
          <a:xfrm rot="16200000" flipV="1">
            <a:off x="1498575" y="2047234"/>
            <a:ext cx="399389" cy="3579012"/>
          </a:xfrm>
          <a:prstGeom prst="bentConnector2">
            <a:avLst/>
          </a:prstGeom>
          <a:ln>
            <a:solidFill>
              <a:srgbClr val="C00000"/>
            </a:solidFill>
            <a:prstDash val="sysDash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06479792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D5CC5B-3A35-AEEF-5F9B-3FF14546AB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4444FDFE-2FCF-FE3F-16B5-BDE81BB72C1E}"/>
              </a:ext>
            </a:extLst>
          </p:cNvPr>
          <p:cNvSpPr/>
          <p:nvPr/>
        </p:nvSpPr>
        <p:spPr>
          <a:xfrm>
            <a:off x="164468" y="368660"/>
            <a:ext cx="7765639" cy="522058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20F3750-148C-908B-4241-6931A1DAF45D}"/>
              </a:ext>
            </a:extLst>
          </p:cNvPr>
          <p:cNvSpPr/>
          <p:nvPr/>
        </p:nvSpPr>
        <p:spPr>
          <a:xfrm>
            <a:off x="7817540" y="376875"/>
            <a:ext cx="108012" cy="521062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7F7A78F-D393-627D-69CE-F6D7CCCF1D0D}"/>
              </a:ext>
            </a:extLst>
          </p:cNvPr>
          <p:cNvSpPr/>
          <p:nvPr/>
        </p:nvSpPr>
        <p:spPr>
          <a:xfrm>
            <a:off x="7817540" y="1946644"/>
            <a:ext cx="108012" cy="1800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C09ED890-A860-282E-DF72-9E82BDDF42AE}"/>
              </a:ext>
            </a:extLst>
          </p:cNvPr>
          <p:cNvSpPr/>
          <p:nvPr/>
        </p:nvSpPr>
        <p:spPr>
          <a:xfrm>
            <a:off x="164468" y="368660"/>
            <a:ext cx="7761084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복수예비 기초금액 등록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17EF9147-9C79-6436-9530-7D5557FD2F8F}"/>
              </a:ext>
            </a:extLst>
          </p:cNvPr>
          <p:cNvSpPr/>
          <p:nvPr/>
        </p:nvSpPr>
        <p:spPr>
          <a:xfrm>
            <a:off x="7662176" y="368660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6B2D24C2-BD48-CABD-A021-45EBEA746603}"/>
              </a:ext>
            </a:extLst>
          </p:cNvPr>
          <p:cNvSpPr/>
          <p:nvPr/>
        </p:nvSpPr>
        <p:spPr>
          <a:xfrm>
            <a:off x="332879" y="774485"/>
            <a:ext cx="1484381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복수예비 기초금액 등록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E47EA82F-E674-E742-FA46-C305BF28FD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7842472"/>
              </p:ext>
            </p:extLst>
          </p:nvPr>
        </p:nvGraphicFramePr>
        <p:xfrm>
          <a:off x="324654" y="1903647"/>
          <a:ext cx="7337522" cy="135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99003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1133782">
                  <a:extLst>
                    <a:ext uri="{9D8B030D-6E8A-4147-A177-3AD203B41FA5}">
                      <a16:colId xmlns:a16="http://schemas.microsoft.com/office/drawing/2014/main" val="2264476566"/>
                    </a:ext>
                  </a:extLst>
                </a:gridCol>
                <a:gridCol w="1133782">
                  <a:extLst>
                    <a:ext uri="{9D8B030D-6E8A-4147-A177-3AD203B41FA5}">
                      <a16:colId xmlns:a16="http://schemas.microsoft.com/office/drawing/2014/main" val="1900745260"/>
                    </a:ext>
                  </a:extLst>
                </a:gridCol>
                <a:gridCol w="1122521">
                  <a:extLst>
                    <a:ext uri="{9D8B030D-6E8A-4147-A177-3AD203B41FA5}">
                      <a16:colId xmlns:a16="http://schemas.microsoft.com/office/drawing/2014/main" val="1854595363"/>
                    </a:ext>
                  </a:extLst>
                </a:gridCol>
                <a:gridCol w="2448434">
                  <a:extLst>
                    <a:ext uri="{9D8B030D-6E8A-4147-A177-3AD203B41FA5}">
                      <a16:colId xmlns:a16="http://schemas.microsoft.com/office/drawing/2014/main" val="7009178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구분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추정가액 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(A)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사정가액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(B)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증감액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(C=B-A)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비고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합계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공급가액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86,100,000</a:t>
                      </a: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86,100,000</a:t>
                      </a: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04864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부가세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8,610,000</a:t>
                      </a: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8,610,000</a:t>
                      </a: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02843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총계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94,710,000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94,710,000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특이사항이 없어서 사정가액의 변화가 없습니다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425343"/>
                  </a:ext>
                </a:extLst>
              </a:tr>
            </a:tbl>
          </a:graphicData>
        </a:graphic>
      </p:graphicFrame>
      <p:sp>
        <p:nvSpPr>
          <p:cNvPr id="42" name="TextBox 41">
            <a:extLst>
              <a:ext uri="{FF2B5EF4-FFF2-40B4-BE49-F238E27FC236}">
                <a16:creationId xmlns:a16="http://schemas.microsoft.com/office/drawing/2014/main" id="{90FBCB3F-B810-58B8-7A54-C52AF6764866}"/>
              </a:ext>
            </a:extLst>
          </p:cNvPr>
          <p:cNvSpPr txBox="1"/>
          <p:nvPr/>
        </p:nvSpPr>
        <p:spPr>
          <a:xfrm>
            <a:off x="749224" y="25608"/>
            <a:ext cx="419698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설정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예비가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복수예비 기초금액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E7E4921C-E17F-D8D9-087D-370BB91B3445}"/>
              </a:ext>
            </a:extLst>
          </p:cNvPr>
          <p:cNvSpPr/>
          <p:nvPr/>
        </p:nvSpPr>
        <p:spPr>
          <a:xfrm>
            <a:off x="6188507" y="5120942"/>
            <a:ext cx="729290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>
                <a:latin typeface="나눔고딕" panose="020D0604000000000000" pitchFamily="50" charset="-127"/>
                <a:ea typeface="나눔고딕" panose="020D0604000000000000" pitchFamily="50" charset="-127"/>
              </a:rPr>
              <a:t>저장</a:t>
            </a:r>
            <a:endParaRPr lang="ko-KR" altLang="en-US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3BCD2895-E2A9-9CCE-A472-51EB76A3EE5A}"/>
              </a:ext>
            </a:extLst>
          </p:cNvPr>
          <p:cNvSpPr/>
          <p:nvPr/>
        </p:nvSpPr>
        <p:spPr>
          <a:xfrm>
            <a:off x="6984572" y="5120942"/>
            <a:ext cx="699418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graphicFrame>
        <p:nvGraphicFramePr>
          <p:cNvPr id="56" name="표 55">
            <a:extLst>
              <a:ext uri="{FF2B5EF4-FFF2-40B4-BE49-F238E27FC236}">
                <a16:creationId xmlns:a16="http://schemas.microsoft.com/office/drawing/2014/main" id="{20DDFB4D-1A40-02F0-0B2B-BA4CAC9F647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9037695"/>
              </p:ext>
            </p:extLst>
          </p:nvPr>
        </p:nvGraphicFramePr>
        <p:xfrm>
          <a:off x="344489" y="3338240"/>
          <a:ext cx="7308811" cy="1689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76163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5832648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사정금액 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-2%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92,815,800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7438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사정금액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-4%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90,921,600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30657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낙찰하한율 기준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 </a:t>
                      </a:r>
                      <a:r>
                        <a:rPr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 2</a:t>
                      </a:r>
                      <a:r>
                        <a:rPr lang="ko-KR" alt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억 미만</a:t>
                      </a:r>
                      <a:r>
                        <a:rPr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(87.745%)</a:t>
                      </a: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84718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낙찰하한율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87.745%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33570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복수예비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기초금액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                           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(VAT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포함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5074315"/>
                  </a:ext>
                </a:extLst>
              </a:tr>
            </a:tbl>
          </a:graphicData>
        </a:graphic>
      </p:graphicFrame>
      <p:sp>
        <p:nvSpPr>
          <p:cNvPr id="62" name="직사각형 61">
            <a:extLst>
              <a:ext uri="{FF2B5EF4-FFF2-40B4-BE49-F238E27FC236}">
                <a16:creationId xmlns:a16="http://schemas.microsoft.com/office/drawing/2014/main" id="{B574A5E2-64A2-4656-C15E-4351FB6249EC}"/>
              </a:ext>
            </a:extLst>
          </p:cNvPr>
          <p:cNvSpPr/>
          <p:nvPr/>
        </p:nvSpPr>
        <p:spPr>
          <a:xfrm>
            <a:off x="1885888" y="4746989"/>
            <a:ext cx="78086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91,800,000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F979FBCF-7A71-4561-CA64-E36A37140FD1}"/>
              </a:ext>
            </a:extLst>
          </p:cNvPr>
          <p:cNvSpPr/>
          <p:nvPr/>
        </p:nvSpPr>
        <p:spPr>
          <a:xfrm>
            <a:off x="6100304" y="5001756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6647D28-472B-12EE-2A7B-C37CA419D4AE}"/>
              </a:ext>
            </a:extLst>
          </p:cNvPr>
          <p:cNvSpPr txBox="1"/>
          <p:nvPr/>
        </p:nvSpPr>
        <p:spPr>
          <a:xfrm>
            <a:off x="8049344" y="584684"/>
            <a:ext cx="1856656" cy="22344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발주계획에서 설정된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kumimoji="0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예정</a:t>
            </a:r>
            <a:r>
              <a:rPr kumimoji="0"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kumimoji="0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예비가격 결정자</a:t>
            </a:r>
            <a:r>
              <a:rPr kumimoji="0"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kumimoji="0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만 등록 가능</a:t>
            </a:r>
            <a:br>
              <a:rPr kumimoji="0"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kumimoji="0"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kumimoji="0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예정</a:t>
            </a:r>
            <a:r>
              <a:rPr kumimoji="0"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kumimoji="0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예비가격 결정자</a:t>
            </a:r>
            <a:r>
              <a:rPr kumimoji="0"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kumimoji="0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에게는 공통관리의 메뉴별 권한을 부여해야 하며 </a:t>
            </a:r>
            <a:r>
              <a:rPr kumimoji="0"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kumimoji="0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시스템 권한 부여</a:t>
            </a:r>
            <a:r>
              <a:rPr kumimoji="0"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kumimoji="0"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도 해야 함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highlight>
                <a:srgbClr val="FFFF00"/>
              </a:highlight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완료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확인 상태에서 이 화면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팝업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을 호출하는 경우에는 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저장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요청 버튼이 노출되지 않음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또한 위의 입력 컨트롤 대신 작성된 내용으로 보임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**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별도로 설계하지 않겠습니다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**</a:t>
            </a: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BFD9D65C-85A3-6E94-2754-C1A96FD9D77B}"/>
              </a:ext>
            </a:extLst>
          </p:cNvPr>
          <p:cNvSpPr/>
          <p:nvPr/>
        </p:nvSpPr>
        <p:spPr>
          <a:xfrm>
            <a:off x="1759869" y="4651636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ABDB66AA-6992-06A3-50BD-DA1CC26B814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63141244"/>
              </p:ext>
            </p:extLst>
          </p:nvPr>
        </p:nvGraphicFramePr>
        <p:xfrm>
          <a:off x="335822" y="1141996"/>
          <a:ext cx="7317478" cy="675840"/>
        </p:xfrm>
        <a:graphic>
          <a:graphicData uri="http://schemas.openxmlformats.org/drawingml/2006/table">
            <a:tbl>
              <a:tblPr firstRow="1" bandRow="1"/>
              <a:tblGrid>
                <a:gridCol w="779373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710182">
                  <a:extLst>
                    <a:ext uri="{9D8B030D-6E8A-4147-A177-3AD203B41FA5}">
                      <a16:colId xmlns:a16="http://schemas.microsoft.com/office/drawing/2014/main" val="2016786680"/>
                    </a:ext>
                  </a:extLst>
                </a:gridCol>
                <a:gridCol w="488127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283768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643500">
                  <a:extLst>
                    <a:ext uri="{9D8B030D-6E8A-4147-A177-3AD203B41FA5}">
                      <a16:colId xmlns:a16="http://schemas.microsoft.com/office/drawing/2014/main" val="3053194834"/>
                    </a:ext>
                  </a:extLst>
                </a:gridCol>
                <a:gridCol w="295035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932238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1015911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584672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584672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등록일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본공고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작성중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2026.07.22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4366506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BD633E-B819-5369-37A6-E53E764F81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3C9ADB42-5B57-CC53-8300-691D98FCCDE0}"/>
              </a:ext>
            </a:extLst>
          </p:cNvPr>
          <p:cNvSpPr/>
          <p:nvPr/>
        </p:nvSpPr>
        <p:spPr>
          <a:xfrm>
            <a:off x="164468" y="368660"/>
            <a:ext cx="7713521" cy="4248472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EA2D417-EF1B-AC63-F8E1-8E0D9C2EB6DE}"/>
              </a:ext>
            </a:extLst>
          </p:cNvPr>
          <p:cNvSpPr/>
          <p:nvPr/>
        </p:nvSpPr>
        <p:spPr>
          <a:xfrm>
            <a:off x="7775956" y="369148"/>
            <a:ext cx="108012" cy="424814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86DD94A1-8345-B847-957B-F5724BF8CB25}"/>
              </a:ext>
            </a:extLst>
          </p:cNvPr>
          <p:cNvSpPr/>
          <p:nvPr/>
        </p:nvSpPr>
        <p:spPr>
          <a:xfrm>
            <a:off x="7775956" y="1956169"/>
            <a:ext cx="108012" cy="1800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3EBE47C6-D798-0933-2AC2-6EB4F785888A}"/>
              </a:ext>
            </a:extLst>
          </p:cNvPr>
          <p:cNvSpPr/>
          <p:nvPr/>
        </p:nvSpPr>
        <p:spPr>
          <a:xfrm>
            <a:off x="164468" y="368660"/>
            <a:ext cx="7708996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복수예비가격표 등록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설정</a:t>
            </a:r>
            <a:endParaRPr lang="en-US" altLang="ko-KR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C099D912-5162-FE22-80A6-07EE4A0B186F}"/>
              </a:ext>
            </a:extLst>
          </p:cNvPr>
          <p:cNvSpPr/>
          <p:nvPr/>
        </p:nvSpPr>
        <p:spPr>
          <a:xfrm>
            <a:off x="7610358" y="368660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596A6DDC-B69D-4E63-9E09-3D15410805F7}"/>
              </a:ext>
            </a:extLst>
          </p:cNvPr>
          <p:cNvSpPr/>
          <p:nvPr/>
        </p:nvSpPr>
        <p:spPr>
          <a:xfrm>
            <a:off x="332879" y="774485"/>
            <a:ext cx="1679947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복수예비가격표 등록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설정</a:t>
            </a:r>
            <a:endParaRPr lang="en-US" altLang="ko-KR" sz="11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A2C30387-B8D8-3E6B-9436-50FEDD690875}"/>
              </a:ext>
            </a:extLst>
          </p:cNvPr>
          <p:cNvSpPr txBox="1"/>
          <p:nvPr/>
        </p:nvSpPr>
        <p:spPr>
          <a:xfrm>
            <a:off x="749224" y="25608"/>
            <a:ext cx="433804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설정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예비가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복수예비가격표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설정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34D203A3-4729-B4DD-0EB9-E0743062B2FA}"/>
              </a:ext>
            </a:extLst>
          </p:cNvPr>
          <p:cNvGraphicFramePr>
            <a:graphicFrameLocks noGrp="1"/>
          </p:cNvGraphicFramePr>
          <p:nvPr/>
        </p:nvGraphicFramePr>
        <p:xfrm>
          <a:off x="324655" y="1898688"/>
          <a:ext cx="7303090" cy="67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98989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2035037">
                  <a:extLst>
                    <a:ext uri="{9D8B030D-6E8A-4147-A177-3AD203B41FA5}">
                      <a16:colId xmlns:a16="http://schemas.microsoft.com/office/drawing/2014/main" val="2264476566"/>
                    </a:ext>
                  </a:extLst>
                </a:gridCol>
                <a:gridCol w="1498989">
                  <a:extLst>
                    <a:ext uri="{9D8B030D-6E8A-4147-A177-3AD203B41FA5}">
                      <a16:colId xmlns:a16="http://schemas.microsoft.com/office/drawing/2014/main" val="1854595363"/>
                    </a:ext>
                  </a:extLst>
                </a:gridCol>
                <a:gridCol w="2270075">
                  <a:extLst>
                    <a:ext uri="{9D8B030D-6E8A-4147-A177-3AD203B41FA5}">
                      <a16:colId xmlns:a16="http://schemas.microsoft.com/office/drawing/2014/main" val="7009178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복수예비 기초금액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122,000,000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04864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낙찰하한율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기준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 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 2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억 미만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(87.745%)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낙찰하한율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87.745%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0284342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0E1AD324-6D28-F15A-1101-40078BC067B3}"/>
              </a:ext>
            </a:extLst>
          </p:cNvPr>
          <p:cNvGraphicFramePr>
            <a:graphicFrameLocks noGrp="1"/>
          </p:cNvGraphicFramePr>
          <p:nvPr/>
        </p:nvGraphicFramePr>
        <p:xfrm>
          <a:off x="324655" y="2964923"/>
          <a:ext cx="7303094" cy="1035504"/>
        </p:xfrm>
        <a:graphic>
          <a:graphicData uri="http://schemas.openxmlformats.org/drawingml/2006/table">
            <a:tbl>
              <a:tblPr firstRow="1" bandRow="1"/>
              <a:tblGrid>
                <a:gridCol w="1359694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742925">
                  <a:extLst>
                    <a:ext uri="{9D8B030D-6E8A-4147-A177-3AD203B41FA5}">
                      <a16:colId xmlns:a16="http://schemas.microsoft.com/office/drawing/2014/main" val="3053194834"/>
                    </a:ext>
                  </a:extLst>
                </a:gridCol>
                <a:gridCol w="742925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742925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742925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742925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  <a:gridCol w="742925">
                  <a:extLst>
                    <a:ext uri="{9D8B030D-6E8A-4147-A177-3AD203B41FA5}">
                      <a16:colId xmlns:a16="http://schemas.microsoft.com/office/drawing/2014/main" val="4270883096"/>
                    </a:ext>
                  </a:extLst>
                </a:gridCol>
                <a:gridCol w="742925">
                  <a:extLst>
                    <a:ext uri="{9D8B030D-6E8A-4147-A177-3AD203B41FA5}">
                      <a16:colId xmlns:a16="http://schemas.microsoft.com/office/drawing/2014/main" val="3797354430"/>
                    </a:ext>
                  </a:extLst>
                </a:gridCol>
                <a:gridCol w="742925">
                  <a:extLst>
                    <a:ext uri="{9D8B030D-6E8A-4147-A177-3AD203B41FA5}">
                      <a16:colId xmlns:a16="http://schemas.microsoft.com/office/drawing/2014/main" val="215188451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복수예비금액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ctr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(+2%</a:t>
                      </a: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의 금액 중 </a:t>
                      </a: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 선택</a:t>
                      </a: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123,379,000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123,387,000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123,569,000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124,315,000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126,351,000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124,379,000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123,524,000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복수예비금액</a:t>
                      </a:r>
                    </a:p>
                    <a:p>
                      <a:pPr marL="0" marR="0" lvl="0" indent="0" algn="ctr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(-2%</a:t>
                      </a: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의 금액 중 </a:t>
                      </a: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 선택</a:t>
                      </a: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122,526,000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121,345,000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122,352,000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121,759,000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122,952,000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120,524,000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120,875,000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120,579,000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2628136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A87DAEAF-C115-6C9C-8722-284A17EE890D}"/>
              </a:ext>
            </a:extLst>
          </p:cNvPr>
          <p:cNvSpPr/>
          <p:nvPr/>
        </p:nvSpPr>
        <p:spPr>
          <a:xfrm>
            <a:off x="332879" y="2683275"/>
            <a:ext cx="7285701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복수예비가격 생성 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solidFill>
                  <a:srgbClr val="0070C0"/>
                </a:solidFill>
                <a:latin typeface="나눔고딕" pitchFamily="2" charset="-127"/>
                <a:ea typeface="나눔고딕" pitchFamily="2" charset="-127"/>
              </a:rPr>
              <a:t>복수예비 기초금액 </a:t>
            </a:r>
            <a:r>
              <a:rPr lang="en-US" altLang="ko-KR" sz="800" dirty="0">
                <a:solidFill>
                  <a:srgbClr val="0070C0"/>
                </a:solidFill>
                <a:latin typeface="나눔고딕" pitchFamily="2" charset="-127"/>
                <a:ea typeface="나눔고딕" pitchFamily="2" charset="-127"/>
              </a:rPr>
              <a:t>±2% </a:t>
            </a:r>
            <a:r>
              <a:rPr lang="ko-KR" altLang="en-US" sz="800" dirty="0">
                <a:solidFill>
                  <a:srgbClr val="0070C0"/>
                </a:solidFill>
                <a:latin typeface="나눔고딕" pitchFamily="2" charset="-127"/>
                <a:ea typeface="나눔고딕" pitchFamily="2" charset="-127"/>
              </a:rPr>
              <a:t>범위 내에서 </a:t>
            </a:r>
            <a:r>
              <a:rPr lang="en-US" altLang="ko-KR" sz="800" dirty="0">
                <a:solidFill>
                  <a:srgbClr val="0070C0"/>
                </a:solidFill>
                <a:latin typeface="나눔고딕" pitchFamily="2" charset="-127"/>
                <a:ea typeface="나눔고딕" pitchFamily="2" charset="-127"/>
              </a:rPr>
              <a:t>15</a:t>
            </a:r>
            <a:r>
              <a:rPr lang="ko-KR" altLang="en-US" sz="800" dirty="0">
                <a:solidFill>
                  <a:srgbClr val="0070C0"/>
                </a:solidFill>
                <a:latin typeface="나눔고딕" pitchFamily="2" charset="-127"/>
                <a:ea typeface="나눔고딕" pitchFamily="2" charset="-127"/>
              </a:rPr>
              <a:t>개 자동 생성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5020E4D4-4FF0-170E-E6F9-33E54A617CF8}"/>
              </a:ext>
            </a:extLst>
          </p:cNvPr>
          <p:cNvSpPr/>
          <p:nvPr/>
        </p:nvSpPr>
        <p:spPr>
          <a:xfrm>
            <a:off x="6132263" y="4113076"/>
            <a:ext cx="729290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>
                <a:latin typeface="나눔고딕" panose="020D0604000000000000" pitchFamily="50" charset="-127"/>
                <a:ea typeface="나눔고딕" panose="020D0604000000000000" pitchFamily="50" charset="-127"/>
              </a:rPr>
              <a:t>저장</a:t>
            </a:r>
            <a:endParaRPr lang="ko-KR" altLang="en-US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8DE21686-9B06-BC5F-8C1A-98561914EFFC}"/>
              </a:ext>
            </a:extLst>
          </p:cNvPr>
          <p:cNvSpPr/>
          <p:nvPr/>
        </p:nvSpPr>
        <p:spPr>
          <a:xfrm>
            <a:off x="6928328" y="4113076"/>
            <a:ext cx="699418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9EB4293-A6C2-FED6-A97F-DB595EFAEAE5}"/>
              </a:ext>
            </a:extLst>
          </p:cNvPr>
          <p:cNvSpPr/>
          <p:nvPr/>
        </p:nvSpPr>
        <p:spPr>
          <a:xfrm>
            <a:off x="4556956" y="4113076"/>
            <a:ext cx="1508532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>
                <a:latin typeface="나눔고딕" panose="020D0604000000000000" pitchFamily="50" charset="-127"/>
                <a:ea typeface="나눔고딕" panose="020D0604000000000000" pitchFamily="50" charset="-127"/>
              </a:rPr>
              <a:t>복수예비가격 자동 생성</a:t>
            </a:r>
            <a:endParaRPr lang="ko-KR" altLang="en-US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8E9592D8-CF32-62C3-9444-E4380168D454}"/>
              </a:ext>
            </a:extLst>
          </p:cNvPr>
          <p:cNvSpPr/>
          <p:nvPr/>
        </p:nvSpPr>
        <p:spPr>
          <a:xfrm>
            <a:off x="4460481" y="4013667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EAA77E3B-5BC8-862E-D11B-C1D93773A257}"/>
              </a:ext>
            </a:extLst>
          </p:cNvPr>
          <p:cNvSpPr txBox="1"/>
          <p:nvPr/>
        </p:nvSpPr>
        <p:spPr>
          <a:xfrm>
            <a:off x="8049344" y="584684"/>
            <a:ext cx="1856656" cy="326550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복수예비가격 기초금액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임원이 전 단계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복수예비 기초금액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에서 입력한 금액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복수예비가격 기초금액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에서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+2%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의 금액을 난수로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개 발행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천원 단위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복수예비가격 기초금액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에서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-2%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의 금액을 난수로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개 발행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천원 단위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위의 복수예비가격 재발행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불필요한 기능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–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테스트 과정 중 제거 대상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완료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확인 상태에서 이 화면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팝업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을 호출하는 경우에는 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저장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요청 버튼이 노출되지 않음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또한 위의 입력 컨트롤 대신 작성된 내용으로 보임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**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별도로 설계하지 않겠습니다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**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801D11B8-BC7D-C934-96C0-39C3D50BE07A}"/>
              </a:ext>
            </a:extLst>
          </p:cNvPr>
          <p:cNvGraphicFramePr>
            <a:graphicFrameLocks noGrp="1"/>
          </p:cNvGraphicFramePr>
          <p:nvPr/>
        </p:nvGraphicFramePr>
        <p:xfrm>
          <a:off x="335823" y="1141996"/>
          <a:ext cx="7294348" cy="675840"/>
        </p:xfrm>
        <a:graphic>
          <a:graphicData uri="http://schemas.openxmlformats.org/drawingml/2006/table">
            <a:tbl>
              <a:tblPr firstRow="1" bandRow="1"/>
              <a:tblGrid>
                <a:gridCol w="77691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707937">
                  <a:extLst>
                    <a:ext uri="{9D8B030D-6E8A-4147-A177-3AD203B41FA5}">
                      <a16:colId xmlns:a16="http://schemas.microsoft.com/office/drawing/2014/main" val="2016786680"/>
                    </a:ext>
                  </a:extLst>
                </a:gridCol>
                <a:gridCol w="486584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279710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641466">
                  <a:extLst>
                    <a:ext uri="{9D8B030D-6E8A-4147-A177-3AD203B41FA5}">
                      <a16:colId xmlns:a16="http://schemas.microsoft.com/office/drawing/2014/main" val="3053194834"/>
                    </a:ext>
                  </a:extLst>
                </a:gridCol>
                <a:gridCol w="294102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929291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1012700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582824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582824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등록일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본공고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작성중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2026.07.22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9" name="타원 8">
            <a:extLst>
              <a:ext uri="{FF2B5EF4-FFF2-40B4-BE49-F238E27FC236}">
                <a16:creationId xmlns:a16="http://schemas.microsoft.com/office/drawing/2014/main" id="{C980883E-B162-9182-7E5F-1885419640CA}"/>
              </a:ext>
            </a:extLst>
          </p:cNvPr>
          <p:cNvSpPr/>
          <p:nvPr/>
        </p:nvSpPr>
        <p:spPr>
          <a:xfrm>
            <a:off x="300796" y="1798872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68CAE6BE-E223-806A-51AA-4A64F916781C}"/>
              </a:ext>
            </a:extLst>
          </p:cNvPr>
          <p:cNvSpPr/>
          <p:nvPr/>
        </p:nvSpPr>
        <p:spPr>
          <a:xfrm>
            <a:off x="300796" y="2903363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60365C6B-7E38-6E9C-77F5-DA01CB869D45}"/>
              </a:ext>
            </a:extLst>
          </p:cNvPr>
          <p:cNvSpPr/>
          <p:nvPr/>
        </p:nvSpPr>
        <p:spPr>
          <a:xfrm>
            <a:off x="300796" y="3409334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1D245365-4C02-E4DA-ED56-1C052B947C56}"/>
              </a:ext>
            </a:extLst>
          </p:cNvPr>
          <p:cNvSpPr/>
          <p:nvPr/>
        </p:nvSpPr>
        <p:spPr>
          <a:xfrm>
            <a:off x="6053951" y="4013667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76170378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97C518-7591-6DCD-12D1-5DD66FA591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BA56E900-F38A-2020-F83B-1E06BDE2F6B0}"/>
              </a:ext>
            </a:extLst>
          </p:cNvPr>
          <p:cNvSpPr/>
          <p:nvPr/>
        </p:nvSpPr>
        <p:spPr>
          <a:xfrm>
            <a:off x="130902" y="385579"/>
            <a:ext cx="7765639" cy="539504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DB46DA7-1266-54EA-0F63-B09A46D5DAC7}"/>
              </a:ext>
            </a:extLst>
          </p:cNvPr>
          <p:cNvSpPr/>
          <p:nvPr/>
        </p:nvSpPr>
        <p:spPr>
          <a:xfrm>
            <a:off x="7783974" y="393794"/>
            <a:ext cx="108012" cy="538474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4E53611B-B9E2-2FF1-ACA0-28A87FAB0D29}"/>
              </a:ext>
            </a:extLst>
          </p:cNvPr>
          <p:cNvSpPr/>
          <p:nvPr/>
        </p:nvSpPr>
        <p:spPr>
          <a:xfrm>
            <a:off x="7783974" y="1963563"/>
            <a:ext cx="108012" cy="1800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00E54492-B4CA-3D8A-A44B-C451B800BF8F}"/>
              </a:ext>
            </a:extLst>
          </p:cNvPr>
          <p:cNvSpPr/>
          <p:nvPr/>
        </p:nvSpPr>
        <p:spPr>
          <a:xfrm>
            <a:off x="130902" y="385579"/>
            <a:ext cx="7761084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예정가격 등록 요청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70372F32-CD6D-ECE8-2471-E2C3956E1F3E}"/>
              </a:ext>
            </a:extLst>
          </p:cNvPr>
          <p:cNvSpPr/>
          <p:nvPr/>
        </p:nvSpPr>
        <p:spPr>
          <a:xfrm>
            <a:off x="7628610" y="385579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DED4191-747D-F8A9-A53B-A0E9ABFA7857}"/>
              </a:ext>
            </a:extLst>
          </p:cNvPr>
          <p:cNvSpPr/>
          <p:nvPr/>
        </p:nvSpPr>
        <p:spPr>
          <a:xfrm>
            <a:off x="299313" y="791404"/>
            <a:ext cx="1218282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예정가격 등록 요청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D42026A8-0CD7-462D-102B-77E7D5A74114}"/>
              </a:ext>
            </a:extLst>
          </p:cNvPr>
          <p:cNvGraphicFramePr>
            <a:graphicFrameLocks noGrp="1"/>
          </p:cNvGraphicFramePr>
          <p:nvPr/>
        </p:nvGraphicFramePr>
        <p:xfrm>
          <a:off x="291088" y="1886062"/>
          <a:ext cx="7337522" cy="135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99003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1133782">
                  <a:extLst>
                    <a:ext uri="{9D8B030D-6E8A-4147-A177-3AD203B41FA5}">
                      <a16:colId xmlns:a16="http://schemas.microsoft.com/office/drawing/2014/main" val="2264476566"/>
                    </a:ext>
                  </a:extLst>
                </a:gridCol>
                <a:gridCol w="1133782">
                  <a:extLst>
                    <a:ext uri="{9D8B030D-6E8A-4147-A177-3AD203B41FA5}">
                      <a16:colId xmlns:a16="http://schemas.microsoft.com/office/drawing/2014/main" val="1900745260"/>
                    </a:ext>
                  </a:extLst>
                </a:gridCol>
                <a:gridCol w="1122521">
                  <a:extLst>
                    <a:ext uri="{9D8B030D-6E8A-4147-A177-3AD203B41FA5}">
                      <a16:colId xmlns:a16="http://schemas.microsoft.com/office/drawing/2014/main" val="1854595363"/>
                    </a:ext>
                  </a:extLst>
                </a:gridCol>
                <a:gridCol w="2448434">
                  <a:extLst>
                    <a:ext uri="{9D8B030D-6E8A-4147-A177-3AD203B41FA5}">
                      <a16:colId xmlns:a16="http://schemas.microsoft.com/office/drawing/2014/main" val="7009178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구분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추정가액 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(A)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사정가액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(B)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증감액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(C=B-A)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비고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합계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공급가액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86,100,000</a:t>
                      </a: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86,100,000</a:t>
                      </a: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04864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부가세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8,610,000</a:t>
                      </a: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8,610,000</a:t>
                      </a: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02843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총계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94,710,000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94,710,000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특이사항이 없어서 사정가액의 변화가 없습니다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425343"/>
                  </a:ext>
                </a:extLst>
              </a:tr>
            </a:tbl>
          </a:graphicData>
        </a:graphic>
      </p:graphicFrame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0C6AFD2A-447B-2603-30CF-22D815FDA17A}"/>
              </a:ext>
            </a:extLst>
          </p:cNvPr>
          <p:cNvGraphicFramePr>
            <a:graphicFrameLocks noGrp="1"/>
          </p:cNvGraphicFramePr>
          <p:nvPr/>
        </p:nvGraphicFramePr>
        <p:xfrm>
          <a:off x="299313" y="3651129"/>
          <a:ext cx="7356425" cy="1468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87773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5868652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비고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724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첨부파일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9358335"/>
                  </a:ext>
                </a:extLst>
              </a:tr>
            </a:tbl>
          </a:graphicData>
        </a:graphic>
      </p:graphicFrame>
      <p:pic>
        <p:nvPicPr>
          <p:cNvPr id="40" name="그림 39">
            <a:extLst>
              <a:ext uri="{FF2B5EF4-FFF2-40B4-BE49-F238E27FC236}">
                <a16:creationId xmlns:a16="http://schemas.microsoft.com/office/drawing/2014/main" id="{B52B8C06-4A68-F6A8-9165-164A2681F0C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59094" y="4446839"/>
            <a:ext cx="5688632" cy="597671"/>
          </a:xfrm>
          <a:prstGeom prst="rect">
            <a:avLst/>
          </a:prstGeom>
        </p:spPr>
      </p:pic>
      <p:sp>
        <p:nvSpPr>
          <p:cNvPr id="41" name="직사각형 40">
            <a:extLst>
              <a:ext uri="{FF2B5EF4-FFF2-40B4-BE49-F238E27FC236}">
                <a16:creationId xmlns:a16="http://schemas.microsoft.com/office/drawing/2014/main" id="{9CD62E67-3523-8E1E-2D5D-3568119AE9A1}"/>
              </a:ext>
            </a:extLst>
          </p:cNvPr>
          <p:cNvSpPr/>
          <p:nvPr/>
        </p:nvSpPr>
        <p:spPr>
          <a:xfrm>
            <a:off x="1854307" y="3705103"/>
            <a:ext cx="5774304" cy="60179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en-US" altLang="ko-KR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Text Area</a:t>
            </a:r>
          </a:p>
          <a:p>
            <a:pPr algn="l"/>
            <a:endParaRPr lang="en-US" altLang="ko-KR" sz="8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l"/>
            <a:endParaRPr lang="en-US" altLang="ko-KR" sz="8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l"/>
            <a:endParaRPr lang="ko-KR" altLang="en-US" sz="8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310F851C-B3C1-AC34-21B8-B4F7CFD91DD4}"/>
              </a:ext>
            </a:extLst>
          </p:cNvPr>
          <p:cNvSpPr txBox="1"/>
          <p:nvPr/>
        </p:nvSpPr>
        <p:spPr>
          <a:xfrm>
            <a:off x="749224" y="25608"/>
            <a:ext cx="376737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 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등록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설정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spc="-5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예비가 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예정가격 등록 요청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A7EC444B-F64F-7592-AC02-B80642B02754}"/>
              </a:ext>
            </a:extLst>
          </p:cNvPr>
          <p:cNvSpPr/>
          <p:nvPr/>
        </p:nvSpPr>
        <p:spPr>
          <a:xfrm>
            <a:off x="4847426" y="5210115"/>
            <a:ext cx="729290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>
                <a:latin typeface="나눔고딕" panose="020D0604000000000000" pitchFamily="50" charset="-127"/>
                <a:ea typeface="나눔고딕" panose="020D0604000000000000" pitchFamily="50" charset="-127"/>
              </a:rPr>
              <a:t>저장</a:t>
            </a:r>
            <a:endParaRPr lang="ko-KR" altLang="en-US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DF5A9A35-3B37-3532-515D-746592387398}"/>
              </a:ext>
            </a:extLst>
          </p:cNvPr>
          <p:cNvSpPr/>
          <p:nvPr/>
        </p:nvSpPr>
        <p:spPr>
          <a:xfrm>
            <a:off x="6951006" y="5210115"/>
            <a:ext cx="699418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0BFC06F7-34AF-6417-7CC0-860B8A28181E}"/>
              </a:ext>
            </a:extLst>
          </p:cNvPr>
          <p:cNvSpPr/>
          <p:nvPr/>
        </p:nvSpPr>
        <p:spPr>
          <a:xfrm>
            <a:off x="5654398" y="5210115"/>
            <a:ext cx="1251509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요청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 </a:t>
            </a:r>
            <a:endParaRPr lang="ko-KR" altLang="en-US" sz="9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56" name="표 55">
            <a:extLst>
              <a:ext uri="{FF2B5EF4-FFF2-40B4-BE49-F238E27FC236}">
                <a16:creationId xmlns:a16="http://schemas.microsoft.com/office/drawing/2014/main" id="{FABDFE37-CBC9-B9CF-9DD8-F66CA660B6AF}"/>
              </a:ext>
            </a:extLst>
          </p:cNvPr>
          <p:cNvGraphicFramePr>
            <a:graphicFrameLocks noGrp="1"/>
          </p:cNvGraphicFramePr>
          <p:nvPr/>
        </p:nvGraphicFramePr>
        <p:xfrm>
          <a:off x="310923" y="3320655"/>
          <a:ext cx="7308811" cy="337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76163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5832648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예정가격 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사장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본부장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2706610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3713F65F-8CFF-57CD-9773-482327A91A14}"/>
              </a:ext>
            </a:extLst>
          </p:cNvPr>
          <p:cNvSpPr/>
          <p:nvPr/>
        </p:nvSpPr>
        <p:spPr>
          <a:xfrm>
            <a:off x="848544" y="4617132"/>
            <a:ext cx="378042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요청 시 유의사항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C7095702-859E-756E-1A1A-9024F1713435}"/>
              </a:ext>
            </a:extLst>
          </p:cNvPr>
          <p:cNvSpPr/>
          <p:nvPr/>
        </p:nvSpPr>
        <p:spPr>
          <a:xfrm>
            <a:off x="848544" y="4890045"/>
            <a:ext cx="3780420" cy="185143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604AAC78-E3EC-7609-E3F5-0B39817A91CD}"/>
              </a:ext>
            </a:extLst>
          </p:cNvPr>
          <p:cNvSpPr/>
          <p:nvPr/>
        </p:nvSpPr>
        <p:spPr>
          <a:xfrm>
            <a:off x="4355876" y="4617132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CB181B7-F07A-D44F-6BDA-A16517FC4BFB}"/>
              </a:ext>
            </a:extLst>
          </p:cNvPr>
          <p:cNvSpPr/>
          <p:nvPr/>
        </p:nvSpPr>
        <p:spPr>
          <a:xfrm>
            <a:off x="956323" y="5303432"/>
            <a:ext cx="3532535" cy="879892"/>
          </a:xfrm>
          <a:prstGeom prst="rect">
            <a:avLst/>
          </a:prstGeom>
          <a:solidFill>
            <a:srgbClr val="FFFF00">
              <a:alpha val="20000"/>
            </a:srgb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56000" tIns="108000" bIns="108000" rtlCol="0" anchor="ctr" anchorCtr="0"/>
          <a:lstStyle/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전자결재 요청을 하면 더 이상 입력하신 예정가격 등록 요청 정보가 수정되지 않습니다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.</a:t>
            </a:r>
          </a:p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요청하시겠습니까</a:t>
            </a: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?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pic>
        <p:nvPicPr>
          <p:cNvPr id="23" name="Picture 8" descr="Announcement, hailer, loudspeaker, megaphone, speaker icon - Download on Iconfinder">
            <a:extLst>
              <a:ext uri="{FF2B5EF4-FFF2-40B4-BE49-F238E27FC236}">
                <a16:creationId xmlns:a16="http://schemas.microsoft.com/office/drawing/2014/main" id="{644982ED-4998-4B08-8092-9DB6466E234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2445" y="5448551"/>
            <a:ext cx="570440" cy="5704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" name="직사각형 24">
            <a:extLst>
              <a:ext uri="{FF2B5EF4-FFF2-40B4-BE49-F238E27FC236}">
                <a16:creationId xmlns:a16="http://schemas.microsoft.com/office/drawing/2014/main" id="{24957577-FC75-3724-A419-2240733F8559}"/>
              </a:ext>
            </a:extLst>
          </p:cNvPr>
          <p:cNvSpPr/>
          <p:nvPr/>
        </p:nvSpPr>
        <p:spPr>
          <a:xfrm>
            <a:off x="3799881" y="6291799"/>
            <a:ext cx="699418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58E333D-1248-312E-D405-02970C0009D3}"/>
              </a:ext>
            </a:extLst>
          </p:cNvPr>
          <p:cNvSpPr/>
          <p:nvPr/>
        </p:nvSpPr>
        <p:spPr>
          <a:xfrm>
            <a:off x="979764" y="4986812"/>
            <a:ext cx="1657505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요청 시 유의사항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0029A696-E853-70FE-4FCC-2BDA2B81F070}"/>
              </a:ext>
            </a:extLst>
          </p:cNvPr>
          <p:cNvSpPr/>
          <p:nvPr/>
        </p:nvSpPr>
        <p:spPr>
          <a:xfrm>
            <a:off x="2481601" y="6291799"/>
            <a:ext cx="1251509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요청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 </a:t>
            </a:r>
            <a:endParaRPr lang="ko-KR" altLang="en-US" sz="9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D0DC9458-74D1-CE34-2585-DFFCC06B42E2}"/>
              </a:ext>
            </a:extLst>
          </p:cNvPr>
          <p:cNvSpPr/>
          <p:nvPr/>
        </p:nvSpPr>
        <p:spPr>
          <a:xfrm>
            <a:off x="4739739" y="5119449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78AE441-AA5E-1FF7-115D-23E24EF35C99}"/>
              </a:ext>
            </a:extLst>
          </p:cNvPr>
          <p:cNvSpPr txBox="1"/>
          <p:nvPr/>
        </p:nvSpPr>
        <p:spPr>
          <a:xfrm>
            <a:off x="8049344" y="546348"/>
            <a:ext cx="1856656" cy="21513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발주계획에서 설정된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kumimoji="0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</a:t>
            </a:r>
            <a:r>
              <a:rPr kumimoji="0"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kumimoji="0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예비가격 결정자</a:t>
            </a:r>
            <a:r>
              <a:rPr kumimoji="0"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kumimoji="0"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표시</a:t>
            </a:r>
            <a:endParaRPr kumimoji="0" lang="en-US" altLang="ko-KR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완료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확인 상태에서 이 화면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팝업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을 호출하는 경우에는 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저장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요청 버튼이 노출되지 않음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또한 위의 입력 컨트롤 대신 작성된 내용으로 보임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**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별도로 설계하지 않겠습니다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**</a:t>
            </a: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요청 시 그룹웨어에게 정보를 전송해야 함</a:t>
            </a:r>
            <a:b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참고 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03. 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예비가격 등록 요청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r>
              <a:rPr lang="en-US" altLang="ko-KR" sz="800" u="sng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png</a:t>
            </a:r>
            <a:endParaRPr lang="en-US" altLang="ko-KR" sz="800" u="sng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74054ADD-F464-BD53-9FD1-8F16F1CA66B2}"/>
              </a:ext>
            </a:extLst>
          </p:cNvPr>
          <p:cNvSpPr/>
          <p:nvPr/>
        </p:nvSpPr>
        <p:spPr>
          <a:xfrm>
            <a:off x="1726303" y="3267634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70143864-C5BD-6786-A4B1-8CC46DED9F7A}"/>
              </a:ext>
            </a:extLst>
          </p:cNvPr>
          <p:cNvGraphicFramePr>
            <a:graphicFrameLocks noGrp="1"/>
          </p:cNvGraphicFramePr>
          <p:nvPr/>
        </p:nvGraphicFramePr>
        <p:xfrm>
          <a:off x="302257" y="1130901"/>
          <a:ext cx="7317477" cy="675840"/>
        </p:xfrm>
        <a:graphic>
          <a:graphicData uri="http://schemas.openxmlformats.org/drawingml/2006/table">
            <a:tbl>
              <a:tblPr firstRow="1" bandRow="1"/>
              <a:tblGrid>
                <a:gridCol w="767942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699765">
                  <a:extLst>
                    <a:ext uri="{9D8B030D-6E8A-4147-A177-3AD203B41FA5}">
                      <a16:colId xmlns:a16="http://schemas.microsoft.com/office/drawing/2014/main" val="2016786680"/>
                    </a:ext>
                  </a:extLst>
                </a:gridCol>
                <a:gridCol w="480967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069185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640656">
                  <a:extLst>
                    <a:ext uri="{9D8B030D-6E8A-4147-A177-3AD203B41FA5}">
                      <a16:colId xmlns:a16="http://schemas.microsoft.com/office/drawing/2014/main" val="3053194834"/>
                    </a:ext>
                  </a:extLst>
                </a:gridCol>
                <a:gridCol w="290707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744159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1471902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576097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576097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등록일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본공고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작성중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2026.07.22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단계 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규격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가격 동시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cxnSp>
        <p:nvCxnSpPr>
          <p:cNvPr id="9" name="연결선: 꺾임 8">
            <a:extLst>
              <a:ext uri="{FF2B5EF4-FFF2-40B4-BE49-F238E27FC236}">
                <a16:creationId xmlns:a16="http://schemas.microsoft.com/office/drawing/2014/main" id="{8533BCF5-377D-6D77-D870-A2A536BB98EE}"/>
              </a:ext>
            </a:extLst>
          </p:cNvPr>
          <p:cNvCxnSpPr>
            <a:cxnSpLocks/>
            <a:stCxn id="45" idx="2"/>
            <a:endCxn id="17" idx="3"/>
          </p:cNvCxnSpPr>
          <p:nvPr/>
        </p:nvCxnSpPr>
        <p:spPr>
          <a:xfrm rot="5400000">
            <a:off x="5295751" y="4831361"/>
            <a:ext cx="317617" cy="1651189"/>
          </a:xfrm>
          <a:prstGeom prst="bentConnector2">
            <a:avLst/>
          </a:prstGeom>
          <a:ln>
            <a:solidFill>
              <a:srgbClr val="C00000"/>
            </a:solidFill>
            <a:prstDash val="sysDash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0397078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79AD95-365D-5D42-25B3-1C447C366B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B0E615FB-4A44-255F-895A-C36F1A30C0CB}"/>
              </a:ext>
            </a:extLst>
          </p:cNvPr>
          <p:cNvSpPr/>
          <p:nvPr/>
        </p:nvSpPr>
        <p:spPr>
          <a:xfrm>
            <a:off x="164468" y="368660"/>
            <a:ext cx="7765639" cy="464451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904973E-9AD3-E40F-AFAC-123FB9FDC991}"/>
              </a:ext>
            </a:extLst>
          </p:cNvPr>
          <p:cNvSpPr/>
          <p:nvPr/>
        </p:nvSpPr>
        <p:spPr>
          <a:xfrm>
            <a:off x="7817540" y="376875"/>
            <a:ext cx="108012" cy="463565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2797870-EB84-AB76-CA5A-9965B31AA7BB}"/>
              </a:ext>
            </a:extLst>
          </p:cNvPr>
          <p:cNvSpPr/>
          <p:nvPr/>
        </p:nvSpPr>
        <p:spPr>
          <a:xfrm>
            <a:off x="7817540" y="1946644"/>
            <a:ext cx="108012" cy="1800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33E033AD-7737-9EE6-8CCF-7C322C732FFE}"/>
              </a:ext>
            </a:extLst>
          </p:cNvPr>
          <p:cNvSpPr/>
          <p:nvPr/>
        </p:nvSpPr>
        <p:spPr>
          <a:xfrm>
            <a:off x="164468" y="368660"/>
            <a:ext cx="7761084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예정가격 등록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FAD478F5-DBC1-BA19-E12C-4F717FEE7482}"/>
              </a:ext>
            </a:extLst>
          </p:cNvPr>
          <p:cNvSpPr/>
          <p:nvPr/>
        </p:nvSpPr>
        <p:spPr>
          <a:xfrm>
            <a:off x="7662176" y="368660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915391A4-68A8-5E77-2D9D-46E18BDE8E70}"/>
              </a:ext>
            </a:extLst>
          </p:cNvPr>
          <p:cNvSpPr/>
          <p:nvPr/>
        </p:nvSpPr>
        <p:spPr>
          <a:xfrm>
            <a:off x="332879" y="774485"/>
            <a:ext cx="912109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예정가격 등록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8E9ACD89-232B-55C1-6FA4-F9D4DF67506D}"/>
              </a:ext>
            </a:extLst>
          </p:cNvPr>
          <p:cNvGraphicFramePr>
            <a:graphicFrameLocks noGrp="1"/>
          </p:cNvGraphicFramePr>
          <p:nvPr/>
        </p:nvGraphicFramePr>
        <p:xfrm>
          <a:off x="324654" y="1869143"/>
          <a:ext cx="7337522" cy="135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99003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1133782">
                  <a:extLst>
                    <a:ext uri="{9D8B030D-6E8A-4147-A177-3AD203B41FA5}">
                      <a16:colId xmlns:a16="http://schemas.microsoft.com/office/drawing/2014/main" val="2264476566"/>
                    </a:ext>
                  </a:extLst>
                </a:gridCol>
                <a:gridCol w="1133782">
                  <a:extLst>
                    <a:ext uri="{9D8B030D-6E8A-4147-A177-3AD203B41FA5}">
                      <a16:colId xmlns:a16="http://schemas.microsoft.com/office/drawing/2014/main" val="1900745260"/>
                    </a:ext>
                  </a:extLst>
                </a:gridCol>
                <a:gridCol w="1122521">
                  <a:extLst>
                    <a:ext uri="{9D8B030D-6E8A-4147-A177-3AD203B41FA5}">
                      <a16:colId xmlns:a16="http://schemas.microsoft.com/office/drawing/2014/main" val="1854595363"/>
                    </a:ext>
                  </a:extLst>
                </a:gridCol>
                <a:gridCol w="2448434">
                  <a:extLst>
                    <a:ext uri="{9D8B030D-6E8A-4147-A177-3AD203B41FA5}">
                      <a16:colId xmlns:a16="http://schemas.microsoft.com/office/drawing/2014/main" val="7009178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구분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추정가액 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(A)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사정가액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(B)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증감액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(C=B-A)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비고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합계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공급가액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86,100,000</a:t>
                      </a: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86,100,000</a:t>
                      </a: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04864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부가세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8,610,000</a:t>
                      </a: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8,610,000</a:t>
                      </a: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02843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총계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94,710,000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94,710,000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특이사항이 없어서 사정가액의 변화가 없습니다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425343"/>
                  </a:ext>
                </a:extLst>
              </a:tr>
            </a:tbl>
          </a:graphicData>
        </a:graphic>
      </p:graphicFrame>
      <p:sp>
        <p:nvSpPr>
          <p:cNvPr id="42" name="TextBox 41">
            <a:extLst>
              <a:ext uri="{FF2B5EF4-FFF2-40B4-BE49-F238E27FC236}">
                <a16:creationId xmlns:a16="http://schemas.microsoft.com/office/drawing/2014/main" id="{5C040BC1-13E5-4BF6-81E8-7F13C5CC5F51}"/>
              </a:ext>
            </a:extLst>
          </p:cNvPr>
          <p:cNvSpPr txBox="1"/>
          <p:nvPr/>
        </p:nvSpPr>
        <p:spPr>
          <a:xfrm>
            <a:off x="749224" y="25608"/>
            <a:ext cx="354616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 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등록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설정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spc="-5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예비가 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예정가격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76E695B5-E341-5597-5359-FF8060FA6C4E}"/>
              </a:ext>
            </a:extLst>
          </p:cNvPr>
          <p:cNvSpPr/>
          <p:nvPr/>
        </p:nvSpPr>
        <p:spPr>
          <a:xfrm>
            <a:off x="6188507" y="4432440"/>
            <a:ext cx="729290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>
                <a:latin typeface="나눔고딕" panose="020D0604000000000000" pitchFamily="50" charset="-127"/>
                <a:ea typeface="나눔고딕" panose="020D0604000000000000" pitchFamily="50" charset="-127"/>
              </a:rPr>
              <a:t>저장</a:t>
            </a:r>
            <a:endParaRPr lang="ko-KR" altLang="en-US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53775DA-4B50-984C-D308-F18DCEE4B7D0}"/>
              </a:ext>
            </a:extLst>
          </p:cNvPr>
          <p:cNvSpPr/>
          <p:nvPr/>
        </p:nvSpPr>
        <p:spPr>
          <a:xfrm>
            <a:off x="6984572" y="4432440"/>
            <a:ext cx="699418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graphicFrame>
        <p:nvGraphicFramePr>
          <p:cNvPr id="56" name="표 55">
            <a:extLst>
              <a:ext uri="{FF2B5EF4-FFF2-40B4-BE49-F238E27FC236}">
                <a16:creationId xmlns:a16="http://schemas.microsoft.com/office/drawing/2014/main" id="{2371B5D5-548D-09A3-FFF2-C6A52ADCEF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2097197"/>
              </p:ext>
            </p:extLst>
          </p:nvPr>
        </p:nvGraphicFramePr>
        <p:xfrm>
          <a:off x="344489" y="3303736"/>
          <a:ext cx="7308811" cy="1013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76163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5832648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사정금액 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-2%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92,815,800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7438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사정금액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-4%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90,921,600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30657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예정가격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                           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원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(VAT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포함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5074315"/>
                  </a:ext>
                </a:extLst>
              </a:tr>
            </a:tbl>
          </a:graphicData>
        </a:graphic>
      </p:graphicFrame>
      <p:sp>
        <p:nvSpPr>
          <p:cNvPr id="62" name="직사각형 61">
            <a:extLst>
              <a:ext uri="{FF2B5EF4-FFF2-40B4-BE49-F238E27FC236}">
                <a16:creationId xmlns:a16="http://schemas.microsoft.com/office/drawing/2014/main" id="{6370FCC9-1613-0CA2-551B-8AEFD7FCE13E}"/>
              </a:ext>
            </a:extLst>
          </p:cNvPr>
          <p:cNvSpPr/>
          <p:nvPr/>
        </p:nvSpPr>
        <p:spPr>
          <a:xfrm>
            <a:off x="1885888" y="4037284"/>
            <a:ext cx="78086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marL="0" marR="0" lvl="0" indent="0" algn="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91,800,000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A561CBF2-739A-095E-6985-E104AC7096F7}"/>
              </a:ext>
            </a:extLst>
          </p:cNvPr>
          <p:cNvSpPr/>
          <p:nvPr/>
        </p:nvSpPr>
        <p:spPr>
          <a:xfrm>
            <a:off x="6047108" y="4292397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B26F179-1E48-2462-D3CC-78736DB8BD54}"/>
              </a:ext>
            </a:extLst>
          </p:cNvPr>
          <p:cNvSpPr txBox="1"/>
          <p:nvPr/>
        </p:nvSpPr>
        <p:spPr>
          <a:xfrm>
            <a:off x="8049344" y="584684"/>
            <a:ext cx="1856656" cy="22344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발주계획에서 설정된 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kumimoji="0"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</a:t>
            </a:r>
            <a:r>
              <a:rPr kumimoji="0"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kumimoji="0"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예비가격 결정자</a:t>
            </a:r>
            <a:r>
              <a:rPr kumimoji="0"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kumimoji="0"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만 등록 가능</a:t>
            </a:r>
            <a:br>
              <a:rPr kumimoji="0"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kumimoji="0"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kumimoji="0"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</a:t>
            </a:r>
            <a:r>
              <a:rPr kumimoji="0"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kumimoji="0"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예비가격 결정자</a:t>
            </a:r>
            <a:r>
              <a:rPr kumimoji="0"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kumimoji="0"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에게는 공통관리의 메뉴별 권한을 부여해야 하며 </a:t>
            </a:r>
            <a:r>
              <a:rPr kumimoji="0"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kumimoji="0"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시스템 권한 부여</a:t>
            </a:r>
            <a:r>
              <a:rPr kumimoji="0"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kumimoji="0"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도 해야 함</a:t>
            </a:r>
            <a:endParaRPr lang="en-US" altLang="ko-KR" sz="800" u="sng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완료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확인 상태에서 이 화면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팝업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을 호출하는 경우에는 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저장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요청 버튼이 노출되지 않음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또한 위의 입력 컨트롤 대신 작성된 내용으로 보임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**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별도로 설계하지 않겠습니다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**</a:t>
            </a: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C0CCF830-796E-A372-8C43-94B40493915E}"/>
              </a:ext>
            </a:extLst>
          </p:cNvPr>
          <p:cNvSpPr/>
          <p:nvPr/>
        </p:nvSpPr>
        <p:spPr>
          <a:xfrm>
            <a:off x="1759869" y="3929272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BEDF5174-D965-0880-D281-116B63C0A6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4534877"/>
              </p:ext>
            </p:extLst>
          </p:nvPr>
        </p:nvGraphicFramePr>
        <p:xfrm>
          <a:off x="335823" y="1088740"/>
          <a:ext cx="7317477" cy="675840"/>
        </p:xfrm>
        <a:graphic>
          <a:graphicData uri="http://schemas.openxmlformats.org/drawingml/2006/table">
            <a:tbl>
              <a:tblPr firstRow="1" bandRow="1"/>
              <a:tblGrid>
                <a:gridCol w="767942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699765">
                  <a:extLst>
                    <a:ext uri="{9D8B030D-6E8A-4147-A177-3AD203B41FA5}">
                      <a16:colId xmlns:a16="http://schemas.microsoft.com/office/drawing/2014/main" val="2016786680"/>
                    </a:ext>
                  </a:extLst>
                </a:gridCol>
                <a:gridCol w="480967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069185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640656">
                  <a:extLst>
                    <a:ext uri="{9D8B030D-6E8A-4147-A177-3AD203B41FA5}">
                      <a16:colId xmlns:a16="http://schemas.microsoft.com/office/drawing/2014/main" val="3053194834"/>
                    </a:ext>
                  </a:extLst>
                </a:gridCol>
                <a:gridCol w="290707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744159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1471902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576097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576097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등록일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본공고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작성중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2026.07.22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단계 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규격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가격 동시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9878033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56AEFB-0697-CFB1-1154-E7D003225E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4A519133-E61E-B3FC-EA3F-191241C2CD56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A47B6C8-A14A-241F-077F-298C80524B3C}"/>
              </a:ext>
            </a:extLst>
          </p:cNvPr>
          <p:cNvSpPr txBox="1"/>
          <p:nvPr/>
        </p:nvSpPr>
        <p:spPr>
          <a:xfrm>
            <a:off x="749224" y="25608"/>
            <a:ext cx="295144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설정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참여 서류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E4CEAC3-7F42-496B-04B9-179FD0311D11}"/>
              </a:ext>
            </a:extLst>
          </p:cNvPr>
          <p:cNvSpPr txBox="1"/>
          <p:nvPr/>
        </p:nvSpPr>
        <p:spPr>
          <a:xfrm>
            <a:off x="8049344" y="584684"/>
            <a:ext cx="1856656" cy="19913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시 협력업체가 첨부해야 하는 서류 목록 관리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기준정보 관리 메뉴에서 설정한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공통 서류 관리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참여 서류’ 항목만 불러와서 한 번에 완성하고 조정할 수 있음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뒤 페이지 참고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수동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개별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으로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참여 서류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추가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뒤 페이지 참고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0C4E8927-9EA3-126D-6395-BE30C1BB6216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E5533A44-0DF3-A768-8DB4-72FEC9837384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9E985A8B-2202-5662-41D7-335E679B7034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45231F3-C803-3CA1-8D99-756BF41C03CE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41FE9EC4-8DBE-6D03-C571-97CA81504598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2322E2BE-9EAF-F847-EE78-19D9ACA38F5A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8" name="Picture 1">
            <a:extLst>
              <a:ext uri="{FF2B5EF4-FFF2-40B4-BE49-F238E27FC236}">
                <a16:creationId xmlns:a16="http://schemas.microsoft.com/office/drawing/2014/main" id="{5D3AFB70-ACC4-41AC-F47C-C827EEF304A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grpSp>
        <p:nvGrpSpPr>
          <p:cNvPr id="38" name="그룹 37">
            <a:extLst>
              <a:ext uri="{FF2B5EF4-FFF2-40B4-BE49-F238E27FC236}">
                <a16:creationId xmlns:a16="http://schemas.microsoft.com/office/drawing/2014/main" id="{59FA7C66-E972-950E-1599-8F903F0266D2}"/>
              </a:ext>
            </a:extLst>
          </p:cNvPr>
          <p:cNvGrpSpPr/>
          <p:nvPr/>
        </p:nvGrpSpPr>
        <p:grpSpPr>
          <a:xfrm>
            <a:off x="164467" y="826923"/>
            <a:ext cx="7717012" cy="643315"/>
            <a:chOff x="252353" y="826923"/>
            <a:chExt cx="7629126" cy="643315"/>
          </a:xfrm>
        </p:grpSpPr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D174019C-CB7C-D81B-FBB3-BB9A3AE4A16F}"/>
                </a:ext>
              </a:extLst>
            </p:cNvPr>
            <p:cNvSpPr/>
            <p:nvPr/>
          </p:nvSpPr>
          <p:spPr>
            <a:xfrm>
              <a:off x="1352599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02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상세정보</a:t>
              </a:r>
              <a:endPara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43151E7E-63EC-D2A7-5970-3DF8AABED160}"/>
                </a:ext>
              </a:extLst>
            </p:cNvPr>
            <p:cNvSpPr/>
            <p:nvPr/>
          </p:nvSpPr>
          <p:spPr>
            <a:xfrm>
              <a:off x="2452845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03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심사</a:t>
              </a:r>
              <a:r>
                <a:rPr lang="en-US" altLang="ko-KR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</a:t>
              </a: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평가 계획</a:t>
              </a:r>
            </a:p>
          </p:txBody>
        </p: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3667BCE9-B266-A468-FE3B-87DCF2CE5036}"/>
                </a:ext>
              </a:extLst>
            </p:cNvPr>
            <p:cNvSpPr/>
            <p:nvPr/>
          </p:nvSpPr>
          <p:spPr>
            <a:xfrm>
              <a:off x="3553091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04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b="1" spc="-5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예정가</a:t>
              </a:r>
              <a:r>
                <a:rPr lang="ko-KR" altLang="en-US" sz="800" b="1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</a:t>
              </a:r>
              <a:r>
                <a:rPr lang="en-US" altLang="ko-KR" sz="800" b="1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 </a:t>
              </a:r>
              <a:r>
                <a:rPr lang="ko-KR" altLang="en-US" sz="800" b="1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예비가</a:t>
              </a: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B7C85D71-5319-4353-D7AD-2C936C7E6FF7}"/>
                </a:ext>
              </a:extLst>
            </p:cNvPr>
            <p:cNvSpPr/>
            <p:nvPr/>
          </p:nvSpPr>
          <p:spPr>
            <a:xfrm>
              <a:off x="5753583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06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최종 점검</a:t>
              </a:r>
              <a:endPara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6C942E48-EAF2-F628-004B-EE7A4AF382D4}"/>
                </a:ext>
              </a:extLst>
            </p:cNvPr>
            <p:cNvSpPr/>
            <p:nvPr/>
          </p:nvSpPr>
          <p:spPr>
            <a:xfrm>
              <a:off x="6853832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07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등록 완료</a:t>
              </a:r>
              <a:endPara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D9E995C9-91A7-71FC-2534-E9FDF03F5A38}"/>
                </a:ext>
              </a:extLst>
            </p:cNvPr>
            <p:cNvSpPr/>
            <p:nvPr/>
          </p:nvSpPr>
          <p:spPr>
            <a:xfrm>
              <a:off x="4653337" y="826923"/>
              <a:ext cx="1027647" cy="643315"/>
            </a:xfrm>
            <a:prstGeom prst="rect">
              <a:avLst/>
            </a:prstGeom>
            <a:solidFill>
              <a:srgbClr val="FFC000">
                <a:alpha val="69804"/>
              </a:srgb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72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05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 참여 서류</a:t>
              </a:r>
            </a:p>
          </p:txBody>
        </p:sp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BBC893FB-AC33-D1AC-B2D9-2EF69D93391D}"/>
                </a:ext>
              </a:extLst>
            </p:cNvPr>
            <p:cNvSpPr/>
            <p:nvPr/>
          </p:nvSpPr>
          <p:spPr>
            <a:xfrm>
              <a:off x="252353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01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발주계획 정보 확인</a:t>
              </a:r>
              <a:endPara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82A60FF1-8C64-07EA-3391-C8F5CC818A08}"/>
              </a:ext>
            </a:extLst>
          </p:cNvPr>
          <p:cNvSpPr/>
          <p:nvPr/>
        </p:nvSpPr>
        <p:spPr>
          <a:xfrm>
            <a:off x="183392" y="2331238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참여 서류  </a:t>
            </a:r>
            <a:r>
              <a:rPr lang="ko-KR" altLang="en-US" sz="9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입찰 시 협력업체가 첨부해야 하는 서류 목록 관리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B0753DEB-4D06-0461-2E8F-B753D39FD9DF}"/>
              </a:ext>
            </a:extLst>
          </p:cNvPr>
          <p:cNvSpPr txBox="1"/>
          <p:nvPr/>
        </p:nvSpPr>
        <p:spPr>
          <a:xfrm>
            <a:off x="164468" y="2603572"/>
            <a:ext cx="3053340" cy="230832"/>
          </a:xfrm>
          <a:prstGeom prst="rect">
            <a:avLst/>
          </a:prstGeom>
          <a:noFill/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등록된 입찰 참여 서류 </a:t>
            </a:r>
            <a:r>
              <a:rPr lang="en-US" altLang="ko-KR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총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건</a:t>
            </a:r>
          </a:p>
        </p:txBody>
      </p:sp>
      <p:graphicFrame>
        <p:nvGraphicFramePr>
          <p:cNvPr id="62" name="표 61">
            <a:extLst>
              <a:ext uri="{FF2B5EF4-FFF2-40B4-BE49-F238E27FC236}">
                <a16:creationId xmlns:a16="http://schemas.microsoft.com/office/drawing/2014/main" id="{0CEBFA9B-C1B3-B8CE-67AF-C2D899F5BB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8129291"/>
              </p:ext>
            </p:extLst>
          </p:nvPr>
        </p:nvGraphicFramePr>
        <p:xfrm>
          <a:off x="171331" y="2886660"/>
          <a:ext cx="7710149" cy="2027520"/>
        </p:xfrm>
        <a:graphic>
          <a:graphicData uri="http://schemas.openxmlformats.org/drawingml/2006/table">
            <a:tbl>
              <a:tblPr firstRow="1" bandRow="1"/>
              <a:tblGrid>
                <a:gridCol w="293404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1609608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4498837">
                  <a:extLst>
                    <a:ext uri="{9D8B030D-6E8A-4147-A177-3AD203B41FA5}">
                      <a16:colId xmlns:a16="http://schemas.microsoft.com/office/drawing/2014/main" val="916893631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3071536691"/>
                    </a:ext>
                  </a:extLst>
                </a:gridCol>
                <a:gridCol w="588220">
                  <a:extLst>
                    <a:ext uri="{9D8B030D-6E8A-4147-A177-3AD203B41FA5}">
                      <a16:colId xmlns:a16="http://schemas.microsoft.com/office/drawing/2014/main" val="187472664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No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참여 서류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설명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순서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삭제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입찰참가신청서 </a:t>
                      </a: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날인본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입찰참가신청서는 반드시 날인이 되어 있어야 합니다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. 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날인이 빠진 경우 미입찰로 처리됩니다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.)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▼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신용평가등급 확인서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신용평가등급 확인서는 반드시 유효기간 내에 있어야 합니다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. 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▲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 </a:t>
                      </a: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▼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법인인감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증명서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제출되는 법인인감증명서는 유효기간 내에 있어야 합니다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.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▲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 </a:t>
                      </a: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▼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9541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제안서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제안서를 첨부해주세요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. 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되도록 하나의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PDF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파일로 합쳐서 첨부해주세요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.)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▲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 </a:t>
                      </a:r>
                      <a:r>
                        <a:rPr kumimoji="0" lang="ko-KR" altLang="en-US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▼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64464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기타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-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▲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8093012"/>
                  </a:ext>
                </a:extLst>
              </a:tr>
            </a:tbl>
          </a:graphicData>
        </a:graphic>
      </p:graphicFrame>
      <p:sp>
        <p:nvSpPr>
          <p:cNvPr id="63" name="직사각형 62">
            <a:extLst>
              <a:ext uri="{FF2B5EF4-FFF2-40B4-BE49-F238E27FC236}">
                <a16:creationId xmlns:a16="http://schemas.microsoft.com/office/drawing/2014/main" id="{CB904387-E16B-635B-080B-80A19996552D}"/>
              </a:ext>
            </a:extLst>
          </p:cNvPr>
          <p:cNvSpPr/>
          <p:nvPr/>
        </p:nvSpPr>
        <p:spPr>
          <a:xfrm>
            <a:off x="7352592" y="3290000"/>
            <a:ext cx="458854" cy="2154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삭제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D7F22EE3-759A-99C3-2A17-8BE427970A18}"/>
              </a:ext>
            </a:extLst>
          </p:cNvPr>
          <p:cNvSpPr/>
          <p:nvPr/>
        </p:nvSpPr>
        <p:spPr>
          <a:xfrm>
            <a:off x="7352592" y="3626458"/>
            <a:ext cx="458854" cy="2154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삭제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296902F6-2A26-BE03-7AB1-9C1489DAC8FC}"/>
              </a:ext>
            </a:extLst>
          </p:cNvPr>
          <p:cNvSpPr/>
          <p:nvPr/>
        </p:nvSpPr>
        <p:spPr>
          <a:xfrm>
            <a:off x="7169986" y="4996423"/>
            <a:ext cx="699418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>
                <a:latin typeface="나눔고딕" panose="020D0604000000000000" pitchFamily="50" charset="-127"/>
                <a:ea typeface="나눔고딕" panose="020D0604000000000000" pitchFamily="50" charset="-127"/>
              </a:rPr>
              <a:t>저장</a:t>
            </a:r>
            <a:endParaRPr lang="ko-KR" altLang="en-US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05FA5B82-02BE-D598-A2F0-FD342BF4848B}"/>
              </a:ext>
            </a:extLst>
          </p:cNvPr>
          <p:cNvSpPr/>
          <p:nvPr/>
        </p:nvSpPr>
        <p:spPr>
          <a:xfrm>
            <a:off x="5961112" y="4996423"/>
            <a:ext cx="1142163" cy="28803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2" charset="-127"/>
                <a:ea typeface="나눔고딕" pitchFamily="2" charset="-127"/>
              </a:rPr>
              <a:t>입찰 참여 서류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추가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9D1D4E9F-7ABE-CF2F-BA76-54650BB6C5EC}"/>
              </a:ext>
            </a:extLst>
          </p:cNvPr>
          <p:cNvSpPr/>
          <p:nvPr/>
        </p:nvSpPr>
        <p:spPr>
          <a:xfrm>
            <a:off x="5199369" y="4996423"/>
            <a:ext cx="699002" cy="28803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순서 적용</a:t>
            </a: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D0DD7369-42A6-D25A-07EB-4668BA3D179E}"/>
              </a:ext>
            </a:extLst>
          </p:cNvPr>
          <p:cNvSpPr/>
          <p:nvPr/>
        </p:nvSpPr>
        <p:spPr>
          <a:xfrm>
            <a:off x="7352592" y="3962916"/>
            <a:ext cx="458854" cy="2154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삭제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65F12147-BA61-5222-F62E-8D9F93DC8766}"/>
              </a:ext>
            </a:extLst>
          </p:cNvPr>
          <p:cNvSpPr/>
          <p:nvPr/>
        </p:nvSpPr>
        <p:spPr>
          <a:xfrm>
            <a:off x="7352592" y="4299374"/>
            <a:ext cx="458854" cy="2154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삭제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3F24778F-BF8F-4A1A-A2A5-6D5CCFB62863}"/>
              </a:ext>
            </a:extLst>
          </p:cNvPr>
          <p:cNvSpPr/>
          <p:nvPr/>
        </p:nvSpPr>
        <p:spPr>
          <a:xfrm>
            <a:off x="7352592" y="4635832"/>
            <a:ext cx="458854" cy="2154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삭제</a:t>
            </a: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B46C044A-5DBD-C8E1-0C97-41A5BE0A8028}"/>
              </a:ext>
            </a:extLst>
          </p:cNvPr>
          <p:cNvSpPr/>
          <p:nvPr/>
        </p:nvSpPr>
        <p:spPr>
          <a:xfrm>
            <a:off x="164467" y="4996423"/>
            <a:ext cx="699418" cy="288032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목록</a:t>
            </a: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6CE3CD53-178B-64DC-85C0-05DC0D44703F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6B0AC301-D992-DCAE-374E-240B022A6998}"/>
              </a:ext>
            </a:extLst>
          </p:cNvPr>
          <p:cNvSpPr/>
          <p:nvPr/>
        </p:nvSpPr>
        <p:spPr>
          <a:xfrm>
            <a:off x="3429793" y="4996423"/>
            <a:ext cx="1702865" cy="288032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공통 입찰 참여 서류 불러오기</a:t>
            </a: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49B6A613-1170-A2AB-DBAD-CD4B22EDE998}"/>
              </a:ext>
            </a:extLst>
          </p:cNvPr>
          <p:cNvSpPr/>
          <p:nvPr/>
        </p:nvSpPr>
        <p:spPr>
          <a:xfrm>
            <a:off x="75380" y="2795775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2ADAAAA9-3B48-4540-487A-BB4693FFB88C}"/>
              </a:ext>
            </a:extLst>
          </p:cNvPr>
          <p:cNvGraphicFramePr>
            <a:graphicFrameLocks noGrp="1"/>
          </p:cNvGraphicFramePr>
          <p:nvPr/>
        </p:nvGraphicFramePr>
        <p:xfrm>
          <a:off x="164467" y="1556402"/>
          <a:ext cx="7713521" cy="675840"/>
        </p:xfrm>
        <a:graphic>
          <a:graphicData uri="http://schemas.openxmlformats.org/drawingml/2006/table">
            <a:tbl>
              <a:tblPr firstRow="1" bandRow="1"/>
              <a:tblGrid>
                <a:gridCol w="765574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697607">
                  <a:extLst>
                    <a:ext uri="{9D8B030D-6E8A-4147-A177-3AD203B41FA5}">
                      <a16:colId xmlns:a16="http://schemas.microsoft.com/office/drawing/2014/main" val="2016786680"/>
                    </a:ext>
                  </a:extLst>
                </a:gridCol>
                <a:gridCol w="479484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786645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632106">
                  <a:extLst>
                    <a:ext uri="{9D8B030D-6E8A-4147-A177-3AD203B41FA5}">
                      <a16:colId xmlns:a16="http://schemas.microsoft.com/office/drawing/2014/main" val="3053194834"/>
                    </a:ext>
                  </a:extLst>
                </a:gridCol>
                <a:gridCol w="289811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915731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997923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574320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574320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등록일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본공고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작성중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 중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2026.07.22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3" name="타원 2">
            <a:extLst>
              <a:ext uri="{FF2B5EF4-FFF2-40B4-BE49-F238E27FC236}">
                <a16:creationId xmlns:a16="http://schemas.microsoft.com/office/drawing/2014/main" id="{6B777903-D188-43C7-2829-F91F7FADA47B}"/>
              </a:ext>
            </a:extLst>
          </p:cNvPr>
          <p:cNvSpPr/>
          <p:nvPr/>
        </p:nvSpPr>
        <p:spPr>
          <a:xfrm>
            <a:off x="3304254" y="4883293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C18F42BD-684B-2A5F-C02D-E0199A46FEC2}"/>
              </a:ext>
            </a:extLst>
          </p:cNvPr>
          <p:cNvSpPr/>
          <p:nvPr/>
        </p:nvSpPr>
        <p:spPr>
          <a:xfrm>
            <a:off x="5852635" y="4883293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6992F64D-8495-F960-D7D8-F6DA19DEB2EE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71851153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A50AED-90CE-1A59-3349-A316CD69F1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5F6EB404-2B90-6B6A-EA0D-88D29C94511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F2B6017-6E7F-2897-F0A2-0D70EB0221E1}"/>
              </a:ext>
            </a:extLst>
          </p:cNvPr>
          <p:cNvSpPr txBox="1"/>
          <p:nvPr/>
        </p:nvSpPr>
        <p:spPr>
          <a:xfrm>
            <a:off x="749224" y="25608"/>
            <a:ext cx="441980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설정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참여 서류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공통 입찰 참여 서류 불러오기 등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FD63556-9FBA-96A8-90D3-7B4E57D5C79D}"/>
              </a:ext>
            </a:extLst>
          </p:cNvPr>
          <p:cNvSpPr txBox="1"/>
          <p:nvPr/>
        </p:nvSpPr>
        <p:spPr>
          <a:xfrm>
            <a:off x="8049344" y="584684"/>
            <a:ext cx="1856656" cy="11141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기준정보 관리 메뉴에서 설정한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공통 서류 관리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참여 서류’ 항목만 불러와서 한 번에 완성하고 조정할 수 있음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수동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개별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으로 입찰 참여 서류 추가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92884DAB-78C5-B9D6-5C23-945FC6CF90E0}"/>
              </a:ext>
            </a:extLst>
          </p:cNvPr>
          <p:cNvSpPr/>
          <p:nvPr/>
        </p:nvSpPr>
        <p:spPr>
          <a:xfrm>
            <a:off x="164468" y="3971913"/>
            <a:ext cx="4912518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입찰 참여 서류 추가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7E8C8AEE-5BDF-08AE-47DB-C50B95BCB411}"/>
              </a:ext>
            </a:extLst>
          </p:cNvPr>
          <p:cNvSpPr/>
          <p:nvPr/>
        </p:nvSpPr>
        <p:spPr>
          <a:xfrm>
            <a:off x="164468" y="4244826"/>
            <a:ext cx="4912518" cy="158461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A3174FE6-68E9-2352-6530-BAB6D278431B}"/>
              </a:ext>
            </a:extLst>
          </p:cNvPr>
          <p:cNvSpPr/>
          <p:nvPr/>
        </p:nvSpPr>
        <p:spPr>
          <a:xfrm>
            <a:off x="4786699" y="3971913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22BA1C90-ECC6-5EA3-C1C9-9B8E0FE1D787}"/>
              </a:ext>
            </a:extLst>
          </p:cNvPr>
          <p:cNvSpPr/>
          <p:nvPr/>
        </p:nvSpPr>
        <p:spPr>
          <a:xfrm>
            <a:off x="3008784" y="5419199"/>
            <a:ext cx="1206407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입찰 참여 서류 추가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0CE5A961-676E-87C5-61A5-55E7E77F307A}"/>
              </a:ext>
            </a:extLst>
          </p:cNvPr>
          <p:cNvSpPr/>
          <p:nvPr/>
        </p:nvSpPr>
        <p:spPr>
          <a:xfrm>
            <a:off x="4274932" y="5419199"/>
            <a:ext cx="699418" cy="28803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10CEA2D1-5982-12F2-C53A-F8D947753140}"/>
              </a:ext>
            </a:extLst>
          </p:cNvPr>
          <p:cNvSpPr/>
          <p:nvPr/>
        </p:nvSpPr>
        <p:spPr>
          <a:xfrm>
            <a:off x="295688" y="4341214"/>
            <a:ext cx="1258358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참여 서류 추가</a:t>
            </a:r>
          </a:p>
        </p:txBody>
      </p:sp>
      <p:graphicFrame>
        <p:nvGraphicFramePr>
          <p:cNvPr id="74" name="표 73">
            <a:extLst>
              <a:ext uri="{FF2B5EF4-FFF2-40B4-BE49-F238E27FC236}">
                <a16:creationId xmlns:a16="http://schemas.microsoft.com/office/drawing/2014/main" id="{B867D6AE-7067-8CC7-4927-2B1C4F63FD52}"/>
              </a:ext>
            </a:extLst>
          </p:cNvPr>
          <p:cNvGraphicFramePr>
            <a:graphicFrameLocks noGrp="1"/>
          </p:cNvGraphicFramePr>
          <p:nvPr/>
        </p:nvGraphicFramePr>
        <p:xfrm>
          <a:off x="294651" y="4650072"/>
          <a:ext cx="4656853" cy="67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61639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3395214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indent="-7200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 참여 서류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설명</a:t>
                      </a:r>
                      <a:endParaRPr lang="en-US" altLang="ko-KR" sz="800" b="1" dirty="0">
                        <a:solidFill>
                          <a:srgbClr val="C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1752159"/>
                  </a:ext>
                </a:extLst>
              </a:tr>
            </a:tbl>
          </a:graphicData>
        </a:graphic>
      </p:graphicFrame>
      <p:sp>
        <p:nvSpPr>
          <p:cNvPr id="75" name="직사각형 74">
            <a:extLst>
              <a:ext uri="{FF2B5EF4-FFF2-40B4-BE49-F238E27FC236}">
                <a16:creationId xmlns:a16="http://schemas.microsoft.com/office/drawing/2014/main" id="{10265AB8-56AB-AD23-BDF8-4778583B7BAC}"/>
              </a:ext>
            </a:extLst>
          </p:cNvPr>
          <p:cNvSpPr/>
          <p:nvPr/>
        </p:nvSpPr>
        <p:spPr>
          <a:xfrm>
            <a:off x="1636684" y="4707307"/>
            <a:ext cx="3060340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en-US" altLang="ko-KR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자 이내로 간략히 작성해주세요</a:t>
            </a:r>
            <a:r>
              <a:rPr lang="en-US" altLang="ko-KR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2A229E3C-80CB-A81E-A5D2-FD33E22F60CA}"/>
              </a:ext>
            </a:extLst>
          </p:cNvPr>
          <p:cNvSpPr/>
          <p:nvPr/>
        </p:nvSpPr>
        <p:spPr>
          <a:xfrm>
            <a:off x="1636684" y="5037285"/>
            <a:ext cx="3060340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en-US" altLang="ko-KR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50</a:t>
            </a:r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자 이내로 간략히 작성해주세요</a:t>
            </a:r>
            <a:r>
              <a:rPr lang="en-US" altLang="ko-KR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225BEADB-9A29-2906-04E6-20E223771B30}"/>
              </a:ext>
            </a:extLst>
          </p:cNvPr>
          <p:cNvSpPr/>
          <p:nvPr/>
        </p:nvSpPr>
        <p:spPr>
          <a:xfrm>
            <a:off x="164468" y="449793"/>
            <a:ext cx="4912518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공통 입찰 참여 서류 불러오기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9591E674-2698-C3EF-84D6-672CFD34C9DF}"/>
              </a:ext>
            </a:extLst>
          </p:cNvPr>
          <p:cNvSpPr/>
          <p:nvPr/>
        </p:nvSpPr>
        <p:spPr>
          <a:xfrm>
            <a:off x="164468" y="722706"/>
            <a:ext cx="4912518" cy="308995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C94390A-2EED-318A-D3B2-3949B7AF4C50}"/>
              </a:ext>
            </a:extLst>
          </p:cNvPr>
          <p:cNvSpPr/>
          <p:nvPr/>
        </p:nvSpPr>
        <p:spPr>
          <a:xfrm>
            <a:off x="4786699" y="449793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862F186A-1C92-8A89-CA69-11CC03227323}"/>
              </a:ext>
            </a:extLst>
          </p:cNvPr>
          <p:cNvGraphicFramePr>
            <a:graphicFrameLocks noGrp="1"/>
          </p:cNvGraphicFramePr>
          <p:nvPr/>
        </p:nvGraphicFramePr>
        <p:xfrm>
          <a:off x="294652" y="1933100"/>
          <a:ext cx="4657490" cy="1351680"/>
        </p:xfrm>
        <a:graphic>
          <a:graphicData uri="http://schemas.openxmlformats.org/drawingml/2006/table">
            <a:tbl>
              <a:tblPr firstRow="1" bandRow="1"/>
              <a:tblGrid>
                <a:gridCol w="3160692">
                  <a:extLst>
                    <a:ext uri="{9D8B030D-6E8A-4147-A177-3AD203B41FA5}">
                      <a16:colId xmlns:a16="http://schemas.microsoft.com/office/drawing/2014/main" val="2348944443"/>
                    </a:ext>
                  </a:extLst>
                </a:gridCol>
                <a:gridCol w="669838">
                  <a:extLst>
                    <a:ext uri="{9D8B030D-6E8A-4147-A177-3AD203B41FA5}">
                      <a16:colId xmlns:a16="http://schemas.microsoft.com/office/drawing/2014/main" val="3081933007"/>
                    </a:ext>
                  </a:extLst>
                </a:gridCol>
                <a:gridCol w="826960">
                  <a:extLst>
                    <a:ext uri="{9D8B030D-6E8A-4147-A177-3AD203B41FA5}">
                      <a16:colId xmlns:a16="http://schemas.microsoft.com/office/drawing/2014/main" val="63484771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서류 명칭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서류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수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선택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1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1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공통</a:t>
                      </a:r>
                      <a:r>
                        <a:rPr lang="en-US" altLang="ko-KR" sz="800" b="1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1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 사업 기준</a:t>
                      </a:r>
                      <a:r>
                        <a:rPr lang="en-US" altLang="ko-KR" sz="800" b="1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 </a:t>
                      </a:r>
                      <a:r>
                        <a:rPr lang="ko-KR" altLang="en-US" sz="800" b="1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사업에 쓰이는 입찰 서류 목록</a:t>
                      </a:r>
                      <a:endParaRPr lang="en-US" altLang="ko-KR" sz="800" b="1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96AD1E2A-891C-8F35-8C1B-F349809E5391}"/>
              </a:ext>
            </a:extLst>
          </p:cNvPr>
          <p:cNvSpPr/>
          <p:nvPr/>
        </p:nvSpPr>
        <p:spPr>
          <a:xfrm>
            <a:off x="295688" y="820655"/>
            <a:ext cx="1830629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공통 입찰 참여 서류 불러오기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1F12D24-FF39-713D-A967-122F495F8766}"/>
              </a:ext>
            </a:extLst>
          </p:cNvPr>
          <p:cNvSpPr/>
          <p:nvPr/>
        </p:nvSpPr>
        <p:spPr>
          <a:xfrm>
            <a:off x="4270074" y="2330626"/>
            <a:ext cx="555412" cy="215441"/>
          </a:xfrm>
          <a:prstGeom prst="rect">
            <a:avLst/>
          </a:prstGeom>
          <a:solidFill>
            <a:srgbClr val="00B05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선택</a:t>
            </a:r>
            <a:endParaRPr lang="ko-KR" altLang="en-US" sz="8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2F8EA5FA-8ACE-6DAB-BAEB-719D1566C232}"/>
              </a:ext>
            </a:extLst>
          </p:cNvPr>
          <p:cNvGrpSpPr/>
          <p:nvPr/>
        </p:nvGrpSpPr>
        <p:grpSpPr>
          <a:xfrm>
            <a:off x="711628" y="3378067"/>
            <a:ext cx="4025354" cy="216024"/>
            <a:chOff x="2992062" y="4869160"/>
            <a:chExt cx="4025354" cy="216024"/>
          </a:xfrm>
        </p:grpSpPr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7546708E-5C4B-E4B9-1570-BC9C3DEC1EB9}"/>
                </a:ext>
              </a:extLst>
            </p:cNvPr>
            <p:cNvSpPr/>
            <p:nvPr/>
          </p:nvSpPr>
          <p:spPr>
            <a:xfrm>
              <a:off x="2992062" y="4869160"/>
              <a:ext cx="216000" cy="21602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◀</a:t>
              </a: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C81F2DB5-9664-8CCD-8D04-D0EA63CE45D2}"/>
                </a:ext>
              </a:extLst>
            </p:cNvPr>
            <p:cNvSpPr/>
            <p:nvPr/>
          </p:nvSpPr>
          <p:spPr>
            <a:xfrm>
              <a:off x="3285089" y="4869160"/>
              <a:ext cx="216000" cy="21602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&lt;</a:t>
              </a:r>
              <a:endPara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6CD05896-45BF-9D60-03B7-B336218DA8D9}"/>
                </a:ext>
              </a:extLst>
            </p:cNvPr>
            <p:cNvSpPr/>
            <p:nvPr/>
          </p:nvSpPr>
          <p:spPr>
            <a:xfrm>
              <a:off x="3578116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C80FB8CB-741F-7664-6A7B-BFA9A346F921}"/>
                </a:ext>
              </a:extLst>
            </p:cNvPr>
            <p:cNvSpPr/>
            <p:nvPr/>
          </p:nvSpPr>
          <p:spPr>
            <a:xfrm>
              <a:off x="3871143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C600D17A-019A-1EC6-CBB6-6BB801DF685C}"/>
                </a:ext>
              </a:extLst>
            </p:cNvPr>
            <p:cNvSpPr/>
            <p:nvPr/>
          </p:nvSpPr>
          <p:spPr>
            <a:xfrm>
              <a:off x="4164170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67829BAF-7A87-BA61-781B-F10CB95B7645}"/>
                </a:ext>
              </a:extLst>
            </p:cNvPr>
            <p:cNvSpPr/>
            <p:nvPr/>
          </p:nvSpPr>
          <p:spPr>
            <a:xfrm>
              <a:off x="4457197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76144D1-7247-4C3F-9F01-FBF01DAED2F5}"/>
                </a:ext>
              </a:extLst>
            </p:cNvPr>
            <p:cNvSpPr/>
            <p:nvPr/>
          </p:nvSpPr>
          <p:spPr>
            <a:xfrm>
              <a:off x="4750224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F7BEC63-2404-4B1F-143E-AB43BBDE52F8}"/>
                </a:ext>
              </a:extLst>
            </p:cNvPr>
            <p:cNvSpPr/>
            <p:nvPr/>
          </p:nvSpPr>
          <p:spPr>
            <a:xfrm>
              <a:off x="5043251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89A21694-0C39-A982-C570-3D2FD95134AB}"/>
                </a:ext>
              </a:extLst>
            </p:cNvPr>
            <p:cNvSpPr/>
            <p:nvPr/>
          </p:nvSpPr>
          <p:spPr>
            <a:xfrm>
              <a:off x="5336278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28C7BDCA-B618-F7B1-944E-182883D0217B}"/>
                </a:ext>
              </a:extLst>
            </p:cNvPr>
            <p:cNvSpPr/>
            <p:nvPr/>
          </p:nvSpPr>
          <p:spPr>
            <a:xfrm>
              <a:off x="5629305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4CBEF679-CFEE-E8A1-B920-732E197C1DC6}"/>
                </a:ext>
              </a:extLst>
            </p:cNvPr>
            <p:cNvSpPr/>
            <p:nvPr/>
          </p:nvSpPr>
          <p:spPr>
            <a:xfrm>
              <a:off x="5922332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4270E8E4-5674-2C02-9A97-25E05DCF873D}"/>
                </a:ext>
              </a:extLst>
            </p:cNvPr>
            <p:cNvSpPr/>
            <p:nvPr/>
          </p:nvSpPr>
          <p:spPr>
            <a:xfrm>
              <a:off x="6215359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1923BE28-1EB0-C1CD-823C-E89A45D9A70F}"/>
                </a:ext>
              </a:extLst>
            </p:cNvPr>
            <p:cNvSpPr/>
            <p:nvPr/>
          </p:nvSpPr>
          <p:spPr>
            <a:xfrm>
              <a:off x="6508386" y="4869160"/>
              <a:ext cx="216000" cy="21602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&gt;</a:t>
              </a:r>
              <a:endPara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81594486-5B75-484C-C9DF-5B14C55A152B}"/>
                </a:ext>
              </a:extLst>
            </p:cNvPr>
            <p:cNvSpPr/>
            <p:nvPr/>
          </p:nvSpPr>
          <p:spPr>
            <a:xfrm>
              <a:off x="6801416" y="4869160"/>
              <a:ext cx="216000" cy="21602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▶</a:t>
              </a:r>
            </a:p>
          </p:txBody>
        </p:sp>
      </p:grp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0228A49-84EA-771E-F601-AE9B3B3786B8}"/>
              </a:ext>
            </a:extLst>
          </p:cNvPr>
          <p:cNvSpPr/>
          <p:nvPr/>
        </p:nvSpPr>
        <p:spPr>
          <a:xfrm>
            <a:off x="288346" y="1151740"/>
            <a:ext cx="4656852" cy="38915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43C6AAB5-C974-A6FA-27D6-ADAD0DD59020}"/>
              </a:ext>
            </a:extLst>
          </p:cNvPr>
          <p:cNvSpPr/>
          <p:nvPr/>
        </p:nvSpPr>
        <p:spPr>
          <a:xfrm>
            <a:off x="1220656" y="1246197"/>
            <a:ext cx="2692932" cy="2080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검색어를 입력하세요</a:t>
            </a:r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800" b="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FCC39324-C2A8-8D5A-C4E8-EAD77DE86C15}"/>
              </a:ext>
            </a:extLst>
          </p:cNvPr>
          <p:cNvSpPr/>
          <p:nvPr/>
        </p:nvSpPr>
        <p:spPr>
          <a:xfrm>
            <a:off x="3965600" y="1246199"/>
            <a:ext cx="625198" cy="2154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검색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61F8EB69-69C4-B21D-CCC2-19886069EAE6}"/>
              </a:ext>
            </a:extLst>
          </p:cNvPr>
          <p:cNvSpPr txBox="1"/>
          <p:nvPr/>
        </p:nvSpPr>
        <p:spPr>
          <a:xfrm>
            <a:off x="359727" y="1253342"/>
            <a:ext cx="167893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72000" lvl="0" indent="-72000" algn="l">
              <a:buFont typeface="Arial" panose="020B0604020202020204" pitchFamily="34" charset="0"/>
              <a:buChar char="•"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서류 명칭 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:</a:t>
            </a:r>
            <a:endParaRPr lang="ko-KR" altLang="en-US" sz="8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550624E1-74F7-CF9B-C3C2-E202498C9AA7}"/>
              </a:ext>
            </a:extLst>
          </p:cNvPr>
          <p:cNvSpPr/>
          <p:nvPr/>
        </p:nvSpPr>
        <p:spPr>
          <a:xfrm>
            <a:off x="4270074" y="2667187"/>
            <a:ext cx="555412" cy="215441"/>
          </a:xfrm>
          <a:prstGeom prst="rect">
            <a:avLst/>
          </a:prstGeom>
          <a:solidFill>
            <a:srgbClr val="00B05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선택</a:t>
            </a:r>
            <a:endParaRPr lang="ko-KR" altLang="en-US" sz="8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5B0EA3D8-1256-B4D1-2ACC-2D3783A6DDB7}"/>
              </a:ext>
            </a:extLst>
          </p:cNvPr>
          <p:cNvSpPr/>
          <p:nvPr/>
        </p:nvSpPr>
        <p:spPr>
          <a:xfrm>
            <a:off x="4270074" y="3002766"/>
            <a:ext cx="555412" cy="215441"/>
          </a:xfrm>
          <a:prstGeom prst="rect">
            <a:avLst/>
          </a:prstGeom>
          <a:solidFill>
            <a:srgbClr val="00B05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선택</a:t>
            </a:r>
            <a:endParaRPr lang="ko-KR" altLang="en-US" sz="8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5E224CBD-8185-CDD5-BA12-AA4BB06F2774}"/>
              </a:ext>
            </a:extLst>
          </p:cNvPr>
          <p:cNvSpPr/>
          <p:nvPr/>
        </p:nvSpPr>
        <p:spPr>
          <a:xfrm>
            <a:off x="3915239" y="1648869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en-US" altLang="ko-KR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개씩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56C72EA1-5679-F78A-4F2C-7737C368106B}"/>
              </a:ext>
            </a:extLst>
          </p:cNvPr>
          <p:cNvSpPr/>
          <p:nvPr/>
        </p:nvSpPr>
        <p:spPr>
          <a:xfrm>
            <a:off x="4736701" y="1648869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72775549-99B8-1DC8-7A7A-91DF2E5086B5}"/>
              </a:ext>
            </a:extLst>
          </p:cNvPr>
          <p:cNvSpPr txBox="1"/>
          <p:nvPr/>
        </p:nvSpPr>
        <p:spPr>
          <a:xfrm>
            <a:off x="288346" y="1635351"/>
            <a:ext cx="2994059" cy="230832"/>
          </a:xfrm>
          <a:prstGeom prst="rect">
            <a:avLst/>
          </a:prstGeom>
          <a:noFill/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전체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55</a:t>
            </a:r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건 현재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en-US" altLang="ko-KR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/4</a:t>
            </a:r>
            <a:endParaRPr lang="ko-KR" altLang="en-US" sz="900" b="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8C320044-A4F9-4BAA-AF9F-5E24889C21F3}"/>
              </a:ext>
            </a:extLst>
          </p:cNvPr>
          <p:cNvSpPr/>
          <p:nvPr/>
        </p:nvSpPr>
        <p:spPr>
          <a:xfrm>
            <a:off x="130450" y="320272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AAFCD73D-B6A9-9C57-E05E-5ADC7B38B665}"/>
              </a:ext>
            </a:extLst>
          </p:cNvPr>
          <p:cNvSpPr/>
          <p:nvPr/>
        </p:nvSpPr>
        <p:spPr>
          <a:xfrm>
            <a:off x="130450" y="3837686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3205238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B4E377-5C0E-B4A7-387E-04CF3EFAE1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44796265-0C7E-D120-1EC3-D0826C184844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8843F5B9-6197-B021-C649-0C923743AC27}"/>
              </a:ext>
            </a:extLst>
          </p:cNvPr>
          <p:cNvSpPr txBox="1"/>
          <p:nvPr/>
        </p:nvSpPr>
        <p:spPr>
          <a:xfrm>
            <a:off x="749224" y="25608"/>
            <a:ext cx="273023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설정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최종 점검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54FEE1A-0314-77EE-F279-BDCF544F39DF}"/>
              </a:ext>
            </a:extLst>
          </p:cNvPr>
          <p:cNvSpPr txBox="1"/>
          <p:nvPr/>
        </p:nvSpPr>
        <p:spPr>
          <a:xfrm>
            <a:off x="8049344" y="584684"/>
            <a:ext cx="1856656" cy="23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sz="80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A64B43DF-F992-BF8D-05F8-64D34629FE01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F8EDB82E-123C-75B2-B2AC-419FCFAC802F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35A63EEA-0970-5458-89CD-DA044325ABD3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B4F2A7E-30AB-23CB-4C48-C686820B66F2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820D008-0C0B-C8E8-3A44-326C661B35AC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E9650EA1-4806-77BF-CDDA-EE090D36196A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8" name="Picture 1">
            <a:extLst>
              <a:ext uri="{FF2B5EF4-FFF2-40B4-BE49-F238E27FC236}">
                <a16:creationId xmlns:a16="http://schemas.microsoft.com/office/drawing/2014/main" id="{DD61B2C0-549F-B168-4ADF-57932DBBCF0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grpSp>
        <p:nvGrpSpPr>
          <p:cNvPr id="38" name="그룹 37">
            <a:extLst>
              <a:ext uri="{FF2B5EF4-FFF2-40B4-BE49-F238E27FC236}">
                <a16:creationId xmlns:a16="http://schemas.microsoft.com/office/drawing/2014/main" id="{6EA4E9BE-1B26-2B46-F7B6-FEA9674680B4}"/>
              </a:ext>
            </a:extLst>
          </p:cNvPr>
          <p:cNvGrpSpPr/>
          <p:nvPr/>
        </p:nvGrpSpPr>
        <p:grpSpPr>
          <a:xfrm>
            <a:off x="164467" y="826923"/>
            <a:ext cx="7717012" cy="643315"/>
            <a:chOff x="252353" y="826923"/>
            <a:chExt cx="7629126" cy="643315"/>
          </a:xfrm>
        </p:grpSpPr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2EBC1B61-EA8F-251B-BBEF-07DA85BB7A1B}"/>
                </a:ext>
              </a:extLst>
            </p:cNvPr>
            <p:cNvSpPr/>
            <p:nvPr/>
          </p:nvSpPr>
          <p:spPr>
            <a:xfrm>
              <a:off x="1352599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02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상세정보</a:t>
              </a:r>
              <a:endPara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291B2A9F-A166-73B2-5F0E-CCA158A1A874}"/>
                </a:ext>
              </a:extLst>
            </p:cNvPr>
            <p:cNvSpPr/>
            <p:nvPr/>
          </p:nvSpPr>
          <p:spPr>
            <a:xfrm>
              <a:off x="2452845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03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심사</a:t>
              </a:r>
              <a:r>
                <a:rPr lang="en-US" altLang="ko-KR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</a:t>
              </a: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평가 계획</a:t>
              </a:r>
            </a:p>
          </p:txBody>
        </p: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339051B4-82CC-E6EB-87D0-CF90A1284B22}"/>
                </a:ext>
              </a:extLst>
            </p:cNvPr>
            <p:cNvSpPr/>
            <p:nvPr/>
          </p:nvSpPr>
          <p:spPr>
            <a:xfrm>
              <a:off x="3553091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04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b="1" spc="-5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예정가</a:t>
              </a:r>
              <a:r>
                <a:rPr lang="ko-KR" altLang="en-US" sz="800" b="1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</a:t>
              </a:r>
              <a:r>
                <a:rPr lang="en-US" altLang="ko-KR" sz="800" b="1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 </a:t>
              </a:r>
              <a:r>
                <a:rPr lang="ko-KR" altLang="en-US" sz="800" b="1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예비가</a:t>
              </a: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BCB2E4EE-DED1-B018-CBF3-2BD4BE1D700E}"/>
                </a:ext>
              </a:extLst>
            </p:cNvPr>
            <p:cNvSpPr/>
            <p:nvPr/>
          </p:nvSpPr>
          <p:spPr>
            <a:xfrm>
              <a:off x="5753583" y="826923"/>
              <a:ext cx="1027647" cy="643315"/>
            </a:xfrm>
            <a:prstGeom prst="rect">
              <a:avLst/>
            </a:prstGeom>
            <a:solidFill>
              <a:srgbClr val="FFC000">
                <a:alpha val="69804"/>
              </a:srgb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06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최종 점검</a:t>
              </a:r>
              <a:endPara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5ADCC12B-2873-40F3-8FD1-5910938374C7}"/>
                </a:ext>
              </a:extLst>
            </p:cNvPr>
            <p:cNvSpPr/>
            <p:nvPr/>
          </p:nvSpPr>
          <p:spPr>
            <a:xfrm>
              <a:off x="6853832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07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등록 완료</a:t>
              </a:r>
              <a:endPara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DC86CE35-1841-645A-76A4-331C34C8BFE6}"/>
                </a:ext>
              </a:extLst>
            </p:cNvPr>
            <p:cNvSpPr/>
            <p:nvPr/>
          </p:nvSpPr>
          <p:spPr>
            <a:xfrm>
              <a:off x="4653337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72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05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 참여 서류</a:t>
              </a:r>
            </a:p>
          </p:txBody>
        </p:sp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9E295203-366C-49A8-2065-5648449ECC99}"/>
                </a:ext>
              </a:extLst>
            </p:cNvPr>
            <p:cNvSpPr/>
            <p:nvPr/>
          </p:nvSpPr>
          <p:spPr>
            <a:xfrm>
              <a:off x="252353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01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발주계획 정보 확인</a:t>
              </a:r>
              <a:endPara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2B14F20F-173B-5C8E-2523-EF5A398E4442}"/>
              </a:ext>
            </a:extLst>
          </p:cNvPr>
          <p:cNvSpPr/>
          <p:nvPr/>
        </p:nvSpPr>
        <p:spPr>
          <a:xfrm>
            <a:off x="183392" y="2357116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상세정보     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해당 정보를 수정하고자 하는 경우 상단의  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‘STEP 02 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상세정보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를 선택하여 수정해주세요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D18F636-620D-6E1B-BBD1-0FBC57D061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5787443"/>
              </p:ext>
            </p:extLst>
          </p:nvPr>
        </p:nvGraphicFramePr>
        <p:xfrm>
          <a:off x="164467" y="2662932"/>
          <a:ext cx="7713521" cy="1013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78582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34939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 시작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마감일시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2026.07.31 09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시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~ 2026.08.15 18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시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14883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입찰공고 게시기간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2026.07.28 09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00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분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~ 2026.08.15 18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00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630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현장설명회 일시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현장설명회 없음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  2026.08.05 16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00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8892629"/>
                  </a:ext>
                </a:extLst>
              </a:tr>
            </a:tbl>
          </a:graphicData>
        </a:graphic>
      </p:graphicFrame>
      <p:graphicFrame>
        <p:nvGraphicFramePr>
          <p:cNvPr id="127" name="표 126">
            <a:extLst>
              <a:ext uri="{FF2B5EF4-FFF2-40B4-BE49-F238E27FC236}">
                <a16:creationId xmlns:a16="http://schemas.microsoft.com/office/drawing/2014/main" id="{4CB62292-BBB9-5D38-7DBC-BE153692A0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8330570"/>
              </p:ext>
            </p:extLst>
          </p:nvPr>
        </p:nvGraphicFramePr>
        <p:xfrm>
          <a:off x="164468" y="3669020"/>
          <a:ext cx="7713520" cy="24790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66553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46967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입찰공고문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724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입찰참가신청서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93583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입찰보증금지급각서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3165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시방서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구매견적서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과업지시서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09388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기타서류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3389591"/>
                  </a:ext>
                </a:extLst>
              </a:tr>
            </a:tbl>
          </a:graphicData>
        </a:graphic>
      </p:graphicFrame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72A73B7D-D6D3-31EE-0186-3AA3BD5A649C}"/>
              </a:ext>
            </a:extLst>
          </p:cNvPr>
          <p:cNvGrpSpPr/>
          <p:nvPr/>
        </p:nvGrpSpPr>
        <p:grpSpPr>
          <a:xfrm>
            <a:off x="2777097" y="3721418"/>
            <a:ext cx="1275802" cy="198885"/>
            <a:chOff x="2576736" y="3905324"/>
            <a:chExt cx="1275802" cy="198885"/>
          </a:xfrm>
        </p:grpSpPr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A8826263-71DD-662D-04D2-0406E372A28E}"/>
                </a:ext>
              </a:extLst>
            </p:cNvPr>
            <p:cNvSpPr/>
            <p:nvPr/>
          </p:nvSpPr>
          <p:spPr>
            <a:xfrm>
              <a:off x="2576736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130" name="직사각형 129">
              <a:extLst>
                <a:ext uri="{FF2B5EF4-FFF2-40B4-BE49-F238E27FC236}">
                  <a16:creationId xmlns:a16="http://schemas.microsoft.com/office/drawing/2014/main" id="{8641B7FF-8631-6603-843E-1FA6395F4911}"/>
                </a:ext>
              </a:extLst>
            </p:cNvPr>
            <p:cNvSpPr/>
            <p:nvPr/>
          </p:nvSpPr>
          <p:spPr>
            <a:xfrm>
              <a:off x="3239573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FDFE7BE1-6778-5A02-7D81-618626991FB0}"/>
              </a:ext>
            </a:extLst>
          </p:cNvPr>
          <p:cNvGrpSpPr/>
          <p:nvPr/>
        </p:nvGrpSpPr>
        <p:grpSpPr>
          <a:xfrm>
            <a:off x="2777097" y="4078913"/>
            <a:ext cx="1275802" cy="198885"/>
            <a:chOff x="2576736" y="3905324"/>
            <a:chExt cx="1275802" cy="198885"/>
          </a:xfrm>
        </p:grpSpPr>
        <p:sp>
          <p:nvSpPr>
            <p:cNvPr id="135" name="직사각형 134">
              <a:extLst>
                <a:ext uri="{FF2B5EF4-FFF2-40B4-BE49-F238E27FC236}">
                  <a16:creationId xmlns:a16="http://schemas.microsoft.com/office/drawing/2014/main" id="{F948480A-3352-FEE2-8B22-28DB738A66F6}"/>
                </a:ext>
              </a:extLst>
            </p:cNvPr>
            <p:cNvSpPr/>
            <p:nvPr/>
          </p:nvSpPr>
          <p:spPr>
            <a:xfrm>
              <a:off x="2576736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136" name="직사각형 135">
              <a:extLst>
                <a:ext uri="{FF2B5EF4-FFF2-40B4-BE49-F238E27FC236}">
                  <a16:creationId xmlns:a16="http://schemas.microsoft.com/office/drawing/2014/main" id="{ECD92E1B-E3C5-37BF-874D-CCABD1DBE376}"/>
                </a:ext>
              </a:extLst>
            </p:cNvPr>
            <p:cNvSpPr/>
            <p:nvPr/>
          </p:nvSpPr>
          <p:spPr>
            <a:xfrm>
              <a:off x="3239573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grpSp>
        <p:nvGrpSpPr>
          <p:cNvPr id="140" name="그룹 139">
            <a:extLst>
              <a:ext uri="{FF2B5EF4-FFF2-40B4-BE49-F238E27FC236}">
                <a16:creationId xmlns:a16="http://schemas.microsoft.com/office/drawing/2014/main" id="{FC4940DD-1EE6-1B66-E0B6-4673C0F4AFF3}"/>
              </a:ext>
            </a:extLst>
          </p:cNvPr>
          <p:cNvGrpSpPr/>
          <p:nvPr/>
        </p:nvGrpSpPr>
        <p:grpSpPr>
          <a:xfrm>
            <a:off x="2777097" y="4443856"/>
            <a:ext cx="1275802" cy="198885"/>
            <a:chOff x="2576736" y="3905324"/>
            <a:chExt cx="1275802" cy="198885"/>
          </a:xfrm>
        </p:grpSpPr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CE7310F1-5C80-038A-3583-62F8E4D6EDBC}"/>
                </a:ext>
              </a:extLst>
            </p:cNvPr>
            <p:cNvSpPr/>
            <p:nvPr/>
          </p:nvSpPr>
          <p:spPr>
            <a:xfrm>
              <a:off x="2576736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142" name="직사각형 141">
              <a:extLst>
                <a:ext uri="{FF2B5EF4-FFF2-40B4-BE49-F238E27FC236}">
                  <a16:creationId xmlns:a16="http://schemas.microsoft.com/office/drawing/2014/main" id="{F958E603-265C-1147-BED3-67F3B610BF4D}"/>
                </a:ext>
              </a:extLst>
            </p:cNvPr>
            <p:cNvSpPr/>
            <p:nvPr/>
          </p:nvSpPr>
          <p:spPr>
            <a:xfrm>
              <a:off x="3239573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BECFD9F3-B1C5-5348-8CBC-2661178811E8}"/>
              </a:ext>
            </a:extLst>
          </p:cNvPr>
          <p:cNvGrpSpPr/>
          <p:nvPr/>
        </p:nvGrpSpPr>
        <p:grpSpPr>
          <a:xfrm>
            <a:off x="2777097" y="4707026"/>
            <a:ext cx="1275802" cy="198885"/>
            <a:chOff x="2576736" y="3905324"/>
            <a:chExt cx="1275802" cy="198885"/>
          </a:xfrm>
        </p:grpSpPr>
        <p:sp>
          <p:nvSpPr>
            <p:cNvPr id="144" name="직사각형 143">
              <a:extLst>
                <a:ext uri="{FF2B5EF4-FFF2-40B4-BE49-F238E27FC236}">
                  <a16:creationId xmlns:a16="http://schemas.microsoft.com/office/drawing/2014/main" id="{72E9773A-902E-4F6A-9E55-A35A4C8D861C}"/>
                </a:ext>
              </a:extLst>
            </p:cNvPr>
            <p:cNvSpPr/>
            <p:nvPr/>
          </p:nvSpPr>
          <p:spPr>
            <a:xfrm>
              <a:off x="2576736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145" name="직사각형 144">
              <a:extLst>
                <a:ext uri="{FF2B5EF4-FFF2-40B4-BE49-F238E27FC236}">
                  <a16:creationId xmlns:a16="http://schemas.microsoft.com/office/drawing/2014/main" id="{26183807-2084-2AEF-1A26-84A6C223BE26}"/>
                </a:ext>
              </a:extLst>
            </p:cNvPr>
            <p:cNvSpPr/>
            <p:nvPr/>
          </p:nvSpPr>
          <p:spPr>
            <a:xfrm>
              <a:off x="3239573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DA675DB0-9179-0B91-F16A-A660916E0F0D}"/>
              </a:ext>
            </a:extLst>
          </p:cNvPr>
          <p:cNvGrpSpPr/>
          <p:nvPr/>
        </p:nvGrpSpPr>
        <p:grpSpPr>
          <a:xfrm>
            <a:off x="2777097" y="5039715"/>
            <a:ext cx="1275802" cy="198885"/>
            <a:chOff x="2576736" y="3905324"/>
            <a:chExt cx="1275802" cy="198885"/>
          </a:xfrm>
        </p:grpSpPr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E4D90173-A2DB-6E10-80E4-CDF22AD91C0E}"/>
                </a:ext>
              </a:extLst>
            </p:cNvPr>
            <p:cNvSpPr/>
            <p:nvPr/>
          </p:nvSpPr>
          <p:spPr>
            <a:xfrm>
              <a:off x="2576736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16486D48-F523-7370-8F7D-76A11CDDE721}"/>
                </a:ext>
              </a:extLst>
            </p:cNvPr>
            <p:cNvSpPr/>
            <p:nvPr/>
          </p:nvSpPr>
          <p:spPr>
            <a:xfrm>
              <a:off x="3239573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grpSp>
        <p:nvGrpSpPr>
          <p:cNvPr id="149" name="그룹 148">
            <a:extLst>
              <a:ext uri="{FF2B5EF4-FFF2-40B4-BE49-F238E27FC236}">
                <a16:creationId xmlns:a16="http://schemas.microsoft.com/office/drawing/2014/main" id="{DECB62FA-2504-3BD3-9A13-2435FA0F57BA}"/>
              </a:ext>
            </a:extLst>
          </p:cNvPr>
          <p:cNvGrpSpPr/>
          <p:nvPr/>
        </p:nvGrpSpPr>
        <p:grpSpPr>
          <a:xfrm>
            <a:off x="2777097" y="5302885"/>
            <a:ext cx="1275802" cy="198885"/>
            <a:chOff x="2576736" y="3905324"/>
            <a:chExt cx="1275802" cy="198885"/>
          </a:xfrm>
        </p:grpSpPr>
        <p:sp>
          <p:nvSpPr>
            <p:cNvPr id="150" name="직사각형 149">
              <a:extLst>
                <a:ext uri="{FF2B5EF4-FFF2-40B4-BE49-F238E27FC236}">
                  <a16:creationId xmlns:a16="http://schemas.microsoft.com/office/drawing/2014/main" id="{F6A80678-8D20-5DB2-62A0-1485654EE09E}"/>
                </a:ext>
              </a:extLst>
            </p:cNvPr>
            <p:cNvSpPr/>
            <p:nvPr/>
          </p:nvSpPr>
          <p:spPr>
            <a:xfrm>
              <a:off x="2576736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151" name="직사각형 150">
              <a:extLst>
                <a:ext uri="{FF2B5EF4-FFF2-40B4-BE49-F238E27FC236}">
                  <a16:creationId xmlns:a16="http://schemas.microsoft.com/office/drawing/2014/main" id="{F031065C-5E9A-9ED4-45E8-BD85F0A6D428}"/>
                </a:ext>
              </a:extLst>
            </p:cNvPr>
            <p:cNvSpPr/>
            <p:nvPr/>
          </p:nvSpPr>
          <p:spPr>
            <a:xfrm>
              <a:off x="3239573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grpSp>
        <p:nvGrpSpPr>
          <p:cNvPr id="152" name="그룹 151">
            <a:extLst>
              <a:ext uri="{FF2B5EF4-FFF2-40B4-BE49-F238E27FC236}">
                <a16:creationId xmlns:a16="http://schemas.microsoft.com/office/drawing/2014/main" id="{D8DA8D39-05ED-D2E8-4DFD-5B5144F68F37}"/>
              </a:ext>
            </a:extLst>
          </p:cNvPr>
          <p:cNvGrpSpPr/>
          <p:nvPr/>
        </p:nvGrpSpPr>
        <p:grpSpPr>
          <a:xfrm>
            <a:off x="2777097" y="5614077"/>
            <a:ext cx="1275802" cy="198885"/>
            <a:chOff x="2576736" y="3905324"/>
            <a:chExt cx="1275802" cy="198885"/>
          </a:xfrm>
        </p:grpSpPr>
        <p:sp>
          <p:nvSpPr>
            <p:cNvPr id="153" name="직사각형 152">
              <a:extLst>
                <a:ext uri="{FF2B5EF4-FFF2-40B4-BE49-F238E27FC236}">
                  <a16:creationId xmlns:a16="http://schemas.microsoft.com/office/drawing/2014/main" id="{A08DBCB2-93A0-C622-A273-6FBFD9F117A2}"/>
                </a:ext>
              </a:extLst>
            </p:cNvPr>
            <p:cNvSpPr/>
            <p:nvPr/>
          </p:nvSpPr>
          <p:spPr>
            <a:xfrm>
              <a:off x="2576736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154" name="직사각형 153">
              <a:extLst>
                <a:ext uri="{FF2B5EF4-FFF2-40B4-BE49-F238E27FC236}">
                  <a16:creationId xmlns:a16="http://schemas.microsoft.com/office/drawing/2014/main" id="{F110C36C-7BBB-A871-6C1F-9F3941B626E9}"/>
                </a:ext>
              </a:extLst>
            </p:cNvPr>
            <p:cNvSpPr/>
            <p:nvPr/>
          </p:nvSpPr>
          <p:spPr>
            <a:xfrm>
              <a:off x="3239573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grpSp>
        <p:nvGrpSpPr>
          <p:cNvPr id="155" name="그룹 154">
            <a:extLst>
              <a:ext uri="{FF2B5EF4-FFF2-40B4-BE49-F238E27FC236}">
                <a16:creationId xmlns:a16="http://schemas.microsoft.com/office/drawing/2014/main" id="{4CC018EF-4D14-F88F-14DC-477BA8CB049D}"/>
              </a:ext>
            </a:extLst>
          </p:cNvPr>
          <p:cNvGrpSpPr/>
          <p:nvPr/>
        </p:nvGrpSpPr>
        <p:grpSpPr>
          <a:xfrm>
            <a:off x="2777097" y="5877247"/>
            <a:ext cx="1275802" cy="198885"/>
            <a:chOff x="2576736" y="3905324"/>
            <a:chExt cx="1275802" cy="198885"/>
          </a:xfrm>
        </p:grpSpPr>
        <p:sp>
          <p:nvSpPr>
            <p:cNvPr id="156" name="직사각형 155">
              <a:extLst>
                <a:ext uri="{FF2B5EF4-FFF2-40B4-BE49-F238E27FC236}">
                  <a16:creationId xmlns:a16="http://schemas.microsoft.com/office/drawing/2014/main" id="{D5EFFCE9-0342-A985-5D46-6077EB5E3D21}"/>
                </a:ext>
              </a:extLst>
            </p:cNvPr>
            <p:cNvSpPr/>
            <p:nvPr/>
          </p:nvSpPr>
          <p:spPr>
            <a:xfrm>
              <a:off x="2576736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157" name="직사각형 156">
              <a:extLst>
                <a:ext uri="{FF2B5EF4-FFF2-40B4-BE49-F238E27FC236}">
                  <a16:creationId xmlns:a16="http://schemas.microsoft.com/office/drawing/2014/main" id="{9776F2D5-64B0-2C3D-A543-EB238392F956}"/>
                </a:ext>
              </a:extLst>
            </p:cNvPr>
            <p:cNvSpPr/>
            <p:nvPr/>
          </p:nvSpPr>
          <p:spPr>
            <a:xfrm>
              <a:off x="3239573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01D12531-3184-51A1-6E80-FCCAFBFA54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9404937"/>
              </p:ext>
            </p:extLst>
          </p:nvPr>
        </p:nvGraphicFramePr>
        <p:xfrm>
          <a:off x="164467" y="1556402"/>
          <a:ext cx="7713521" cy="675840"/>
        </p:xfrm>
        <a:graphic>
          <a:graphicData uri="http://schemas.openxmlformats.org/drawingml/2006/table">
            <a:tbl>
              <a:tblPr firstRow="1" bandRow="1"/>
              <a:tblGrid>
                <a:gridCol w="765574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697607">
                  <a:extLst>
                    <a:ext uri="{9D8B030D-6E8A-4147-A177-3AD203B41FA5}">
                      <a16:colId xmlns:a16="http://schemas.microsoft.com/office/drawing/2014/main" val="2016786680"/>
                    </a:ext>
                  </a:extLst>
                </a:gridCol>
                <a:gridCol w="479484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786645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632106">
                  <a:extLst>
                    <a:ext uri="{9D8B030D-6E8A-4147-A177-3AD203B41FA5}">
                      <a16:colId xmlns:a16="http://schemas.microsoft.com/office/drawing/2014/main" val="3053194834"/>
                    </a:ext>
                  </a:extLst>
                </a:gridCol>
                <a:gridCol w="289811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915731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997923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574320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574320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등록일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본공고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작성중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 중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2026.07.22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4F9C619D-089E-EB35-14A7-4D3BD2B0BFC9}"/>
              </a:ext>
            </a:extLst>
          </p:cNvPr>
          <p:cNvSpPr/>
          <p:nvPr/>
        </p:nvSpPr>
        <p:spPr>
          <a:xfrm>
            <a:off x="0" y="6465202"/>
            <a:ext cx="8049344" cy="18002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계속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3C78B51-C2FE-DF66-B522-404BBB4841BD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10225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27C785-387A-43FB-E2BB-3C4B2FA6AE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70D4165F-B1C5-57B9-8C04-C0419EBDF16A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015D605-049E-9A2F-60BF-1F1D22221E18}"/>
              </a:ext>
            </a:extLst>
          </p:cNvPr>
          <p:cNvSpPr txBox="1"/>
          <p:nvPr/>
        </p:nvSpPr>
        <p:spPr>
          <a:xfrm>
            <a:off x="749224" y="25608"/>
            <a:ext cx="273023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설정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최종 점검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53046A6D-912D-7290-D5A3-A335352CD9BA}"/>
              </a:ext>
            </a:extLst>
          </p:cNvPr>
          <p:cNvSpPr txBox="1"/>
          <p:nvPr/>
        </p:nvSpPr>
        <p:spPr>
          <a:xfrm>
            <a:off x="8049344" y="584684"/>
            <a:ext cx="1856656" cy="25422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계약방법이 ‘경쟁입찰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지명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인 경우에만 등록됨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‘제한적 최저가 입찰’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‘2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분리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인 경우만 등록됨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‘제한적 최저가 입찰’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‘2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동시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)’, ‘2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분리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)’, ‘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적격심사’의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경우에만 등록됨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‘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동시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인 경우에만 등록됨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F106577-2B4E-6349-C5F1-100E12454DE4}"/>
              </a:ext>
            </a:extLst>
          </p:cNvPr>
          <p:cNvSpPr/>
          <p:nvPr/>
        </p:nvSpPr>
        <p:spPr>
          <a:xfrm>
            <a:off x="183392" y="1471011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9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기간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50810F97-4DA7-6E27-D9E0-F1A7A9AC299F}"/>
              </a:ext>
            </a:extLst>
          </p:cNvPr>
          <p:cNvGraphicFramePr>
            <a:graphicFrameLocks noGrp="1"/>
          </p:cNvGraphicFramePr>
          <p:nvPr/>
        </p:nvGraphicFramePr>
        <p:xfrm>
          <a:off x="164467" y="1741558"/>
          <a:ext cx="7740859" cy="337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4177">
                  <a:extLst>
                    <a:ext uri="{9D8B030D-6E8A-4147-A177-3AD203B41FA5}">
                      <a16:colId xmlns:a16="http://schemas.microsoft.com/office/drawing/2014/main" val="2218358209"/>
                    </a:ext>
                  </a:extLst>
                </a:gridCol>
                <a:gridCol w="6156682">
                  <a:extLst>
                    <a:ext uri="{9D8B030D-6E8A-4147-A177-3AD203B41FA5}">
                      <a16:colId xmlns:a16="http://schemas.microsoft.com/office/drawing/2014/main" val="376649550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가격 </a:t>
                      </a:r>
                      <a:r>
                        <a:rPr kumimoji="0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투찰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기간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2026.07.20 09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00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분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~ 2026.08.25 18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00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88328"/>
                  </a:ext>
                </a:extLst>
              </a:tr>
            </a:tbl>
          </a:graphicData>
        </a:graphic>
      </p:graphicFrame>
      <p:sp>
        <p:nvSpPr>
          <p:cNvPr id="36" name="직사각형 35">
            <a:extLst>
              <a:ext uri="{FF2B5EF4-FFF2-40B4-BE49-F238E27FC236}">
                <a16:creationId xmlns:a16="http://schemas.microsoft.com/office/drawing/2014/main" id="{05DA6AB5-EB93-C5FD-696B-B1F6E1F0DCF6}"/>
              </a:ext>
            </a:extLst>
          </p:cNvPr>
          <p:cNvSpPr/>
          <p:nvPr/>
        </p:nvSpPr>
        <p:spPr>
          <a:xfrm>
            <a:off x="183392" y="361231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입찰참여 가능 업체 선택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38" name="표 37">
            <a:extLst>
              <a:ext uri="{FF2B5EF4-FFF2-40B4-BE49-F238E27FC236}">
                <a16:creationId xmlns:a16="http://schemas.microsoft.com/office/drawing/2014/main" id="{CAC1C21C-3FEA-8106-6381-C0BE0995A7F6}"/>
              </a:ext>
            </a:extLst>
          </p:cNvPr>
          <p:cNvGraphicFramePr>
            <a:graphicFrameLocks noGrp="1"/>
          </p:cNvGraphicFramePr>
          <p:nvPr/>
        </p:nvGraphicFramePr>
        <p:xfrm>
          <a:off x="164467" y="631778"/>
          <a:ext cx="7740859" cy="734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4177">
                  <a:extLst>
                    <a:ext uri="{9D8B030D-6E8A-4147-A177-3AD203B41FA5}">
                      <a16:colId xmlns:a16="http://schemas.microsoft.com/office/drawing/2014/main" val="2218358209"/>
                    </a:ext>
                  </a:extLst>
                </a:gridCol>
                <a:gridCol w="6156682">
                  <a:extLst>
                    <a:ext uri="{9D8B030D-6E8A-4147-A177-3AD203B41FA5}">
                      <a16:colId xmlns:a16="http://schemas.microsoft.com/office/drawing/2014/main" val="3766495503"/>
                    </a:ext>
                  </a:extLst>
                </a:gridCol>
              </a:tblGrid>
              <a:tr h="430525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입찰참여 업체 선택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A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협력업체명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(123-45-67891)</a:t>
                      </a: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B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협력업체명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(123-45-67891)</a:t>
                      </a: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C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협력업체명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(123-45-67891)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88328"/>
                  </a:ext>
                </a:extLst>
              </a:tr>
            </a:tbl>
          </a:graphicData>
        </a:graphic>
      </p:graphicFrame>
      <p:sp>
        <p:nvSpPr>
          <p:cNvPr id="46" name="직사각형 45">
            <a:extLst>
              <a:ext uri="{FF2B5EF4-FFF2-40B4-BE49-F238E27FC236}">
                <a16:creationId xmlns:a16="http://schemas.microsoft.com/office/drawing/2014/main" id="{2D7F2D3D-7644-3316-B731-0729E3BB7FFE}"/>
              </a:ext>
            </a:extLst>
          </p:cNvPr>
          <p:cNvSpPr/>
          <p:nvPr/>
        </p:nvSpPr>
        <p:spPr>
          <a:xfrm>
            <a:off x="183392" y="2189904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 관련 정보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48" name="표 47">
            <a:extLst>
              <a:ext uri="{FF2B5EF4-FFF2-40B4-BE49-F238E27FC236}">
                <a16:creationId xmlns:a16="http://schemas.microsoft.com/office/drawing/2014/main" id="{5A287E8F-C9D5-3F34-040C-4492260DA3C9}"/>
              </a:ext>
            </a:extLst>
          </p:cNvPr>
          <p:cNvGraphicFramePr>
            <a:graphicFrameLocks noGrp="1"/>
          </p:cNvGraphicFramePr>
          <p:nvPr/>
        </p:nvGraphicFramePr>
        <p:xfrm>
          <a:off x="164467" y="2465861"/>
          <a:ext cx="7740859" cy="1013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4177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56682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업체평가 종료일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2026.07.21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30657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동점자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처리기준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규격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기술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33570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평가자 매핑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5394118"/>
                  </a:ext>
                </a:extLst>
              </a:tr>
            </a:tbl>
          </a:graphicData>
        </a:graphic>
      </p:graphicFrame>
      <p:graphicFrame>
        <p:nvGraphicFramePr>
          <p:cNvPr id="62" name="표 61">
            <a:extLst>
              <a:ext uri="{FF2B5EF4-FFF2-40B4-BE49-F238E27FC236}">
                <a16:creationId xmlns:a16="http://schemas.microsoft.com/office/drawing/2014/main" id="{D1EC95A2-FF41-DEBF-0833-161F977DC7D8}"/>
              </a:ext>
            </a:extLst>
          </p:cNvPr>
          <p:cNvGraphicFramePr>
            <a:graphicFrameLocks noGrp="1"/>
          </p:cNvGraphicFramePr>
          <p:nvPr/>
        </p:nvGraphicFramePr>
        <p:xfrm>
          <a:off x="164467" y="3476323"/>
          <a:ext cx="7740859" cy="10720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4177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56682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종합평가 비율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기술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:  80%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 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   가격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:  20%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84718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업체 전달사항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 참여 시 등록해야 하는 서류를 꼼꼼히 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읽어보시고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빠짐없이 등록해주세요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.</a:t>
                      </a: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777443"/>
                  </a:ext>
                </a:extLst>
              </a:tr>
            </a:tbl>
          </a:graphicData>
        </a:graphic>
      </p:graphicFrame>
      <p:sp>
        <p:nvSpPr>
          <p:cNvPr id="3" name="타원 2">
            <a:extLst>
              <a:ext uri="{FF2B5EF4-FFF2-40B4-BE49-F238E27FC236}">
                <a16:creationId xmlns:a16="http://schemas.microsoft.com/office/drawing/2014/main" id="{9AF315BC-FFEE-EAC1-AE3B-CE5D6B17EE52}"/>
              </a:ext>
            </a:extLst>
          </p:cNvPr>
          <p:cNvSpPr/>
          <p:nvPr/>
        </p:nvSpPr>
        <p:spPr>
          <a:xfrm>
            <a:off x="75380" y="519749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타원 5">
            <a:extLst>
              <a:ext uri="{FF2B5EF4-FFF2-40B4-BE49-F238E27FC236}">
                <a16:creationId xmlns:a16="http://schemas.microsoft.com/office/drawing/2014/main" id="{C76C7127-AFAD-20B6-6522-94956094E59F}"/>
              </a:ext>
            </a:extLst>
          </p:cNvPr>
          <p:cNvSpPr/>
          <p:nvPr/>
        </p:nvSpPr>
        <p:spPr>
          <a:xfrm>
            <a:off x="75380" y="1376772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BCDE8F04-16A3-6504-E98D-E7DFA149106D}"/>
              </a:ext>
            </a:extLst>
          </p:cNvPr>
          <p:cNvSpPr/>
          <p:nvPr/>
        </p:nvSpPr>
        <p:spPr>
          <a:xfrm>
            <a:off x="75380" y="2088226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6F14C352-695D-3A63-2FF3-3733F72EA9FF}"/>
              </a:ext>
            </a:extLst>
          </p:cNvPr>
          <p:cNvSpPr/>
          <p:nvPr/>
        </p:nvSpPr>
        <p:spPr>
          <a:xfrm>
            <a:off x="75380" y="3375838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76E83B58-FB2C-BF29-31E2-7AAFD10D7A80}"/>
              </a:ext>
            </a:extLst>
          </p:cNvPr>
          <p:cNvSpPr/>
          <p:nvPr/>
        </p:nvSpPr>
        <p:spPr>
          <a:xfrm>
            <a:off x="183392" y="4661762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제안발표 관련 정보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4F100E88-7E0F-8DA9-226C-D6580C7450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2197007"/>
              </p:ext>
            </p:extLst>
          </p:nvPr>
        </p:nvGraphicFramePr>
        <p:xfrm>
          <a:off x="164467" y="4959935"/>
          <a:ext cx="7740859" cy="135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68153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372706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협상에 의한 계약 여부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협상에 의한 계약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70719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제안발표 여부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제안발표 진행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7774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제안발표 일시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2026.08.31 16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30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분부터 진행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27298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제안발표 장소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전기회관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층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켑코이에스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대회의실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9957527"/>
                  </a:ext>
                </a:extLst>
              </a:tr>
            </a:tbl>
          </a:graphicData>
        </a:graphic>
      </p:graphicFrame>
      <p:sp>
        <p:nvSpPr>
          <p:cNvPr id="10" name="직사각형 9">
            <a:extLst>
              <a:ext uri="{FF2B5EF4-FFF2-40B4-BE49-F238E27FC236}">
                <a16:creationId xmlns:a16="http://schemas.microsoft.com/office/drawing/2014/main" id="{1167FC97-6BA2-54E8-2FAA-6D7FFAE5FE4B}"/>
              </a:ext>
            </a:extLst>
          </p:cNvPr>
          <p:cNvSpPr/>
          <p:nvPr/>
        </p:nvSpPr>
        <p:spPr>
          <a:xfrm>
            <a:off x="0" y="6465202"/>
            <a:ext cx="8049344" cy="18002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계속</a:t>
            </a:r>
          </a:p>
        </p:txBody>
      </p:sp>
    </p:spTree>
    <p:extLst>
      <p:ext uri="{BB962C8B-B14F-4D97-AF65-F5344CB8AC3E}">
        <p14:creationId xmlns:p14="http://schemas.microsoft.com/office/powerpoint/2010/main" val="383908285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3291F1-20C6-0E8F-DE39-6149CD73EF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F047D94B-712D-B2B3-6744-3FF7DFDD21BB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45EE4DC-79F2-8B23-0083-E7C5DB7439B6}"/>
              </a:ext>
            </a:extLst>
          </p:cNvPr>
          <p:cNvSpPr txBox="1"/>
          <p:nvPr/>
        </p:nvSpPr>
        <p:spPr>
          <a:xfrm>
            <a:off x="749224" y="25608"/>
            <a:ext cx="273023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설정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최종 점검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786A8AD3-E6E3-D861-EBE5-6150A36E7D89}"/>
              </a:ext>
            </a:extLst>
          </p:cNvPr>
          <p:cNvSpPr txBox="1"/>
          <p:nvPr/>
        </p:nvSpPr>
        <p:spPr>
          <a:xfrm>
            <a:off x="8049344" y="584684"/>
            <a:ext cx="1856656" cy="13511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‘제한적 최저가’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‘2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동시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)’, ‘2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분리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)’, ‘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적격심사’의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경우에만 등록됨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예비가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낙찰하한가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의 경우에 제공되는 정보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예정가의 경우에만 제공되는 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2E57634D-C542-FD84-44C3-60BB122D162C}"/>
              </a:ext>
            </a:extLst>
          </p:cNvPr>
          <p:cNvSpPr/>
          <p:nvPr/>
        </p:nvSpPr>
        <p:spPr>
          <a:xfrm>
            <a:off x="0" y="6465202"/>
            <a:ext cx="8049344" cy="18002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계속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AE36242-990F-F85E-8C2B-8FA10027272D}"/>
              </a:ext>
            </a:extLst>
          </p:cNvPr>
          <p:cNvSpPr/>
          <p:nvPr/>
        </p:nvSpPr>
        <p:spPr>
          <a:xfrm>
            <a:off x="183392" y="368660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 항목      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해당 정보를 수정하고자 하는 경우 상단의  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‘STEP 03 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 계획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을 선택하여 수정해주세요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72DEE87-9FEF-C27B-39BE-61C10F17A914}"/>
              </a:ext>
            </a:extLst>
          </p:cNvPr>
          <p:cNvSpPr txBox="1"/>
          <p:nvPr/>
        </p:nvSpPr>
        <p:spPr>
          <a:xfrm>
            <a:off x="164468" y="640994"/>
            <a:ext cx="3053340" cy="230832"/>
          </a:xfrm>
          <a:prstGeom prst="rect">
            <a:avLst/>
          </a:prstGeom>
          <a:noFill/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등록된 심사</a:t>
            </a:r>
            <a:r>
              <a:rPr lang="en-US" altLang="ko-KR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 항목 </a:t>
            </a:r>
            <a:r>
              <a:rPr lang="en-US" altLang="ko-KR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총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건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69E3A982-8090-B6AB-5D17-252EE10A4E5C}"/>
              </a:ext>
            </a:extLst>
          </p:cNvPr>
          <p:cNvGraphicFramePr>
            <a:graphicFrameLocks noGrp="1"/>
          </p:cNvGraphicFramePr>
          <p:nvPr/>
        </p:nvGraphicFramePr>
        <p:xfrm>
          <a:off x="171332" y="913328"/>
          <a:ext cx="7713521" cy="1013760"/>
        </p:xfrm>
        <a:graphic>
          <a:graphicData uri="http://schemas.openxmlformats.org/drawingml/2006/table">
            <a:tbl>
              <a:tblPr firstRow="1" bandRow="1"/>
              <a:tblGrid>
                <a:gridCol w="611564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1905497">
                  <a:extLst>
                    <a:ext uri="{9D8B030D-6E8A-4147-A177-3AD203B41FA5}">
                      <a16:colId xmlns:a16="http://schemas.microsoft.com/office/drawing/2014/main" val="2348944443"/>
                    </a:ext>
                  </a:extLst>
                </a:gridCol>
                <a:gridCol w="2413243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975994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1807223">
                  <a:extLst>
                    <a:ext uri="{9D8B030D-6E8A-4147-A177-3AD203B41FA5}">
                      <a16:colId xmlns:a16="http://schemas.microsoft.com/office/drawing/2014/main" val="202131028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No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심사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/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평가 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심사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/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평가 항목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배점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자가심사 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계량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정량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신용평가등급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필요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계량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정량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시공경험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일반공사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필요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3A2B26EF-8E60-911C-5808-4D7149F0640A}"/>
              </a:ext>
            </a:extLst>
          </p:cNvPr>
          <p:cNvGraphicFramePr>
            <a:graphicFrameLocks noGrp="1"/>
          </p:cNvGraphicFramePr>
          <p:nvPr/>
        </p:nvGraphicFramePr>
        <p:xfrm>
          <a:off x="171332" y="1895686"/>
          <a:ext cx="7713521" cy="675840"/>
        </p:xfrm>
        <a:graphic>
          <a:graphicData uri="http://schemas.openxmlformats.org/drawingml/2006/table">
            <a:tbl>
              <a:tblPr firstRow="1" bandRow="1"/>
              <a:tblGrid>
                <a:gridCol w="611564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1905497">
                  <a:extLst>
                    <a:ext uri="{9D8B030D-6E8A-4147-A177-3AD203B41FA5}">
                      <a16:colId xmlns:a16="http://schemas.microsoft.com/office/drawing/2014/main" val="2348944443"/>
                    </a:ext>
                  </a:extLst>
                </a:gridCol>
                <a:gridCol w="2413243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975994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1807223">
                  <a:extLst>
                    <a:ext uri="{9D8B030D-6E8A-4147-A177-3AD203B41FA5}">
                      <a16:colId xmlns:a16="http://schemas.microsoft.com/office/drawing/2014/main" val="2021310288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비계량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정성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제안 평가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60.00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불필요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총 배점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80.00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686515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D1C46933-3DBA-3D07-5285-3F594E471D24}"/>
              </a:ext>
            </a:extLst>
          </p:cNvPr>
          <p:cNvGraphicFramePr>
            <a:graphicFrameLocks noGrp="1"/>
          </p:cNvGraphicFramePr>
          <p:nvPr/>
        </p:nvGraphicFramePr>
        <p:xfrm>
          <a:off x="164468" y="2689870"/>
          <a:ext cx="7736576" cy="337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04156">
                  <a:extLst>
                    <a:ext uri="{9D8B030D-6E8A-4147-A177-3AD203B41FA5}">
                      <a16:colId xmlns:a16="http://schemas.microsoft.com/office/drawing/2014/main" val="477224945"/>
                    </a:ext>
                  </a:extLst>
                </a:gridCol>
                <a:gridCol w="6332420">
                  <a:extLst>
                    <a:ext uri="{9D8B030D-6E8A-4147-A177-3AD203B41FA5}">
                      <a16:colId xmlns:a16="http://schemas.microsoft.com/office/drawing/2014/main" val="34787164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최저점수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적격여부 판단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60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점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209096"/>
                  </a:ext>
                </a:extLst>
              </a:tr>
            </a:tbl>
          </a:graphicData>
        </a:graphic>
      </p:graphicFrame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7693F4CC-D30C-B13C-07CB-CEB5F11C7D7D}"/>
              </a:ext>
            </a:extLst>
          </p:cNvPr>
          <p:cNvGraphicFramePr>
            <a:graphicFrameLocks noGrp="1"/>
          </p:cNvGraphicFramePr>
          <p:nvPr/>
        </p:nvGraphicFramePr>
        <p:xfrm>
          <a:off x="164468" y="3018339"/>
          <a:ext cx="7692855" cy="586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04156">
                  <a:extLst>
                    <a:ext uri="{9D8B030D-6E8A-4147-A177-3AD203B41FA5}">
                      <a16:colId xmlns:a16="http://schemas.microsoft.com/office/drawing/2014/main" val="477224945"/>
                    </a:ext>
                  </a:extLst>
                </a:gridCol>
                <a:gridCol w="6288699">
                  <a:extLst>
                    <a:ext uri="{9D8B030D-6E8A-4147-A177-3AD203B41FA5}">
                      <a16:colId xmlns:a16="http://schemas.microsoft.com/office/drawing/2014/main" val="34787164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심사기준</a:t>
                      </a:r>
                      <a:b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</a:b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배점 및 평가기준 등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8533698"/>
                  </a:ext>
                </a:extLst>
              </a:tr>
            </a:tbl>
          </a:graphicData>
        </a:graphic>
      </p:graphicFrame>
      <p:sp>
        <p:nvSpPr>
          <p:cNvPr id="23" name="직사각형 22">
            <a:extLst>
              <a:ext uri="{FF2B5EF4-FFF2-40B4-BE49-F238E27FC236}">
                <a16:creationId xmlns:a16="http://schemas.microsoft.com/office/drawing/2014/main" id="{279AD3C7-C880-974E-3335-BC8B3D7028A7}"/>
              </a:ext>
            </a:extLst>
          </p:cNvPr>
          <p:cNvSpPr/>
          <p:nvPr/>
        </p:nvSpPr>
        <p:spPr>
          <a:xfrm>
            <a:off x="2576736" y="3103120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바로보기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DBA3675C-43A3-82FC-467A-13C7EDDACAB6}"/>
              </a:ext>
            </a:extLst>
          </p:cNvPr>
          <p:cNvSpPr/>
          <p:nvPr/>
        </p:nvSpPr>
        <p:spPr>
          <a:xfrm>
            <a:off x="3239573" y="3103120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다운로드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40F9D2D9-AE9D-7055-DE23-E69FFAB751F9}"/>
              </a:ext>
            </a:extLst>
          </p:cNvPr>
          <p:cNvSpPr/>
          <p:nvPr/>
        </p:nvSpPr>
        <p:spPr>
          <a:xfrm>
            <a:off x="2576736" y="3345147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바로보기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3A9A11B0-C736-65E1-6F98-16C37A04C609}"/>
              </a:ext>
            </a:extLst>
          </p:cNvPr>
          <p:cNvSpPr/>
          <p:nvPr/>
        </p:nvSpPr>
        <p:spPr>
          <a:xfrm>
            <a:off x="3239573" y="3345147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다운로드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0A1B2353-2E01-15DA-576F-EE1B4D3887F8}"/>
              </a:ext>
            </a:extLst>
          </p:cNvPr>
          <p:cNvSpPr/>
          <p:nvPr/>
        </p:nvSpPr>
        <p:spPr>
          <a:xfrm>
            <a:off x="134825" y="2558543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A209935-7D1B-12A0-39E5-423E6E927D3C}"/>
              </a:ext>
            </a:extLst>
          </p:cNvPr>
          <p:cNvSpPr/>
          <p:nvPr/>
        </p:nvSpPr>
        <p:spPr>
          <a:xfrm>
            <a:off x="183392" y="3742910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 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예비가     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해당 정보를 수정하고자 하는 경우 상단의  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‘STEP 04 </a:t>
            </a:r>
            <a:r>
              <a:rPr lang="ko-KR" altLang="en-US" sz="800" dirty="0" err="1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 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예비가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를 선택하여 수정해주세요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AEFF492-BF27-5B48-91A9-59DA6697307D}"/>
              </a:ext>
            </a:extLst>
          </p:cNvPr>
          <p:cNvSpPr/>
          <p:nvPr/>
        </p:nvSpPr>
        <p:spPr>
          <a:xfrm>
            <a:off x="179899" y="4043531"/>
            <a:ext cx="7701579" cy="87921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endParaRPr lang="ko-KR" altLang="en-US" sz="80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2BAB9402-D3E1-27AB-E6E6-B82B02BE27B6}"/>
              </a:ext>
            </a:extLst>
          </p:cNvPr>
          <p:cNvGraphicFramePr>
            <a:graphicFrameLocks noGrp="1"/>
          </p:cNvGraphicFramePr>
          <p:nvPr/>
        </p:nvGraphicFramePr>
        <p:xfrm>
          <a:off x="294012" y="4137024"/>
          <a:ext cx="7503304" cy="675840"/>
        </p:xfrm>
        <a:graphic>
          <a:graphicData uri="http://schemas.openxmlformats.org/drawingml/2006/table">
            <a:tbl>
              <a:tblPr firstRow="1" bandRow="1"/>
              <a:tblGrid>
                <a:gridCol w="1111607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1111607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509613">
                  <a:extLst>
                    <a:ext uri="{9D8B030D-6E8A-4147-A177-3AD203B41FA5}">
                      <a16:colId xmlns:a16="http://schemas.microsoft.com/office/drawing/2014/main" val="3053194834"/>
                    </a:ext>
                  </a:extLst>
                </a:gridCol>
                <a:gridCol w="977145">
                  <a:extLst>
                    <a:ext uri="{9D8B030D-6E8A-4147-A177-3AD203B41FA5}">
                      <a16:colId xmlns:a16="http://schemas.microsoft.com/office/drawing/2014/main" val="1035785104"/>
                    </a:ext>
                  </a:extLst>
                </a:gridCol>
                <a:gridCol w="1396666">
                  <a:extLst>
                    <a:ext uri="{9D8B030D-6E8A-4147-A177-3AD203B41FA5}">
                      <a16:colId xmlns:a16="http://schemas.microsoft.com/office/drawing/2014/main" val="2609742212"/>
                    </a:ext>
                  </a:extLst>
                </a:gridCol>
                <a:gridCol w="1396666">
                  <a:extLst>
                    <a:ext uri="{9D8B030D-6E8A-4147-A177-3AD203B41FA5}">
                      <a16:colId xmlns:a16="http://schemas.microsoft.com/office/drawing/2014/main" val="358653415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추정금액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사정금액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복수예비 기초금액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낙찰하한율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예정가격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낙찰하한가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94,710,000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94,710,000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91,088,550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87.745</a:t>
                      </a:r>
                      <a:endParaRPr lang="ko-KR" altLang="en-US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개찰 과정에서 정의됨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개찰 과정에서 정의됨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18" name="타원 17">
            <a:extLst>
              <a:ext uri="{FF2B5EF4-FFF2-40B4-BE49-F238E27FC236}">
                <a16:creationId xmlns:a16="http://schemas.microsoft.com/office/drawing/2014/main" id="{C4286890-6DA3-D4EF-243A-DE4305DA7B96}"/>
              </a:ext>
            </a:extLst>
          </p:cNvPr>
          <p:cNvSpPr/>
          <p:nvPr/>
        </p:nvSpPr>
        <p:spPr>
          <a:xfrm>
            <a:off x="134825" y="4029012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4E7A34C6-D0B8-21D1-EA39-5DDDBE0A7110}"/>
              </a:ext>
            </a:extLst>
          </p:cNvPr>
          <p:cNvSpPr/>
          <p:nvPr/>
        </p:nvSpPr>
        <p:spPr>
          <a:xfrm>
            <a:off x="179899" y="5010971"/>
            <a:ext cx="7701579" cy="87921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endParaRPr lang="ko-KR" altLang="en-US" sz="80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DB4FBA15-C81B-829D-AF4B-2B08AE652A5E}"/>
              </a:ext>
            </a:extLst>
          </p:cNvPr>
          <p:cNvGraphicFramePr>
            <a:graphicFrameLocks noGrp="1"/>
          </p:cNvGraphicFramePr>
          <p:nvPr/>
        </p:nvGraphicFramePr>
        <p:xfrm>
          <a:off x="294012" y="5104464"/>
          <a:ext cx="3681972" cy="675840"/>
        </p:xfrm>
        <a:graphic>
          <a:graphicData uri="http://schemas.openxmlformats.org/drawingml/2006/table">
            <a:tbl>
              <a:tblPr firstRow="1" bandRow="1"/>
              <a:tblGrid>
                <a:gridCol w="1227324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1227324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227324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추정금액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사정금액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예정가격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26,482,500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26,482,500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26,482,500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28" name="타원 27">
            <a:extLst>
              <a:ext uri="{FF2B5EF4-FFF2-40B4-BE49-F238E27FC236}">
                <a16:creationId xmlns:a16="http://schemas.microsoft.com/office/drawing/2014/main" id="{41F092A7-5494-A5DB-B059-D1E98CDE8F97}"/>
              </a:ext>
            </a:extLst>
          </p:cNvPr>
          <p:cNvSpPr/>
          <p:nvPr/>
        </p:nvSpPr>
        <p:spPr>
          <a:xfrm>
            <a:off x="134825" y="4971352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22967176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92935C-DD12-B008-FA24-3D15DF2FC4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965E5D66-9F55-7BEF-34AE-358BF44BA0CB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09BB75A-D9FD-7A2C-EDCD-0B590D247C04}"/>
              </a:ext>
            </a:extLst>
          </p:cNvPr>
          <p:cNvSpPr txBox="1"/>
          <p:nvPr/>
        </p:nvSpPr>
        <p:spPr>
          <a:xfrm>
            <a:off x="749224" y="25608"/>
            <a:ext cx="273023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설정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최종 점검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D8BB5CA6-3BCD-C281-09B0-7890B1D42106}"/>
              </a:ext>
            </a:extLst>
          </p:cNvPr>
          <p:cNvSpPr/>
          <p:nvPr/>
        </p:nvSpPr>
        <p:spPr>
          <a:xfrm>
            <a:off x="183392" y="404664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참여 서류     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해당 정보를 수정하고자 하는 경우 상단의  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‘STEP 05 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참여 서류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를 선택하여 수정해주세요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4C6149FA-F7BE-F128-8D54-4315E5D87FD7}"/>
              </a:ext>
            </a:extLst>
          </p:cNvPr>
          <p:cNvSpPr txBox="1"/>
          <p:nvPr/>
        </p:nvSpPr>
        <p:spPr>
          <a:xfrm>
            <a:off x="164468" y="676998"/>
            <a:ext cx="3053340" cy="230832"/>
          </a:xfrm>
          <a:prstGeom prst="rect">
            <a:avLst/>
          </a:prstGeom>
          <a:noFill/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등록된 입찰 참여 서류 </a:t>
            </a:r>
            <a:r>
              <a:rPr lang="en-US" altLang="ko-KR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총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건</a:t>
            </a:r>
          </a:p>
        </p:txBody>
      </p:sp>
      <p:graphicFrame>
        <p:nvGraphicFramePr>
          <p:cNvPr id="53" name="표 52">
            <a:extLst>
              <a:ext uri="{FF2B5EF4-FFF2-40B4-BE49-F238E27FC236}">
                <a16:creationId xmlns:a16="http://schemas.microsoft.com/office/drawing/2014/main" id="{BE902D9D-AE08-72FC-92AC-C7639FAF5C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2642011"/>
              </p:ext>
            </p:extLst>
          </p:nvPr>
        </p:nvGraphicFramePr>
        <p:xfrm>
          <a:off x="171331" y="960086"/>
          <a:ext cx="7710148" cy="1351680"/>
        </p:xfrm>
        <a:graphic>
          <a:graphicData uri="http://schemas.openxmlformats.org/drawingml/2006/table">
            <a:tbl>
              <a:tblPr firstRow="1" bandRow="1"/>
              <a:tblGrid>
                <a:gridCol w="353365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1938552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5418231">
                  <a:extLst>
                    <a:ext uri="{9D8B030D-6E8A-4147-A177-3AD203B41FA5}">
                      <a16:colId xmlns:a16="http://schemas.microsoft.com/office/drawing/2014/main" val="91689363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No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참여 서류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설명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입찰참가신청서 </a:t>
                      </a: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날인본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입찰참가신청서는 반드시 날인이 되어 있어야 합니다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. 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날인이 빠진 경우 미입찰로 처리됩니다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.)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신용평가등급 확인서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신용평가등급 확인서는 반드시 유효기간 내에 있어야 합니다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. 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법인인감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증명서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제출되는 법인인감증명서는 유효기간 내에 있어야 합니다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.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95416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4AE1A7B-6D8A-FEE1-6314-6E84D828066F}"/>
              </a:ext>
            </a:extLst>
          </p:cNvPr>
          <p:cNvGraphicFramePr>
            <a:graphicFrameLocks noGrp="1"/>
          </p:cNvGraphicFramePr>
          <p:nvPr/>
        </p:nvGraphicFramePr>
        <p:xfrm>
          <a:off x="171331" y="2289792"/>
          <a:ext cx="7710148" cy="675840"/>
        </p:xfrm>
        <a:graphic>
          <a:graphicData uri="http://schemas.openxmlformats.org/drawingml/2006/table">
            <a:tbl>
              <a:tblPr firstRow="1" bandRow="1"/>
              <a:tblGrid>
                <a:gridCol w="353365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1938552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5418231">
                  <a:extLst>
                    <a:ext uri="{9D8B030D-6E8A-4147-A177-3AD203B41FA5}">
                      <a16:colId xmlns:a16="http://schemas.microsoft.com/office/drawing/2014/main" val="91689363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제안서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제안서를 첨부해주세요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. 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되도록 하나의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PDF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파일로 합쳐서 첨부해주세요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.)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64464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기타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-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4785494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1CB01C73-4CEA-9CFA-9CE3-FA6FEC027B77}"/>
              </a:ext>
            </a:extLst>
          </p:cNvPr>
          <p:cNvSpPr/>
          <p:nvPr/>
        </p:nvSpPr>
        <p:spPr>
          <a:xfrm>
            <a:off x="164466" y="3092471"/>
            <a:ext cx="7699720" cy="44502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□ 입찰계획에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설정한 내역을 모두 확인하였습니다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ECF5096-3044-0C6C-FCB8-CAA5C288FDCF}"/>
              </a:ext>
            </a:extLst>
          </p:cNvPr>
          <p:cNvSpPr/>
          <p:nvPr/>
        </p:nvSpPr>
        <p:spPr>
          <a:xfrm>
            <a:off x="6501172" y="3163978"/>
            <a:ext cx="1287513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최종저장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 </a:t>
            </a:r>
            <a:endParaRPr lang="ko-KR" altLang="en-US" sz="9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033C2D9-3541-0997-1BE2-8B193F9544A9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9AF7D99-E8D7-DF33-F570-B96A7426D65A}"/>
              </a:ext>
            </a:extLst>
          </p:cNvPr>
          <p:cNvSpPr/>
          <p:nvPr/>
        </p:nvSpPr>
        <p:spPr>
          <a:xfrm>
            <a:off x="2972780" y="3859678"/>
            <a:ext cx="378042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최종저장 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 유의사항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07B591E1-EC38-91DD-D038-536B18D578F5}"/>
              </a:ext>
            </a:extLst>
          </p:cNvPr>
          <p:cNvSpPr/>
          <p:nvPr/>
        </p:nvSpPr>
        <p:spPr>
          <a:xfrm>
            <a:off x="2972780" y="4132591"/>
            <a:ext cx="3780420" cy="185143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45D36834-A3AB-FCE3-8FC5-18A89F8D35CB}"/>
              </a:ext>
            </a:extLst>
          </p:cNvPr>
          <p:cNvSpPr/>
          <p:nvPr/>
        </p:nvSpPr>
        <p:spPr>
          <a:xfrm>
            <a:off x="6480112" y="3859678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0B35E86E-80FB-D9CD-71B0-343F007A152B}"/>
              </a:ext>
            </a:extLst>
          </p:cNvPr>
          <p:cNvSpPr/>
          <p:nvPr/>
        </p:nvSpPr>
        <p:spPr>
          <a:xfrm>
            <a:off x="3080559" y="4545978"/>
            <a:ext cx="3532535" cy="879892"/>
          </a:xfrm>
          <a:prstGeom prst="rect">
            <a:avLst/>
          </a:prstGeom>
          <a:solidFill>
            <a:srgbClr val="FFFF00">
              <a:alpha val="20000"/>
            </a:srgb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56000" tIns="108000" bIns="108000" rtlCol="0" anchor="ctr" anchorCtr="0"/>
          <a:lstStyle/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입찰계획 최종 저장하면 더 이상 입력하신 입찰계획의 등록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/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설정 내역이 수정되지 않습니다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.</a:t>
            </a:r>
          </a:p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최종 저장하시겠습니까</a:t>
            </a: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?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pic>
        <p:nvPicPr>
          <p:cNvPr id="30" name="Picture 8" descr="Announcement, hailer, loudspeaker, megaphone, speaker icon - Download on Iconfinder">
            <a:extLst>
              <a:ext uri="{FF2B5EF4-FFF2-40B4-BE49-F238E27FC236}">
                <a16:creationId xmlns:a16="http://schemas.microsoft.com/office/drawing/2014/main" id="{4684BA76-A7AD-8117-5DEF-5781B43565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6681" y="4702599"/>
            <a:ext cx="570440" cy="5704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3" name="직사각형 32">
            <a:extLst>
              <a:ext uri="{FF2B5EF4-FFF2-40B4-BE49-F238E27FC236}">
                <a16:creationId xmlns:a16="http://schemas.microsoft.com/office/drawing/2014/main" id="{87FB2B70-F8CD-4CC9-33CB-E59CC8FDB49F}"/>
              </a:ext>
            </a:extLst>
          </p:cNvPr>
          <p:cNvSpPr/>
          <p:nvPr/>
        </p:nvSpPr>
        <p:spPr>
          <a:xfrm>
            <a:off x="5924117" y="5534345"/>
            <a:ext cx="699418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E302A5B7-3B63-7437-5A71-CD8EE6EAAF58}"/>
              </a:ext>
            </a:extLst>
          </p:cNvPr>
          <p:cNvSpPr/>
          <p:nvPr/>
        </p:nvSpPr>
        <p:spPr>
          <a:xfrm>
            <a:off x="3104000" y="4228979"/>
            <a:ext cx="1923604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최종저장 시 유의사항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07F13723-14E7-1389-101B-2C6834DE6843}"/>
              </a:ext>
            </a:extLst>
          </p:cNvPr>
          <p:cNvSpPr/>
          <p:nvPr/>
        </p:nvSpPr>
        <p:spPr>
          <a:xfrm>
            <a:off x="4605837" y="5534345"/>
            <a:ext cx="1251509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최종저장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 </a:t>
            </a:r>
            <a:endParaRPr lang="ko-KR" altLang="en-US" sz="9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39" name="연결선: 꺾임 38">
            <a:extLst>
              <a:ext uri="{FF2B5EF4-FFF2-40B4-BE49-F238E27FC236}">
                <a16:creationId xmlns:a16="http://schemas.microsoft.com/office/drawing/2014/main" id="{D7FA406E-D0AF-B5C9-6770-0EF459F99600}"/>
              </a:ext>
            </a:extLst>
          </p:cNvPr>
          <p:cNvCxnSpPr>
            <a:cxnSpLocks/>
            <a:stCxn id="12" idx="1"/>
            <a:endCxn id="19" idx="0"/>
          </p:cNvCxnSpPr>
          <p:nvPr/>
        </p:nvCxnSpPr>
        <p:spPr>
          <a:xfrm rot="10800000" flipV="1">
            <a:off x="4862990" y="3307994"/>
            <a:ext cx="1638182" cy="551684"/>
          </a:xfrm>
          <a:prstGeom prst="bentConnector2">
            <a:avLst/>
          </a:prstGeom>
          <a:ln>
            <a:solidFill>
              <a:srgbClr val="C00000"/>
            </a:solidFill>
            <a:prstDash val="sysDash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타원 2">
            <a:extLst>
              <a:ext uri="{FF2B5EF4-FFF2-40B4-BE49-F238E27FC236}">
                <a16:creationId xmlns:a16="http://schemas.microsoft.com/office/drawing/2014/main" id="{4F411BE9-F8D9-D85F-0B8F-564ACB9C824E}"/>
              </a:ext>
            </a:extLst>
          </p:cNvPr>
          <p:cNvSpPr/>
          <p:nvPr/>
        </p:nvSpPr>
        <p:spPr>
          <a:xfrm>
            <a:off x="6397070" y="3047157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881EA499-00D9-4839-6821-28B7755E8FA1}"/>
              </a:ext>
            </a:extLst>
          </p:cNvPr>
          <p:cNvSpPr txBox="1"/>
          <p:nvPr/>
        </p:nvSpPr>
        <p:spPr>
          <a:xfrm>
            <a:off x="8049344" y="584684"/>
            <a:ext cx="1856656" cy="21575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입찰계획을 최종 저장하면 더 이상 입력한 입찰계획의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설정 내역을 수정할 수 없으며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입찰공고의 검색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조회 화면으로 이동됨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입찰공고에서 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입찰참여 전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에는 입찰계획으로 되돌려서 정보를 수정할 수 있음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추후 화면설계에 나옴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진행상태를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시작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마감일시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’, 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게시기간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 따라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공고대기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’, ‘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공고게시중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’, ‘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입찰진행중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으로 변경함</a:t>
            </a:r>
          </a:p>
        </p:txBody>
      </p:sp>
    </p:spTree>
    <p:extLst>
      <p:ext uri="{BB962C8B-B14F-4D97-AF65-F5344CB8AC3E}">
        <p14:creationId xmlns:p14="http://schemas.microsoft.com/office/powerpoint/2010/main" val="3798938752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CF7F05-B102-A927-4ED4-7338D85B37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0B4BD950-C18F-36E3-B17E-181ED075F66C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0A1EE8A-EE6F-C014-4450-CD45200E32C2}"/>
              </a:ext>
            </a:extLst>
          </p:cNvPr>
          <p:cNvSpPr txBox="1"/>
          <p:nvPr/>
        </p:nvSpPr>
        <p:spPr>
          <a:xfrm>
            <a:off x="749224" y="25608"/>
            <a:ext cx="314380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설정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등록 완료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572369AB-339F-0B9A-F2D6-E066EAE61F83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FF54DF7D-1CC8-EE47-F197-754D00F5FE10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95134020-394D-E56F-4821-9ADD3BEC392C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00D5F5E-DC1B-22B8-4E4E-DC09FEF62A93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2C3B672-BEAD-11E4-1A22-E48F944B5281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8C3355D-9EBB-19F1-65FB-FF17565B29FE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8" name="Picture 1">
            <a:extLst>
              <a:ext uri="{FF2B5EF4-FFF2-40B4-BE49-F238E27FC236}">
                <a16:creationId xmlns:a16="http://schemas.microsoft.com/office/drawing/2014/main" id="{360441C5-C781-2774-8762-24B72DC729A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grpSp>
        <p:nvGrpSpPr>
          <p:cNvPr id="38" name="그룹 37">
            <a:extLst>
              <a:ext uri="{FF2B5EF4-FFF2-40B4-BE49-F238E27FC236}">
                <a16:creationId xmlns:a16="http://schemas.microsoft.com/office/drawing/2014/main" id="{74ABE333-1A6F-05D0-E9DE-9F97760B634F}"/>
              </a:ext>
            </a:extLst>
          </p:cNvPr>
          <p:cNvGrpSpPr/>
          <p:nvPr/>
        </p:nvGrpSpPr>
        <p:grpSpPr>
          <a:xfrm>
            <a:off x="164467" y="826923"/>
            <a:ext cx="7717012" cy="643315"/>
            <a:chOff x="252353" y="826923"/>
            <a:chExt cx="7629126" cy="643315"/>
          </a:xfrm>
        </p:grpSpPr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9757B58C-5B50-6DF7-0584-9E74CE6A731C}"/>
                </a:ext>
              </a:extLst>
            </p:cNvPr>
            <p:cNvSpPr/>
            <p:nvPr/>
          </p:nvSpPr>
          <p:spPr>
            <a:xfrm>
              <a:off x="1352599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02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상세정보</a:t>
              </a:r>
              <a:endPara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2B464548-9364-0AAD-022D-B8FD1023D2A9}"/>
                </a:ext>
              </a:extLst>
            </p:cNvPr>
            <p:cNvSpPr/>
            <p:nvPr/>
          </p:nvSpPr>
          <p:spPr>
            <a:xfrm>
              <a:off x="2452845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03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심사</a:t>
              </a:r>
              <a:r>
                <a:rPr lang="en-US" altLang="ko-KR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</a:t>
              </a: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평가 계획</a:t>
              </a:r>
            </a:p>
          </p:txBody>
        </p: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9F1DF021-0C2E-A0D2-9092-9F79C3586B26}"/>
                </a:ext>
              </a:extLst>
            </p:cNvPr>
            <p:cNvSpPr/>
            <p:nvPr/>
          </p:nvSpPr>
          <p:spPr>
            <a:xfrm>
              <a:off x="3553091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04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b="1" spc="-5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예정가</a:t>
              </a:r>
              <a:r>
                <a:rPr lang="ko-KR" altLang="en-US" sz="800" b="1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</a:t>
              </a:r>
              <a:r>
                <a:rPr lang="en-US" altLang="ko-KR" sz="800" b="1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 </a:t>
              </a:r>
              <a:r>
                <a:rPr lang="ko-KR" altLang="en-US" sz="800" b="1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예비가</a:t>
              </a: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03853DDC-B118-B474-EC2B-A7EF66F7A875}"/>
                </a:ext>
              </a:extLst>
            </p:cNvPr>
            <p:cNvSpPr/>
            <p:nvPr/>
          </p:nvSpPr>
          <p:spPr>
            <a:xfrm>
              <a:off x="5753583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06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최종 점검</a:t>
              </a:r>
              <a:endPara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C95CED8F-7007-9F87-D246-E97E91AEDBC1}"/>
                </a:ext>
              </a:extLst>
            </p:cNvPr>
            <p:cNvSpPr/>
            <p:nvPr/>
          </p:nvSpPr>
          <p:spPr>
            <a:xfrm>
              <a:off x="6853832" y="826923"/>
              <a:ext cx="1027647" cy="643315"/>
            </a:xfrm>
            <a:prstGeom prst="rect">
              <a:avLst/>
            </a:prstGeom>
            <a:solidFill>
              <a:srgbClr val="FFC000">
                <a:alpha val="69804"/>
              </a:srgb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07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등록 완료</a:t>
              </a:r>
              <a:endPara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945AF2CB-208E-A53E-05C9-A4444824D7DA}"/>
                </a:ext>
              </a:extLst>
            </p:cNvPr>
            <p:cNvSpPr/>
            <p:nvPr/>
          </p:nvSpPr>
          <p:spPr>
            <a:xfrm>
              <a:off x="4653337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72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05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 참여 서류</a:t>
              </a:r>
            </a:p>
          </p:txBody>
        </p:sp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52DADFC9-7987-3F00-164A-1E575D9EABE2}"/>
                </a:ext>
              </a:extLst>
            </p:cNvPr>
            <p:cNvSpPr/>
            <p:nvPr/>
          </p:nvSpPr>
          <p:spPr>
            <a:xfrm>
              <a:off x="252353" y="826923"/>
              <a:ext cx="1027647" cy="643315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 anchorCtr="0"/>
            <a:lstStyle/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b="1" spc="-50" dirty="0">
                  <a:solidFill>
                    <a:srgbClr val="0070C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STEP 01</a:t>
              </a:r>
            </a:p>
            <a:p>
              <a:pPr algn="l">
                <a:lnSpc>
                  <a:spcPct val="130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ko-KR" altLang="en-US" sz="800" spc="-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발주계획 정보 확인</a:t>
              </a:r>
              <a:endParaRPr lang="en-US" altLang="ko-KR" sz="800" b="1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879CE417-77A9-E4F5-06EB-7140593297A1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D905AAC-322F-B241-AB4D-B832228358F3}"/>
              </a:ext>
            </a:extLst>
          </p:cNvPr>
          <p:cNvSpPr/>
          <p:nvPr/>
        </p:nvSpPr>
        <p:spPr>
          <a:xfrm>
            <a:off x="163127" y="2323851"/>
            <a:ext cx="7740859" cy="777440"/>
          </a:xfrm>
          <a:prstGeom prst="rect">
            <a:avLst/>
          </a:prstGeom>
          <a:solidFill>
            <a:srgbClr val="FFFF00">
              <a:alpha val="20000"/>
            </a:srgb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56000" tIns="108000" bIns="108000" rtlCol="0" anchor="ctr" anchorCtr="0"/>
          <a:lstStyle/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입찰계획 등록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/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설정이 완료되고 입찰공고 단계로 전개되었습니다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.</a:t>
            </a:r>
          </a:p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등록된 입찰계획은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검색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조회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메뉴에서 확인하실 수 있습니다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또한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메뉴를 통해 이후 단계를 진행하실 수 있습니다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pic>
        <p:nvPicPr>
          <p:cNvPr id="8" name="Picture 8" descr="Announcement, hailer, loudspeaker, megaphone, speaker icon - Download on Iconfinder">
            <a:extLst>
              <a:ext uri="{FF2B5EF4-FFF2-40B4-BE49-F238E27FC236}">
                <a16:creationId xmlns:a16="http://schemas.microsoft.com/office/drawing/2014/main" id="{D4521707-8407-591B-F006-59C5014B72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9250" y="2427351"/>
            <a:ext cx="570440" cy="5704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091402C0-7475-8C63-48D7-3CAEEB2A0BF5}"/>
              </a:ext>
            </a:extLst>
          </p:cNvPr>
          <p:cNvSpPr/>
          <p:nvPr/>
        </p:nvSpPr>
        <p:spPr>
          <a:xfrm>
            <a:off x="6321151" y="3210226"/>
            <a:ext cx="1556837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‘입찰공고 </a:t>
            </a:r>
            <a:r>
              <a:rPr lang="ko-KR" altLang="en-US" sz="90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현황’ 바로가기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 </a:t>
            </a:r>
            <a:endParaRPr lang="ko-KR" altLang="en-US" sz="9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7C9D89DF-3520-B8BD-82F2-B270BDE7AB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7434113"/>
              </p:ext>
            </p:extLst>
          </p:nvPr>
        </p:nvGraphicFramePr>
        <p:xfrm>
          <a:off x="164467" y="1556402"/>
          <a:ext cx="7713521" cy="675840"/>
        </p:xfrm>
        <a:graphic>
          <a:graphicData uri="http://schemas.openxmlformats.org/drawingml/2006/table">
            <a:tbl>
              <a:tblPr firstRow="1" bandRow="1"/>
              <a:tblGrid>
                <a:gridCol w="765574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697607">
                  <a:extLst>
                    <a:ext uri="{9D8B030D-6E8A-4147-A177-3AD203B41FA5}">
                      <a16:colId xmlns:a16="http://schemas.microsoft.com/office/drawing/2014/main" val="2016786680"/>
                    </a:ext>
                  </a:extLst>
                </a:gridCol>
                <a:gridCol w="479484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786645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632106">
                  <a:extLst>
                    <a:ext uri="{9D8B030D-6E8A-4147-A177-3AD203B41FA5}">
                      <a16:colId xmlns:a16="http://schemas.microsoft.com/office/drawing/2014/main" val="3053194834"/>
                    </a:ext>
                  </a:extLst>
                </a:gridCol>
                <a:gridCol w="289811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915731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997923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574320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574320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등록일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본공고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공고대기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 중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2026.07.22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4DFE736D-1B00-0C79-2FEE-CDF9E4543B4F}"/>
              </a:ext>
            </a:extLst>
          </p:cNvPr>
          <p:cNvSpPr txBox="1"/>
          <p:nvPr/>
        </p:nvSpPr>
        <p:spPr>
          <a:xfrm>
            <a:off x="8049344" y="584684"/>
            <a:ext cx="1856656" cy="23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sz="80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50E47978-C763-B58A-695A-9108DA85A970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88255197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FAD355-09B8-2DB8-B256-59FF3437A0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C373BFAE-A654-1F55-2F61-6AB832BBA5A6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C203743-E867-9A46-7F64-CF70B89C8FA1}"/>
              </a:ext>
            </a:extLst>
          </p:cNvPr>
          <p:cNvSpPr txBox="1"/>
          <p:nvPr/>
        </p:nvSpPr>
        <p:spPr>
          <a:xfrm>
            <a:off x="749224" y="25608"/>
            <a:ext cx="178927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검색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조회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45D6F1AA-2D2D-00BA-2C76-00584BC55174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55C94A39-508F-078F-2A75-45001A683883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B1FE69C8-10A9-FFFE-2B41-566B00B8C6B7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8E92165-1845-B8B8-6CB3-D2171D256645}"/>
              </a:ext>
            </a:extLst>
          </p:cNvPr>
          <p:cNvSpPr/>
          <p:nvPr/>
        </p:nvSpPr>
        <p:spPr>
          <a:xfrm>
            <a:off x="164468" y="834983"/>
            <a:ext cx="7740859" cy="180192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0AF4937-E1EB-EDBE-3B7D-F4C49FD3931E}"/>
              </a:ext>
            </a:extLst>
          </p:cNvPr>
          <p:cNvSpPr txBox="1"/>
          <p:nvPr/>
        </p:nvSpPr>
        <p:spPr>
          <a:xfrm>
            <a:off x="235850" y="941488"/>
            <a:ext cx="6805382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72000" marR="0" lvl="0" indent="-7200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조회기간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(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입찰 마감일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)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:                                                                                                                                                                   ~    </a:t>
            </a:r>
            <a:endParaRPr kumimoji="1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4FB665C-F393-6568-4DBA-A1E6D6D91553}"/>
              </a:ext>
            </a:extLst>
          </p:cNvPr>
          <p:cNvSpPr txBox="1"/>
          <p:nvPr/>
        </p:nvSpPr>
        <p:spPr>
          <a:xfrm>
            <a:off x="235849" y="1786312"/>
            <a:ext cx="6697013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72000" lvl="0" indent="-72000" algn="l">
              <a:buFont typeface="Arial" panose="020B0604020202020204" pitchFamily="34" charset="0"/>
              <a:buChar char="•"/>
              <a:defRPr/>
            </a:pPr>
            <a:r>
              <a:rPr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공고 구분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:                             </a:t>
            </a:r>
            <a:r>
              <a:rPr lang="ko-KR" altLang="en-US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● 전체      ○ </a:t>
            </a:r>
            <a:r>
              <a:rPr lang="ko-KR" altLang="en-US" sz="800" b="0" dirty="0" err="1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본공고</a:t>
            </a:r>
            <a:r>
              <a:rPr lang="ko-KR" altLang="en-US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 </a:t>
            </a:r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○ </a:t>
            </a:r>
            <a:r>
              <a:rPr lang="ko-KR" altLang="en-US" sz="800" b="0" dirty="0" err="1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재공고</a:t>
            </a:r>
            <a:endParaRPr lang="en-US" altLang="ko-KR" sz="8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CA626930-5E5A-15D6-23EC-725519357222}"/>
              </a:ext>
            </a:extLst>
          </p:cNvPr>
          <p:cNvSpPr txBox="1"/>
          <p:nvPr/>
        </p:nvSpPr>
        <p:spPr>
          <a:xfrm>
            <a:off x="235850" y="2317453"/>
            <a:ext cx="1764824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72000" lvl="0" indent="-72000" algn="l">
              <a:buFont typeface="Arial" panose="020B0604020202020204" pitchFamily="34" charset="0"/>
              <a:buChar char="•"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키워드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검색 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:</a:t>
            </a:r>
            <a:endParaRPr lang="ko-KR" altLang="en-US" sz="8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7AA6C40D-F659-0F3D-7C59-3C80E07BF28E}"/>
              </a:ext>
            </a:extLst>
          </p:cNvPr>
          <p:cNvSpPr/>
          <p:nvPr/>
        </p:nvSpPr>
        <p:spPr>
          <a:xfrm>
            <a:off x="4972054" y="929087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검색 시작일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DBE11941-0526-F038-95A4-2002F6483AE8}"/>
              </a:ext>
            </a:extLst>
          </p:cNvPr>
          <p:cNvSpPr/>
          <p:nvPr/>
        </p:nvSpPr>
        <p:spPr>
          <a:xfrm>
            <a:off x="5782305" y="929089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E792731-1F5A-5B8F-D59E-FCFDD73E8816}"/>
              </a:ext>
            </a:extLst>
          </p:cNvPr>
          <p:cNvSpPr/>
          <p:nvPr/>
        </p:nvSpPr>
        <p:spPr>
          <a:xfrm>
            <a:off x="6195560" y="929087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검색 종료일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D80A768A-8158-C1C2-4C81-532F57B56CE6}"/>
              </a:ext>
            </a:extLst>
          </p:cNvPr>
          <p:cNvSpPr/>
          <p:nvPr/>
        </p:nvSpPr>
        <p:spPr>
          <a:xfrm>
            <a:off x="7005811" y="929089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5FF3353-7C47-06F1-267F-2308EA5B273F}"/>
              </a:ext>
            </a:extLst>
          </p:cNvPr>
          <p:cNvSpPr/>
          <p:nvPr/>
        </p:nvSpPr>
        <p:spPr>
          <a:xfrm>
            <a:off x="1682278" y="929087"/>
            <a:ext cx="498772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r>
              <a:rPr lang="ko-KR" altLang="en-US" sz="80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하루 전</a:t>
            </a:r>
            <a:endParaRPr lang="ko-KR" altLang="en-US" sz="8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D04291DF-B3D9-5316-4BEA-23F18AEBC39C}"/>
              </a:ext>
            </a:extLst>
          </p:cNvPr>
          <p:cNvSpPr/>
          <p:nvPr/>
        </p:nvSpPr>
        <p:spPr>
          <a:xfrm>
            <a:off x="2230847" y="929087"/>
            <a:ext cx="498772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r>
              <a:rPr lang="en-US" altLang="ko-KR" sz="80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주일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FD20E31-74E4-9186-946E-A2B4A76C88A4}"/>
              </a:ext>
            </a:extLst>
          </p:cNvPr>
          <p:cNvSpPr/>
          <p:nvPr/>
        </p:nvSpPr>
        <p:spPr>
          <a:xfrm>
            <a:off x="2779416" y="929087"/>
            <a:ext cx="498772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r>
              <a:rPr lang="en-US" altLang="ko-KR" sz="80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개월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7CCBD369-C317-5165-16C2-E69EFF183A60}"/>
              </a:ext>
            </a:extLst>
          </p:cNvPr>
          <p:cNvSpPr/>
          <p:nvPr/>
        </p:nvSpPr>
        <p:spPr>
          <a:xfrm>
            <a:off x="3327985" y="929087"/>
            <a:ext cx="498772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r>
              <a:rPr lang="en-US" altLang="ko-KR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개월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6C6DC975-000E-97DC-9716-E9C6CFB1711F}"/>
              </a:ext>
            </a:extLst>
          </p:cNvPr>
          <p:cNvSpPr/>
          <p:nvPr/>
        </p:nvSpPr>
        <p:spPr>
          <a:xfrm>
            <a:off x="3876554" y="929087"/>
            <a:ext cx="498772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r>
              <a:rPr lang="en-US" altLang="ko-KR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개월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E29E8DB-4E95-B46F-6AD5-BCA8173AF692}"/>
              </a:ext>
            </a:extLst>
          </p:cNvPr>
          <p:cNvSpPr/>
          <p:nvPr/>
        </p:nvSpPr>
        <p:spPr>
          <a:xfrm>
            <a:off x="4425122" y="929087"/>
            <a:ext cx="498772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r>
              <a:rPr lang="en-US" altLang="ko-KR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년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EBD75FBA-E640-495E-ABB2-E7B80DAC3AEF}"/>
              </a:ext>
            </a:extLst>
          </p:cNvPr>
          <p:cNvSpPr txBox="1"/>
          <p:nvPr/>
        </p:nvSpPr>
        <p:spPr>
          <a:xfrm>
            <a:off x="235849" y="1221380"/>
            <a:ext cx="6697013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72000" indent="-72000" algn="l">
              <a:buFont typeface="Arial" panose="020B0604020202020204" pitchFamily="34" charset="0"/>
              <a:buChar char="•"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구분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:                                     </a:t>
            </a:r>
            <a:r>
              <a:rPr lang="ko-KR" altLang="en-US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● 전체      ○ 공사     </a:t>
            </a:r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○ </a:t>
            </a:r>
            <a:r>
              <a:rPr lang="ko-KR" altLang="en-US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용역     </a:t>
            </a:r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○ </a:t>
            </a:r>
            <a:r>
              <a:rPr lang="ko-KR" altLang="en-US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물품</a:t>
            </a:r>
            <a:endParaRPr lang="en-US" altLang="ko-KR" sz="8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BF4406D9-67E8-96D7-2623-8F8C3B3112FC}"/>
              </a:ext>
            </a:extLst>
          </p:cNvPr>
          <p:cNvSpPr/>
          <p:nvPr/>
        </p:nvSpPr>
        <p:spPr>
          <a:xfrm>
            <a:off x="1654646" y="2310308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검색 구분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CA7AC7F8-A331-2D21-4994-C07F4E80A8BF}"/>
              </a:ext>
            </a:extLst>
          </p:cNvPr>
          <p:cNvSpPr/>
          <p:nvPr/>
        </p:nvSpPr>
        <p:spPr>
          <a:xfrm>
            <a:off x="2464897" y="2310310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9331E85A-A13D-6EA5-0BC9-047F298B5AE7}"/>
              </a:ext>
            </a:extLst>
          </p:cNvPr>
          <p:cNvSpPr/>
          <p:nvPr/>
        </p:nvSpPr>
        <p:spPr>
          <a:xfrm>
            <a:off x="2780034" y="2310308"/>
            <a:ext cx="3619804" cy="2080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검색어를 입력하세요</a:t>
            </a:r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800" b="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6C266D1E-066C-DE00-1C98-40EEBB4B1639}"/>
              </a:ext>
            </a:extLst>
          </p:cNvPr>
          <p:cNvSpPr/>
          <p:nvPr/>
        </p:nvSpPr>
        <p:spPr>
          <a:xfrm>
            <a:off x="6488042" y="2310310"/>
            <a:ext cx="625198" cy="2154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검색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B42FF5FB-228D-D2FE-030A-E8CB232AD336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AC91B37B-B0B9-A2BE-637F-77D5DBF42921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B77FC962-E32C-5CC3-BC50-6235E82E011A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22" name="Picture 1">
            <a:extLst>
              <a:ext uri="{FF2B5EF4-FFF2-40B4-BE49-F238E27FC236}">
                <a16:creationId xmlns:a16="http://schemas.microsoft.com/office/drawing/2014/main" id="{DC3E7754-6073-2EA4-16B4-CBDD3AE4E25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FFD713C5-0766-5098-6A53-D33DBEE1D2BA}"/>
              </a:ext>
            </a:extLst>
          </p:cNvPr>
          <p:cNvSpPr txBox="1"/>
          <p:nvPr/>
        </p:nvSpPr>
        <p:spPr>
          <a:xfrm>
            <a:off x="235849" y="2059815"/>
            <a:ext cx="7740859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72000" lvl="0" indent="-72000" algn="l">
              <a:buFont typeface="Arial" panose="020B0604020202020204" pitchFamily="34" charset="0"/>
              <a:buChar char="•"/>
              <a:defRPr/>
            </a:pPr>
            <a:r>
              <a:rPr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진행상태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:</a:t>
            </a:r>
            <a:endParaRPr lang="en-US" altLang="ko-KR" sz="8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1E3D99A5-B780-8F18-2435-0C5E0D61D50E}"/>
              </a:ext>
            </a:extLst>
          </p:cNvPr>
          <p:cNvSpPr/>
          <p:nvPr/>
        </p:nvSpPr>
        <p:spPr>
          <a:xfrm>
            <a:off x="1559099" y="805909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4F73E6D3-C0D1-42B9-B4A1-0171F61112F8}"/>
              </a:ext>
            </a:extLst>
          </p:cNvPr>
          <p:cNvSpPr txBox="1"/>
          <p:nvPr/>
        </p:nvSpPr>
        <p:spPr>
          <a:xfrm>
            <a:off x="8049344" y="584684"/>
            <a:ext cx="1856656" cy="158812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입찰마감일 기준 기간 검색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계약방법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에 따른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으로 검색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본공고인지 유찰 후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재공고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(1/2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차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인지 여부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입찰의 진행상태 정리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노란색 영역 참고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endParaRPr lang="en-US" altLang="ko-KR" sz="80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F758141-5A6A-2C92-3C99-BE474B2C3E5C}"/>
              </a:ext>
            </a:extLst>
          </p:cNvPr>
          <p:cNvSpPr txBox="1"/>
          <p:nvPr/>
        </p:nvSpPr>
        <p:spPr>
          <a:xfrm>
            <a:off x="235849" y="1497415"/>
            <a:ext cx="6697013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72000" indent="-72000" algn="l">
              <a:buFont typeface="Arial" panose="020B0604020202020204" pitchFamily="34" charset="0"/>
              <a:buChar char="•"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계약방법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/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낙찰자 선정방법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:</a:t>
            </a:r>
            <a:endParaRPr lang="en-US" altLang="ko-KR" sz="8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55769A20-F94B-97D4-F8E6-3266789C886E}"/>
              </a:ext>
            </a:extLst>
          </p:cNvPr>
          <p:cNvSpPr/>
          <p:nvPr/>
        </p:nvSpPr>
        <p:spPr>
          <a:xfrm>
            <a:off x="1666765" y="1497418"/>
            <a:ext cx="1395982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계약방법 선택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85A836AC-AE69-92F4-86F8-024C5D5422CE}"/>
              </a:ext>
            </a:extLst>
          </p:cNvPr>
          <p:cNvSpPr/>
          <p:nvPr/>
        </p:nvSpPr>
        <p:spPr>
          <a:xfrm>
            <a:off x="3062747" y="1497420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732CF17F-67F1-3FDC-C9BF-C6CD8031B89A}"/>
              </a:ext>
            </a:extLst>
          </p:cNvPr>
          <p:cNvSpPr/>
          <p:nvPr/>
        </p:nvSpPr>
        <p:spPr>
          <a:xfrm>
            <a:off x="3349569" y="1497418"/>
            <a:ext cx="1395982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 선택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3BC1A725-4149-5CCF-CC20-B8B22BDF0F86}"/>
              </a:ext>
            </a:extLst>
          </p:cNvPr>
          <p:cNvSpPr/>
          <p:nvPr/>
        </p:nvSpPr>
        <p:spPr>
          <a:xfrm>
            <a:off x="4745551" y="1497420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5D7058BC-4634-06F7-B580-79C84A34F43F}"/>
              </a:ext>
            </a:extLst>
          </p:cNvPr>
          <p:cNvSpPr/>
          <p:nvPr/>
        </p:nvSpPr>
        <p:spPr>
          <a:xfrm>
            <a:off x="1558753" y="1671153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88E91972-7A8D-56B2-7F94-8C45CA230480}"/>
              </a:ext>
            </a:extLst>
          </p:cNvPr>
          <p:cNvSpPr/>
          <p:nvPr/>
        </p:nvSpPr>
        <p:spPr>
          <a:xfrm>
            <a:off x="1558753" y="1369259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B42E66DC-316E-003E-843C-6372CDEE2E17}"/>
              </a:ext>
            </a:extLst>
          </p:cNvPr>
          <p:cNvSpPr/>
          <p:nvPr/>
        </p:nvSpPr>
        <p:spPr>
          <a:xfrm>
            <a:off x="1666765" y="2028182"/>
            <a:ext cx="1395982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진행상태 선택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D863FF6D-C258-CD3A-B8AB-77217552C9D0}"/>
              </a:ext>
            </a:extLst>
          </p:cNvPr>
          <p:cNvSpPr/>
          <p:nvPr/>
        </p:nvSpPr>
        <p:spPr>
          <a:xfrm>
            <a:off x="3062747" y="2028184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72" name="타원 71">
            <a:extLst>
              <a:ext uri="{FF2B5EF4-FFF2-40B4-BE49-F238E27FC236}">
                <a16:creationId xmlns:a16="http://schemas.microsoft.com/office/drawing/2014/main" id="{449A634E-6508-EFBB-B5E9-A5567260EEB3}"/>
              </a:ext>
            </a:extLst>
          </p:cNvPr>
          <p:cNvSpPr/>
          <p:nvPr/>
        </p:nvSpPr>
        <p:spPr>
          <a:xfrm>
            <a:off x="1558753" y="1969110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" name="타원 77">
            <a:extLst>
              <a:ext uri="{FF2B5EF4-FFF2-40B4-BE49-F238E27FC236}">
                <a16:creationId xmlns:a16="http://schemas.microsoft.com/office/drawing/2014/main" id="{33DACFA0-51AF-48DE-6F2D-E5DE80D8FDE4}"/>
              </a:ext>
            </a:extLst>
          </p:cNvPr>
          <p:cNvSpPr/>
          <p:nvPr/>
        </p:nvSpPr>
        <p:spPr>
          <a:xfrm>
            <a:off x="1552720" y="2201714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1CEB0B77-5B00-3DE9-493F-4C4DE1C8DC0D}"/>
              </a:ext>
            </a:extLst>
          </p:cNvPr>
          <p:cNvSpPr/>
          <p:nvPr/>
        </p:nvSpPr>
        <p:spPr>
          <a:xfrm>
            <a:off x="5856272" y="2932280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en-US" altLang="ko-KR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개씩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5EA02EB5-24FB-FCE9-89C0-341367E2A65E}"/>
              </a:ext>
            </a:extLst>
          </p:cNvPr>
          <p:cNvSpPr/>
          <p:nvPr/>
        </p:nvSpPr>
        <p:spPr>
          <a:xfrm>
            <a:off x="6677734" y="2932280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AE5BAFFE-96A8-208D-12E7-15B0DB3D810F}"/>
              </a:ext>
            </a:extLst>
          </p:cNvPr>
          <p:cNvSpPr txBox="1"/>
          <p:nvPr/>
        </p:nvSpPr>
        <p:spPr>
          <a:xfrm>
            <a:off x="181506" y="2918762"/>
            <a:ext cx="2975920" cy="230832"/>
          </a:xfrm>
          <a:prstGeom prst="rect">
            <a:avLst/>
          </a:prstGeom>
          <a:noFill/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전체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1,523</a:t>
            </a:r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건 현재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en-US" altLang="ko-KR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/4</a:t>
            </a:r>
            <a:endParaRPr lang="ko-KR" altLang="en-US" sz="900" b="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50FC978B-BAC3-CCB6-D178-5B92CDFCC9A3}"/>
              </a:ext>
            </a:extLst>
          </p:cNvPr>
          <p:cNvSpPr/>
          <p:nvPr/>
        </p:nvSpPr>
        <p:spPr>
          <a:xfrm>
            <a:off x="6982990" y="2932280"/>
            <a:ext cx="913712" cy="215441"/>
          </a:xfrm>
          <a:prstGeom prst="rect">
            <a:avLst/>
          </a:prstGeom>
          <a:solidFill>
            <a:srgbClr val="00B05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다운로드</a:t>
            </a:r>
            <a:r>
              <a:rPr lang="en-US" altLang="ko-KR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(Excel)</a:t>
            </a:r>
            <a:endParaRPr lang="ko-KR" altLang="en-US" sz="8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87" name="표 86">
            <a:extLst>
              <a:ext uri="{FF2B5EF4-FFF2-40B4-BE49-F238E27FC236}">
                <a16:creationId xmlns:a16="http://schemas.microsoft.com/office/drawing/2014/main" id="{5CD521C3-CB36-2DED-65AE-EC217A1C9CC2}"/>
              </a:ext>
            </a:extLst>
          </p:cNvPr>
          <p:cNvGraphicFramePr>
            <a:graphicFrameLocks noGrp="1"/>
          </p:cNvGraphicFramePr>
          <p:nvPr/>
        </p:nvGraphicFramePr>
        <p:xfrm>
          <a:off x="179901" y="3232036"/>
          <a:ext cx="10256513" cy="3041280"/>
        </p:xfrm>
        <a:graphic>
          <a:graphicData uri="http://schemas.openxmlformats.org/drawingml/2006/table">
            <a:tbl>
              <a:tblPr firstRow="1" bandRow="1"/>
              <a:tblGrid>
                <a:gridCol w="840913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772650">
                  <a:extLst>
                    <a:ext uri="{9D8B030D-6E8A-4147-A177-3AD203B41FA5}">
                      <a16:colId xmlns:a16="http://schemas.microsoft.com/office/drawing/2014/main" val="2112928521"/>
                    </a:ext>
                  </a:extLst>
                </a:gridCol>
                <a:gridCol w="648825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2185525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1034587">
                  <a:extLst>
                    <a:ext uri="{9D8B030D-6E8A-4147-A177-3AD203B41FA5}">
                      <a16:colId xmlns:a16="http://schemas.microsoft.com/office/drawing/2014/main" val="2708523098"/>
                    </a:ext>
                  </a:extLst>
                </a:gridCol>
                <a:gridCol w="721850">
                  <a:extLst>
                    <a:ext uri="{9D8B030D-6E8A-4147-A177-3AD203B41FA5}">
                      <a16:colId xmlns:a16="http://schemas.microsoft.com/office/drawing/2014/main" val="3829591775"/>
                    </a:ext>
                  </a:extLst>
                </a:gridCol>
                <a:gridCol w="363075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817100">
                  <a:extLst>
                    <a:ext uri="{9D8B030D-6E8A-4147-A177-3AD203B41FA5}">
                      <a16:colId xmlns:a16="http://schemas.microsoft.com/office/drawing/2014/main" val="1960918577"/>
                    </a:ext>
                  </a:extLst>
                </a:gridCol>
                <a:gridCol w="1545763">
                  <a:extLst>
                    <a:ext uri="{9D8B030D-6E8A-4147-A177-3AD203B41FA5}">
                      <a16:colId xmlns:a16="http://schemas.microsoft.com/office/drawing/2014/main" val="2297195669"/>
                    </a:ext>
                  </a:extLst>
                </a:gridCol>
                <a:gridCol w="648825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677400">
                  <a:extLst>
                    <a:ext uri="{9D8B030D-6E8A-4147-A177-3AD203B41FA5}">
                      <a16:colId xmlns:a16="http://schemas.microsoft.com/office/drawing/2014/main" val="205180935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마감일시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참여업체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수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 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본공고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공고대기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 중 도장공사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2026.07.31 18:00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최저가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임꺽정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재공고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(1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차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공고게시중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2026.07.31 18:00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용역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제한적 최저가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재공고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(2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차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입찰진행중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2026.07.31 18:00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물품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2단계 경쟁입찰(규격/가격 동시)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입찰마감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경쟁입찰(지명)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단계 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규격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가격 분리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3946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투찰진행중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적격심사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48232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투찰마감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87735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심사완료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13736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개찰완료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2443254"/>
                  </a:ext>
                </a:extLst>
              </a:tr>
            </a:tbl>
          </a:graphicData>
        </a:graphic>
      </p:graphicFrame>
      <p:sp>
        <p:nvSpPr>
          <p:cNvPr id="88" name="TextBox 87">
            <a:extLst>
              <a:ext uri="{FF2B5EF4-FFF2-40B4-BE49-F238E27FC236}">
                <a16:creationId xmlns:a16="http://schemas.microsoft.com/office/drawing/2014/main" id="{ED1D5227-2CAB-EE5F-3F96-743C954AF037}"/>
              </a:ext>
            </a:extLst>
          </p:cNvPr>
          <p:cNvSpPr txBox="1"/>
          <p:nvPr/>
        </p:nvSpPr>
        <p:spPr>
          <a:xfrm>
            <a:off x="2683131" y="4530156"/>
            <a:ext cx="2374500" cy="1615827"/>
          </a:xfrm>
          <a:prstGeom prst="rect">
            <a:avLst/>
          </a:prstGeom>
          <a:solidFill>
            <a:srgbClr val="FFFF00">
              <a:alpha val="69804"/>
            </a:srgbClr>
          </a:solidFill>
        </p:spPr>
        <p:txBody>
          <a:bodyPr wrap="square">
            <a:spAutoFit/>
          </a:bodyPr>
          <a:lstStyle/>
          <a:p>
            <a:pPr marL="72000" indent="-7200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공고대기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: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공고 게시기간 전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  <a:p>
            <a:pPr marL="72000" indent="-7200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공고게시중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: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공고 게시기간 중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  <a:p>
            <a:pPr marL="72000" indent="-7200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입찰진행중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: </a:t>
            </a: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입찰 기간 중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  <a:p>
            <a:pPr marL="72000" indent="-7200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입찰마감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: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입찰기간 종료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  <a:p>
            <a:pPr marL="72000" indent="-7200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투찰진행중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: </a:t>
            </a: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투찰기간이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별도인 경우 </a:t>
            </a: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투찰기간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내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  <a:p>
            <a:pPr marL="72000" indent="-7200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투찰마감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: </a:t>
            </a: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투찰기간이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별도인 경우 </a:t>
            </a: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투찰기간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종료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  <a:p>
            <a:pPr marL="72000" indent="-7200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심사완료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: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심사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/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평가 완료 시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  <a:p>
            <a:pPr marL="72000" indent="-7200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개찰완료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: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개찰 완료 시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A1AAA65B-A9ED-5154-112C-19CB0C5B711F}"/>
              </a:ext>
            </a:extLst>
          </p:cNvPr>
          <p:cNvSpPr/>
          <p:nvPr/>
        </p:nvSpPr>
        <p:spPr>
          <a:xfrm>
            <a:off x="1818320" y="3588096"/>
            <a:ext cx="587922" cy="2685220"/>
          </a:xfrm>
          <a:prstGeom prst="rect">
            <a:avLst/>
          </a:prstGeom>
          <a:noFill/>
          <a:ln w="3175">
            <a:solidFill>
              <a:srgbClr val="C00000"/>
            </a:solidFill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0" name="연결선: 꺾임 89">
            <a:extLst>
              <a:ext uri="{FF2B5EF4-FFF2-40B4-BE49-F238E27FC236}">
                <a16:creationId xmlns:a16="http://schemas.microsoft.com/office/drawing/2014/main" id="{C5B5A23C-2C09-7118-2E10-29A090C2A356}"/>
              </a:ext>
            </a:extLst>
          </p:cNvPr>
          <p:cNvCxnSpPr>
            <a:cxnSpLocks/>
            <a:stCxn id="89" idx="3"/>
            <a:endCxn id="88" idx="1"/>
          </p:cNvCxnSpPr>
          <p:nvPr/>
        </p:nvCxnSpPr>
        <p:spPr>
          <a:xfrm>
            <a:off x="2406242" y="4930706"/>
            <a:ext cx="276889" cy="407364"/>
          </a:xfrm>
          <a:prstGeom prst="bentConnector3">
            <a:avLst/>
          </a:prstGeom>
          <a:ln>
            <a:solidFill>
              <a:srgbClr val="C00000"/>
            </a:solidFill>
            <a:prstDash val="sysDash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타원 90">
            <a:extLst>
              <a:ext uri="{FF2B5EF4-FFF2-40B4-BE49-F238E27FC236}">
                <a16:creationId xmlns:a16="http://schemas.microsoft.com/office/drawing/2014/main" id="{D3A231EB-F4C5-C7BB-64DB-8856CEB1921F}"/>
              </a:ext>
            </a:extLst>
          </p:cNvPr>
          <p:cNvSpPr/>
          <p:nvPr/>
        </p:nvSpPr>
        <p:spPr>
          <a:xfrm>
            <a:off x="127837" y="3445914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" name="타원 91">
            <a:extLst>
              <a:ext uri="{FF2B5EF4-FFF2-40B4-BE49-F238E27FC236}">
                <a16:creationId xmlns:a16="http://schemas.microsoft.com/office/drawing/2014/main" id="{C6B44158-BC75-0784-A386-BDF6A1074495}"/>
              </a:ext>
            </a:extLst>
          </p:cNvPr>
          <p:cNvSpPr/>
          <p:nvPr/>
        </p:nvSpPr>
        <p:spPr>
          <a:xfrm>
            <a:off x="5611227" y="3445914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D15CEA07-A46C-DAD9-8351-8067EB977669}"/>
              </a:ext>
            </a:extLst>
          </p:cNvPr>
          <p:cNvSpPr txBox="1"/>
          <p:nvPr/>
        </p:nvSpPr>
        <p:spPr>
          <a:xfrm>
            <a:off x="2336678" y="2622215"/>
            <a:ext cx="1856656" cy="215444"/>
          </a:xfrm>
          <a:prstGeom prst="rect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txBody>
          <a:bodyPr wrap="square">
            <a:spAutoFit/>
          </a:bodyPr>
          <a:lstStyle/>
          <a:p>
            <a:pPr algn="l"/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검색 구분 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입찰공고번호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입찰 건명</a:t>
            </a:r>
            <a:endParaRPr lang="ko-KR" altLang="en-US" dirty="0"/>
          </a:p>
        </p:txBody>
      </p:sp>
      <p:cxnSp>
        <p:nvCxnSpPr>
          <p:cNvPr id="96" name="연결선: 꺾임 95">
            <a:extLst>
              <a:ext uri="{FF2B5EF4-FFF2-40B4-BE49-F238E27FC236}">
                <a16:creationId xmlns:a16="http://schemas.microsoft.com/office/drawing/2014/main" id="{D90E5BC5-AB2E-BBFB-3CEA-A121A57CEC64}"/>
              </a:ext>
            </a:extLst>
          </p:cNvPr>
          <p:cNvCxnSpPr>
            <a:stCxn id="42" idx="2"/>
            <a:endCxn id="94" idx="1"/>
          </p:cNvCxnSpPr>
          <p:nvPr/>
        </p:nvCxnSpPr>
        <p:spPr>
          <a:xfrm rot="16200000" flipH="1">
            <a:off x="2099004" y="2492263"/>
            <a:ext cx="204188" cy="271160"/>
          </a:xfrm>
          <a:prstGeom prst="bentConnector2">
            <a:avLst/>
          </a:prstGeom>
          <a:ln>
            <a:solidFill>
              <a:srgbClr val="C00000"/>
            </a:solidFill>
            <a:prstDash val="sysDash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TextBox 98">
            <a:extLst>
              <a:ext uri="{FF2B5EF4-FFF2-40B4-BE49-F238E27FC236}">
                <a16:creationId xmlns:a16="http://schemas.microsoft.com/office/drawing/2014/main" id="{CA352FFE-034C-8A12-0451-DEA11688C180}"/>
              </a:ext>
            </a:extLst>
          </p:cNvPr>
          <p:cNvSpPr txBox="1"/>
          <p:nvPr/>
        </p:nvSpPr>
        <p:spPr>
          <a:xfrm>
            <a:off x="343861" y="4628143"/>
            <a:ext cx="1424883" cy="215444"/>
          </a:xfrm>
          <a:prstGeom prst="rect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txBody>
          <a:bodyPr wrap="square">
            <a:spAutoFit/>
          </a:bodyPr>
          <a:lstStyle/>
          <a:p>
            <a:pPr algn="l"/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입찰계획서 호출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뒤 페이지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</p:txBody>
      </p:sp>
      <p:cxnSp>
        <p:nvCxnSpPr>
          <p:cNvPr id="100" name="연결선: 꺾임 99">
            <a:extLst>
              <a:ext uri="{FF2B5EF4-FFF2-40B4-BE49-F238E27FC236}">
                <a16:creationId xmlns:a16="http://schemas.microsoft.com/office/drawing/2014/main" id="{6833CCB4-51F7-35C0-F577-CD2C7D12C479}"/>
              </a:ext>
            </a:extLst>
          </p:cNvPr>
          <p:cNvCxnSpPr>
            <a:cxnSpLocks/>
            <a:stCxn id="91" idx="4"/>
            <a:endCxn id="99" idx="1"/>
          </p:cNvCxnSpPr>
          <p:nvPr/>
        </p:nvCxnSpPr>
        <p:spPr>
          <a:xfrm rot="16200000" flipH="1">
            <a:off x="-247108" y="4144895"/>
            <a:ext cx="1073927" cy="108012"/>
          </a:xfrm>
          <a:prstGeom prst="bentConnector2">
            <a:avLst/>
          </a:prstGeom>
          <a:ln>
            <a:solidFill>
              <a:srgbClr val="C00000"/>
            </a:solidFill>
            <a:prstDash val="sysDash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TextBox 106">
            <a:extLst>
              <a:ext uri="{FF2B5EF4-FFF2-40B4-BE49-F238E27FC236}">
                <a16:creationId xmlns:a16="http://schemas.microsoft.com/office/drawing/2014/main" id="{59BFA8EA-ED70-BB9E-8D8F-E632318C0640}"/>
              </a:ext>
            </a:extLst>
          </p:cNvPr>
          <p:cNvSpPr txBox="1"/>
          <p:nvPr/>
        </p:nvSpPr>
        <p:spPr>
          <a:xfrm>
            <a:off x="5856272" y="5148881"/>
            <a:ext cx="2231408" cy="215444"/>
          </a:xfrm>
          <a:prstGeom prst="rect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txBody>
          <a:bodyPr wrap="square">
            <a:spAutoFit/>
          </a:bodyPr>
          <a:lstStyle/>
          <a:p>
            <a:pPr algn="l"/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제출상태가 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‘입찰 참여 완료’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인 경우에만 카운트</a:t>
            </a:r>
          </a:p>
        </p:txBody>
      </p:sp>
      <p:cxnSp>
        <p:nvCxnSpPr>
          <p:cNvPr id="108" name="연결선: 꺾임 107">
            <a:extLst>
              <a:ext uri="{FF2B5EF4-FFF2-40B4-BE49-F238E27FC236}">
                <a16:creationId xmlns:a16="http://schemas.microsoft.com/office/drawing/2014/main" id="{77A0F4C6-FF96-1FA7-C4F6-D98B77E0B5BB}"/>
              </a:ext>
            </a:extLst>
          </p:cNvPr>
          <p:cNvCxnSpPr>
            <a:cxnSpLocks/>
            <a:stCxn id="92" idx="4"/>
            <a:endCxn id="107" idx="1"/>
          </p:cNvCxnSpPr>
          <p:nvPr/>
        </p:nvCxnSpPr>
        <p:spPr>
          <a:xfrm rot="16200000" flipH="1">
            <a:off x="4990423" y="4390753"/>
            <a:ext cx="1594665" cy="137033"/>
          </a:xfrm>
          <a:prstGeom prst="bentConnector2">
            <a:avLst/>
          </a:prstGeom>
          <a:ln>
            <a:solidFill>
              <a:srgbClr val="C00000"/>
            </a:solidFill>
            <a:prstDash val="sysDash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01917025-5BC6-868C-0C1D-5FA6253821D9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계속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076AA5B0-1017-1F3F-0855-89D80060F35D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59171039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08160C-1B87-B5DF-887A-75DB2F866E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4E72614C-AC86-C1BD-06BC-A18E5F155EAC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D6AF83C-E804-4F03-54F2-FDCE7ECDCF3E}"/>
              </a:ext>
            </a:extLst>
          </p:cNvPr>
          <p:cNvSpPr txBox="1"/>
          <p:nvPr/>
        </p:nvSpPr>
        <p:spPr>
          <a:xfrm>
            <a:off x="749224" y="25608"/>
            <a:ext cx="178927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검색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조회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51" name="표 50">
            <a:extLst>
              <a:ext uri="{FF2B5EF4-FFF2-40B4-BE49-F238E27FC236}">
                <a16:creationId xmlns:a16="http://schemas.microsoft.com/office/drawing/2014/main" id="{E0F07C6D-29B9-F63B-C00A-E8E1160581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3103492"/>
              </p:ext>
            </p:extLst>
          </p:nvPr>
        </p:nvGraphicFramePr>
        <p:xfrm>
          <a:off x="179901" y="402234"/>
          <a:ext cx="10834363" cy="3379200"/>
        </p:xfrm>
        <a:graphic>
          <a:graphicData uri="http://schemas.openxmlformats.org/drawingml/2006/table">
            <a:tbl>
              <a:tblPr firstRow="1" bandRow="1"/>
              <a:tblGrid>
                <a:gridCol w="840913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772650">
                  <a:extLst>
                    <a:ext uri="{9D8B030D-6E8A-4147-A177-3AD203B41FA5}">
                      <a16:colId xmlns:a16="http://schemas.microsoft.com/office/drawing/2014/main" val="2112928521"/>
                    </a:ext>
                  </a:extLst>
                </a:gridCol>
                <a:gridCol w="1226675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2185525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1034587">
                  <a:extLst>
                    <a:ext uri="{9D8B030D-6E8A-4147-A177-3AD203B41FA5}">
                      <a16:colId xmlns:a16="http://schemas.microsoft.com/office/drawing/2014/main" val="2708523098"/>
                    </a:ext>
                  </a:extLst>
                </a:gridCol>
                <a:gridCol w="721850">
                  <a:extLst>
                    <a:ext uri="{9D8B030D-6E8A-4147-A177-3AD203B41FA5}">
                      <a16:colId xmlns:a16="http://schemas.microsoft.com/office/drawing/2014/main" val="3829591775"/>
                    </a:ext>
                  </a:extLst>
                </a:gridCol>
                <a:gridCol w="363075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817100">
                  <a:extLst>
                    <a:ext uri="{9D8B030D-6E8A-4147-A177-3AD203B41FA5}">
                      <a16:colId xmlns:a16="http://schemas.microsoft.com/office/drawing/2014/main" val="1960918577"/>
                    </a:ext>
                  </a:extLst>
                </a:gridCol>
                <a:gridCol w="1545763">
                  <a:extLst>
                    <a:ext uri="{9D8B030D-6E8A-4147-A177-3AD203B41FA5}">
                      <a16:colId xmlns:a16="http://schemas.microsoft.com/office/drawing/2014/main" val="2297195669"/>
                    </a:ext>
                  </a:extLst>
                </a:gridCol>
                <a:gridCol w="648825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677400">
                  <a:extLst>
                    <a:ext uri="{9D8B030D-6E8A-4147-A177-3AD203B41FA5}">
                      <a16:colId xmlns:a16="http://schemas.microsoft.com/office/drawing/2014/main" val="205180935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마감일시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참여업체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수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 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본공고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선정완료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 중 도장공사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2026.07.31 18:00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최저가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임꺽정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재공고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(1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차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수의시담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견적요청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2026.07.31 18:00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용역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제한적 최저가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재공고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(2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차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수의시담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견적제출 완료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2026.07.31 18:00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물품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2단계 경쟁입찰(규격/가격 동시)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수의시담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완료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경쟁입찰(지명)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단계 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규격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가격 분리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3946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계약품의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전자결재 요청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적격심사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48232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계약품의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전자결재 완료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87735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유찰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68314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재입찰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02883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공고취소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1373695"/>
                  </a:ext>
                </a:extLst>
              </a:tr>
            </a:tbl>
          </a:graphicData>
        </a:graphic>
      </p:graphicFrame>
      <p:grpSp>
        <p:nvGrpSpPr>
          <p:cNvPr id="52" name="그룹 51">
            <a:extLst>
              <a:ext uri="{FF2B5EF4-FFF2-40B4-BE49-F238E27FC236}">
                <a16:creationId xmlns:a16="http://schemas.microsoft.com/office/drawing/2014/main" id="{62CB1ECC-6B72-5655-7B40-B9F5D4D3893B}"/>
              </a:ext>
            </a:extLst>
          </p:cNvPr>
          <p:cNvGrpSpPr/>
          <p:nvPr/>
        </p:nvGrpSpPr>
        <p:grpSpPr>
          <a:xfrm>
            <a:off x="2004219" y="3914304"/>
            <a:ext cx="4025354" cy="216024"/>
            <a:chOff x="2992062" y="4869160"/>
            <a:chExt cx="4025354" cy="216024"/>
          </a:xfrm>
        </p:grpSpPr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9090C0DB-6DE1-CC35-6A66-1A60F6313706}"/>
                </a:ext>
              </a:extLst>
            </p:cNvPr>
            <p:cNvSpPr/>
            <p:nvPr/>
          </p:nvSpPr>
          <p:spPr>
            <a:xfrm>
              <a:off x="2992062" y="4869160"/>
              <a:ext cx="216000" cy="21602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◀</a:t>
              </a:r>
            </a:p>
          </p:txBody>
        </p:sp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3FDFB896-938A-9216-BD94-80D072FBF023}"/>
                </a:ext>
              </a:extLst>
            </p:cNvPr>
            <p:cNvSpPr/>
            <p:nvPr/>
          </p:nvSpPr>
          <p:spPr>
            <a:xfrm>
              <a:off x="3285089" y="4869160"/>
              <a:ext cx="216000" cy="21602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&lt;</a:t>
              </a:r>
              <a:endPara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A1840922-17BC-9D3D-1ED3-1DB0F34D2F08}"/>
                </a:ext>
              </a:extLst>
            </p:cNvPr>
            <p:cNvSpPr/>
            <p:nvPr/>
          </p:nvSpPr>
          <p:spPr>
            <a:xfrm>
              <a:off x="3578116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386E2DC7-930C-C65B-5B9C-60444D726EDF}"/>
                </a:ext>
              </a:extLst>
            </p:cNvPr>
            <p:cNvSpPr/>
            <p:nvPr/>
          </p:nvSpPr>
          <p:spPr>
            <a:xfrm>
              <a:off x="3871143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F3C1ABE2-FB73-548C-2EE2-FCA3E65BCE4C}"/>
                </a:ext>
              </a:extLst>
            </p:cNvPr>
            <p:cNvSpPr/>
            <p:nvPr/>
          </p:nvSpPr>
          <p:spPr>
            <a:xfrm>
              <a:off x="4164170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6D699EBD-EF5E-4B04-C940-2B70C30AE1DB}"/>
                </a:ext>
              </a:extLst>
            </p:cNvPr>
            <p:cNvSpPr/>
            <p:nvPr/>
          </p:nvSpPr>
          <p:spPr>
            <a:xfrm>
              <a:off x="4457197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568465BE-2C3D-BFE8-7C92-87F73DF1A968}"/>
                </a:ext>
              </a:extLst>
            </p:cNvPr>
            <p:cNvSpPr/>
            <p:nvPr/>
          </p:nvSpPr>
          <p:spPr>
            <a:xfrm>
              <a:off x="4750224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6083A9AA-71B6-2991-943A-0213D1D9392F}"/>
                </a:ext>
              </a:extLst>
            </p:cNvPr>
            <p:cNvSpPr/>
            <p:nvPr/>
          </p:nvSpPr>
          <p:spPr>
            <a:xfrm>
              <a:off x="5043251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7DEF9D5B-259A-BFFE-2C0B-E0038BEB80D0}"/>
                </a:ext>
              </a:extLst>
            </p:cNvPr>
            <p:cNvSpPr/>
            <p:nvPr/>
          </p:nvSpPr>
          <p:spPr>
            <a:xfrm>
              <a:off x="5336278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061670F2-95C2-990E-B4CD-76C9B99DB416}"/>
                </a:ext>
              </a:extLst>
            </p:cNvPr>
            <p:cNvSpPr/>
            <p:nvPr/>
          </p:nvSpPr>
          <p:spPr>
            <a:xfrm>
              <a:off x="5629305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46D38926-3E95-834D-1F5F-F1DE77EF11DA}"/>
                </a:ext>
              </a:extLst>
            </p:cNvPr>
            <p:cNvSpPr/>
            <p:nvPr/>
          </p:nvSpPr>
          <p:spPr>
            <a:xfrm>
              <a:off x="5922332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" name="직사각형 63">
              <a:extLst>
                <a:ext uri="{FF2B5EF4-FFF2-40B4-BE49-F238E27FC236}">
                  <a16:creationId xmlns:a16="http://schemas.microsoft.com/office/drawing/2014/main" id="{0332F9D3-4914-C74E-8A66-B8EA95F90955}"/>
                </a:ext>
              </a:extLst>
            </p:cNvPr>
            <p:cNvSpPr/>
            <p:nvPr/>
          </p:nvSpPr>
          <p:spPr>
            <a:xfrm>
              <a:off x="6215359" y="4869160"/>
              <a:ext cx="216000" cy="2160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98647885-E1F0-2D91-B2F0-3204FE21C53B}"/>
                </a:ext>
              </a:extLst>
            </p:cNvPr>
            <p:cNvSpPr/>
            <p:nvPr/>
          </p:nvSpPr>
          <p:spPr>
            <a:xfrm>
              <a:off x="6508386" y="4869160"/>
              <a:ext cx="216000" cy="21602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&gt;</a:t>
              </a:r>
              <a:endPara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B6DE03B4-7A6B-4A75-B8B8-BB5140D39353}"/>
                </a:ext>
              </a:extLst>
            </p:cNvPr>
            <p:cNvSpPr/>
            <p:nvPr/>
          </p:nvSpPr>
          <p:spPr>
            <a:xfrm>
              <a:off x="6801416" y="4869160"/>
              <a:ext cx="216000" cy="21602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▶</a:t>
              </a:r>
            </a:p>
          </p:txBody>
        </p:sp>
      </p:grpSp>
      <p:sp>
        <p:nvSpPr>
          <p:cNvPr id="43" name="TextBox 42">
            <a:extLst>
              <a:ext uri="{FF2B5EF4-FFF2-40B4-BE49-F238E27FC236}">
                <a16:creationId xmlns:a16="http://schemas.microsoft.com/office/drawing/2014/main" id="{E95F0928-C4BF-FC6A-E7D8-3755100BA5E9}"/>
              </a:ext>
            </a:extLst>
          </p:cNvPr>
          <p:cNvSpPr txBox="1"/>
          <p:nvPr/>
        </p:nvSpPr>
        <p:spPr>
          <a:xfrm>
            <a:off x="3284326" y="1951200"/>
            <a:ext cx="3900921" cy="1815882"/>
          </a:xfrm>
          <a:prstGeom prst="rect">
            <a:avLst/>
          </a:prstGeom>
          <a:solidFill>
            <a:srgbClr val="FFFF00">
              <a:alpha val="69804"/>
            </a:srgbClr>
          </a:solidFill>
        </p:spPr>
        <p:txBody>
          <a:bodyPr wrap="square">
            <a:spAutoFit/>
          </a:bodyPr>
          <a:lstStyle/>
          <a:p>
            <a:pPr marL="72000" indent="-7200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선정완료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: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업체 선정 시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  <a:p>
            <a:pPr marL="72000" indent="-7200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ko-KR" altLang="en-US" sz="800" dirty="0" err="1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수의시담</a:t>
            </a: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견적요청</a:t>
            </a: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dirty="0" err="1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수의시담이</a:t>
            </a: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필요한 경우 견적 요청 상태</a:t>
            </a:r>
            <a:endParaRPr lang="en-US" altLang="ko-KR" sz="80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ko-KR" altLang="en-US" sz="800" dirty="0" err="1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수의시담</a:t>
            </a: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견적제출 완료</a:t>
            </a: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dirty="0" err="1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수의시담이</a:t>
            </a: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필요한 경우 해당 업체가 견적을 제출한 상태</a:t>
            </a:r>
            <a:endParaRPr lang="en-US" altLang="ko-KR" sz="80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수의시담 완료 </a:t>
            </a: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dirty="0" err="1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수의시담이</a:t>
            </a: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필요한 경우 가격 협의가 종료된 상태</a:t>
            </a:r>
            <a:endParaRPr lang="en-US" altLang="ko-KR" sz="80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계약품의</a:t>
            </a: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요청</a:t>
            </a: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계약품의로 전자결재를 요청한 상태</a:t>
            </a:r>
            <a:endParaRPr lang="en-US" altLang="ko-KR" sz="80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계약품의</a:t>
            </a: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완료</a:t>
            </a: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계약품의 전자결재가 종료된 상태</a:t>
            </a: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최종상태</a:t>
            </a: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  <a:p>
            <a:pPr marL="72000" indent="-7200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유찰 </a:t>
            </a: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유찰 처리 시</a:t>
            </a:r>
            <a:endParaRPr lang="en-US" altLang="ko-KR" sz="80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재입찰 </a:t>
            </a: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재입찰</a:t>
            </a: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다시 가격 </a:t>
            </a:r>
            <a:r>
              <a:rPr lang="ko-KR" altLang="en-US" sz="800" dirty="0" err="1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dirty="0" err="1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투찰만</a:t>
            </a: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다시 함</a:t>
            </a: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처리 시</a:t>
            </a:r>
            <a:endParaRPr lang="en-US" altLang="ko-KR" sz="80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공고취소 </a:t>
            </a: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특정 사정에 의해 입찰 취소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7758390-52AC-B1B5-B07A-BDB8C70D5C17}"/>
              </a:ext>
            </a:extLst>
          </p:cNvPr>
          <p:cNvSpPr/>
          <p:nvPr/>
        </p:nvSpPr>
        <p:spPr>
          <a:xfrm>
            <a:off x="1809694" y="758294"/>
            <a:ext cx="1190464" cy="3023140"/>
          </a:xfrm>
          <a:prstGeom prst="rect">
            <a:avLst/>
          </a:prstGeom>
          <a:noFill/>
          <a:ln w="3175">
            <a:solidFill>
              <a:srgbClr val="C00000"/>
            </a:solidFill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70" name="연결선: 꺾임 69">
            <a:extLst>
              <a:ext uri="{FF2B5EF4-FFF2-40B4-BE49-F238E27FC236}">
                <a16:creationId xmlns:a16="http://schemas.microsoft.com/office/drawing/2014/main" id="{70155D96-168E-3BB9-1564-BEC956B16E20}"/>
              </a:ext>
            </a:extLst>
          </p:cNvPr>
          <p:cNvCxnSpPr>
            <a:cxnSpLocks/>
            <a:stCxn id="67" idx="3"/>
            <a:endCxn id="43" idx="1"/>
          </p:cNvCxnSpPr>
          <p:nvPr/>
        </p:nvCxnSpPr>
        <p:spPr>
          <a:xfrm>
            <a:off x="3000158" y="2269864"/>
            <a:ext cx="284168" cy="589277"/>
          </a:xfrm>
          <a:prstGeom prst="bentConnector3">
            <a:avLst>
              <a:gd name="adj1" fmla="val 50000"/>
            </a:avLst>
          </a:prstGeom>
          <a:ln>
            <a:solidFill>
              <a:srgbClr val="C00000"/>
            </a:solidFill>
            <a:prstDash val="sysDash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D94A140D-3800-F427-549B-8F797AB3AD9C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15284323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376363-DA76-BCDE-B3F2-9EBEDE6BA4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09C7A860-FA96-0542-CD8B-0DCB83A9322B}"/>
              </a:ext>
            </a:extLst>
          </p:cNvPr>
          <p:cNvSpPr/>
          <p:nvPr/>
        </p:nvSpPr>
        <p:spPr>
          <a:xfrm>
            <a:off x="164468" y="414790"/>
            <a:ext cx="7391699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입찰계획서</a:t>
            </a:r>
            <a:endParaRPr lang="en-US" altLang="ko-KR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14A27750-BF66-E7A4-2724-D5248EA63B70}"/>
              </a:ext>
            </a:extLst>
          </p:cNvPr>
          <p:cNvSpPr/>
          <p:nvPr/>
        </p:nvSpPr>
        <p:spPr>
          <a:xfrm>
            <a:off x="164469" y="687700"/>
            <a:ext cx="7391698" cy="587364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CCC0F9D8-354C-E615-57D2-23A4EFF1ADD9}"/>
              </a:ext>
            </a:extLst>
          </p:cNvPr>
          <p:cNvSpPr/>
          <p:nvPr/>
        </p:nvSpPr>
        <p:spPr>
          <a:xfrm>
            <a:off x="7286167" y="414790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C7C99572-D4A5-BA6C-2C6B-8585B66E8A9C}"/>
              </a:ext>
            </a:extLst>
          </p:cNvPr>
          <p:cNvSpPr/>
          <p:nvPr/>
        </p:nvSpPr>
        <p:spPr>
          <a:xfrm>
            <a:off x="7452512" y="688543"/>
            <a:ext cx="108012" cy="587278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DBBD735C-FB01-EF55-30D0-1AA5E67FCBA7}"/>
              </a:ext>
            </a:extLst>
          </p:cNvPr>
          <p:cNvSpPr/>
          <p:nvPr/>
        </p:nvSpPr>
        <p:spPr>
          <a:xfrm>
            <a:off x="7452512" y="1070321"/>
            <a:ext cx="108012" cy="1800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BF049EAB-634D-318B-6B95-8BC542DD9C84}"/>
              </a:ext>
            </a:extLst>
          </p:cNvPr>
          <p:cNvSpPr/>
          <p:nvPr/>
        </p:nvSpPr>
        <p:spPr>
          <a:xfrm>
            <a:off x="301563" y="792082"/>
            <a:ext cx="738985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입찰계획서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75A96B8C-EE0B-31B2-A279-E7FD1F077218}"/>
              </a:ext>
            </a:extLst>
          </p:cNvPr>
          <p:cNvSpPr/>
          <p:nvPr/>
        </p:nvSpPr>
        <p:spPr>
          <a:xfrm>
            <a:off x="301563" y="1120414"/>
            <a:ext cx="5741716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등록 일시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2026.08.01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A0122029-B1BA-8611-D404-44530AB98395}"/>
              </a:ext>
            </a:extLst>
          </p:cNvPr>
          <p:cNvSpPr/>
          <p:nvPr/>
        </p:nvSpPr>
        <p:spPr>
          <a:xfrm>
            <a:off x="168335" y="6381311"/>
            <a:ext cx="7279820" cy="18002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계속</a:t>
            </a: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1D7DD20B-2F26-0E8E-B744-AD3F1622288E}"/>
              </a:ext>
            </a:extLst>
          </p:cNvPr>
          <p:cNvGrpSpPr/>
          <p:nvPr/>
        </p:nvGrpSpPr>
        <p:grpSpPr>
          <a:xfrm>
            <a:off x="5781091" y="835105"/>
            <a:ext cx="1505075" cy="215441"/>
            <a:chOff x="5383899" y="1059428"/>
            <a:chExt cx="1902268" cy="215441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8BD51E0A-200A-0C19-7183-8C5C4F8CCBC1}"/>
                </a:ext>
              </a:extLst>
            </p:cNvPr>
            <p:cNvSpPr/>
            <p:nvPr/>
          </p:nvSpPr>
          <p:spPr>
            <a:xfrm>
              <a:off x="6372455" y="1059428"/>
              <a:ext cx="913712" cy="215441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7D77136A-39A6-0EF3-3F9E-9DD6668B5B4A}"/>
                </a:ext>
              </a:extLst>
            </p:cNvPr>
            <p:cNvSpPr/>
            <p:nvPr/>
          </p:nvSpPr>
          <p:spPr>
            <a:xfrm>
              <a:off x="5383899" y="1059428"/>
              <a:ext cx="913712" cy="215441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인쇄</a:t>
              </a:r>
            </a:p>
          </p:txBody>
        </p:sp>
      </p:grpSp>
      <p:graphicFrame>
        <p:nvGraphicFramePr>
          <p:cNvPr id="47" name="Table 0">
            <a:extLst>
              <a:ext uri="{FF2B5EF4-FFF2-40B4-BE49-F238E27FC236}">
                <a16:creationId xmlns:a16="http://schemas.microsoft.com/office/drawing/2014/main" id="{676809AB-43E2-2690-D0ED-E6610D1F4D30}"/>
              </a:ext>
            </a:extLst>
          </p:cNvPr>
          <p:cNvGraphicFramePr>
            <a:graphicFrameLocks noGrp="1"/>
          </p:cNvGraphicFramePr>
          <p:nvPr/>
        </p:nvGraphicFramePr>
        <p:xfrm>
          <a:off x="302788" y="1407393"/>
          <a:ext cx="6983378" cy="822960"/>
        </p:xfrm>
        <a:graphic>
          <a:graphicData uri="http://schemas.openxmlformats.org/drawingml/2006/table">
            <a:tbl>
              <a:tblPr/>
              <a:tblGrid>
                <a:gridCol w="18450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911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68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896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입찰번호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BD2026-0009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상태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업체선정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입찰담당자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박선용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개찰담당자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박선용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입찰 건명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indent="0" algn="l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서초동 1601-9 오피스텔 신축공사 중 철근콘크리트공사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0" name="직사각형 49">
            <a:extLst>
              <a:ext uri="{FF2B5EF4-FFF2-40B4-BE49-F238E27FC236}">
                <a16:creationId xmlns:a16="http://schemas.microsoft.com/office/drawing/2014/main" id="{2ECC5E1D-2374-7535-7A57-0B75AD82D231}"/>
              </a:ext>
            </a:extLst>
          </p:cNvPr>
          <p:cNvSpPr/>
          <p:nvPr/>
        </p:nvSpPr>
        <p:spPr>
          <a:xfrm>
            <a:off x="301563" y="2321864"/>
            <a:ext cx="5741716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진행방법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53" name="Table 1">
            <a:extLst>
              <a:ext uri="{FF2B5EF4-FFF2-40B4-BE49-F238E27FC236}">
                <a16:creationId xmlns:a16="http://schemas.microsoft.com/office/drawing/2014/main" id="{5CAF5184-2006-565F-18E3-5A4DC394EAC7}"/>
              </a:ext>
            </a:extLst>
          </p:cNvPr>
          <p:cNvGraphicFramePr>
            <a:graphicFrameLocks noGrp="1"/>
          </p:cNvGraphicFramePr>
          <p:nvPr/>
        </p:nvGraphicFramePr>
        <p:xfrm>
          <a:off x="301563" y="2586011"/>
          <a:ext cx="6983378" cy="1097280"/>
        </p:xfrm>
        <a:graphic>
          <a:graphicData uri="http://schemas.openxmlformats.org/drawingml/2006/table">
            <a:tbl>
              <a:tblPr/>
              <a:tblGrid>
                <a:gridCol w="18450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911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68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896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구분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공사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 algn="ctr">
                        <a:buNone/>
                      </a:pP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 algn="ctr">
                        <a:buNone/>
                      </a:pP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계약방법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경쟁입찰(일반)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ko-KR" alt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낙찰자 선정방법</a:t>
                      </a: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제한적 최저가 입찰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수행기간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2026-04-15 ~ 2027-01-31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수행기간(일수)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291 일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납품장소(현장)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indent="0" algn="l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서초LH현장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56" name="Table 2">
            <a:extLst>
              <a:ext uri="{FF2B5EF4-FFF2-40B4-BE49-F238E27FC236}">
                <a16:creationId xmlns:a16="http://schemas.microsoft.com/office/drawing/2014/main" id="{C916722E-E6EA-0723-5CB0-C484D7C1E4AB}"/>
              </a:ext>
            </a:extLst>
          </p:cNvPr>
          <p:cNvGraphicFramePr>
            <a:graphicFrameLocks noGrp="1"/>
          </p:cNvGraphicFramePr>
          <p:nvPr/>
        </p:nvGraphicFramePr>
        <p:xfrm>
          <a:off x="301563" y="4030323"/>
          <a:ext cx="6983378" cy="822960"/>
        </p:xfrm>
        <a:graphic>
          <a:graphicData uri="http://schemas.openxmlformats.org/drawingml/2006/table">
            <a:tbl>
              <a:tblPr/>
              <a:tblGrid>
                <a:gridCol w="18450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911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68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896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예산금액(원) / VAT 포함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2,711,898,750 (원)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계약이행 보증금률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10 %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추정금액(원) / VAT 포함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3,929,900,000 (원)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하자이행 보증금률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3 %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입찰 보증금률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10 %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하자이행 기간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10 (년)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7" name="직사각형 56">
            <a:extLst>
              <a:ext uri="{FF2B5EF4-FFF2-40B4-BE49-F238E27FC236}">
                <a16:creationId xmlns:a16="http://schemas.microsoft.com/office/drawing/2014/main" id="{6D5FE794-4310-326D-4677-8EF6E3FF0965}"/>
              </a:ext>
            </a:extLst>
          </p:cNvPr>
          <p:cNvSpPr/>
          <p:nvPr/>
        </p:nvSpPr>
        <p:spPr>
          <a:xfrm>
            <a:off x="301563" y="3778660"/>
            <a:ext cx="5741716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예산 및 보증금률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85595A91-7B20-344D-5521-ED642FC9E201}"/>
              </a:ext>
            </a:extLst>
          </p:cNvPr>
          <p:cNvSpPr/>
          <p:nvPr/>
        </p:nvSpPr>
        <p:spPr>
          <a:xfrm>
            <a:off x="301563" y="4992911"/>
            <a:ext cx="5741716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일정계획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63" name="Table 3">
            <a:extLst>
              <a:ext uri="{FF2B5EF4-FFF2-40B4-BE49-F238E27FC236}">
                <a16:creationId xmlns:a16="http://schemas.microsoft.com/office/drawing/2014/main" id="{F464E278-56C7-A94A-25EE-32CD2161895C}"/>
              </a:ext>
            </a:extLst>
          </p:cNvPr>
          <p:cNvGraphicFramePr>
            <a:graphicFrameLocks noGrp="1"/>
          </p:cNvGraphicFramePr>
          <p:nvPr/>
        </p:nvGraphicFramePr>
        <p:xfrm>
          <a:off x="301563" y="5255170"/>
          <a:ext cx="6983378" cy="822960"/>
        </p:xfrm>
        <a:graphic>
          <a:graphicData uri="http://schemas.openxmlformats.org/drawingml/2006/table">
            <a:tbl>
              <a:tblPr/>
              <a:tblGrid>
                <a:gridCol w="18450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911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68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896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입찰 시작일시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2026-02-26 16:00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공급업체 등록마감일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2026-03-05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현장설명회(일시 / 장소)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ko-KR" alt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charset="0"/>
                        </a:rPr>
                        <a:t>현장설명회 없음  </a:t>
                      </a:r>
                      <a:r>
                        <a:rPr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charset="0"/>
                        </a:rPr>
                        <a:t>|   2026.08.05 16</a:t>
                      </a:r>
                      <a:r>
                        <a:rPr lang="ko-KR" alt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charset="0"/>
                        </a:rPr>
                        <a:t>시 </a:t>
                      </a:r>
                      <a:r>
                        <a:rPr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charset="0"/>
                        </a:rPr>
                        <a:t>00</a:t>
                      </a:r>
                      <a:r>
                        <a:rPr lang="ko-KR" alt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charset="0"/>
                        </a:rPr>
                        <a:t>분</a:t>
                      </a: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입찰참가</a:t>
                      </a: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 </a:t>
                      </a:r>
                      <a:r>
                        <a:rPr lang="en-US" sz="8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신청</a:t>
                      </a: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 </a:t>
                      </a:r>
                      <a:r>
                        <a:rPr lang="en-US" sz="8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일시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2026-03-06 09:00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입찰</a:t>
                      </a: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 </a:t>
                      </a:r>
                      <a:r>
                        <a:rPr lang="en-US" sz="8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마감</a:t>
                      </a: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 </a:t>
                      </a:r>
                      <a:r>
                        <a:rPr lang="en-US" sz="8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일시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2026-03-12 16:00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80" name="타원 79">
            <a:extLst>
              <a:ext uri="{FF2B5EF4-FFF2-40B4-BE49-F238E27FC236}">
                <a16:creationId xmlns:a16="http://schemas.microsoft.com/office/drawing/2014/main" id="{28E02541-0AEE-72EA-6987-9D456BB7CE1E}"/>
              </a:ext>
            </a:extLst>
          </p:cNvPr>
          <p:cNvSpPr/>
          <p:nvPr/>
        </p:nvSpPr>
        <p:spPr>
          <a:xfrm>
            <a:off x="194270" y="735935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E97E6F2A-8D96-3BC5-2E40-70D922EA058C}"/>
              </a:ext>
            </a:extLst>
          </p:cNvPr>
          <p:cNvSpPr txBox="1"/>
          <p:nvPr/>
        </p:nvSpPr>
        <p:spPr>
          <a:xfrm>
            <a:off x="8049344" y="584684"/>
            <a:ext cx="1856656" cy="7171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이렇게 팝업으로 요약정보를 제공하는 의미를 확인해야 함</a:t>
            </a: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b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큰 의미가 </a:t>
            </a:r>
            <a:r>
              <a:rPr lang="ko-KR" altLang="en-US" sz="800" dirty="0" err="1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없어 보임</a:t>
            </a:r>
            <a:endParaRPr lang="ko-KR" altLang="en-US" sz="80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82496398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CA5B5A-AFF9-D21A-7A8B-746F93EED6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직사각형 9">
            <a:extLst>
              <a:ext uri="{FF2B5EF4-FFF2-40B4-BE49-F238E27FC236}">
                <a16:creationId xmlns:a16="http://schemas.microsoft.com/office/drawing/2014/main" id="{8546A719-27B1-045D-0B6B-18D9F1325E99}"/>
              </a:ext>
            </a:extLst>
          </p:cNvPr>
          <p:cNvSpPr/>
          <p:nvPr/>
        </p:nvSpPr>
        <p:spPr>
          <a:xfrm>
            <a:off x="164469" y="440668"/>
            <a:ext cx="7391698" cy="504056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98121D0A-EB24-DB1B-D71F-BFCE148BA545}"/>
              </a:ext>
            </a:extLst>
          </p:cNvPr>
          <p:cNvSpPr/>
          <p:nvPr/>
        </p:nvSpPr>
        <p:spPr>
          <a:xfrm>
            <a:off x="7452512" y="441547"/>
            <a:ext cx="108012" cy="5039822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F74DE162-EDEC-54A0-3C6D-71FC24822B43}"/>
              </a:ext>
            </a:extLst>
          </p:cNvPr>
          <p:cNvSpPr/>
          <p:nvPr/>
        </p:nvSpPr>
        <p:spPr>
          <a:xfrm>
            <a:off x="7452512" y="1070321"/>
            <a:ext cx="108012" cy="1800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3" name="Table 3">
            <a:extLst>
              <a:ext uri="{FF2B5EF4-FFF2-40B4-BE49-F238E27FC236}">
                <a16:creationId xmlns:a16="http://schemas.microsoft.com/office/drawing/2014/main" id="{57F84938-58DC-B249-9C77-4513CE4B11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2285027"/>
              </p:ext>
            </p:extLst>
          </p:nvPr>
        </p:nvGraphicFramePr>
        <p:xfrm>
          <a:off x="301563" y="557306"/>
          <a:ext cx="6983378" cy="822960"/>
        </p:xfrm>
        <a:graphic>
          <a:graphicData uri="http://schemas.openxmlformats.org/drawingml/2006/table">
            <a:tbl>
              <a:tblPr/>
              <a:tblGrid>
                <a:gridCol w="18450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911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68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896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입찰</a:t>
                      </a:r>
                      <a:r>
                        <a:rPr lang="ko-KR" alt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공고</a:t>
                      </a: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게시 일시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2026-03-06 </a:t>
                      </a:r>
                      <a:r>
                        <a:rPr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09:00</a:t>
                      </a:r>
                      <a:endParaRPr lang="en-US" altLang="ko-KR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ko-KR" alt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입찰공고 게시 종료 일시</a:t>
                      </a: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2026-03-12 16:00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7224048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가격투찰</a:t>
                      </a:r>
                      <a:r>
                        <a:rPr lang="ko-KR" alt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 시작 일시</a:t>
                      </a:r>
                      <a:endParaRPr lang="en-US" altLang="ko-KR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2026-03-15 09:00</a:t>
                      </a:r>
                      <a:endParaRPr lang="en-US" altLang="ko-KR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ko-KR" altLang="en-US" sz="8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charset="0"/>
                        </a:rPr>
                        <a:t>가격투찰</a:t>
                      </a:r>
                      <a:r>
                        <a:rPr lang="ko-KR" alt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charset="0"/>
                        </a:rPr>
                        <a:t> 종료 일시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2026-03-20 18:00</a:t>
                      </a:r>
                      <a:endParaRPr lang="en-US" altLang="ko-KR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9958034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제안발표(일시 / 장소)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charset="0"/>
                        </a:rPr>
                        <a:t>2026-03-31 16</a:t>
                      </a:r>
                      <a:r>
                        <a:rPr lang="ko-KR" alt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charset="0"/>
                        </a:rPr>
                        <a:t>시 </a:t>
                      </a:r>
                      <a:r>
                        <a:rPr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charset="0"/>
                        </a:rPr>
                        <a:t>30</a:t>
                      </a:r>
                      <a:r>
                        <a:rPr lang="ko-KR" alt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charset="0"/>
                        </a:rPr>
                        <a:t>분부터 진행 </a:t>
                      </a:r>
                      <a:r>
                        <a:rPr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charset="0"/>
                        </a:rPr>
                        <a:t>|  </a:t>
                      </a:r>
                      <a:r>
                        <a:rPr lang="ko-KR" alt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charset="0"/>
                        </a:rPr>
                        <a:t>장소 </a:t>
                      </a:r>
                      <a:r>
                        <a:rPr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charset="0"/>
                        </a:rPr>
                        <a:t>: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전기회관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층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켑코이에스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대회의실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AED74DE-5117-CF22-287C-0B005A7821B5}"/>
              </a:ext>
            </a:extLst>
          </p:cNvPr>
          <p:cNvSpPr/>
          <p:nvPr/>
        </p:nvSpPr>
        <p:spPr>
          <a:xfrm>
            <a:off x="301563" y="1496904"/>
            <a:ext cx="5741716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입찰업체 전달내역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220C310-BFE7-B77A-209A-E79ABBDB80D6}"/>
              </a:ext>
            </a:extLst>
          </p:cNvPr>
          <p:cNvSpPr txBox="1"/>
          <p:nvPr/>
        </p:nvSpPr>
        <p:spPr>
          <a:xfrm>
            <a:off x="8049344" y="584684"/>
            <a:ext cx="1856656" cy="23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sz="80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24" name="Table 4">
            <a:extLst>
              <a:ext uri="{FF2B5EF4-FFF2-40B4-BE49-F238E27FC236}">
                <a16:creationId xmlns:a16="http://schemas.microsoft.com/office/drawing/2014/main" id="{7D0E243A-4C01-559E-DF62-90B98EBBE508}"/>
              </a:ext>
            </a:extLst>
          </p:cNvPr>
          <p:cNvGraphicFramePr>
            <a:graphicFrameLocks noGrp="1"/>
          </p:cNvGraphicFramePr>
          <p:nvPr/>
        </p:nvGraphicFramePr>
        <p:xfrm>
          <a:off x="301563" y="1753614"/>
          <a:ext cx="6983378" cy="1600200"/>
        </p:xfrm>
        <a:graphic>
          <a:graphicData uri="http://schemas.openxmlformats.org/drawingml/2006/table">
            <a:tbl>
              <a:tblPr/>
              <a:tblGrid>
                <a:gridCol w="18450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13836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업체 자격요건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철근콘크리트공사업 면허 보유업체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참여신청 제출서류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3. 입찰참가신청서.hwp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입찰 제출서류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4. 입찰보증금지급각서.hwp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전달사항(비고)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buNone/>
                      </a:pP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입찰업체 배포서류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(제출서류 양식 외)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00. 입찰공고문(서초동 1601-9 오피스텔 신축공사 중 철근콘크리트공사).pdf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9" name="직사각형 38">
            <a:extLst>
              <a:ext uri="{FF2B5EF4-FFF2-40B4-BE49-F238E27FC236}">
                <a16:creationId xmlns:a16="http://schemas.microsoft.com/office/drawing/2014/main" id="{2D3CFCF0-C58D-E312-C5B7-71BC8AF73B35}"/>
              </a:ext>
            </a:extLst>
          </p:cNvPr>
          <p:cNvSpPr/>
          <p:nvPr/>
        </p:nvSpPr>
        <p:spPr>
          <a:xfrm>
            <a:off x="301563" y="3439285"/>
            <a:ext cx="5741716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수의계약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 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제한입찰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 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지명입찰</a:t>
            </a:r>
          </a:p>
        </p:txBody>
      </p:sp>
      <p:graphicFrame>
        <p:nvGraphicFramePr>
          <p:cNvPr id="52" name="Table 5">
            <a:extLst>
              <a:ext uri="{FF2B5EF4-FFF2-40B4-BE49-F238E27FC236}">
                <a16:creationId xmlns:a16="http://schemas.microsoft.com/office/drawing/2014/main" id="{70377AA8-9319-F886-7583-14BC0F5D41BA}"/>
              </a:ext>
            </a:extLst>
          </p:cNvPr>
          <p:cNvGraphicFramePr>
            <a:graphicFrameLocks noGrp="1"/>
          </p:cNvGraphicFramePr>
          <p:nvPr/>
        </p:nvGraphicFramePr>
        <p:xfrm>
          <a:off x="301563" y="3688824"/>
          <a:ext cx="6983378" cy="1051560"/>
        </p:xfrm>
        <a:graphic>
          <a:graphicData uri="http://schemas.openxmlformats.org/drawingml/2006/table">
            <a:tbl>
              <a:tblPr/>
              <a:tblGrid>
                <a:gridCol w="18450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63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26198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구분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indent="0" algn="l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경쟁입찰(일반)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수의계약사유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indent="0" algn="l">
                        <a:buNone/>
                      </a:pP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업체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7 개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(주)대영건설, (주)기담건설, 콘탑건설(주), (주)은화, 에스에이취건설(주), 인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54864" marR="54864" marT="18288" marB="18288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5" name="직사각형 54">
            <a:extLst>
              <a:ext uri="{FF2B5EF4-FFF2-40B4-BE49-F238E27FC236}">
                <a16:creationId xmlns:a16="http://schemas.microsoft.com/office/drawing/2014/main" id="{63B7FFB7-4FCC-CBB6-57DA-0D17E9D6392B}"/>
              </a:ext>
            </a:extLst>
          </p:cNvPr>
          <p:cNvSpPr/>
          <p:nvPr/>
        </p:nvSpPr>
        <p:spPr>
          <a:xfrm>
            <a:off x="6591183" y="4850403"/>
            <a:ext cx="699418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닫기</a:t>
            </a:r>
          </a:p>
        </p:txBody>
      </p:sp>
    </p:spTree>
    <p:extLst>
      <p:ext uri="{BB962C8B-B14F-4D97-AF65-F5344CB8AC3E}">
        <p14:creationId xmlns:p14="http://schemas.microsoft.com/office/powerpoint/2010/main" val="3097656718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369241-9474-A271-F13C-31A108C486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F53073A2-A08F-B1CF-7020-9D0705B29D3B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1CD56C9-F971-028F-8F9C-19F213E5E48D}"/>
              </a:ext>
            </a:extLst>
          </p:cNvPr>
          <p:cNvSpPr txBox="1"/>
          <p:nvPr/>
        </p:nvSpPr>
        <p:spPr>
          <a:xfrm>
            <a:off x="8049344" y="584684"/>
            <a:ext cx="1856656" cy="3970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공고가 올라온 다음에도 발주계획 정보는 확인할 수 있음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2C368BE4-4927-C3A6-944E-E98561DF91E0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0ECB883F-95BD-A460-0E18-40BEAD61058A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7E0D27E7-51A9-6DE3-F895-70C6C216CE16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87B020EE-1A21-3A8F-F2BF-65AAEF44E3D8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61DD0E03-979D-8976-A809-0F2CFB88D38F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4FD74634-0DC1-E9E2-7EFF-DF0EC5236501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7" name="Picture 1">
            <a:extLst>
              <a:ext uri="{FF2B5EF4-FFF2-40B4-BE49-F238E27FC236}">
                <a16:creationId xmlns:a16="http://schemas.microsoft.com/office/drawing/2014/main" id="{CC23D21B-BAD2-7C8D-4B7E-7B6AB449F78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25C80343-A19C-5083-BF24-8A033B56931A}"/>
              </a:ext>
            </a:extLst>
          </p:cNvPr>
          <p:cNvSpPr txBox="1"/>
          <p:nvPr/>
        </p:nvSpPr>
        <p:spPr>
          <a:xfrm>
            <a:off x="749224" y="25608"/>
            <a:ext cx="247054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발주계획 정보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D584A3FE-79C7-EB2A-A626-451EF6FBE9C0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계속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7518CD9-7A0E-7F15-E18E-7F42B1CF26A0}"/>
              </a:ext>
            </a:extLst>
          </p:cNvPr>
          <p:cNvSpPr/>
          <p:nvPr/>
        </p:nvSpPr>
        <p:spPr>
          <a:xfrm>
            <a:off x="183392" y="2079898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발주계획 기본정보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EE36BA2F-2465-3AF0-8DB2-8B207C02D46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0014966"/>
              </p:ext>
            </p:extLst>
          </p:nvPr>
        </p:nvGraphicFramePr>
        <p:xfrm>
          <a:off x="164467" y="2369445"/>
          <a:ext cx="7740859" cy="3973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53591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387268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7438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발주계약 요청번호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PR2026-0003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724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발주계약 품의번호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PPW2026-0029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64422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처리상태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작성중</a:t>
                      </a:r>
                      <a:endParaRPr lang="ko-KR" altLang="en-US" sz="800" b="0" spc="-5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69958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건명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서초동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1601-9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오피스텔 신축공사 중 습식공사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30657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품의일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2026.06.05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84718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요청일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2026.06.01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33570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계약예정일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2026.07.31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00273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53941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수주계약정보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·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수주계약번호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: 160011612-01-31-C</a:t>
                      </a: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·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수주계약명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: GE-4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에너지효율화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(ID Fan VVVF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설치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사업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·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수주계약일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: 2026.12.23</a:t>
                      </a: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·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수주계약업체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: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군장에너지주식회사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777443"/>
                  </a:ext>
                </a:extLst>
              </a:tr>
            </a:tbl>
          </a:graphicData>
        </a:graphic>
      </p:graphicFrame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90B7D17A-41B7-4B19-CB9A-B8024C0772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9488077"/>
              </p:ext>
            </p:extLst>
          </p:nvPr>
        </p:nvGraphicFramePr>
        <p:xfrm>
          <a:off x="164466" y="817960"/>
          <a:ext cx="7732447" cy="675840"/>
        </p:xfrm>
        <a:graphic>
          <a:graphicData uri="http://schemas.openxmlformats.org/drawingml/2006/table">
            <a:tbl>
              <a:tblPr firstRow="1" bandRow="1"/>
              <a:tblGrid>
                <a:gridCol w="83838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763949">
                  <a:extLst>
                    <a:ext uri="{9D8B030D-6E8A-4147-A177-3AD203B41FA5}">
                      <a16:colId xmlns:a16="http://schemas.microsoft.com/office/drawing/2014/main" val="1731736782"/>
                    </a:ext>
                  </a:extLst>
                </a:gridCol>
                <a:gridCol w="616894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821542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289563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1002816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1092824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628938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677541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재공고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입찰진행중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grpSp>
        <p:nvGrpSpPr>
          <p:cNvPr id="49" name="그룹 48">
            <a:extLst>
              <a:ext uri="{FF2B5EF4-FFF2-40B4-BE49-F238E27FC236}">
                <a16:creationId xmlns:a16="http://schemas.microsoft.com/office/drawing/2014/main" id="{BB4E40E3-0694-9E40-A541-21A8DEF3AA2A}"/>
              </a:ext>
            </a:extLst>
          </p:cNvPr>
          <p:cNvGrpSpPr/>
          <p:nvPr/>
        </p:nvGrpSpPr>
        <p:grpSpPr>
          <a:xfrm>
            <a:off x="163503" y="1590633"/>
            <a:ext cx="7741824" cy="354461"/>
            <a:chOff x="163503" y="1590633"/>
            <a:chExt cx="7741824" cy="354461"/>
          </a:xfrm>
        </p:grpSpPr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408B35EC-50E2-6048-1FBA-CC002CD6E2E4}"/>
                </a:ext>
              </a:extLst>
            </p:cNvPr>
            <p:cNvCxnSpPr>
              <a:cxnSpLocks/>
            </p:cNvCxnSpPr>
            <p:nvPr/>
          </p:nvCxnSpPr>
          <p:spPr>
            <a:xfrm>
              <a:off x="167468" y="1941219"/>
              <a:ext cx="7737859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230C225A-084A-70F2-FBFA-4AE748926629}"/>
                </a:ext>
              </a:extLst>
            </p:cNvPr>
            <p:cNvSpPr/>
            <p:nvPr/>
          </p:nvSpPr>
          <p:spPr>
            <a:xfrm>
              <a:off x="163503" y="1590633"/>
              <a:ext cx="839130" cy="354461"/>
            </a:xfrm>
            <a:prstGeom prst="rect">
              <a:avLst/>
            </a:prstGeom>
            <a:solidFill>
              <a:srgbClr val="00B050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발주계획 정보</a:t>
              </a:r>
            </a:p>
          </p:txBody>
        </p: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E4FBEEBA-13F2-A6ED-2ECA-35A243B9EB0E}"/>
                </a:ext>
              </a:extLst>
            </p:cNvPr>
            <p:cNvSpPr/>
            <p:nvPr/>
          </p:nvSpPr>
          <p:spPr>
            <a:xfrm>
              <a:off x="1848030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 참여현황</a:t>
              </a: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66C5ECE7-346F-0D07-87F3-A172A03230A2}"/>
                </a:ext>
              </a:extLst>
            </p:cNvPr>
            <p:cNvSpPr/>
            <p:nvPr/>
          </p:nvSpPr>
          <p:spPr>
            <a:xfrm>
              <a:off x="2694874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심사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평가</a:t>
              </a:r>
            </a:p>
          </p:txBody>
        </p: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3EF576FB-0944-6095-2A4C-9445CBA6FD35}"/>
                </a:ext>
              </a:extLst>
            </p:cNvPr>
            <p:cNvSpPr/>
            <p:nvPr/>
          </p:nvSpPr>
          <p:spPr>
            <a:xfrm>
              <a:off x="1004560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정보</a:t>
              </a: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DE6D11E5-F1D1-C05B-6374-441CC22F6FEF}"/>
                </a:ext>
              </a:extLst>
            </p:cNvPr>
            <p:cNvSpPr/>
            <p:nvPr/>
          </p:nvSpPr>
          <p:spPr>
            <a:xfrm>
              <a:off x="3532662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개찰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2873C78A-A8D9-0ED8-F165-87D9FAB6BC02}"/>
                </a:ext>
              </a:extLst>
            </p:cNvPr>
            <p:cNvSpPr/>
            <p:nvPr/>
          </p:nvSpPr>
          <p:spPr>
            <a:xfrm>
              <a:off x="4370291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낙찰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업체 선정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)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011A5DB1-3C90-5FBB-625D-E9F9C3D0C19D}"/>
                </a:ext>
              </a:extLst>
            </p:cNvPr>
            <p:cNvSpPr/>
            <p:nvPr/>
          </p:nvSpPr>
          <p:spPr>
            <a:xfrm>
              <a:off x="5213654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수의시담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5FB4A45B-F188-B0C9-624E-02B02A940E07}"/>
                </a:ext>
              </a:extLst>
            </p:cNvPr>
            <p:cNvSpPr/>
            <p:nvPr/>
          </p:nvSpPr>
          <p:spPr>
            <a:xfrm>
              <a:off x="6051872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계약 요청</a:t>
              </a:r>
            </a:p>
          </p:txBody>
        </p:sp>
      </p:grpSp>
      <p:sp>
        <p:nvSpPr>
          <p:cNvPr id="48" name="타원 47">
            <a:extLst>
              <a:ext uri="{FF2B5EF4-FFF2-40B4-BE49-F238E27FC236}">
                <a16:creationId xmlns:a16="http://schemas.microsoft.com/office/drawing/2014/main" id="{5842A4F4-C192-38D4-3D59-C49F268685B8}"/>
              </a:ext>
            </a:extLst>
          </p:cNvPr>
          <p:cNvSpPr/>
          <p:nvPr/>
        </p:nvSpPr>
        <p:spPr>
          <a:xfrm>
            <a:off x="75380" y="1493800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833C5836-56DB-35E1-0217-7096D9A9A613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94860780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625408-3C34-6424-8041-17365D5292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004426D1-2F30-9145-D94E-C0A386D6449E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122199A-C60A-97F1-9A85-9396F0962250}"/>
              </a:ext>
            </a:extLst>
          </p:cNvPr>
          <p:cNvSpPr txBox="1"/>
          <p:nvPr/>
        </p:nvSpPr>
        <p:spPr>
          <a:xfrm>
            <a:off x="8049344" y="584684"/>
            <a:ext cx="1856656" cy="23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A4383BD-B963-91BC-3FB2-534EAAF8BA03}"/>
              </a:ext>
            </a:extLst>
          </p:cNvPr>
          <p:cNvSpPr txBox="1"/>
          <p:nvPr/>
        </p:nvSpPr>
        <p:spPr>
          <a:xfrm>
            <a:off x="749224" y="25608"/>
            <a:ext cx="247054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정보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CBCF3864-DFFE-9A29-5DCD-B3BD4610EE0F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계속</a:t>
            </a:r>
          </a:p>
        </p:txBody>
      </p:sp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0747AFB1-E2B7-5015-09C5-B3C5C9F253C4}"/>
              </a:ext>
            </a:extLst>
          </p:cNvPr>
          <p:cNvGraphicFramePr>
            <a:graphicFrameLocks noGrp="1"/>
          </p:cNvGraphicFramePr>
          <p:nvPr/>
        </p:nvGraphicFramePr>
        <p:xfrm>
          <a:off x="164467" y="384308"/>
          <a:ext cx="7740859" cy="67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53591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387268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사업담당자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2521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계약담당자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4933786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FCCB6BD2-91C2-F71D-4CD2-A1482A2810CB}"/>
              </a:ext>
            </a:extLst>
          </p:cNvPr>
          <p:cNvSpPr/>
          <p:nvPr/>
        </p:nvSpPr>
        <p:spPr>
          <a:xfrm>
            <a:off x="183392" y="1180605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발주계획 체크리스트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0DBF9720-798E-3FDB-0C99-64E420A267FB}"/>
              </a:ext>
            </a:extLst>
          </p:cNvPr>
          <p:cNvSpPr/>
          <p:nvPr/>
        </p:nvSpPr>
        <p:spPr>
          <a:xfrm>
            <a:off x="183392" y="1460011"/>
            <a:ext cx="5741716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결재 관련 정보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606E65B-7E84-B980-FF1D-56CEC9744ED6}"/>
              </a:ext>
            </a:extLst>
          </p:cNvPr>
          <p:cNvSpPr/>
          <p:nvPr/>
        </p:nvSpPr>
        <p:spPr>
          <a:xfrm>
            <a:off x="183392" y="2731777"/>
            <a:ext cx="5741716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발주계획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세부정보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AB8E2414-F1E6-C5FC-4A29-D367EEAA1066}"/>
              </a:ext>
            </a:extLst>
          </p:cNvPr>
          <p:cNvGraphicFramePr>
            <a:graphicFrameLocks noGrp="1"/>
          </p:cNvGraphicFramePr>
          <p:nvPr/>
        </p:nvGraphicFramePr>
        <p:xfrm>
          <a:off x="179901" y="1716324"/>
          <a:ext cx="7717011" cy="919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68743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48268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결재문서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추진안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일상감사의견서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30657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결재문서 등록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·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등록된 파일명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#1.pdf  </a:t>
                      </a:r>
                      <a:b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b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·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등록된 파일명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#2.pdf  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3357048"/>
                  </a:ext>
                </a:extLst>
              </a:tr>
            </a:tbl>
          </a:graphicData>
        </a:graphic>
      </p:graphicFrame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E8C81063-B999-8E38-4844-E6800F2D1D54}"/>
              </a:ext>
            </a:extLst>
          </p:cNvPr>
          <p:cNvGraphicFramePr>
            <a:graphicFrameLocks noGrp="1"/>
          </p:cNvGraphicFramePr>
          <p:nvPr/>
        </p:nvGraphicFramePr>
        <p:xfrm>
          <a:off x="164467" y="3007737"/>
          <a:ext cx="7776865" cy="2365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79418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97447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추정금액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94,490,000 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구천사백사십구만원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 VAT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포함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724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계약기간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pc="-5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2026.07.20 ~ 2027.07.30</a:t>
                      </a:r>
                      <a:endParaRPr lang="ko-KR" altLang="en-US" sz="800" b="0" spc="-5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69958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납품장소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현장 내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30657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계약이행 </a:t>
                      </a:r>
                      <a:r>
                        <a:rPr kumimoji="0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보증금률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10%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33570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하자이행 </a:t>
                      </a:r>
                      <a:r>
                        <a:rPr kumimoji="0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보증금률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3%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00273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하자이행 기간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53941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계약방법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6307130"/>
                  </a:ext>
                </a:extLst>
              </a:tr>
            </a:tbl>
          </a:graphicData>
        </a:graphic>
      </p:graphicFrame>
      <p:sp>
        <p:nvSpPr>
          <p:cNvPr id="25" name="직사각형 24">
            <a:extLst>
              <a:ext uri="{FF2B5EF4-FFF2-40B4-BE49-F238E27FC236}">
                <a16:creationId xmlns:a16="http://schemas.microsoft.com/office/drawing/2014/main" id="{5E4D7CEA-90B5-73F5-542D-05538645CE5E}"/>
              </a:ext>
            </a:extLst>
          </p:cNvPr>
          <p:cNvSpPr/>
          <p:nvPr/>
        </p:nvSpPr>
        <p:spPr>
          <a:xfrm>
            <a:off x="2909398" y="2118013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바로보기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738C655D-F3DA-940A-22D9-2B73EE80FA4E}"/>
              </a:ext>
            </a:extLst>
          </p:cNvPr>
          <p:cNvSpPr/>
          <p:nvPr/>
        </p:nvSpPr>
        <p:spPr>
          <a:xfrm>
            <a:off x="3572235" y="2118013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다운로드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B9A16FBB-A72F-77CA-F024-E73A4FD56FC5}"/>
              </a:ext>
            </a:extLst>
          </p:cNvPr>
          <p:cNvSpPr/>
          <p:nvPr/>
        </p:nvSpPr>
        <p:spPr>
          <a:xfrm>
            <a:off x="2909398" y="2385353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바로보기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64F478B7-8ED9-2964-A7F0-16DCA28FFA2D}"/>
              </a:ext>
            </a:extLst>
          </p:cNvPr>
          <p:cNvSpPr/>
          <p:nvPr/>
        </p:nvSpPr>
        <p:spPr>
          <a:xfrm>
            <a:off x="3572235" y="2385353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다운로드</a:t>
            </a:r>
          </a:p>
        </p:txBody>
      </p:sp>
      <p:graphicFrame>
        <p:nvGraphicFramePr>
          <p:cNvPr id="42" name="표 41">
            <a:extLst>
              <a:ext uri="{FF2B5EF4-FFF2-40B4-BE49-F238E27FC236}">
                <a16:creationId xmlns:a16="http://schemas.microsoft.com/office/drawing/2014/main" id="{B4142785-EDC4-2F26-E266-27907681A26D}"/>
              </a:ext>
            </a:extLst>
          </p:cNvPr>
          <p:cNvGraphicFramePr>
            <a:graphicFrameLocks noGrp="1"/>
          </p:cNvGraphicFramePr>
          <p:nvPr/>
        </p:nvGraphicFramePr>
        <p:xfrm>
          <a:off x="164467" y="5369494"/>
          <a:ext cx="7776865" cy="67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79418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97447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낙찰자 선정방법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1472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근거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/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수의계약 사유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근거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수의계약 사유로 입력된 내용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761252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2E6BB499-0D38-992A-EEE1-C4CC6F1F4CF7}"/>
              </a:ext>
            </a:extLst>
          </p:cNvPr>
          <p:cNvGraphicFramePr>
            <a:graphicFrameLocks noGrp="1"/>
          </p:cNvGraphicFramePr>
          <p:nvPr/>
        </p:nvGraphicFramePr>
        <p:xfrm>
          <a:off x="164538" y="6036708"/>
          <a:ext cx="7776865" cy="337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79418">
                  <a:extLst>
                    <a:ext uri="{9D8B030D-6E8A-4147-A177-3AD203B41FA5}">
                      <a16:colId xmlns:a16="http://schemas.microsoft.com/office/drawing/2014/main" val="3891048070"/>
                    </a:ext>
                  </a:extLst>
                </a:gridCol>
                <a:gridCol w="6197447">
                  <a:extLst>
                    <a:ext uri="{9D8B030D-6E8A-4147-A177-3AD203B41FA5}">
                      <a16:colId xmlns:a16="http://schemas.microsoft.com/office/drawing/2014/main" val="32412029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계약상대자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수의계약의 경우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·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매핑된 협력업체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: 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주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큐비트엑스</a:t>
                      </a:r>
                      <a:endParaRPr lang="en-US" altLang="ko-KR" sz="800" b="1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35744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9087923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516B69-0E6A-43C0-5AA5-15CD71BCBD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D61152BC-5152-3A19-C845-1DF964B94B43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113063B-9FE4-13A0-841A-18717A1307F0}"/>
              </a:ext>
            </a:extLst>
          </p:cNvPr>
          <p:cNvSpPr txBox="1"/>
          <p:nvPr/>
        </p:nvSpPr>
        <p:spPr>
          <a:xfrm>
            <a:off x="749224" y="25608"/>
            <a:ext cx="247054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정보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221C809-79C9-B414-EE36-E78F435449B4}"/>
              </a:ext>
            </a:extLst>
          </p:cNvPr>
          <p:cNvSpPr txBox="1"/>
          <p:nvPr/>
        </p:nvSpPr>
        <p:spPr>
          <a:xfrm>
            <a:off x="8049344" y="584684"/>
            <a:ext cx="1856656" cy="23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A037E951-83A9-9F98-B56C-1689552E594F}"/>
              </a:ext>
            </a:extLst>
          </p:cNvPr>
          <p:cNvGraphicFramePr>
            <a:graphicFrameLocks noGrp="1"/>
          </p:cNvGraphicFramePr>
          <p:nvPr/>
        </p:nvGraphicFramePr>
        <p:xfrm>
          <a:off x="164410" y="365258"/>
          <a:ext cx="7776865" cy="337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79418">
                  <a:extLst>
                    <a:ext uri="{9D8B030D-6E8A-4147-A177-3AD203B41FA5}">
                      <a16:colId xmlns:a16="http://schemas.microsoft.com/office/drawing/2014/main" val="2245626066"/>
                    </a:ext>
                  </a:extLst>
                </a:gridCol>
                <a:gridCol w="6197447">
                  <a:extLst>
                    <a:ext uri="{9D8B030D-6E8A-4147-A177-3AD203B41FA5}">
                      <a16:colId xmlns:a16="http://schemas.microsoft.com/office/drawing/2014/main" val="357056325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참가자격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제주도 관내 본사를 두고 있는 사업자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9842769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16F39DE9-1352-34F7-89A5-D677BB4C86DB}"/>
              </a:ext>
            </a:extLst>
          </p:cNvPr>
          <p:cNvGraphicFramePr>
            <a:graphicFrameLocks noGrp="1"/>
          </p:cNvGraphicFramePr>
          <p:nvPr/>
        </p:nvGraphicFramePr>
        <p:xfrm>
          <a:off x="164410" y="684070"/>
          <a:ext cx="7776865" cy="1013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79418">
                  <a:extLst>
                    <a:ext uri="{9D8B030D-6E8A-4147-A177-3AD203B41FA5}">
                      <a16:colId xmlns:a16="http://schemas.microsoft.com/office/drawing/2014/main" val="2245626066"/>
                    </a:ext>
                  </a:extLst>
                </a:gridCol>
                <a:gridCol w="6197447">
                  <a:extLst>
                    <a:ext uri="{9D8B030D-6E8A-4147-A177-3AD203B41FA5}">
                      <a16:colId xmlns:a16="http://schemas.microsoft.com/office/drawing/2014/main" val="357056325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예정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예비가격 결정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예비가  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58458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예정가격 결정자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사장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본부장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42327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 </a:t>
                      </a:r>
                      <a:r>
                        <a:rPr kumimoji="0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보증금률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5%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8668122"/>
                  </a:ext>
                </a:extLst>
              </a:tr>
            </a:tbl>
          </a:graphicData>
        </a:graphic>
      </p:graphicFrame>
      <p:sp>
        <p:nvSpPr>
          <p:cNvPr id="20" name="직사각형 19">
            <a:extLst>
              <a:ext uri="{FF2B5EF4-FFF2-40B4-BE49-F238E27FC236}">
                <a16:creationId xmlns:a16="http://schemas.microsoft.com/office/drawing/2014/main" id="{DCF92297-2716-85FE-E5E6-CDAD851A3F73}"/>
              </a:ext>
            </a:extLst>
          </p:cNvPr>
          <p:cNvSpPr/>
          <p:nvPr/>
        </p:nvSpPr>
        <p:spPr>
          <a:xfrm>
            <a:off x="183392" y="1777707"/>
            <a:ext cx="5741716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계약업체 면허 설정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ED2F0B35-6886-0452-9F2F-1BC91409EE3E}"/>
              </a:ext>
            </a:extLst>
          </p:cNvPr>
          <p:cNvGraphicFramePr>
            <a:graphicFrameLocks noGrp="1"/>
          </p:cNvGraphicFramePr>
          <p:nvPr/>
        </p:nvGraphicFramePr>
        <p:xfrm>
          <a:off x="164467" y="2071442"/>
          <a:ext cx="7776865" cy="67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79418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97447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종합건설업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■ 건축설계 및 시공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724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전문건설업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■ 도장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습식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방수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석공 사업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6995847"/>
                  </a:ext>
                </a:extLst>
              </a:tr>
            </a:tbl>
          </a:graphicData>
        </a:graphic>
      </p:graphicFrame>
      <p:sp>
        <p:nvSpPr>
          <p:cNvPr id="27" name="직사각형 26">
            <a:extLst>
              <a:ext uri="{FF2B5EF4-FFF2-40B4-BE49-F238E27FC236}">
                <a16:creationId xmlns:a16="http://schemas.microsoft.com/office/drawing/2014/main" id="{96AC0B7F-C728-2F7D-3A8B-3D0747869BDA}"/>
              </a:ext>
            </a:extLst>
          </p:cNvPr>
          <p:cNvSpPr/>
          <p:nvPr/>
        </p:nvSpPr>
        <p:spPr>
          <a:xfrm>
            <a:off x="164467" y="2841870"/>
            <a:ext cx="5741716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첨부 서류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30" name="표 29">
            <a:extLst>
              <a:ext uri="{FF2B5EF4-FFF2-40B4-BE49-F238E27FC236}">
                <a16:creationId xmlns:a16="http://schemas.microsoft.com/office/drawing/2014/main" id="{F55F58AF-8FFF-C5C5-F586-AE2ACC8736D8}"/>
              </a:ext>
            </a:extLst>
          </p:cNvPr>
          <p:cNvGraphicFramePr>
            <a:graphicFrameLocks noGrp="1"/>
          </p:cNvGraphicFramePr>
          <p:nvPr/>
        </p:nvGraphicFramePr>
        <p:xfrm>
          <a:off x="164467" y="3144714"/>
          <a:ext cx="7776865" cy="1407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79418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97447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용역</a:t>
                      </a:r>
                      <a:endPara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원가계산서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(or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산출내역서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), </a:t>
                      </a:r>
                      <a:b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</a:b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과업지시서 등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#1.pdf  </a:t>
                      </a: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</a:b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</a:b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#2.pdf </a:t>
                      </a: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</a:b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</a:b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#1.pdf  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724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기타 서류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#1.pdf  </a:t>
                      </a: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</a:b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</a:b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#2.pdf  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6995847"/>
                  </a:ext>
                </a:extLst>
              </a:tr>
            </a:tbl>
          </a:graphicData>
        </a:graphic>
      </p:graphicFrame>
      <p:sp>
        <p:nvSpPr>
          <p:cNvPr id="34" name="직사각형 33">
            <a:extLst>
              <a:ext uri="{FF2B5EF4-FFF2-40B4-BE49-F238E27FC236}">
                <a16:creationId xmlns:a16="http://schemas.microsoft.com/office/drawing/2014/main" id="{2A9C59DF-BD05-9200-E32F-4B44C10499B2}"/>
              </a:ext>
            </a:extLst>
          </p:cNvPr>
          <p:cNvSpPr/>
          <p:nvPr/>
        </p:nvSpPr>
        <p:spPr>
          <a:xfrm>
            <a:off x="2909398" y="3202021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바로보기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26B93C90-3DD3-C77A-EC9C-D070C2FAD88C}"/>
              </a:ext>
            </a:extLst>
          </p:cNvPr>
          <p:cNvSpPr/>
          <p:nvPr/>
        </p:nvSpPr>
        <p:spPr>
          <a:xfrm>
            <a:off x="3572235" y="3202021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다운로드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0DCA5790-2F62-20AF-24FE-532469666705}"/>
              </a:ext>
            </a:extLst>
          </p:cNvPr>
          <p:cNvSpPr/>
          <p:nvPr/>
        </p:nvSpPr>
        <p:spPr>
          <a:xfrm>
            <a:off x="2909398" y="3452109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바로보기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AD22E4D2-EBB2-8C4A-4D3E-8282DBD98E39}"/>
              </a:ext>
            </a:extLst>
          </p:cNvPr>
          <p:cNvSpPr/>
          <p:nvPr/>
        </p:nvSpPr>
        <p:spPr>
          <a:xfrm>
            <a:off x="3572235" y="3452109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다운로드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68D47147-DC9E-75D7-5C52-E7876B759E9D}"/>
              </a:ext>
            </a:extLst>
          </p:cNvPr>
          <p:cNvSpPr/>
          <p:nvPr/>
        </p:nvSpPr>
        <p:spPr>
          <a:xfrm>
            <a:off x="2909398" y="3702197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바로보기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CEBB4BF9-BC7D-C74B-3861-E723D9D27F60}"/>
              </a:ext>
            </a:extLst>
          </p:cNvPr>
          <p:cNvSpPr/>
          <p:nvPr/>
        </p:nvSpPr>
        <p:spPr>
          <a:xfrm>
            <a:off x="3572235" y="3702197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다운로드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6BF702BE-041C-7A8C-1FA2-C733688C25EA}"/>
              </a:ext>
            </a:extLst>
          </p:cNvPr>
          <p:cNvSpPr/>
          <p:nvPr/>
        </p:nvSpPr>
        <p:spPr>
          <a:xfrm>
            <a:off x="2909398" y="4029634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바로보기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D9BE627B-CA98-6D51-A5BB-6CC71DBB9489}"/>
              </a:ext>
            </a:extLst>
          </p:cNvPr>
          <p:cNvSpPr/>
          <p:nvPr/>
        </p:nvSpPr>
        <p:spPr>
          <a:xfrm>
            <a:off x="3572235" y="4029634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다운로드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4C384480-B52C-AF8E-0CF7-2247BD9AE54B}"/>
              </a:ext>
            </a:extLst>
          </p:cNvPr>
          <p:cNvSpPr/>
          <p:nvPr/>
        </p:nvSpPr>
        <p:spPr>
          <a:xfrm>
            <a:off x="2909398" y="4296974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바로보기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86CD0DD0-6917-17E3-F9AD-4852A5E4D4F9}"/>
              </a:ext>
            </a:extLst>
          </p:cNvPr>
          <p:cNvSpPr/>
          <p:nvPr/>
        </p:nvSpPr>
        <p:spPr>
          <a:xfrm>
            <a:off x="3572235" y="4296974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다운로드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11914CDD-441E-50D1-8485-16466A1A13D8}"/>
              </a:ext>
            </a:extLst>
          </p:cNvPr>
          <p:cNvSpPr/>
          <p:nvPr/>
        </p:nvSpPr>
        <p:spPr>
          <a:xfrm>
            <a:off x="183392" y="4647353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품목 정보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56" name="표 55">
            <a:extLst>
              <a:ext uri="{FF2B5EF4-FFF2-40B4-BE49-F238E27FC236}">
                <a16:creationId xmlns:a16="http://schemas.microsoft.com/office/drawing/2014/main" id="{696A99E0-E3B7-3D76-34FF-5DBFE77BED2E}"/>
              </a:ext>
            </a:extLst>
          </p:cNvPr>
          <p:cNvGraphicFramePr>
            <a:graphicFrameLocks noGrp="1"/>
          </p:cNvGraphicFramePr>
          <p:nvPr/>
        </p:nvGraphicFramePr>
        <p:xfrm>
          <a:off x="171333" y="4950250"/>
          <a:ext cx="9358510" cy="675840"/>
        </p:xfrm>
        <a:graphic>
          <a:graphicData uri="http://schemas.openxmlformats.org/drawingml/2006/table">
            <a:tbl>
              <a:tblPr firstRow="1" bandRow="1"/>
              <a:tblGrid>
                <a:gridCol w="258001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97482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2113525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2317117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316734">
                  <a:extLst>
                    <a:ext uri="{9D8B030D-6E8A-4147-A177-3AD203B41FA5}">
                      <a16:colId xmlns:a16="http://schemas.microsoft.com/office/drawing/2014/main" val="3053194834"/>
                    </a:ext>
                  </a:extLst>
                </a:gridCol>
                <a:gridCol w="302079">
                  <a:extLst>
                    <a:ext uri="{9D8B030D-6E8A-4147-A177-3AD203B41FA5}">
                      <a16:colId xmlns:a16="http://schemas.microsoft.com/office/drawing/2014/main" val="419952432"/>
                    </a:ext>
                  </a:extLst>
                </a:gridCol>
                <a:gridCol w="714047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866062">
                  <a:extLst>
                    <a:ext uri="{9D8B030D-6E8A-4147-A177-3AD203B41FA5}">
                      <a16:colId xmlns:a16="http://schemas.microsoft.com/office/drawing/2014/main" val="3408856969"/>
                    </a:ext>
                  </a:extLst>
                </a:gridCol>
                <a:gridCol w="1773463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No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품목코드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품목명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규격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단위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수량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납기요청일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입고장소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비고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-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서초동 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1601-9 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오피스텔 신축공사 중 도장공사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품목구성방법이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‘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지정항목작성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’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인 경우에 등록됨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2026.07.31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현장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품목등록의 비고에 들어간 내용입니다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.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58" name="직사각형 57">
            <a:extLst>
              <a:ext uri="{FF2B5EF4-FFF2-40B4-BE49-F238E27FC236}">
                <a16:creationId xmlns:a16="http://schemas.microsoft.com/office/drawing/2014/main" id="{E7DA1E3B-2FFF-7756-7131-FD6E17111B97}"/>
              </a:ext>
            </a:extLst>
          </p:cNvPr>
          <p:cNvSpPr/>
          <p:nvPr/>
        </p:nvSpPr>
        <p:spPr>
          <a:xfrm>
            <a:off x="164467" y="5754104"/>
            <a:ext cx="699418" cy="288032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목록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EFB42849-9AB2-9A1F-7081-3A785B818238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19670596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D14B5A-86E6-338F-1F69-0811868ADE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2207B8B6-93C6-7C20-C9BC-B3E89466BE27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25A9DE3-7C93-379D-7573-DA455FBFB4A0}"/>
              </a:ext>
            </a:extLst>
          </p:cNvPr>
          <p:cNvSpPr txBox="1"/>
          <p:nvPr/>
        </p:nvSpPr>
        <p:spPr>
          <a:xfrm>
            <a:off x="8049344" y="584684"/>
            <a:ext cx="1856656" cy="23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650A9F28-CC38-CD6C-DB40-95125CB2329B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90F665D3-AA56-25A3-21F3-4DD7BA89AE88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0DF6F29A-8741-7BB1-2A2F-CD4DAAD34228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6B9626A-4E9A-ABFB-65B3-EAAA699A8F98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69C1CA1A-AB39-7B53-3C89-10505D2290AF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0B09D88E-A057-7CDB-C49C-27DB848F2C35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7" name="Picture 1">
            <a:extLst>
              <a:ext uri="{FF2B5EF4-FFF2-40B4-BE49-F238E27FC236}">
                <a16:creationId xmlns:a16="http://schemas.microsoft.com/office/drawing/2014/main" id="{C8BDCA84-4DC1-9402-2825-58BDAB84E25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A26D8750-10DA-33A4-D20C-F09A13302F89}"/>
              </a:ext>
            </a:extLst>
          </p:cNvPr>
          <p:cNvSpPr txBox="1"/>
          <p:nvPr/>
        </p:nvSpPr>
        <p:spPr>
          <a:xfrm>
            <a:off x="749224" y="25608"/>
            <a:ext cx="247054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정보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B81224DD-420C-9156-82EC-FFF4B8E24EEA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계속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DA02FC2-C9B9-C36B-BC53-4534FEBB23BC}"/>
              </a:ext>
            </a:extLst>
          </p:cNvPr>
          <p:cNvSpPr/>
          <p:nvPr/>
        </p:nvSpPr>
        <p:spPr>
          <a:xfrm>
            <a:off x="183392" y="2061083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상세정보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9B3FF5D-B5FB-6A59-DB88-C374336993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8424669"/>
              </p:ext>
            </p:extLst>
          </p:nvPr>
        </p:nvGraphicFramePr>
        <p:xfrm>
          <a:off x="164467" y="2359256"/>
          <a:ext cx="7740859" cy="1013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4177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56682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 시작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마감일시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2026.07.31 09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시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~ 2026.08.15 18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시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14883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입찰공고 게시기간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2026.07.28 09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00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분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~ 2026.08.15 18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00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630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현장설명회 일시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현장설명회 없음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  2026.08.05 16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00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8892629"/>
                  </a:ext>
                </a:extLst>
              </a:tr>
            </a:tbl>
          </a:graphicData>
        </a:graphic>
      </p:graphicFrame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89AF5C86-3A11-266A-BF0B-2DB57711BA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4377691"/>
              </p:ext>
            </p:extLst>
          </p:nvPr>
        </p:nvGraphicFramePr>
        <p:xfrm>
          <a:off x="164467" y="3365344"/>
          <a:ext cx="7776865" cy="27279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79418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97447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입찰공고문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724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입찰참가신청서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93583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입찰보증금지급각서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3165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시방서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구매견적서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과업지시서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09388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기타서류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3389591"/>
                  </a:ext>
                </a:extLst>
              </a:tr>
            </a:tbl>
          </a:graphicData>
        </a:graphic>
      </p:graphicFrame>
      <p:grpSp>
        <p:nvGrpSpPr>
          <p:cNvPr id="29" name="그룹 28">
            <a:extLst>
              <a:ext uri="{FF2B5EF4-FFF2-40B4-BE49-F238E27FC236}">
                <a16:creationId xmlns:a16="http://schemas.microsoft.com/office/drawing/2014/main" id="{2D3DC920-120A-5E0B-B4AD-32F9AC94B84F}"/>
              </a:ext>
            </a:extLst>
          </p:cNvPr>
          <p:cNvGrpSpPr/>
          <p:nvPr/>
        </p:nvGrpSpPr>
        <p:grpSpPr>
          <a:xfrm>
            <a:off x="2777097" y="3417742"/>
            <a:ext cx="1275802" cy="198885"/>
            <a:chOff x="2576736" y="3905324"/>
            <a:chExt cx="1275802" cy="198885"/>
          </a:xfrm>
        </p:grpSpPr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B5C7C33C-6486-2FCE-580B-21871689AE70}"/>
                </a:ext>
              </a:extLst>
            </p:cNvPr>
            <p:cNvSpPr/>
            <p:nvPr/>
          </p:nvSpPr>
          <p:spPr>
            <a:xfrm>
              <a:off x="2576736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2CAFE9F2-A83D-F8AA-0A66-2FF39CF6D580}"/>
                </a:ext>
              </a:extLst>
            </p:cNvPr>
            <p:cNvSpPr/>
            <p:nvPr/>
          </p:nvSpPr>
          <p:spPr>
            <a:xfrm>
              <a:off x="3239573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E260BEC2-BF62-53B3-7532-8E3CD552DD98}"/>
              </a:ext>
            </a:extLst>
          </p:cNvPr>
          <p:cNvGrpSpPr/>
          <p:nvPr/>
        </p:nvGrpSpPr>
        <p:grpSpPr>
          <a:xfrm>
            <a:off x="2777097" y="3775237"/>
            <a:ext cx="1275802" cy="198885"/>
            <a:chOff x="2576736" y="3905324"/>
            <a:chExt cx="1275802" cy="198885"/>
          </a:xfrm>
        </p:grpSpPr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B1B8EDCF-914C-4BDD-5626-D3E073DC4FA2}"/>
                </a:ext>
              </a:extLst>
            </p:cNvPr>
            <p:cNvSpPr/>
            <p:nvPr/>
          </p:nvSpPr>
          <p:spPr>
            <a:xfrm>
              <a:off x="2576736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5DD33E9C-BDF6-670F-1C7C-F56E9B0400C3}"/>
                </a:ext>
              </a:extLst>
            </p:cNvPr>
            <p:cNvSpPr/>
            <p:nvPr/>
          </p:nvSpPr>
          <p:spPr>
            <a:xfrm>
              <a:off x="3239573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E80FA322-53E7-F6E0-794E-9CD998E62808}"/>
              </a:ext>
            </a:extLst>
          </p:cNvPr>
          <p:cNvGrpSpPr/>
          <p:nvPr/>
        </p:nvGrpSpPr>
        <p:grpSpPr>
          <a:xfrm>
            <a:off x="2777097" y="4140180"/>
            <a:ext cx="1275802" cy="198885"/>
            <a:chOff x="2576736" y="3905324"/>
            <a:chExt cx="1275802" cy="198885"/>
          </a:xfrm>
        </p:grpSpPr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44512AC5-3481-E50C-427D-66E4D70BE827}"/>
                </a:ext>
              </a:extLst>
            </p:cNvPr>
            <p:cNvSpPr/>
            <p:nvPr/>
          </p:nvSpPr>
          <p:spPr>
            <a:xfrm>
              <a:off x="2576736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1A307923-EBAE-D08B-D315-8E08EE3917FE}"/>
                </a:ext>
              </a:extLst>
            </p:cNvPr>
            <p:cNvSpPr/>
            <p:nvPr/>
          </p:nvSpPr>
          <p:spPr>
            <a:xfrm>
              <a:off x="3239573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A38B62BB-9DDA-450D-A2BF-99C4818D45C4}"/>
              </a:ext>
            </a:extLst>
          </p:cNvPr>
          <p:cNvGrpSpPr/>
          <p:nvPr/>
        </p:nvGrpSpPr>
        <p:grpSpPr>
          <a:xfrm>
            <a:off x="2777097" y="4403350"/>
            <a:ext cx="1275802" cy="198885"/>
            <a:chOff x="2576736" y="3905324"/>
            <a:chExt cx="1275802" cy="198885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A8283628-555D-0D57-0D82-686C3390B4CB}"/>
                </a:ext>
              </a:extLst>
            </p:cNvPr>
            <p:cNvSpPr/>
            <p:nvPr/>
          </p:nvSpPr>
          <p:spPr>
            <a:xfrm>
              <a:off x="2576736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31DA4779-DF76-DCFF-F3E3-823BD595AD4E}"/>
                </a:ext>
              </a:extLst>
            </p:cNvPr>
            <p:cNvSpPr/>
            <p:nvPr/>
          </p:nvSpPr>
          <p:spPr>
            <a:xfrm>
              <a:off x="3239573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grpSp>
        <p:nvGrpSpPr>
          <p:cNvPr id="64" name="그룹 63">
            <a:extLst>
              <a:ext uri="{FF2B5EF4-FFF2-40B4-BE49-F238E27FC236}">
                <a16:creationId xmlns:a16="http://schemas.microsoft.com/office/drawing/2014/main" id="{2642C702-1E5F-3E8E-E2E8-AC217EB19453}"/>
              </a:ext>
            </a:extLst>
          </p:cNvPr>
          <p:cNvGrpSpPr/>
          <p:nvPr/>
        </p:nvGrpSpPr>
        <p:grpSpPr>
          <a:xfrm>
            <a:off x="2777097" y="4736039"/>
            <a:ext cx="1275802" cy="198885"/>
            <a:chOff x="2576736" y="3905324"/>
            <a:chExt cx="1275802" cy="198885"/>
          </a:xfrm>
        </p:grpSpPr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81627F64-1142-C65E-2682-F3456C92BE39}"/>
                </a:ext>
              </a:extLst>
            </p:cNvPr>
            <p:cNvSpPr/>
            <p:nvPr/>
          </p:nvSpPr>
          <p:spPr>
            <a:xfrm>
              <a:off x="2576736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E84581D3-0709-A7CC-6604-0CEE06A43B89}"/>
                </a:ext>
              </a:extLst>
            </p:cNvPr>
            <p:cNvSpPr/>
            <p:nvPr/>
          </p:nvSpPr>
          <p:spPr>
            <a:xfrm>
              <a:off x="3239573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055D6A00-F240-C552-147F-D300F1D8B682}"/>
              </a:ext>
            </a:extLst>
          </p:cNvPr>
          <p:cNvGrpSpPr/>
          <p:nvPr/>
        </p:nvGrpSpPr>
        <p:grpSpPr>
          <a:xfrm>
            <a:off x="2777097" y="4999209"/>
            <a:ext cx="1275802" cy="198885"/>
            <a:chOff x="2576736" y="3905324"/>
            <a:chExt cx="1275802" cy="198885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3AFADE50-D78C-2813-42A7-A5842C39B10E}"/>
                </a:ext>
              </a:extLst>
            </p:cNvPr>
            <p:cNvSpPr/>
            <p:nvPr/>
          </p:nvSpPr>
          <p:spPr>
            <a:xfrm>
              <a:off x="2576736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7CBEE6FF-465F-DB56-1677-E507BD9406B7}"/>
                </a:ext>
              </a:extLst>
            </p:cNvPr>
            <p:cNvSpPr/>
            <p:nvPr/>
          </p:nvSpPr>
          <p:spPr>
            <a:xfrm>
              <a:off x="3239573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3943036B-7FF6-E861-DC6A-0E9F347A6799}"/>
              </a:ext>
            </a:extLst>
          </p:cNvPr>
          <p:cNvGrpSpPr/>
          <p:nvPr/>
        </p:nvGrpSpPr>
        <p:grpSpPr>
          <a:xfrm>
            <a:off x="2777097" y="5310401"/>
            <a:ext cx="1275802" cy="198885"/>
            <a:chOff x="2576736" y="3905324"/>
            <a:chExt cx="1275802" cy="198885"/>
          </a:xfrm>
        </p:grpSpPr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1F81495F-3DFE-937C-763F-EB91C3531CD7}"/>
                </a:ext>
              </a:extLst>
            </p:cNvPr>
            <p:cNvSpPr/>
            <p:nvPr/>
          </p:nvSpPr>
          <p:spPr>
            <a:xfrm>
              <a:off x="2576736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A2FCC55B-3BEB-B421-3139-09E0BDCF0199}"/>
                </a:ext>
              </a:extLst>
            </p:cNvPr>
            <p:cNvSpPr/>
            <p:nvPr/>
          </p:nvSpPr>
          <p:spPr>
            <a:xfrm>
              <a:off x="3239573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27748FCC-21FD-7D5F-D72F-E83F249B7EFD}"/>
              </a:ext>
            </a:extLst>
          </p:cNvPr>
          <p:cNvGrpSpPr/>
          <p:nvPr/>
        </p:nvGrpSpPr>
        <p:grpSpPr>
          <a:xfrm>
            <a:off x="2777097" y="5573571"/>
            <a:ext cx="1275802" cy="198885"/>
            <a:chOff x="2576736" y="3905324"/>
            <a:chExt cx="1275802" cy="198885"/>
          </a:xfrm>
        </p:grpSpPr>
        <p:sp>
          <p:nvSpPr>
            <p:cNvPr id="74" name="직사각형 73">
              <a:extLst>
                <a:ext uri="{FF2B5EF4-FFF2-40B4-BE49-F238E27FC236}">
                  <a16:creationId xmlns:a16="http://schemas.microsoft.com/office/drawing/2014/main" id="{4324354A-99F9-A972-BEF2-6AD7B6B91450}"/>
                </a:ext>
              </a:extLst>
            </p:cNvPr>
            <p:cNvSpPr/>
            <p:nvPr/>
          </p:nvSpPr>
          <p:spPr>
            <a:xfrm>
              <a:off x="2576736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4EC7C3CE-870C-4F90-F6DE-FC47168BB803}"/>
                </a:ext>
              </a:extLst>
            </p:cNvPr>
            <p:cNvSpPr/>
            <p:nvPr/>
          </p:nvSpPr>
          <p:spPr>
            <a:xfrm>
              <a:off x="3239573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FE8D29E2-3F99-8E21-88D4-7609FAF3C2CC}"/>
              </a:ext>
            </a:extLst>
          </p:cNvPr>
          <p:cNvGrpSpPr/>
          <p:nvPr/>
        </p:nvGrpSpPr>
        <p:grpSpPr>
          <a:xfrm>
            <a:off x="2777097" y="5830661"/>
            <a:ext cx="1275802" cy="198885"/>
            <a:chOff x="2576736" y="3905324"/>
            <a:chExt cx="1275802" cy="198885"/>
          </a:xfrm>
        </p:grpSpPr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7AE5F404-DE68-AC57-04EC-5A85862431B5}"/>
                </a:ext>
              </a:extLst>
            </p:cNvPr>
            <p:cNvSpPr/>
            <p:nvPr/>
          </p:nvSpPr>
          <p:spPr>
            <a:xfrm>
              <a:off x="2576736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04731965-38A9-8299-1B11-7AFB422452CE}"/>
                </a:ext>
              </a:extLst>
            </p:cNvPr>
            <p:cNvSpPr/>
            <p:nvPr/>
          </p:nvSpPr>
          <p:spPr>
            <a:xfrm>
              <a:off x="3239573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7D296030-B5CE-D1E1-C9A0-F21F655777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179832"/>
              </p:ext>
            </p:extLst>
          </p:nvPr>
        </p:nvGraphicFramePr>
        <p:xfrm>
          <a:off x="164466" y="817960"/>
          <a:ext cx="7732447" cy="675840"/>
        </p:xfrm>
        <a:graphic>
          <a:graphicData uri="http://schemas.openxmlformats.org/drawingml/2006/table">
            <a:tbl>
              <a:tblPr firstRow="1" bandRow="1"/>
              <a:tblGrid>
                <a:gridCol w="83838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763949">
                  <a:extLst>
                    <a:ext uri="{9D8B030D-6E8A-4147-A177-3AD203B41FA5}">
                      <a16:colId xmlns:a16="http://schemas.microsoft.com/office/drawing/2014/main" val="1731736782"/>
                    </a:ext>
                  </a:extLst>
                </a:gridCol>
                <a:gridCol w="616894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821542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289563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1002816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1092824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628938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677541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재공고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입찰진행중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grpSp>
        <p:nvGrpSpPr>
          <p:cNvPr id="40" name="그룹 39">
            <a:extLst>
              <a:ext uri="{FF2B5EF4-FFF2-40B4-BE49-F238E27FC236}">
                <a16:creationId xmlns:a16="http://schemas.microsoft.com/office/drawing/2014/main" id="{06C2A10B-C749-9103-77EE-CB9E1BAB2202}"/>
              </a:ext>
            </a:extLst>
          </p:cNvPr>
          <p:cNvGrpSpPr/>
          <p:nvPr/>
        </p:nvGrpSpPr>
        <p:grpSpPr>
          <a:xfrm>
            <a:off x="163503" y="1590633"/>
            <a:ext cx="7741824" cy="354461"/>
            <a:chOff x="163503" y="1590633"/>
            <a:chExt cx="7741824" cy="354461"/>
          </a:xfrm>
        </p:grpSpPr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12E47DF8-AB8A-57C0-1A1E-F4651D43F809}"/>
                </a:ext>
              </a:extLst>
            </p:cNvPr>
            <p:cNvCxnSpPr>
              <a:cxnSpLocks/>
            </p:cNvCxnSpPr>
            <p:nvPr/>
          </p:nvCxnSpPr>
          <p:spPr>
            <a:xfrm>
              <a:off x="167468" y="1941219"/>
              <a:ext cx="7737859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3C9F29E8-90C6-D5DC-1FC5-77E5E96E7AD1}"/>
                </a:ext>
              </a:extLst>
            </p:cNvPr>
            <p:cNvSpPr/>
            <p:nvPr/>
          </p:nvSpPr>
          <p:spPr>
            <a:xfrm>
              <a:off x="163503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발주계획 정보</a:t>
              </a: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698CD88F-8829-A25F-9A27-43B4FCCE7842}"/>
                </a:ext>
              </a:extLst>
            </p:cNvPr>
            <p:cNvSpPr/>
            <p:nvPr/>
          </p:nvSpPr>
          <p:spPr>
            <a:xfrm>
              <a:off x="1848030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 참여현황</a:t>
              </a:r>
            </a:p>
          </p:txBody>
        </p:sp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061AC81E-4E21-74C6-B389-D87723C067F8}"/>
                </a:ext>
              </a:extLst>
            </p:cNvPr>
            <p:cNvSpPr/>
            <p:nvPr/>
          </p:nvSpPr>
          <p:spPr>
            <a:xfrm>
              <a:off x="2694874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심사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평가</a:t>
              </a:r>
            </a:p>
          </p:txBody>
        </p:sp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B9934687-7F66-5432-19FE-6FC77BD760E5}"/>
                </a:ext>
              </a:extLst>
            </p:cNvPr>
            <p:cNvSpPr/>
            <p:nvPr/>
          </p:nvSpPr>
          <p:spPr>
            <a:xfrm>
              <a:off x="1004560" y="1590633"/>
              <a:ext cx="839130" cy="354461"/>
            </a:xfrm>
            <a:prstGeom prst="rect">
              <a:avLst/>
            </a:prstGeom>
            <a:solidFill>
              <a:srgbClr val="00B050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정보</a:t>
              </a:r>
            </a:p>
          </p:txBody>
        </p:sp>
        <p:sp>
          <p:nvSpPr>
            <p:cNvPr id="46" name="직사각형 45">
              <a:extLst>
                <a:ext uri="{FF2B5EF4-FFF2-40B4-BE49-F238E27FC236}">
                  <a16:creationId xmlns:a16="http://schemas.microsoft.com/office/drawing/2014/main" id="{30EF61B7-FEFB-8152-E9BE-1B937522DCD6}"/>
                </a:ext>
              </a:extLst>
            </p:cNvPr>
            <p:cNvSpPr/>
            <p:nvPr/>
          </p:nvSpPr>
          <p:spPr>
            <a:xfrm>
              <a:off x="3532662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개찰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6A03BADC-0740-677F-D6F9-5591C859817E}"/>
                </a:ext>
              </a:extLst>
            </p:cNvPr>
            <p:cNvSpPr/>
            <p:nvPr/>
          </p:nvSpPr>
          <p:spPr>
            <a:xfrm>
              <a:off x="4370291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낙찰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업체 선정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)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F39DD20D-8CEB-8778-F9CB-D2987FC21EEC}"/>
                </a:ext>
              </a:extLst>
            </p:cNvPr>
            <p:cNvSpPr/>
            <p:nvPr/>
          </p:nvSpPr>
          <p:spPr>
            <a:xfrm>
              <a:off x="5213654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수의시담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5CD96E7C-2FFF-A9AD-EF46-A15CE323259E}"/>
                </a:ext>
              </a:extLst>
            </p:cNvPr>
            <p:cNvSpPr/>
            <p:nvPr/>
          </p:nvSpPr>
          <p:spPr>
            <a:xfrm>
              <a:off x="6051872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계약 요청</a:t>
              </a:r>
            </a:p>
          </p:txBody>
        </p:sp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B5C99492-48D0-6E5F-122C-39C9238AA35E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79239179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225988-9E23-D09A-3DB2-99C7D4CA89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6ACF1B82-AFAD-C6F5-1AD8-E331058FDB73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3D111AA-D7E2-EDBE-74D1-FF22116ECEC4}"/>
              </a:ext>
            </a:extLst>
          </p:cNvPr>
          <p:cNvSpPr txBox="1"/>
          <p:nvPr/>
        </p:nvSpPr>
        <p:spPr>
          <a:xfrm>
            <a:off x="8049344" y="584684"/>
            <a:ext cx="1856656" cy="23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4CA07A7-101C-B622-CE13-ACCDE2CE31C4}"/>
              </a:ext>
            </a:extLst>
          </p:cNvPr>
          <p:cNvSpPr txBox="1"/>
          <p:nvPr/>
        </p:nvSpPr>
        <p:spPr>
          <a:xfrm>
            <a:off x="749224" y="25608"/>
            <a:ext cx="247054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정보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140660B-E3D9-D24D-A6D9-4374B67563C4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계속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B471576-7F27-2484-5626-DBF45DA5F0A4}"/>
              </a:ext>
            </a:extLst>
          </p:cNvPr>
          <p:cNvSpPr/>
          <p:nvPr/>
        </p:nvSpPr>
        <p:spPr>
          <a:xfrm>
            <a:off x="183392" y="1454096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9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기간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29AC116-928B-FF3D-67EE-1E67D91828DF}"/>
              </a:ext>
            </a:extLst>
          </p:cNvPr>
          <p:cNvGraphicFramePr>
            <a:graphicFrameLocks noGrp="1"/>
          </p:cNvGraphicFramePr>
          <p:nvPr/>
        </p:nvGraphicFramePr>
        <p:xfrm>
          <a:off x="164467" y="1724643"/>
          <a:ext cx="7740859" cy="337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4177">
                  <a:extLst>
                    <a:ext uri="{9D8B030D-6E8A-4147-A177-3AD203B41FA5}">
                      <a16:colId xmlns:a16="http://schemas.microsoft.com/office/drawing/2014/main" val="2218358209"/>
                    </a:ext>
                  </a:extLst>
                </a:gridCol>
                <a:gridCol w="6156682">
                  <a:extLst>
                    <a:ext uri="{9D8B030D-6E8A-4147-A177-3AD203B41FA5}">
                      <a16:colId xmlns:a16="http://schemas.microsoft.com/office/drawing/2014/main" val="376649550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가격 </a:t>
                      </a:r>
                      <a:r>
                        <a:rPr kumimoji="0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투찰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기간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2026.07.20 09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00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분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~ 2026.08.25 18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00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88328"/>
                  </a:ext>
                </a:extLst>
              </a:tr>
            </a:tbl>
          </a:graphicData>
        </a:graphic>
      </p:graphicFrame>
      <p:sp>
        <p:nvSpPr>
          <p:cNvPr id="11" name="직사각형 10">
            <a:extLst>
              <a:ext uri="{FF2B5EF4-FFF2-40B4-BE49-F238E27FC236}">
                <a16:creationId xmlns:a16="http://schemas.microsoft.com/office/drawing/2014/main" id="{ADDC095F-4226-4061-B65D-0D422E2AC1BB}"/>
              </a:ext>
            </a:extLst>
          </p:cNvPr>
          <p:cNvSpPr/>
          <p:nvPr/>
        </p:nvSpPr>
        <p:spPr>
          <a:xfrm>
            <a:off x="183392" y="361231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입찰참여 가능 업체 선택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5F474E3F-D177-8ADF-7E69-62C44C5CD733}"/>
              </a:ext>
            </a:extLst>
          </p:cNvPr>
          <p:cNvGraphicFramePr>
            <a:graphicFrameLocks noGrp="1"/>
          </p:cNvGraphicFramePr>
          <p:nvPr/>
        </p:nvGraphicFramePr>
        <p:xfrm>
          <a:off x="164467" y="631778"/>
          <a:ext cx="7740859" cy="734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4177">
                  <a:extLst>
                    <a:ext uri="{9D8B030D-6E8A-4147-A177-3AD203B41FA5}">
                      <a16:colId xmlns:a16="http://schemas.microsoft.com/office/drawing/2014/main" val="2218358209"/>
                    </a:ext>
                  </a:extLst>
                </a:gridCol>
                <a:gridCol w="6156682">
                  <a:extLst>
                    <a:ext uri="{9D8B030D-6E8A-4147-A177-3AD203B41FA5}">
                      <a16:colId xmlns:a16="http://schemas.microsoft.com/office/drawing/2014/main" val="376649550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입찰참여 업체 선택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A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협력업체명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(123-45-67891)</a:t>
                      </a: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B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협력업체명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(123-45-67891)</a:t>
                      </a: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C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협력업체명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(123-45-67891)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88328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E41959AE-4BD0-2FA0-7F34-DA12C27A5A9F}"/>
              </a:ext>
            </a:extLst>
          </p:cNvPr>
          <p:cNvSpPr/>
          <p:nvPr/>
        </p:nvSpPr>
        <p:spPr>
          <a:xfrm>
            <a:off x="183392" y="2168860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 관련 정보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2127CFA5-9534-77A4-A883-330ADF0294D1}"/>
              </a:ext>
            </a:extLst>
          </p:cNvPr>
          <p:cNvGraphicFramePr>
            <a:graphicFrameLocks noGrp="1"/>
          </p:cNvGraphicFramePr>
          <p:nvPr/>
        </p:nvGraphicFramePr>
        <p:xfrm>
          <a:off x="164467" y="2444817"/>
          <a:ext cx="7740859" cy="1013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4177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56682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업체평가 종료일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2026.07.21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30657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동점자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처리기준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규격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기술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33570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평가자 매핑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5394118"/>
                  </a:ext>
                </a:extLst>
              </a:tr>
            </a:tbl>
          </a:graphicData>
        </a:graphic>
      </p:graphicFrame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4AC96345-8315-8FD0-A24F-AD966299406A}"/>
              </a:ext>
            </a:extLst>
          </p:cNvPr>
          <p:cNvGraphicFramePr>
            <a:graphicFrameLocks noGrp="1"/>
          </p:cNvGraphicFramePr>
          <p:nvPr/>
        </p:nvGraphicFramePr>
        <p:xfrm>
          <a:off x="164467" y="3458577"/>
          <a:ext cx="7740859" cy="10720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4177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56682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종합평가 비율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기술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:  80%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 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   가격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:  20%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84718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업체 전달사항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 참여 시 등록해야 하는 서류를 꼼꼼히 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읽어보시고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빠짐없이 등록해주세요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.</a:t>
                      </a: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777443"/>
                  </a:ext>
                </a:extLst>
              </a:tr>
            </a:tbl>
          </a:graphicData>
        </a:graphic>
      </p:graphicFrame>
      <p:sp>
        <p:nvSpPr>
          <p:cNvPr id="22" name="직사각형 21">
            <a:extLst>
              <a:ext uri="{FF2B5EF4-FFF2-40B4-BE49-F238E27FC236}">
                <a16:creationId xmlns:a16="http://schemas.microsoft.com/office/drawing/2014/main" id="{8216370B-6617-E97A-6573-1A822DD618C5}"/>
              </a:ext>
            </a:extLst>
          </p:cNvPr>
          <p:cNvSpPr/>
          <p:nvPr/>
        </p:nvSpPr>
        <p:spPr>
          <a:xfrm>
            <a:off x="183392" y="4640871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제안발표 관련 정보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50D0E59D-0E29-ED90-AFD0-62C98CB0DF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3406002"/>
              </p:ext>
            </p:extLst>
          </p:nvPr>
        </p:nvGraphicFramePr>
        <p:xfrm>
          <a:off x="164467" y="4939044"/>
          <a:ext cx="7740859" cy="135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68153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372706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협상에 의한 계약 여부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협상에 의한 계약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20952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제안발표 여부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제안발표 진행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7774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제안발표 일시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2026.08.31 16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30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분부터 진행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27298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제안발표 장소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전기회관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층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켑코이에스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대회의실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995752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57164659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3A7540-6849-21AB-2345-5FC262BF0C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31C6E62A-9E4C-6139-DC8D-D7F5D625F1CF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57997B9-B5B4-5A26-00AA-D1DD5AEFB3C5}"/>
              </a:ext>
            </a:extLst>
          </p:cNvPr>
          <p:cNvSpPr txBox="1"/>
          <p:nvPr/>
        </p:nvSpPr>
        <p:spPr>
          <a:xfrm>
            <a:off x="8049344" y="584684"/>
            <a:ext cx="1856656" cy="23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D42FEBA-7543-775E-377E-30D43E523F3E}"/>
              </a:ext>
            </a:extLst>
          </p:cNvPr>
          <p:cNvSpPr txBox="1"/>
          <p:nvPr/>
        </p:nvSpPr>
        <p:spPr>
          <a:xfrm>
            <a:off x="749224" y="25608"/>
            <a:ext cx="247054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정보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E0F4780F-4956-7265-518E-1E081A603EDB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계속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B48E5272-6076-AB74-6A86-AE0D2C3A405C}"/>
              </a:ext>
            </a:extLst>
          </p:cNvPr>
          <p:cNvSpPr/>
          <p:nvPr/>
        </p:nvSpPr>
        <p:spPr>
          <a:xfrm>
            <a:off x="183392" y="388356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 항목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B06C808-3F8D-AC1B-37FB-1E874B967A15}"/>
              </a:ext>
            </a:extLst>
          </p:cNvPr>
          <p:cNvSpPr txBox="1"/>
          <p:nvPr/>
        </p:nvSpPr>
        <p:spPr>
          <a:xfrm>
            <a:off x="164468" y="660690"/>
            <a:ext cx="3053340" cy="230832"/>
          </a:xfrm>
          <a:prstGeom prst="rect">
            <a:avLst/>
          </a:prstGeom>
          <a:noFill/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등록된 심사</a:t>
            </a:r>
            <a:r>
              <a:rPr lang="en-US" altLang="ko-KR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 항목 </a:t>
            </a:r>
            <a:r>
              <a:rPr lang="en-US" altLang="ko-KR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총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건</a:t>
            </a:r>
          </a:p>
        </p:txBody>
      </p: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BE145991-E33D-1737-6FAF-B5D6E699E3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1524921"/>
              </p:ext>
            </p:extLst>
          </p:nvPr>
        </p:nvGraphicFramePr>
        <p:xfrm>
          <a:off x="171332" y="933024"/>
          <a:ext cx="7713521" cy="1013760"/>
        </p:xfrm>
        <a:graphic>
          <a:graphicData uri="http://schemas.openxmlformats.org/drawingml/2006/table">
            <a:tbl>
              <a:tblPr firstRow="1" bandRow="1"/>
              <a:tblGrid>
                <a:gridCol w="611564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1905497">
                  <a:extLst>
                    <a:ext uri="{9D8B030D-6E8A-4147-A177-3AD203B41FA5}">
                      <a16:colId xmlns:a16="http://schemas.microsoft.com/office/drawing/2014/main" val="2348944443"/>
                    </a:ext>
                  </a:extLst>
                </a:gridCol>
                <a:gridCol w="2413243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975994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1807223">
                  <a:extLst>
                    <a:ext uri="{9D8B030D-6E8A-4147-A177-3AD203B41FA5}">
                      <a16:colId xmlns:a16="http://schemas.microsoft.com/office/drawing/2014/main" val="202131028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No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심사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/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평가 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심사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/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평가 항목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배점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자가심사 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계량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정량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신용평가등급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필요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계량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정량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시공경험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일반공사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필요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</a:tbl>
          </a:graphicData>
        </a:graphic>
      </p:graphicFrame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2D1FC3E4-A694-4BC5-2709-14D5F62735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7673990"/>
              </p:ext>
            </p:extLst>
          </p:nvPr>
        </p:nvGraphicFramePr>
        <p:xfrm>
          <a:off x="171332" y="1915382"/>
          <a:ext cx="7713521" cy="675840"/>
        </p:xfrm>
        <a:graphic>
          <a:graphicData uri="http://schemas.openxmlformats.org/drawingml/2006/table">
            <a:tbl>
              <a:tblPr firstRow="1" bandRow="1"/>
              <a:tblGrid>
                <a:gridCol w="611564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1905497">
                  <a:extLst>
                    <a:ext uri="{9D8B030D-6E8A-4147-A177-3AD203B41FA5}">
                      <a16:colId xmlns:a16="http://schemas.microsoft.com/office/drawing/2014/main" val="2348944443"/>
                    </a:ext>
                  </a:extLst>
                </a:gridCol>
                <a:gridCol w="2413243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975994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1807223">
                  <a:extLst>
                    <a:ext uri="{9D8B030D-6E8A-4147-A177-3AD203B41FA5}">
                      <a16:colId xmlns:a16="http://schemas.microsoft.com/office/drawing/2014/main" val="2021310288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비계량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정성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제안 평가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60.00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불필요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총 배점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80.00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6865154"/>
                  </a:ext>
                </a:extLst>
              </a:tr>
            </a:tbl>
          </a:graphicData>
        </a:graphic>
      </p:graphicFrame>
      <p:graphicFrame>
        <p:nvGraphicFramePr>
          <p:cNvPr id="30" name="표 29">
            <a:extLst>
              <a:ext uri="{FF2B5EF4-FFF2-40B4-BE49-F238E27FC236}">
                <a16:creationId xmlns:a16="http://schemas.microsoft.com/office/drawing/2014/main" id="{A13D37FB-3AAA-23D5-81AC-C2C772CF26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6489106"/>
              </p:ext>
            </p:extLst>
          </p:nvPr>
        </p:nvGraphicFramePr>
        <p:xfrm>
          <a:off x="164468" y="2709566"/>
          <a:ext cx="7736576" cy="337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04156">
                  <a:extLst>
                    <a:ext uri="{9D8B030D-6E8A-4147-A177-3AD203B41FA5}">
                      <a16:colId xmlns:a16="http://schemas.microsoft.com/office/drawing/2014/main" val="477224945"/>
                    </a:ext>
                  </a:extLst>
                </a:gridCol>
                <a:gridCol w="6332420">
                  <a:extLst>
                    <a:ext uri="{9D8B030D-6E8A-4147-A177-3AD203B41FA5}">
                      <a16:colId xmlns:a16="http://schemas.microsoft.com/office/drawing/2014/main" val="34787164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최저점수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적격여부 판단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60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점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209096"/>
                  </a:ext>
                </a:extLst>
              </a:tr>
            </a:tbl>
          </a:graphicData>
        </a:graphic>
      </p:graphicFrame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0431A38C-4D05-3A86-14EF-3FC5ED80C1E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8029369"/>
              </p:ext>
            </p:extLst>
          </p:nvPr>
        </p:nvGraphicFramePr>
        <p:xfrm>
          <a:off x="164468" y="3047486"/>
          <a:ext cx="7692855" cy="586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04156">
                  <a:extLst>
                    <a:ext uri="{9D8B030D-6E8A-4147-A177-3AD203B41FA5}">
                      <a16:colId xmlns:a16="http://schemas.microsoft.com/office/drawing/2014/main" val="477224945"/>
                    </a:ext>
                  </a:extLst>
                </a:gridCol>
                <a:gridCol w="6288699">
                  <a:extLst>
                    <a:ext uri="{9D8B030D-6E8A-4147-A177-3AD203B41FA5}">
                      <a16:colId xmlns:a16="http://schemas.microsoft.com/office/drawing/2014/main" val="34787164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심사기준</a:t>
                      </a:r>
                      <a:b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</a:b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배점 및 평가기준 등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8533698"/>
                  </a:ext>
                </a:extLst>
              </a:tr>
            </a:tbl>
          </a:graphicData>
        </a:graphic>
      </p:graphicFrame>
      <p:sp>
        <p:nvSpPr>
          <p:cNvPr id="36" name="직사각형 35">
            <a:extLst>
              <a:ext uri="{FF2B5EF4-FFF2-40B4-BE49-F238E27FC236}">
                <a16:creationId xmlns:a16="http://schemas.microsoft.com/office/drawing/2014/main" id="{D7C39F30-EECF-CA08-2786-3CDB456B501E}"/>
              </a:ext>
            </a:extLst>
          </p:cNvPr>
          <p:cNvSpPr/>
          <p:nvPr/>
        </p:nvSpPr>
        <p:spPr>
          <a:xfrm>
            <a:off x="2576736" y="3132267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바로보기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4D26CED8-CAB1-3E0B-6350-20F03F54D00A}"/>
              </a:ext>
            </a:extLst>
          </p:cNvPr>
          <p:cNvSpPr/>
          <p:nvPr/>
        </p:nvSpPr>
        <p:spPr>
          <a:xfrm>
            <a:off x="3239573" y="3132267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다운로드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770F9417-04DE-2886-1071-50320C3F477B}"/>
              </a:ext>
            </a:extLst>
          </p:cNvPr>
          <p:cNvSpPr/>
          <p:nvPr/>
        </p:nvSpPr>
        <p:spPr>
          <a:xfrm>
            <a:off x="2576736" y="3374294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바로보기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FA1E3A60-39AB-18D7-7DA9-CE8F1EB1C226}"/>
              </a:ext>
            </a:extLst>
          </p:cNvPr>
          <p:cNvSpPr/>
          <p:nvPr/>
        </p:nvSpPr>
        <p:spPr>
          <a:xfrm>
            <a:off x="3239573" y="3374294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다운로드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8A077631-0860-1F2D-D8BB-2568593663BF}"/>
              </a:ext>
            </a:extLst>
          </p:cNvPr>
          <p:cNvSpPr/>
          <p:nvPr/>
        </p:nvSpPr>
        <p:spPr>
          <a:xfrm>
            <a:off x="183392" y="3744410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 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예비가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26F95DDA-6DDA-936B-3F53-DAE6A456A94D}"/>
              </a:ext>
            </a:extLst>
          </p:cNvPr>
          <p:cNvSpPr/>
          <p:nvPr/>
        </p:nvSpPr>
        <p:spPr>
          <a:xfrm>
            <a:off x="179899" y="4045031"/>
            <a:ext cx="7701579" cy="87921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endParaRPr lang="ko-KR" altLang="en-US" sz="80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49" name="표 48">
            <a:extLst>
              <a:ext uri="{FF2B5EF4-FFF2-40B4-BE49-F238E27FC236}">
                <a16:creationId xmlns:a16="http://schemas.microsoft.com/office/drawing/2014/main" id="{E85A784D-9501-A220-DA58-75D1F25C7FB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8910817"/>
              </p:ext>
            </p:extLst>
          </p:nvPr>
        </p:nvGraphicFramePr>
        <p:xfrm>
          <a:off x="294012" y="4138524"/>
          <a:ext cx="7503304" cy="675840"/>
        </p:xfrm>
        <a:graphic>
          <a:graphicData uri="http://schemas.openxmlformats.org/drawingml/2006/table">
            <a:tbl>
              <a:tblPr firstRow="1" bandRow="1"/>
              <a:tblGrid>
                <a:gridCol w="1111607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1111607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509613">
                  <a:extLst>
                    <a:ext uri="{9D8B030D-6E8A-4147-A177-3AD203B41FA5}">
                      <a16:colId xmlns:a16="http://schemas.microsoft.com/office/drawing/2014/main" val="3053194834"/>
                    </a:ext>
                  </a:extLst>
                </a:gridCol>
                <a:gridCol w="977145">
                  <a:extLst>
                    <a:ext uri="{9D8B030D-6E8A-4147-A177-3AD203B41FA5}">
                      <a16:colId xmlns:a16="http://schemas.microsoft.com/office/drawing/2014/main" val="1035785104"/>
                    </a:ext>
                  </a:extLst>
                </a:gridCol>
                <a:gridCol w="1396666">
                  <a:extLst>
                    <a:ext uri="{9D8B030D-6E8A-4147-A177-3AD203B41FA5}">
                      <a16:colId xmlns:a16="http://schemas.microsoft.com/office/drawing/2014/main" val="2609742212"/>
                    </a:ext>
                  </a:extLst>
                </a:gridCol>
                <a:gridCol w="1396666">
                  <a:extLst>
                    <a:ext uri="{9D8B030D-6E8A-4147-A177-3AD203B41FA5}">
                      <a16:colId xmlns:a16="http://schemas.microsoft.com/office/drawing/2014/main" val="358653415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추정금액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사정금액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복수예비 기초금액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낙찰하한율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예정가격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낙찰하한가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94,710,000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94,710,000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91,088,550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87.745</a:t>
                      </a:r>
                      <a:endParaRPr lang="ko-KR" altLang="en-US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개찰 과정에서 정의됨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개찰 과정에서 정의됨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53" name="직사각형 52">
            <a:extLst>
              <a:ext uri="{FF2B5EF4-FFF2-40B4-BE49-F238E27FC236}">
                <a16:creationId xmlns:a16="http://schemas.microsoft.com/office/drawing/2014/main" id="{3BB8A6E2-A8AE-0529-29D1-D331CB9245F9}"/>
              </a:ext>
            </a:extLst>
          </p:cNvPr>
          <p:cNvSpPr/>
          <p:nvPr/>
        </p:nvSpPr>
        <p:spPr>
          <a:xfrm>
            <a:off x="179899" y="5012471"/>
            <a:ext cx="7701579" cy="87921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endParaRPr lang="ko-KR" altLang="en-US" sz="80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55" name="표 54">
            <a:extLst>
              <a:ext uri="{FF2B5EF4-FFF2-40B4-BE49-F238E27FC236}">
                <a16:creationId xmlns:a16="http://schemas.microsoft.com/office/drawing/2014/main" id="{4AFB6BD1-0B4E-456B-A99D-1070E57BF2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3270206"/>
              </p:ext>
            </p:extLst>
          </p:nvPr>
        </p:nvGraphicFramePr>
        <p:xfrm>
          <a:off x="294012" y="5105964"/>
          <a:ext cx="3681972" cy="675840"/>
        </p:xfrm>
        <a:graphic>
          <a:graphicData uri="http://schemas.openxmlformats.org/drawingml/2006/table">
            <a:tbl>
              <a:tblPr firstRow="1" bandRow="1"/>
              <a:tblGrid>
                <a:gridCol w="1227324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1227324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227324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추정금액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사정금액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예정가격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26,482,500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26,482,500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26,482,500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20312627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7CDF21-E65D-764C-FC7B-9D8793DDFB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81AC7997-A39B-0A73-57C5-A4DE77FCE7D9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2F86F69-328C-8660-3F06-FA19B1AD9159}"/>
              </a:ext>
            </a:extLst>
          </p:cNvPr>
          <p:cNvSpPr txBox="1"/>
          <p:nvPr/>
        </p:nvSpPr>
        <p:spPr>
          <a:xfrm>
            <a:off x="749224" y="25608"/>
            <a:ext cx="247054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정보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0C06D3F-912B-6C0F-3A73-DBC701FA1A19}"/>
              </a:ext>
            </a:extLst>
          </p:cNvPr>
          <p:cNvSpPr/>
          <p:nvPr/>
        </p:nvSpPr>
        <p:spPr>
          <a:xfrm>
            <a:off x="183392" y="368660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참여 서류</a:t>
            </a:r>
            <a:endParaRPr lang="ko-KR" altLang="en-US" sz="80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148D84F-E2DA-0018-4C7D-C713530F86B5}"/>
              </a:ext>
            </a:extLst>
          </p:cNvPr>
          <p:cNvSpPr txBox="1"/>
          <p:nvPr/>
        </p:nvSpPr>
        <p:spPr>
          <a:xfrm>
            <a:off x="164468" y="640994"/>
            <a:ext cx="3053340" cy="230832"/>
          </a:xfrm>
          <a:prstGeom prst="rect">
            <a:avLst/>
          </a:prstGeom>
          <a:noFill/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등록된 입찰 참여 서류 </a:t>
            </a:r>
            <a:r>
              <a:rPr lang="en-US" altLang="ko-KR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총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건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0E12612D-728B-41F6-92AA-42C1D548CF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0684089"/>
              </p:ext>
            </p:extLst>
          </p:nvPr>
        </p:nvGraphicFramePr>
        <p:xfrm>
          <a:off x="171331" y="924082"/>
          <a:ext cx="7710148" cy="1351680"/>
        </p:xfrm>
        <a:graphic>
          <a:graphicData uri="http://schemas.openxmlformats.org/drawingml/2006/table">
            <a:tbl>
              <a:tblPr firstRow="1" bandRow="1"/>
              <a:tblGrid>
                <a:gridCol w="353365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1938552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5418231">
                  <a:extLst>
                    <a:ext uri="{9D8B030D-6E8A-4147-A177-3AD203B41FA5}">
                      <a16:colId xmlns:a16="http://schemas.microsoft.com/office/drawing/2014/main" val="91689363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No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참여 서류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설명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입찰참가신청서 </a:t>
                      </a: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날인본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입찰참가신청서는 반드시 날인이 되어 있어야 합니다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. 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날인이 빠진 경우 미입찰로 처리됩니다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.)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신용평가등급 확인서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신용평가등급 확인서는 반드시 유효기간 내에 있어야 합니다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. 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법인인감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증명서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제출되는 법인인감증명서는 유효기간 내에 있어야 합니다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.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954169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C1697FF2-8E9E-9D84-2F65-9918937F2405}"/>
              </a:ext>
            </a:extLst>
          </p:cNvPr>
          <p:cNvGraphicFramePr>
            <a:graphicFrameLocks noGrp="1"/>
          </p:cNvGraphicFramePr>
          <p:nvPr/>
        </p:nvGraphicFramePr>
        <p:xfrm>
          <a:off x="171331" y="2253788"/>
          <a:ext cx="7710148" cy="675840"/>
        </p:xfrm>
        <a:graphic>
          <a:graphicData uri="http://schemas.openxmlformats.org/drawingml/2006/table">
            <a:tbl>
              <a:tblPr firstRow="1" bandRow="1"/>
              <a:tblGrid>
                <a:gridCol w="353365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1938552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5418231">
                  <a:extLst>
                    <a:ext uri="{9D8B030D-6E8A-4147-A177-3AD203B41FA5}">
                      <a16:colId xmlns:a16="http://schemas.microsoft.com/office/drawing/2014/main" val="91689363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제안서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제안서를 첨부해주세요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. 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되도록 하나의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PDF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파일로 합쳐서 첨부해주세요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.)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64464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기타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-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4785494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7098B5A2-6FEF-E37A-F1AD-4D8D936F3551}"/>
              </a:ext>
            </a:extLst>
          </p:cNvPr>
          <p:cNvSpPr/>
          <p:nvPr/>
        </p:nvSpPr>
        <p:spPr>
          <a:xfrm>
            <a:off x="6249144" y="3006362"/>
            <a:ext cx="1539541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으로 되돌리기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 </a:t>
            </a:r>
            <a:endParaRPr lang="ko-KR" altLang="en-US" sz="9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CB627794-6630-87D1-754F-508F7CE9A502}"/>
              </a:ext>
            </a:extLst>
          </p:cNvPr>
          <p:cNvSpPr/>
          <p:nvPr/>
        </p:nvSpPr>
        <p:spPr>
          <a:xfrm>
            <a:off x="164467" y="3006362"/>
            <a:ext cx="699418" cy="288032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목록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4FD1E929-1E2C-185A-DDFE-777FF581796C}"/>
              </a:ext>
            </a:extLst>
          </p:cNvPr>
          <p:cNvSpPr/>
          <p:nvPr/>
        </p:nvSpPr>
        <p:spPr>
          <a:xfrm>
            <a:off x="200472" y="3824929"/>
            <a:ext cx="3888432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</a:t>
            </a:r>
            <a:r>
              <a:rPr lang="en-US" altLang="ko-KR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으로 되돌리기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993FAED2-7862-7FF8-534C-AFF870C0CE5E}"/>
              </a:ext>
            </a:extLst>
          </p:cNvPr>
          <p:cNvSpPr/>
          <p:nvPr/>
        </p:nvSpPr>
        <p:spPr>
          <a:xfrm>
            <a:off x="200472" y="4097842"/>
            <a:ext cx="3888432" cy="185143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5998019-8A44-52BB-80E5-F005DB2B424E}"/>
              </a:ext>
            </a:extLst>
          </p:cNvPr>
          <p:cNvSpPr/>
          <p:nvPr/>
        </p:nvSpPr>
        <p:spPr>
          <a:xfrm>
            <a:off x="3818904" y="3824929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7D58364-5E68-6552-44BA-F259E170293D}"/>
              </a:ext>
            </a:extLst>
          </p:cNvPr>
          <p:cNvSpPr/>
          <p:nvPr/>
        </p:nvSpPr>
        <p:spPr>
          <a:xfrm>
            <a:off x="308251" y="4511229"/>
            <a:ext cx="3669553" cy="879892"/>
          </a:xfrm>
          <a:prstGeom prst="rect">
            <a:avLst/>
          </a:prstGeom>
          <a:solidFill>
            <a:srgbClr val="FFFF00">
              <a:alpha val="20000"/>
            </a:srgb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56000" tIns="108000" bIns="108000" rtlCol="0" anchor="ctr" anchorCtr="0"/>
          <a:lstStyle/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입찰계획을 통해 등록된 내용 중 반드시 수정해야 할 사항이 </a:t>
            </a:r>
            <a:b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</a:b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있는 경우 해당 입찰 건을 입찰계획 상태로 되돌릴 수 있습니다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.</a:t>
            </a:r>
          </a:p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입찰계획으로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되돌리시겠습니까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pic>
        <p:nvPicPr>
          <p:cNvPr id="22" name="Picture 8" descr="Announcement, hailer, loudspeaker, megaphone, speaker icon - Download on Iconfinder">
            <a:extLst>
              <a:ext uri="{FF2B5EF4-FFF2-40B4-BE49-F238E27FC236}">
                <a16:creationId xmlns:a16="http://schemas.microsoft.com/office/drawing/2014/main" id="{6C49548A-27E6-9536-F82F-0C612D9085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4373" y="4667850"/>
            <a:ext cx="570440" cy="5704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" name="직사각형 23">
            <a:extLst>
              <a:ext uri="{FF2B5EF4-FFF2-40B4-BE49-F238E27FC236}">
                <a16:creationId xmlns:a16="http://schemas.microsoft.com/office/drawing/2014/main" id="{E8019041-D1CE-A0FD-3B76-3D12B44265E7}"/>
              </a:ext>
            </a:extLst>
          </p:cNvPr>
          <p:cNvSpPr/>
          <p:nvPr/>
        </p:nvSpPr>
        <p:spPr>
          <a:xfrm>
            <a:off x="3283316" y="5499596"/>
            <a:ext cx="699418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E1D66997-E283-5ADD-02C8-C5BA0251DF8F}"/>
              </a:ext>
            </a:extLst>
          </p:cNvPr>
          <p:cNvSpPr/>
          <p:nvPr/>
        </p:nvSpPr>
        <p:spPr>
          <a:xfrm>
            <a:off x="331692" y="4194230"/>
            <a:ext cx="1495602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11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입찰계획’으로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되돌리기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3AB9697B-0432-CEE9-4A25-8A62567D6820}"/>
              </a:ext>
            </a:extLst>
          </p:cNvPr>
          <p:cNvSpPr/>
          <p:nvPr/>
        </p:nvSpPr>
        <p:spPr>
          <a:xfrm>
            <a:off x="1628124" y="5499596"/>
            <a:ext cx="1588422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900" dirty="0" err="1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입찰계획’으로</a:t>
            </a:r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되돌리기 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</a:t>
            </a:r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</a:p>
        </p:txBody>
      </p:sp>
      <p:cxnSp>
        <p:nvCxnSpPr>
          <p:cNvPr id="29" name="연결선: 꺾임 28">
            <a:extLst>
              <a:ext uri="{FF2B5EF4-FFF2-40B4-BE49-F238E27FC236}">
                <a16:creationId xmlns:a16="http://schemas.microsoft.com/office/drawing/2014/main" id="{BCFD0459-ECEE-B8DD-5AB7-D77FED067056}"/>
              </a:ext>
            </a:extLst>
          </p:cNvPr>
          <p:cNvCxnSpPr>
            <a:cxnSpLocks/>
            <a:stCxn id="14" idx="2"/>
            <a:endCxn id="17" idx="0"/>
          </p:cNvCxnSpPr>
          <p:nvPr/>
        </p:nvCxnSpPr>
        <p:spPr>
          <a:xfrm rot="5400000">
            <a:off x="4316535" y="1122548"/>
            <a:ext cx="530535" cy="4874227"/>
          </a:xfrm>
          <a:prstGeom prst="bentConnector3">
            <a:avLst>
              <a:gd name="adj1" fmla="val 50000"/>
            </a:avLst>
          </a:prstGeom>
          <a:ln>
            <a:solidFill>
              <a:srgbClr val="C00000"/>
            </a:solidFill>
            <a:prstDash val="sysDash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타원 30">
            <a:extLst>
              <a:ext uri="{FF2B5EF4-FFF2-40B4-BE49-F238E27FC236}">
                <a16:creationId xmlns:a16="http://schemas.microsoft.com/office/drawing/2014/main" id="{75E1E2A8-64D2-12E6-C2F3-1C7E9D821436}"/>
              </a:ext>
            </a:extLst>
          </p:cNvPr>
          <p:cNvSpPr/>
          <p:nvPr/>
        </p:nvSpPr>
        <p:spPr>
          <a:xfrm>
            <a:off x="6141132" y="2882469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ECA1A44F-5B44-CCC4-ACE5-DDEFC6646326}"/>
              </a:ext>
            </a:extLst>
          </p:cNvPr>
          <p:cNvSpPr txBox="1"/>
          <p:nvPr/>
        </p:nvSpPr>
        <p:spPr>
          <a:xfrm>
            <a:off x="8049344" y="584684"/>
            <a:ext cx="1856656" cy="7171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en-US" altLang="ko-KR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입찰신청이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진행되기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전(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진행상태가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공고대기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’, ‘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공고게시중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인 상태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en-US" altLang="ko-KR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에는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단계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입찰정보 수정 가능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로 </a:t>
            </a:r>
            <a:r>
              <a:rPr lang="en-US" altLang="ko-KR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되돌릴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수 </a:t>
            </a:r>
            <a:r>
              <a:rPr lang="en-US" altLang="ko-KR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있음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highlight>
                <a:srgbClr val="FFFF00"/>
              </a:highlight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9984335-4C27-6E62-7CC5-96CBFADA6E0B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40727304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B75DD9-8AFF-4CFF-9E80-9F1D3C5B4B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43F62D08-3D02-4250-A826-72FCA692BDA6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42BA5A0-81DA-D802-F800-BD27639EC2D1}"/>
              </a:ext>
            </a:extLst>
          </p:cNvPr>
          <p:cNvSpPr txBox="1"/>
          <p:nvPr/>
        </p:nvSpPr>
        <p:spPr>
          <a:xfrm>
            <a:off x="8049344" y="521302"/>
            <a:ext cx="1856656" cy="63955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제출상태 정의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작성중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미제출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현재 작성중인 상태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서류 제출 완료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서류만 제출 완료한 상태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투찰하지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않음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완료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투찰만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완료한 상태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참여 완료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서류 제출 완료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+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투찰을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완료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**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제한적 최저가 입찰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’, ‘2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(규격/가격 분리)’ 입찰인 경우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에는 서류만 제출해도 입찰 참여 완료가 되어야 함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**</a:t>
            </a:r>
            <a:b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포기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협력업체가 입찰을 포기한 상태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입찰에 참여한 업체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입찰 참여 완료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상태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가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개 미만인 경우 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유찰 처리할 수 있음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해당 영역 제공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유찰 처리 시 공고 구분을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재공고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(1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차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)’, ‘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재공고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차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형태로 생성하고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본 입찰계획 당시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설정된 정보를 모두 복사해서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메뉴에 새로운 공고 번호로 복사해주는 기능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뒤 페이지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팝업 참조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단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제한적 최저가 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’, 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적격심사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이면서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예비가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유찰 처리 시점이 개찰 후인 경우에는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예비가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설정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을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다시 해야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함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highlight>
                <a:srgbClr val="FFFF00"/>
              </a:highlight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24401AE1-2158-57BD-AE09-DAFD6559122A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6B7607E1-6797-12FE-1D6A-A03386CF3E93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B71CD4FB-948B-27AA-E410-7718F9938924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68036CE3-83AE-137F-B11C-7A3C6B388C59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DE63E43D-9CCB-88E4-D3D9-8F0A50F648DF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A7A37336-5401-6B6F-414D-E7E782D5BF38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7" name="Picture 1">
            <a:extLst>
              <a:ext uri="{FF2B5EF4-FFF2-40B4-BE49-F238E27FC236}">
                <a16:creationId xmlns:a16="http://schemas.microsoft.com/office/drawing/2014/main" id="{4A9D4364-08E9-BF7C-F4BF-0909532F981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D59858F0-9EE0-05F3-0269-9E035F499E60}"/>
              </a:ext>
            </a:extLst>
          </p:cNvPr>
          <p:cNvSpPr txBox="1"/>
          <p:nvPr/>
        </p:nvSpPr>
        <p:spPr>
          <a:xfrm>
            <a:off x="749224" y="25608"/>
            <a:ext cx="247054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참여현황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D519BF22-D172-F414-4650-5CC42F0EDE4D}"/>
              </a:ext>
            </a:extLst>
          </p:cNvPr>
          <p:cNvSpPr txBox="1"/>
          <p:nvPr/>
        </p:nvSpPr>
        <p:spPr>
          <a:xfrm>
            <a:off x="164468" y="2041002"/>
            <a:ext cx="3053340" cy="230832"/>
          </a:xfrm>
          <a:prstGeom prst="rect">
            <a:avLst/>
          </a:prstGeom>
          <a:noFill/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참여업체 </a:t>
            </a:r>
            <a:r>
              <a:rPr lang="en-US" altLang="ko-KR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총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건</a:t>
            </a:r>
          </a:p>
        </p:txBody>
      </p:sp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CC8BC975-7803-13C0-B5A6-5CCDE804C9BB}"/>
              </a:ext>
            </a:extLst>
          </p:cNvPr>
          <p:cNvGraphicFramePr>
            <a:graphicFrameLocks noGrp="1"/>
          </p:cNvGraphicFramePr>
          <p:nvPr/>
        </p:nvGraphicFramePr>
        <p:xfrm>
          <a:off x="171331" y="2324090"/>
          <a:ext cx="7725579" cy="2027520"/>
        </p:xfrm>
        <a:graphic>
          <a:graphicData uri="http://schemas.openxmlformats.org/drawingml/2006/table">
            <a:tbl>
              <a:tblPr firstRow="1" bandRow="1"/>
              <a:tblGrid>
                <a:gridCol w="396855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124714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1587254">
                  <a:extLst>
                    <a:ext uri="{9D8B030D-6E8A-4147-A177-3AD203B41FA5}">
                      <a16:colId xmlns:a16="http://schemas.microsoft.com/office/drawing/2014/main" val="2178705914"/>
                    </a:ext>
                  </a:extLst>
                </a:gridCol>
                <a:gridCol w="1611167">
                  <a:extLst>
                    <a:ext uri="{9D8B030D-6E8A-4147-A177-3AD203B41FA5}">
                      <a16:colId xmlns:a16="http://schemas.microsoft.com/office/drawing/2014/main" val="2628663970"/>
                    </a:ext>
                  </a:extLst>
                </a:gridCol>
                <a:gridCol w="965483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487198">
                  <a:extLst>
                    <a:ext uri="{9D8B030D-6E8A-4147-A177-3AD203B41FA5}">
                      <a16:colId xmlns:a16="http://schemas.microsoft.com/office/drawing/2014/main" val="800341694"/>
                    </a:ext>
                  </a:extLst>
                </a:gridCol>
                <a:gridCol w="1430482">
                  <a:extLst>
                    <a:ext uri="{9D8B030D-6E8A-4147-A177-3AD203B41FA5}">
                      <a16:colId xmlns:a16="http://schemas.microsoft.com/office/drawing/2014/main" val="152427113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No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업체명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제출상태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참여 일시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직책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핸드폰번호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주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r>
                        <a:rPr lang="ko-KR" altLang="en-US" sz="800" b="0" u="sng" dirty="0" err="1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큐비트엑스</a:t>
                      </a: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작성중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미제출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-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이희성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부장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010-6844-2810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A 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 서류 제출 완료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-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차장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010-5865-5234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sng" dirty="0" err="1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업체명</a:t>
                      </a: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가격 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투찰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완료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-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이희성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부장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010-6844-2810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C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업체명</a:t>
                      </a: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참여 완료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2026.07.31 15:34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차장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010-5865-5234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73894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D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업체명</a:t>
                      </a: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 포기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-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9628394"/>
                  </a:ext>
                </a:extLst>
              </a:tr>
            </a:tbl>
          </a:graphicData>
        </a:graphic>
      </p:graphicFrame>
      <p:sp>
        <p:nvSpPr>
          <p:cNvPr id="86" name="직사각형 85">
            <a:extLst>
              <a:ext uri="{FF2B5EF4-FFF2-40B4-BE49-F238E27FC236}">
                <a16:creationId xmlns:a16="http://schemas.microsoft.com/office/drawing/2014/main" id="{B0BE1C25-2E0B-3045-2937-39858C820EBC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41FF8CA8-8F2E-9776-1A83-0F5AED2235CD}"/>
              </a:ext>
            </a:extLst>
          </p:cNvPr>
          <p:cNvSpPr txBox="1"/>
          <p:nvPr/>
        </p:nvSpPr>
        <p:spPr>
          <a:xfrm>
            <a:off x="-854365" y="4429125"/>
            <a:ext cx="184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" name="타원 155">
            <a:extLst>
              <a:ext uri="{FF2B5EF4-FFF2-40B4-BE49-F238E27FC236}">
                <a16:creationId xmlns:a16="http://schemas.microsoft.com/office/drawing/2014/main" id="{91042D90-D47E-4DCD-CFD8-FD9A54D15A23}"/>
              </a:ext>
            </a:extLst>
          </p:cNvPr>
          <p:cNvSpPr/>
          <p:nvPr/>
        </p:nvSpPr>
        <p:spPr>
          <a:xfrm>
            <a:off x="1768474" y="2212204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C088A581-F499-1A7C-F14E-AAB39E746444}"/>
              </a:ext>
            </a:extLst>
          </p:cNvPr>
          <p:cNvGraphicFramePr>
            <a:graphicFrameLocks noGrp="1"/>
          </p:cNvGraphicFramePr>
          <p:nvPr/>
        </p:nvGraphicFramePr>
        <p:xfrm>
          <a:off x="164466" y="817960"/>
          <a:ext cx="7732447" cy="675840"/>
        </p:xfrm>
        <a:graphic>
          <a:graphicData uri="http://schemas.openxmlformats.org/drawingml/2006/table">
            <a:tbl>
              <a:tblPr firstRow="1" bandRow="1"/>
              <a:tblGrid>
                <a:gridCol w="83838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763949">
                  <a:extLst>
                    <a:ext uri="{9D8B030D-6E8A-4147-A177-3AD203B41FA5}">
                      <a16:colId xmlns:a16="http://schemas.microsoft.com/office/drawing/2014/main" val="1731736782"/>
                    </a:ext>
                  </a:extLst>
                </a:gridCol>
                <a:gridCol w="616894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821542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289563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1002816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1092824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628938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677541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재공고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입찰진행중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24" name="직사각형 23">
            <a:extLst>
              <a:ext uri="{FF2B5EF4-FFF2-40B4-BE49-F238E27FC236}">
                <a16:creationId xmlns:a16="http://schemas.microsoft.com/office/drawing/2014/main" id="{D1596452-6812-934D-0D6D-A8873979916F}"/>
              </a:ext>
            </a:extLst>
          </p:cNvPr>
          <p:cNvSpPr/>
          <p:nvPr/>
        </p:nvSpPr>
        <p:spPr>
          <a:xfrm>
            <a:off x="163503" y="4450707"/>
            <a:ext cx="7729916" cy="44502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□ 입찰에 참여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참여 완료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상태의 업체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한 업체가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 미만입니다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유찰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재공고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처리하시겠습니까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4D419552-5B5F-D1DE-8D99-A3C5752294EF}"/>
              </a:ext>
            </a:extLst>
          </p:cNvPr>
          <p:cNvSpPr/>
          <p:nvPr/>
        </p:nvSpPr>
        <p:spPr>
          <a:xfrm>
            <a:off x="6285148" y="4534304"/>
            <a:ext cx="1506389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유찰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 err="1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재공고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처리하기 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 </a:t>
            </a:r>
            <a:endParaRPr lang="ko-KR" altLang="en-US" sz="9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DF1D3E55-40F4-A24B-9ADB-FB7C168A1ED8}"/>
              </a:ext>
            </a:extLst>
          </p:cNvPr>
          <p:cNvSpPr/>
          <p:nvPr/>
        </p:nvSpPr>
        <p:spPr>
          <a:xfrm>
            <a:off x="6183266" y="4423448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72118BA7-E706-9F9D-8986-17D2D664AD69}"/>
              </a:ext>
            </a:extLst>
          </p:cNvPr>
          <p:cNvGrpSpPr/>
          <p:nvPr/>
        </p:nvGrpSpPr>
        <p:grpSpPr>
          <a:xfrm>
            <a:off x="163503" y="1589709"/>
            <a:ext cx="7741824" cy="355386"/>
            <a:chOff x="163503" y="1589709"/>
            <a:chExt cx="7741824" cy="355386"/>
          </a:xfrm>
        </p:grpSpPr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E0681DE9-38D3-165A-DD96-A2BEE5D4A2D3}"/>
                </a:ext>
              </a:extLst>
            </p:cNvPr>
            <p:cNvCxnSpPr>
              <a:cxnSpLocks/>
            </p:cNvCxnSpPr>
            <p:nvPr/>
          </p:nvCxnSpPr>
          <p:spPr>
            <a:xfrm>
              <a:off x="167468" y="1941219"/>
              <a:ext cx="7737859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0182EB90-0518-DD8C-902F-5397F990A0BA}"/>
                </a:ext>
              </a:extLst>
            </p:cNvPr>
            <p:cNvSpPr/>
            <p:nvPr/>
          </p:nvSpPr>
          <p:spPr>
            <a:xfrm>
              <a:off x="163503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발주계획 정보</a:t>
              </a:r>
            </a:p>
          </p:txBody>
        </p:sp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AFA7A244-8FCD-8EEE-1239-1A4855A66506}"/>
                </a:ext>
              </a:extLst>
            </p:cNvPr>
            <p:cNvSpPr/>
            <p:nvPr/>
          </p:nvSpPr>
          <p:spPr>
            <a:xfrm>
              <a:off x="1848030" y="1589709"/>
              <a:ext cx="839130" cy="355386"/>
            </a:xfrm>
            <a:prstGeom prst="rect">
              <a:avLst/>
            </a:prstGeom>
            <a:solidFill>
              <a:srgbClr val="00B050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 참여현황</a:t>
              </a: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8FB9F317-9EB5-42F2-1D08-3088FF30F0B2}"/>
                </a:ext>
              </a:extLst>
            </p:cNvPr>
            <p:cNvSpPr/>
            <p:nvPr/>
          </p:nvSpPr>
          <p:spPr>
            <a:xfrm>
              <a:off x="2694874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심사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평가</a:t>
              </a: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7610F3D3-D554-ECED-87C6-2D3CC16CF11B}"/>
                </a:ext>
              </a:extLst>
            </p:cNvPr>
            <p:cNvSpPr/>
            <p:nvPr/>
          </p:nvSpPr>
          <p:spPr>
            <a:xfrm>
              <a:off x="1004560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정보</a:t>
              </a: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98C70593-95D6-26C0-AAC9-CBAA122518F4}"/>
                </a:ext>
              </a:extLst>
            </p:cNvPr>
            <p:cNvSpPr/>
            <p:nvPr/>
          </p:nvSpPr>
          <p:spPr>
            <a:xfrm>
              <a:off x="3532662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개찰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03BAE3B3-F33D-F25A-8FA3-C00435D2DAFC}"/>
                </a:ext>
              </a:extLst>
            </p:cNvPr>
            <p:cNvSpPr/>
            <p:nvPr/>
          </p:nvSpPr>
          <p:spPr>
            <a:xfrm>
              <a:off x="4370291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낙찰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업체 선정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)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DA52302F-0783-B41D-A1E9-E5DD18F28078}"/>
                </a:ext>
              </a:extLst>
            </p:cNvPr>
            <p:cNvSpPr/>
            <p:nvPr/>
          </p:nvSpPr>
          <p:spPr>
            <a:xfrm>
              <a:off x="5213654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수의시담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6F4C5A6-F457-3D88-682B-F2049BC76276}"/>
                </a:ext>
              </a:extLst>
            </p:cNvPr>
            <p:cNvSpPr/>
            <p:nvPr/>
          </p:nvSpPr>
          <p:spPr>
            <a:xfrm>
              <a:off x="6051872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계약 요청</a:t>
              </a:r>
            </a:p>
          </p:txBody>
        </p:sp>
      </p:grp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634D8C8-B26F-B23A-19A9-5763222266B7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53176899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060F49-8D8D-DC24-6FF9-6D0E83FC4F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AB589D91-7569-D019-837A-D507D9A47165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140540F-BA7A-3B2D-C779-EB249ACDDCD7}"/>
              </a:ext>
            </a:extLst>
          </p:cNvPr>
          <p:cNvSpPr txBox="1"/>
          <p:nvPr/>
        </p:nvSpPr>
        <p:spPr>
          <a:xfrm>
            <a:off x="8049344" y="584684"/>
            <a:ext cx="1856656" cy="13511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‘입찰 참여 </a:t>
            </a:r>
            <a:r>
              <a:rPr lang="en-US" altLang="ko-KR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완료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처리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일시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해당 협력업체 정보 확인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가능하다면 새 창으로 호출해줄 것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본 입찰에 설정된 담당자에게 메일이나 메시지 발송</a:t>
            </a:r>
            <a:b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 err="1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뒤 페이지</a:t>
            </a: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팝업 호출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9EF8DD27-8065-7B24-09F7-AEDFD8B2D932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B52714E4-D959-0F22-3859-E0D2FAB8FADC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6930BEB3-9C00-25FC-326A-FAACFEFA79D2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EB7860D-D96E-FB1C-11BE-47481A3C8FD6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F299D71F-BE4D-7E76-BDA6-F4D720BAA1A1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B62A9F7C-CDB7-4B78-47D8-A64FA3B01B5A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7" name="Picture 1">
            <a:extLst>
              <a:ext uri="{FF2B5EF4-FFF2-40B4-BE49-F238E27FC236}">
                <a16:creationId xmlns:a16="http://schemas.microsoft.com/office/drawing/2014/main" id="{56FD3EC5-BB15-0C20-4101-67CC2EF205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F3DB9100-0666-A0C7-2383-9144B182D1AA}"/>
              </a:ext>
            </a:extLst>
          </p:cNvPr>
          <p:cNvSpPr txBox="1"/>
          <p:nvPr/>
        </p:nvSpPr>
        <p:spPr>
          <a:xfrm>
            <a:off x="749224" y="25608"/>
            <a:ext cx="247054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참여현황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BB45D1-9B65-EC5C-0336-BEBA08882118}"/>
              </a:ext>
            </a:extLst>
          </p:cNvPr>
          <p:cNvSpPr txBox="1"/>
          <p:nvPr/>
        </p:nvSpPr>
        <p:spPr>
          <a:xfrm>
            <a:off x="-854365" y="4429125"/>
            <a:ext cx="184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267DBB50-EB9C-C377-C301-EABA1E374721}"/>
              </a:ext>
            </a:extLst>
          </p:cNvPr>
          <p:cNvSpPr/>
          <p:nvPr/>
        </p:nvSpPr>
        <p:spPr>
          <a:xfrm>
            <a:off x="183392" y="3075392"/>
            <a:ext cx="1332184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협력업체 기본 정보</a:t>
            </a:r>
            <a:endParaRPr lang="ko-KR" altLang="en-US" sz="9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42" name="표 41">
            <a:extLst>
              <a:ext uri="{FF2B5EF4-FFF2-40B4-BE49-F238E27FC236}">
                <a16:creationId xmlns:a16="http://schemas.microsoft.com/office/drawing/2014/main" id="{E2DF1CAA-3AC3-C64C-EB7A-3878E08D6EC8}"/>
              </a:ext>
            </a:extLst>
          </p:cNvPr>
          <p:cNvGraphicFramePr>
            <a:graphicFrameLocks noGrp="1"/>
          </p:cNvGraphicFramePr>
          <p:nvPr/>
        </p:nvGraphicFramePr>
        <p:xfrm>
          <a:off x="184392" y="3352128"/>
          <a:ext cx="7720936" cy="2027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38070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382866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indent="-7200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회사명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주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큐비트엑스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대표자명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이홍태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, 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윤지병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30657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전화번호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02-833-1650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5298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업종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IT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인프라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81144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업태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소프트웨어개발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60256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주소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(12654)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경기도 고양시 일산서구 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강선로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118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강선마을아파트 제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208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동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1202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호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2349153"/>
                  </a:ext>
                </a:extLst>
              </a:tr>
            </a:tbl>
          </a:graphicData>
        </a:graphic>
      </p:graphicFrame>
      <p:sp>
        <p:nvSpPr>
          <p:cNvPr id="44" name="직사각형 43">
            <a:extLst>
              <a:ext uri="{FF2B5EF4-FFF2-40B4-BE49-F238E27FC236}">
                <a16:creationId xmlns:a16="http://schemas.microsoft.com/office/drawing/2014/main" id="{5618A33C-EB9E-4531-2705-135360AD9E8A}"/>
              </a:ext>
            </a:extLst>
          </p:cNvPr>
          <p:cNvSpPr/>
          <p:nvPr/>
        </p:nvSpPr>
        <p:spPr>
          <a:xfrm>
            <a:off x="2349084" y="3417140"/>
            <a:ext cx="1451788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2" charset="-127"/>
                <a:ea typeface="나눔고딕" pitchFamily="2" charset="-127"/>
              </a:rPr>
              <a:t>협력업체 상세정보 바로가기 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2" charset="-127"/>
                <a:ea typeface="나눔고딕" pitchFamily="2" charset="-127"/>
                <a:sym typeface="Wingdings" panose="05000000000000000000" pitchFamily="2" charset="2"/>
              </a:rPr>
              <a:t></a:t>
            </a:r>
            <a:endParaRPr lang="en-US" altLang="ko-KR" sz="800" b="0" dirty="0">
              <a:solidFill>
                <a:schemeClr val="tx1">
                  <a:lumMod val="75000"/>
                  <a:lumOff val="25000"/>
                </a:schemeClr>
              </a:solidFill>
              <a:latin typeface="나눔고딕" pitchFamily="2" charset="-127"/>
              <a:ea typeface="나눔고딕" pitchFamily="2" charset="-127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FC9E5E1C-AFD4-0119-4359-C3B6C6F8B0C6}"/>
              </a:ext>
            </a:extLst>
          </p:cNvPr>
          <p:cNvSpPr/>
          <p:nvPr/>
        </p:nvSpPr>
        <p:spPr>
          <a:xfrm>
            <a:off x="183392" y="2026660"/>
            <a:ext cx="1332184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참여 진행상황</a:t>
            </a:r>
            <a:endParaRPr lang="ko-KR" altLang="en-US" sz="9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67" name="표 66">
            <a:extLst>
              <a:ext uri="{FF2B5EF4-FFF2-40B4-BE49-F238E27FC236}">
                <a16:creationId xmlns:a16="http://schemas.microsoft.com/office/drawing/2014/main" id="{94EAEAAB-9303-23D0-28E7-4C81F9471C49}"/>
              </a:ext>
            </a:extLst>
          </p:cNvPr>
          <p:cNvGraphicFramePr>
            <a:graphicFrameLocks noGrp="1"/>
          </p:cNvGraphicFramePr>
          <p:nvPr/>
        </p:nvGraphicFramePr>
        <p:xfrm>
          <a:off x="184392" y="2320648"/>
          <a:ext cx="7720936" cy="67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38070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382866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indent="-7200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제출상태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작성중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미제출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 |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 서류 제출 완료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가격 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투찰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완료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 참여 완료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 포기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46592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indent="-7200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 참여 일시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2026.07.31 15:34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</a:tbl>
          </a:graphicData>
        </a:graphic>
      </p:graphicFrame>
      <p:sp>
        <p:nvSpPr>
          <p:cNvPr id="69" name="타원 68">
            <a:extLst>
              <a:ext uri="{FF2B5EF4-FFF2-40B4-BE49-F238E27FC236}">
                <a16:creationId xmlns:a16="http://schemas.microsoft.com/office/drawing/2014/main" id="{B9B3E9C8-143D-BAF7-26F4-1E82F42A1FBA}"/>
              </a:ext>
            </a:extLst>
          </p:cNvPr>
          <p:cNvSpPr/>
          <p:nvPr/>
        </p:nvSpPr>
        <p:spPr>
          <a:xfrm>
            <a:off x="1387366" y="2574929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64358B9-6E96-3E60-A07E-D213E2BCE231}"/>
              </a:ext>
            </a:extLst>
          </p:cNvPr>
          <p:cNvSpPr/>
          <p:nvPr/>
        </p:nvSpPr>
        <p:spPr>
          <a:xfrm>
            <a:off x="179900" y="5449741"/>
            <a:ext cx="1315478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본 입찰의 담당자 정보</a:t>
            </a:r>
            <a:endParaRPr lang="ko-KR" altLang="en-US" sz="9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7520805A-D9DE-AD44-897B-C8BDA42C5DDB}"/>
              </a:ext>
            </a:extLst>
          </p:cNvPr>
          <p:cNvGraphicFramePr>
            <a:graphicFrameLocks noGrp="1"/>
          </p:cNvGraphicFramePr>
          <p:nvPr/>
        </p:nvGraphicFramePr>
        <p:xfrm>
          <a:off x="179900" y="5738390"/>
          <a:ext cx="7717012" cy="67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3732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753298">
                  <a:extLst>
                    <a:ext uri="{9D8B030D-6E8A-4147-A177-3AD203B41FA5}">
                      <a16:colId xmlns:a16="http://schemas.microsoft.com/office/drawing/2014/main" val="1183147798"/>
                    </a:ext>
                  </a:extLst>
                </a:gridCol>
                <a:gridCol w="509677">
                  <a:extLst>
                    <a:ext uri="{9D8B030D-6E8A-4147-A177-3AD203B41FA5}">
                      <a16:colId xmlns:a16="http://schemas.microsoft.com/office/drawing/2014/main" val="296951377"/>
                    </a:ext>
                  </a:extLst>
                </a:gridCol>
                <a:gridCol w="389059">
                  <a:extLst>
                    <a:ext uri="{9D8B030D-6E8A-4147-A177-3AD203B41FA5}">
                      <a16:colId xmlns:a16="http://schemas.microsoft.com/office/drawing/2014/main" val="2761937130"/>
                    </a:ext>
                  </a:extLst>
                </a:gridCol>
                <a:gridCol w="1270237">
                  <a:extLst>
                    <a:ext uri="{9D8B030D-6E8A-4147-A177-3AD203B41FA5}">
                      <a16:colId xmlns:a16="http://schemas.microsoft.com/office/drawing/2014/main" val="1266029869"/>
                    </a:ext>
                  </a:extLst>
                </a:gridCol>
                <a:gridCol w="1030461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  <a:gridCol w="961614">
                  <a:extLst>
                    <a:ext uri="{9D8B030D-6E8A-4147-A177-3AD203B41FA5}">
                      <a16:colId xmlns:a16="http://schemas.microsoft.com/office/drawing/2014/main" val="3329224653"/>
                    </a:ext>
                  </a:extLst>
                </a:gridCol>
                <a:gridCol w="1251134">
                  <a:extLst>
                    <a:ext uri="{9D8B030D-6E8A-4147-A177-3AD203B41FA5}">
                      <a16:colId xmlns:a16="http://schemas.microsoft.com/office/drawing/2014/main" val="2705196257"/>
                    </a:ext>
                  </a:extLst>
                </a:gridCol>
                <a:gridCol w="1207800">
                  <a:extLst>
                    <a:ext uri="{9D8B030D-6E8A-4147-A177-3AD203B41FA5}">
                      <a16:colId xmlns:a16="http://schemas.microsoft.com/office/drawing/2014/main" val="134526230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No</a:t>
                      </a:r>
                      <a:endParaRPr lang="ko-KR" altLang="en-US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담당자 구분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이름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직책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이메일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핸드폰번호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전화번호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담당업무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수동 메일</a:t>
                      </a: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메시지 발송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기본 담당자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이희성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이사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leehee43@naver.com</a:t>
                      </a:r>
                      <a:endParaRPr lang="ko-KR" altLang="en-US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010-6844-2810</a:t>
                      </a:r>
                      <a:endParaRPr lang="ko-KR" altLang="en-US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02-6959-9856</a:t>
                      </a:r>
                      <a:endParaRPr lang="ko-KR" altLang="en-US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사내 입찰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계약 담당자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21" name="직사각형 20">
            <a:extLst>
              <a:ext uri="{FF2B5EF4-FFF2-40B4-BE49-F238E27FC236}">
                <a16:creationId xmlns:a16="http://schemas.microsoft.com/office/drawing/2014/main" id="{57D0F806-F2EE-D696-2501-09BA6BC61283}"/>
              </a:ext>
            </a:extLst>
          </p:cNvPr>
          <p:cNvSpPr/>
          <p:nvPr/>
        </p:nvSpPr>
        <p:spPr>
          <a:xfrm>
            <a:off x="6772006" y="6129221"/>
            <a:ext cx="1044061" cy="215441"/>
          </a:xfrm>
          <a:prstGeom prst="rect">
            <a:avLst/>
          </a:prstGeom>
          <a:solidFill>
            <a:srgbClr val="FFC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2" charset="-127"/>
                <a:ea typeface="나눔고딕" pitchFamily="2" charset="-127"/>
              </a:rPr>
              <a:t>수동 메일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2" charset="-127"/>
                <a:ea typeface="나눔고딕" pitchFamily="2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2" charset="-127"/>
                <a:ea typeface="나눔고딕" pitchFamily="2" charset="-127"/>
              </a:rPr>
              <a:t>메시지 발송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itchFamily="2" charset="-127"/>
              <a:ea typeface="나눔고딕" pitchFamily="2" charset="-127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1487E26F-7DC6-5796-5E20-3A0885B60090}"/>
              </a:ext>
            </a:extLst>
          </p:cNvPr>
          <p:cNvSpPr/>
          <p:nvPr/>
        </p:nvSpPr>
        <p:spPr>
          <a:xfrm>
            <a:off x="6595486" y="5979707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B0C89788-7CFE-09B3-9470-1AF39CED4788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계속</a:t>
            </a: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9CA122EF-71E4-2C98-1113-2845FFE3F340}"/>
              </a:ext>
            </a:extLst>
          </p:cNvPr>
          <p:cNvSpPr/>
          <p:nvPr/>
        </p:nvSpPr>
        <p:spPr>
          <a:xfrm>
            <a:off x="2228157" y="3297802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47" name="표 46">
            <a:extLst>
              <a:ext uri="{FF2B5EF4-FFF2-40B4-BE49-F238E27FC236}">
                <a16:creationId xmlns:a16="http://schemas.microsoft.com/office/drawing/2014/main" id="{BB8C8627-91AA-E282-8577-298F2BA6F28D}"/>
              </a:ext>
            </a:extLst>
          </p:cNvPr>
          <p:cNvGraphicFramePr>
            <a:graphicFrameLocks noGrp="1"/>
          </p:cNvGraphicFramePr>
          <p:nvPr/>
        </p:nvGraphicFramePr>
        <p:xfrm>
          <a:off x="164466" y="817960"/>
          <a:ext cx="7732447" cy="675840"/>
        </p:xfrm>
        <a:graphic>
          <a:graphicData uri="http://schemas.openxmlformats.org/drawingml/2006/table">
            <a:tbl>
              <a:tblPr firstRow="1" bandRow="1"/>
              <a:tblGrid>
                <a:gridCol w="83838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763949">
                  <a:extLst>
                    <a:ext uri="{9D8B030D-6E8A-4147-A177-3AD203B41FA5}">
                      <a16:colId xmlns:a16="http://schemas.microsoft.com/office/drawing/2014/main" val="1731736782"/>
                    </a:ext>
                  </a:extLst>
                </a:gridCol>
                <a:gridCol w="616894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821542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289563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1002816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1092824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628938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677541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재공고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입찰진행중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grpSp>
        <p:nvGrpSpPr>
          <p:cNvPr id="35" name="그룹 34">
            <a:extLst>
              <a:ext uri="{FF2B5EF4-FFF2-40B4-BE49-F238E27FC236}">
                <a16:creationId xmlns:a16="http://schemas.microsoft.com/office/drawing/2014/main" id="{7B353DED-44BB-E4FE-D1BA-E4706EF7B59B}"/>
              </a:ext>
            </a:extLst>
          </p:cNvPr>
          <p:cNvGrpSpPr/>
          <p:nvPr/>
        </p:nvGrpSpPr>
        <p:grpSpPr>
          <a:xfrm>
            <a:off x="163503" y="1589709"/>
            <a:ext cx="7741824" cy="355386"/>
            <a:chOff x="163503" y="1589709"/>
            <a:chExt cx="7741824" cy="355386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E320BAB5-C488-EAC2-0164-EDA00D9A3169}"/>
                </a:ext>
              </a:extLst>
            </p:cNvPr>
            <p:cNvCxnSpPr>
              <a:cxnSpLocks/>
            </p:cNvCxnSpPr>
            <p:nvPr/>
          </p:nvCxnSpPr>
          <p:spPr>
            <a:xfrm>
              <a:off x="167468" y="1941219"/>
              <a:ext cx="7737859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F9F72ADE-97FE-B551-3F78-E46908C06A8F}"/>
                </a:ext>
              </a:extLst>
            </p:cNvPr>
            <p:cNvSpPr/>
            <p:nvPr/>
          </p:nvSpPr>
          <p:spPr>
            <a:xfrm>
              <a:off x="163503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발주계획 정보</a:t>
              </a:r>
            </a:p>
          </p:txBody>
        </p: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424AB46B-09B2-278F-8DE2-67A181502EC7}"/>
                </a:ext>
              </a:extLst>
            </p:cNvPr>
            <p:cNvSpPr/>
            <p:nvPr/>
          </p:nvSpPr>
          <p:spPr>
            <a:xfrm>
              <a:off x="1848030" y="1589709"/>
              <a:ext cx="839130" cy="355386"/>
            </a:xfrm>
            <a:prstGeom prst="rect">
              <a:avLst/>
            </a:prstGeom>
            <a:solidFill>
              <a:srgbClr val="00B050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 참여현황</a:t>
              </a: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65720AC5-C823-29BB-7497-7D456BA881BC}"/>
                </a:ext>
              </a:extLst>
            </p:cNvPr>
            <p:cNvSpPr/>
            <p:nvPr/>
          </p:nvSpPr>
          <p:spPr>
            <a:xfrm>
              <a:off x="2694874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심사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평가</a:t>
              </a: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152E91FC-FDA8-9BC0-0604-A0673B242377}"/>
                </a:ext>
              </a:extLst>
            </p:cNvPr>
            <p:cNvSpPr/>
            <p:nvPr/>
          </p:nvSpPr>
          <p:spPr>
            <a:xfrm>
              <a:off x="1004560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정보</a:t>
              </a:r>
            </a:p>
          </p:txBody>
        </p:sp>
        <p:sp>
          <p:nvSpPr>
            <p:cNvPr id="46" name="직사각형 45">
              <a:extLst>
                <a:ext uri="{FF2B5EF4-FFF2-40B4-BE49-F238E27FC236}">
                  <a16:creationId xmlns:a16="http://schemas.microsoft.com/office/drawing/2014/main" id="{BFDDE5CC-1425-CE10-A70D-7DE98DF046C9}"/>
                </a:ext>
              </a:extLst>
            </p:cNvPr>
            <p:cNvSpPr/>
            <p:nvPr/>
          </p:nvSpPr>
          <p:spPr>
            <a:xfrm>
              <a:off x="3532662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개찰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E0A87121-AE01-22FF-AA99-5C2205953B0C}"/>
                </a:ext>
              </a:extLst>
            </p:cNvPr>
            <p:cNvSpPr/>
            <p:nvPr/>
          </p:nvSpPr>
          <p:spPr>
            <a:xfrm>
              <a:off x="4370291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낙찰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업체 선정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)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C199DC57-BADC-1512-00B2-340AEB38719F}"/>
                </a:ext>
              </a:extLst>
            </p:cNvPr>
            <p:cNvSpPr/>
            <p:nvPr/>
          </p:nvSpPr>
          <p:spPr>
            <a:xfrm>
              <a:off x="5213654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수의시담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1B027848-93F8-D028-8BF4-4BFE7BB649AF}"/>
                </a:ext>
              </a:extLst>
            </p:cNvPr>
            <p:cNvSpPr/>
            <p:nvPr/>
          </p:nvSpPr>
          <p:spPr>
            <a:xfrm>
              <a:off x="6051872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계약 요청</a:t>
              </a:r>
            </a:p>
          </p:txBody>
        </p:sp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32D00F31-3C68-48CD-4598-A43713505556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47243745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9848C7-DCC4-C888-B20D-84E5B3332F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CDA7ECB3-47AA-87FD-DF1E-46555B6B3469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6B378B5-1D8E-63EB-2095-BB1F017A2CD0}"/>
              </a:ext>
            </a:extLst>
          </p:cNvPr>
          <p:cNvSpPr txBox="1"/>
          <p:nvPr/>
        </p:nvSpPr>
        <p:spPr>
          <a:xfrm>
            <a:off x="8049344" y="584684"/>
            <a:ext cx="1856656" cy="3970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설정된 ‘입찰 참여 서류’ 목록에 따라 첨부된 파일 확인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3816C21-DAF8-C9CD-35A2-CCC77BE8B4AA}"/>
              </a:ext>
            </a:extLst>
          </p:cNvPr>
          <p:cNvSpPr txBox="1"/>
          <p:nvPr/>
        </p:nvSpPr>
        <p:spPr>
          <a:xfrm>
            <a:off x="749224" y="25608"/>
            <a:ext cx="247054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참여현황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03E8577E-53B9-7AAE-1D43-75B2A13B017B}"/>
              </a:ext>
            </a:extLst>
          </p:cNvPr>
          <p:cNvSpPr/>
          <p:nvPr/>
        </p:nvSpPr>
        <p:spPr>
          <a:xfrm>
            <a:off x="183392" y="353852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참여 서류</a:t>
            </a:r>
            <a:endParaRPr lang="ko-KR" altLang="en-US" sz="80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80" name="표 79">
            <a:extLst>
              <a:ext uri="{FF2B5EF4-FFF2-40B4-BE49-F238E27FC236}">
                <a16:creationId xmlns:a16="http://schemas.microsoft.com/office/drawing/2014/main" id="{86255849-AE4C-CA05-AC71-511584CD7EC7}"/>
              </a:ext>
            </a:extLst>
          </p:cNvPr>
          <p:cNvGraphicFramePr>
            <a:graphicFrameLocks noGrp="1"/>
          </p:cNvGraphicFramePr>
          <p:nvPr/>
        </p:nvGraphicFramePr>
        <p:xfrm>
          <a:off x="163194" y="631968"/>
          <a:ext cx="7680833" cy="1689600"/>
        </p:xfrm>
        <a:graphic>
          <a:graphicData uri="http://schemas.openxmlformats.org/drawingml/2006/table">
            <a:tbl>
              <a:tblPr firstRow="1" bandRow="1"/>
              <a:tblGrid>
                <a:gridCol w="411935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1871268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5397630">
                  <a:extLst>
                    <a:ext uri="{9D8B030D-6E8A-4147-A177-3AD203B41FA5}">
                      <a16:colId xmlns:a16="http://schemas.microsoft.com/office/drawing/2014/main" val="91689363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No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참여 서류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첨부파일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입찰참가신청서 날인본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신용평가등급 확인서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법인인감 증명서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9541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기타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8093012"/>
                  </a:ext>
                </a:extLst>
              </a:tr>
            </a:tbl>
          </a:graphicData>
        </a:graphic>
      </p:graphicFrame>
      <p:grpSp>
        <p:nvGrpSpPr>
          <p:cNvPr id="2" name="그룹 1">
            <a:extLst>
              <a:ext uri="{FF2B5EF4-FFF2-40B4-BE49-F238E27FC236}">
                <a16:creationId xmlns:a16="http://schemas.microsoft.com/office/drawing/2014/main" id="{24ED3F6C-AB17-77EE-5697-A5A334D11707}"/>
              </a:ext>
            </a:extLst>
          </p:cNvPr>
          <p:cNvGrpSpPr/>
          <p:nvPr/>
        </p:nvGrpSpPr>
        <p:grpSpPr>
          <a:xfrm>
            <a:off x="3467610" y="1038172"/>
            <a:ext cx="1275802" cy="198885"/>
            <a:chOff x="3437130" y="1030552"/>
            <a:chExt cx="1275802" cy="198885"/>
          </a:xfrm>
        </p:grpSpPr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BBDA6857-4CCF-6688-63B6-C0504A9B99DF}"/>
                </a:ext>
              </a:extLst>
            </p:cNvPr>
            <p:cNvSpPr/>
            <p:nvPr/>
          </p:nvSpPr>
          <p:spPr>
            <a:xfrm>
              <a:off x="3437130" y="1030552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DF6547D2-5119-7EC0-B689-5F6110B2E1AC}"/>
                </a:ext>
              </a:extLst>
            </p:cNvPr>
            <p:cNvSpPr/>
            <p:nvPr/>
          </p:nvSpPr>
          <p:spPr>
            <a:xfrm>
              <a:off x="4099967" y="1030552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A93EC0AD-CB03-63E0-0A88-76D6041E536C}"/>
              </a:ext>
            </a:extLst>
          </p:cNvPr>
          <p:cNvGrpSpPr/>
          <p:nvPr/>
        </p:nvGrpSpPr>
        <p:grpSpPr>
          <a:xfrm>
            <a:off x="3467610" y="1375760"/>
            <a:ext cx="1275802" cy="198885"/>
            <a:chOff x="3545142" y="4085591"/>
            <a:chExt cx="1275802" cy="198885"/>
          </a:xfrm>
        </p:grpSpPr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B201CD1C-6C5E-6D42-CEA2-6FCA1081AAF0}"/>
                </a:ext>
              </a:extLst>
            </p:cNvPr>
            <p:cNvSpPr/>
            <p:nvPr/>
          </p:nvSpPr>
          <p:spPr>
            <a:xfrm>
              <a:off x="3545142" y="4085591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C6E80165-BB65-9CAC-E318-9DAB03253ED0}"/>
                </a:ext>
              </a:extLst>
            </p:cNvPr>
            <p:cNvSpPr/>
            <p:nvPr/>
          </p:nvSpPr>
          <p:spPr>
            <a:xfrm>
              <a:off x="4207979" y="4085591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grpSp>
        <p:nvGrpSpPr>
          <p:cNvPr id="86" name="그룹 85">
            <a:extLst>
              <a:ext uri="{FF2B5EF4-FFF2-40B4-BE49-F238E27FC236}">
                <a16:creationId xmlns:a16="http://schemas.microsoft.com/office/drawing/2014/main" id="{2CE3CFC1-53E5-AA10-3D4D-DA665138B354}"/>
              </a:ext>
            </a:extLst>
          </p:cNvPr>
          <p:cNvGrpSpPr/>
          <p:nvPr/>
        </p:nvGrpSpPr>
        <p:grpSpPr>
          <a:xfrm>
            <a:off x="3467610" y="1713348"/>
            <a:ext cx="1275802" cy="198885"/>
            <a:chOff x="3545142" y="4085591"/>
            <a:chExt cx="1275802" cy="198885"/>
          </a:xfrm>
        </p:grpSpPr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1B00A8EF-C591-6AE7-44B0-424CFD8717C3}"/>
                </a:ext>
              </a:extLst>
            </p:cNvPr>
            <p:cNvSpPr/>
            <p:nvPr/>
          </p:nvSpPr>
          <p:spPr>
            <a:xfrm>
              <a:off x="3545142" y="4085591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31DFAE6C-3608-C63A-954E-9AB750BAC123}"/>
                </a:ext>
              </a:extLst>
            </p:cNvPr>
            <p:cNvSpPr/>
            <p:nvPr/>
          </p:nvSpPr>
          <p:spPr>
            <a:xfrm>
              <a:off x="4207979" y="4085591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grpSp>
        <p:nvGrpSpPr>
          <p:cNvPr id="89" name="그룹 88">
            <a:extLst>
              <a:ext uri="{FF2B5EF4-FFF2-40B4-BE49-F238E27FC236}">
                <a16:creationId xmlns:a16="http://schemas.microsoft.com/office/drawing/2014/main" id="{95740ADA-92CE-B435-A24D-AB32A70D86CC}"/>
              </a:ext>
            </a:extLst>
          </p:cNvPr>
          <p:cNvGrpSpPr/>
          <p:nvPr/>
        </p:nvGrpSpPr>
        <p:grpSpPr>
          <a:xfrm>
            <a:off x="3467610" y="2050935"/>
            <a:ext cx="1275802" cy="198885"/>
            <a:chOff x="3545142" y="4085591"/>
            <a:chExt cx="1275802" cy="198885"/>
          </a:xfrm>
        </p:grpSpPr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96BA6E77-7E47-3EA5-981D-338C094435FC}"/>
                </a:ext>
              </a:extLst>
            </p:cNvPr>
            <p:cNvSpPr/>
            <p:nvPr/>
          </p:nvSpPr>
          <p:spPr>
            <a:xfrm>
              <a:off x="3545142" y="4085591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2F33D314-68FD-B477-CDE6-AADB8DC1B7E8}"/>
                </a:ext>
              </a:extLst>
            </p:cNvPr>
            <p:cNvSpPr/>
            <p:nvPr/>
          </p:nvSpPr>
          <p:spPr>
            <a:xfrm>
              <a:off x="4207979" y="4085591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4C3FDBA8-3133-F360-B6EC-449DAA352585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" name="타원 138">
            <a:extLst>
              <a:ext uri="{FF2B5EF4-FFF2-40B4-BE49-F238E27FC236}">
                <a16:creationId xmlns:a16="http://schemas.microsoft.com/office/drawing/2014/main" id="{C91F0D1B-9825-B342-C80B-1F94DACDA50D}"/>
              </a:ext>
            </a:extLst>
          </p:cNvPr>
          <p:cNvSpPr/>
          <p:nvPr/>
        </p:nvSpPr>
        <p:spPr>
          <a:xfrm>
            <a:off x="55182" y="535372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E201C53-039A-30B7-7E89-78913CE510F1}"/>
              </a:ext>
            </a:extLst>
          </p:cNvPr>
          <p:cNvSpPr/>
          <p:nvPr/>
        </p:nvSpPr>
        <p:spPr>
          <a:xfrm>
            <a:off x="189384" y="2422436"/>
            <a:ext cx="7750986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자가 심사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E80F4098-4092-D74F-0E45-5AA0296EC882}"/>
              </a:ext>
            </a:extLst>
          </p:cNvPr>
          <p:cNvSpPr/>
          <p:nvPr/>
        </p:nvSpPr>
        <p:spPr>
          <a:xfrm>
            <a:off x="183739" y="2691530"/>
            <a:ext cx="7660288" cy="44502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본 입찰공고는 자가심사를 진행하지 않습니다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239888F-BB6D-AFEC-24CE-711D9FD03DB6}"/>
              </a:ext>
            </a:extLst>
          </p:cNvPr>
          <p:cNvGraphicFramePr>
            <a:graphicFrameLocks noGrp="1"/>
          </p:cNvGraphicFramePr>
          <p:nvPr/>
        </p:nvGraphicFramePr>
        <p:xfrm>
          <a:off x="179897" y="3215564"/>
          <a:ext cx="7713521" cy="1689600"/>
        </p:xfrm>
        <a:graphic>
          <a:graphicData uri="http://schemas.openxmlformats.org/drawingml/2006/table">
            <a:tbl>
              <a:tblPr firstRow="1" bandRow="1"/>
              <a:tblGrid>
                <a:gridCol w="381079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1242237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2905143">
                  <a:extLst>
                    <a:ext uri="{9D8B030D-6E8A-4147-A177-3AD203B41FA5}">
                      <a16:colId xmlns:a16="http://schemas.microsoft.com/office/drawing/2014/main" val="916893631"/>
                    </a:ext>
                  </a:extLst>
                </a:gridCol>
                <a:gridCol w="863808">
                  <a:extLst>
                    <a:ext uri="{9D8B030D-6E8A-4147-A177-3AD203B41FA5}">
                      <a16:colId xmlns:a16="http://schemas.microsoft.com/office/drawing/2014/main" val="2007680974"/>
                    </a:ext>
                  </a:extLst>
                </a:gridCol>
                <a:gridCol w="555268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1765986">
                  <a:extLst>
                    <a:ext uri="{9D8B030D-6E8A-4147-A177-3AD203B41FA5}">
                      <a16:colId xmlns:a16="http://schemas.microsoft.com/office/drawing/2014/main" val="196387936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No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심사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/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평가 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심사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/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평가 항목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자가심사 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배점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평가점수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계량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정량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신용평가등급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필요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4.42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계량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정량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시공경험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일반공사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필요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10.00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계량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정량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영업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기간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필요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5.00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합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15.42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686515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664E0EA-F8B2-7261-A8C1-EBFE9A8B2C1C}"/>
              </a:ext>
            </a:extLst>
          </p:cNvPr>
          <p:cNvSpPr/>
          <p:nvPr/>
        </p:nvSpPr>
        <p:spPr>
          <a:xfrm>
            <a:off x="184392" y="5017047"/>
            <a:ext cx="699418" cy="288032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목록</a:t>
            </a:r>
          </a:p>
        </p:txBody>
      </p:sp>
    </p:spTree>
    <p:extLst>
      <p:ext uri="{BB962C8B-B14F-4D97-AF65-F5344CB8AC3E}">
        <p14:creationId xmlns:p14="http://schemas.microsoft.com/office/powerpoint/2010/main" val="1426096805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5CDC64-D81D-EA38-6CCA-1F3C507E4F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9C3DBACC-DB76-EEE6-EF6F-F6610103975E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627F009-AA0D-2648-9474-E217013EB4B4}"/>
              </a:ext>
            </a:extLst>
          </p:cNvPr>
          <p:cNvSpPr txBox="1"/>
          <p:nvPr/>
        </p:nvSpPr>
        <p:spPr>
          <a:xfrm>
            <a:off x="8049344" y="584684"/>
            <a:ext cx="1856656" cy="11972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메일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메시지가 발송되면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 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기준 정보 관리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메일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메시지 발송현황 조회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에서 반드시 확인할 수 있어야 함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모든 자동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수동 메일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메시지 발송은 발송 전에 우리 데이터로 관리되어야 함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A3F0D02-1BB9-18E0-B80F-356351F884A0}"/>
              </a:ext>
            </a:extLst>
          </p:cNvPr>
          <p:cNvSpPr txBox="1"/>
          <p:nvPr/>
        </p:nvSpPr>
        <p:spPr>
          <a:xfrm>
            <a:off x="749224" y="25608"/>
            <a:ext cx="350608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참여현황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수동 메일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메시지 발송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F281F292-2C6C-4579-6DFB-C8A4D0D5DB4F}"/>
              </a:ext>
            </a:extLst>
          </p:cNvPr>
          <p:cNvSpPr txBox="1"/>
          <p:nvPr/>
        </p:nvSpPr>
        <p:spPr>
          <a:xfrm>
            <a:off x="-854365" y="4429125"/>
            <a:ext cx="184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821B07F1-2447-D378-A205-79DAF5C1B77F}"/>
              </a:ext>
            </a:extLst>
          </p:cNvPr>
          <p:cNvSpPr/>
          <p:nvPr/>
        </p:nvSpPr>
        <p:spPr>
          <a:xfrm>
            <a:off x="128464" y="398037"/>
            <a:ext cx="5846895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수동 메일</a:t>
            </a:r>
            <a:r>
              <a:rPr lang="en-US" altLang="ko-KR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메시지 발송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FF119A7-40AB-2BE0-B7B6-D7E59DC111E4}"/>
              </a:ext>
            </a:extLst>
          </p:cNvPr>
          <p:cNvSpPr/>
          <p:nvPr/>
        </p:nvSpPr>
        <p:spPr>
          <a:xfrm>
            <a:off x="128464" y="670949"/>
            <a:ext cx="5846895" cy="3803722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C4A007D0-FDC5-7B1B-840D-294BD83D6FA9}"/>
              </a:ext>
            </a:extLst>
          </p:cNvPr>
          <p:cNvSpPr/>
          <p:nvPr/>
        </p:nvSpPr>
        <p:spPr>
          <a:xfrm>
            <a:off x="5711270" y="398037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012F315-81E8-75A6-31A0-C434BBAC829B}"/>
              </a:ext>
            </a:extLst>
          </p:cNvPr>
          <p:cNvSpPr/>
          <p:nvPr/>
        </p:nvSpPr>
        <p:spPr>
          <a:xfrm>
            <a:off x="245102" y="761848"/>
            <a:ext cx="1404231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수동 메일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메시지 발송</a:t>
            </a:r>
          </a:p>
        </p:txBody>
      </p:sp>
      <p:graphicFrame>
        <p:nvGraphicFramePr>
          <p:cNvPr id="38" name="표 37">
            <a:extLst>
              <a:ext uri="{FF2B5EF4-FFF2-40B4-BE49-F238E27FC236}">
                <a16:creationId xmlns:a16="http://schemas.microsoft.com/office/drawing/2014/main" id="{31F7CC5B-BE34-AF63-CC1F-7529AF6E36B4}"/>
              </a:ext>
            </a:extLst>
          </p:cNvPr>
          <p:cNvGraphicFramePr>
            <a:graphicFrameLocks noGrp="1"/>
          </p:cNvGraphicFramePr>
          <p:nvPr/>
        </p:nvGraphicFramePr>
        <p:xfrm>
          <a:off x="245102" y="1109610"/>
          <a:ext cx="5607998" cy="337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5788">
                  <a:extLst>
                    <a:ext uri="{9D8B030D-6E8A-4147-A177-3AD203B41FA5}">
                      <a16:colId xmlns:a16="http://schemas.microsoft.com/office/drawing/2014/main" val="383348964"/>
                    </a:ext>
                  </a:extLst>
                </a:gridCol>
                <a:gridCol w="4412210">
                  <a:extLst>
                    <a:ext uri="{9D8B030D-6E8A-4147-A177-3AD203B41FA5}">
                      <a16:colId xmlns:a16="http://schemas.microsoft.com/office/drawing/2014/main" val="161840302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indent="-7200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발송방법 선택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○이메일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+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메시지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     ○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이메일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     ○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메시지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466907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F8E7563B-112E-01D5-9BF1-CDDDC19B66F1}"/>
              </a:ext>
            </a:extLst>
          </p:cNvPr>
          <p:cNvGraphicFramePr>
            <a:graphicFrameLocks noGrp="1"/>
          </p:cNvGraphicFramePr>
          <p:nvPr/>
        </p:nvGraphicFramePr>
        <p:xfrm>
          <a:off x="245102" y="1533682"/>
          <a:ext cx="5607998" cy="2232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88132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4419866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indent="-7200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제목</a:t>
                      </a:r>
                      <a:r>
                        <a:rPr lang="ko-KR" altLang="en-US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45542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indent="-7200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이메일 내용</a:t>
                      </a:r>
                      <a:r>
                        <a:rPr lang="ko-KR" altLang="en-US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  <a:endParaRPr lang="ko-KR" altLang="en-US" sz="800" b="1" dirty="0">
                        <a:solidFill>
                          <a:srgbClr val="C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메시지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(SMS)</a:t>
                      </a:r>
                      <a:r>
                        <a:rPr lang="ko-KR" altLang="en-US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  <a:endParaRPr lang="ko-KR" altLang="en-US" sz="800" b="1" dirty="0">
                        <a:solidFill>
                          <a:srgbClr val="C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7990454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A62190FB-D79D-8188-C055-6BF6B75A2707}"/>
              </a:ext>
            </a:extLst>
          </p:cNvPr>
          <p:cNvSpPr/>
          <p:nvPr/>
        </p:nvSpPr>
        <p:spPr>
          <a:xfrm>
            <a:off x="1531170" y="1593692"/>
            <a:ext cx="4325738" cy="21544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100</a:t>
            </a:r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자 이내로 입력해주세요.</a:t>
            </a:r>
            <a:endParaRPr lang="en-US" altLang="ko-KR" sz="800" b="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07F50126-2591-8F29-4268-2A65852A6453}"/>
              </a:ext>
            </a:extLst>
          </p:cNvPr>
          <p:cNvSpPr/>
          <p:nvPr/>
        </p:nvSpPr>
        <p:spPr>
          <a:xfrm>
            <a:off x="1519056" y="1949332"/>
            <a:ext cx="4334044" cy="99767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108000" rIns="108000" bIns="108000" rtlCol="0" anchor="t" anchorCtr="0"/>
          <a:lstStyle/>
          <a:p>
            <a:pPr lvl="0" algn="l" defTabSz="1097280" fontAlgn="auto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Text</a:t>
            </a:r>
            <a:r>
              <a:rPr kumimoji="0"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kumimoji="0"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Area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7124B208-FD86-E9CA-866B-63C28BBF3C2C}"/>
              </a:ext>
            </a:extLst>
          </p:cNvPr>
          <p:cNvSpPr/>
          <p:nvPr/>
        </p:nvSpPr>
        <p:spPr>
          <a:xfrm>
            <a:off x="1519056" y="3134134"/>
            <a:ext cx="4334044" cy="54625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108000" rIns="108000" bIns="108000" rtlCol="0" anchor="t" anchorCtr="0"/>
          <a:lstStyle/>
          <a:p>
            <a:pPr lvl="0" algn="l" defTabSz="1097280" fontAlgn="auto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Text</a:t>
            </a:r>
            <a:r>
              <a:rPr kumimoji="0"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kumimoji="0"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Area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E008E84D-DCDE-E748-9D9F-442739D15068}"/>
              </a:ext>
            </a:extLst>
          </p:cNvPr>
          <p:cNvSpPr/>
          <p:nvPr/>
        </p:nvSpPr>
        <p:spPr>
          <a:xfrm>
            <a:off x="5038734" y="3876467"/>
            <a:ext cx="813083" cy="28803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F06E839A-0028-9144-19F0-A27D049706C0}"/>
              </a:ext>
            </a:extLst>
          </p:cNvPr>
          <p:cNvSpPr/>
          <p:nvPr/>
        </p:nvSpPr>
        <p:spPr>
          <a:xfrm>
            <a:off x="3969729" y="3876467"/>
            <a:ext cx="1018323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메일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메시지 발송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12549E66-75BD-232B-30A3-285D19C73FE7}"/>
              </a:ext>
            </a:extLst>
          </p:cNvPr>
          <p:cNvSpPr/>
          <p:nvPr/>
        </p:nvSpPr>
        <p:spPr>
          <a:xfrm>
            <a:off x="3512840" y="4401108"/>
            <a:ext cx="4392488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메일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메시지 발송 확인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BFDEEB47-6613-0264-0FD8-E74859D8D884}"/>
              </a:ext>
            </a:extLst>
          </p:cNvPr>
          <p:cNvSpPr/>
          <p:nvPr/>
        </p:nvSpPr>
        <p:spPr>
          <a:xfrm>
            <a:off x="3512840" y="4674020"/>
            <a:ext cx="4392488" cy="187132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501371D-64B8-A676-A7BB-A682D5B9F739}"/>
              </a:ext>
            </a:extLst>
          </p:cNvPr>
          <p:cNvSpPr/>
          <p:nvPr/>
        </p:nvSpPr>
        <p:spPr>
          <a:xfrm>
            <a:off x="7635328" y="4401108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23613092-70DA-EF2E-C71C-51D2F1EC1C4C}"/>
              </a:ext>
            </a:extLst>
          </p:cNvPr>
          <p:cNvSpPr/>
          <p:nvPr/>
        </p:nvSpPr>
        <p:spPr>
          <a:xfrm>
            <a:off x="3620619" y="5087408"/>
            <a:ext cx="4176697" cy="879892"/>
          </a:xfrm>
          <a:prstGeom prst="rect">
            <a:avLst/>
          </a:prstGeom>
          <a:solidFill>
            <a:srgbClr val="FFFF00">
              <a:alpha val="20000"/>
            </a:srgb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56000" tIns="108000" bIns="108000" rtlCol="0" anchor="ctr" anchorCtr="0"/>
          <a:lstStyle/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메일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/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메시지를 발송하면 취소할 수 없습니다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.</a:t>
            </a:r>
          </a:p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메일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메시지 발송 내역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발송 대상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발송방법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발송내용 등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을 확인하세요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그래도 진행하시겠습니까</a:t>
            </a: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?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pic>
        <p:nvPicPr>
          <p:cNvPr id="43" name="Picture 8" descr="Announcement, hailer, loudspeaker, megaphone, speaker icon - Download on Iconfinder">
            <a:extLst>
              <a:ext uri="{FF2B5EF4-FFF2-40B4-BE49-F238E27FC236}">
                <a16:creationId xmlns:a16="http://schemas.microsoft.com/office/drawing/2014/main" id="{C8A6F3EE-2FE9-EBA6-5EE3-E6A2271BEA6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6741" y="5244029"/>
            <a:ext cx="570440" cy="5704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" name="직사각형 44">
            <a:extLst>
              <a:ext uri="{FF2B5EF4-FFF2-40B4-BE49-F238E27FC236}">
                <a16:creationId xmlns:a16="http://schemas.microsoft.com/office/drawing/2014/main" id="{3D6B530E-544F-29A5-A69E-5CC12D1DD6EE}"/>
              </a:ext>
            </a:extLst>
          </p:cNvPr>
          <p:cNvSpPr/>
          <p:nvPr/>
        </p:nvSpPr>
        <p:spPr>
          <a:xfrm>
            <a:off x="6034692" y="6075775"/>
            <a:ext cx="1018896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메일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메시지 발송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DA08681F-C88D-8075-ED7C-A125A08F518C}"/>
              </a:ext>
            </a:extLst>
          </p:cNvPr>
          <p:cNvSpPr/>
          <p:nvPr/>
        </p:nvSpPr>
        <p:spPr>
          <a:xfrm>
            <a:off x="7113329" y="6075775"/>
            <a:ext cx="699418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029905CE-440D-15D5-6094-4FEDA6B924AE}"/>
              </a:ext>
            </a:extLst>
          </p:cNvPr>
          <p:cNvSpPr/>
          <p:nvPr/>
        </p:nvSpPr>
        <p:spPr>
          <a:xfrm>
            <a:off x="3644060" y="4770409"/>
            <a:ext cx="1404231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메일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메시지 발송 확인</a:t>
            </a:r>
          </a:p>
        </p:txBody>
      </p:sp>
      <p:cxnSp>
        <p:nvCxnSpPr>
          <p:cNvPr id="48" name="연결선: 꺾임 47">
            <a:extLst>
              <a:ext uri="{FF2B5EF4-FFF2-40B4-BE49-F238E27FC236}">
                <a16:creationId xmlns:a16="http://schemas.microsoft.com/office/drawing/2014/main" id="{A68914C5-9085-A3E9-FD4C-F90A02034EA1}"/>
              </a:ext>
            </a:extLst>
          </p:cNvPr>
          <p:cNvCxnSpPr>
            <a:cxnSpLocks/>
            <a:stCxn id="30" idx="2"/>
            <a:endCxn id="31" idx="0"/>
          </p:cNvCxnSpPr>
          <p:nvPr/>
        </p:nvCxnSpPr>
        <p:spPr>
          <a:xfrm rot="16200000" flipH="1">
            <a:off x="4975683" y="3667706"/>
            <a:ext cx="236609" cy="1230193"/>
          </a:xfrm>
          <a:prstGeom prst="bentConnector3">
            <a:avLst>
              <a:gd name="adj1" fmla="val 50000"/>
            </a:avLst>
          </a:prstGeom>
          <a:ln>
            <a:solidFill>
              <a:srgbClr val="C00000"/>
            </a:solidFill>
            <a:prstDash val="sysDash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타원 6">
            <a:extLst>
              <a:ext uri="{FF2B5EF4-FFF2-40B4-BE49-F238E27FC236}">
                <a16:creationId xmlns:a16="http://schemas.microsoft.com/office/drawing/2014/main" id="{5F90F844-6D8F-D214-02B6-11F3EDDC5A63}"/>
              </a:ext>
            </a:extLst>
          </p:cNvPr>
          <p:cNvSpPr/>
          <p:nvPr/>
        </p:nvSpPr>
        <p:spPr>
          <a:xfrm>
            <a:off x="5884338" y="5950057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94240117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CFDB16-61A0-3C7D-B001-417B43AD5D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D4D34B56-3268-AA34-777A-91BD05184C86}"/>
              </a:ext>
            </a:extLst>
          </p:cNvPr>
          <p:cNvSpPr txBox="1"/>
          <p:nvPr/>
        </p:nvSpPr>
        <p:spPr>
          <a:xfrm>
            <a:off x="749224" y="25608"/>
            <a:ext cx="290015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유찰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재공고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처리하기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B04C8D2B-3119-2E31-7A55-6A1D36DFD054}"/>
              </a:ext>
            </a:extLst>
          </p:cNvPr>
          <p:cNvSpPr/>
          <p:nvPr/>
        </p:nvSpPr>
        <p:spPr>
          <a:xfrm>
            <a:off x="164468" y="404664"/>
            <a:ext cx="5472608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유찰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재공고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처리하기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A9FC0606-1977-B1B9-DE97-CF7AB39F42E6}"/>
              </a:ext>
            </a:extLst>
          </p:cNvPr>
          <p:cNvSpPr/>
          <p:nvPr/>
        </p:nvSpPr>
        <p:spPr>
          <a:xfrm>
            <a:off x="164468" y="677576"/>
            <a:ext cx="5472608" cy="260740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C63A5FED-A9A1-F7B5-8531-9DEC5D3839F1}"/>
              </a:ext>
            </a:extLst>
          </p:cNvPr>
          <p:cNvSpPr/>
          <p:nvPr/>
        </p:nvSpPr>
        <p:spPr>
          <a:xfrm>
            <a:off x="5371103" y="404664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8A6AD98A-8BEA-8560-6B93-65587397AA0C}"/>
              </a:ext>
            </a:extLst>
          </p:cNvPr>
          <p:cNvSpPr/>
          <p:nvPr/>
        </p:nvSpPr>
        <p:spPr>
          <a:xfrm>
            <a:off x="272248" y="1090963"/>
            <a:ext cx="5220812" cy="1185909"/>
          </a:xfrm>
          <a:prstGeom prst="rect">
            <a:avLst/>
          </a:prstGeom>
          <a:solidFill>
            <a:srgbClr val="FFFF00">
              <a:alpha val="20000"/>
            </a:srgb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56000" tIns="108000" bIns="108000" rtlCol="0" anchor="ctr" anchorCtr="0"/>
          <a:lstStyle/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유찰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 err="1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재공고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로 처리하면 본 입찰공고의 내용을 복사해서 입찰계획 단계로 넘어갑니다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b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입찰계획에서 입찰참여 기간 등을 수정하여 재공고를 진행할 수 있습니다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‘제한적 최저가 입찰’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적격심사’ 이면서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예비가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유찰 처리 시점이 개찰 후인 경우에는 ‘예비가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설정’을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반드시 다시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해야 합니다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en-US" altLang="ko-KR" sz="80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유찰 처리 후에는 되돌릴 수 없습니다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유찰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재공고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처리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하시겠습니까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pic>
        <p:nvPicPr>
          <p:cNvPr id="35" name="Picture 8" descr="Announcement, hailer, loudspeaker, megaphone, speaker icon - Download on Iconfinder">
            <a:extLst>
              <a:ext uri="{FF2B5EF4-FFF2-40B4-BE49-F238E27FC236}">
                <a16:creationId xmlns:a16="http://schemas.microsoft.com/office/drawing/2014/main" id="{6A862B82-E191-5356-CBC0-69DD42519FD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8370" y="1398697"/>
            <a:ext cx="570440" cy="5704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9" name="직사각형 38">
            <a:extLst>
              <a:ext uri="{FF2B5EF4-FFF2-40B4-BE49-F238E27FC236}">
                <a16:creationId xmlns:a16="http://schemas.microsoft.com/office/drawing/2014/main" id="{99535AD8-98CE-9DC3-910F-99B25D0D9E5C}"/>
              </a:ext>
            </a:extLst>
          </p:cNvPr>
          <p:cNvSpPr/>
          <p:nvPr/>
        </p:nvSpPr>
        <p:spPr>
          <a:xfrm>
            <a:off x="295689" y="774344"/>
            <a:ext cx="1413849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유찰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11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재공고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처리하기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1F4C7C5-A993-17B5-DC58-283CB35B1ECB}"/>
              </a:ext>
            </a:extLst>
          </p:cNvPr>
          <p:cNvSpPr txBox="1"/>
          <p:nvPr/>
        </p:nvSpPr>
        <p:spPr>
          <a:xfrm>
            <a:off x="8049344" y="584684"/>
            <a:ext cx="1856656" cy="279768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유찰 처리 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공고 구분을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재공고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(1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차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)’, ‘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재공고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차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형태로 생성하고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본 입찰계획 당시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설정된 정보를 모두 복사해서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메뉴에 새로운 공고 번호로 복사해주는 기능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단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제한적 최저가 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’, 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적격심사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이면서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예비가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+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유찰 처리 시점이 개찰 후인 경우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예비가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설정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을 반드시 다시 해야 함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예비가는 복사하지 않고 넘김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D7D02C2A-ED3F-F214-0A3D-B70008EC4B7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1609234"/>
              </p:ext>
            </p:extLst>
          </p:nvPr>
        </p:nvGraphicFramePr>
        <p:xfrm>
          <a:off x="278798" y="2356884"/>
          <a:ext cx="5214262" cy="337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88132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4026130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indent="-7200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유찰처리 사유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메모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r>
                        <a:rPr lang="ko-KR" altLang="en-US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4554203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23237889-3CCF-35DD-1629-B0F538C32963}"/>
              </a:ext>
            </a:extLst>
          </p:cNvPr>
          <p:cNvSpPr/>
          <p:nvPr/>
        </p:nvSpPr>
        <p:spPr>
          <a:xfrm>
            <a:off x="1564866" y="2416894"/>
            <a:ext cx="3806237" cy="21544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100</a:t>
            </a:r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자 이내로 입력해주세요.</a:t>
            </a:r>
            <a:endParaRPr lang="en-US" altLang="ko-KR" sz="800" b="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83F9198A-6337-8FF6-EC78-89B676391E9D}"/>
              </a:ext>
            </a:extLst>
          </p:cNvPr>
          <p:cNvSpPr/>
          <p:nvPr/>
        </p:nvSpPr>
        <p:spPr>
          <a:xfrm>
            <a:off x="4801161" y="2779867"/>
            <a:ext cx="699418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6C351DD4-E338-A035-8FF8-DE4C89C2CC1A}"/>
              </a:ext>
            </a:extLst>
          </p:cNvPr>
          <p:cNvSpPr/>
          <p:nvPr/>
        </p:nvSpPr>
        <p:spPr>
          <a:xfrm>
            <a:off x="3296817" y="2779867"/>
            <a:ext cx="1437574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유찰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 err="1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재공고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처리하기 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</a:t>
            </a:r>
            <a:endParaRPr lang="ko-KR" altLang="en-US" sz="9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7524D8DB-6DA0-1CB3-ED08-B0107FCF9DB2}"/>
              </a:ext>
            </a:extLst>
          </p:cNvPr>
          <p:cNvSpPr/>
          <p:nvPr/>
        </p:nvSpPr>
        <p:spPr>
          <a:xfrm>
            <a:off x="3152801" y="2670289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20061527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9F681B-B715-0BDD-D69A-C94A422648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7D955CC3-C6AC-31E1-BBC6-55F01CBF1A39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6767A834-72A8-D857-9428-66B0E0881636}"/>
              </a:ext>
            </a:extLst>
          </p:cNvPr>
          <p:cNvSpPr txBox="1"/>
          <p:nvPr/>
        </p:nvSpPr>
        <p:spPr>
          <a:xfrm>
            <a:off x="8049344" y="584684"/>
            <a:ext cx="1856656" cy="566616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평가가 없는 경우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최저가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인 경우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해당 탭 클릭 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Alert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제공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Alert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‘본 입찰공고는 낙찰자 선정방법이 ‘최저가’ 방식으로 심사/평가 대상이 아닙니다.’</a:t>
            </a: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진행상태가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참여 완료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건만 보임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그 외에는 평가 대상이 아님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심사완료 처리 후에는 더 이상 평가 점수가 수정되지 않음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진행상태를 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심사완료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상태로 변경</a:t>
            </a:r>
            <a:b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endParaRPr lang="en-US" altLang="ko-KR" sz="800" u="sng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심사완료 처리 후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제한적 최저가 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’, ‘2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분리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인 입찰 건의 경우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가격투찰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안내하기 버튼 제공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뒤 페이지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가격투찰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안내하기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팝업 호출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제한적 최저가 입찰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’, ‘2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분리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)’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인 경우 심사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 후 적격 판정을 받은 업체가 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 미만일 경우 해당 </a:t>
            </a:r>
            <a:r>
              <a:rPr lang="ko-KR" altLang="en-US" sz="800" u="sng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영역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제공</a:t>
            </a:r>
            <a:b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유찰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재공고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을 처리할 수 있음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유찰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재공고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처리하기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팝업 호출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앞 페이지 참고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04BD572F-74E2-DA0C-48BD-B28C91BD144F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41AAA1AF-63F9-A914-2028-1AED83515D7C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66BD1BCC-4E6D-CD1F-8E98-9C2F8BD7D1A0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220C35D4-5BF6-05A8-90D4-49FD9D9C7892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CD00DD34-CD2C-E326-2FA4-E3CE77C1B3AA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0E892A2B-1EDE-3AD9-EC7D-4D1116B83FCF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7" name="Picture 1">
            <a:extLst>
              <a:ext uri="{FF2B5EF4-FFF2-40B4-BE49-F238E27FC236}">
                <a16:creationId xmlns:a16="http://schemas.microsoft.com/office/drawing/2014/main" id="{6D75924E-60B7-49A9-C50D-AB45AC39A53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D2C74582-2B5B-6A51-C0D1-36B0CD91910F}"/>
              </a:ext>
            </a:extLst>
          </p:cNvPr>
          <p:cNvSpPr txBox="1"/>
          <p:nvPr/>
        </p:nvSpPr>
        <p:spPr>
          <a:xfrm>
            <a:off x="749224" y="25608"/>
            <a:ext cx="231666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238BC276-7D24-B54B-98F8-BB92D46FA1A4}"/>
              </a:ext>
            </a:extLst>
          </p:cNvPr>
          <p:cNvSpPr txBox="1"/>
          <p:nvPr/>
        </p:nvSpPr>
        <p:spPr>
          <a:xfrm>
            <a:off x="164468" y="2043596"/>
            <a:ext cx="3053340" cy="230832"/>
          </a:xfrm>
          <a:prstGeom prst="rect">
            <a:avLst/>
          </a:prstGeom>
          <a:noFill/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참여업체 </a:t>
            </a:r>
            <a:r>
              <a:rPr lang="en-US" altLang="ko-KR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총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건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89FBE25E-3C25-3B97-F075-4365A615BC68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C7D2633A-89F2-2CE4-5FC0-F7E5B07C2F99}"/>
              </a:ext>
            </a:extLst>
          </p:cNvPr>
          <p:cNvSpPr txBox="1"/>
          <p:nvPr/>
        </p:nvSpPr>
        <p:spPr>
          <a:xfrm>
            <a:off x="-854365" y="4429125"/>
            <a:ext cx="184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27045D1-D29A-C42C-D3F1-E3D062C9E16D}"/>
              </a:ext>
            </a:extLst>
          </p:cNvPr>
          <p:cNvSpPr/>
          <p:nvPr/>
        </p:nvSpPr>
        <p:spPr>
          <a:xfrm>
            <a:off x="163503" y="4216741"/>
            <a:ext cx="7729916" cy="44502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□ ‘심사완료’ 상태로 진행상태를 변경합니다. 심사완료 상태에서는 심사정보를 수정할 수 없습니다.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9085E242-AF61-8C4E-3C8B-D7A13F1DBDA8}"/>
              </a:ext>
            </a:extLst>
          </p:cNvPr>
          <p:cNvSpPr/>
          <p:nvPr/>
        </p:nvSpPr>
        <p:spPr>
          <a:xfrm>
            <a:off x="6537176" y="4300338"/>
            <a:ext cx="1254361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심사완료 처리하기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E79AFC23-F860-347E-6828-5767DA08671E}"/>
              </a:ext>
            </a:extLst>
          </p:cNvPr>
          <p:cNvGraphicFramePr>
            <a:graphicFrameLocks noGrp="1"/>
          </p:cNvGraphicFramePr>
          <p:nvPr/>
        </p:nvGraphicFramePr>
        <p:xfrm>
          <a:off x="164466" y="817960"/>
          <a:ext cx="7732447" cy="675840"/>
        </p:xfrm>
        <a:graphic>
          <a:graphicData uri="http://schemas.openxmlformats.org/drawingml/2006/table">
            <a:tbl>
              <a:tblPr firstRow="1" bandRow="1"/>
              <a:tblGrid>
                <a:gridCol w="83838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763949">
                  <a:extLst>
                    <a:ext uri="{9D8B030D-6E8A-4147-A177-3AD203B41FA5}">
                      <a16:colId xmlns:a16="http://schemas.microsoft.com/office/drawing/2014/main" val="1731736782"/>
                    </a:ext>
                  </a:extLst>
                </a:gridCol>
                <a:gridCol w="616894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821542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289563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1002816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1092824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628938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677541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재공고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입찰마감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graphicFrame>
        <p:nvGraphicFramePr>
          <p:cNvPr id="70" name="표 69">
            <a:extLst>
              <a:ext uri="{FF2B5EF4-FFF2-40B4-BE49-F238E27FC236}">
                <a16:creationId xmlns:a16="http://schemas.microsoft.com/office/drawing/2014/main" id="{0B2C320A-5C24-E712-4B4E-97E0DC4021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1733587"/>
              </p:ext>
            </p:extLst>
          </p:nvPr>
        </p:nvGraphicFramePr>
        <p:xfrm>
          <a:off x="167469" y="2333966"/>
          <a:ext cx="7725631" cy="1351680"/>
        </p:xfrm>
        <a:graphic>
          <a:graphicData uri="http://schemas.openxmlformats.org/drawingml/2006/table">
            <a:tbl>
              <a:tblPr firstRow="1" bandRow="1"/>
              <a:tblGrid>
                <a:gridCol w="327388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1028834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762980">
                  <a:extLst>
                    <a:ext uri="{9D8B030D-6E8A-4147-A177-3AD203B41FA5}">
                      <a16:colId xmlns:a16="http://schemas.microsoft.com/office/drawing/2014/main" val="2178705914"/>
                    </a:ext>
                  </a:extLst>
                </a:gridCol>
                <a:gridCol w="1086434">
                  <a:extLst>
                    <a:ext uri="{9D8B030D-6E8A-4147-A177-3AD203B41FA5}">
                      <a16:colId xmlns:a16="http://schemas.microsoft.com/office/drawing/2014/main" val="2628663970"/>
                    </a:ext>
                  </a:extLst>
                </a:gridCol>
                <a:gridCol w="651040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401916">
                  <a:extLst>
                    <a:ext uri="{9D8B030D-6E8A-4147-A177-3AD203B41FA5}">
                      <a16:colId xmlns:a16="http://schemas.microsoft.com/office/drawing/2014/main" val="800341694"/>
                    </a:ext>
                  </a:extLst>
                </a:gridCol>
                <a:gridCol w="1180082">
                  <a:extLst>
                    <a:ext uri="{9D8B030D-6E8A-4147-A177-3AD203B41FA5}">
                      <a16:colId xmlns:a16="http://schemas.microsoft.com/office/drawing/2014/main" val="1524271130"/>
                    </a:ext>
                  </a:extLst>
                </a:gridCol>
                <a:gridCol w="1278152">
                  <a:extLst>
                    <a:ext uri="{9D8B030D-6E8A-4147-A177-3AD203B41FA5}">
                      <a16:colId xmlns:a16="http://schemas.microsoft.com/office/drawing/2014/main" val="1597729474"/>
                    </a:ext>
                  </a:extLst>
                </a:gridCol>
                <a:gridCol w="1008805">
                  <a:extLst>
                    <a:ext uri="{9D8B030D-6E8A-4147-A177-3AD203B41FA5}">
                      <a16:colId xmlns:a16="http://schemas.microsoft.com/office/drawing/2014/main" val="188374671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No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업체명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제출상태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참여 일시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직책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핸드폰번호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규격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기술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평가점수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규격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기술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적격여부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주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r>
                        <a:rPr lang="ko-KR" altLang="en-US" sz="800" b="0" u="sng" dirty="0" err="1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큐비트엑스</a:t>
                      </a: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참여 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2026.07.30 17:25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이희성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부장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010-6844-2810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46.45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적격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A 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참여 완료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2026.07.30 17:25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차장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010-5865-5234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45.28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적격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sng" dirty="0" err="1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업체명</a:t>
                      </a: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참여 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2026.07.30 17:25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이희성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부장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010-6844-2810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38.00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부적격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</a:tbl>
          </a:graphicData>
        </a:graphic>
      </p:graphicFrame>
      <p:sp>
        <p:nvSpPr>
          <p:cNvPr id="73" name="타원 72">
            <a:extLst>
              <a:ext uri="{FF2B5EF4-FFF2-40B4-BE49-F238E27FC236}">
                <a16:creationId xmlns:a16="http://schemas.microsoft.com/office/drawing/2014/main" id="{A27F8578-5495-1632-23F3-BEC00E7DE8D4}"/>
              </a:ext>
            </a:extLst>
          </p:cNvPr>
          <p:cNvSpPr/>
          <p:nvPr/>
        </p:nvSpPr>
        <p:spPr>
          <a:xfrm>
            <a:off x="1348399" y="2215036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" name="타원 73">
            <a:extLst>
              <a:ext uri="{FF2B5EF4-FFF2-40B4-BE49-F238E27FC236}">
                <a16:creationId xmlns:a16="http://schemas.microsoft.com/office/drawing/2014/main" id="{49D9D226-E061-235A-D9A2-1A53C6A76CCD}"/>
              </a:ext>
            </a:extLst>
          </p:cNvPr>
          <p:cNvSpPr/>
          <p:nvPr/>
        </p:nvSpPr>
        <p:spPr>
          <a:xfrm>
            <a:off x="6392091" y="4189482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80" name="표 79">
            <a:extLst>
              <a:ext uri="{FF2B5EF4-FFF2-40B4-BE49-F238E27FC236}">
                <a16:creationId xmlns:a16="http://schemas.microsoft.com/office/drawing/2014/main" id="{CAFD0374-0725-29C2-6CF0-576FF45CBA3C}"/>
              </a:ext>
            </a:extLst>
          </p:cNvPr>
          <p:cNvGraphicFramePr>
            <a:graphicFrameLocks noGrp="1"/>
          </p:cNvGraphicFramePr>
          <p:nvPr/>
        </p:nvGraphicFramePr>
        <p:xfrm>
          <a:off x="163185" y="3770288"/>
          <a:ext cx="7729916" cy="3592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77447">
                  <a:extLst>
                    <a:ext uri="{9D8B030D-6E8A-4147-A177-3AD203B41FA5}">
                      <a16:colId xmlns:a16="http://schemas.microsoft.com/office/drawing/2014/main" val="477224945"/>
                    </a:ext>
                  </a:extLst>
                </a:gridCol>
                <a:gridCol w="6252469">
                  <a:extLst>
                    <a:ext uri="{9D8B030D-6E8A-4147-A177-3AD203B41FA5}">
                      <a16:colId xmlns:a16="http://schemas.microsoft.com/office/drawing/2014/main" val="34787164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최저점수(적격여부 판단)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45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209096"/>
                  </a:ext>
                </a:extLst>
              </a:tr>
            </a:tbl>
          </a:graphicData>
        </a:graphic>
      </p:graphicFrame>
      <p:sp>
        <p:nvSpPr>
          <p:cNvPr id="96" name="직사각형 95">
            <a:extLst>
              <a:ext uri="{FF2B5EF4-FFF2-40B4-BE49-F238E27FC236}">
                <a16:creationId xmlns:a16="http://schemas.microsoft.com/office/drawing/2014/main" id="{075DCF98-0EAC-8F07-C0FD-EDA88FF9C34A}"/>
              </a:ext>
            </a:extLst>
          </p:cNvPr>
          <p:cNvSpPr/>
          <p:nvPr/>
        </p:nvSpPr>
        <p:spPr>
          <a:xfrm>
            <a:off x="163503" y="4742984"/>
            <a:ext cx="7729916" cy="44502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□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가격투찰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기간을 안내합니다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오른쪽 버튼을 통해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적격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판정을 받은 협력업체에게 메일과 메시지를 전달하세요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A6C0286D-BDF0-62E2-D3DB-C09D69C60B6D}"/>
              </a:ext>
            </a:extLst>
          </p:cNvPr>
          <p:cNvSpPr/>
          <p:nvPr/>
        </p:nvSpPr>
        <p:spPr>
          <a:xfrm>
            <a:off x="6537176" y="4826581"/>
            <a:ext cx="1254361" cy="28803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가격투찰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안내하기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</a:t>
            </a: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4" name="타원 103">
            <a:extLst>
              <a:ext uri="{FF2B5EF4-FFF2-40B4-BE49-F238E27FC236}">
                <a16:creationId xmlns:a16="http://schemas.microsoft.com/office/drawing/2014/main" id="{56AB2611-1D49-05B6-85C0-405D20B67D83}"/>
              </a:ext>
            </a:extLst>
          </p:cNvPr>
          <p:cNvSpPr/>
          <p:nvPr/>
        </p:nvSpPr>
        <p:spPr>
          <a:xfrm>
            <a:off x="6392091" y="4741297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85BF5B95-F723-74DC-79A6-C2404A8A1579}"/>
              </a:ext>
            </a:extLst>
          </p:cNvPr>
          <p:cNvSpPr/>
          <p:nvPr/>
        </p:nvSpPr>
        <p:spPr>
          <a:xfrm>
            <a:off x="-4156013" y="4540455"/>
            <a:ext cx="4032448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심사완료 처리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시 유의사항</a:t>
            </a: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A64BA48B-6C55-D196-28FC-2BC5A064B25E}"/>
              </a:ext>
            </a:extLst>
          </p:cNvPr>
          <p:cNvSpPr/>
          <p:nvPr/>
        </p:nvSpPr>
        <p:spPr>
          <a:xfrm>
            <a:off x="-4156013" y="4813367"/>
            <a:ext cx="4032448" cy="16653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BCE3D96A-CDBA-43EA-C0C1-57965A3BDD12}"/>
              </a:ext>
            </a:extLst>
          </p:cNvPr>
          <p:cNvSpPr/>
          <p:nvPr/>
        </p:nvSpPr>
        <p:spPr>
          <a:xfrm>
            <a:off x="-393564" y="4540455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4924CD4A-84C4-F7D9-63C3-B52A434AC99E}"/>
              </a:ext>
            </a:extLst>
          </p:cNvPr>
          <p:cNvSpPr/>
          <p:nvPr/>
        </p:nvSpPr>
        <p:spPr>
          <a:xfrm>
            <a:off x="-4048234" y="5226755"/>
            <a:ext cx="3816657" cy="730386"/>
          </a:xfrm>
          <a:prstGeom prst="rect">
            <a:avLst/>
          </a:prstGeom>
          <a:solidFill>
            <a:srgbClr val="FFFF00">
              <a:alpha val="20000"/>
            </a:srgb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56000" tIns="108000" bIns="108000" rtlCol="0" anchor="ctr" anchorCtr="0"/>
          <a:lstStyle/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심사완료 처리 시 진행상태가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‘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심사완료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’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상태로 변경되며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, </a:t>
            </a:r>
            <a:b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</a:b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더 이상 평가점수가 수정되지 않습니다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.</a:t>
            </a:r>
          </a:p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심사완료 처리하시겠습니까</a:t>
            </a: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?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pic>
        <p:nvPicPr>
          <p:cNvPr id="124" name="Picture 8" descr="Announcement, hailer, loudspeaker, megaphone, speaker icon - Download on Iconfinder">
            <a:extLst>
              <a:ext uri="{FF2B5EF4-FFF2-40B4-BE49-F238E27FC236}">
                <a16:creationId xmlns:a16="http://schemas.microsoft.com/office/drawing/2014/main" id="{C22731E7-1266-8BE3-BF55-301E75C2CD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932112" y="5306728"/>
            <a:ext cx="570440" cy="5704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06ADD8BC-371C-E98E-F81D-580D5794547A}"/>
              </a:ext>
            </a:extLst>
          </p:cNvPr>
          <p:cNvSpPr/>
          <p:nvPr/>
        </p:nvSpPr>
        <p:spPr>
          <a:xfrm>
            <a:off x="-934460" y="6040886"/>
            <a:ext cx="699418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F3C16284-4946-ECFB-EFF8-D4ABD607811D}"/>
              </a:ext>
            </a:extLst>
          </p:cNvPr>
          <p:cNvSpPr/>
          <p:nvPr/>
        </p:nvSpPr>
        <p:spPr>
          <a:xfrm>
            <a:off x="-4024793" y="4909756"/>
            <a:ext cx="1657505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심사완료 처리 시 유의사항</a:t>
            </a: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32A3572A-B10C-D673-8B42-E12C2CC8D0F7}"/>
              </a:ext>
            </a:extLst>
          </p:cNvPr>
          <p:cNvSpPr/>
          <p:nvPr/>
        </p:nvSpPr>
        <p:spPr>
          <a:xfrm>
            <a:off x="-2083604" y="6040886"/>
            <a:ext cx="1082373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심사완료 처리하기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DB9A3390-D15E-33F1-F989-4E4E5B48D014}"/>
              </a:ext>
            </a:extLst>
          </p:cNvPr>
          <p:cNvSpPr/>
          <p:nvPr/>
        </p:nvSpPr>
        <p:spPr>
          <a:xfrm>
            <a:off x="163503" y="5267749"/>
            <a:ext cx="7729916" cy="44502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□ 심사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 결과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적격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판정을 받은 업체가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 미만입니다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유찰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재공고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처리하시겠습니까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3736E17C-F215-0719-64B4-D53C29B9696A}"/>
              </a:ext>
            </a:extLst>
          </p:cNvPr>
          <p:cNvSpPr/>
          <p:nvPr/>
        </p:nvSpPr>
        <p:spPr>
          <a:xfrm>
            <a:off x="6392090" y="5351346"/>
            <a:ext cx="1399447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유찰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 err="1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재공고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처리하기 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</a:t>
            </a:r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82EB5557-713A-37B5-7269-D42001DCC216}"/>
              </a:ext>
            </a:extLst>
          </p:cNvPr>
          <p:cNvSpPr/>
          <p:nvPr/>
        </p:nvSpPr>
        <p:spPr>
          <a:xfrm>
            <a:off x="6225237" y="5240490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5" name="연결선: 꺾임 24">
            <a:extLst>
              <a:ext uri="{FF2B5EF4-FFF2-40B4-BE49-F238E27FC236}">
                <a16:creationId xmlns:a16="http://schemas.microsoft.com/office/drawing/2014/main" id="{33A64837-238F-6777-842C-13F0D5DFB2BE}"/>
              </a:ext>
            </a:extLst>
          </p:cNvPr>
          <p:cNvCxnSpPr>
            <a:cxnSpLocks/>
            <a:stCxn id="38" idx="1"/>
            <a:endCxn id="118" idx="3"/>
          </p:cNvCxnSpPr>
          <p:nvPr/>
        </p:nvCxnSpPr>
        <p:spPr>
          <a:xfrm rot="10800000" flipV="1">
            <a:off x="-123564" y="4444354"/>
            <a:ext cx="6660741" cy="1201688"/>
          </a:xfrm>
          <a:prstGeom prst="bentConnector3">
            <a:avLst>
              <a:gd name="adj1" fmla="val 50000"/>
            </a:avLst>
          </a:prstGeom>
          <a:ln>
            <a:solidFill>
              <a:srgbClr val="C00000"/>
            </a:solidFill>
            <a:prstDash val="sysDash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EA46550A-149A-73C5-824C-C3502DAEF9B2}"/>
              </a:ext>
            </a:extLst>
          </p:cNvPr>
          <p:cNvGrpSpPr/>
          <p:nvPr/>
        </p:nvGrpSpPr>
        <p:grpSpPr>
          <a:xfrm>
            <a:off x="163503" y="1596176"/>
            <a:ext cx="7741824" cy="348918"/>
            <a:chOff x="163503" y="1596176"/>
            <a:chExt cx="7741824" cy="348918"/>
          </a:xfrm>
        </p:grpSpPr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6D59B803-39D0-31E1-E054-408ED4956A8A}"/>
                </a:ext>
              </a:extLst>
            </p:cNvPr>
            <p:cNvCxnSpPr>
              <a:cxnSpLocks/>
            </p:cNvCxnSpPr>
            <p:nvPr/>
          </p:nvCxnSpPr>
          <p:spPr>
            <a:xfrm>
              <a:off x="167468" y="1941219"/>
              <a:ext cx="7737859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BCEF792E-EC1A-C0E9-49E4-B72B2FBB8847}"/>
                </a:ext>
              </a:extLst>
            </p:cNvPr>
            <p:cNvSpPr/>
            <p:nvPr/>
          </p:nvSpPr>
          <p:spPr>
            <a:xfrm>
              <a:off x="163503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발주계획 정보</a:t>
              </a: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136961FD-CB76-E74A-0211-FB3C323A4A7A}"/>
                </a:ext>
              </a:extLst>
            </p:cNvPr>
            <p:cNvSpPr/>
            <p:nvPr/>
          </p:nvSpPr>
          <p:spPr>
            <a:xfrm>
              <a:off x="1848030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 참여현황</a:t>
              </a: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9A1BE144-984F-11B3-0BB0-E37C069EF984}"/>
                </a:ext>
              </a:extLst>
            </p:cNvPr>
            <p:cNvSpPr/>
            <p:nvPr/>
          </p:nvSpPr>
          <p:spPr>
            <a:xfrm>
              <a:off x="2694874" y="1596176"/>
              <a:ext cx="839130" cy="348918"/>
            </a:xfrm>
            <a:prstGeom prst="rect">
              <a:avLst/>
            </a:prstGeom>
            <a:solidFill>
              <a:srgbClr val="00B050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심사</a:t>
              </a:r>
              <a:r>
                <a:rPr lang="en-US" altLang="ko-KR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</a:t>
              </a:r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평가</a:t>
              </a:r>
            </a:p>
          </p:txBody>
        </p: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73A6610C-2E40-2272-C57F-5D39641A505F}"/>
                </a:ext>
              </a:extLst>
            </p:cNvPr>
            <p:cNvSpPr/>
            <p:nvPr/>
          </p:nvSpPr>
          <p:spPr>
            <a:xfrm>
              <a:off x="1004560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정보</a:t>
              </a:r>
            </a:p>
          </p:txBody>
        </p: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F1C9FC06-F0EE-DE0A-34C4-06FF602F85EE}"/>
                </a:ext>
              </a:extLst>
            </p:cNvPr>
            <p:cNvSpPr/>
            <p:nvPr/>
          </p:nvSpPr>
          <p:spPr>
            <a:xfrm>
              <a:off x="3532662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개찰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E601778-15E8-CA31-9B6E-B90E34F3CFE8}"/>
                </a:ext>
              </a:extLst>
            </p:cNvPr>
            <p:cNvSpPr/>
            <p:nvPr/>
          </p:nvSpPr>
          <p:spPr>
            <a:xfrm>
              <a:off x="4370291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낙찰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업체 선정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)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9E5EB2E7-DCBD-B2A3-7DF0-469741F6BAEE}"/>
                </a:ext>
              </a:extLst>
            </p:cNvPr>
            <p:cNvSpPr/>
            <p:nvPr/>
          </p:nvSpPr>
          <p:spPr>
            <a:xfrm>
              <a:off x="5213654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수의시담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69CB6C60-9F47-53B1-B1C8-7AB0573FB947}"/>
                </a:ext>
              </a:extLst>
            </p:cNvPr>
            <p:cNvSpPr/>
            <p:nvPr/>
          </p:nvSpPr>
          <p:spPr>
            <a:xfrm>
              <a:off x="6051872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계약 요청</a:t>
              </a:r>
            </a:p>
          </p:txBody>
        </p:sp>
      </p:grpSp>
      <p:sp>
        <p:nvSpPr>
          <p:cNvPr id="42" name="타원 41">
            <a:extLst>
              <a:ext uri="{FF2B5EF4-FFF2-40B4-BE49-F238E27FC236}">
                <a16:creationId xmlns:a16="http://schemas.microsoft.com/office/drawing/2014/main" id="{ED367538-1023-C040-BA39-EE192B98FC33}"/>
              </a:ext>
            </a:extLst>
          </p:cNvPr>
          <p:cNvSpPr/>
          <p:nvPr/>
        </p:nvSpPr>
        <p:spPr>
          <a:xfrm>
            <a:off x="2596024" y="1503217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451CF1C8-6E72-1FA3-351F-5FD38A2E86ED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478BB3B-F053-DAC5-34CA-C78B4A6A1B1D}"/>
              </a:ext>
            </a:extLst>
          </p:cNvPr>
          <p:cNvSpPr/>
          <p:nvPr/>
        </p:nvSpPr>
        <p:spPr>
          <a:xfrm>
            <a:off x="163503" y="5807243"/>
            <a:ext cx="699418" cy="288032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목록</a:t>
            </a:r>
          </a:p>
        </p:txBody>
      </p:sp>
    </p:spTree>
    <p:extLst>
      <p:ext uri="{BB962C8B-B14F-4D97-AF65-F5344CB8AC3E}">
        <p14:creationId xmlns:p14="http://schemas.microsoft.com/office/powerpoint/2010/main" val="2494514305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70ABC3-E791-239B-5472-A729BE6729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92906ECD-EEF0-5520-37F0-34F20F9622BB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D0EEEDF-96A5-3046-15C2-3C0C455B08E9}"/>
              </a:ext>
            </a:extLst>
          </p:cNvPr>
          <p:cNvSpPr txBox="1"/>
          <p:nvPr/>
        </p:nvSpPr>
        <p:spPr>
          <a:xfrm>
            <a:off x="8049344" y="584684"/>
            <a:ext cx="1856656" cy="23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자가심사가 있는 경우만 노출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81660F52-938C-AD77-D9E4-5B33877E83E2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662F860D-C627-C7B4-A268-7E1218867500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EE7DDEAB-BD79-BCEB-FD09-E11C3958346C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951DDEA0-54F2-9C01-D93A-F2903A18985A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2DF0ECAA-354F-D24B-F946-9CF05E3E216A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FD0F85A4-BC0E-7ADE-4AB5-E25F67594C4D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7" name="Picture 1">
            <a:extLst>
              <a:ext uri="{FF2B5EF4-FFF2-40B4-BE49-F238E27FC236}">
                <a16:creationId xmlns:a16="http://schemas.microsoft.com/office/drawing/2014/main" id="{6F3A1496-4651-EF85-4FF6-F9722FC4FE8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08AAC212-BBDD-7226-ECA6-09B7EE571FB0}"/>
              </a:ext>
            </a:extLst>
          </p:cNvPr>
          <p:cNvSpPr txBox="1"/>
          <p:nvPr/>
        </p:nvSpPr>
        <p:spPr>
          <a:xfrm>
            <a:off x="749224" y="25608"/>
            <a:ext cx="228780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B4BC9462-5A6A-D664-5C76-D4EB0A89B7D9}"/>
              </a:ext>
            </a:extLst>
          </p:cNvPr>
          <p:cNvSpPr txBox="1"/>
          <p:nvPr/>
        </p:nvSpPr>
        <p:spPr>
          <a:xfrm>
            <a:off x="-854365" y="4429125"/>
            <a:ext cx="184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8715476-5AF5-031B-385D-13A2D9952D93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계속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0FAAB95-3797-3DFF-00FE-3B7AA8AB1622}"/>
              </a:ext>
            </a:extLst>
          </p:cNvPr>
          <p:cNvSpPr/>
          <p:nvPr/>
        </p:nvSpPr>
        <p:spPr>
          <a:xfrm>
            <a:off x="183392" y="3454562"/>
            <a:ext cx="1332184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협력업체 기본 정보</a:t>
            </a:r>
            <a:endParaRPr lang="ko-KR" altLang="en-US" sz="9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11B4A293-5D2F-1446-62EA-3711BB6EA6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8856053"/>
              </p:ext>
            </p:extLst>
          </p:nvPr>
        </p:nvGraphicFramePr>
        <p:xfrm>
          <a:off x="184392" y="3731298"/>
          <a:ext cx="7720936" cy="2027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38070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382866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indent="-7200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회사명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주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큐비트엑스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대표자명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이홍태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, 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윤지병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30657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전화번호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02-833-1650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5298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업종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IT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인프라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81144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업태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소프트웨어개발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60256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주소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(12654)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경기도 고양시 일산서구 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강선로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118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강선마을아파트 제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208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동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1202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호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2349153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20D5EE49-A621-453B-6E45-CF7C3CB2FFD8}"/>
              </a:ext>
            </a:extLst>
          </p:cNvPr>
          <p:cNvSpPr/>
          <p:nvPr/>
        </p:nvSpPr>
        <p:spPr>
          <a:xfrm>
            <a:off x="2349084" y="3781070"/>
            <a:ext cx="1451788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2" charset="-127"/>
                <a:ea typeface="나눔고딕" pitchFamily="2" charset="-127"/>
              </a:rPr>
              <a:t>협력업체 상세정보 바로가기 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2" charset="-127"/>
                <a:ea typeface="나눔고딕" pitchFamily="2" charset="-127"/>
                <a:sym typeface="Wingdings" panose="05000000000000000000" pitchFamily="2" charset="2"/>
              </a:rPr>
              <a:t></a:t>
            </a:r>
            <a:endParaRPr lang="en-US" altLang="ko-KR" sz="800" b="0" dirty="0">
              <a:solidFill>
                <a:schemeClr val="tx1">
                  <a:lumMod val="75000"/>
                  <a:lumOff val="25000"/>
                </a:schemeClr>
              </a:solidFill>
              <a:latin typeface="나눔고딕" pitchFamily="2" charset="-127"/>
              <a:ea typeface="나눔고딕" pitchFamily="2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D3281FF9-6881-24E7-2256-41BEA7003EE7}"/>
              </a:ext>
            </a:extLst>
          </p:cNvPr>
          <p:cNvSpPr/>
          <p:nvPr/>
        </p:nvSpPr>
        <p:spPr>
          <a:xfrm>
            <a:off x="183392" y="2060848"/>
            <a:ext cx="1332184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참여 진행상황</a:t>
            </a:r>
            <a:endParaRPr lang="ko-KR" altLang="en-US" sz="9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D531A5F3-1B38-A983-2FBE-0FE4CFD211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5779926"/>
              </p:ext>
            </p:extLst>
          </p:nvPr>
        </p:nvGraphicFramePr>
        <p:xfrm>
          <a:off x="184392" y="2354836"/>
          <a:ext cx="7720936" cy="1013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38070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382866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indent="-7200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최종제출 여부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최종제출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미제출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46592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indent="-7200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 참여 일시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2026.07.31 15:34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indent="-7200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자가심사 여부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8400472"/>
                  </a:ext>
                </a:extLst>
              </a:tr>
            </a:tbl>
          </a:graphicData>
        </a:graphic>
      </p:graphicFrame>
      <p:sp>
        <p:nvSpPr>
          <p:cNvPr id="25" name="직사각형 24">
            <a:extLst>
              <a:ext uri="{FF2B5EF4-FFF2-40B4-BE49-F238E27FC236}">
                <a16:creationId xmlns:a16="http://schemas.microsoft.com/office/drawing/2014/main" id="{5ABE71E1-EF63-70F4-8CBE-79FD11DB4A19}"/>
              </a:ext>
            </a:extLst>
          </p:cNvPr>
          <p:cNvSpPr/>
          <p:nvPr/>
        </p:nvSpPr>
        <p:spPr>
          <a:xfrm>
            <a:off x="1582104" y="3089338"/>
            <a:ext cx="1074515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2" charset="-127"/>
                <a:ea typeface="나눔고딕" pitchFamily="2" charset="-127"/>
              </a:rPr>
              <a:t>자가 심사 정보 확인 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2" charset="-127"/>
                <a:ea typeface="나눔고딕" pitchFamily="2" charset="-127"/>
                <a:sym typeface="Wingdings" panose="05000000000000000000" pitchFamily="2" charset="2"/>
              </a:rPr>
              <a:t></a:t>
            </a:r>
            <a:endParaRPr lang="en-US" altLang="ko-KR" sz="800" b="0" dirty="0">
              <a:solidFill>
                <a:schemeClr val="tx1">
                  <a:lumMod val="75000"/>
                  <a:lumOff val="25000"/>
                </a:schemeClr>
              </a:solidFill>
              <a:latin typeface="나눔고딕" pitchFamily="2" charset="-127"/>
              <a:ea typeface="나눔고딕" pitchFamily="2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8EB225CD-E865-14B9-1271-02B9EFF72598}"/>
              </a:ext>
            </a:extLst>
          </p:cNvPr>
          <p:cNvSpPr/>
          <p:nvPr/>
        </p:nvSpPr>
        <p:spPr>
          <a:xfrm>
            <a:off x="4672843" y="2636626"/>
            <a:ext cx="5027009" cy="370869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700FB63-D7EE-54F6-50AE-DBED9FB2A915}"/>
              </a:ext>
            </a:extLst>
          </p:cNvPr>
          <p:cNvSpPr/>
          <p:nvPr/>
        </p:nvSpPr>
        <p:spPr>
          <a:xfrm>
            <a:off x="4672842" y="2636626"/>
            <a:ext cx="502406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자가 심사 정보 확인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4F3AF80C-2F54-87E8-2B1A-13BB12B7DC55}"/>
              </a:ext>
            </a:extLst>
          </p:cNvPr>
          <p:cNvSpPr/>
          <p:nvPr/>
        </p:nvSpPr>
        <p:spPr>
          <a:xfrm>
            <a:off x="9435528" y="2636626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99273E9-754B-1A18-1251-C3B53C00D90D}"/>
              </a:ext>
            </a:extLst>
          </p:cNvPr>
          <p:cNvSpPr/>
          <p:nvPr/>
        </p:nvSpPr>
        <p:spPr>
          <a:xfrm>
            <a:off x="4841252" y="3042451"/>
            <a:ext cx="1258358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자가 심사 정보 확인</a:t>
            </a: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DFFD11ED-D3BA-DC45-166F-3A5ECAF7F4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098538"/>
              </p:ext>
            </p:extLst>
          </p:nvPr>
        </p:nvGraphicFramePr>
        <p:xfrm>
          <a:off x="4836780" y="3372458"/>
          <a:ext cx="4719056" cy="337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12225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3406831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indent="-7200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회사명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주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큐비트엑스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</a:tbl>
          </a:graphicData>
        </a:graphic>
      </p:graphicFrame>
      <p:sp>
        <p:nvSpPr>
          <p:cNvPr id="47" name="직사각형 46">
            <a:extLst>
              <a:ext uri="{FF2B5EF4-FFF2-40B4-BE49-F238E27FC236}">
                <a16:creationId xmlns:a16="http://schemas.microsoft.com/office/drawing/2014/main" id="{F407D465-7517-944A-1424-8ABF09D7634A}"/>
              </a:ext>
            </a:extLst>
          </p:cNvPr>
          <p:cNvSpPr/>
          <p:nvPr/>
        </p:nvSpPr>
        <p:spPr>
          <a:xfrm>
            <a:off x="4836781" y="3796209"/>
            <a:ext cx="1332184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자가 심사</a:t>
            </a:r>
            <a:endParaRPr lang="ko-KR" altLang="en-US" sz="9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BD0B1CEE-A883-5CE2-2030-B78EAC98F35B}"/>
              </a:ext>
            </a:extLst>
          </p:cNvPr>
          <p:cNvSpPr/>
          <p:nvPr/>
        </p:nvSpPr>
        <p:spPr>
          <a:xfrm>
            <a:off x="8872546" y="5869680"/>
            <a:ext cx="699418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닫기</a:t>
            </a:r>
          </a:p>
        </p:txBody>
      </p:sp>
      <p:graphicFrame>
        <p:nvGraphicFramePr>
          <p:cNvPr id="59" name="표 58">
            <a:extLst>
              <a:ext uri="{FF2B5EF4-FFF2-40B4-BE49-F238E27FC236}">
                <a16:creationId xmlns:a16="http://schemas.microsoft.com/office/drawing/2014/main" id="{B3BB7F3D-2C31-1F04-AED5-BDF63B2D06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8267282"/>
              </p:ext>
            </p:extLst>
          </p:nvPr>
        </p:nvGraphicFramePr>
        <p:xfrm>
          <a:off x="4836780" y="4089245"/>
          <a:ext cx="4735184" cy="1689600"/>
        </p:xfrm>
        <a:graphic>
          <a:graphicData uri="http://schemas.openxmlformats.org/drawingml/2006/table">
            <a:tbl>
              <a:tblPr firstRow="1" bandRow="1"/>
              <a:tblGrid>
                <a:gridCol w="357417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854227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1201835">
                  <a:extLst>
                    <a:ext uri="{9D8B030D-6E8A-4147-A177-3AD203B41FA5}">
                      <a16:colId xmlns:a16="http://schemas.microsoft.com/office/drawing/2014/main" val="916893631"/>
                    </a:ext>
                  </a:extLst>
                </a:gridCol>
                <a:gridCol w="756676">
                  <a:extLst>
                    <a:ext uri="{9D8B030D-6E8A-4147-A177-3AD203B41FA5}">
                      <a16:colId xmlns:a16="http://schemas.microsoft.com/office/drawing/2014/main" val="2007680974"/>
                    </a:ext>
                  </a:extLst>
                </a:gridCol>
                <a:gridCol w="687945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877084">
                  <a:extLst>
                    <a:ext uri="{9D8B030D-6E8A-4147-A177-3AD203B41FA5}">
                      <a16:colId xmlns:a16="http://schemas.microsoft.com/office/drawing/2014/main" val="196387936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No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심사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/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평가 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심사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/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평가 항목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자가심사 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배점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평가점수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계량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정량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신용평가등급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필요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4.42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계량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정량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시공경험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일반공사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필요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10.00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계량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정량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영업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기간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필요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5.00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합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15.42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6865154"/>
                  </a:ext>
                </a:extLst>
              </a:tr>
            </a:tbl>
          </a:graphicData>
        </a:graphic>
      </p:graphicFrame>
      <p:cxnSp>
        <p:nvCxnSpPr>
          <p:cNvPr id="60" name="연결선: 꺾임 59">
            <a:extLst>
              <a:ext uri="{FF2B5EF4-FFF2-40B4-BE49-F238E27FC236}">
                <a16:creationId xmlns:a16="http://schemas.microsoft.com/office/drawing/2014/main" id="{535BA1FC-7E67-B42B-614E-367883278F9F}"/>
              </a:ext>
            </a:extLst>
          </p:cNvPr>
          <p:cNvCxnSpPr>
            <a:cxnSpLocks/>
            <a:stCxn id="25" idx="3"/>
          </p:cNvCxnSpPr>
          <p:nvPr/>
        </p:nvCxnSpPr>
        <p:spPr>
          <a:xfrm>
            <a:off x="2656619" y="3197059"/>
            <a:ext cx="2016224" cy="1328104"/>
          </a:xfrm>
          <a:prstGeom prst="bentConnector3">
            <a:avLst>
              <a:gd name="adj1" fmla="val 50000"/>
            </a:avLst>
          </a:prstGeom>
          <a:ln>
            <a:solidFill>
              <a:srgbClr val="C00000"/>
            </a:solidFill>
            <a:prstDash val="sysDash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타원 66">
            <a:extLst>
              <a:ext uri="{FF2B5EF4-FFF2-40B4-BE49-F238E27FC236}">
                <a16:creationId xmlns:a16="http://schemas.microsoft.com/office/drawing/2014/main" id="{C3F5AFAE-12AD-1942-B3EB-DFAAEFC9B664}"/>
              </a:ext>
            </a:extLst>
          </p:cNvPr>
          <p:cNvSpPr/>
          <p:nvPr/>
        </p:nvSpPr>
        <p:spPr>
          <a:xfrm>
            <a:off x="1456095" y="2977068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21FF4206-0FDC-F199-C825-306502A265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6978870"/>
              </p:ext>
            </p:extLst>
          </p:nvPr>
        </p:nvGraphicFramePr>
        <p:xfrm>
          <a:off x="164466" y="817960"/>
          <a:ext cx="7732447" cy="675840"/>
        </p:xfrm>
        <a:graphic>
          <a:graphicData uri="http://schemas.openxmlformats.org/drawingml/2006/table">
            <a:tbl>
              <a:tblPr firstRow="1" bandRow="1"/>
              <a:tblGrid>
                <a:gridCol w="83838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763949">
                  <a:extLst>
                    <a:ext uri="{9D8B030D-6E8A-4147-A177-3AD203B41FA5}">
                      <a16:colId xmlns:a16="http://schemas.microsoft.com/office/drawing/2014/main" val="1731736782"/>
                    </a:ext>
                  </a:extLst>
                </a:gridCol>
                <a:gridCol w="616894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821542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289563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1002816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1092824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628938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677541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재공고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입찰마감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grpSp>
        <p:nvGrpSpPr>
          <p:cNvPr id="5" name="그룹 4">
            <a:extLst>
              <a:ext uri="{FF2B5EF4-FFF2-40B4-BE49-F238E27FC236}">
                <a16:creationId xmlns:a16="http://schemas.microsoft.com/office/drawing/2014/main" id="{EAE22ED4-ECF1-AB3B-DE53-F33AED88783F}"/>
              </a:ext>
            </a:extLst>
          </p:cNvPr>
          <p:cNvGrpSpPr/>
          <p:nvPr/>
        </p:nvGrpSpPr>
        <p:grpSpPr>
          <a:xfrm>
            <a:off x="163503" y="1596176"/>
            <a:ext cx="7741824" cy="348918"/>
            <a:chOff x="163503" y="1596176"/>
            <a:chExt cx="7741824" cy="348918"/>
          </a:xfrm>
        </p:grpSpPr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115164B6-EBFB-E893-E94F-4FCEB34FC0D6}"/>
                </a:ext>
              </a:extLst>
            </p:cNvPr>
            <p:cNvCxnSpPr>
              <a:cxnSpLocks/>
            </p:cNvCxnSpPr>
            <p:nvPr/>
          </p:nvCxnSpPr>
          <p:spPr>
            <a:xfrm>
              <a:off x="167468" y="1941219"/>
              <a:ext cx="7737859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5F0C11C2-F375-F86B-8221-2C421634548E}"/>
                </a:ext>
              </a:extLst>
            </p:cNvPr>
            <p:cNvSpPr/>
            <p:nvPr/>
          </p:nvSpPr>
          <p:spPr>
            <a:xfrm>
              <a:off x="163503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발주계획 정보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97AF7698-CB07-B3A4-F260-F39E586832B3}"/>
                </a:ext>
              </a:extLst>
            </p:cNvPr>
            <p:cNvSpPr/>
            <p:nvPr/>
          </p:nvSpPr>
          <p:spPr>
            <a:xfrm>
              <a:off x="1848030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 참여현황</a:t>
              </a: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E691B750-323C-9C88-1C88-33FE1351E63F}"/>
                </a:ext>
              </a:extLst>
            </p:cNvPr>
            <p:cNvSpPr/>
            <p:nvPr/>
          </p:nvSpPr>
          <p:spPr>
            <a:xfrm>
              <a:off x="2694874" y="1596176"/>
              <a:ext cx="839130" cy="348918"/>
            </a:xfrm>
            <a:prstGeom prst="rect">
              <a:avLst/>
            </a:prstGeom>
            <a:solidFill>
              <a:srgbClr val="00B050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심사</a:t>
              </a:r>
              <a:r>
                <a:rPr lang="en-US" altLang="ko-KR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</a:t>
              </a:r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평가</a:t>
              </a:r>
            </a:p>
          </p:txBody>
        </p: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F4AC7601-533C-9962-47A6-A2AAD906D0BF}"/>
                </a:ext>
              </a:extLst>
            </p:cNvPr>
            <p:cNvSpPr/>
            <p:nvPr/>
          </p:nvSpPr>
          <p:spPr>
            <a:xfrm>
              <a:off x="1004560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정보</a:t>
              </a: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19710C45-1200-3C24-D331-856E0B60A8EC}"/>
                </a:ext>
              </a:extLst>
            </p:cNvPr>
            <p:cNvSpPr/>
            <p:nvPr/>
          </p:nvSpPr>
          <p:spPr>
            <a:xfrm>
              <a:off x="3532662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개찰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645C7FBF-27AC-B9EF-9E5A-D8200036A822}"/>
                </a:ext>
              </a:extLst>
            </p:cNvPr>
            <p:cNvSpPr/>
            <p:nvPr/>
          </p:nvSpPr>
          <p:spPr>
            <a:xfrm>
              <a:off x="4370291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낙찰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업체 선정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)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31FF5ACE-F380-E7AC-7028-4CD903C7DC3A}"/>
                </a:ext>
              </a:extLst>
            </p:cNvPr>
            <p:cNvSpPr/>
            <p:nvPr/>
          </p:nvSpPr>
          <p:spPr>
            <a:xfrm>
              <a:off x="5213654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수의시담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38A18BA3-BD82-0241-208D-3C73107622C6}"/>
                </a:ext>
              </a:extLst>
            </p:cNvPr>
            <p:cNvSpPr/>
            <p:nvPr/>
          </p:nvSpPr>
          <p:spPr>
            <a:xfrm>
              <a:off x="6051872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계약 요청</a:t>
              </a:r>
            </a:p>
          </p:txBody>
        </p:sp>
      </p:grp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9F2022E1-6BCA-5571-3945-C0C7F4401275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15917716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C45F9C-7E37-9C2A-61D8-8780373F48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110F2123-FC9F-891F-AC62-5356A05AE7EF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7933556-3F61-4BF4-C969-451D05257011}"/>
              </a:ext>
            </a:extLst>
          </p:cNvPr>
          <p:cNvSpPr txBox="1"/>
          <p:nvPr/>
        </p:nvSpPr>
        <p:spPr>
          <a:xfrm>
            <a:off x="8049344" y="584684"/>
            <a:ext cx="1856656" cy="19143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평가를 진행하기 전에는 당연히 평가점수는 노출될 수 없음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평가전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으로 표시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뒤 페이지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심사/평가하기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팝업창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호출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당연히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심사완료 처리 후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진행상태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심사완료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에는 더 이상 평가 점수를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수정할 수 없음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4C489B1-AD61-CA5F-9BD8-49CBE788D9FD}"/>
              </a:ext>
            </a:extLst>
          </p:cNvPr>
          <p:cNvSpPr txBox="1"/>
          <p:nvPr/>
        </p:nvSpPr>
        <p:spPr>
          <a:xfrm>
            <a:off x="749224" y="25608"/>
            <a:ext cx="225895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6F34B687-A70B-194A-97FC-25B0988412A1}"/>
              </a:ext>
            </a:extLst>
          </p:cNvPr>
          <p:cNvSpPr/>
          <p:nvPr/>
        </p:nvSpPr>
        <p:spPr>
          <a:xfrm>
            <a:off x="184392" y="5951933"/>
            <a:ext cx="699418" cy="288032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목록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950DF9B1-F6AD-04AF-1FA2-87C920EB8262}"/>
              </a:ext>
            </a:extLst>
          </p:cNvPr>
          <p:cNvSpPr/>
          <p:nvPr/>
        </p:nvSpPr>
        <p:spPr>
          <a:xfrm>
            <a:off x="181506" y="395760"/>
            <a:ext cx="1313872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본 입찰의 담당자 정보</a:t>
            </a:r>
            <a:endParaRPr lang="ko-KR" altLang="en-US" sz="9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7B472EAF-EBAD-6FA3-35C5-716EC89DA3A2}"/>
              </a:ext>
            </a:extLst>
          </p:cNvPr>
          <p:cNvSpPr/>
          <p:nvPr/>
        </p:nvSpPr>
        <p:spPr>
          <a:xfrm>
            <a:off x="183392" y="1484784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참여 서류</a:t>
            </a:r>
            <a:endParaRPr lang="ko-KR" altLang="en-US" sz="80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8F14482A-C493-C29A-80D3-BF56E77B167D}"/>
              </a:ext>
            </a:extLst>
          </p:cNvPr>
          <p:cNvGraphicFramePr>
            <a:graphicFrameLocks noGrp="1"/>
          </p:cNvGraphicFramePr>
          <p:nvPr/>
        </p:nvGraphicFramePr>
        <p:xfrm>
          <a:off x="163194" y="1764190"/>
          <a:ext cx="7680833" cy="1689600"/>
        </p:xfrm>
        <a:graphic>
          <a:graphicData uri="http://schemas.openxmlformats.org/drawingml/2006/table">
            <a:tbl>
              <a:tblPr firstRow="1" bandRow="1"/>
              <a:tblGrid>
                <a:gridCol w="411935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1871268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5397630">
                  <a:extLst>
                    <a:ext uri="{9D8B030D-6E8A-4147-A177-3AD203B41FA5}">
                      <a16:colId xmlns:a16="http://schemas.microsoft.com/office/drawing/2014/main" val="91689363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No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참여 서류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첨부파일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입찰참가신청서 날인본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신용평가등급 확인서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법인인감 증명서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9541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기타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8093012"/>
                  </a:ext>
                </a:extLst>
              </a:tr>
            </a:tbl>
          </a:graphicData>
        </a:graphic>
      </p:graphicFrame>
      <p:grpSp>
        <p:nvGrpSpPr>
          <p:cNvPr id="71" name="그룹 70">
            <a:extLst>
              <a:ext uri="{FF2B5EF4-FFF2-40B4-BE49-F238E27FC236}">
                <a16:creationId xmlns:a16="http://schemas.microsoft.com/office/drawing/2014/main" id="{3DBF8859-F8CA-F5D8-5829-9BFA1AC600A9}"/>
              </a:ext>
            </a:extLst>
          </p:cNvPr>
          <p:cNvGrpSpPr/>
          <p:nvPr/>
        </p:nvGrpSpPr>
        <p:grpSpPr>
          <a:xfrm>
            <a:off x="3497512" y="2162774"/>
            <a:ext cx="1275802" cy="198885"/>
            <a:chOff x="3437130" y="2162774"/>
            <a:chExt cx="1275802" cy="198885"/>
          </a:xfrm>
        </p:grpSpPr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C6C1EF97-1FB6-1F0A-24B5-732C7D34601F}"/>
                </a:ext>
              </a:extLst>
            </p:cNvPr>
            <p:cNvSpPr/>
            <p:nvPr/>
          </p:nvSpPr>
          <p:spPr>
            <a:xfrm>
              <a:off x="3437130" y="216277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F5A38C1-543D-0FAE-0109-17FB5CA9CAA1}"/>
                </a:ext>
              </a:extLst>
            </p:cNvPr>
            <p:cNvSpPr/>
            <p:nvPr/>
          </p:nvSpPr>
          <p:spPr>
            <a:xfrm>
              <a:off x="4099967" y="216277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4279025C-0873-4AC2-ED58-A2C3724B34C4}"/>
              </a:ext>
            </a:extLst>
          </p:cNvPr>
          <p:cNvGrpSpPr/>
          <p:nvPr/>
        </p:nvGrpSpPr>
        <p:grpSpPr>
          <a:xfrm>
            <a:off x="3497512" y="2838830"/>
            <a:ext cx="1275802" cy="198885"/>
            <a:chOff x="3545142" y="4085591"/>
            <a:chExt cx="1275802" cy="198885"/>
          </a:xfrm>
        </p:grpSpPr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9D5DB1EB-82CC-8D92-221D-F2A01E5EAE75}"/>
                </a:ext>
              </a:extLst>
            </p:cNvPr>
            <p:cNvSpPr/>
            <p:nvPr/>
          </p:nvSpPr>
          <p:spPr>
            <a:xfrm>
              <a:off x="3545142" y="4085591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82E50240-1407-5185-2909-212F054DE8EA}"/>
                </a:ext>
              </a:extLst>
            </p:cNvPr>
            <p:cNvSpPr/>
            <p:nvPr/>
          </p:nvSpPr>
          <p:spPr>
            <a:xfrm>
              <a:off x="4207979" y="4085591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C90A7342-7B8B-B469-AF43-A1FFB1378DDB}"/>
              </a:ext>
            </a:extLst>
          </p:cNvPr>
          <p:cNvGrpSpPr/>
          <p:nvPr/>
        </p:nvGrpSpPr>
        <p:grpSpPr>
          <a:xfrm>
            <a:off x="3497512" y="3176859"/>
            <a:ext cx="1275802" cy="198885"/>
            <a:chOff x="3545142" y="4085591"/>
            <a:chExt cx="1275802" cy="198885"/>
          </a:xfrm>
        </p:grpSpPr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D2EBEAD7-E265-A368-C7DF-6DC79472D2F6}"/>
                </a:ext>
              </a:extLst>
            </p:cNvPr>
            <p:cNvSpPr/>
            <p:nvPr/>
          </p:nvSpPr>
          <p:spPr>
            <a:xfrm>
              <a:off x="3545142" y="4085591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79243636-C4A5-1EFC-D82B-460DC6930B13}"/>
                </a:ext>
              </a:extLst>
            </p:cNvPr>
            <p:cNvSpPr/>
            <p:nvPr/>
          </p:nvSpPr>
          <p:spPr>
            <a:xfrm>
              <a:off x="4207979" y="4085591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9E3AC519-3C65-DA0F-87D5-41D0D34DA56C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D7B9211A-FF39-EBEA-62D5-0BF3998627D1}"/>
              </a:ext>
            </a:extLst>
          </p:cNvPr>
          <p:cNvSpPr/>
          <p:nvPr/>
        </p:nvSpPr>
        <p:spPr>
          <a:xfrm>
            <a:off x="6717195" y="5951933"/>
            <a:ext cx="1126830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 하기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 </a:t>
            </a:r>
            <a:endParaRPr lang="ko-KR" altLang="en-US" sz="9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CEF315E3-C4A1-2075-DE7A-49437B91ADE4}"/>
              </a:ext>
            </a:extLst>
          </p:cNvPr>
          <p:cNvSpPr/>
          <p:nvPr/>
        </p:nvSpPr>
        <p:spPr>
          <a:xfrm>
            <a:off x="183392" y="3537012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</a:t>
            </a:r>
            <a:endParaRPr lang="ko-KR" altLang="en-US" sz="80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66" name="표 65">
            <a:extLst>
              <a:ext uri="{FF2B5EF4-FFF2-40B4-BE49-F238E27FC236}">
                <a16:creationId xmlns:a16="http://schemas.microsoft.com/office/drawing/2014/main" id="{43D917BE-136C-E41B-1769-4DBF5C7D6A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0210772"/>
              </p:ext>
            </p:extLst>
          </p:nvPr>
        </p:nvGraphicFramePr>
        <p:xfrm>
          <a:off x="181505" y="3800678"/>
          <a:ext cx="7662520" cy="2027520"/>
        </p:xfrm>
        <a:graphic>
          <a:graphicData uri="http://schemas.openxmlformats.org/drawingml/2006/table">
            <a:tbl>
              <a:tblPr firstRow="1" bandRow="1"/>
              <a:tblGrid>
                <a:gridCol w="393912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1284069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3002975">
                  <a:extLst>
                    <a:ext uri="{9D8B030D-6E8A-4147-A177-3AD203B41FA5}">
                      <a16:colId xmlns:a16="http://schemas.microsoft.com/office/drawing/2014/main" val="916893631"/>
                    </a:ext>
                  </a:extLst>
                </a:gridCol>
                <a:gridCol w="892897">
                  <a:extLst>
                    <a:ext uri="{9D8B030D-6E8A-4147-A177-3AD203B41FA5}">
                      <a16:colId xmlns:a16="http://schemas.microsoft.com/office/drawing/2014/main" val="2007680974"/>
                    </a:ext>
                  </a:extLst>
                </a:gridCol>
                <a:gridCol w="573966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1514701">
                  <a:extLst>
                    <a:ext uri="{9D8B030D-6E8A-4147-A177-3AD203B41FA5}">
                      <a16:colId xmlns:a16="http://schemas.microsoft.com/office/drawing/2014/main" val="196387936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No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심사항목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심사기준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자가심사 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배점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규격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기술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평가점수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신용평가등급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첨부된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‘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배점 및 평가기준 관련 파일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’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을 확인하세요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.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필요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심사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평가 전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 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4.00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시공경험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일반공사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제안요청서 내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‘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배점 및 평가기준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’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을 확인하세요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.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필요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심사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평가 전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10.00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영업기간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-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필요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심사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평가 전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4.00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제안 평가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제안서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발표자료의 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충실성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사업의 이해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기술부문 등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불필요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60.00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심사/평가 전  | 50.00 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507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합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80.00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심사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평가 전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68.00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6865154"/>
                  </a:ext>
                </a:extLst>
              </a:tr>
            </a:tbl>
          </a:graphicData>
        </a:graphic>
      </p:graphicFrame>
      <p:grpSp>
        <p:nvGrpSpPr>
          <p:cNvPr id="68" name="그룹 67">
            <a:extLst>
              <a:ext uri="{FF2B5EF4-FFF2-40B4-BE49-F238E27FC236}">
                <a16:creationId xmlns:a16="http://schemas.microsoft.com/office/drawing/2014/main" id="{180A5E33-1CF3-0C24-0C19-9C4FAC5AA8B8}"/>
              </a:ext>
            </a:extLst>
          </p:cNvPr>
          <p:cNvGrpSpPr/>
          <p:nvPr/>
        </p:nvGrpSpPr>
        <p:grpSpPr>
          <a:xfrm>
            <a:off x="3497512" y="2500802"/>
            <a:ext cx="1275802" cy="198885"/>
            <a:chOff x="3545142" y="4085591"/>
            <a:chExt cx="1275802" cy="198885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D527855B-1123-1108-FB4E-8C223082769F}"/>
                </a:ext>
              </a:extLst>
            </p:cNvPr>
            <p:cNvSpPr/>
            <p:nvPr/>
          </p:nvSpPr>
          <p:spPr>
            <a:xfrm>
              <a:off x="3545142" y="4085591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230A5A20-9D0F-F8B4-7216-727343835A0F}"/>
                </a:ext>
              </a:extLst>
            </p:cNvPr>
            <p:cNvSpPr/>
            <p:nvPr/>
          </p:nvSpPr>
          <p:spPr>
            <a:xfrm>
              <a:off x="4207979" y="4085591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CA406102-1853-EF9D-69F3-5427C85238DB}"/>
              </a:ext>
            </a:extLst>
          </p:cNvPr>
          <p:cNvGraphicFramePr>
            <a:graphicFrameLocks noGrp="1"/>
          </p:cNvGraphicFramePr>
          <p:nvPr/>
        </p:nvGraphicFramePr>
        <p:xfrm>
          <a:off x="181506" y="692418"/>
          <a:ext cx="7662521" cy="67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1304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747979">
                  <a:extLst>
                    <a:ext uri="{9D8B030D-6E8A-4147-A177-3AD203B41FA5}">
                      <a16:colId xmlns:a16="http://schemas.microsoft.com/office/drawing/2014/main" val="1183147798"/>
                    </a:ext>
                  </a:extLst>
                </a:gridCol>
                <a:gridCol w="506078">
                  <a:extLst>
                    <a:ext uri="{9D8B030D-6E8A-4147-A177-3AD203B41FA5}">
                      <a16:colId xmlns:a16="http://schemas.microsoft.com/office/drawing/2014/main" val="296951377"/>
                    </a:ext>
                  </a:extLst>
                </a:gridCol>
                <a:gridCol w="386312">
                  <a:extLst>
                    <a:ext uri="{9D8B030D-6E8A-4147-A177-3AD203B41FA5}">
                      <a16:colId xmlns:a16="http://schemas.microsoft.com/office/drawing/2014/main" val="2761937130"/>
                    </a:ext>
                  </a:extLst>
                </a:gridCol>
                <a:gridCol w="1261268">
                  <a:extLst>
                    <a:ext uri="{9D8B030D-6E8A-4147-A177-3AD203B41FA5}">
                      <a16:colId xmlns:a16="http://schemas.microsoft.com/office/drawing/2014/main" val="1266029869"/>
                    </a:ext>
                  </a:extLst>
                </a:gridCol>
                <a:gridCol w="1023185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  <a:gridCol w="954824">
                  <a:extLst>
                    <a:ext uri="{9D8B030D-6E8A-4147-A177-3AD203B41FA5}">
                      <a16:colId xmlns:a16="http://schemas.microsoft.com/office/drawing/2014/main" val="3329224653"/>
                    </a:ext>
                  </a:extLst>
                </a:gridCol>
                <a:gridCol w="1242299">
                  <a:extLst>
                    <a:ext uri="{9D8B030D-6E8A-4147-A177-3AD203B41FA5}">
                      <a16:colId xmlns:a16="http://schemas.microsoft.com/office/drawing/2014/main" val="2705196257"/>
                    </a:ext>
                  </a:extLst>
                </a:gridCol>
                <a:gridCol w="1199272">
                  <a:extLst>
                    <a:ext uri="{9D8B030D-6E8A-4147-A177-3AD203B41FA5}">
                      <a16:colId xmlns:a16="http://schemas.microsoft.com/office/drawing/2014/main" val="134526230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No</a:t>
                      </a:r>
                      <a:endParaRPr lang="ko-KR" altLang="en-US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담당자 구분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이름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직책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이메일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핸드폰번호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전화번호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담당업무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수동 메일</a:t>
                      </a: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메시지 발송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기본 담당자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이희성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이사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leehee43@naver.com</a:t>
                      </a:r>
                      <a:endParaRPr lang="ko-KR" altLang="en-US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010-6844-2810</a:t>
                      </a:r>
                      <a:endParaRPr lang="ko-KR" altLang="en-US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02-6959-9856</a:t>
                      </a:r>
                      <a:endParaRPr lang="ko-KR" altLang="en-US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사내 입찰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계약 담당자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6267722-2D0C-2E01-5AF4-B76BA73BB321}"/>
              </a:ext>
            </a:extLst>
          </p:cNvPr>
          <p:cNvSpPr/>
          <p:nvPr/>
        </p:nvSpPr>
        <p:spPr>
          <a:xfrm>
            <a:off x="6725822" y="1083249"/>
            <a:ext cx="1044061" cy="215441"/>
          </a:xfrm>
          <a:prstGeom prst="rect">
            <a:avLst/>
          </a:prstGeom>
          <a:solidFill>
            <a:srgbClr val="FFC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2" charset="-127"/>
                <a:ea typeface="나눔고딕" pitchFamily="2" charset="-127"/>
              </a:rPr>
              <a:t>수동 메일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2" charset="-127"/>
                <a:ea typeface="나눔고딕" pitchFamily="2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2" charset="-127"/>
                <a:ea typeface="나눔고딕" pitchFamily="2" charset="-127"/>
              </a:rPr>
              <a:t>메시지 발송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itchFamily="2" charset="-127"/>
              <a:ea typeface="나눔고딕" pitchFamily="2" charset="-127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00E27767-D3C3-E1DA-A3AB-A19843A8E129}"/>
              </a:ext>
            </a:extLst>
          </p:cNvPr>
          <p:cNvSpPr/>
          <p:nvPr/>
        </p:nvSpPr>
        <p:spPr>
          <a:xfrm>
            <a:off x="6609183" y="5856390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0D789631-90C6-9ACE-690D-C69C2420BEF8}"/>
              </a:ext>
            </a:extLst>
          </p:cNvPr>
          <p:cNvSpPr/>
          <p:nvPr/>
        </p:nvSpPr>
        <p:spPr>
          <a:xfrm>
            <a:off x="6213140" y="3703165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9792851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16ADBB-8C15-AE82-3293-983246871B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7ED4ECF2-6C8D-99E9-1368-9D849FA01453}"/>
              </a:ext>
            </a:extLst>
          </p:cNvPr>
          <p:cNvSpPr/>
          <p:nvPr/>
        </p:nvSpPr>
        <p:spPr>
          <a:xfrm>
            <a:off x="164469" y="368660"/>
            <a:ext cx="6552727" cy="4068452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5A7A5830-58C7-EA2E-76CA-BA6CDC02C59A}"/>
              </a:ext>
            </a:extLst>
          </p:cNvPr>
          <p:cNvSpPr/>
          <p:nvPr/>
        </p:nvSpPr>
        <p:spPr>
          <a:xfrm>
            <a:off x="164469" y="368660"/>
            <a:ext cx="6548884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평가 하기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0F37B0F8-0BFE-DDAE-865D-8AB86F8E08AB}"/>
              </a:ext>
            </a:extLst>
          </p:cNvPr>
          <p:cNvSpPr/>
          <p:nvPr/>
        </p:nvSpPr>
        <p:spPr>
          <a:xfrm>
            <a:off x="6443353" y="368660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F1FCB1A-46E8-7005-782E-CA09CE4912E6}"/>
              </a:ext>
            </a:extLst>
          </p:cNvPr>
          <p:cNvSpPr/>
          <p:nvPr/>
        </p:nvSpPr>
        <p:spPr>
          <a:xfrm>
            <a:off x="332879" y="774485"/>
            <a:ext cx="965008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 하기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41265ED8-003D-C337-BA56-C034BA3D7B3F}"/>
              </a:ext>
            </a:extLst>
          </p:cNvPr>
          <p:cNvSpPr txBox="1"/>
          <p:nvPr/>
        </p:nvSpPr>
        <p:spPr>
          <a:xfrm>
            <a:off x="749224" y="25608"/>
            <a:ext cx="28696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&gt; 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D856D01-70A1-0DBA-84BD-E38A5BEDF718}"/>
              </a:ext>
            </a:extLst>
          </p:cNvPr>
          <p:cNvSpPr txBox="1"/>
          <p:nvPr/>
        </p:nvSpPr>
        <p:spPr>
          <a:xfrm>
            <a:off x="8049344" y="584684"/>
            <a:ext cx="1856656" cy="23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0934F396-BCF6-7856-505B-57245A0EEE8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0491312"/>
              </p:ext>
            </p:extLst>
          </p:nvPr>
        </p:nvGraphicFramePr>
        <p:xfrm>
          <a:off x="328407" y="1104492"/>
          <a:ext cx="6256571" cy="337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12225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4944346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indent="-7200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회사명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주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큐비트엑스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D19F83D5-CC97-9BBD-3EC2-4CDEE6334C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5189579"/>
              </p:ext>
            </p:extLst>
          </p:nvPr>
        </p:nvGraphicFramePr>
        <p:xfrm>
          <a:off x="328408" y="1822879"/>
          <a:ext cx="6256572" cy="2027520"/>
        </p:xfrm>
        <a:graphic>
          <a:graphicData uri="http://schemas.openxmlformats.org/drawingml/2006/table">
            <a:tbl>
              <a:tblPr firstRow="1" bandRow="1"/>
              <a:tblGrid>
                <a:gridCol w="309100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100760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2356413">
                  <a:extLst>
                    <a:ext uri="{9D8B030D-6E8A-4147-A177-3AD203B41FA5}">
                      <a16:colId xmlns:a16="http://schemas.microsoft.com/office/drawing/2014/main" val="916893631"/>
                    </a:ext>
                  </a:extLst>
                </a:gridCol>
                <a:gridCol w="700650">
                  <a:extLst>
                    <a:ext uri="{9D8B030D-6E8A-4147-A177-3AD203B41FA5}">
                      <a16:colId xmlns:a16="http://schemas.microsoft.com/office/drawing/2014/main" val="2007680974"/>
                    </a:ext>
                  </a:extLst>
                </a:gridCol>
                <a:gridCol w="450387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1432422">
                  <a:extLst>
                    <a:ext uri="{9D8B030D-6E8A-4147-A177-3AD203B41FA5}">
                      <a16:colId xmlns:a16="http://schemas.microsoft.com/office/drawing/2014/main" val="196387936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No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심사항목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심사기준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자가심사 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배점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규격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기술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평가점수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신용평가등급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첨부된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‘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배점 및 평가기준 관련 파일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’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을 확인하세요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.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필요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시공경험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일반공사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제안요청서 내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‘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배점 및 평가기준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’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을 확인하세요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.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필요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영업기간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-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필요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제안 평가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제안서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발표자료의 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충실성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사업의 이해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기술부문 등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불필요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60.00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507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합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80.00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75.42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6865154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307061AA-8E11-ADAC-4060-996610997984}"/>
              </a:ext>
            </a:extLst>
          </p:cNvPr>
          <p:cNvSpPr/>
          <p:nvPr/>
        </p:nvSpPr>
        <p:spPr>
          <a:xfrm>
            <a:off x="5257134" y="2216013"/>
            <a:ext cx="1104422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숫자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(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소수점 가능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)</a:t>
            </a:r>
            <a:endParaRPr lang="ko-KR" altLang="en-US" sz="8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B7603EB1-1686-4A8A-E2C5-575B87DE094D}"/>
              </a:ext>
            </a:extLst>
          </p:cNvPr>
          <p:cNvSpPr/>
          <p:nvPr/>
        </p:nvSpPr>
        <p:spPr>
          <a:xfrm>
            <a:off x="5257134" y="2550408"/>
            <a:ext cx="1104422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lvl="0" algn="l">
              <a:defRPr/>
            </a:pPr>
            <a:r>
              <a:rPr lang="ko-KR" altLang="en-US" sz="800" b="0" dirty="0">
                <a:solidFill>
                  <a:prstClr val="white">
                    <a:lumMod val="50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숫자</a:t>
            </a:r>
            <a:r>
              <a:rPr lang="en-US" altLang="ko-KR" sz="800" b="0" dirty="0">
                <a:solidFill>
                  <a:prstClr val="white">
                    <a:lumMod val="50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b="0" dirty="0">
                <a:solidFill>
                  <a:prstClr val="white">
                    <a:lumMod val="50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소수점 가능</a:t>
            </a:r>
            <a:r>
              <a:rPr lang="en-US" altLang="ko-KR" sz="800" b="0" dirty="0">
                <a:solidFill>
                  <a:prstClr val="white">
                    <a:lumMod val="50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F2085BB4-7C7B-AF69-4D30-FD6B6ACDBA59}"/>
              </a:ext>
            </a:extLst>
          </p:cNvPr>
          <p:cNvSpPr/>
          <p:nvPr/>
        </p:nvSpPr>
        <p:spPr>
          <a:xfrm>
            <a:off x="5257134" y="2896257"/>
            <a:ext cx="1104422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lvl="0" algn="l">
              <a:defRPr/>
            </a:pPr>
            <a:r>
              <a:rPr lang="ko-KR" altLang="en-US" sz="800" b="0" dirty="0">
                <a:solidFill>
                  <a:prstClr val="white">
                    <a:lumMod val="50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숫자</a:t>
            </a:r>
            <a:r>
              <a:rPr lang="en-US" altLang="ko-KR" sz="800" b="0" dirty="0">
                <a:solidFill>
                  <a:prstClr val="white">
                    <a:lumMod val="50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b="0" dirty="0">
                <a:solidFill>
                  <a:prstClr val="white">
                    <a:lumMod val="50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소수점 가능</a:t>
            </a:r>
            <a:r>
              <a:rPr lang="en-US" altLang="ko-KR" sz="800" b="0" dirty="0">
                <a:solidFill>
                  <a:prstClr val="white">
                    <a:lumMod val="50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07C49CD1-935A-D893-664F-6EFCE6C91246}"/>
              </a:ext>
            </a:extLst>
          </p:cNvPr>
          <p:cNvSpPr/>
          <p:nvPr/>
        </p:nvSpPr>
        <p:spPr>
          <a:xfrm>
            <a:off x="328408" y="1528243"/>
            <a:ext cx="1332184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</a:t>
            </a:r>
            <a:endParaRPr lang="ko-KR" altLang="en-US" sz="9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05705477-A908-ED2A-13E6-AE2AE246A646}"/>
              </a:ext>
            </a:extLst>
          </p:cNvPr>
          <p:cNvSpPr/>
          <p:nvPr/>
        </p:nvSpPr>
        <p:spPr>
          <a:xfrm>
            <a:off x="4376936" y="3969353"/>
            <a:ext cx="699418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저장</a:t>
            </a:r>
            <a:endParaRPr lang="ko-KR" altLang="en-US" sz="9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983391EE-0CA2-768C-EBBD-B8A9E8211277}"/>
              </a:ext>
            </a:extLst>
          </p:cNvPr>
          <p:cNvSpPr/>
          <p:nvPr/>
        </p:nvSpPr>
        <p:spPr>
          <a:xfrm>
            <a:off x="5133370" y="3969353"/>
            <a:ext cx="699418" cy="28803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초기화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4643ED18-E1CF-2C14-9D52-397DEE7B912A}"/>
              </a:ext>
            </a:extLst>
          </p:cNvPr>
          <p:cNvSpPr/>
          <p:nvPr/>
        </p:nvSpPr>
        <p:spPr>
          <a:xfrm>
            <a:off x="5257134" y="3230811"/>
            <a:ext cx="1104422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lvl="0" algn="l">
              <a:defRPr/>
            </a:pPr>
            <a:r>
              <a:rPr lang="ko-KR" altLang="en-US" sz="800" b="0" dirty="0">
                <a:solidFill>
                  <a:prstClr val="white">
                    <a:lumMod val="50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숫자</a:t>
            </a:r>
            <a:r>
              <a:rPr lang="en-US" altLang="ko-KR" sz="800" b="0" dirty="0">
                <a:solidFill>
                  <a:prstClr val="white">
                    <a:lumMod val="50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b="0" dirty="0">
                <a:solidFill>
                  <a:prstClr val="white">
                    <a:lumMod val="50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소수점 가능</a:t>
            </a:r>
            <a:r>
              <a:rPr lang="en-US" altLang="ko-KR" sz="800" b="0" dirty="0">
                <a:solidFill>
                  <a:prstClr val="white">
                    <a:lumMod val="50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4FBC9988-C0D9-699F-4484-9550C4A4C838}"/>
              </a:ext>
            </a:extLst>
          </p:cNvPr>
          <p:cNvSpPr/>
          <p:nvPr/>
        </p:nvSpPr>
        <p:spPr>
          <a:xfrm>
            <a:off x="5885205" y="3969353"/>
            <a:ext cx="699418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닫기</a:t>
            </a:r>
          </a:p>
        </p:txBody>
      </p:sp>
    </p:spTree>
    <p:extLst>
      <p:ext uri="{BB962C8B-B14F-4D97-AF65-F5344CB8AC3E}">
        <p14:creationId xmlns:p14="http://schemas.microsoft.com/office/powerpoint/2010/main" val="167178756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CB1666-F735-7D37-83BC-8C8B9B75FD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6717FC96-FE6C-3DBD-EEB7-E80961761495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3A4B62B-B23D-8E3A-B57E-EFFEFF25FE23}"/>
              </a:ext>
            </a:extLst>
          </p:cNvPr>
          <p:cNvSpPr txBox="1"/>
          <p:nvPr/>
        </p:nvSpPr>
        <p:spPr>
          <a:xfrm>
            <a:off x="8049344" y="584684"/>
            <a:ext cx="1856656" cy="47059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제한적 최저가 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’, ‘2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가격 분리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인 입찰 건의 경우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서류와 가격을 분리 제출하지 않음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기술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평가 후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적격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인 업체를 대상으로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가격투찰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일정을 안내해야 함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물론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투찰일정은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등록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시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설정되어 있지만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변경의 여지가 있을 수 있기 때문에 해당 기능을 제공함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highlight>
                <a:srgbClr val="FFFF00"/>
              </a:highlight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당시의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기간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정보 제공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기간의 변경이 필요한 경우 활용함(아래의 기간 선택 활성화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변경 값이 저장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업데이트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되어야 함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기술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심사/평가 결과 적격인 협력업체만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대상이 됨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발송 제목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내용을 자동 완성해 주지만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수정해서 보낼 수도 있음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내용 중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기간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위의 설정된 값에 따라서 자동 완성해 줌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endParaRPr lang="ko-KR" altLang="en-US" sz="800" u="sng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858603C-05CA-D305-A2FB-8040FA7F233F}"/>
              </a:ext>
            </a:extLst>
          </p:cNvPr>
          <p:cNvSpPr txBox="1"/>
          <p:nvPr/>
        </p:nvSpPr>
        <p:spPr>
          <a:xfrm>
            <a:off x="749224" y="25608"/>
            <a:ext cx="324479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(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가격투찰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안내하기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175BE0F9-0413-0A66-EA92-E01876C5FA4C}"/>
              </a:ext>
            </a:extLst>
          </p:cNvPr>
          <p:cNvSpPr txBox="1"/>
          <p:nvPr/>
        </p:nvSpPr>
        <p:spPr>
          <a:xfrm>
            <a:off x="-854365" y="4429125"/>
            <a:ext cx="184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BA7FA910-C0B9-9CF8-1964-89090A5C2924}"/>
              </a:ext>
            </a:extLst>
          </p:cNvPr>
          <p:cNvSpPr/>
          <p:nvPr/>
        </p:nvSpPr>
        <p:spPr>
          <a:xfrm>
            <a:off x="288325" y="722705"/>
            <a:ext cx="7513429" cy="503420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64644FD-EDC4-F42A-EA58-286F65D70929}"/>
              </a:ext>
            </a:extLst>
          </p:cNvPr>
          <p:cNvSpPr/>
          <p:nvPr/>
        </p:nvSpPr>
        <p:spPr>
          <a:xfrm>
            <a:off x="404964" y="813604"/>
            <a:ext cx="1218282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11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안내하기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8E7B256D-BA5B-C42A-EE49-34C947FD4967}"/>
              </a:ext>
            </a:extLst>
          </p:cNvPr>
          <p:cNvSpPr/>
          <p:nvPr/>
        </p:nvSpPr>
        <p:spPr>
          <a:xfrm>
            <a:off x="426796" y="1142495"/>
            <a:ext cx="5584883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등록 단계에서 설정된 가격 </a:t>
            </a:r>
            <a:r>
              <a:rPr lang="ko-KR" altLang="en-US" sz="9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기간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D1C3FEA9-4B15-5221-C119-CFB76486EA55}"/>
              </a:ext>
            </a:extLst>
          </p:cNvPr>
          <p:cNvGraphicFramePr>
            <a:graphicFrameLocks noGrp="1"/>
          </p:cNvGraphicFramePr>
          <p:nvPr/>
        </p:nvGraphicFramePr>
        <p:xfrm>
          <a:off x="407872" y="1421668"/>
          <a:ext cx="7065408" cy="337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46827">
                  <a:extLst>
                    <a:ext uri="{9D8B030D-6E8A-4147-A177-3AD203B41FA5}">
                      <a16:colId xmlns:a16="http://schemas.microsoft.com/office/drawing/2014/main" val="2218358209"/>
                    </a:ext>
                  </a:extLst>
                </a:gridCol>
                <a:gridCol w="5918581">
                  <a:extLst>
                    <a:ext uri="{9D8B030D-6E8A-4147-A177-3AD203B41FA5}">
                      <a16:colId xmlns:a16="http://schemas.microsoft.com/office/drawing/2014/main" val="376649550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가격 </a:t>
                      </a:r>
                      <a:r>
                        <a:rPr kumimoji="0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투찰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기간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2026.07.20 09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00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분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~ 2026.08.25 18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00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88328"/>
                  </a:ext>
                </a:extLst>
              </a:tr>
            </a:tbl>
          </a:graphicData>
        </a:graphic>
      </p:graphicFrame>
      <p:sp>
        <p:nvSpPr>
          <p:cNvPr id="49" name="직사각형 48">
            <a:extLst>
              <a:ext uri="{FF2B5EF4-FFF2-40B4-BE49-F238E27FC236}">
                <a16:creationId xmlns:a16="http://schemas.microsoft.com/office/drawing/2014/main" id="{159EB2CE-010E-8BF3-E1DB-7B406191E695}"/>
              </a:ext>
            </a:extLst>
          </p:cNvPr>
          <p:cNvSpPr/>
          <p:nvPr/>
        </p:nvSpPr>
        <p:spPr>
          <a:xfrm>
            <a:off x="426796" y="1866694"/>
            <a:ext cx="5584883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9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기간 변경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50" name="표 49">
            <a:extLst>
              <a:ext uri="{FF2B5EF4-FFF2-40B4-BE49-F238E27FC236}">
                <a16:creationId xmlns:a16="http://schemas.microsoft.com/office/drawing/2014/main" id="{0F8AC5AC-5727-2B4F-ECF4-48865564AA77}"/>
              </a:ext>
            </a:extLst>
          </p:cNvPr>
          <p:cNvGraphicFramePr>
            <a:graphicFrameLocks noGrp="1"/>
          </p:cNvGraphicFramePr>
          <p:nvPr/>
        </p:nvGraphicFramePr>
        <p:xfrm>
          <a:off x="407872" y="2137241"/>
          <a:ext cx="7101412" cy="67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46827">
                  <a:extLst>
                    <a:ext uri="{9D8B030D-6E8A-4147-A177-3AD203B41FA5}">
                      <a16:colId xmlns:a16="http://schemas.microsoft.com/office/drawing/2014/main" val="2218358209"/>
                    </a:ext>
                  </a:extLst>
                </a:gridCol>
                <a:gridCol w="5954585">
                  <a:extLst>
                    <a:ext uri="{9D8B030D-6E8A-4147-A177-3AD203B41FA5}">
                      <a16:colId xmlns:a16="http://schemas.microsoft.com/office/drawing/2014/main" val="376649550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변경 여부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● 변경 안함     ○ 변경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92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가격 </a:t>
                      </a:r>
                      <a:r>
                        <a:rPr kumimoji="0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투찰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기간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                                                                                                    ~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88328"/>
                  </a:ext>
                </a:extLst>
              </a:tr>
            </a:tbl>
          </a:graphicData>
        </a:graphic>
      </p:graphicFrame>
      <p:sp>
        <p:nvSpPr>
          <p:cNvPr id="52" name="직사각형 51">
            <a:extLst>
              <a:ext uri="{FF2B5EF4-FFF2-40B4-BE49-F238E27FC236}">
                <a16:creationId xmlns:a16="http://schemas.microsoft.com/office/drawing/2014/main" id="{479CE0F5-BB35-472B-79A6-70FD5173E2D3}"/>
              </a:ext>
            </a:extLst>
          </p:cNvPr>
          <p:cNvSpPr/>
          <p:nvPr/>
        </p:nvSpPr>
        <p:spPr>
          <a:xfrm>
            <a:off x="1633115" y="2534962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날짜 선택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8E39B3F-90E4-2515-3A63-6E8553A078D5}"/>
              </a:ext>
            </a:extLst>
          </p:cNvPr>
          <p:cNvSpPr/>
          <p:nvPr/>
        </p:nvSpPr>
        <p:spPr>
          <a:xfrm>
            <a:off x="2443366" y="2534962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30C99D38-F57B-5498-46C3-D813CBBCE149}"/>
              </a:ext>
            </a:extLst>
          </p:cNvPr>
          <p:cNvSpPr/>
          <p:nvPr/>
        </p:nvSpPr>
        <p:spPr>
          <a:xfrm>
            <a:off x="2728784" y="2534962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시간 선택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3EC7DE78-9D52-CAD9-DC34-E358C832BA8A}"/>
              </a:ext>
            </a:extLst>
          </p:cNvPr>
          <p:cNvSpPr/>
          <p:nvPr/>
        </p:nvSpPr>
        <p:spPr>
          <a:xfrm>
            <a:off x="3328866" y="2534962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B9E4024D-564F-BF85-BD42-B485A34564F5}"/>
              </a:ext>
            </a:extLst>
          </p:cNvPr>
          <p:cNvSpPr/>
          <p:nvPr/>
        </p:nvSpPr>
        <p:spPr>
          <a:xfrm>
            <a:off x="3622741" y="2534962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분 선택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A7A270FF-5C7E-B7E6-1CB5-9142EB3DC284}"/>
              </a:ext>
            </a:extLst>
          </p:cNvPr>
          <p:cNvSpPr/>
          <p:nvPr/>
        </p:nvSpPr>
        <p:spPr>
          <a:xfrm>
            <a:off x="4222823" y="2534962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C8EBDDCF-CD19-93C2-23B9-8ECE23D800CE}"/>
              </a:ext>
            </a:extLst>
          </p:cNvPr>
          <p:cNvSpPr/>
          <p:nvPr/>
        </p:nvSpPr>
        <p:spPr>
          <a:xfrm>
            <a:off x="4663447" y="2534962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날짜 선택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75115492-3758-D9D5-DD18-46257AA9EA09}"/>
              </a:ext>
            </a:extLst>
          </p:cNvPr>
          <p:cNvSpPr/>
          <p:nvPr/>
        </p:nvSpPr>
        <p:spPr>
          <a:xfrm>
            <a:off x="5473698" y="2534962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BB50EC8-B476-889F-54ED-8E764CB71DCC}"/>
              </a:ext>
            </a:extLst>
          </p:cNvPr>
          <p:cNvSpPr/>
          <p:nvPr/>
        </p:nvSpPr>
        <p:spPr>
          <a:xfrm>
            <a:off x="5759116" y="2534962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시간 선택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D7383FFF-EF43-B06E-B6C8-77539C1A222E}"/>
              </a:ext>
            </a:extLst>
          </p:cNvPr>
          <p:cNvSpPr/>
          <p:nvPr/>
        </p:nvSpPr>
        <p:spPr>
          <a:xfrm>
            <a:off x="6359198" y="2534962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6B6E6F59-D621-A4E2-78AD-9EF8FF51BD4D}"/>
              </a:ext>
            </a:extLst>
          </p:cNvPr>
          <p:cNvSpPr/>
          <p:nvPr/>
        </p:nvSpPr>
        <p:spPr>
          <a:xfrm>
            <a:off x="6653073" y="2534962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분 선택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34C03800-9DF7-1E61-D617-67015EE1BB01}"/>
              </a:ext>
            </a:extLst>
          </p:cNvPr>
          <p:cNvSpPr/>
          <p:nvPr/>
        </p:nvSpPr>
        <p:spPr>
          <a:xfrm>
            <a:off x="7253155" y="2534962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75AD3255-C586-98DB-ACBB-78F0886006C5}"/>
              </a:ext>
            </a:extLst>
          </p:cNvPr>
          <p:cNvGraphicFramePr>
            <a:graphicFrameLocks noGrp="1"/>
          </p:cNvGraphicFramePr>
          <p:nvPr/>
        </p:nvGraphicFramePr>
        <p:xfrm>
          <a:off x="404964" y="4559164"/>
          <a:ext cx="7104320" cy="337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63660">
                  <a:extLst>
                    <a:ext uri="{9D8B030D-6E8A-4147-A177-3AD203B41FA5}">
                      <a16:colId xmlns:a16="http://schemas.microsoft.com/office/drawing/2014/main" val="383348964"/>
                    </a:ext>
                  </a:extLst>
                </a:gridCol>
                <a:gridCol w="5940660">
                  <a:extLst>
                    <a:ext uri="{9D8B030D-6E8A-4147-A177-3AD203B41FA5}">
                      <a16:colId xmlns:a16="http://schemas.microsoft.com/office/drawing/2014/main" val="161840302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indent="-7200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발송방법 선택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● 이메일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+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메시지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     ○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이메일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     ○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메시지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466907"/>
                  </a:ext>
                </a:extLst>
              </a:tr>
            </a:tbl>
          </a:graphicData>
        </a:graphic>
      </p:graphicFrame>
      <p:graphicFrame>
        <p:nvGraphicFramePr>
          <p:cNvPr id="78" name="표 77">
            <a:extLst>
              <a:ext uri="{FF2B5EF4-FFF2-40B4-BE49-F238E27FC236}">
                <a16:creationId xmlns:a16="http://schemas.microsoft.com/office/drawing/2014/main" id="{FAE0B389-9216-2220-44C1-7555DA28A821}"/>
              </a:ext>
            </a:extLst>
          </p:cNvPr>
          <p:cNvGraphicFramePr>
            <a:graphicFrameLocks noGrp="1"/>
          </p:cNvGraphicFramePr>
          <p:nvPr/>
        </p:nvGraphicFramePr>
        <p:xfrm>
          <a:off x="404964" y="4983236"/>
          <a:ext cx="7104320" cy="337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63660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5940660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indent="-7200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제목</a:t>
                      </a:r>
                      <a:r>
                        <a:rPr lang="ko-KR" altLang="en-US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4554203"/>
                  </a:ext>
                </a:extLst>
              </a:tr>
            </a:tbl>
          </a:graphicData>
        </a:graphic>
      </p:graphicFrame>
      <p:sp>
        <p:nvSpPr>
          <p:cNvPr id="90" name="직사각형 89">
            <a:extLst>
              <a:ext uri="{FF2B5EF4-FFF2-40B4-BE49-F238E27FC236}">
                <a16:creationId xmlns:a16="http://schemas.microsoft.com/office/drawing/2014/main" id="{2A6B2709-7436-0B79-B1AE-C642249C1F18}"/>
              </a:ext>
            </a:extLst>
          </p:cNvPr>
          <p:cNvSpPr/>
          <p:nvPr/>
        </p:nvSpPr>
        <p:spPr>
          <a:xfrm>
            <a:off x="1645499" y="5043246"/>
            <a:ext cx="5708907" cy="21544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안녕하세요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b="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켑코이에스입니다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(</a:t>
            </a:r>
            <a:r>
              <a:rPr lang="ko-KR" altLang="en-US" sz="800" b="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가격투찰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요청 드립니다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C2BEEFDD-3B6D-8C86-4300-1C96BF509B66}"/>
              </a:ext>
            </a:extLst>
          </p:cNvPr>
          <p:cNvSpPr/>
          <p:nvPr/>
        </p:nvSpPr>
        <p:spPr>
          <a:xfrm>
            <a:off x="426796" y="2916481"/>
            <a:ext cx="5584883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발송 대상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98" name="표 97">
            <a:extLst>
              <a:ext uri="{FF2B5EF4-FFF2-40B4-BE49-F238E27FC236}">
                <a16:creationId xmlns:a16="http://schemas.microsoft.com/office/drawing/2014/main" id="{C4EE7BE2-5476-BA3D-97A6-3497B179E16B}"/>
              </a:ext>
            </a:extLst>
          </p:cNvPr>
          <p:cNvGraphicFramePr>
            <a:graphicFrameLocks noGrp="1"/>
          </p:cNvGraphicFramePr>
          <p:nvPr/>
        </p:nvGraphicFramePr>
        <p:xfrm>
          <a:off x="404964" y="3183060"/>
          <a:ext cx="7081461" cy="1013760"/>
        </p:xfrm>
        <a:graphic>
          <a:graphicData uri="http://schemas.openxmlformats.org/drawingml/2006/table">
            <a:tbl>
              <a:tblPr firstRow="1" bandRow="1"/>
              <a:tblGrid>
                <a:gridCol w="866717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1103083">
                  <a:extLst>
                    <a:ext uri="{9D8B030D-6E8A-4147-A177-3AD203B41FA5}">
                      <a16:colId xmlns:a16="http://schemas.microsoft.com/office/drawing/2014/main" val="2178705914"/>
                    </a:ext>
                  </a:extLst>
                </a:gridCol>
                <a:gridCol w="1119702">
                  <a:extLst>
                    <a:ext uri="{9D8B030D-6E8A-4147-A177-3AD203B41FA5}">
                      <a16:colId xmlns:a16="http://schemas.microsoft.com/office/drawing/2014/main" val="2628663970"/>
                    </a:ext>
                  </a:extLst>
                </a:gridCol>
                <a:gridCol w="670975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338585">
                  <a:extLst>
                    <a:ext uri="{9D8B030D-6E8A-4147-A177-3AD203B41FA5}">
                      <a16:colId xmlns:a16="http://schemas.microsoft.com/office/drawing/2014/main" val="800341694"/>
                    </a:ext>
                  </a:extLst>
                </a:gridCol>
                <a:gridCol w="994133">
                  <a:extLst>
                    <a:ext uri="{9D8B030D-6E8A-4147-A177-3AD203B41FA5}">
                      <a16:colId xmlns:a16="http://schemas.microsoft.com/office/drawing/2014/main" val="1524271130"/>
                    </a:ext>
                  </a:extLst>
                </a:gridCol>
                <a:gridCol w="994133">
                  <a:extLst>
                    <a:ext uri="{9D8B030D-6E8A-4147-A177-3AD203B41FA5}">
                      <a16:colId xmlns:a16="http://schemas.microsoft.com/office/drawing/2014/main" val="1597729474"/>
                    </a:ext>
                  </a:extLst>
                </a:gridCol>
                <a:gridCol w="994133">
                  <a:extLst>
                    <a:ext uri="{9D8B030D-6E8A-4147-A177-3AD203B41FA5}">
                      <a16:colId xmlns:a16="http://schemas.microsoft.com/office/drawing/2014/main" val="188374671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업체명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제출상태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참여 일시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직책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핸드폰번호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평가점수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적격여부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A 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참여 완료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2026.07.30 17:25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차장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010-5865-5234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45.28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적격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sng" dirty="0" err="1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업체명</a:t>
                      </a: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참여 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2026.07.30 17:25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이희성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부장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010-6844-2810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48.00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적격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</a:tbl>
          </a:graphicData>
        </a:graphic>
      </p:graphicFrame>
      <p:sp>
        <p:nvSpPr>
          <p:cNvPr id="99" name="직사각형 98">
            <a:extLst>
              <a:ext uri="{FF2B5EF4-FFF2-40B4-BE49-F238E27FC236}">
                <a16:creationId xmlns:a16="http://schemas.microsoft.com/office/drawing/2014/main" id="{AE383211-7975-FA8B-88D9-6F52F10F27E5}"/>
              </a:ext>
            </a:extLst>
          </p:cNvPr>
          <p:cNvSpPr/>
          <p:nvPr/>
        </p:nvSpPr>
        <p:spPr>
          <a:xfrm>
            <a:off x="426796" y="4284470"/>
            <a:ext cx="5584883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발송 내용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43D88E7-CF74-9F14-3558-0A6241259D00}"/>
              </a:ext>
            </a:extLst>
          </p:cNvPr>
          <p:cNvSpPr/>
          <p:nvPr/>
        </p:nvSpPr>
        <p:spPr>
          <a:xfrm>
            <a:off x="7693743" y="480944"/>
            <a:ext cx="108011" cy="527230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1565FE38-C385-2365-8F61-E28FCC9BC7B0}"/>
              </a:ext>
            </a:extLst>
          </p:cNvPr>
          <p:cNvSpPr/>
          <p:nvPr/>
        </p:nvSpPr>
        <p:spPr>
          <a:xfrm>
            <a:off x="7693743" y="1101092"/>
            <a:ext cx="108012" cy="1800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44B9E4B4-62BF-67D3-A4E1-B5C5BDDFDA57}"/>
              </a:ext>
            </a:extLst>
          </p:cNvPr>
          <p:cNvSpPr/>
          <p:nvPr/>
        </p:nvSpPr>
        <p:spPr>
          <a:xfrm>
            <a:off x="288325" y="449793"/>
            <a:ext cx="7513429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dirty="0" err="1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ko-KR" altLang="en-US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안내하기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4EEFA20E-0356-2568-61CF-0A8F3C558B0A}"/>
              </a:ext>
            </a:extLst>
          </p:cNvPr>
          <p:cNvSpPr/>
          <p:nvPr/>
        </p:nvSpPr>
        <p:spPr>
          <a:xfrm>
            <a:off x="7531754" y="449793"/>
            <a:ext cx="270000" cy="276749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FEBBDD8C-5992-40DA-0EDE-3DE76709EC59}"/>
              </a:ext>
            </a:extLst>
          </p:cNvPr>
          <p:cNvSpPr/>
          <p:nvPr/>
        </p:nvSpPr>
        <p:spPr>
          <a:xfrm>
            <a:off x="318610" y="390681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046E646D-9063-06A1-41E7-A9E58E60AEF5}"/>
              </a:ext>
            </a:extLst>
          </p:cNvPr>
          <p:cNvSpPr/>
          <p:nvPr/>
        </p:nvSpPr>
        <p:spPr>
          <a:xfrm>
            <a:off x="344488" y="5453080"/>
            <a:ext cx="7308812" cy="18002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계속</a:t>
            </a: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29B86C07-516D-76DF-8BA9-4C2ABBF6D4C3}"/>
              </a:ext>
            </a:extLst>
          </p:cNvPr>
          <p:cNvSpPr/>
          <p:nvPr/>
        </p:nvSpPr>
        <p:spPr>
          <a:xfrm>
            <a:off x="318610" y="1327219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00DA1CD9-E853-6D78-F422-99C5CF5E6BDA}"/>
              </a:ext>
            </a:extLst>
          </p:cNvPr>
          <p:cNvSpPr/>
          <p:nvPr/>
        </p:nvSpPr>
        <p:spPr>
          <a:xfrm>
            <a:off x="318610" y="2082428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7753C541-A286-F0E4-A649-D7312E693C55}"/>
              </a:ext>
            </a:extLst>
          </p:cNvPr>
          <p:cNvSpPr/>
          <p:nvPr/>
        </p:nvSpPr>
        <p:spPr>
          <a:xfrm>
            <a:off x="318610" y="2763857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AFFA511C-53D1-D931-AF08-C7C4DDA7CB6C}"/>
              </a:ext>
            </a:extLst>
          </p:cNvPr>
          <p:cNvSpPr/>
          <p:nvPr/>
        </p:nvSpPr>
        <p:spPr>
          <a:xfrm>
            <a:off x="318610" y="4809262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49910534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91DAA7-B73C-D34E-9AE8-689D5D16EB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B69DC4E5-0290-DCE1-925D-A66628A6712C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8E9FE6D-81B6-5676-D0C4-23C1599F68C9}"/>
              </a:ext>
            </a:extLst>
          </p:cNvPr>
          <p:cNvSpPr txBox="1"/>
          <p:nvPr/>
        </p:nvSpPr>
        <p:spPr>
          <a:xfrm>
            <a:off x="8049344" y="584684"/>
            <a:ext cx="1856656" cy="10372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발송 제목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내용을 자동 완성해 주지만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수정해서 보낼 수도 있음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내용 중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기간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위의 설정된 값에 따라서 자동 완성해 줌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endParaRPr lang="ko-KR" altLang="en-US" sz="800" u="sng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DE089DA-9AAF-5209-A330-1436D133A664}"/>
              </a:ext>
            </a:extLst>
          </p:cNvPr>
          <p:cNvSpPr txBox="1"/>
          <p:nvPr/>
        </p:nvSpPr>
        <p:spPr>
          <a:xfrm>
            <a:off x="749224" y="25608"/>
            <a:ext cx="324479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(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투찰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안내하기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5EE86066-4301-79D5-AA82-7013AF085993}"/>
              </a:ext>
            </a:extLst>
          </p:cNvPr>
          <p:cNvSpPr txBox="1"/>
          <p:nvPr/>
        </p:nvSpPr>
        <p:spPr>
          <a:xfrm>
            <a:off x="-854365" y="4429125"/>
            <a:ext cx="184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2590588D-D412-56D9-7D5C-33DAF113C6A5}"/>
              </a:ext>
            </a:extLst>
          </p:cNvPr>
          <p:cNvSpPr/>
          <p:nvPr/>
        </p:nvSpPr>
        <p:spPr>
          <a:xfrm>
            <a:off x="288325" y="440668"/>
            <a:ext cx="7513429" cy="324036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48415E3A-6D40-6B81-A70F-E669FD13E921}"/>
              </a:ext>
            </a:extLst>
          </p:cNvPr>
          <p:cNvSpPr/>
          <p:nvPr/>
        </p:nvSpPr>
        <p:spPr>
          <a:xfrm>
            <a:off x="7693743" y="440668"/>
            <a:ext cx="108011" cy="324115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ACE3B885-A963-666B-854C-B50AF319FE1E}"/>
              </a:ext>
            </a:extLst>
          </p:cNvPr>
          <p:cNvSpPr/>
          <p:nvPr/>
        </p:nvSpPr>
        <p:spPr>
          <a:xfrm>
            <a:off x="7693743" y="819055"/>
            <a:ext cx="108012" cy="1800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70" name="표 169">
            <a:extLst>
              <a:ext uri="{FF2B5EF4-FFF2-40B4-BE49-F238E27FC236}">
                <a16:creationId xmlns:a16="http://schemas.microsoft.com/office/drawing/2014/main" id="{99824D39-98C9-671C-AE6C-71F5ACF326E7}"/>
              </a:ext>
            </a:extLst>
          </p:cNvPr>
          <p:cNvGraphicFramePr>
            <a:graphicFrameLocks noGrp="1"/>
          </p:cNvGraphicFramePr>
          <p:nvPr/>
        </p:nvGraphicFramePr>
        <p:xfrm>
          <a:off x="380492" y="539635"/>
          <a:ext cx="7164796" cy="2626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88132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5976664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587698">
                <a:tc>
                  <a:txBody>
                    <a:bodyPr/>
                    <a:lstStyle/>
                    <a:p>
                      <a:pPr marL="72000" indent="-7200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이메일 내용</a:t>
                      </a:r>
                      <a:r>
                        <a:rPr lang="ko-KR" altLang="en-US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  <a:endParaRPr lang="ko-KR" altLang="en-US" sz="800" b="1" dirty="0">
                        <a:solidFill>
                          <a:srgbClr val="C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b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b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메시지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(SMS)</a:t>
                      </a:r>
                      <a:r>
                        <a:rPr lang="ko-KR" altLang="en-US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  <a:endParaRPr lang="ko-KR" altLang="en-US" sz="800" b="1" dirty="0">
                        <a:solidFill>
                          <a:srgbClr val="C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7990454"/>
                  </a:ext>
                </a:extLst>
              </a:tr>
            </a:tbl>
          </a:graphicData>
        </a:graphic>
      </p:graphicFrame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4EDE5053-4C4C-1EB7-EC78-F62E6D3FD517}"/>
              </a:ext>
            </a:extLst>
          </p:cNvPr>
          <p:cNvSpPr/>
          <p:nvPr/>
        </p:nvSpPr>
        <p:spPr>
          <a:xfrm>
            <a:off x="1654445" y="608215"/>
            <a:ext cx="5791707" cy="162387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108000" rIns="108000" bIns="108000" rtlCol="0" anchor="t" anchorCtr="0"/>
          <a:lstStyle/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안녕하세요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b="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켑코이에스입니다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b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 결과 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적격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으로 판정되어 </a:t>
            </a:r>
            <a:r>
              <a:rPr lang="ko-KR" altLang="en-US" sz="800" b="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투찰을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b="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요청드립니다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기간은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2026.07.20 09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분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~ 2026.08.25 18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분까지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입니다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b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 로그인 후 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참여 현황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을 통해 가격을 </a:t>
            </a:r>
            <a:r>
              <a:rPr lang="ko-KR" altLang="en-US" sz="800" b="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투찰해 주세요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b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b="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투찰이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기한 내에 이루어질 수 있도록 부탁드립니다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감사합니다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800" b="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endParaRPr lang="en-US" altLang="ko-KR" sz="800" b="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" name="직사각형 175">
            <a:extLst>
              <a:ext uri="{FF2B5EF4-FFF2-40B4-BE49-F238E27FC236}">
                <a16:creationId xmlns:a16="http://schemas.microsoft.com/office/drawing/2014/main" id="{72941677-7F2C-3957-1BE1-5342646810A9}"/>
              </a:ext>
            </a:extLst>
          </p:cNvPr>
          <p:cNvSpPr/>
          <p:nvPr/>
        </p:nvSpPr>
        <p:spPr>
          <a:xfrm>
            <a:off x="1654445" y="2413631"/>
            <a:ext cx="5791707" cy="63557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108000" rIns="108000" bIns="108000" rtlCol="0" anchor="t" anchorCtr="0"/>
          <a:lstStyle/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안녕하세요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b="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켑코이에스입니다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 결과 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적격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으로 판정되어 </a:t>
            </a:r>
            <a:r>
              <a:rPr lang="ko-KR" altLang="en-US" sz="800" b="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투찰을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b="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요청드립니다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기간은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2026.07.20 09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분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~ 2026.08.25 18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분까지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입니다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 로그인 후 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참여 현황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을 통해 가격을 </a:t>
            </a:r>
            <a:r>
              <a:rPr lang="ko-KR" altLang="en-US" sz="800" b="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투찰해 주세요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b="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투찰이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기한 내에 이루어질 수 있도록 부탁드립니다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감사합니다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800" b="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endParaRPr lang="en-US" altLang="ko-KR" sz="800" b="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" name="직사각형 177">
            <a:extLst>
              <a:ext uri="{FF2B5EF4-FFF2-40B4-BE49-F238E27FC236}">
                <a16:creationId xmlns:a16="http://schemas.microsoft.com/office/drawing/2014/main" id="{1A6C867F-A741-098E-EBE1-AF689AFF7C77}"/>
              </a:ext>
            </a:extLst>
          </p:cNvPr>
          <p:cNvSpPr/>
          <p:nvPr/>
        </p:nvSpPr>
        <p:spPr>
          <a:xfrm>
            <a:off x="6732205" y="3248980"/>
            <a:ext cx="813083" cy="28803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69201E71-A7B4-E533-613C-4AD1034EC37B}"/>
              </a:ext>
            </a:extLst>
          </p:cNvPr>
          <p:cNvSpPr/>
          <p:nvPr/>
        </p:nvSpPr>
        <p:spPr>
          <a:xfrm>
            <a:off x="5663200" y="3248980"/>
            <a:ext cx="1018323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메일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메시지 발송</a:t>
            </a:r>
          </a:p>
        </p:txBody>
      </p:sp>
      <p:sp>
        <p:nvSpPr>
          <p:cNvPr id="182" name="직사각형 181">
            <a:extLst>
              <a:ext uri="{FF2B5EF4-FFF2-40B4-BE49-F238E27FC236}">
                <a16:creationId xmlns:a16="http://schemas.microsoft.com/office/drawing/2014/main" id="{5E214B87-4083-3854-18FB-B75A42802DC5}"/>
              </a:ext>
            </a:extLst>
          </p:cNvPr>
          <p:cNvSpPr/>
          <p:nvPr/>
        </p:nvSpPr>
        <p:spPr>
          <a:xfrm>
            <a:off x="3409267" y="4159344"/>
            <a:ext cx="4392488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메일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메시지 발송 확인</a:t>
            </a: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D479D5F9-D14B-4E58-022D-AE2E0FDA082F}"/>
              </a:ext>
            </a:extLst>
          </p:cNvPr>
          <p:cNvSpPr/>
          <p:nvPr/>
        </p:nvSpPr>
        <p:spPr>
          <a:xfrm>
            <a:off x="3409267" y="4432256"/>
            <a:ext cx="4392488" cy="187132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" name="직사각형 183">
            <a:extLst>
              <a:ext uri="{FF2B5EF4-FFF2-40B4-BE49-F238E27FC236}">
                <a16:creationId xmlns:a16="http://schemas.microsoft.com/office/drawing/2014/main" id="{00905C2F-920F-E23F-CE76-D400354D5110}"/>
              </a:ext>
            </a:extLst>
          </p:cNvPr>
          <p:cNvSpPr/>
          <p:nvPr/>
        </p:nvSpPr>
        <p:spPr>
          <a:xfrm>
            <a:off x="7531755" y="4159344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23C9043D-C986-12C1-9E9D-4C2F87B3C8C9}"/>
              </a:ext>
            </a:extLst>
          </p:cNvPr>
          <p:cNvSpPr/>
          <p:nvPr/>
        </p:nvSpPr>
        <p:spPr>
          <a:xfrm>
            <a:off x="3517046" y="4845644"/>
            <a:ext cx="4176697" cy="879892"/>
          </a:xfrm>
          <a:prstGeom prst="rect">
            <a:avLst/>
          </a:prstGeom>
          <a:solidFill>
            <a:srgbClr val="FFFF00">
              <a:alpha val="20000"/>
            </a:srgb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56000" tIns="108000" bIns="108000" rtlCol="0" anchor="ctr" anchorCtr="0"/>
          <a:lstStyle/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메일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/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메시지를 발송하면 취소할 수 없습니다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.</a:t>
            </a:r>
          </a:p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메일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메시지 발송 내역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발송 대상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발송방법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발송내용 등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을 확인하세요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그래도 진행하시겠습니까</a:t>
            </a: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?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pic>
        <p:nvPicPr>
          <p:cNvPr id="186" name="Picture 8" descr="Announcement, hailer, loudspeaker, megaphone, speaker icon - Download on Iconfinder">
            <a:extLst>
              <a:ext uri="{FF2B5EF4-FFF2-40B4-BE49-F238E27FC236}">
                <a16:creationId xmlns:a16="http://schemas.microsoft.com/office/drawing/2014/main" id="{A3908C53-AB52-E8E4-DC77-C0EF7E19BD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33168" y="5002265"/>
            <a:ext cx="570440" cy="5704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42A3EA4E-26FD-A890-039A-D2602D21F96C}"/>
              </a:ext>
            </a:extLst>
          </p:cNvPr>
          <p:cNvSpPr/>
          <p:nvPr/>
        </p:nvSpPr>
        <p:spPr>
          <a:xfrm>
            <a:off x="5931119" y="5834011"/>
            <a:ext cx="1018896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메일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메시지 발송</a:t>
            </a: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C75E2090-30C3-3B3F-D2B7-C83F3FCDEB7E}"/>
              </a:ext>
            </a:extLst>
          </p:cNvPr>
          <p:cNvSpPr/>
          <p:nvPr/>
        </p:nvSpPr>
        <p:spPr>
          <a:xfrm>
            <a:off x="7009756" y="5834011"/>
            <a:ext cx="699418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4F14A76A-AFC2-7764-BCAD-93C4BA9E83D5}"/>
              </a:ext>
            </a:extLst>
          </p:cNvPr>
          <p:cNvSpPr/>
          <p:nvPr/>
        </p:nvSpPr>
        <p:spPr>
          <a:xfrm>
            <a:off x="3540487" y="4528645"/>
            <a:ext cx="1404231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메일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메시지 발송 확인</a:t>
            </a:r>
          </a:p>
        </p:txBody>
      </p:sp>
      <p:cxnSp>
        <p:nvCxnSpPr>
          <p:cNvPr id="190" name="연결선: 꺾임 189">
            <a:extLst>
              <a:ext uri="{FF2B5EF4-FFF2-40B4-BE49-F238E27FC236}">
                <a16:creationId xmlns:a16="http://schemas.microsoft.com/office/drawing/2014/main" id="{AF60D6D3-DF2C-2BA7-55CC-F10BB038609D}"/>
              </a:ext>
            </a:extLst>
          </p:cNvPr>
          <p:cNvCxnSpPr>
            <a:cxnSpLocks/>
            <a:stCxn id="180" idx="2"/>
            <a:endCxn id="182" idx="0"/>
          </p:cNvCxnSpPr>
          <p:nvPr/>
        </p:nvCxnSpPr>
        <p:spPr>
          <a:xfrm rot="5400000">
            <a:off x="5577771" y="3564753"/>
            <a:ext cx="622332" cy="566851"/>
          </a:xfrm>
          <a:prstGeom prst="bentConnector3">
            <a:avLst>
              <a:gd name="adj1" fmla="val 50000"/>
            </a:avLst>
          </a:prstGeom>
          <a:ln>
            <a:solidFill>
              <a:srgbClr val="C00000"/>
            </a:solidFill>
            <a:prstDash val="sysDash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타원 196">
            <a:extLst>
              <a:ext uri="{FF2B5EF4-FFF2-40B4-BE49-F238E27FC236}">
                <a16:creationId xmlns:a16="http://schemas.microsoft.com/office/drawing/2014/main" id="{B0FC16B9-18CF-AE53-F627-100DCA21AE1D}"/>
              </a:ext>
            </a:extLst>
          </p:cNvPr>
          <p:cNvSpPr/>
          <p:nvPr/>
        </p:nvSpPr>
        <p:spPr>
          <a:xfrm>
            <a:off x="344488" y="487154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98360733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E4CA15-CB69-F78F-898A-663810457E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96B498ED-CCA5-04A8-667E-B5A356A3C3C5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B3D004A-AF14-518E-68D0-CAE8B004D12B}"/>
              </a:ext>
            </a:extLst>
          </p:cNvPr>
          <p:cNvSpPr txBox="1"/>
          <p:nvPr/>
        </p:nvSpPr>
        <p:spPr>
          <a:xfrm>
            <a:off x="8049344" y="584684"/>
            <a:ext cx="1856656" cy="5570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심사완료 처리 후의 화면 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조회만 할 뿐 업무를 처리할 수 없음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highlight>
                <a:srgbClr val="FFFF00"/>
              </a:highlight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95A54FF2-952D-33FF-8527-8141B6F8B07E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F7903A8F-23B1-0A7F-8510-4EC8B8083932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7487599D-C829-B494-9C9B-7BD00E9CE948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2575EADB-4EED-D326-5C73-DB03EAB06613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C2844955-4F2C-DD11-5408-7B44885B3B9E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C7988F4-C0B0-20EE-C749-766E57DA97E7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7" name="Picture 1">
            <a:extLst>
              <a:ext uri="{FF2B5EF4-FFF2-40B4-BE49-F238E27FC236}">
                <a16:creationId xmlns:a16="http://schemas.microsoft.com/office/drawing/2014/main" id="{1053AC23-6BA7-738E-E8F4-D5F299BCA6A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9C19E78D-2789-D175-15E3-A257ED3F5F5E}"/>
              </a:ext>
            </a:extLst>
          </p:cNvPr>
          <p:cNvSpPr txBox="1"/>
          <p:nvPr/>
        </p:nvSpPr>
        <p:spPr>
          <a:xfrm>
            <a:off x="749224" y="25608"/>
            <a:ext cx="500008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심사완료 처리 후의 화면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–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조회만 할 뿐 업무를 처리할 수 없음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112E50F7-567E-E334-08AD-D198B0785223}"/>
              </a:ext>
            </a:extLst>
          </p:cNvPr>
          <p:cNvSpPr txBox="1"/>
          <p:nvPr/>
        </p:nvSpPr>
        <p:spPr>
          <a:xfrm>
            <a:off x="164468" y="2043596"/>
            <a:ext cx="3053340" cy="230832"/>
          </a:xfrm>
          <a:prstGeom prst="rect">
            <a:avLst/>
          </a:prstGeom>
          <a:noFill/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참여업체 </a:t>
            </a:r>
            <a:r>
              <a:rPr lang="en-US" altLang="ko-KR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총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건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874A192D-861D-2861-C627-DBA7CD5D0358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CF572B4E-7ADB-E8D1-CCCA-E544743AB783}"/>
              </a:ext>
            </a:extLst>
          </p:cNvPr>
          <p:cNvSpPr txBox="1"/>
          <p:nvPr/>
        </p:nvSpPr>
        <p:spPr>
          <a:xfrm>
            <a:off x="-854365" y="4429125"/>
            <a:ext cx="184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2DE4D7E-B72D-8AD8-32B0-64EB2ED15D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7960267"/>
              </p:ext>
            </p:extLst>
          </p:nvPr>
        </p:nvGraphicFramePr>
        <p:xfrm>
          <a:off x="164466" y="817960"/>
          <a:ext cx="7732447" cy="675840"/>
        </p:xfrm>
        <a:graphic>
          <a:graphicData uri="http://schemas.openxmlformats.org/drawingml/2006/table">
            <a:tbl>
              <a:tblPr firstRow="1" bandRow="1"/>
              <a:tblGrid>
                <a:gridCol w="83838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763949">
                  <a:extLst>
                    <a:ext uri="{9D8B030D-6E8A-4147-A177-3AD203B41FA5}">
                      <a16:colId xmlns:a16="http://schemas.microsoft.com/office/drawing/2014/main" val="1731736782"/>
                    </a:ext>
                  </a:extLst>
                </a:gridCol>
                <a:gridCol w="616894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821542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289563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1002816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1092824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628938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677541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재공고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심사완료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graphicFrame>
        <p:nvGraphicFramePr>
          <p:cNvPr id="70" name="표 69">
            <a:extLst>
              <a:ext uri="{FF2B5EF4-FFF2-40B4-BE49-F238E27FC236}">
                <a16:creationId xmlns:a16="http://schemas.microsoft.com/office/drawing/2014/main" id="{A15EAA18-97B9-7AA4-D724-C6EEB91D81E6}"/>
              </a:ext>
            </a:extLst>
          </p:cNvPr>
          <p:cNvGraphicFramePr>
            <a:graphicFrameLocks noGrp="1"/>
          </p:cNvGraphicFramePr>
          <p:nvPr/>
        </p:nvGraphicFramePr>
        <p:xfrm>
          <a:off x="167469" y="2333966"/>
          <a:ext cx="7725631" cy="1351680"/>
        </p:xfrm>
        <a:graphic>
          <a:graphicData uri="http://schemas.openxmlformats.org/drawingml/2006/table">
            <a:tbl>
              <a:tblPr firstRow="1" bandRow="1"/>
              <a:tblGrid>
                <a:gridCol w="327388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1028834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762980">
                  <a:extLst>
                    <a:ext uri="{9D8B030D-6E8A-4147-A177-3AD203B41FA5}">
                      <a16:colId xmlns:a16="http://schemas.microsoft.com/office/drawing/2014/main" val="2178705914"/>
                    </a:ext>
                  </a:extLst>
                </a:gridCol>
                <a:gridCol w="1086434">
                  <a:extLst>
                    <a:ext uri="{9D8B030D-6E8A-4147-A177-3AD203B41FA5}">
                      <a16:colId xmlns:a16="http://schemas.microsoft.com/office/drawing/2014/main" val="2628663970"/>
                    </a:ext>
                  </a:extLst>
                </a:gridCol>
                <a:gridCol w="651040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401916">
                  <a:extLst>
                    <a:ext uri="{9D8B030D-6E8A-4147-A177-3AD203B41FA5}">
                      <a16:colId xmlns:a16="http://schemas.microsoft.com/office/drawing/2014/main" val="800341694"/>
                    </a:ext>
                  </a:extLst>
                </a:gridCol>
                <a:gridCol w="1180082">
                  <a:extLst>
                    <a:ext uri="{9D8B030D-6E8A-4147-A177-3AD203B41FA5}">
                      <a16:colId xmlns:a16="http://schemas.microsoft.com/office/drawing/2014/main" val="1524271130"/>
                    </a:ext>
                  </a:extLst>
                </a:gridCol>
                <a:gridCol w="1278152">
                  <a:extLst>
                    <a:ext uri="{9D8B030D-6E8A-4147-A177-3AD203B41FA5}">
                      <a16:colId xmlns:a16="http://schemas.microsoft.com/office/drawing/2014/main" val="1597729474"/>
                    </a:ext>
                  </a:extLst>
                </a:gridCol>
                <a:gridCol w="1008805">
                  <a:extLst>
                    <a:ext uri="{9D8B030D-6E8A-4147-A177-3AD203B41FA5}">
                      <a16:colId xmlns:a16="http://schemas.microsoft.com/office/drawing/2014/main" val="188374671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No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업체명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제출상태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참여 일시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직책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핸드폰번호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규격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기술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평가점수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규격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기술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적격여부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주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r>
                        <a:rPr lang="ko-KR" altLang="en-US" sz="800" b="0" u="sng" dirty="0" err="1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큐비트엑스</a:t>
                      </a: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참여 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2026.07.30 17:25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이희성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부장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010-6844-2810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46.45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적격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A 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참여 완료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2026.07.30 17:25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차장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010-5865-5234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45.28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적격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sng" dirty="0" err="1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업체명</a:t>
                      </a: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참여 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2026.07.30 17:25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이희성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부장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010-6844-2810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38.00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부적격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</a:tbl>
          </a:graphicData>
        </a:graphic>
      </p:graphicFrame>
      <p:graphicFrame>
        <p:nvGraphicFramePr>
          <p:cNvPr id="80" name="표 79">
            <a:extLst>
              <a:ext uri="{FF2B5EF4-FFF2-40B4-BE49-F238E27FC236}">
                <a16:creationId xmlns:a16="http://schemas.microsoft.com/office/drawing/2014/main" id="{C87F4C4A-FA4D-F285-C963-73C94DEBDE73}"/>
              </a:ext>
            </a:extLst>
          </p:cNvPr>
          <p:cNvGraphicFramePr>
            <a:graphicFrameLocks noGrp="1"/>
          </p:cNvGraphicFramePr>
          <p:nvPr/>
        </p:nvGraphicFramePr>
        <p:xfrm>
          <a:off x="163185" y="3770288"/>
          <a:ext cx="7729916" cy="3592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77447">
                  <a:extLst>
                    <a:ext uri="{9D8B030D-6E8A-4147-A177-3AD203B41FA5}">
                      <a16:colId xmlns:a16="http://schemas.microsoft.com/office/drawing/2014/main" val="477224945"/>
                    </a:ext>
                  </a:extLst>
                </a:gridCol>
                <a:gridCol w="6252469">
                  <a:extLst>
                    <a:ext uri="{9D8B030D-6E8A-4147-A177-3AD203B41FA5}">
                      <a16:colId xmlns:a16="http://schemas.microsoft.com/office/drawing/2014/main" val="34787164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최저점수(적격여부 판단)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45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209096"/>
                  </a:ext>
                </a:extLst>
              </a:tr>
            </a:tbl>
          </a:graphicData>
        </a:graphic>
      </p:graphicFrame>
      <p:grpSp>
        <p:nvGrpSpPr>
          <p:cNvPr id="14" name="그룹 13">
            <a:extLst>
              <a:ext uri="{FF2B5EF4-FFF2-40B4-BE49-F238E27FC236}">
                <a16:creationId xmlns:a16="http://schemas.microsoft.com/office/drawing/2014/main" id="{49AE4826-F437-7B46-2DDB-EF4E773C050D}"/>
              </a:ext>
            </a:extLst>
          </p:cNvPr>
          <p:cNvGrpSpPr/>
          <p:nvPr/>
        </p:nvGrpSpPr>
        <p:grpSpPr>
          <a:xfrm>
            <a:off x="163503" y="1596176"/>
            <a:ext cx="7741824" cy="348918"/>
            <a:chOff x="163503" y="1596176"/>
            <a:chExt cx="7741824" cy="348918"/>
          </a:xfrm>
        </p:grpSpPr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3596127A-C913-D1AE-5F0E-76D63DE0E650}"/>
                </a:ext>
              </a:extLst>
            </p:cNvPr>
            <p:cNvCxnSpPr>
              <a:cxnSpLocks/>
            </p:cNvCxnSpPr>
            <p:nvPr/>
          </p:nvCxnSpPr>
          <p:spPr>
            <a:xfrm>
              <a:off x="167468" y="1941219"/>
              <a:ext cx="7737859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CBC3EC1D-9AAB-AA1B-D812-0D2F7BB9C3DC}"/>
                </a:ext>
              </a:extLst>
            </p:cNvPr>
            <p:cNvSpPr/>
            <p:nvPr/>
          </p:nvSpPr>
          <p:spPr>
            <a:xfrm>
              <a:off x="163503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발주계획 정보</a:t>
              </a: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5C8271B7-50DB-A104-29D2-2058D3970DAE}"/>
                </a:ext>
              </a:extLst>
            </p:cNvPr>
            <p:cNvSpPr/>
            <p:nvPr/>
          </p:nvSpPr>
          <p:spPr>
            <a:xfrm>
              <a:off x="1848030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 참여현황</a:t>
              </a: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71BE38D0-BF58-47B9-520B-7972159C1252}"/>
                </a:ext>
              </a:extLst>
            </p:cNvPr>
            <p:cNvSpPr/>
            <p:nvPr/>
          </p:nvSpPr>
          <p:spPr>
            <a:xfrm>
              <a:off x="2694874" y="1596176"/>
              <a:ext cx="839130" cy="348918"/>
            </a:xfrm>
            <a:prstGeom prst="rect">
              <a:avLst/>
            </a:prstGeom>
            <a:solidFill>
              <a:srgbClr val="00B050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심사</a:t>
              </a:r>
              <a:r>
                <a:rPr lang="en-US" altLang="ko-KR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</a:t>
              </a:r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평가</a:t>
              </a:r>
            </a:p>
          </p:txBody>
        </p: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D2974E26-BD7A-DB77-8AED-B419E50B4F0A}"/>
                </a:ext>
              </a:extLst>
            </p:cNvPr>
            <p:cNvSpPr/>
            <p:nvPr/>
          </p:nvSpPr>
          <p:spPr>
            <a:xfrm>
              <a:off x="1004560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정보</a:t>
              </a:r>
            </a:p>
          </p:txBody>
        </p: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3CF8BD7-9B03-C04F-D387-7ABA4E413C87}"/>
                </a:ext>
              </a:extLst>
            </p:cNvPr>
            <p:cNvSpPr/>
            <p:nvPr/>
          </p:nvSpPr>
          <p:spPr>
            <a:xfrm>
              <a:off x="3532662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개찰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B188B5F8-7864-E0E5-3315-E741326A27E9}"/>
                </a:ext>
              </a:extLst>
            </p:cNvPr>
            <p:cNvSpPr/>
            <p:nvPr/>
          </p:nvSpPr>
          <p:spPr>
            <a:xfrm>
              <a:off x="4370291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낙찰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업체 선정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)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5A168709-611C-D1B1-F7AB-C32EA13FF6D4}"/>
                </a:ext>
              </a:extLst>
            </p:cNvPr>
            <p:cNvSpPr/>
            <p:nvPr/>
          </p:nvSpPr>
          <p:spPr>
            <a:xfrm>
              <a:off x="5213654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수의시담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088C7259-A6A0-FB97-1F8C-727DE344216E}"/>
                </a:ext>
              </a:extLst>
            </p:cNvPr>
            <p:cNvSpPr/>
            <p:nvPr/>
          </p:nvSpPr>
          <p:spPr>
            <a:xfrm>
              <a:off x="6051872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계약 요청</a:t>
              </a:r>
            </a:p>
          </p:txBody>
        </p:sp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79FCBE5C-C404-AF55-6610-BAAE2D7AB476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3400800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D01E74-53BA-28C8-4149-AFC604F485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BD4B3B9C-44D2-8DE7-7518-95759FF070DD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34A1977-7A76-B633-314A-58F1F86564C7}"/>
              </a:ext>
            </a:extLst>
          </p:cNvPr>
          <p:cNvSpPr txBox="1"/>
          <p:nvPr/>
        </p:nvSpPr>
        <p:spPr>
          <a:xfrm>
            <a:off x="8049344" y="584684"/>
            <a:ext cx="1856656" cy="3970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심사완료 처리 후의 화면 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조회만 할 뿐 업무를 처리할 수 없음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B054788D-24A3-7E78-E807-0F7B6E9A6B5E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908E639C-773F-26AA-81F1-F335970E3044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D795B9F8-C9BD-526A-FE99-0AC524D6558D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82A09FC0-A113-69E9-19C1-36A956965991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99CDD1C-C466-D1C3-152E-09D9C7EBC115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41D9385-5A45-DAF0-D466-681C0845A2E0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7" name="Picture 1">
            <a:extLst>
              <a:ext uri="{FF2B5EF4-FFF2-40B4-BE49-F238E27FC236}">
                <a16:creationId xmlns:a16="http://schemas.microsoft.com/office/drawing/2014/main" id="{477E9F6D-19E1-FE70-525C-0843ED39DE5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29685892-AD63-0424-A8CF-3657BC3CE814}"/>
              </a:ext>
            </a:extLst>
          </p:cNvPr>
          <p:cNvSpPr txBox="1"/>
          <p:nvPr/>
        </p:nvSpPr>
        <p:spPr>
          <a:xfrm>
            <a:off x="749224" y="25608"/>
            <a:ext cx="500008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심사완료 처리 후의 화면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–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조회만 할 뿐 업무를 처리할 수 없음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88827EC4-98C4-FF23-2DBF-A77EFCFA62E8}"/>
              </a:ext>
            </a:extLst>
          </p:cNvPr>
          <p:cNvSpPr txBox="1"/>
          <p:nvPr/>
        </p:nvSpPr>
        <p:spPr>
          <a:xfrm>
            <a:off x="-854365" y="4429125"/>
            <a:ext cx="184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EF1C0B5-D2BA-01F9-EC98-453B0C0D2920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계속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76C1A1A6-14E0-FFA3-3DBE-A08040734CED}"/>
              </a:ext>
            </a:extLst>
          </p:cNvPr>
          <p:cNvSpPr/>
          <p:nvPr/>
        </p:nvSpPr>
        <p:spPr>
          <a:xfrm>
            <a:off x="183392" y="3454562"/>
            <a:ext cx="1332184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협력업체 기본 정보</a:t>
            </a:r>
            <a:endParaRPr lang="ko-KR" altLang="en-US" sz="9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AC87D287-E310-1F93-56D9-0EB9EB384907}"/>
              </a:ext>
            </a:extLst>
          </p:cNvPr>
          <p:cNvGraphicFramePr>
            <a:graphicFrameLocks noGrp="1"/>
          </p:cNvGraphicFramePr>
          <p:nvPr/>
        </p:nvGraphicFramePr>
        <p:xfrm>
          <a:off x="184392" y="3731298"/>
          <a:ext cx="7720936" cy="2027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38070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382866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indent="-7200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회사명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주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큐비트엑스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대표자명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이홍태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, 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윤지병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30657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전화번호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02-833-1650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5298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업종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IT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인프라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81144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업태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소프트웨어개발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60256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주소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(12654)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경기도 고양시 일산서구 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강선로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118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강선마을아파트 제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208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동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1202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호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2349153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F71D3E02-1832-FF23-9AE5-5285EB53D90F}"/>
              </a:ext>
            </a:extLst>
          </p:cNvPr>
          <p:cNvSpPr/>
          <p:nvPr/>
        </p:nvSpPr>
        <p:spPr>
          <a:xfrm>
            <a:off x="2349084" y="3781070"/>
            <a:ext cx="1451788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2" charset="-127"/>
                <a:ea typeface="나눔고딕" pitchFamily="2" charset="-127"/>
              </a:rPr>
              <a:t>협력업체 상세정보 바로가기 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2" charset="-127"/>
                <a:ea typeface="나눔고딕" pitchFamily="2" charset="-127"/>
                <a:sym typeface="Wingdings" panose="05000000000000000000" pitchFamily="2" charset="2"/>
              </a:rPr>
              <a:t></a:t>
            </a:r>
            <a:endParaRPr lang="en-US" altLang="ko-KR" sz="800" b="0" dirty="0">
              <a:solidFill>
                <a:schemeClr val="tx1">
                  <a:lumMod val="75000"/>
                  <a:lumOff val="25000"/>
                </a:schemeClr>
              </a:solidFill>
              <a:latin typeface="나눔고딕" pitchFamily="2" charset="-127"/>
              <a:ea typeface="나눔고딕" pitchFamily="2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94AD345-20FC-BA21-FE47-6596F21197D7}"/>
              </a:ext>
            </a:extLst>
          </p:cNvPr>
          <p:cNvSpPr/>
          <p:nvPr/>
        </p:nvSpPr>
        <p:spPr>
          <a:xfrm>
            <a:off x="183392" y="2060848"/>
            <a:ext cx="1332184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참여 진행상황</a:t>
            </a:r>
            <a:endParaRPr lang="ko-KR" altLang="en-US" sz="9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E59295BD-ED5F-191E-1226-01EE76E8EFEC}"/>
              </a:ext>
            </a:extLst>
          </p:cNvPr>
          <p:cNvGraphicFramePr>
            <a:graphicFrameLocks noGrp="1"/>
          </p:cNvGraphicFramePr>
          <p:nvPr/>
        </p:nvGraphicFramePr>
        <p:xfrm>
          <a:off x="184392" y="2354836"/>
          <a:ext cx="7720936" cy="1013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38070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382866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indent="-7200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최종제출 여부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최종제출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미제출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46592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indent="-7200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 참여 일시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2026.07.31 15:34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indent="-7200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자가심사 여부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8400472"/>
                  </a:ext>
                </a:extLst>
              </a:tr>
            </a:tbl>
          </a:graphicData>
        </a:graphic>
      </p:graphicFrame>
      <p:sp>
        <p:nvSpPr>
          <p:cNvPr id="25" name="직사각형 24">
            <a:extLst>
              <a:ext uri="{FF2B5EF4-FFF2-40B4-BE49-F238E27FC236}">
                <a16:creationId xmlns:a16="http://schemas.microsoft.com/office/drawing/2014/main" id="{ABFCAF75-1857-D1EE-D460-399EE5544EA4}"/>
              </a:ext>
            </a:extLst>
          </p:cNvPr>
          <p:cNvSpPr/>
          <p:nvPr/>
        </p:nvSpPr>
        <p:spPr>
          <a:xfrm>
            <a:off x="1582104" y="3089338"/>
            <a:ext cx="1074515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2" charset="-127"/>
                <a:ea typeface="나눔고딕" pitchFamily="2" charset="-127"/>
              </a:rPr>
              <a:t>자가 심사 정보 확인 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2" charset="-127"/>
                <a:ea typeface="나눔고딕" pitchFamily="2" charset="-127"/>
                <a:sym typeface="Wingdings" panose="05000000000000000000" pitchFamily="2" charset="2"/>
              </a:rPr>
              <a:t></a:t>
            </a:r>
            <a:endParaRPr lang="en-US" altLang="ko-KR" sz="800" b="0" dirty="0">
              <a:solidFill>
                <a:schemeClr val="tx1">
                  <a:lumMod val="75000"/>
                  <a:lumOff val="25000"/>
                </a:schemeClr>
              </a:solidFill>
              <a:latin typeface="나눔고딕" pitchFamily="2" charset="-127"/>
              <a:ea typeface="나눔고딕" pitchFamily="2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D8911730-5D40-50EA-A158-E18A1E35244F}"/>
              </a:ext>
            </a:extLst>
          </p:cNvPr>
          <p:cNvSpPr/>
          <p:nvPr/>
        </p:nvSpPr>
        <p:spPr>
          <a:xfrm>
            <a:off x="4672843" y="2636626"/>
            <a:ext cx="5027009" cy="370869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830362CF-124C-4550-CEBF-1EEE5A303297}"/>
              </a:ext>
            </a:extLst>
          </p:cNvPr>
          <p:cNvSpPr/>
          <p:nvPr/>
        </p:nvSpPr>
        <p:spPr>
          <a:xfrm>
            <a:off x="4672842" y="2636626"/>
            <a:ext cx="502406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자가 심사 정보 확인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9D7959CF-82CE-2376-E985-8692249A27B0}"/>
              </a:ext>
            </a:extLst>
          </p:cNvPr>
          <p:cNvSpPr/>
          <p:nvPr/>
        </p:nvSpPr>
        <p:spPr>
          <a:xfrm>
            <a:off x="9435528" y="2636626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F33A9D1-630A-D314-6651-F3FF807C3259}"/>
              </a:ext>
            </a:extLst>
          </p:cNvPr>
          <p:cNvSpPr/>
          <p:nvPr/>
        </p:nvSpPr>
        <p:spPr>
          <a:xfrm>
            <a:off x="4841252" y="3042451"/>
            <a:ext cx="1258358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자가 심사 정보 확인</a:t>
            </a: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3316F628-2153-2140-BB2C-5041A5ECAA54}"/>
              </a:ext>
            </a:extLst>
          </p:cNvPr>
          <p:cNvGraphicFramePr>
            <a:graphicFrameLocks noGrp="1"/>
          </p:cNvGraphicFramePr>
          <p:nvPr/>
        </p:nvGraphicFramePr>
        <p:xfrm>
          <a:off x="4836780" y="3372458"/>
          <a:ext cx="4719056" cy="337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12225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3406831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indent="-7200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회사명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주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큐비트엑스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</a:tbl>
          </a:graphicData>
        </a:graphic>
      </p:graphicFrame>
      <p:sp>
        <p:nvSpPr>
          <p:cNvPr id="47" name="직사각형 46">
            <a:extLst>
              <a:ext uri="{FF2B5EF4-FFF2-40B4-BE49-F238E27FC236}">
                <a16:creationId xmlns:a16="http://schemas.microsoft.com/office/drawing/2014/main" id="{E28605F2-7672-97A3-EFC1-E31CACE91410}"/>
              </a:ext>
            </a:extLst>
          </p:cNvPr>
          <p:cNvSpPr/>
          <p:nvPr/>
        </p:nvSpPr>
        <p:spPr>
          <a:xfrm>
            <a:off x="4836781" y="3796209"/>
            <a:ext cx="1332184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자가 심사</a:t>
            </a:r>
            <a:endParaRPr lang="ko-KR" altLang="en-US" sz="9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6254B33F-3CC0-EADC-7ACC-22E22BA0079C}"/>
              </a:ext>
            </a:extLst>
          </p:cNvPr>
          <p:cNvSpPr/>
          <p:nvPr/>
        </p:nvSpPr>
        <p:spPr>
          <a:xfrm>
            <a:off x="8872546" y="5869680"/>
            <a:ext cx="699418" cy="28803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닫기</a:t>
            </a:r>
          </a:p>
        </p:txBody>
      </p:sp>
      <p:graphicFrame>
        <p:nvGraphicFramePr>
          <p:cNvPr id="59" name="표 58">
            <a:extLst>
              <a:ext uri="{FF2B5EF4-FFF2-40B4-BE49-F238E27FC236}">
                <a16:creationId xmlns:a16="http://schemas.microsoft.com/office/drawing/2014/main" id="{F5206130-7029-159B-636F-4E7D9BE27B32}"/>
              </a:ext>
            </a:extLst>
          </p:cNvPr>
          <p:cNvGraphicFramePr>
            <a:graphicFrameLocks noGrp="1"/>
          </p:cNvGraphicFramePr>
          <p:nvPr/>
        </p:nvGraphicFramePr>
        <p:xfrm>
          <a:off x="4836780" y="4089245"/>
          <a:ext cx="4735184" cy="1689600"/>
        </p:xfrm>
        <a:graphic>
          <a:graphicData uri="http://schemas.openxmlformats.org/drawingml/2006/table">
            <a:tbl>
              <a:tblPr firstRow="1" bandRow="1"/>
              <a:tblGrid>
                <a:gridCol w="357417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854227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1201835">
                  <a:extLst>
                    <a:ext uri="{9D8B030D-6E8A-4147-A177-3AD203B41FA5}">
                      <a16:colId xmlns:a16="http://schemas.microsoft.com/office/drawing/2014/main" val="916893631"/>
                    </a:ext>
                  </a:extLst>
                </a:gridCol>
                <a:gridCol w="756676">
                  <a:extLst>
                    <a:ext uri="{9D8B030D-6E8A-4147-A177-3AD203B41FA5}">
                      <a16:colId xmlns:a16="http://schemas.microsoft.com/office/drawing/2014/main" val="2007680974"/>
                    </a:ext>
                  </a:extLst>
                </a:gridCol>
                <a:gridCol w="687945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877084">
                  <a:extLst>
                    <a:ext uri="{9D8B030D-6E8A-4147-A177-3AD203B41FA5}">
                      <a16:colId xmlns:a16="http://schemas.microsoft.com/office/drawing/2014/main" val="196387936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No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심사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/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평가 구분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심사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/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평가 항목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자가심사 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배점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평가점수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계량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정량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신용평가등급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필요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4.42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계량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정량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시공경험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일반공사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필요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10.00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계량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정량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영업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기간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필요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5.00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합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15.42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6865154"/>
                  </a:ext>
                </a:extLst>
              </a:tr>
            </a:tbl>
          </a:graphicData>
        </a:graphic>
      </p:graphicFrame>
      <p:cxnSp>
        <p:nvCxnSpPr>
          <p:cNvPr id="60" name="연결선: 꺾임 59">
            <a:extLst>
              <a:ext uri="{FF2B5EF4-FFF2-40B4-BE49-F238E27FC236}">
                <a16:creationId xmlns:a16="http://schemas.microsoft.com/office/drawing/2014/main" id="{D72F08B6-2590-1F50-B60A-234EF0BDFBE8}"/>
              </a:ext>
            </a:extLst>
          </p:cNvPr>
          <p:cNvCxnSpPr>
            <a:cxnSpLocks/>
            <a:stCxn id="25" idx="3"/>
          </p:cNvCxnSpPr>
          <p:nvPr/>
        </p:nvCxnSpPr>
        <p:spPr>
          <a:xfrm>
            <a:off x="2656619" y="3197059"/>
            <a:ext cx="2016224" cy="1328104"/>
          </a:xfrm>
          <a:prstGeom prst="bentConnector3">
            <a:avLst>
              <a:gd name="adj1" fmla="val 73104"/>
            </a:avLst>
          </a:prstGeom>
          <a:ln>
            <a:solidFill>
              <a:srgbClr val="C00000"/>
            </a:solidFill>
            <a:prstDash val="sysDash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타원 66">
            <a:extLst>
              <a:ext uri="{FF2B5EF4-FFF2-40B4-BE49-F238E27FC236}">
                <a16:creationId xmlns:a16="http://schemas.microsoft.com/office/drawing/2014/main" id="{4C09BFA9-8BA1-7CB5-F40B-3C19714F37ED}"/>
              </a:ext>
            </a:extLst>
          </p:cNvPr>
          <p:cNvSpPr/>
          <p:nvPr/>
        </p:nvSpPr>
        <p:spPr>
          <a:xfrm>
            <a:off x="1456095" y="2977068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566F77B9-5DB3-9671-0E04-C5831EA5F40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0504182"/>
              </p:ext>
            </p:extLst>
          </p:nvPr>
        </p:nvGraphicFramePr>
        <p:xfrm>
          <a:off x="164466" y="817960"/>
          <a:ext cx="7732447" cy="675840"/>
        </p:xfrm>
        <a:graphic>
          <a:graphicData uri="http://schemas.openxmlformats.org/drawingml/2006/table">
            <a:tbl>
              <a:tblPr firstRow="1" bandRow="1"/>
              <a:tblGrid>
                <a:gridCol w="83838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763949">
                  <a:extLst>
                    <a:ext uri="{9D8B030D-6E8A-4147-A177-3AD203B41FA5}">
                      <a16:colId xmlns:a16="http://schemas.microsoft.com/office/drawing/2014/main" val="1731736782"/>
                    </a:ext>
                  </a:extLst>
                </a:gridCol>
                <a:gridCol w="616894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821542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289563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1002816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1092824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628938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677541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재공고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심사완료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grpSp>
        <p:nvGrpSpPr>
          <p:cNvPr id="5" name="그룹 4">
            <a:extLst>
              <a:ext uri="{FF2B5EF4-FFF2-40B4-BE49-F238E27FC236}">
                <a16:creationId xmlns:a16="http://schemas.microsoft.com/office/drawing/2014/main" id="{110B557A-736E-4B32-F521-D6F107FE9AA0}"/>
              </a:ext>
            </a:extLst>
          </p:cNvPr>
          <p:cNvGrpSpPr/>
          <p:nvPr/>
        </p:nvGrpSpPr>
        <p:grpSpPr>
          <a:xfrm>
            <a:off x="163503" y="1596176"/>
            <a:ext cx="7741824" cy="348918"/>
            <a:chOff x="163503" y="1596176"/>
            <a:chExt cx="7741824" cy="348918"/>
          </a:xfrm>
        </p:grpSpPr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7D2B208C-1D9F-9727-9083-812ACAE61AB5}"/>
                </a:ext>
              </a:extLst>
            </p:cNvPr>
            <p:cNvCxnSpPr>
              <a:cxnSpLocks/>
            </p:cNvCxnSpPr>
            <p:nvPr/>
          </p:nvCxnSpPr>
          <p:spPr>
            <a:xfrm>
              <a:off x="167468" y="1941219"/>
              <a:ext cx="7737859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CA278D02-E929-3029-0D4C-BED8C782AEA4}"/>
                </a:ext>
              </a:extLst>
            </p:cNvPr>
            <p:cNvSpPr/>
            <p:nvPr/>
          </p:nvSpPr>
          <p:spPr>
            <a:xfrm>
              <a:off x="163503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발주계획 정보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C9B387A3-CF74-0DE1-6C40-B1FD5382DB98}"/>
                </a:ext>
              </a:extLst>
            </p:cNvPr>
            <p:cNvSpPr/>
            <p:nvPr/>
          </p:nvSpPr>
          <p:spPr>
            <a:xfrm>
              <a:off x="1848030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 참여현황</a:t>
              </a: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549C066E-07D0-3A28-683F-5C1BA9CF45A0}"/>
                </a:ext>
              </a:extLst>
            </p:cNvPr>
            <p:cNvSpPr/>
            <p:nvPr/>
          </p:nvSpPr>
          <p:spPr>
            <a:xfrm>
              <a:off x="2694874" y="1596176"/>
              <a:ext cx="839130" cy="348918"/>
            </a:xfrm>
            <a:prstGeom prst="rect">
              <a:avLst/>
            </a:prstGeom>
            <a:solidFill>
              <a:srgbClr val="00B050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심사</a:t>
              </a:r>
              <a:r>
                <a:rPr lang="en-US" altLang="ko-KR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</a:t>
              </a:r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평가</a:t>
              </a:r>
            </a:p>
          </p:txBody>
        </p: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B6D1A378-247E-9913-CEB4-F0F99C268974}"/>
                </a:ext>
              </a:extLst>
            </p:cNvPr>
            <p:cNvSpPr/>
            <p:nvPr/>
          </p:nvSpPr>
          <p:spPr>
            <a:xfrm>
              <a:off x="1004560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정보</a:t>
              </a: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927ADC0D-636B-929A-0839-C7F26CF2B4BB}"/>
                </a:ext>
              </a:extLst>
            </p:cNvPr>
            <p:cNvSpPr/>
            <p:nvPr/>
          </p:nvSpPr>
          <p:spPr>
            <a:xfrm>
              <a:off x="3532662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개찰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682828AA-5187-B5C4-FA53-5DAB52E8C527}"/>
                </a:ext>
              </a:extLst>
            </p:cNvPr>
            <p:cNvSpPr/>
            <p:nvPr/>
          </p:nvSpPr>
          <p:spPr>
            <a:xfrm>
              <a:off x="4370291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낙찰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업체 선정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)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D3A6C899-7C54-FCFF-0E52-FD8E4951C4CB}"/>
                </a:ext>
              </a:extLst>
            </p:cNvPr>
            <p:cNvSpPr/>
            <p:nvPr/>
          </p:nvSpPr>
          <p:spPr>
            <a:xfrm>
              <a:off x="5213654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수의시담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F64B557D-3BE8-67D8-60F7-36FE739F0220}"/>
                </a:ext>
              </a:extLst>
            </p:cNvPr>
            <p:cNvSpPr/>
            <p:nvPr/>
          </p:nvSpPr>
          <p:spPr>
            <a:xfrm>
              <a:off x="6051872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계약 요청</a:t>
              </a:r>
            </a:p>
          </p:txBody>
        </p:sp>
      </p:grpSp>
      <p:sp>
        <p:nvSpPr>
          <p:cNvPr id="9" name="직사각형 8">
            <a:extLst>
              <a:ext uri="{FF2B5EF4-FFF2-40B4-BE49-F238E27FC236}">
                <a16:creationId xmlns:a16="http://schemas.microsoft.com/office/drawing/2014/main" id="{8E713ED1-7188-BDEE-DD7A-56D352F1BA60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23867765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D2B4EA-CE97-4FA7-2068-BCC48FEDA1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9790E9CB-B83C-5597-D0DF-1C5F927BBB95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62D5C564-D8DA-E5AD-34DE-4BD55800D5A1}"/>
              </a:ext>
            </a:extLst>
          </p:cNvPr>
          <p:cNvSpPr txBox="1"/>
          <p:nvPr/>
        </p:nvSpPr>
        <p:spPr>
          <a:xfrm>
            <a:off x="8049344" y="584684"/>
            <a:ext cx="1856656" cy="3970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심사완료 처리 후의 화면 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조회만 할 뿐 업무를 처리할 수 없음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83B684C-A4F4-1A19-FB2A-0BD6208948B8}"/>
              </a:ext>
            </a:extLst>
          </p:cNvPr>
          <p:cNvSpPr txBox="1"/>
          <p:nvPr/>
        </p:nvSpPr>
        <p:spPr>
          <a:xfrm>
            <a:off x="749224" y="25608"/>
            <a:ext cx="500008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심사완료 처리 후의 화면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–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조회만 할 뿐 업무를 처리할 수 없음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0E7D5B55-1E70-FE2A-48C1-708FA2F6151B}"/>
              </a:ext>
            </a:extLst>
          </p:cNvPr>
          <p:cNvSpPr/>
          <p:nvPr/>
        </p:nvSpPr>
        <p:spPr>
          <a:xfrm>
            <a:off x="184392" y="5951933"/>
            <a:ext cx="699418" cy="288032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목록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85DCFA3C-F681-B44F-9B7C-FF548AE020EB}"/>
              </a:ext>
            </a:extLst>
          </p:cNvPr>
          <p:cNvSpPr/>
          <p:nvPr/>
        </p:nvSpPr>
        <p:spPr>
          <a:xfrm>
            <a:off x="181506" y="395760"/>
            <a:ext cx="1313872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본 입찰의 담당자 정보</a:t>
            </a:r>
            <a:endParaRPr lang="ko-KR" altLang="en-US" sz="9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D3D2B282-52D3-6586-C038-AA54B3669DB9}"/>
              </a:ext>
            </a:extLst>
          </p:cNvPr>
          <p:cNvSpPr/>
          <p:nvPr/>
        </p:nvSpPr>
        <p:spPr>
          <a:xfrm>
            <a:off x="183392" y="1484784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참여 서류</a:t>
            </a:r>
            <a:endParaRPr lang="ko-KR" altLang="en-US" sz="80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18456973-AD23-5FD9-18C2-50478512921E}"/>
              </a:ext>
            </a:extLst>
          </p:cNvPr>
          <p:cNvGraphicFramePr>
            <a:graphicFrameLocks noGrp="1"/>
          </p:cNvGraphicFramePr>
          <p:nvPr/>
        </p:nvGraphicFramePr>
        <p:xfrm>
          <a:off x="163194" y="1764190"/>
          <a:ext cx="7680833" cy="1689600"/>
        </p:xfrm>
        <a:graphic>
          <a:graphicData uri="http://schemas.openxmlformats.org/drawingml/2006/table">
            <a:tbl>
              <a:tblPr firstRow="1" bandRow="1"/>
              <a:tblGrid>
                <a:gridCol w="411935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1871268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5397630">
                  <a:extLst>
                    <a:ext uri="{9D8B030D-6E8A-4147-A177-3AD203B41FA5}">
                      <a16:colId xmlns:a16="http://schemas.microsoft.com/office/drawing/2014/main" val="91689363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No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참여 서류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첨부파일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입찰참가신청서 날인본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신용평가등급 확인서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법인인감 증명서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9541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기타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8093012"/>
                  </a:ext>
                </a:extLst>
              </a:tr>
            </a:tbl>
          </a:graphicData>
        </a:graphic>
      </p:graphicFrame>
      <p:grpSp>
        <p:nvGrpSpPr>
          <p:cNvPr id="71" name="그룹 70">
            <a:extLst>
              <a:ext uri="{FF2B5EF4-FFF2-40B4-BE49-F238E27FC236}">
                <a16:creationId xmlns:a16="http://schemas.microsoft.com/office/drawing/2014/main" id="{D3A49A31-5807-FA9F-567D-F6C62C4BE25E}"/>
              </a:ext>
            </a:extLst>
          </p:cNvPr>
          <p:cNvGrpSpPr/>
          <p:nvPr/>
        </p:nvGrpSpPr>
        <p:grpSpPr>
          <a:xfrm>
            <a:off x="3497512" y="2162774"/>
            <a:ext cx="1275802" cy="198885"/>
            <a:chOff x="3437130" y="2162774"/>
            <a:chExt cx="1275802" cy="198885"/>
          </a:xfrm>
        </p:grpSpPr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18FF6577-B1B2-62D0-FE76-BEF2D37604B3}"/>
                </a:ext>
              </a:extLst>
            </p:cNvPr>
            <p:cNvSpPr/>
            <p:nvPr/>
          </p:nvSpPr>
          <p:spPr>
            <a:xfrm>
              <a:off x="3437130" y="216277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F806A1A-70DD-F546-1FCF-63DE19B162D9}"/>
                </a:ext>
              </a:extLst>
            </p:cNvPr>
            <p:cNvSpPr/>
            <p:nvPr/>
          </p:nvSpPr>
          <p:spPr>
            <a:xfrm>
              <a:off x="4099967" y="216277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B14A15B6-AC4D-F91B-7401-0712B5C13B92}"/>
              </a:ext>
            </a:extLst>
          </p:cNvPr>
          <p:cNvGrpSpPr/>
          <p:nvPr/>
        </p:nvGrpSpPr>
        <p:grpSpPr>
          <a:xfrm>
            <a:off x="3497512" y="2838830"/>
            <a:ext cx="1275802" cy="198885"/>
            <a:chOff x="3545142" y="4085591"/>
            <a:chExt cx="1275802" cy="198885"/>
          </a:xfrm>
        </p:grpSpPr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E0BD4C37-643C-0312-6A93-49FFD2C582B0}"/>
                </a:ext>
              </a:extLst>
            </p:cNvPr>
            <p:cNvSpPr/>
            <p:nvPr/>
          </p:nvSpPr>
          <p:spPr>
            <a:xfrm>
              <a:off x="3545142" y="4085591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DDDA9E9F-66CF-2552-5E49-003148B7D4BF}"/>
                </a:ext>
              </a:extLst>
            </p:cNvPr>
            <p:cNvSpPr/>
            <p:nvPr/>
          </p:nvSpPr>
          <p:spPr>
            <a:xfrm>
              <a:off x="4207979" y="4085591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1491A0A2-FA52-D6C8-D5CE-A7F8B111B20D}"/>
              </a:ext>
            </a:extLst>
          </p:cNvPr>
          <p:cNvGrpSpPr/>
          <p:nvPr/>
        </p:nvGrpSpPr>
        <p:grpSpPr>
          <a:xfrm>
            <a:off x="3497512" y="3176859"/>
            <a:ext cx="1275802" cy="198885"/>
            <a:chOff x="3545142" y="4085591"/>
            <a:chExt cx="1275802" cy="198885"/>
          </a:xfrm>
        </p:grpSpPr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5898DBFE-17A4-6142-E257-77C5C89CB092}"/>
                </a:ext>
              </a:extLst>
            </p:cNvPr>
            <p:cNvSpPr/>
            <p:nvPr/>
          </p:nvSpPr>
          <p:spPr>
            <a:xfrm>
              <a:off x="3545142" y="4085591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97BC3AE0-9F1D-E3CE-4D9C-C926C905D047}"/>
                </a:ext>
              </a:extLst>
            </p:cNvPr>
            <p:cNvSpPr/>
            <p:nvPr/>
          </p:nvSpPr>
          <p:spPr>
            <a:xfrm>
              <a:off x="4207979" y="4085591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E17B7F67-69B1-0245-32CF-30A24EB01D01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FDF8A215-8A79-E186-1BD2-84491CF43BD6}"/>
              </a:ext>
            </a:extLst>
          </p:cNvPr>
          <p:cNvSpPr/>
          <p:nvPr/>
        </p:nvSpPr>
        <p:spPr>
          <a:xfrm>
            <a:off x="183392" y="3537012"/>
            <a:ext cx="7713520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심사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</a:t>
            </a:r>
            <a:endParaRPr lang="ko-KR" altLang="en-US" sz="80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66" name="표 65">
            <a:extLst>
              <a:ext uri="{FF2B5EF4-FFF2-40B4-BE49-F238E27FC236}">
                <a16:creationId xmlns:a16="http://schemas.microsoft.com/office/drawing/2014/main" id="{C9B06808-22EB-5812-B73E-0045712E7A97}"/>
              </a:ext>
            </a:extLst>
          </p:cNvPr>
          <p:cNvGraphicFramePr>
            <a:graphicFrameLocks noGrp="1"/>
          </p:cNvGraphicFramePr>
          <p:nvPr/>
        </p:nvGraphicFramePr>
        <p:xfrm>
          <a:off x="181505" y="3800678"/>
          <a:ext cx="7662520" cy="2027520"/>
        </p:xfrm>
        <a:graphic>
          <a:graphicData uri="http://schemas.openxmlformats.org/drawingml/2006/table">
            <a:tbl>
              <a:tblPr firstRow="1" bandRow="1"/>
              <a:tblGrid>
                <a:gridCol w="393912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1284069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3002975">
                  <a:extLst>
                    <a:ext uri="{9D8B030D-6E8A-4147-A177-3AD203B41FA5}">
                      <a16:colId xmlns:a16="http://schemas.microsoft.com/office/drawing/2014/main" val="916893631"/>
                    </a:ext>
                  </a:extLst>
                </a:gridCol>
                <a:gridCol w="892897">
                  <a:extLst>
                    <a:ext uri="{9D8B030D-6E8A-4147-A177-3AD203B41FA5}">
                      <a16:colId xmlns:a16="http://schemas.microsoft.com/office/drawing/2014/main" val="2007680974"/>
                    </a:ext>
                  </a:extLst>
                </a:gridCol>
                <a:gridCol w="573966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1514701">
                  <a:extLst>
                    <a:ext uri="{9D8B030D-6E8A-4147-A177-3AD203B41FA5}">
                      <a16:colId xmlns:a16="http://schemas.microsoft.com/office/drawing/2014/main" val="196387936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No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심사항목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심사기준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자가심사 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배점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규격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기술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평가점수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신용평가등급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첨부된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‘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배점 및 평가기준 관련 파일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’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을 확인하세요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.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필요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심사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평가 전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 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4.00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시공경험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일반공사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제안요청서 내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‘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배점 및 평가기준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’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을 확인하세요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.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필요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심사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평가 전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10.00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영업기간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-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필요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심사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평가 전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4.00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제안 평가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제안서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발표자료의 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충실성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사업의 이해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기술부문 등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불필요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60.00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심사/평가 전  | 50.00 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507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합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80.00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심사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평가 전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68.00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6865154"/>
                  </a:ext>
                </a:extLst>
              </a:tr>
            </a:tbl>
          </a:graphicData>
        </a:graphic>
      </p:graphicFrame>
      <p:grpSp>
        <p:nvGrpSpPr>
          <p:cNvPr id="68" name="그룹 67">
            <a:extLst>
              <a:ext uri="{FF2B5EF4-FFF2-40B4-BE49-F238E27FC236}">
                <a16:creationId xmlns:a16="http://schemas.microsoft.com/office/drawing/2014/main" id="{0C3D125F-7AF5-0A1D-A827-63602D006E35}"/>
              </a:ext>
            </a:extLst>
          </p:cNvPr>
          <p:cNvGrpSpPr/>
          <p:nvPr/>
        </p:nvGrpSpPr>
        <p:grpSpPr>
          <a:xfrm>
            <a:off x="3497512" y="2500802"/>
            <a:ext cx="1275802" cy="198885"/>
            <a:chOff x="3545142" y="4085591"/>
            <a:chExt cx="1275802" cy="198885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6928DF78-A580-3EA2-7181-86FCFB161E94}"/>
                </a:ext>
              </a:extLst>
            </p:cNvPr>
            <p:cNvSpPr/>
            <p:nvPr/>
          </p:nvSpPr>
          <p:spPr>
            <a:xfrm>
              <a:off x="3545142" y="4085591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30714745-059B-0924-A19C-4657528E414E}"/>
                </a:ext>
              </a:extLst>
            </p:cNvPr>
            <p:cNvSpPr/>
            <p:nvPr/>
          </p:nvSpPr>
          <p:spPr>
            <a:xfrm>
              <a:off x="4207979" y="4085591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E9BCF4B0-2AFD-6559-A3D5-6F7B568B3E99}"/>
              </a:ext>
            </a:extLst>
          </p:cNvPr>
          <p:cNvGraphicFramePr>
            <a:graphicFrameLocks noGrp="1"/>
          </p:cNvGraphicFramePr>
          <p:nvPr/>
        </p:nvGraphicFramePr>
        <p:xfrm>
          <a:off x="181506" y="692418"/>
          <a:ext cx="7662521" cy="67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1304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747979">
                  <a:extLst>
                    <a:ext uri="{9D8B030D-6E8A-4147-A177-3AD203B41FA5}">
                      <a16:colId xmlns:a16="http://schemas.microsoft.com/office/drawing/2014/main" val="1183147798"/>
                    </a:ext>
                  </a:extLst>
                </a:gridCol>
                <a:gridCol w="506078">
                  <a:extLst>
                    <a:ext uri="{9D8B030D-6E8A-4147-A177-3AD203B41FA5}">
                      <a16:colId xmlns:a16="http://schemas.microsoft.com/office/drawing/2014/main" val="296951377"/>
                    </a:ext>
                  </a:extLst>
                </a:gridCol>
                <a:gridCol w="386312">
                  <a:extLst>
                    <a:ext uri="{9D8B030D-6E8A-4147-A177-3AD203B41FA5}">
                      <a16:colId xmlns:a16="http://schemas.microsoft.com/office/drawing/2014/main" val="2761937130"/>
                    </a:ext>
                  </a:extLst>
                </a:gridCol>
                <a:gridCol w="1261268">
                  <a:extLst>
                    <a:ext uri="{9D8B030D-6E8A-4147-A177-3AD203B41FA5}">
                      <a16:colId xmlns:a16="http://schemas.microsoft.com/office/drawing/2014/main" val="1266029869"/>
                    </a:ext>
                  </a:extLst>
                </a:gridCol>
                <a:gridCol w="1023185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  <a:gridCol w="954824">
                  <a:extLst>
                    <a:ext uri="{9D8B030D-6E8A-4147-A177-3AD203B41FA5}">
                      <a16:colId xmlns:a16="http://schemas.microsoft.com/office/drawing/2014/main" val="3329224653"/>
                    </a:ext>
                  </a:extLst>
                </a:gridCol>
                <a:gridCol w="1242299">
                  <a:extLst>
                    <a:ext uri="{9D8B030D-6E8A-4147-A177-3AD203B41FA5}">
                      <a16:colId xmlns:a16="http://schemas.microsoft.com/office/drawing/2014/main" val="2705196257"/>
                    </a:ext>
                  </a:extLst>
                </a:gridCol>
                <a:gridCol w="1199272">
                  <a:extLst>
                    <a:ext uri="{9D8B030D-6E8A-4147-A177-3AD203B41FA5}">
                      <a16:colId xmlns:a16="http://schemas.microsoft.com/office/drawing/2014/main" val="134526230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No</a:t>
                      </a:r>
                      <a:endParaRPr lang="ko-KR" altLang="en-US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담당자 구분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이름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직책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이메일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핸드폰번호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전화번호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담당업무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수동 메일</a:t>
                      </a: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메시지 발송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기본 담당자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이희성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이사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leehee43@naver.com</a:t>
                      </a:r>
                      <a:endParaRPr lang="ko-KR" altLang="en-US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010-6844-2810</a:t>
                      </a:r>
                      <a:endParaRPr lang="ko-KR" altLang="en-US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02-6959-9856</a:t>
                      </a:r>
                      <a:endParaRPr lang="ko-KR" altLang="en-US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사내 입찰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계약 담당자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6B8DF12-C4E6-5CFA-C592-8DCA555FD49B}"/>
              </a:ext>
            </a:extLst>
          </p:cNvPr>
          <p:cNvSpPr/>
          <p:nvPr/>
        </p:nvSpPr>
        <p:spPr>
          <a:xfrm>
            <a:off x="6725822" y="1083249"/>
            <a:ext cx="1044061" cy="215441"/>
          </a:xfrm>
          <a:prstGeom prst="rect">
            <a:avLst/>
          </a:prstGeom>
          <a:solidFill>
            <a:srgbClr val="FFC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2" charset="-127"/>
                <a:ea typeface="나눔고딕" pitchFamily="2" charset="-127"/>
              </a:rPr>
              <a:t>수동 메일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2" charset="-127"/>
                <a:ea typeface="나눔고딕" pitchFamily="2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itchFamily="2" charset="-127"/>
                <a:ea typeface="나눔고딕" pitchFamily="2" charset="-127"/>
              </a:rPr>
              <a:t>메시지 발송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itchFamily="2" charset="-127"/>
              <a:ea typeface="나눔고딕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24069681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85D74E-D36F-D576-AB3A-9B22EE3102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49CD8C1C-F45D-5215-E3A4-7E6E529906CC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EBF31AC-6287-51CF-9C3A-F877DFA255A0}"/>
              </a:ext>
            </a:extLst>
          </p:cNvPr>
          <p:cNvSpPr txBox="1"/>
          <p:nvPr/>
        </p:nvSpPr>
        <p:spPr>
          <a:xfrm>
            <a:off x="8049344" y="584684"/>
            <a:ext cx="1856656" cy="39826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개찰 전의 화면</a:t>
            </a:r>
            <a:b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투찰에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참여한 업체만 노출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제한적 최저가 입찰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’, ‘2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분리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)’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의 경우 </a:t>
            </a:r>
            <a:b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적격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으로 심사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 통과 후 </a:t>
            </a:r>
            <a:r>
              <a:rPr lang="ko-KR" altLang="en-US" sz="800" u="sng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투찰은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u="sng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안 한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업체가 있을 수 있음</a:t>
            </a:r>
            <a:endParaRPr lang="en-US" altLang="ko-KR" sz="800" u="sng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 전에는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입찰견적서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호출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불가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 전에는 모든 가격은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마스킹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처리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예비가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‘제한적 최저가’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‘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적격심사’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로 설정된 경우에만 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낙찰하한율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과 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u="sng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낙찰하한가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 표시될 수 있음</a:t>
            </a:r>
            <a:endParaRPr lang="en-US" altLang="ko-KR" sz="800" u="sng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 전에는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상세견적서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를 확인할 수 없음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상세견적서의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개수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는 제공함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개찰을 처리하면 진행상태를 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개찰완료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상태로 변경</a:t>
            </a:r>
            <a:endParaRPr lang="en-US" altLang="ko-KR" sz="800" u="sng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089AD845-B011-59CD-2460-6837A6455F40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9DF80005-594C-4B52-DC95-1F76AD4FF125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84867CC2-892C-E7EE-00FD-9FB3B38F1A57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37212E9-3EF0-F7E6-70F1-F2F26259D321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F6A5A27B-5570-1F55-8BEA-93BDAD70E7E1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D7FB2EB4-133F-E875-51FA-8C2E44A92A21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7" name="Picture 1">
            <a:extLst>
              <a:ext uri="{FF2B5EF4-FFF2-40B4-BE49-F238E27FC236}">
                <a16:creationId xmlns:a16="http://schemas.microsoft.com/office/drawing/2014/main" id="{B728F29B-2D36-25DF-6515-F8A6EEF7AD0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45559EB1-6F6F-D11D-B53A-CCF8E73C609E}"/>
              </a:ext>
            </a:extLst>
          </p:cNvPr>
          <p:cNvSpPr txBox="1"/>
          <p:nvPr/>
        </p:nvSpPr>
        <p:spPr>
          <a:xfrm>
            <a:off x="749224" y="25608"/>
            <a:ext cx="244810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 전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27BF523-0D32-9A8D-8E29-0F6B0074098F}"/>
              </a:ext>
            </a:extLst>
          </p:cNvPr>
          <p:cNvSpPr txBox="1"/>
          <p:nvPr/>
        </p:nvSpPr>
        <p:spPr>
          <a:xfrm>
            <a:off x="164468" y="2078041"/>
            <a:ext cx="3053340" cy="230832"/>
          </a:xfrm>
          <a:prstGeom prst="rect">
            <a:avLst/>
          </a:prstGeom>
          <a:noFill/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참여업체 </a:t>
            </a:r>
            <a:r>
              <a:rPr lang="en-US" altLang="ko-KR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총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건</a:t>
            </a: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9A96E068-183E-4EFE-D1FB-468C841EC218}"/>
              </a:ext>
            </a:extLst>
          </p:cNvPr>
          <p:cNvGraphicFramePr>
            <a:graphicFrameLocks noGrp="1"/>
          </p:cNvGraphicFramePr>
          <p:nvPr/>
        </p:nvGraphicFramePr>
        <p:xfrm>
          <a:off x="171331" y="2361129"/>
          <a:ext cx="7718094" cy="1351680"/>
        </p:xfrm>
        <a:graphic>
          <a:graphicData uri="http://schemas.openxmlformats.org/drawingml/2006/table">
            <a:tbl>
              <a:tblPr firstRow="1" bandRow="1"/>
              <a:tblGrid>
                <a:gridCol w="329674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871488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895192">
                  <a:extLst>
                    <a:ext uri="{9D8B030D-6E8A-4147-A177-3AD203B41FA5}">
                      <a16:colId xmlns:a16="http://schemas.microsoft.com/office/drawing/2014/main" val="3438477450"/>
                    </a:ext>
                  </a:extLst>
                </a:gridCol>
                <a:gridCol w="1103451">
                  <a:extLst>
                    <a:ext uri="{9D8B030D-6E8A-4147-A177-3AD203B41FA5}">
                      <a16:colId xmlns:a16="http://schemas.microsoft.com/office/drawing/2014/main" val="916893631"/>
                    </a:ext>
                  </a:extLst>
                </a:gridCol>
                <a:gridCol w="871488">
                  <a:extLst>
                    <a:ext uri="{9D8B030D-6E8A-4147-A177-3AD203B41FA5}">
                      <a16:colId xmlns:a16="http://schemas.microsoft.com/office/drawing/2014/main" val="1516929747"/>
                    </a:ext>
                  </a:extLst>
                </a:gridCol>
                <a:gridCol w="834238">
                  <a:extLst>
                    <a:ext uri="{9D8B030D-6E8A-4147-A177-3AD203B41FA5}">
                      <a16:colId xmlns:a16="http://schemas.microsoft.com/office/drawing/2014/main" val="2696889248"/>
                    </a:ext>
                  </a:extLst>
                </a:gridCol>
                <a:gridCol w="918896">
                  <a:extLst>
                    <a:ext uri="{9D8B030D-6E8A-4147-A177-3AD203B41FA5}">
                      <a16:colId xmlns:a16="http://schemas.microsoft.com/office/drawing/2014/main" val="2470283878"/>
                    </a:ext>
                  </a:extLst>
                </a:gridCol>
                <a:gridCol w="824079">
                  <a:extLst>
                    <a:ext uri="{9D8B030D-6E8A-4147-A177-3AD203B41FA5}">
                      <a16:colId xmlns:a16="http://schemas.microsoft.com/office/drawing/2014/main" val="2259197678"/>
                    </a:ext>
                  </a:extLst>
                </a:gridCol>
                <a:gridCol w="1069588">
                  <a:extLst>
                    <a:ext uri="{9D8B030D-6E8A-4147-A177-3AD203B41FA5}">
                      <a16:colId xmlns:a16="http://schemas.microsoft.com/office/drawing/2014/main" val="322537413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No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업체명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견적 번호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가격 </a:t>
                      </a: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투찰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 일시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견적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예정가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낙찰하한율(%)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낙찰하한가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상세견적서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주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큐비트엑스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QT2025-0032</a:t>
                      </a:r>
                      <a:endParaRPr lang="ko-KR" altLang="en-US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2026.07.29 15:34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******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******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******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******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상세견적서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(3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 파일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A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QT2025-0031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2026.07.30 14:54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******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******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******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******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상세견적서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(0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 파일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QT2025-0030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2026.07.31 17:20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******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******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******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******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상세견적서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 파일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</a:tbl>
          </a:graphicData>
        </a:graphic>
      </p:graphicFrame>
      <p:sp>
        <p:nvSpPr>
          <p:cNvPr id="27" name="타원 26">
            <a:extLst>
              <a:ext uri="{FF2B5EF4-FFF2-40B4-BE49-F238E27FC236}">
                <a16:creationId xmlns:a16="http://schemas.microsoft.com/office/drawing/2014/main" id="{7F0F0A08-7685-04E1-0B8B-E15F64613D9A}"/>
              </a:ext>
            </a:extLst>
          </p:cNvPr>
          <p:cNvSpPr/>
          <p:nvPr/>
        </p:nvSpPr>
        <p:spPr>
          <a:xfrm>
            <a:off x="76380" y="2252042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4DEC7184-8769-62A1-9067-CE8C5658E3CC}"/>
              </a:ext>
            </a:extLst>
          </p:cNvPr>
          <p:cNvSpPr/>
          <p:nvPr/>
        </p:nvSpPr>
        <p:spPr>
          <a:xfrm>
            <a:off x="1182907" y="2252042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65DB69E6-F895-E1F9-BE18-1402F509FC3C}"/>
              </a:ext>
            </a:extLst>
          </p:cNvPr>
          <p:cNvSpPr/>
          <p:nvPr/>
        </p:nvSpPr>
        <p:spPr>
          <a:xfrm>
            <a:off x="3233761" y="2252042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F7A14859-6E2E-CE39-CB59-4EDCCEE6F521}"/>
              </a:ext>
            </a:extLst>
          </p:cNvPr>
          <p:cNvSpPr/>
          <p:nvPr/>
        </p:nvSpPr>
        <p:spPr>
          <a:xfrm>
            <a:off x="6753200" y="2252042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31B579B6-516D-C742-D30D-BD21F44A2AFE}"/>
              </a:ext>
            </a:extLst>
          </p:cNvPr>
          <p:cNvSpPr/>
          <p:nvPr/>
        </p:nvSpPr>
        <p:spPr>
          <a:xfrm>
            <a:off x="163503" y="3812071"/>
            <a:ext cx="7729916" cy="44502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□ 현재 개찰 전입니다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개찰을 처리하면 개찰 전 상태로 되돌릴 수 없습니다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개찰하시겠습니까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9DE574BF-F114-8C50-B41B-1DB4904BEF4B}"/>
              </a:ext>
            </a:extLst>
          </p:cNvPr>
          <p:cNvSpPr/>
          <p:nvPr/>
        </p:nvSpPr>
        <p:spPr>
          <a:xfrm>
            <a:off x="6753200" y="3895668"/>
            <a:ext cx="1038337" cy="28803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 처리하기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</a:t>
            </a: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C0A2B7E7-A9E1-568C-EE3C-9CEDED47F2A9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34B1FFC3-E18C-4EA6-2747-8F580976953C}"/>
              </a:ext>
            </a:extLst>
          </p:cNvPr>
          <p:cNvSpPr/>
          <p:nvPr/>
        </p:nvSpPr>
        <p:spPr>
          <a:xfrm>
            <a:off x="2252700" y="4183835"/>
            <a:ext cx="4392488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개찰 처리 시 유의사항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459380A-FCC8-F4D3-842D-1EA43F517E4B}"/>
              </a:ext>
            </a:extLst>
          </p:cNvPr>
          <p:cNvSpPr/>
          <p:nvPr/>
        </p:nvSpPr>
        <p:spPr>
          <a:xfrm>
            <a:off x="2252700" y="4456747"/>
            <a:ext cx="4392488" cy="187132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5C5A8B65-D217-6660-1A76-0A76ABA6E121}"/>
              </a:ext>
            </a:extLst>
          </p:cNvPr>
          <p:cNvSpPr/>
          <p:nvPr/>
        </p:nvSpPr>
        <p:spPr>
          <a:xfrm>
            <a:off x="6375188" y="4183835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73824F2F-DA1E-C88B-90CD-AEF066D67D46}"/>
              </a:ext>
            </a:extLst>
          </p:cNvPr>
          <p:cNvSpPr/>
          <p:nvPr/>
        </p:nvSpPr>
        <p:spPr>
          <a:xfrm>
            <a:off x="2360479" y="4870135"/>
            <a:ext cx="4176697" cy="879892"/>
          </a:xfrm>
          <a:prstGeom prst="rect">
            <a:avLst/>
          </a:prstGeom>
          <a:solidFill>
            <a:srgbClr val="FFFF00">
              <a:alpha val="20000"/>
            </a:srgb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56000" tIns="108000" bIns="108000" rtlCol="0" anchor="ctr" anchorCtr="0"/>
          <a:lstStyle/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개찰을 처리하면 개찰 전 상태로 되돌릴 수 없습니다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.</a:t>
            </a:r>
          </a:p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 후 낙찰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화면에서 우선협상자 및 순위를 확인하실 수 있습니다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개찰 처리하시겠습니까</a:t>
            </a: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?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pic>
        <p:nvPicPr>
          <p:cNvPr id="63" name="Picture 8" descr="Announcement, hailer, loudspeaker, megaphone, speaker icon - Download on Iconfinder">
            <a:extLst>
              <a:ext uri="{FF2B5EF4-FFF2-40B4-BE49-F238E27FC236}">
                <a16:creationId xmlns:a16="http://schemas.microsoft.com/office/drawing/2014/main" id="{06DB73C8-BDD8-1FF6-E41B-2203B00756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76601" y="5026756"/>
            <a:ext cx="570440" cy="5704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4" name="직사각형 63">
            <a:extLst>
              <a:ext uri="{FF2B5EF4-FFF2-40B4-BE49-F238E27FC236}">
                <a16:creationId xmlns:a16="http://schemas.microsoft.com/office/drawing/2014/main" id="{6F61F00F-EAE1-E3C9-88F0-51D6113FFCD4}"/>
              </a:ext>
            </a:extLst>
          </p:cNvPr>
          <p:cNvSpPr/>
          <p:nvPr/>
        </p:nvSpPr>
        <p:spPr>
          <a:xfrm>
            <a:off x="4774552" y="5858502"/>
            <a:ext cx="1018896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개찰 처리하기 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</a:t>
            </a:r>
            <a:endParaRPr lang="ko-KR" altLang="en-US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DE104B4E-B566-1FC9-1BDA-3B025130E497}"/>
              </a:ext>
            </a:extLst>
          </p:cNvPr>
          <p:cNvSpPr/>
          <p:nvPr/>
        </p:nvSpPr>
        <p:spPr>
          <a:xfrm>
            <a:off x="5853189" y="5858502"/>
            <a:ext cx="699418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C68ADEF6-90AE-4831-D3B3-9D439384875E}"/>
              </a:ext>
            </a:extLst>
          </p:cNvPr>
          <p:cNvSpPr/>
          <p:nvPr/>
        </p:nvSpPr>
        <p:spPr>
          <a:xfrm>
            <a:off x="2383920" y="4553136"/>
            <a:ext cx="1404231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 처리 시 유의사항</a:t>
            </a:r>
          </a:p>
        </p:txBody>
      </p:sp>
      <p:cxnSp>
        <p:nvCxnSpPr>
          <p:cNvPr id="67" name="연결선: 꺾임 66">
            <a:extLst>
              <a:ext uri="{FF2B5EF4-FFF2-40B4-BE49-F238E27FC236}">
                <a16:creationId xmlns:a16="http://schemas.microsoft.com/office/drawing/2014/main" id="{432637FD-4164-DDE4-3A46-A955102BCB7E}"/>
              </a:ext>
            </a:extLst>
          </p:cNvPr>
          <p:cNvCxnSpPr>
            <a:cxnSpLocks/>
            <a:stCxn id="56" idx="1"/>
          </p:cNvCxnSpPr>
          <p:nvPr/>
        </p:nvCxnSpPr>
        <p:spPr>
          <a:xfrm rot="10800000" flipV="1">
            <a:off x="4448944" y="4039684"/>
            <a:ext cx="2304256" cy="181190"/>
          </a:xfrm>
          <a:prstGeom prst="bentConnector2">
            <a:avLst/>
          </a:prstGeom>
          <a:ln>
            <a:solidFill>
              <a:srgbClr val="C00000"/>
            </a:solidFill>
            <a:prstDash val="sysDash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타원 68">
            <a:extLst>
              <a:ext uri="{FF2B5EF4-FFF2-40B4-BE49-F238E27FC236}">
                <a16:creationId xmlns:a16="http://schemas.microsoft.com/office/drawing/2014/main" id="{F429F951-B4C8-A638-86D9-8CF80B238E32}"/>
              </a:ext>
            </a:extLst>
          </p:cNvPr>
          <p:cNvSpPr/>
          <p:nvPr/>
        </p:nvSpPr>
        <p:spPr>
          <a:xfrm>
            <a:off x="4922727" y="2252042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5B7F3D68-4D42-2523-838B-05B91AC7F333}"/>
              </a:ext>
            </a:extLst>
          </p:cNvPr>
          <p:cNvSpPr/>
          <p:nvPr/>
        </p:nvSpPr>
        <p:spPr>
          <a:xfrm>
            <a:off x="5871746" y="2252042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4’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AFDE4B92-46AC-8B36-6C3D-44AAEF800D85}"/>
              </a:ext>
            </a:extLst>
          </p:cNvPr>
          <p:cNvGraphicFramePr>
            <a:graphicFrameLocks noGrp="1"/>
          </p:cNvGraphicFramePr>
          <p:nvPr/>
        </p:nvGraphicFramePr>
        <p:xfrm>
          <a:off x="164466" y="817960"/>
          <a:ext cx="7732447" cy="675840"/>
        </p:xfrm>
        <a:graphic>
          <a:graphicData uri="http://schemas.openxmlformats.org/drawingml/2006/table">
            <a:tbl>
              <a:tblPr firstRow="1" bandRow="1"/>
              <a:tblGrid>
                <a:gridCol w="83838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763949">
                  <a:extLst>
                    <a:ext uri="{9D8B030D-6E8A-4147-A177-3AD203B41FA5}">
                      <a16:colId xmlns:a16="http://schemas.microsoft.com/office/drawing/2014/main" val="1731736782"/>
                    </a:ext>
                  </a:extLst>
                </a:gridCol>
                <a:gridCol w="616894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821542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289563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1002816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1092824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628938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677541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재공고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심사완료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21" name="타원 20">
            <a:extLst>
              <a:ext uri="{FF2B5EF4-FFF2-40B4-BE49-F238E27FC236}">
                <a16:creationId xmlns:a16="http://schemas.microsoft.com/office/drawing/2014/main" id="{CC7E5D77-497C-C194-DDF8-1CCF69923041}"/>
              </a:ext>
            </a:extLst>
          </p:cNvPr>
          <p:cNvSpPr/>
          <p:nvPr/>
        </p:nvSpPr>
        <p:spPr>
          <a:xfrm>
            <a:off x="6645188" y="3800820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8402F5F2-083E-E844-24F3-33FBF427CE91}"/>
              </a:ext>
            </a:extLst>
          </p:cNvPr>
          <p:cNvGrpSpPr/>
          <p:nvPr/>
        </p:nvGrpSpPr>
        <p:grpSpPr>
          <a:xfrm>
            <a:off x="163503" y="1599955"/>
            <a:ext cx="7741824" cy="345139"/>
            <a:chOff x="163503" y="1599955"/>
            <a:chExt cx="7741824" cy="345139"/>
          </a:xfrm>
        </p:grpSpPr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CED32521-52BE-9CC6-5DBE-49C2360DC96C}"/>
                </a:ext>
              </a:extLst>
            </p:cNvPr>
            <p:cNvCxnSpPr>
              <a:cxnSpLocks/>
            </p:cNvCxnSpPr>
            <p:nvPr/>
          </p:nvCxnSpPr>
          <p:spPr>
            <a:xfrm>
              <a:off x="167468" y="1941219"/>
              <a:ext cx="7737859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13C9D17E-4368-6464-3EEF-676597B9E457}"/>
                </a:ext>
              </a:extLst>
            </p:cNvPr>
            <p:cNvSpPr/>
            <p:nvPr/>
          </p:nvSpPr>
          <p:spPr>
            <a:xfrm>
              <a:off x="163503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발주계획 정보</a:t>
              </a:r>
            </a:p>
          </p:txBody>
        </p: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F9C096CB-F3B5-AD78-C438-694CF975F33D}"/>
                </a:ext>
              </a:extLst>
            </p:cNvPr>
            <p:cNvSpPr/>
            <p:nvPr/>
          </p:nvSpPr>
          <p:spPr>
            <a:xfrm>
              <a:off x="1848030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 참여현황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175AB4EA-0392-2A3B-FC06-5ECECF9F6706}"/>
                </a:ext>
              </a:extLst>
            </p:cNvPr>
            <p:cNvSpPr/>
            <p:nvPr/>
          </p:nvSpPr>
          <p:spPr>
            <a:xfrm>
              <a:off x="2681319" y="1652651"/>
              <a:ext cx="852685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심사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평가</a:t>
              </a:r>
            </a:p>
          </p:txBody>
        </p:sp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0309C6FB-AA01-30FB-06F4-D99EB286EF51}"/>
                </a:ext>
              </a:extLst>
            </p:cNvPr>
            <p:cNvSpPr/>
            <p:nvPr/>
          </p:nvSpPr>
          <p:spPr>
            <a:xfrm>
              <a:off x="1004560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정보</a:t>
              </a: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58B07D43-5A08-2126-BB49-D0A475FD5313}"/>
                </a:ext>
              </a:extLst>
            </p:cNvPr>
            <p:cNvSpPr/>
            <p:nvPr/>
          </p:nvSpPr>
          <p:spPr>
            <a:xfrm>
              <a:off x="3532662" y="1599955"/>
              <a:ext cx="839130" cy="345139"/>
            </a:xfrm>
            <a:prstGeom prst="rect">
              <a:avLst/>
            </a:prstGeom>
            <a:solidFill>
              <a:srgbClr val="00B050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개찰</a:t>
              </a:r>
            </a:p>
          </p:txBody>
        </p: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B31D402A-5A28-9A4A-48A2-8BD4EA96A936}"/>
                </a:ext>
              </a:extLst>
            </p:cNvPr>
            <p:cNvSpPr/>
            <p:nvPr/>
          </p:nvSpPr>
          <p:spPr>
            <a:xfrm>
              <a:off x="4370291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낙찰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업체 선정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)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73F07836-F456-BF5E-3792-ACD52C1344B9}"/>
                </a:ext>
              </a:extLst>
            </p:cNvPr>
            <p:cNvSpPr/>
            <p:nvPr/>
          </p:nvSpPr>
          <p:spPr>
            <a:xfrm>
              <a:off x="5213654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수의시담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F676FE0F-CA27-0229-D999-372E2A9A78DF}"/>
                </a:ext>
              </a:extLst>
            </p:cNvPr>
            <p:cNvSpPr/>
            <p:nvPr/>
          </p:nvSpPr>
          <p:spPr>
            <a:xfrm>
              <a:off x="6051872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계약 요청</a:t>
              </a:r>
            </a:p>
          </p:txBody>
        </p:sp>
      </p:grp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1E37384C-13AC-AB06-8D1C-E8E27ADB5ED5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02555701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352B90-292F-36B5-8619-883B247ADB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C2575D8B-79C9-8B21-91C7-764B28C7D0F0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2C0025C-4F01-A5ED-E35F-82B4B00F6F82}"/>
              </a:ext>
            </a:extLst>
          </p:cNvPr>
          <p:cNvSpPr txBox="1"/>
          <p:nvPr/>
        </p:nvSpPr>
        <p:spPr>
          <a:xfrm>
            <a:off x="8049344" y="584684"/>
            <a:ext cx="1856656" cy="58262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개찰 후 화면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 후에는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입찰견적서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뒤 페이지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팝업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와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상세견적서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를 확인할 수 있음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 후에는 모든 가격이 조회됨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b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‘제한적 최저가 입찰’, ‘2단계 경쟁입찰(규격/가격 분리)’인 경우 ‘낙찰하한율’과 ‘</a:t>
            </a:r>
            <a:r>
              <a:rPr lang="ko-KR" altLang="en-US" sz="800" u="sng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낙찰하한가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제공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예비가로 설정된 입찰의 경우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제한적 최저가 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’, 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적격심사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의 경우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본 영역을 노출함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예정가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낙찰하한금액 도출 과정 확인이 가능함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뒤 페이지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팝업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 결과 모든 입찰참여업체의 가격이 적합하지 않은 경우 해당 영역 제공</a:t>
            </a:r>
            <a:b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유찰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재공고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을 처리할 수 있음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유찰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재공고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처리하기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팝업 호출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앞 페이지 참고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개찰결과에 문제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불성립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담합 의심 등 다양한 이유가 있을 수 있음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가 있는 경우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재입찰 처리가능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재입찰이란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본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개찰 목록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의 협력업체를 대상으로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을 한 번 더 진행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재입찰 처리하기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팝업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뒤 페이지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호출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8B61B2CE-4BEB-22AC-1C2A-A4196367F8E0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E180329B-4022-23C1-958A-9BE006A5C076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4A2CBFC1-3722-4D30-426A-2A4F16ADECA4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87997E18-F29B-7808-A3EB-E50E437DA66E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09D67994-95A8-94B3-D7C0-9E930545F3DA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D5F0A74F-D10C-1499-F43B-48F8AF9CB157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7" name="Picture 1">
            <a:extLst>
              <a:ext uri="{FF2B5EF4-FFF2-40B4-BE49-F238E27FC236}">
                <a16:creationId xmlns:a16="http://schemas.microsoft.com/office/drawing/2014/main" id="{D4C5A4C6-A830-131E-071D-C3EBE7D080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0B4D176B-DBB7-56FD-7FBC-20ECE13CC17F}"/>
              </a:ext>
            </a:extLst>
          </p:cNvPr>
          <p:cNvSpPr txBox="1"/>
          <p:nvPr/>
        </p:nvSpPr>
        <p:spPr>
          <a:xfrm>
            <a:off x="749224" y="25608"/>
            <a:ext cx="244810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 후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C943276-6DFA-3656-E584-662D51B21D7D}"/>
              </a:ext>
            </a:extLst>
          </p:cNvPr>
          <p:cNvSpPr txBox="1"/>
          <p:nvPr/>
        </p:nvSpPr>
        <p:spPr>
          <a:xfrm>
            <a:off x="164468" y="2068380"/>
            <a:ext cx="3053340" cy="230832"/>
          </a:xfrm>
          <a:prstGeom prst="rect">
            <a:avLst/>
          </a:prstGeom>
          <a:noFill/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참여업체 </a:t>
            </a:r>
            <a:r>
              <a:rPr lang="en-US" altLang="ko-KR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총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건</a:t>
            </a: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5C88362D-40A9-BE55-0CD0-43FFFBD21CF3}"/>
              </a:ext>
            </a:extLst>
          </p:cNvPr>
          <p:cNvGraphicFramePr>
            <a:graphicFrameLocks noGrp="1"/>
          </p:cNvGraphicFramePr>
          <p:nvPr/>
        </p:nvGraphicFramePr>
        <p:xfrm>
          <a:off x="171331" y="2351468"/>
          <a:ext cx="7851349" cy="1689600"/>
        </p:xfrm>
        <a:graphic>
          <a:graphicData uri="http://schemas.openxmlformats.org/drawingml/2006/table">
            <a:tbl>
              <a:tblPr firstRow="1" bandRow="1"/>
              <a:tblGrid>
                <a:gridCol w="309100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532937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839325">
                  <a:extLst>
                    <a:ext uri="{9D8B030D-6E8A-4147-A177-3AD203B41FA5}">
                      <a16:colId xmlns:a16="http://schemas.microsoft.com/office/drawing/2014/main" val="3438477450"/>
                    </a:ext>
                  </a:extLst>
                </a:gridCol>
                <a:gridCol w="1034587">
                  <a:extLst>
                    <a:ext uri="{9D8B030D-6E8A-4147-A177-3AD203B41FA5}">
                      <a16:colId xmlns:a16="http://schemas.microsoft.com/office/drawing/2014/main" val="916893631"/>
                    </a:ext>
                  </a:extLst>
                </a:gridCol>
                <a:gridCol w="817100">
                  <a:extLst>
                    <a:ext uri="{9D8B030D-6E8A-4147-A177-3AD203B41FA5}">
                      <a16:colId xmlns:a16="http://schemas.microsoft.com/office/drawing/2014/main" val="1516929747"/>
                    </a:ext>
                  </a:extLst>
                </a:gridCol>
                <a:gridCol w="718113">
                  <a:extLst>
                    <a:ext uri="{9D8B030D-6E8A-4147-A177-3AD203B41FA5}">
                      <a16:colId xmlns:a16="http://schemas.microsoft.com/office/drawing/2014/main" val="2696889248"/>
                    </a:ext>
                  </a:extLst>
                </a:gridCol>
                <a:gridCol w="861550">
                  <a:extLst>
                    <a:ext uri="{9D8B030D-6E8A-4147-A177-3AD203B41FA5}">
                      <a16:colId xmlns:a16="http://schemas.microsoft.com/office/drawing/2014/main" val="2470283878"/>
                    </a:ext>
                  </a:extLst>
                </a:gridCol>
                <a:gridCol w="772650">
                  <a:extLst>
                    <a:ext uri="{9D8B030D-6E8A-4147-A177-3AD203B41FA5}">
                      <a16:colId xmlns:a16="http://schemas.microsoft.com/office/drawing/2014/main" val="2259197678"/>
                    </a:ext>
                  </a:extLst>
                </a:gridCol>
                <a:gridCol w="1098087">
                  <a:extLst>
                    <a:ext uri="{9D8B030D-6E8A-4147-A177-3AD203B41FA5}">
                      <a16:colId xmlns:a16="http://schemas.microsoft.com/office/drawing/2014/main" val="3225374137"/>
                    </a:ext>
                  </a:extLst>
                </a:gridCol>
                <a:gridCol w="867900">
                  <a:extLst>
                    <a:ext uri="{9D8B030D-6E8A-4147-A177-3AD203B41FA5}">
                      <a16:colId xmlns:a16="http://schemas.microsoft.com/office/drawing/2014/main" val="39779728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No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업체명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견적 번호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가격 </a:t>
                      </a: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투찰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 일시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견적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예정가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낙찰하한율(%)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낙찰하한가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상세견적서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가격 적합 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A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QT2025-0032</a:t>
                      </a:r>
                      <a:endParaRPr lang="ko-KR" altLang="en-US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2026.07.29 15:34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157,000,000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174,114,038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87.745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152,776,363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상세견적서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(3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 파일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QT2025-0031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2026.07.30 14:54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174,114,038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87.745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152,776,363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상세견적서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(0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 파일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C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QT2025-0030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2026.07.31 16:20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180,000,000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174,114,038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87.745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152,776,363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상세견적서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 파일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예정가</a:t>
                      </a:r>
                      <a:r>
                        <a:rPr lang="ko-KR" altLang="en-US" sz="800" b="0" u="none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초과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D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QT2025-0030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2026.07.31 17:20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174,114,038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87.745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152,776,363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상세견적서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 파일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낙찰하한가</a:t>
                      </a:r>
                      <a:r>
                        <a:rPr lang="ko-KR" altLang="en-US" sz="800" b="0" u="none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미만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7333812"/>
                  </a:ext>
                </a:extLst>
              </a:tr>
            </a:tbl>
          </a:graphicData>
        </a:graphic>
      </p:graphicFrame>
      <p:sp>
        <p:nvSpPr>
          <p:cNvPr id="18" name="타원 17">
            <a:extLst>
              <a:ext uri="{FF2B5EF4-FFF2-40B4-BE49-F238E27FC236}">
                <a16:creationId xmlns:a16="http://schemas.microsoft.com/office/drawing/2014/main" id="{426F36CF-5669-A698-51A8-7D61BB901165}"/>
              </a:ext>
            </a:extLst>
          </p:cNvPr>
          <p:cNvSpPr/>
          <p:nvPr/>
        </p:nvSpPr>
        <p:spPr>
          <a:xfrm>
            <a:off x="2791432" y="2258926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2AE62326-0843-9E6A-134F-3B19F26AFF4E}"/>
              </a:ext>
            </a:extLst>
          </p:cNvPr>
          <p:cNvSpPr/>
          <p:nvPr/>
        </p:nvSpPr>
        <p:spPr>
          <a:xfrm>
            <a:off x="5979391" y="2258926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1’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1E076C51-888F-67C0-3A6A-5DB6F22B192B}"/>
              </a:ext>
            </a:extLst>
          </p:cNvPr>
          <p:cNvSpPr/>
          <p:nvPr/>
        </p:nvSpPr>
        <p:spPr>
          <a:xfrm>
            <a:off x="163503" y="4165374"/>
            <a:ext cx="7729916" cy="44502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낙찰하한율과 낙찰하한가의 도출 내역을 확인하실 수 있습니다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30B163F2-2A24-BA3D-E45F-130104E3C790}"/>
              </a:ext>
            </a:extLst>
          </p:cNvPr>
          <p:cNvSpPr/>
          <p:nvPr/>
        </p:nvSpPr>
        <p:spPr>
          <a:xfrm>
            <a:off x="5781092" y="4248971"/>
            <a:ext cx="2010445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 err="1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·</a:t>
            </a:r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낙찰하한금액 도출 내역 확인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84547166-26A2-6EF0-BE6D-48FE00C935CE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CE8BF8C0-1AE1-697F-0E5C-8AE9C02A0816}"/>
              </a:ext>
            </a:extLst>
          </p:cNvPr>
          <p:cNvSpPr/>
          <p:nvPr/>
        </p:nvSpPr>
        <p:spPr>
          <a:xfrm>
            <a:off x="-3995628" y="2662790"/>
            <a:ext cx="3782804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상세견적서 확인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F0B9A76-3CE1-6B9F-7E36-C955FB146B7C}"/>
              </a:ext>
            </a:extLst>
          </p:cNvPr>
          <p:cNvSpPr/>
          <p:nvPr/>
        </p:nvSpPr>
        <p:spPr>
          <a:xfrm>
            <a:off x="-3995628" y="2935704"/>
            <a:ext cx="3782804" cy="150849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157120E9-68C5-54AB-4A42-3483813CE107}"/>
              </a:ext>
            </a:extLst>
          </p:cNvPr>
          <p:cNvSpPr/>
          <p:nvPr/>
        </p:nvSpPr>
        <p:spPr>
          <a:xfrm>
            <a:off x="-484483" y="2662790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B4CEBC24-435F-7FBC-0EE9-156E24AAC8B1}"/>
              </a:ext>
            </a:extLst>
          </p:cNvPr>
          <p:cNvSpPr/>
          <p:nvPr/>
        </p:nvSpPr>
        <p:spPr>
          <a:xfrm>
            <a:off x="-3864409" y="3032091"/>
            <a:ext cx="1045158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상세견적서 확인</a:t>
            </a:r>
          </a:p>
        </p:txBody>
      </p:sp>
      <p:graphicFrame>
        <p:nvGraphicFramePr>
          <p:cNvPr id="31" name="표 30">
            <a:extLst>
              <a:ext uri="{FF2B5EF4-FFF2-40B4-BE49-F238E27FC236}">
                <a16:creationId xmlns:a16="http://schemas.microsoft.com/office/drawing/2014/main" id="{E12997D5-CA89-8EB6-D551-FCF978F72D95}"/>
              </a:ext>
            </a:extLst>
          </p:cNvPr>
          <p:cNvGraphicFramePr>
            <a:graphicFrameLocks noGrp="1"/>
          </p:cNvGraphicFramePr>
          <p:nvPr/>
        </p:nvGraphicFramePr>
        <p:xfrm>
          <a:off x="-3864409" y="3346664"/>
          <a:ext cx="3543572" cy="586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2230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2651342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상세견적서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529863"/>
                  </a:ext>
                </a:extLst>
              </a:tr>
            </a:tbl>
          </a:graphicData>
        </a:graphic>
      </p:graphicFrame>
      <p:grpSp>
        <p:nvGrpSpPr>
          <p:cNvPr id="35" name="그룹 34">
            <a:extLst>
              <a:ext uri="{FF2B5EF4-FFF2-40B4-BE49-F238E27FC236}">
                <a16:creationId xmlns:a16="http://schemas.microsoft.com/office/drawing/2014/main" id="{1AEB7FD2-2A08-D5D4-D5C9-AEB7B3E8774B}"/>
              </a:ext>
            </a:extLst>
          </p:cNvPr>
          <p:cNvGrpSpPr/>
          <p:nvPr/>
        </p:nvGrpSpPr>
        <p:grpSpPr>
          <a:xfrm>
            <a:off x="-1935946" y="3408021"/>
            <a:ext cx="1275802" cy="198885"/>
            <a:chOff x="2576736" y="3905324"/>
            <a:chExt cx="1275802" cy="198885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162967E3-56E2-4899-C090-09171736F025}"/>
                </a:ext>
              </a:extLst>
            </p:cNvPr>
            <p:cNvSpPr/>
            <p:nvPr/>
          </p:nvSpPr>
          <p:spPr>
            <a:xfrm>
              <a:off x="2576736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10332A4F-1C20-4349-64B7-028F7F6469B4}"/>
                </a:ext>
              </a:extLst>
            </p:cNvPr>
            <p:cNvSpPr/>
            <p:nvPr/>
          </p:nvSpPr>
          <p:spPr>
            <a:xfrm>
              <a:off x="3239573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52395165-A5DE-F2A6-681A-225BD625321E}"/>
              </a:ext>
            </a:extLst>
          </p:cNvPr>
          <p:cNvGrpSpPr/>
          <p:nvPr/>
        </p:nvGrpSpPr>
        <p:grpSpPr>
          <a:xfrm>
            <a:off x="-1935946" y="3660225"/>
            <a:ext cx="1275802" cy="198885"/>
            <a:chOff x="2576736" y="3905324"/>
            <a:chExt cx="1275802" cy="198885"/>
          </a:xfrm>
        </p:grpSpPr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2A4E36C8-E6BF-1C48-69DC-30D489E1683A}"/>
                </a:ext>
              </a:extLst>
            </p:cNvPr>
            <p:cNvSpPr/>
            <p:nvPr/>
          </p:nvSpPr>
          <p:spPr>
            <a:xfrm>
              <a:off x="2576736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540B51C0-0CBC-EFC6-3635-EA64CAC09A9D}"/>
                </a:ext>
              </a:extLst>
            </p:cNvPr>
            <p:cNvSpPr/>
            <p:nvPr/>
          </p:nvSpPr>
          <p:spPr>
            <a:xfrm>
              <a:off x="3239573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2C5330F0-88E1-D2F9-FB16-C33C10E3C709}"/>
              </a:ext>
            </a:extLst>
          </p:cNvPr>
          <p:cNvSpPr/>
          <p:nvPr/>
        </p:nvSpPr>
        <p:spPr>
          <a:xfrm>
            <a:off x="-1022453" y="4015775"/>
            <a:ext cx="701616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닫기</a:t>
            </a:r>
            <a:endParaRPr lang="ko-KR" altLang="en-US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C578416D-B995-5CF5-89CA-FC93D3625ECF}"/>
              </a:ext>
            </a:extLst>
          </p:cNvPr>
          <p:cNvSpPr/>
          <p:nvPr/>
        </p:nvSpPr>
        <p:spPr>
          <a:xfrm>
            <a:off x="6087403" y="2716088"/>
            <a:ext cx="1030288" cy="1307728"/>
          </a:xfrm>
          <a:prstGeom prst="rect">
            <a:avLst/>
          </a:prstGeom>
          <a:solidFill>
            <a:srgbClr val="FFFF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" name="타원 82">
            <a:extLst>
              <a:ext uri="{FF2B5EF4-FFF2-40B4-BE49-F238E27FC236}">
                <a16:creationId xmlns:a16="http://schemas.microsoft.com/office/drawing/2014/main" id="{A267568A-1113-762E-2C9C-2F5BBEEC5514}"/>
              </a:ext>
            </a:extLst>
          </p:cNvPr>
          <p:cNvSpPr/>
          <p:nvPr/>
        </p:nvSpPr>
        <p:spPr>
          <a:xfrm>
            <a:off x="5655324" y="4149080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88A3B4F4-3243-B2F0-43BE-5650A0F454CA}"/>
              </a:ext>
            </a:extLst>
          </p:cNvPr>
          <p:cNvGraphicFramePr>
            <a:graphicFrameLocks noGrp="1"/>
          </p:cNvGraphicFramePr>
          <p:nvPr/>
        </p:nvGraphicFramePr>
        <p:xfrm>
          <a:off x="164466" y="817960"/>
          <a:ext cx="7732447" cy="675840"/>
        </p:xfrm>
        <a:graphic>
          <a:graphicData uri="http://schemas.openxmlformats.org/drawingml/2006/table">
            <a:tbl>
              <a:tblPr firstRow="1" bandRow="1"/>
              <a:tblGrid>
                <a:gridCol w="83838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763949">
                  <a:extLst>
                    <a:ext uri="{9D8B030D-6E8A-4147-A177-3AD203B41FA5}">
                      <a16:colId xmlns:a16="http://schemas.microsoft.com/office/drawing/2014/main" val="1731736782"/>
                    </a:ext>
                  </a:extLst>
                </a:gridCol>
                <a:gridCol w="616894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821542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289563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1002816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1092824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628938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677541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재공고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개찰완료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2" name="타원 1">
            <a:extLst>
              <a:ext uri="{FF2B5EF4-FFF2-40B4-BE49-F238E27FC236}">
                <a16:creationId xmlns:a16="http://schemas.microsoft.com/office/drawing/2014/main" id="{195ED87B-1575-0B78-601D-BFBC33643AD3}"/>
              </a:ext>
            </a:extLst>
          </p:cNvPr>
          <p:cNvSpPr/>
          <p:nvPr/>
        </p:nvSpPr>
        <p:spPr>
          <a:xfrm>
            <a:off x="902033" y="2258926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535281BA-9AA1-E7C5-DC1F-DC322515EE55}"/>
              </a:ext>
            </a:extLst>
          </p:cNvPr>
          <p:cNvGrpSpPr/>
          <p:nvPr/>
        </p:nvGrpSpPr>
        <p:grpSpPr>
          <a:xfrm>
            <a:off x="163503" y="1599955"/>
            <a:ext cx="7741824" cy="345139"/>
            <a:chOff x="163503" y="1599955"/>
            <a:chExt cx="7741824" cy="345139"/>
          </a:xfrm>
        </p:grpSpPr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E960DD0-7A92-CFC9-907F-2A8B6653E9C7}"/>
                </a:ext>
              </a:extLst>
            </p:cNvPr>
            <p:cNvCxnSpPr>
              <a:cxnSpLocks/>
            </p:cNvCxnSpPr>
            <p:nvPr/>
          </p:nvCxnSpPr>
          <p:spPr>
            <a:xfrm>
              <a:off x="167468" y="1941219"/>
              <a:ext cx="7737859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E6C8B5F6-6619-E31B-E368-F0897CE65C5E}"/>
                </a:ext>
              </a:extLst>
            </p:cNvPr>
            <p:cNvSpPr/>
            <p:nvPr/>
          </p:nvSpPr>
          <p:spPr>
            <a:xfrm>
              <a:off x="163503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발주계획 정보</a:t>
              </a: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ED08170C-A717-4D11-7B50-EBA3A964430C}"/>
                </a:ext>
              </a:extLst>
            </p:cNvPr>
            <p:cNvSpPr/>
            <p:nvPr/>
          </p:nvSpPr>
          <p:spPr>
            <a:xfrm>
              <a:off x="1848030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 참여현황</a:t>
              </a: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787B1B85-D57B-84A2-9B2D-64C55AF2455E}"/>
                </a:ext>
              </a:extLst>
            </p:cNvPr>
            <p:cNvSpPr/>
            <p:nvPr/>
          </p:nvSpPr>
          <p:spPr>
            <a:xfrm>
              <a:off x="2681319" y="1652651"/>
              <a:ext cx="852685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심사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평가</a:t>
              </a:r>
            </a:p>
          </p:txBody>
        </p:sp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33DAF133-57C4-A1C0-4621-DB86F3C94901}"/>
                </a:ext>
              </a:extLst>
            </p:cNvPr>
            <p:cNvSpPr/>
            <p:nvPr/>
          </p:nvSpPr>
          <p:spPr>
            <a:xfrm>
              <a:off x="1004560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정보</a:t>
              </a:r>
            </a:p>
          </p:txBody>
        </p:sp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4C171A6C-B355-B44D-92BF-7855C3624A0F}"/>
                </a:ext>
              </a:extLst>
            </p:cNvPr>
            <p:cNvSpPr/>
            <p:nvPr/>
          </p:nvSpPr>
          <p:spPr>
            <a:xfrm>
              <a:off x="3532662" y="1599955"/>
              <a:ext cx="839130" cy="345139"/>
            </a:xfrm>
            <a:prstGeom prst="rect">
              <a:avLst/>
            </a:prstGeom>
            <a:solidFill>
              <a:srgbClr val="00B050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개찰</a:t>
              </a:r>
            </a:p>
          </p:txBody>
        </p:sp>
        <p:sp>
          <p:nvSpPr>
            <p:cNvPr id="46" name="직사각형 45">
              <a:extLst>
                <a:ext uri="{FF2B5EF4-FFF2-40B4-BE49-F238E27FC236}">
                  <a16:creationId xmlns:a16="http://schemas.microsoft.com/office/drawing/2014/main" id="{3695B1B9-A47B-2452-485A-41180BFF7D34}"/>
                </a:ext>
              </a:extLst>
            </p:cNvPr>
            <p:cNvSpPr/>
            <p:nvPr/>
          </p:nvSpPr>
          <p:spPr>
            <a:xfrm>
              <a:off x="4370291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낙찰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업체 선정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)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54750291-7279-0D80-35F4-D07C8796A47A}"/>
                </a:ext>
              </a:extLst>
            </p:cNvPr>
            <p:cNvSpPr/>
            <p:nvPr/>
          </p:nvSpPr>
          <p:spPr>
            <a:xfrm>
              <a:off x="5213654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수의시담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C81C587C-E111-F528-5ED5-2FFDBA3C20EC}"/>
                </a:ext>
              </a:extLst>
            </p:cNvPr>
            <p:cNvSpPr/>
            <p:nvPr/>
          </p:nvSpPr>
          <p:spPr>
            <a:xfrm>
              <a:off x="6051872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계약 요청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1C62F5D-AD89-45A4-ADEB-D0D7ABA86900}"/>
              </a:ext>
            </a:extLst>
          </p:cNvPr>
          <p:cNvSpPr/>
          <p:nvPr/>
        </p:nvSpPr>
        <p:spPr>
          <a:xfrm>
            <a:off x="3588744" y="2258926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2’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07DF8DA7-FF60-C12C-1441-221F868C0301}"/>
              </a:ext>
            </a:extLst>
          </p:cNvPr>
          <p:cNvSpPr/>
          <p:nvPr/>
        </p:nvSpPr>
        <p:spPr>
          <a:xfrm>
            <a:off x="4318653" y="2258926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2’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DE14293-D8C7-1C87-F465-AFD888E6E051}"/>
              </a:ext>
            </a:extLst>
          </p:cNvPr>
          <p:cNvSpPr/>
          <p:nvPr/>
        </p:nvSpPr>
        <p:spPr>
          <a:xfrm>
            <a:off x="163503" y="4699147"/>
            <a:ext cx="7729916" cy="44502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□ 개찰 결과 모든 입찰참여업체의 가격이 적합하지 않습니다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유찰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재공고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처리하시겠습니까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6588E437-ACC5-6F7C-28AF-EF682BE2749C}"/>
              </a:ext>
            </a:extLst>
          </p:cNvPr>
          <p:cNvSpPr/>
          <p:nvPr/>
        </p:nvSpPr>
        <p:spPr>
          <a:xfrm>
            <a:off x="6392090" y="4782744"/>
            <a:ext cx="1399447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유찰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 err="1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재공고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처리하기 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</a:t>
            </a:r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</a:p>
        </p:txBody>
      </p:sp>
      <p:sp>
        <p:nvSpPr>
          <p:cNvPr id="66" name="타원 65">
            <a:extLst>
              <a:ext uri="{FF2B5EF4-FFF2-40B4-BE49-F238E27FC236}">
                <a16:creationId xmlns:a16="http://schemas.microsoft.com/office/drawing/2014/main" id="{1EB15B06-CDE5-FE85-C5FA-B2F51CBEE11E}"/>
              </a:ext>
            </a:extLst>
          </p:cNvPr>
          <p:cNvSpPr/>
          <p:nvPr/>
        </p:nvSpPr>
        <p:spPr>
          <a:xfrm>
            <a:off x="6225237" y="4671888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68" name="연결선: 꺾임 67">
            <a:extLst>
              <a:ext uri="{FF2B5EF4-FFF2-40B4-BE49-F238E27FC236}">
                <a16:creationId xmlns:a16="http://schemas.microsoft.com/office/drawing/2014/main" id="{A38D846C-B7BD-AE92-A2BE-3B6865C45C3D}"/>
              </a:ext>
            </a:extLst>
          </p:cNvPr>
          <p:cNvCxnSpPr>
            <a:cxnSpLocks/>
            <a:stCxn id="54" idx="1"/>
            <a:endCxn id="21" idx="3"/>
          </p:cNvCxnSpPr>
          <p:nvPr/>
        </p:nvCxnSpPr>
        <p:spPr>
          <a:xfrm rot="10800000" flipV="1">
            <a:off x="-212823" y="3369951"/>
            <a:ext cx="6300227" cy="320001"/>
          </a:xfrm>
          <a:prstGeom prst="bentConnector3">
            <a:avLst>
              <a:gd name="adj1" fmla="val 50000"/>
            </a:avLst>
          </a:prstGeom>
          <a:ln>
            <a:solidFill>
              <a:srgbClr val="C00000"/>
            </a:solidFill>
            <a:prstDash val="sysDash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80681914-14CB-4FD4-15F9-3E98268CE128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B1547505-222C-FC63-C1D6-F54653529982}"/>
              </a:ext>
            </a:extLst>
          </p:cNvPr>
          <p:cNvSpPr/>
          <p:nvPr/>
        </p:nvSpPr>
        <p:spPr>
          <a:xfrm>
            <a:off x="5176943" y="2258926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2’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72912157-23E5-EB27-3652-43BB2BF8E801}"/>
              </a:ext>
            </a:extLst>
          </p:cNvPr>
          <p:cNvSpPr/>
          <p:nvPr/>
        </p:nvSpPr>
        <p:spPr>
          <a:xfrm>
            <a:off x="163503" y="5236391"/>
            <a:ext cx="7729916" cy="44502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□ 개찰결과에 문제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불성립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담합 의심 등 다양한 이유가 있을 수 있음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 있습니다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재입찰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처리하시겠습니까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534670C4-173C-4CBF-F04E-64E9DE9EA57E}"/>
              </a:ext>
            </a:extLst>
          </p:cNvPr>
          <p:cNvSpPr/>
          <p:nvPr/>
        </p:nvSpPr>
        <p:spPr>
          <a:xfrm>
            <a:off x="6681192" y="5319988"/>
            <a:ext cx="1110345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재입찰 처리하기 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 </a:t>
            </a:r>
            <a:endParaRPr lang="ko-KR" altLang="en-US" sz="9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685E23BF-B1ED-7248-7103-BF823DE1C1CB}"/>
              </a:ext>
            </a:extLst>
          </p:cNvPr>
          <p:cNvSpPr/>
          <p:nvPr/>
        </p:nvSpPr>
        <p:spPr>
          <a:xfrm>
            <a:off x="6561580" y="5209132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25985643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035DF3-2DA1-35FD-BC9C-2650FEA4A5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62E85633-0AB4-7F9A-A717-2AE3BAB37169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6E8495D-32ED-F02B-F173-A4DBD16FBA31}"/>
              </a:ext>
            </a:extLst>
          </p:cNvPr>
          <p:cNvSpPr txBox="1"/>
          <p:nvPr/>
        </p:nvSpPr>
        <p:spPr>
          <a:xfrm>
            <a:off x="749224" y="25608"/>
            <a:ext cx="272542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&gt; 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견적서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A97679C-281F-4011-86E5-8BDED76010FF}"/>
              </a:ext>
            </a:extLst>
          </p:cNvPr>
          <p:cNvSpPr/>
          <p:nvPr/>
        </p:nvSpPr>
        <p:spPr>
          <a:xfrm>
            <a:off x="164468" y="414790"/>
            <a:ext cx="7391699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입찰 견적서</a:t>
            </a:r>
            <a:endParaRPr lang="en-US" altLang="ko-KR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DA45C0E-F3CA-92BD-2A1E-797BE4E521F4}"/>
              </a:ext>
            </a:extLst>
          </p:cNvPr>
          <p:cNvSpPr/>
          <p:nvPr/>
        </p:nvSpPr>
        <p:spPr>
          <a:xfrm>
            <a:off x="164469" y="687700"/>
            <a:ext cx="7391698" cy="562162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943A342-C565-8CE2-1AC5-5B7A19F88D73}"/>
              </a:ext>
            </a:extLst>
          </p:cNvPr>
          <p:cNvSpPr/>
          <p:nvPr/>
        </p:nvSpPr>
        <p:spPr>
          <a:xfrm>
            <a:off x="7286167" y="414790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5B9D5508-861C-20D3-095D-00C1438B7C7D}"/>
              </a:ext>
            </a:extLst>
          </p:cNvPr>
          <p:cNvSpPr/>
          <p:nvPr/>
        </p:nvSpPr>
        <p:spPr>
          <a:xfrm>
            <a:off x="7452512" y="688542"/>
            <a:ext cx="108012" cy="562079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469CD200-F289-36CF-BE98-856BCFDFA43B}"/>
              </a:ext>
            </a:extLst>
          </p:cNvPr>
          <p:cNvSpPr/>
          <p:nvPr/>
        </p:nvSpPr>
        <p:spPr>
          <a:xfrm>
            <a:off x="7452512" y="1070321"/>
            <a:ext cx="108012" cy="1800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8BD43097-58E7-4F3E-16E5-E2F8B2E7F6CC}"/>
              </a:ext>
            </a:extLst>
          </p:cNvPr>
          <p:cNvSpPr/>
          <p:nvPr/>
        </p:nvSpPr>
        <p:spPr>
          <a:xfrm>
            <a:off x="301563" y="792082"/>
            <a:ext cx="779059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견적서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98AF9825-8CA5-4634-9B29-A80EEC73CE08}"/>
              </a:ext>
            </a:extLst>
          </p:cNvPr>
          <p:cNvSpPr/>
          <p:nvPr/>
        </p:nvSpPr>
        <p:spPr>
          <a:xfrm>
            <a:off x="301563" y="3113590"/>
            <a:ext cx="5741716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하기와 같이 </a:t>
            </a:r>
            <a:r>
              <a:rPr lang="ko-KR" altLang="en-US" sz="9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견적합니다</a:t>
            </a: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7F167554-A789-1659-FB86-D4E7E15D9898}"/>
              </a:ext>
            </a:extLst>
          </p:cNvPr>
          <p:cNvGrpSpPr/>
          <p:nvPr/>
        </p:nvGrpSpPr>
        <p:grpSpPr>
          <a:xfrm>
            <a:off x="5781091" y="835105"/>
            <a:ext cx="1505075" cy="215441"/>
            <a:chOff x="5383899" y="1059428"/>
            <a:chExt cx="1902268" cy="215441"/>
          </a:xfrm>
        </p:grpSpPr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8AC22F87-0EB8-564B-215D-D4383AB6B7E5}"/>
                </a:ext>
              </a:extLst>
            </p:cNvPr>
            <p:cNvSpPr/>
            <p:nvPr/>
          </p:nvSpPr>
          <p:spPr>
            <a:xfrm>
              <a:off x="6372455" y="1059428"/>
              <a:ext cx="913712" cy="215441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CFD20443-C6C1-3523-9568-ED0DA6ECCBAB}"/>
                </a:ext>
              </a:extLst>
            </p:cNvPr>
            <p:cNvSpPr/>
            <p:nvPr/>
          </p:nvSpPr>
          <p:spPr>
            <a:xfrm>
              <a:off x="5383899" y="1059428"/>
              <a:ext cx="913712" cy="215441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인쇄</a:t>
              </a:r>
            </a:p>
          </p:txBody>
        </p:sp>
      </p:grpSp>
      <p:graphicFrame>
        <p:nvGraphicFramePr>
          <p:cNvPr id="6" name="Table 0">
            <a:extLst>
              <a:ext uri="{FF2B5EF4-FFF2-40B4-BE49-F238E27FC236}">
                <a16:creationId xmlns:a16="http://schemas.microsoft.com/office/drawing/2014/main" id="{C1482247-6077-644B-C0CA-87B8A89E88B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2831326"/>
              </p:ext>
            </p:extLst>
          </p:nvPr>
        </p:nvGraphicFramePr>
        <p:xfrm>
          <a:off x="274320" y="1143000"/>
          <a:ext cx="7013448" cy="1861440"/>
        </p:xfrm>
        <a:graphic>
          <a:graphicData uri="http://schemas.openxmlformats.org/drawingml/2006/table">
            <a:tbl>
              <a:tblPr/>
              <a:tblGrid>
                <a:gridCol w="15087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8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876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671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입찰 건명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성남동 2486번지 오피스텔 신축공사 중 토목공사 철근 물품구매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입찰번호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BD2026-0011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견적번호 / 차수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QT2026-0075 / 1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제안사명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(주)보성스틸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견적일자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2026-04-07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사업자번호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142-81-40794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대표자명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김신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작성자 / 직책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김병식 / 대리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회사 대표전화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02-538-4545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작성자 이메일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boseong40794@naver.com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작성자 연락처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02-538-4545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제안사 주소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서울특별시 서초구 남부순환로364길8-10, 2층(양재동, 동보빌딩)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9" name="Table 1">
            <a:extLst>
              <a:ext uri="{FF2B5EF4-FFF2-40B4-BE49-F238E27FC236}">
                <a16:creationId xmlns:a16="http://schemas.microsoft.com/office/drawing/2014/main" id="{732B67AA-57B4-E5AB-3785-E044384ED617}"/>
              </a:ext>
            </a:extLst>
          </p:cNvPr>
          <p:cNvGraphicFramePr>
            <a:graphicFrameLocks noGrp="1"/>
          </p:cNvGraphicFramePr>
          <p:nvPr/>
        </p:nvGraphicFramePr>
        <p:xfrm>
          <a:off x="274320" y="3374244"/>
          <a:ext cx="7013448" cy="531840"/>
        </p:xfrm>
        <a:graphic>
          <a:graphicData uri="http://schemas.openxmlformats.org/drawingml/2006/table">
            <a:tbl>
              <a:tblPr/>
              <a:tblGrid>
                <a:gridCol w="15087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887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876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72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56032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견적가액(부가세별도)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부가세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견적금액(부가세포함)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유효기간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6032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144,097,850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14,409,785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158,507,635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견적제출일로부터 1개월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0" name="직사각형 9">
            <a:extLst>
              <a:ext uri="{FF2B5EF4-FFF2-40B4-BE49-F238E27FC236}">
                <a16:creationId xmlns:a16="http://schemas.microsoft.com/office/drawing/2014/main" id="{020228A4-90F3-3284-ECB4-7797CBA8A4C6}"/>
              </a:ext>
            </a:extLst>
          </p:cNvPr>
          <p:cNvSpPr/>
          <p:nvPr/>
        </p:nvSpPr>
        <p:spPr>
          <a:xfrm>
            <a:off x="301563" y="4004219"/>
            <a:ext cx="5741716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견적 품목</a:t>
            </a:r>
          </a:p>
        </p:txBody>
      </p:sp>
      <p:sp>
        <p:nvSpPr>
          <p:cNvPr id="12" name="Text 7">
            <a:extLst>
              <a:ext uri="{FF2B5EF4-FFF2-40B4-BE49-F238E27FC236}">
                <a16:creationId xmlns:a16="http://schemas.microsoft.com/office/drawing/2014/main" id="{BAADC206-5FF2-8590-F789-3A1F5017697D}"/>
              </a:ext>
            </a:extLst>
          </p:cNvPr>
          <p:cNvSpPr/>
          <p:nvPr/>
        </p:nvSpPr>
        <p:spPr>
          <a:xfrm>
            <a:off x="3904488" y="5400996"/>
            <a:ext cx="3383280" cy="2743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r">
              <a:buNone/>
            </a:pPr>
            <a:endParaRPr lang="en-US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AC0325D7-56CC-5AAB-39BA-F48028C0C5C4}"/>
              </a:ext>
            </a:extLst>
          </p:cNvPr>
          <p:cNvSpPr/>
          <p:nvPr/>
        </p:nvSpPr>
        <p:spPr>
          <a:xfrm>
            <a:off x="1562682" y="4004219"/>
            <a:ext cx="5723484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r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단위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원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 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부가세 별도</a:t>
            </a:r>
          </a:p>
        </p:txBody>
      </p:sp>
      <p:graphicFrame>
        <p:nvGraphicFramePr>
          <p:cNvPr id="26" name="Table 2">
            <a:extLst>
              <a:ext uri="{FF2B5EF4-FFF2-40B4-BE49-F238E27FC236}">
                <a16:creationId xmlns:a16="http://schemas.microsoft.com/office/drawing/2014/main" id="{A68BA345-1BCE-2E7B-DCF4-D5C0115ABF0B}"/>
              </a:ext>
            </a:extLst>
          </p:cNvPr>
          <p:cNvGraphicFramePr>
            <a:graphicFrameLocks noGrp="1"/>
          </p:cNvGraphicFramePr>
          <p:nvPr/>
        </p:nvGraphicFramePr>
        <p:xfrm>
          <a:off x="274320" y="4285533"/>
          <a:ext cx="7013448" cy="1329600"/>
        </p:xfrm>
        <a:graphic>
          <a:graphicData uri="http://schemas.openxmlformats.org/drawingml/2006/table">
            <a:tbl>
              <a:tblPr/>
              <a:tblGrid>
                <a:gridCol w="16459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29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98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008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1556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0789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8016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품목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단위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수량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단가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가액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부가세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합계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algn="l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철근 콘크리트용 봉강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kg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158,070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845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133,569,150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13,356,915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146,926,065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algn="l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철근 콘크리트용 봉강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kg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2,020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845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1,706,900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170,690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1,877,590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algn="l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철근 콘크리트용 봉강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kg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10,440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845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8,821,800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882,180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9,703,980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 gridSpan="4"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합계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 algn="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144,097,850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14,409,785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r">
                        <a:buNone/>
                      </a:pPr>
                      <a:r>
                        <a:rPr 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맑은 고딕" pitchFamily="34" charset="-120"/>
                        </a:rPr>
                        <a:t>158,507,635</a:t>
                      </a:r>
                      <a:endParaRPr 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맑은 고딕" charset="0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8" name="직사각형 27">
            <a:extLst>
              <a:ext uri="{FF2B5EF4-FFF2-40B4-BE49-F238E27FC236}">
                <a16:creationId xmlns:a16="http://schemas.microsoft.com/office/drawing/2014/main" id="{3B70F16C-A738-D36C-06CE-2939B80A9F6A}"/>
              </a:ext>
            </a:extLst>
          </p:cNvPr>
          <p:cNvSpPr/>
          <p:nvPr/>
        </p:nvSpPr>
        <p:spPr>
          <a:xfrm>
            <a:off x="6591183" y="5704286"/>
            <a:ext cx="699418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닫기</a:t>
            </a:r>
          </a:p>
        </p:txBody>
      </p:sp>
    </p:spTree>
    <p:extLst>
      <p:ext uri="{BB962C8B-B14F-4D97-AF65-F5344CB8AC3E}">
        <p14:creationId xmlns:p14="http://schemas.microsoft.com/office/powerpoint/2010/main" val="524790386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2E57F5-B5E2-AB79-EAFB-9A1464076F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extBox 13">
            <a:extLst>
              <a:ext uri="{FF2B5EF4-FFF2-40B4-BE49-F238E27FC236}">
                <a16:creationId xmlns:a16="http://schemas.microsoft.com/office/drawing/2014/main" id="{657ED992-7578-A618-DCFA-64A552BF581F}"/>
              </a:ext>
            </a:extLst>
          </p:cNvPr>
          <p:cNvSpPr txBox="1"/>
          <p:nvPr/>
        </p:nvSpPr>
        <p:spPr>
          <a:xfrm>
            <a:off x="749224" y="25608"/>
            <a:ext cx="419537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 후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(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·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낙찰하한금액 도출 내역 확인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846D9513-0AF6-823F-A7D6-61FE361374B0}"/>
              </a:ext>
            </a:extLst>
          </p:cNvPr>
          <p:cNvSpPr txBox="1"/>
          <p:nvPr/>
        </p:nvSpPr>
        <p:spPr>
          <a:xfrm>
            <a:off x="8049344" y="584684"/>
            <a:ext cx="1856656" cy="382874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입찰참여 업체들이 가격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시 선택한 가격에 색깔 부여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highlight>
                <a:srgbClr val="FFFF00"/>
              </a:highlight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첫 번째 업체가 선택한 가격부터 예비금액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#1~#4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까지 배정됨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업체가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개 이상인 경우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번째 업체가 선택한 금액은 예정가격 산출 대상이 아님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만약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업체가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개가 안 되는 경우에는 나머지 예비금액을 시스템이 자동 선택함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highlight>
                <a:srgbClr val="FFFF00"/>
              </a:highlight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예정가격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예비금액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#1~#4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의 평균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highlight>
                <a:srgbClr val="FFFF00"/>
              </a:highlight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낙찰하한가 : 예비금액 * 낙찰하한율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낙찰하한가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미만의 금액을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투찰할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경우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부적격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임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투찰가격의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부적격 산정 기준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예정가격 이상으로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투찰한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경우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예비가격 이하로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투찰한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경우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highlight>
                <a:srgbClr val="FFFF00"/>
              </a:highlight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8715D92E-5169-C477-A3D4-43D4A1138F27}"/>
              </a:ext>
            </a:extLst>
          </p:cNvPr>
          <p:cNvSpPr/>
          <p:nvPr/>
        </p:nvSpPr>
        <p:spPr>
          <a:xfrm>
            <a:off x="164468" y="368660"/>
            <a:ext cx="7713521" cy="594066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969BC09C-020C-C8FB-D6FB-4FF837843815}"/>
              </a:ext>
            </a:extLst>
          </p:cNvPr>
          <p:cNvSpPr/>
          <p:nvPr/>
        </p:nvSpPr>
        <p:spPr>
          <a:xfrm>
            <a:off x="7775956" y="369148"/>
            <a:ext cx="108012" cy="59402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C5A7EE11-2A54-A79C-FF27-62449CFF3F94}"/>
              </a:ext>
            </a:extLst>
          </p:cNvPr>
          <p:cNvSpPr/>
          <p:nvPr/>
        </p:nvSpPr>
        <p:spPr>
          <a:xfrm>
            <a:off x="7775956" y="1956169"/>
            <a:ext cx="108012" cy="1800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43D254B0-5104-CFDD-1D32-CEA8AD9BAE73}"/>
              </a:ext>
            </a:extLst>
          </p:cNvPr>
          <p:cNvSpPr/>
          <p:nvPr/>
        </p:nvSpPr>
        <p:spPr>
          <a:xfrm>
            <a:off x="164468" y="368660"/>
            <a:ext cx="7708996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예정가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·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낙찰하한금액 도출 내역 확인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063FA76-9CB6-56FD-25DF-7E4E9E028DCC}"/>
              </a:ext>
            </a:extLst>
          </p:cNvPr>
          <p:cNvSpPr/>
          <p:nvPr/>
        </p:nvSpPr>
        <p:spPr>
          <a:xfrm>
            <a:off x="7610358" y="368660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2F829721-5DC8-C52F-54F2-33062986501D}"/>
              </a:ext>
            </a:extLst>
          </p:cNvPr>
          <p:cNvSpPr/>
          <p:nvPr/>
        </p:nvSpPr>
        <p:spPr>
          <a:xfrm>
            <a:off x="332879" y="774485"/>
            <a:ext cx="2231380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·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낙찰하한금액 도출 내역 확인</a:t>
            </a:r>
          </a:p>
        </p:txBody>
      </p:sp>
      <p:graphicFrame>
        <p:nvGraphicFramePr>
          <p:cNvPr id="63" name="표 62">
            <a:extLst>
              <a:ext uri="{FF2B5EF4-FFF2-40B4-BE49-F238E27FC236}">
                <a16:creationId xmlns:a16="http://schemas.microsoft.com/office/drawing/2014/main" id="{7505A702-C7C8-2145-51D4-40F5CE76601F}"/>
              </a:ext>
            </a:extLst>
          </p:cNvPr>
          <p:cNvGraphicFramePr>
            <a:graphicFrameLocks noGrp="1"/>
          </p:cNvGraphicFramePr>
          <p:nvPr/>
        </p:nvGraphicFramePr>
        <p:xfrm>
          <a:off x="324655" y="1869143"/>
          <a:ext cx="7285701" cy="67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95420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2030191">
                  <a:extLst>
                    <a:ext uri="{9D8B030D-6E8A-4147-A177-3AD203B41FA5}">
                      <a16:colId xmlns:a16="http://schemas.microsoft.com/office/drawing/2014/main" val="2264476566"/>
                    </a:ext>
                  </a:extLst>
                </a:gridCol>
                <a:gridCol w="1495420">
                  <a:extLst>
                    <a:ext uri="{9D8B030D-6E8A-4147-A177-3AD203B41FA5}">
                      <a16:colId xmlns:a16="http://schemas.microsoft.com/office/drawing/2014/main" val="1854595363"/>
                    </a:ext>
                  </a:extLst>
                </a:gridCol>
                <a:gridCol w="2264670">
                  <a:extLst>
                    <a:ext uri="{9D8B030D-6E8A-4147-A177-3AD203B41FA5}">
                      <a16:colId xmlns:a16="http://schemas.microsoft.com/office/drawing/2014/main" val="7009178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복수예비 기초금액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122,000,000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04864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낙찰하한율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기준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 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 2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억 미만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(87.745%)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낙찰하한율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87.745%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0284342"/>
                  </a:ext>
                </a:extLst>
              </a:tr>
            </a:tbl>
          </a:graphicData>
        </a:graphic>
      </p:graphicFrame>
      <p:graphicFrame>
        <p:nvGraphicFramePr>
          <p:cNvPr id="65" name="표 64">
            <a:extLst>
              <a:ext uri="{FF2B5EF4-FFF2-40B4-BE49-F238E27FC236}">
                <a16:creationId xmlns:a16="http://schemas.microsoft.com/office/drawing/2014/main" id="{CAA0E6C7-0689-2CAB-F019-6436F03A4C67}"/>
              </a:ext>
            </a:extLst>
          </p:cNvPr>
          <p:cNvGraphicFramePr>
            <a:graphicFrameLocks noGrp="1"/>
          </p:cNvGraphicFramePr>
          <p:nvPr/>
        </p:nvGraphicFramePr>
        <p:xfrm>
          <a:off x="324655" y="2935378"/>
          <a:ext cx="7285705" cy="1035504"/>
        </p:xfrm>
        <a:graphic>
          <a:graphicData uri="http://schemas.openxmlformats.org/drawingml/2006/table">
            <a:tbl>
              <a:tblPr firstRow="1" bandRow="1"/>
              <a:tblGrid>
                <a:gridCol w="1356457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741156">
                  <a:extLst>
                    <a:ext uri="{9D8B030D-6E8A-4147-A177-3AD203B41FA5}">
                      <a16:colId xmlns:a16="http://schemas.microsoft.com/office/drawing/2014/main" val="3053194834"/>
                    </a:ext>
                  </a:extLst>
                </a:gridCol>
                <a:gridCol w="741156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741156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741156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741156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  <a:gridCol w="741156">
                  <a:extLst>
                    <a:ext uri="{9D8B030D-6E8A-4147-A177-3AD203B41FA5}">
                      <a16:colId xmlns:a16="http://schemas.microsoft.com/office/drawing/2014/main" val="4270883096"/>
                    </a:ext>
                  </a:extLst>
                </a:gridCol>
                <a:gridCol w="741156">
                  <a:extLst>
                    <a:ext uri="{9D8B030D-6E8A-4147-A177-3AD203B41FA5}">
                      <a16:colId xmlns:a16="http://schemas.microsoft.com/office/drawing/2014/main" val="3797354430"/>
                    </a:ext>
                  </a:extLst>
                </a:gridCol>
                <a:gridCol w="741156">
                  <a:extLst>
                    <a:ext uri="{9D8B030D-6E8A-4147-A177-3AD203B41FA5}">
                      <a16:colId xmlns:a16="http://schemas.microsoft.com/office/drawing/2014/main" val="215188451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복수예비금액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ctr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(+2%</a:t>
                      </a: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의 금액 중 </a:t>
                      </a: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 선택</a:t>
                      </a: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123,379,000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123,387,000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123,569,000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124,315,000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126,351,000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124,379,000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123,524,000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복수예비금액</a:t>
                      </a:r>
                    </a:p>
                    <a:p>
                      <a:pPr marL="0" marR="0" lvl="0" indent="0" algn="ctr" defTabSz="109728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(-2%</a:t>
                      </a: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의 금액 중 </a:t>
                      </a: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 선택</a:t>
                      </a: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122,526,000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121,345,000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122,352,000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121,759,000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122,952,000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120,524,000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120,875,000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120,579,000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2628136"/>
                  </a:ext>
                </a:extLst>
              </a:tr>
            </a:tbl>
          </a:graphicData>
        </a:graphic>
      </p:graphicFrame>
      <p:sp>
        <p:nvSpPr>
          <p:cNvPr id="67" name="직사각형 66">
            <a:extLst>
              <a:ext uri="{FF2B5EF4-FFF2-40B4-BE49-F238E27FC236}">
                <a16:creationId xmlns:a16="http://schemas.microsoft.com/office/drawing/2014/main" id="{D2B43484-4C36-3470-53A4-548666FF552D}"/>
              </a:ext>
            </a:extLst>
          </p:cNvPr>
          <p:cNvSpPr/>
          <p:nvPr/>
        </p:nvSpPr>
        <p:spPr>
          <a:xfrm>
            <a:off x="332879" y="2653730"/>
            <a:ext cx="7285701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복수예비가격 생성 ※ 복수예비 기초금액 ±2% 범위 내에서 15개 자동 생성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13199A05-5724-7760-2735-312589E3D0B9}"/>
              </a:ext>
            </a:extLst>
          </p:cNvPr>
          <p:cNvSpPr/>
          <p:nvPr/>
        </p:nvSpPr>
        <p:spPr>
          <a:xfrm>
            <a:off x="332879" y="4032442"/>
            <a:ext cx="7285701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예비금액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선택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</p:txBody>
      </p:sp>
      <p:graphicFrame>
        <p:nvGraphicFramePr>
          <p:cNvPr id="71" name="표 70">
            <a:extLst>
              <a:ext uri="{FF2B5EF4-FFF2-40B4-BE49-F238E27FC236}">
                <a16:creationId xmlns:a16="http://schemas.microsoft.com/office/drawing/2014/main" id="{1FC90A35-95E8-2288-74D8-B9FF087319E6}"/>
              </a:ext>
            </a:extLst>
          </p:cNvPr>
          <p:cNvGraphicFramePr>
            <a:graphicFrameLocks noGrp="1"/>
          </p:cNvGraphicFramePr>
          <p:nvPr/>
        </p:nvGraphicFramePr>
        <p:xfrm>
          <a:off x="332878" y="4309126"/>
          <a:ext cx="7277480" cy="675840"/>
        </p:xfrm>
        <a:graphic>
          <a:graphicData uri="http://schemas.openxmlformats.org/drawingml/2006/table">
            <a:tbl>
              <a:tblPr firstRow="1" bandRow="1"/>
              <a:tblGrid>
                <a:gridCol w="1819370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181937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1819370">
                  <a:extLst>
                    <a:ext uri="{9D8B030D-6E8A-4147-A177-3AD203B41FA5}">
                      <a16:colId xmlns:a16="http://schemas.microsoft.com/office/drawing/2014/main" val="916893631"/>
                    </a:ext>
                  </a:extLst>
                </a:gridCol>
                <a:gridCol w="1819370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예비금액 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#1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예비금액 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#2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예비금액 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#3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예비금액 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#4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123,379,000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122,352,000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124,315,000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120,579,000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73" name="직사각형 72">
            <a:extLst>
              <a:ext uri="{FF2B5EF4-FFF2-40B4-BE49-F238E27FC236}">
                <a16:creationId xmlns:a16="http://schemas.microsoft.com/office/drawing/2014/main" id="{2764029D-FAC0-2C4C-8D47-4944F1D7FA43}"/>
              </a:ext>
            </a:extLst>
          </p:cNvPr>
          <p:cNvSpPr/>
          <p:nvPr/>
        </p:nvSpPr>
        <p:spPr>
          <a:xfrm>
            <a:off x="338396" y="5059192"/>
            <a:ext cx="7285701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낙찰하한가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도출</a:t>
            </a:r>
            <a:endParaRPr lang="en-US" altLang="ko-KR" sz="9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75" name="표 74">
            <a:extLst>
              <a:ext uri="{FF2B5EF4-FFF2-40B4-BE49-F238E27FC236}">
                <a16:creationId xmlns:a16="http://schemas.microsoft.com/office/drawing/2014/main" id="{3C55FECB-5AB7-38F9-163D-569EFCB947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7303705"/>
              </p:ext>
            </p:extLst>
          </p:nvPr>
        </p:nvGraphicFramePr>
        <p:xfrm>
          <a:off x="332879" y="5332653"/>
          <a:ext cx="7275130" cy="337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93250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2027245">
                  <a:extLst>
                    <a:ext uri="{9D8B030D-6E8A-4147-A177-3AD203B41FA5}">
                      <a16:colId xmlns:a16="http://schemas.microsoft.com/office/drawing/2014/main" val="2264476566"/>
                    </a:ext>
                  </a:extLst>
                </a:gridCol>
                <a:gridCol w="1493250">
                  <a:extLst>
                    <a:ext uri="{9D8B030D-6E8A-4147-A177-3AD203B41FA5}">
                      <a16:colId xmlns:a16="http://schemas.microsoft.com/office/drawing/2014/main" val="1854595363"/>
                    </a:ext>
                  </a:extLst>
                </a:gridCol>
                <a:gridCol w="2261385">
                  <a:extLst>
                    <a:ext uri="{9D8B030D-6E8A-4147-A177-3AD203B41FA5}">
                      <a16:colId xmlns:a16="http://schemas.microsoft.com/office/drawing/2014/main" val="7009178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복수예비금액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평균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122,656,250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낙찰하한가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107,624,727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0486474"/>
                  </a:ext>
                </a:extLst>
              </a:tr>
            </a:tbl>
          </a:graphicData>
        </a:graphic>
      </p:graphicFrame>
      <p:sp>
        <p:nvSpPr>
          <p:cNvPr id="79" name="직사각형 78">
            <a:extLst>
              <a:ext uri="{FF2B5EF4-FFF2-40B4-BE49-F238E27FC236}">
                <a16:creationId xmlns:a16="http://schemas.microsoft.com/office/drawing/2014/main" id="{F1C7E5F7-DA45-2C91-F054-0E27BBC6E425}"/>
              </a:ext>
            </a:extLst>
          </p:cNvPr>
          <p:cNvSpPr/>
          <p:nvPr/>
        </p:nvSpPr>
        <p:spPr>
          <a:xfrm>
            <a:off x="6928328" y="5789578"/>
            <a:ext cx="699418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닫기</a:t>
            </a: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02AD3475-D7C9-B211-7B6C-54760BAAEAB8}"/>
              </a:ext>
            </a:extLst>
          </p:cNvPr>
          <p:cNvSpPr/>
          <p:nvPr/>
        </p:nvSpPr>
        <p:spPr>
          <a:xfrm>
            <a:off x="1568624" y="2840706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90" name="표 89">
            <a:extLst>
              <a:ext uri="{FF2B5EF4-FFF2-40B4-BE49-F238E27FC236}">
                <a16:creationId xmlns:a16="http://schemas.microsoft.com/office/drawing/2014/main" id="{6FD82CC8-4697-6258-D7A0-A925AE1581FD}"/>
              </a:ext>
            </a:extLst>
          </p:cNvPr>
          <p:cNvGraphicFramePr>
            <a:graphicFrameLocks noGrp="1"/>
          </p:cNvGraphicFramePr>
          <p:nvPr/>
        </p:nvGraphicFramePr>
        <p:xfrm>
          <a:off x="332877" y="1110321"/>
          <a:ext cx="7275132" cy="675840"/>
        </p:xfrm>
        <a:graphic>
          <a:graphicData uri="http://schemas.openxmlformats.org/drawingml/2006/table">
            <a:tbl>
              <a:tblPr firstRow="1" bandRow="1"/>
              <a:tblGrid>
                <a:gridCol w="881967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803666">
                  <a:extLst>
                    <a:ext uri="{9D8B030D-6E8A-4147-A177-3AD203B41FA5}">
                      <a16:colId xmlns:a16="http://schemas.microsoft.com/office/drawing/2014/main" val="1731736782"/>
                    </a:ext>
                  </a:extLst>
                </a:gridCol>
                <a:gridCol w="552381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446448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333872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854652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1054952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661635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685559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재공고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개찰완료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91" name="타원 90">
            <a:extLst>
              <a:ext uri="{FF2B5EF4-FFF2-40B4-BE49-F238E27FC236}">
                <a16:creationId xmlns:a16="http://schemas.microsoft.com/office/drawing/2014/main" id="{0B759F55-F023-17F7-1F19-0490E790053C}"/>
              </a:ext>
            </a:extLst>
          </p:cNvPr>
          <p:cNvSpPr/>
          <p:nvPr/>
        </p:nvSpPr>
        <p:spPr>
          <a:xfrm>
            <a:off x="286791" y="4251179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" name="타원 91">
            <a:extLst>
              <a:ext uri="{FF2B5EF4-FFF2-40B4-BE49-F238E27FC236}">
                <a16:creationId xmlns:a16="http://schemas.microsoft.com/office/drawing/2014/main" id="{26C893B1-3E94-78C5-BF5B-4F72024AB5E8}"/>
              </a:ext>
            </a:extLst>
          </p:cNvPr>
          <p:cNvSpPr/>
          <p:nvPr/>
        </p:nvSpPr>
        <p:spPr>
          <a:xfrm>
            <a:off x="286791" y="5228847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" name="타원 92">
            <a:extLst>
              <a:ext uri="{FF2B5EF4-FFF2-40B4-BE49-F238E27FC236}">
                <a16:creationId xmlns:a16="http://schemas.microsoft.com/office/drawing/2014/main" id="{8D0014D3-7780-15DB-C34C-B4998B8FE7AE}"/>
              </a:ext>
            </a:extLst>
          </p:cNvPr>
          <p:cNvSpPr/>
          <p:nvPr/>
        </p:nvSpPr>
        <p:spPr>
          <a:xfrm>
            <a:off x="3739420" y="5228847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87135912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54FE9B-D232-FFF0-BA9D-D5F1E28BBC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8CFE47F2-A5A8-1192-017E-9BC4800D87BE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3DF8227-6BA9-A21D-375E-927F3C28F4FC}"/>
              </a:ext>
            </a:extLst>
          </p:cNvPr>
          <p:cNvSpPr txBox="1"/>
          <p:nvPr/>
        </p:nvSpPr>
        <p:spPr>
          <a:xfrm>
            <a:off x="8049344" y="584684"/>
            <a:ext cx="1856656" cy="502599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개찰결과에 문제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불성립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담합 의심 등 다양한 이유가 있을 수 있음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가 있는 경우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재입찰 처리가능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재입찰이란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본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개찰 목록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의 협력업체를 대상으로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을 한 번 더 진행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highlight>
                <a:srgbClr val="FFFF00"/>
              </a:highlight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재입찰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기간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설정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협력업체에게 재입찰 기간을 안내해줘야 함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highlight>
                <a:srgbClr val="FFFF00"/>
              </a:highlight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본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개찰 목록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의 협력업체를 대상으로 재입찰 진행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highlight>
                <a:srgbClr val="FFFF00"/>
              </a:highlight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발송 제목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내용을 자동 완성해 주지만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수정해서 보낼 수도 있음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내용 중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기간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위의 설정된 값에 따라서 자동 완성해 줌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재입찰 처리 시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진행상태를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재입찰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로 변경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개찰 대상 업체의 경우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재입찰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기간’ 동안 가격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기능 활성화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기존에 등록한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는 모두 삭제함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혹시 모르니 임시 테이블에 저장하는 것은 추천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u="sng" dirty="0">
              <a:solidFill>
                <a:srgbClr val="C00000"/>
              </a:solidFill>
              <a:highlight>
                <a:srgbClr val="FFFF00"/>
              </a:highlight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53C327B-257A-1381-C6FC-22D04AAAD4D2}"/>
              </a:ext>
            </a:extLst>
          </p:cNvPr>
          <p:cNvSpPr txBox="1"/>
          <p:nvPr/>
        </p:nvSpPr>
        <p:spPr>
          <a:xfrm>
            <a:off x="749224" y="25608"/>
            <a:ext cx="291778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&gt; 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재입찰 처리하기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61145635-79F3-2EFE-2461-904A9459FE62}"/>
              </a:ext>
            </a:extLst>
          </p:cNvPr>
          <p:cNvSpPr txBox="1"/>
          <p:nvPr/>
        </p:nvSpPr>
        <p:spPr>
          <a:xfrm>
            <a:off x="-854365" y="4429125"/>
            <a:ext cx="184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84D6766A-DFCF-CEEC-D3D4-DE23E40988B9}"/>
              </a:ext>
            </a:extLst>
          </p:cNvPr>
          <p:cNvSpPr/>
          <p:nvPr/>
        </p:nvSpPr>
        <p:spPr>
          <a:xfrm>
            <a:off x="211878" y="628675"/>
            <a:ext cx="7513429" cy="633781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FCE6831-1339-7CC6-746E-783B9B610D52}"/>
              </a:ext>
            </a:extLst>
          </p:cNvPr>
          <p:cNvSpPr/>
          <p:nvPr/>
        </p:nvSpPr>
        <p:spPr>
          <a:xfrm>
            <a:off x="328517" y="719575"/>
            <a:ext cx="1045158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재입찰 처리하기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E1DB4319-994C-0D43-3037-0A7EAE438EEE}"/>
              </a:ext>
            </a:extLst>
          </p:cNvPr>
          <p:cNvSpPr/>
          <p:nvPr/>
        </p:nvSpPr>
        <p:spPr>
          <a:xfrm>
            <a:off x="350349" y="1050091"/>
            <a:ext cx="5584883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재입찰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9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기간 설정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50" name="표 49">
            <a:extLst>
              <a:ext uri="{FF2B5EF4-FFF2-40B4-BE49-F238E27FC236}">
                <a16:creationId xmlns:a16="http://schemas.microsoft.com/office/drawing/2014/main" id="{D27096C8-F27F-88D6-A053-2E4CC619621C}"/>
              </a:ext>
            </a:extLst>
          </p:cNvPr>
          <p:cNvGraphicFramePr>
            <a:graphicFrameLocks noGrp="1"/>
          </p:cNvGraphicFramePr>
          <p:nvPr/>
        </p:nvGraphicFramePr>
        <p:xfrm>
          <a:off x="331425" y="1320638"/>
          <a:ext cx="7101412" cy="337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32760">
                  <a:extLst>
                    <a:ext uri="{9D8B030D-6E8A-4147-A177-3AD203B41FA5}">
                      <a16:colId xmlns:a16="http://schemas.microsoft.com/office/drawing/2014/main" val="2218358209"/>
                    </a:ext>
                  </a:extLst>
                </a:gridCol>
                <a:gridCol w="5868652">
                  <a:extLst>
                    <a:ext uri="{9D8B030D-6E8A-4147-A177-3AD203B41FA5}">
                      <a16:colId xmlns:a16="http://schemas.microsoft.com/office/drawing/2014/main" val="376649550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재입찰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가격 </a:t>
                      </a:r>
                      <a:r>
                        <a:rPr kumimoji="0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투찰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기간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                                                                                                    ~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88328"/>
                  </a:ext>
                </a:extLst>
              </a:tr>
            </a:tbl>
          </a:graphicData>
        </a:graphic>
      </p:graphicFrame>
      <p:sp>
        <p:nvSpPr>
          <p:cNvPr id="52" name="직사각형 51">
            <a:extLst>
              <a:ext uri="{FF2B5EF4-FFF2-40B4-BE49-F238E27FC236}">
                <a16:creationId xmlns:a16="http://schemas.microsoft.com/office/drawing/2014/main" id="{AB5508E6-45DC-F309-42C5-40376AA99F6F}"/>
              </a:ext>
            </a:extLst>
          </p:cNvPr>
          <p:cNvSpPr/>
          <p:nvPr/>
        </p:nvSpPr>
        <p:spPr>
          <a:xfrm>
            <a:off x="1635766" y="1382129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날짜 선택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7FB138C2-83CD-A8EA-1276-FF4CED7ED87A}"/>
              </a:ext>
            </a:extLst>
          </p:cNvPr>
          <p:cNvSpPr/>
          <p:nvPr/>
        </p:nvSpPr>
        <p:spPr>
          <a:xfrm>
            <a:off x="2446017" y="1382129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8CE5538C-EE6D-0EEA-5D5A-DC934E8AABDE}"/>
              </a:ext>
            </a:extLst>
          </p:cNvPr>
          <p:cNvSpPr/>
          <p:nvPr/>
        </p:nvSpPr>
        <p:spPr>
          <a:xfrm>
            <a:off x="2731435" y="1382129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시간 선택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67573E42-5CAA-7C83-0447-E92450F546A8}"/>
              </a:ext>
            </a:extLst>
          </p:cNvPr>
          <p:cNvSpPr/>
          <p:nvPr/>
        </p:nvSpPr>
        <p:spPr>
          <a:xfrm>
            <a:off x="3331517" y="1382129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8A7B8A91-6F35-3866-A7C4-46682746ACAE}"/>
              </a:ext>
            </a:extLst>
          </p:cNvPr>
          <p:cNvSpPr/>
          <p:nvPr/>
        </p:nvSpPr>
        <p:spPr>
          <a:xfrm>
            <a:off x="3625392" y="1382129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분 선택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EFC431A1-90D9-03E2-5441-C14E4EB80578}"/>
              </a:ext>
            </a:extLst>
          </p:cNvPr>
          <p:cNvSpPr/>
          <p:nvPr/>
        </p:nvSpPr>
        <p:spPr>
          <a:xfrm>
            <a:off x="4225474" y="1382129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D47CB858-2BDB-45EB-C5F6-2A34293AAF6C}"/>
              </a:ext>
            </a:extLst>
          </p:cNvPr>
          <p:cNvSpPr/>
          <p:nvPr/>
        </p:nvSpPr>
        <p:spPr>
          <a:xfrm>
            <a:off x="4666098" y="1382129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날짜 선택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2D51F338-4870-2B22-9981-1685A8B27DA6}"/>
              </a:ext>
            </a:extLst>
          </p:cNvPr>
          <p:cNvSpPr/>
          <p:nvPr/>
        </p:nvSpPr>
        <p:spPr>
          <a:xfrm>
            <a:off x="5476349" y="1382129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8737B03F-49F2-645F-F3C6-BB4B6D72CEB9}"/>
              </a:ext>
            </a:extLst>
          </p:cNvPr>
          <p:cNvSpPr/>
          <p:nvPr/>
        </p:nvSpPr>
        <p:spPr>
          <a:xfrm>
            <a:off x="5761767" y="1382129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시간 선택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EE1B4E42-9D29-54BC-8B18-AB99031F2715}"/>
              </a:ext>
            </a:extLst>
          </p:cNvPr>
          <p:cNvSpPr/>
          <p:nvPr/>
        </p:nvSpPr>
        <p:spPr>
          <a:xfrm>
            <a:off x="6361849" y="1382129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CDD557F6-9E88-5860-1F52-BBD43B3E09BE}"/>
              </a:ext>
            </a:extLst>
          </p:cNvPr>
          <p:cNvSpPr/>
          <p:nvPr/>
        </p:nvSpPr>
        <p:spPr>
          <a:xfrm>
            <a:off x="6655724" y="1382129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분 선택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CE6E0637-66BD-1D85-B2B9-9DC7402B935D}"/>
              </a:ext>
            </a:extLst>
          </p:cNvPr>
          <p:cNvSpPr/>
          <p:nvPr/>
        </p:nvSpPr>
        <p:spPr>
          <a:xfrm>
            <a:off x="7255806" y="1382129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301BB0B5-D8D7-4978-8C68-BB5475356DC7}"/>
              </a:ext>
            </a:extLst>
          </p:cNvPr>
          <p:cNvGraphicFramePr>
            <a:graphicFrameLocks noGrp="1"/>
          </p:cNvGraphicFramePr>
          <p:nvPr/>
        </p:nvGraphicFramePr>
        <p:xfrm>
          <a:off x="328517" y="3438271"/>
          <a:ext cx="7104320" cy="337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63660">
                  <a:extLst>
                    <a:ext uri="{9D8B030D-6E8A-4147-A177-3AD203B41FA5}">
                      <a16:colId xmlns:a16="http://schemas.microsoft.com/office/drawing/2014/main" val="383348964"/>
                    </a:ext>
                  </a:extLst>
                </a:gridCol>
                <a:gridCol w="5940660">
                  <a:extLst>
                    <a:ext uri="{9D8B030D-6E8A-4147-A177-3AD203B41FA5}">
                      <a16:colId xmlns:a16="http://schemas.microsoft.com/office/drawing/2014/main" val="161840302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indent="-7200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발송방법 선택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● 이메일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+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메시지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     ○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이메일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     ○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메시지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466907"/>
                  </a:ext>
                </a:extLst>
              </a:tr>
            </a:tbl>
          </a:graphicData>
        </a:graphic>
      </p:graphicFrame>
      <p:graphicFrame>
        <p:nvGraphicFramePr>
          <p:cNvPr id="78" name="표 77">
            <a:extLst>
              <a:ext uri="{FF2B5EF4-FFF2-40B4-BE49-F238E27FC236}">
                <a16:creationId xmlns:a16="http://schemas.microsoft.com/office/drawing/2014/main" id="{B96DA357-689F-35B2-5C38-090C09401D8E}"/>
              </a:ext>
            </a:extLst>
          </p:cNvPr>
          <p:cNvGraphicFramePr>
            <a:graphicFrameLocks noGrp="1"/>
          </p:cNvGraphicFramePr>
          <p:nvPr/>
        </p:nvGraphicFramePr>
        <p:xfrm>
          <a:off x="328517" y="3845091"/>
          <a:ext cx="7104320" cy="337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63660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5940660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indent="-7200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제목</a:t>
                      </a:r>
                      <a:r>
                        <a:rPr lang="ko-KR" altLang="en-US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4554203"/>
                  </a:ext>
                </a:extLst>
              </a:tr>
            </a:tbl>
          </a:graphicData>
        </a:graphic>
      </p:graphicFrame>
      <p:sp>
        <p:nvSpPr>
          <p:cNvPr id="90" name="직사각형 89">
            <a:extLst>
              <a:ext uri="{FF2B5EF4-FFF2-40B4-BE49-F238E27FC236}">
                <a16:creationId xmlns:a16="http://schemas.microsoft.com/office/drawing/2014/main" id="{34AD774B-E8DE-66CF-1363-861899838BB2}"/>
              </a:ext>
            </a:extLst>
          </p:cNvPr>
          <p:cNvSpPr/>
          <p:nvPr/>
        </p:nvSpPr>
        <p:spPr>
          <a:xfrm>
            <a:off x="1569052" y="3905101"/>
            <a:ext cx="5708907" cy="21544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안녕하세요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b="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켑코이에스입니다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(‘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재입찰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요청 드립니다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9E3A21A8-8E12-D997-4A35-0080CFAEF38D}"/>
              </a:ext>
            </a:extLst>
          </p:cNvPr>
          <p:cNvSpPr/>
          <p:nvPr/>
        </p:nvSpPr>
        <p:spPr>
          <a:xfrm>
            <a:off x="350349" y="1799504"/>
            <a:ext cx="5584883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재입찰 대상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98" name="표 97">
            <a:extLst>
              <a:ext uri="{FF2B5EF4-FFF2-40B4-BE49-F238E27FC236}">
                <a16:creationId xmlns:a16="http://schemas.microsoft.com/office/drawing/2014/main" id="{B3478D96-34CD-DB9F-6178-ED9C04AD2027}"/>
              </a:ext>
            </a:extLst>
          </p:cNvPr>
          <p:cNvGraphicFramePr>
            <a:graphicFrameLocks noGrp="1"/>
          </p:cNvGraphicFramePr>
          <p:nvPr/>
        </p:nvGraphicFramePr>
        <p:xfrm>
          <a:off x="328517" y="2066083"/>
          <a:ext cx="7081461" cy="1013760"/>
        </p:xfrm>
        <a:graphic>
          <a:graphicData uri="http://schemas.openxmlformats.org/drawingml/2006/table">
            <a:tbl>
              <a:tblPr firstRow="1" bandRow="1"/>
              <a:tblGrid>
                <a:gridCol w="866717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1103083">
                  <a:extLst>
                    <a:ext uri="{9D8B030D-6E8A-4147-A177-3AD203B41FA5}">
                      <a16:colId xmlns:a16="http://schemas.microsoft.com/office/drawing/2014/main" val="2178705914"/>
                    </a:ext>
                  </a:extLst>
                </a:gridCol>
                <a:gridCol w="1119702">
                  <a:extLst>
                    <a:ext uri="{9D8B030D-6E8A-4147-A177-3AD203B41FA5}">
                      <a16:colId xmlns:a16="http://schemas.microsoft.com/office/drawing/2014/main" val="2628663970"/>
                    </a:ext>
                  </a:extLst>
                </a:gridCol>
                <a:gridCol w="670975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338585">
                  <a:extLst>
                    <a:ext uri="{9D8B030D-6E8A-4147-A177-3AD203B41FA5}">
                      <a16:colId xmlns:a16="http://schemas.microsoft.com/office/drawing/2014/main" val="800341694"/>
                    </a:ext>
                  </a:extLst>
                </a:gridCol>
                <a:gridCol w="994133">
                  <a:extLst>
                    <a:ext uri="{9D8B030D-6E8A-4147-A177-3AD203B41FA5}">
                      <a16:colId xmlns:a16="http://schemas.microsoft.com/office/drawing/2014/main" val="1524271130"/>
                    </a:ext>
                  </a:extLst>
                </a:gridCol>
                <a:gridCol w="994133">
                  <a:extLst>
                    <a:ext uri="{9D8B030D-6E8A-4147-A177-3AD203B41FA5}">
                      <a16:colId xmlns:a16="http://schemas.microsoft.com/office/drawing/2014/main" val="1597729474"/>
                    </a:ext>
                  </a:extLst>
                </a:gridCol>
                <a:gridCol w="994133">
                  <a:extLst>
                    <a:ext uri="{9D8B030D-6E8A-4147-A177-3AD203B41FA5}">
                      <a16:colId xmlns:a16="http://schemas.microsoft.com/office/drawing/2014/main" val="188374671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업체명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제출상태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참여 일시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입찰담당자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직책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핸드폰번호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평가점수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적격여부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A 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참여 완료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2026.07.30 17:25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차장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010-5865-5234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45.28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적격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sng" dirty="0" err="1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업체명</a:t>
                      </a:r>
                      <a:endParaRPr lang="en-US" altLang="ko-KR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입찰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참여 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2026.07.30 17:25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이희성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부장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010-6844-2810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48.00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적격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</a:tbl>
          </a:graphicData>
        </a:graphic>
      </p:graphicFrame>
      <p:sp>
        <p:nvSpPr>
          <p:cNvPr id="99" name="직사각형 98">
            <a:extLst>
              <a:ext uri="{FF2B5EF4-FFF2-40B4-BE49-F238E27FC236}">
                <a16:creationId xmlns:a16="http://schemas.microsoft.com/office/drawing/2014/main" id="{91E01313-0A62-A7DC-4263-499206C9A927}"/>
              </a:ext>
            </a:extLst>
          </p:cNvPr>
          <p:cNvSpPr/>
          <p:nvPr/>
        </p:nvSpPr>
        <p:spPr>
          <a:xfrm>
            <a:off x="350349" y="3163577"/>
            <a:ext cx="5584883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발송 내용</a:t>
            </a:r>
            <a:endParaRPr lang="ko-KR" altLang="en-US" sz="800" b="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62C9DF7-0CE1-895E-EE96-CBF3D2F2661B}"/>
              </a:ext>
            </a:extLst>
          </p:cNvPr>
          <p:cNvSpPr/>
          <p:nvPr/>
        </p:nvSpPr>
        <p:spPr>
          <a:xfrm>
            <a:off x="7617296" y="386915"/>
            <a:ext cx="108011" cy="6579572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F2EBE6FC-2BD5-C998-E797-A78B01A53E05}"/>
              </a:ext>
            </a:extLst>
          </p:cNvPr>
          <p:cNvSpPr/>
          <p:nvPr/>
        </p:nvSpPr>
        <p:spPr>
          <a:xfrm>
            <a:off x="7617296" y="1007063"/>
            <a:ext cx="108012" cy="1800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DCF4D9D-1A87-2B50-DF80-AD46C654ADE8}"/>
              </a:ext>
            </a:extLst>
          </p:cNvPr>
          <p:cNvSpPr/>
          <p:nvPr/>
        </p:nvSpPr>
        <p:spPr>
          <a:xfrm>
            <a:off x="211878" y="355764"/>
            <a:ext cx="7513429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재입찰 처리하기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77693A48-11C9-BB99-03CF-1ABE2AB425B4}"/>
              </a:ext>
            </a:extLst>
          </p:cNvPr>
          <p:cNvSpPr/>
          <p:nvPr/>
        </p:nvSpPr>
        <p:spPr>
          <a:xfrm>
            <a:off x="7455307" y="355764"/>
            <a:ext cx="270000" cy="276749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AF6DAA1E-84AC-2887-CDA8-6E3C46D82561}"/>
              </a:ext>
            </a:extLst>
          </p:cNvPr>
          <p:cNvSpPr/>
          <p:nvPr/>
        </p:nvSpPr>
        <p:spPr>
          <a:xfrm>
            <a:off x="121399" y="296652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2876C107-0F95-52D7-ADC6-53083483D1F1}"/>
              </a:ext>
            </a:extLst>
          </p:cNvPr>
          <p:cNvSpPr/>
          <p:nvPr/>
        </p:nvSpPr>
        <p:spPr>
          <a:xfrm>
            <a:off x="121399" y="1265825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3110ED4F-D254-C2BD-E083-BA4C70E91EEF}"/>
              </a:ext>
            </a:extLst>
          </p:cNvPr>
          <p:cNvSpPr/>
          <p:nvPr/>
        </p:nvSpPr>
        <p:spPr>
          <a:xfrm>
            <a:off x="121399" y="1646880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62336410-9F9B-F413-D3A5-CB282A574415}"/>
              </a:ext>
            </a:extLst>
          </p:cNvPr>
          <p:cNvSpPr/>
          <p:nvPr/>
        </p:nvSpPr>
        <p:spPr>
          <a:xfrm>
            <a:off x="121399" y="3671117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C58CE806-C305-CA48-F78D-507195322BD3}"/>
              </a:ext>
            </a:extLst>
          </p:cNvPr>
          <p:cNvGraphicFramePr>
            <a:graphicFrameLocks noGrp="1"/>
          </p:cNvGraphicFramePr>
          <p:nvPr/>
        </p:nvGraphicFramePr>
        <p:xfrm>
          <a:off x="304045" y="4181040"/>
          <a:ext cx="7164796" cy="2260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88132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5976664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587698">
                <a:tc>
                  <a:txBody>
                    <a:bodyPr/>
                    <a:lstStyle/>
                    <a:p>
                      <a:pPr marL="72000" indent="-7200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이메일 내용</a:t>
                      </a:r>
                      <a:r>
                        <a:rPr lang="ko-KR" altLang="en-US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  <a:endParaRPr lang="ko-KR" altLang="en-US" sz="800" b="1" dirty="0">
                        <a:solidFill>
                          <a:srgbClr val="C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b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b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메시지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(SMS)</a:t>
                      </a:r>
                      <a:r>
                        <a:rPr lang="ko-KR" altLang="en-US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  <a:endParaRPr lang="ko-KR" altLang="en-US" sz="800" b="1" dirty="0">
                        <a:solidFill>
                          <a:srgbClr val="C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7990454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96CD7D55-66DD-1397-8B79-2C84A2E21C7F}"/>
              </a:ext>
            </a:extLst>
          </p:cNvPr>
          <p:cNvSpPr/>
          <p:nvPr/>
        </p:nvSpPr>
        <p:spPr>
          <a:xfrm>
            <a:off x="1577998" y="4223742"/>
            <a:ext cx="5791707" cy="135270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108000" rIns="108000" bIns="108000" rtlCol="0" anchor="t" anchorCtr="0"/>
          <a:lstStyle/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안녕하세요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b="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켑코이에스입니다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b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개찰결과 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경쟁이 </a:t>
            </a:r>
            <a:r>
              <a:rPr lang="ko-KR" altLang="en-US" sz="800" b="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불성립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되어 재입찰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b="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을 </a:t>
            </a:r>
            <a:r>
              <a:rPr lang="ko-KR" altLang="en-US" sz="800" b="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요청드립니다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기간은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2026.07.20 09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분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~ 2026.08.25 18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분까지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입니다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b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 로그인 후 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참여 현황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을 통해 가격을 </a:t>
            </a:r>
            <a:r>
              <a:rPr lang="ko-KR" altLang="en-US" sz="800" b="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투찰해 주세요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b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b="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투찰이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기한 내에 이루어질 수 있도록 부탁드립니다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감사합니다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800" b="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endParaRPr lang="en-US" altLang="ko-KR" sz="800" b="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A59D164B-706F-302B-3028-54B143E17095}"/>
              </a:ext>
            </a:extLst>
          </p:cNvPr>
          <p:cNvSpPr/>
          <p:nvPr/>
        </p:nvSpPr>
        <p:spPr>
          <a:xfrm>
            <a:off x="1577998" y="5670760"/>
            <a:ext cx="5791707" cy="63557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108000" rIns="108000" bIns="108000" rtlCol="0" anchor="t" anchorCtr="0"/>
          <a:lstStyle/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안녕하세요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b="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켑코이에스입니다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개찰결과 ‘경쟁이 </a:t>
            </a:r>
            <a:r>
              <a:rPr lang="ko-KR" altLang="en-US" sz="800" b="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불성립’되어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재입찰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b="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을 </a:t>
            </a:r>
            <a:r>
              <a:rPr lang="ko-KR" altLang="en-US" sz="800" b="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요청드립니다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재입찰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b="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기간은 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2026.07.20 09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 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분 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~ 2026.08.25 18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 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00</a:t>
            </a:r>
            <a:r>
              <a:rPr lang="ko-KR" altLang="en-US" sz="800" b="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분까지입니다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 로그인 후 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참여 현황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을 통해 가격을 </a:t>
            </a:r>
            <a:r>
              <a:rPr lang="ko-KR" altLang="en-US" sz="800" b="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투찰해 주세요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b="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투찰이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기한 내에 이루어질 수 있도록 부탁드립니다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감사합니다</a:t>
            </a:r>
            <a:r>
              <a:rPr lang="en-US" altLang="ko-KR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800" b="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endParaRPr lang="en-US" altLang="ko-KR" sz="800" b="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62F8D984-E879-FEDB-6398-E6B3E88982DA}"/>
              </a:ext>
            </a:extLst>
          </p:cNvPr>
          <p:cNvSpPr/>
          <p:nvPr/>
        </p:nvSpPr>
        <p:spPr>
          <a:xfrm>
            <a:off x="6816587" y="6519671"/>
            <a:ext cx="656447" cy="28803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D1B075E1-6261-112C-4EAD-9E4EAC10EF01}"/>
              </a:ext>
            </a:extLst>
          </p:cNvPr>
          <p:cNvSpPr/>
          <p:nvPr/>
        </p:nvSpPr>
        <p:spPr>
          <a:xfrm>
            <a:off x="4739311" y="6519671"/>
            <a:ext cx="2016309" cy="28803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재입찰 처리하기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메일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메시지 발송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</a:t>
            </a: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868BF0FC-F27A-31C2-5B88-F3B879035B2F}"/>
              </a:ext>
            </a:extLst>
          </p:cNvPr>
          <p:cNvSpPr/>
          <p:nvPr/>
        </p:nvSpPr>
        <p:spPr>
          <a:xfrm>
            <a:off x="-4412480" y="4617132"/>
            <a:ext cx="4392488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재입찰 처리하기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메일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메시지 발송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 유의사항</a:t>
            </a:r>
            <a:endParaRPr lang="en-US" altLang="ko-KR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86AD6B2F-2171-5F20-E92F-E06888667A85}"/>
              </a:ext>
            </a:extLst>
          </p:cNvPr>
          <p:cNvSpPr/>
          <p:nvPr/>
        </p:nvSpPr>
        <p:spPr>
          <a:xfrm>
            <a:off x="-4412480" y="4890044"/>
            <a:ext cx="4392488" cy="187132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15F69A87-A78F-C1C4-7FD1-C438E3FF4DAA}"/>
              </a:ext>
            </a:extLst>
          </p:cNvPr>
          <p:cNvSpPr/>
          <p:nvPr/>
        </p:nvSpPr>
        <p:spPr>
          <a:xfrm>
            <a:off x="-289992" y="4617132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6878A5C2-4E41-87DA-5949-A16FF355BCA4}"/>
              </a:ext>
            </a:extLst>
          </p:cNvPr>
          <p:cNvSpPr/>
          <p:nvPr/>
        </p:nvSpPr>
        <p:spPr>
          <a:xfrm>
            <a:off x="-4304701" y="5303432"/>
            <a:ext cx="4176697" cy="879892"/>
          </a:xfrm>
          <a:prstGeom prst="rect">
            <a:avLst/>
          </a:prstGeom>
          <a:solidFill>
            <a:srgbClr val="FFFF00">
              <a:alpha val="20000"/>
            </a:srgb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56000" tIns="108000" bIns="108000" rtlCol="0" anchor="ctr" anchorCtr="0"/>
          <a:lstStyle/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재입찰 처리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시 본 개찰 결과는 모두 삭제됩니다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.</a:t>
            </a:r>
            <a:b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</a:b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설정된 재입찰 기간 동안 가격 </a:t>
            </a: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투찰이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다시 진행됩니다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.</a:t>
            </a:r>
            <a:b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</a:b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아래 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재입찰 처리하기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버튼 클릭 시 메일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메시지가 즉시 발송됩니다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재입찰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처리하시겠습니까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pic>
        <p:nvPicPr>
          <p:cNvPr id="42" name="Picture 8" descr="Announcement, hailer, loudspeaker, megaphone, speaker icon - Download on Iconfinder">
            <a:extLst>
              <a:ext uri="{FF2B5EF4-FFF2-40B4-BE49-F238E27FC236}">
                <a16:creationId xmlns:a16="http://schemas.microsoft.com/office/drawing/2014/main" id="{CBE4A38B-BEE6-A38F-72DF-CDF9F95916F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188579" y="5460053"/>
            <a:ext cx="570440" cy="5704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" name="직사각형 44">
            <a:extLst>
              <a:ext uri="{FF2B5EF4-FFF2-40B4-BE49-F238E27FC236}">
                <a16:creationId xmlns:a16="http://schemas.microsoft.com/office/drawing/2014/main" id="{38DD947A-374E-AFDE-0195-0DB0FDE449AD}"/>
              </a:ext>
            </a:extLst>
          </p:cNvPr>
          <p:cNvSpPr/>
          <p:nvPr/>
        </p:nvSpPr>
        <p:spPr>
          <a:xfrm>
            <a:off x="-2730416" y="6291799"/>
            <a:ext cx="1858684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재입찰 처리하기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메일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메시지 발송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643FA923-1187-270B-F0B8-AF9AF5DDB796}"/>
              </a:ext>
            </a:extLst>
          </p:cNvPr>
          <p:cNvSpPr/>
          <p:nvPr/>
        </p:nvSpPr>
        <p:spPr>
          <a:xfrm>
            <a:off x="-811991" y="6291799"/>
            <a:ext cx="699418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6E55AC45-D69C-3AB3-DAFF-995060CBAEDD}"/>
              </a:ext>
            </a:extLst>
          </p:cNvPr>
          <p:cNvSpPr/>
          <p:nvPr/>
        </p:nvSpPr>
        <p:spPr>
          <a:xfrm>
            <a:off x="-4281260" y="4986433"/>
            <a:ext cx="2917465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재입찰 처리하기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메일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메시지 발송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 유의사항</a:t>
            </a:r>
          </a:p>
        </p:txBody>
      </p:sp>
      <p:cxnSp>
        <p:nvCxnSpPr>
          <p:cNvPr id="53" name="연결선: 꺾임 52">
            <a:extLst>
              <a:ext uri="{FF2B5EF4-FFF2-40B4-BE49-F238E27FC236}">
                <a16:creationId xmlns:a16="http://schemas.microsoft.com/office/drawing/2014/main" id="{00A54AB5-93DD-C8EA-8211-E537FA1372DA}"/>
              </a:ext>
            </a:extLst>
          </p:cNvPr>
          <p:cNvCxnSpPr>
            <a:cxnSpLocks/>
            <a:endCxn id="33" idx="3"/>
          </p:cNvCxnSpPr>
          <p:nvPr/>
        </p:nvCxnSpPr>
        <p:spPr>
          <a:xfrm rot="10800000">
            <a:off x="-19992" y="5825707"/>
            <a:ext cx="4757612" cy="811670"/>
          </a:xfrm>
          <a:prstGeom prst="bentConnector3">
            <a:avLst>
              <a:gd name="adj1" fmla="val 50000"/>
            </a:avLst>
          </a:prstGeom>
          <a:ln>
            <a:solidFill>
              <a:srgbClr val="C00000"/>
            </a:solidFill>
            <a:prstDash val="sysDash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타원 60">
            <a:extLst>
              <a:ext uri="{FF2B5EF4-FFF2-40B4-BE49-F238E27FC236}">
                <a16:creationId xmlns:a16="http://schemas.microsoft.com/office/drawing/2014/main" id="{071B64D3-DF16-AF84-CA79-F4982308C740}"/>
              </a:ext>
            </a:extLst>
          </p:cNvPr>
          <p:cNvSpPr/>
          <p:nvPr/>
        </p:nvSpPr>
        <p:spPr>
          <a:xfrm>
            <a:off x="4631298" y="6411658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8B8ABEBB-945F-375A-B341-BE6C1CBF8B54}"/>
              </a:ext>
            </a:extLst>
          </p:cNvPr>
          <p:cNvSpPr/>
          <p:nvPr/>
        </p:nvSpPr>
        <p:spPr>
          <a:xfrm>
            <a:off x="-2883822" y="6182222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5’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54743692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7B6D6A-3DB9-B2AB-55B6-34FAA55ED7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0AFB02D3-A9D2-5E4B-9847-220278BBEE74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091C976-5AD8-A9EE-C3F9-C423D9665446}"/>
              </a:ext>
            </a:extLst>
          </p:cNvPr>
          <p:cNvSpPr txBox="1"/>
          <p:nvPr/>
        </p:nvSpPr>
        <p:spPr>
          <a:xfrm>
            <a:off x="8049344" y="584684"/>
            <a:ext cx="1856656" cy="39887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가격 동시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인 경우의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개찰 후 화면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rgbClr val="C00000"/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이 상황에서는 가격점수를 평가자가 반드시 등록해야 개찰이 완료됨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highlight>
                <a:srgbClr val="FFFF00"/>
              </a:highlight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가격점수를 반드시 입력해야만 개찰이 완료됨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highlight>
                <a:srgbClr val="FFFF00"/>
              </a:highlight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가격점수 입력하기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개찰완료 처리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버튼을 클릭하면 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진행상태를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개찰완료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상태로 변경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개찰결과에 문제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불성립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담합 의심 등 다양한 이유가 있을 수 있음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가 있는 경우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재입찰 처리가능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재입찰이란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본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개찰 목록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의 협력업체를 대상으로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투찰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을 한 번 더 진행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재입찰 처리하기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팝업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앞 페이지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호출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DC626D5E-DC5E-2E9B-EF74-E19E9CF65980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95DC093C-1E93-E668-5094-4F76DEC80239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EBD2E4B6-6DB4-4C82-91BA-51A9D71F42D6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2B7E6438-87EE-44DC-AC2C-95C683DB6F21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766FFB23-ABEF-FF4B-2C69-6D765BC3A77A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DB6BE26C-36A8-0BDC-F399-FA4E9AC3FF19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7" name="Picture 1">
            <a:extLst>
              <a:ext uri="{FF2B5EF4-FFF2-40B4-BE49-F238E27FC236}">
                <a16:creationId xmlns:a16="http://schemas.microsoft.com/office/drawing/2014/main" id="{F2C8BEA5-7F55-25D9-AF42-4603511896F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78B101A2-ECF5-69E7-29B2-AA13C2633F48}"/>
              </a:ext>
            </a:extLst>
          </p:cNvPr>
          <p:cNvSpPr txBox="1"/>
          <p:nvPr/>
        </p:nvSpPr>
        <p:spPr>
          <a:xfrm>
            <a:off x="749224" y="25608"/>
            <a:ext cx="468109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 &gt; 입찰공고 현황(상세정보) &gt; 개찰(개찰 후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‘2단계 경쟁입찰(규격/가격 동시)’인 경우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highlight>
                <a:srgbClr val="FFFF00"/>
              </a:highlight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59FD5B5-B305-B49F-06AD-C4F449877BFF}"/>
              </a:ext>
            </a:extLst>
          </p:cNvPr>
          <p:cNvSpPr txBox="1"/>
          <p:nvPr/>
        </p:nvSpPr>
        <p:spPr>
          <a:xfrm>
            <a:off x="164468" y="2068380"/>
            <a:ext cx="3053340" cy="230832"/>
          </a:xfrm>
          <a:prstGeom prst="rect">
            <a:avLst/>
          </a:prstGeom>
          <a:noFill/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참여업체 </a:t>
            </a:r>
            <a:r>
              <a:rPr lang="en-US" altLang="ko-KR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총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건</a:t>
            </a: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1130EFC3-B570-193A-2C02-35F0FF93541C}"/>
              </a:ext>
            </a:extLst>
          </p:cNvPr>
          <p:cNvGraphicFramePr>
            <a:graphicFrameLocks noGrp="1"/>
          </p:cNvGraphicFramePr>
          <p:nvPr/>
        </p:nvGraphicFramePr>
        <p:xfrm>
          <a:off x="171331" y="2351468"/>
          <a:ext cx="7722089" cy="1351680"/>
        </p:xfrm>
        <a:graphic>
          <a:graphicData uri="http://schemas.openxmlformats.org/drawingml/2006/table">
            <a:tbl>
              <a:tblPr firstRow="1" bandRow="1"/>
              <a:tblGrid>
                <a:gridCol w="314370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1143363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853634">
                  <a:extLst>
                    <a:ext uri="{9D8B030D-6E8A-4147-A177-3AD203B41FA5}">
                      <a16:colId xmlns:a16="http://schemas.microsoft.com/office/drawing/2014/main" val="3438477450"/>
                    </a:ext>
                  </a:extLst>
                </a:gridCol>
                <a:gridCol w="1052225">
                  <a:extLst>
                    <a:ext uri="{9D8B030D-6E8A-4147-A177-3AD203B41FA5}">
                      <a16:colId xmlns:a16="http://schemas.microsoft.com/office/drawing/2014/main" val="916893631"/>
                    </a:ext>
                  </a:extLst>
                </a:gridCol>
                <a:gridCol w="831030">
                  <a:extLst>
                    <a:ext uri="{9D8B030D-6E8A-4147-A177-3AD203B41FA5}">
                      <a16:colId xmlns:a16="http://schemas.microsoft.com/office/drawing/2014/main" val="1516929747"/>
                    </a:ext>
                  </a:extLst>
                </a:gridCol>
                <a:gridCol w="730356">
                  <a:extLst>
                    <a:ext uri="{9D8B030D-6E8A-4147-A177-3AD203B41FA5}">
                      <a16:colId xmlns:a16="http://schemas.microsoft.com/office/drawing/2014/main" val="2696889248"/>
                    </a:ext>
                  </a:extLst>
                </a:gridCol>
                <a:gridCol w="1116808">
                  <a:extLst>
                    <a:ext uri="{9D8B030D-6E8A-4147-A177-3AD203B41FA5}">
                      <a16:colId xmlns:a16="http://schemas.microsoft.com/office/drawing/2014/main" val="3225374137"/>
                    </a:ext>
                  </a:extLst>
                </a:gridCol>
                <a:gridCol w="882696">
                  <a:extLst>
                    <a:ext uri="{9D8B030D-6E8A-4147-A177-3AD203B41FA5}">
                      <a16:colId xmlns:a16="http://schemas.microsoft.com/office/drawing/2014/main" val="2983225771"/>
                    </a:ext>
                  </a:extLst>
                </a:gridCol>
                <a:gridCol w="797607">
                  <a:extLst>
                    <a:ext uri="{9D8B030D-6E8A-4147-A177-3AD203B41FA5}">
                      <a16:colId xmlns:a16="http://schemas.microsoft.com/office/drawing/2014/main" val="39779728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No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업체명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견적 번호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가격 </a:t>
                      </a: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투찰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 일시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견적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예정가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상세견적서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가격 적합 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가격점수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주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큐비트엑스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QT2025-0032</a:t>
                      </a:r>
                      <a:endParaRPr lang="ko-KR" altLang="en-US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2026.07.29 15:34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157,000,000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174,114,038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상세견적서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(3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 파일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u="none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A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QT2025-0031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2026.07.30 14:54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174,114,038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상세견적서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(0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 파일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u="none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QT2025-0030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2026.07.31 16:20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180,000,000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174,114,038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상세견적서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 파일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예정가</a:t>
                      </a:r>
                      <a:r>
                        <a:rPr lang="ko-KR" altLang="en-US" sz="800" b="0" u="none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초과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입력불가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</a:tbl>
          </a:graphicData>
        </a:graphic>
      </p:graphicFrame>
      <p:sp>
        <p:nvSpPr>
          <p:cNvPr id="58" name="직사각형 57">
            <a:extLst>
              <a:ext uri="{FF2B5EF4-FFF2-40B4-BE49-F238E27FC236}">
                <a16:creationId xmlns:a16="http://schemas.microsoft.com/office/drawing/2014/main" id="{9E144E2A-1F15-AF09-D9D9-0B15670CB7FD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D5357B95-9DF0-9496-4076-EF5897DBE852}"/>
              </a:ext>
            </a:extLst>
          </p:cNvPr>
          <p:cNvGraphicFramePr>
            <a:graphicFrameLocks noGrp="1"/>
          </p:cNvGraphicFramePr>
          <p:nvPr/>
        </p:nvGraphicFramePr>
        <p:xfrm>
          <a:off x="164466" y="817960"/>
          <a:ext cx="7732447" cy="675840"/>
        </p:xfrm>
        <a:graphic>
          <a:graphicData uri="http://schemas.openxmlformats.org/drawingml/2006/table">
            <a:tbl>
              <a:tblPr firstRow="1" bandRow="1"/>
              <a:tblGrid>
                <a:gridCol w="83838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763949">
                  <a:extLst>
                    <a:ext uri="{9D8B030D-6E8A-4147-A177-3AD203B41FA5}">
                      <a16:colId xmlns:a16="http://schemas.microsoft.com/office/drawing/2014/main" val="1731736782"/>
                    </a:ext>
                  </a:extLst>
                </a:gridCol>
                <a:gridCol w="616894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821542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289563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1002816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1092824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628938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677541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재공고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개찰완료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2" name="타원 1">
            <a:extLst>
              <a:ext uri="{FF2B5EF4-FFF2-40B4-BE49-F238E27FC236}">
                <a16:creationId xmlns:a16="http://schemas.microsoft.com/office/drawing/2014/main" id="{DA1B1943-26EB-7D96-BB69-CE4D79ED07AA}"/>
              </a:ext>
            </a:extLst>
          </p:cNvPr>
          <p:cNvSpPr/>
          <p:nvPr/>
        </p:nvSpPr>
        <p:spPr>
          <a:xfrm>
            <a:off x="101407" y="2258926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7E4202E8-6E45-B6FD-91C9-6644B471CA79}"/>
              </a:ext>
            </a:extLst>
          </p:cNvPr>
          <p:cNvSpPr/>
          <p:nvPr/>
        </p:nvSpPr>
        <p:spPr>
          <a:xfrm>
            <a:off x="7147858" y="2748098"/>
            <a:ext cx="678145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숫자로 입력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EBB646F1-AE85-5A4C-D302-6EBCC228A5E1}"/>
              </a:ext>
            </a:extLst>
          </p:cNvPr>
          <p:cNvSpPr/>
          <p:nvPr/>
        </p:nvSpPr>
        <p:spPr>
          <a:xfrm>
            <a:off x="7147858" y="3093284"/>
            <a:ext cx="678145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숫자로 입력</a:t>
            </a: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64CC2928-52AF-6DD6-FB49-3281D2ACF4D4}"/>
              </a:ext>
            </a:extLst>
          </p:cNvPr>
          <p:cNvGrpSpPr/>
          <p:nvPr/>
        </p:nvGrpSpPr>
        <p:grpSpPr>
          <a:xfrm>
            <a:off x="163503" y="1599955"/>
            <a:ext cx="7741824" cy="345139"/>
            <a:chOff x="163503" y="1599955"/>
            <a:chExt cx="7741824" cy="345139"/>
          </a:xfrm>
        </p:grpSpPr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35D61373-527D-3AD8-F4B3-AC7B0FA3BD73}"/>
                </a:ext>
              </a:extLst>
            </p:cNvPr>
            <p:cNvCxnSpPr>
              <a:cxnSpLocks/>
            </p:cNvCxnSpPr>
            <p:nvPr/>
          </p:nvCxnSpPr>
          <p:spPr>
            <a:xfrm>
              <a:off x="167468" y="1941219"/>
              <a:ext cx="7737859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1B4E91F7-9353-0FE1-B31E-1905D7B8540A}"/>
                </a:ext>
              </a:extLst>
            </p:cNvPr>
            <p:cNvSpPr/>
            <p:nvPr/>
          </p:nvSpPr>
          <p:spPr>
            <a:xfrm>
              <a:off x="163503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발주계획 정보</a:t>
              </a: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4A993CA3-AC01-15D1-8B50-2157AFC7723C}"/>
                </a:ext>
              </a:extLst>
            </p:cNvPr>
            <p:cNvSpPr/>
            <p:nvPr/>
          </p:nvSpPr>
          <p:spPr>
            <a:xfrm>
              <a:off x="1848030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 참여현황</a:t>
              </a: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60BEF302-676A-4DC8-E405-7F2841F801EA}"/>
                </a:ext>
              </a:extLst>
            </p:cNvPr>
            <p:cNvSpPr/>
            <p:nvPr/>
          </p:nvSpPr>
          <p:spPr>
            <a:xfrm>
              <a:off x="2681319" y="1652651"/>
              <a:ext cx="852685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심사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평가</a:t>
              </a: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CE503E24-4143-6125-05F2-FE3D27E8B197}"/>
                </a:ext>
              </a:extLst>
            </p:cNvPr>
            <p:cNvSpPr/>
            <p:nvPr/>
          </p:nvSpPr>
          <p:spPr>
            <a:xfrm>
              <a:off x="1004560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정보</a:t>
              </a:r>
            </a:p>
          </p:txBody>
        </p: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F836A325-B4BC-21CD-11C2-B57433192B51}"/>
                </a:ext>
              </a:extLst>
            </p:cNvPr>
            <p:cNvSpPr/>
            <p:nvPr/>
          </p:nvSpPr>
          <p:spPr>
            <a:xfrm>
              <a:off x="3532662" y="1599955"/>
              <a:ext cx="839130" cy="345139"/>
            </a:xfrm>
            <a:prstGeom prst="rect">
              <a:avLst/>
            </a:prstGeom>
            <a:solidFill>
              <a:srgbClr val="00B050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개찰</a:t>
              </a:r>
            </a:p>
          </p:txBody>
        </p: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F4378F5-3F08-E516-FD90-9DBC49BD6172}"/>
                </a:ext>
              </a:extLst>
            </p:cNvPr>
            <p:cNvSpPr/>
            <p:nvPr/>
          </p:nvSpPr>
          <p:spPr>
            <a:xfrm>
              <a:off x="4370291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낙찰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업체 선정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)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71434676-A1B2-D8A0-A3AA-43BDBE58058E}"/>
                </a:ext>
              </a:extLst>
            </p:cNvPr>
            <p:cNvSpPr/>
            <p:nvPr/>
          </p:nvSpPr>
          <p:spPr>
            <a:xfrm>
              <a:off x="5213654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수의시담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071670A3-EE5C-51C0-CE93-79D6DF8F6259}"/>
                </a:ext>
              </a:extLst>
            </p:cNvPr>
            <p:cNvSpPr/>
            <p:nvPr/>
          </p:nvSpPr>
          <p:spPr>
            <a:xfrm>
              <a:off x="6051872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계약 요청</a:t>
              </a:r>
            </a:p>
          </p:txBody>
        </p:sp>
      </p:grp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796AE682-BD50-00D5-A7CE-88C7EB234AB5}"/>
              </a:ext>
            </a:extLst>
          </p:cNvPr>
          <p:cNvSpPr/>
          <p:nvPr/>
        </p:nvSpPr>
        <p:spPr>
          <a:xfrm>
            <a:off x="163503" y="3797666"/>
            <a:ext cx="7729916" cy="44502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□ 낙찰자 선정방법이 ‘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동시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인 경우 가격점수를 평가자가 반드시 등록해야 개찰이 완료됩니다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0A363849-8B4C-7617-62D9-6C944870EDA7}"/>
              </a:ext>
            </a:extLst>
          </p:cNvPr>
          <p:cNvSpPr/>
          <p:nvPr/>
        </p:nvSpPr>
        <p:spPr>
          <a:xfrm>
            <a:off x="163503" y="4331439"/>
            <a:ext cx="7729916" cy="44502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□ 개찰 결과 모든 입찰참여업체의 가격이 적합하지 않습니다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유찰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재공고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처리하시겠습니까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D6C82A35-019E-463C-1EAA-A0AF18ECE47E}"/>
              </a:ext>
            </a:extLst>
          </p:cNvPr>
          <p:cNvSpPr/>
          <p:nvPr/>
        </p:nvSpPr>
        <p:spPr>
          <a:xfrm>
            <a:off x="6392090" y="4415036"/>
            <a:ext cx="1399447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유찰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 err="1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재공고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처리하기 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</a:t>
            </a:r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DA1F9DB2-9B84-799C-D0E0-DFB81928AEE5}"/>
              </a:ext>
            </a:extLst>
          </p:cNvPr>
          <p:cNvSpPr/>
          <p:nvPr/>
        </p:nvSpPr>
        <p:spPr>
          <a:xfrm>
            <a:off x="5788450" y="3880203"/>
            <a:ext cx="2000425" cy="28803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가격점수 입력하기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개찰완료 처리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</a:t>
            </a: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" name="타원 63">
            <a:extLst>
              <a:ext uri="{FF2B5EF4-FFF2-40B4-BE49-F238E27FC236}">
                <a16:creationId xmlns:a16="http://schemas.microsoft.com/office/drawing/2014/main" id="{AF2806E9-2B16-B679-CD4C-96CD3038106B}"/>
              </a:ext>
            </a:extLst>
          </p:cNvPr>
          <p:cNvSpPr/>
          <p:nvPr/>
        </p:nvSpPr>
        <p:spPr>
          <a:xfrm>
            <a:off x="6983801" y="2626754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66" name="연결선: 꺾임 65">
            <a:extLst>
              <a:ext uri="{FF2B5EF4-FFF2-40B4-BE49-F238E27FC236}">
                <a16:creationId xmlns:a16="http://schemas.microsoft.com/office/drawing/2014/main" id="{6C2D48FA-2E7E-3EC1-DF6A-E1C1B691EBCA}"/>
              </a:ext>
            </a:extLst>
          </p:cNvPr>
          <p:cNvCxnSpPr>
            <a:cxnSpLocks/>
            <a:stCxn id="62" idx="3"/>
            <a:endCxn id="72" idx="1"/>
          </p:cNvCxnSpPr>
          <p:nvPr/>
        </p:nvCxnSpPr>
        <p:spPr>
          <a:xfrm>
            <a:off x="7788875" y="4024219"/>
            <a:ext cx="368481" cy="1745320"/>
          </a:xfrm>
          <a:prstGeom prst="bentConnector3">
            <a:avLst>
              <a:gd name="adj1" fmla="val 50000"/>
            </a:avLst>
          </a:prstGeom>
          <a:ln>
            <a:solidFill>
              <a:srgbClr val="C00000"/>
            </a:solidFill>
            <a:prstDash val="sysDash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DA561963-2B46-A95F-13A5-9CAE9412875E}"/>
              </a:ext>
            </a:extLst>
          </p:cNvPr>
          <p:cNvSpPr/>
          <p:nvPr/>
        </p:nvSpPr>
        <p:spPr>
          <a:xfrm>
            <a:off x="8157356" y="4509120"/>
            <a:ext cx="4392488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가격점수 입력하기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개찰완료 처리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시 유의사항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4AB16E68-B2A0-CF05-E003-D0122D5AA20F}"/>
              </a:ext>
            </a:extLst>
          </p:cNvPr>
          <p:cNvSpPr/>
          <p:nvPr/>
        </p:nvSpPr>
        <p:spPr>
          <a:xfrm>
            <a:off x="8157356" y="4782032"/>
            <a:ext cx="4392488" cy="197501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3E5A2304-790B-F1B2-9B1C-43279A8385AB}"/>
              </a:ext>
            </a:extLst>
          </p:cNvPr>
          <p:cNvSpPr/>
          <p:nvPr/>
        </p:nvSpPr>
        <p:spPr>
          <a:xfrm>
            <a:off x="12279844" y="4509120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A3E5EFDD-6482-92E0-6E9C-0FEA486089F9}"/>
              </a:ext>
            </a:extLst>
          </p:cNvPr>
          <p:cNvSpPr/>
          <p:nvPr/>
        </p:nvSpPr>
        <p:spPr>
          <a:xfrm>
            <a:off x="8265135" y="5195420"/>
            <a:ext cx="4176697" cy="985236"/>
          </a:xfrm>
          <a:prstGeom prst="rect">
            <a:avLst/>
          </a:prstGeom>
          <a:solidFill>
            <a:srgbClr val="FFFF00">
              <a:alpha val="20000"/>
            </a:srgb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56000" tIns="108000" bIns="108000" rtlCol="0" anchor="ctr" anchorCtr="0"/>
          <a:lstStyle/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낙찰자 선정방법이 ‘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2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단계 경쟁입찰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(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규격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/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가격 동시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)’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인 경우에는 </a:t>
            </a:r>
            <a:b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</a:b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평가자가 가격점수를 반드시 입력해야 합니다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.</a:t>
            </a:r>
            <a:b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</a:b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가격점수 입력을 처리하면 개찰 전 상태로 되돌릴 수 없습니다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.</a:t>
            </a:r>
          </a:p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가격점수를 입력하고 개찰완료로 처리하시겠습니까?</a:t>
            </a:r>
          </a:p>
        </p:txBody>
      </p:sp>
      <p:pic>
        <p:nvPicPr>
          <p:cNvPr id="78" name="Picture 8" descr="Announcement, hailer, loudspeaker, megaphone, speaker icon - Download on Iconfinder">
            <a:extLst>
              <a:ext uri="{FF2B5EF4-FFF2-40B4-BE49-F238E27FC236}">
                <a16:creationId xmlns:a16="http://schemas.microsoft.com/office/drawing/2014/main" id="{5AC64B61-70D7-43EC-6EA4-8DC55CDBB9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1257" y="5407850"/>
            <a:ext cx="570440" cy="5704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0" name="직사각형 79">
            <a:extLst>
              <a:ext uri="{FF2B5EF4-FFF2-40B4-BE49-F238E27FC236}">
                <a16:creationId xmlns:a16="http://schemas.microsoft.com/office/drawing/2014/main" id="{356588AC-2787-3568-6028-3AFCE98435B7}"/>
              </a:ext>
            </a:extLst>
          </p:cNvPr>
          <p:cNvSpPr/>
          <p:nvPr/>
        </p:nvSpPr>
        <p:spPr>
          <a:xfrm>
            <a:off x="9658063" y="6287630"/>
            <a:ext cx="2040041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가격점수 입력하기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개찰완료 처리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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24242F91-124A-FEB3-5E0E-B64F43E8CC5D}"/>
              </a:ext>
            </a:extLst>
          </p:cNvPr>
          <p:cNvSpPr/>
          <p:nvPr/>
        </p:nvSpPr>
        <p:spPr>
          <a:xfrm>
            <a:off x="11757845" y="6287630"/>
            <a:ext cx="699418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CD97F387-B7BB-801A-4D0A-C45AC8E9B978}"/>
              </a:ext>
            </a:extLst>
          </p:cNvPr>
          <p:cNvSpPr/>
          <p:nvPr/>
        </p:nvSpPr>
        <p:spPr>
          <a:xfrm>
            <a:off x="8288576" y="4878421"/>
            <a:ext cx="2864567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가격점수 입력하기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개찰완료 처리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 유의사항</a:t>
            </a:r>
          </a:p>
        </p:txBody>
      </p:sp>
      <p:sp>
        <p:nvSpPr>
          <p:cNvPr id="89" name="타원 88">
            <a:extLst>
              <a:ext uri="{FF2B5EF4-FFF2-40B4-BE49-F238E27FC236}">
                <a16:creationId xmlns:a16="http://schemas.microsoft.com/office/drawing/2014/main" id="{B57F8493-C9F3-7143-629B-8E483BE8FBF2}"/>
              </a:ext>
            </a:extLst>
          </p:cNvPr>
          <p:cNvSpPr/>
          <p:nvPr/>
        </p:nvSpPr>
        <p:spPr>
          <a:xfrm>
            <a:off x="9520181" y="6215622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AD71A3DA-AB8A-F595-1019-F9AA0D978DB1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57E08B1E-D21F-D67D-54E5-281D36B36069}"/>
              </a:ext>
            </a:extLst>
          </p:cNvPr>
          <p:cNvSpPr/>
          <p:nvPr/>
        </p:nvSpPr>
        <p:spPr>
          <a:xfrm>
            <a:off x="163503" y="4869041"/>
            <a:ext cx="7729916" cy="44502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□ 개찰결과에 문제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불성립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담합 의심 등 다양한 이유가 있을 수 있음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 있습니다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재입찰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처리하시겠습니까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129717C1-716B-D638-463E-C9D780A1AC0A}"/>
              </a:ext>
            </a:extLst>
          </p:cNvPr>
          <p:cNvSpPr/>
          <p:nvPr/>
        </p:nvSpPr>
        <p:spPr>
          <a:xfrm>
            <a:off x="6681192" y="4952638"/>
            <a:ext cx="1110345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재입찰 처리하기 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 </a:t>
            </a:r>
            <a:endParaRPr lang="ko-KR" altLang="en-US" sz="9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864FA046-35E8-F4E6-DA46-F8796711F347}"/>
              </a:ext>
            </a:extLst>
          </p:cNvPr>
          <p:cNvSpPr/>
          <p:nvPr/>
        </p:nvSpPr>
        <p:spPr>
          <a:xfrm>
            <a:off x="6561580" y="4841782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42080779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4A68B7-5071-A8FF-6407-A22824D578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A3AB794E-0F68-325B-21F1-B751ACBE1476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1459B19-6124-8D3C-F400-730919E0704E}"/>
              </a:ext>
            </a:extLst>
          </p:cNvPr>
          <p:cNvSpPr txBox="1"/>
          <p:nvPr/>
        </p:nvSpPr>
        <p:spPr>
          <a:xfrm>
            <a:off x="8049344" y="584684"/>
            <a:ext cx="1856656" cy="3970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개찰이 완료된 후의 화면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업무 처리 기능을 사용할 수 없음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highlight>
                <a:srgbClr val="FFFF00"/>
              </a:highlight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A15C4641-99B3-8268-40DE-9C7B612819DF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3BB77863-CFDA-6EAE-A41E-AE3D9CB3BFBE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1F4EC2CE-30CE-5A78-A21B-82459DBE1BE6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A782536-4CD6-AC24-FB9E-FFEC6BACC9F7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8E8532C7-430C-E96A-E2E0-1DE560D37B76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314AE6E-70BB-97EA-A0A2-7BC35C7D616F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7" name="Picture 1">
            <a:extLst>
              <a:ext uri="{FF2B5EF4-FFF2-40B4-BE49-F238E27FC236}">
                <a16:creationId xmlns:a16="http://schemas.microsoft.com/office/drawing/2014/main" id="{315DE40B-64F3-21E8-CE82-188F1347852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26C22013-E161-38DE-3602-A918500CB6E6}"/>
              </a:ext>
            </a:extLst>
          </p:cNvPr>
          <p:cNvSpPr txBox="1"/>
          <p:nvPr/>
        </p:nvSpPr>
        <p:spPr>
          <a:xfrm>
            <a:off x="749224" y="25608"/>
            <a:ext cx="291618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 &gt; 입찰공고 현황(상세정보) &gt; 개찰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–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개찰이 완료된 후의 화면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175A65FF-9391-ECA4-05DD-AB712A21C57D}"/>
              </a:ext>
            </a:extLst>
          </p:cNvPr>
          <p:cNvSpPr txBox="1"/>
          <p:nvPr/>
        </p:nvSpPr>
        <p:spPr>
          <a:xfrm>
            <a:off x="164468" y="2041002"/>
            <a:ext cx="3053340" cy="230832"/>
          </a:xfrm>
          <a:prstGeom prst="rect">
            <a:avLst/>
          </a:prstGeom>
          <a:noFill/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참여업체 </a:t>
            </a:r>
            <a:r>
              <a:rPr lang="en-US" altLang="ko-KR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총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건</a:t>
            </a: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5DDF21E6-F90D-3454-F723-800C7B6FA04B}"/>
              </a:ext>
            </a:extLst>
          </p:cNvPr>
          <p:cNvGraphicFramePr>
            <a:graphicFrameLocks noGrp="1"/>
          </p:cNvGraphicFramePr>
          <p:nvPr/>
        </p:nvGraphicFramePr>
        <p:xfrm>
          <a:off x="171331" y="2324090"/>
          <a:ext cx="8135512" cy="1689600"/>
        </p:xfrm>
        <a:graphic>
          <a:graphicData uri="http://schemas.openxmlformats.org/drawingml/2006/table">
            <a:tbl>
              <a:tblPr firstRow="1" bandRow="1"/>
              <a:tblGrid>
                <a:gridCol w="309100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81710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839325">
                  <a:extLst>
                    <a:ext uri="{9D8B030D-6E8A-4147-A177-3AD203B41FA5}">
                      <a16:colId xmlns:a16="http://schemas.microsoft.com/office/drawing/2014/main" val="3438477450"/>
                    </a:ext>
                  </a:extLst>
                </a:gridCol>
                <a:gridCol w="1034587">
                  <a:extLst>
                    <a:ext uri="{9D8B030D-6E8A-4147-A177-3AD203B41FA5}">
                      <a16:colId xmlns:a16="http://schemas.microsoft.com/office/drawing/2014/main" val="916893631"/>
                    </a:ext>
                  </a:extLst>
                </a:gridCol>
                <a:gridCol w="817100">
                  <a:extLst>
                    <a:ext uri="{9D8B030D-6E8A-4147-A177-3AD203B41FA5}">
                      <a16:colId xmlns:a16="http://schemas.microsoft.com/office/drawing/2014/main" val="1516929747"/>
                    </a:ext>
                  </a:extLst>
                </a:gridCol>
                <a:gridCol w="718113">
                  <a:extLst>
                    <a:ext uri="{9D8B030D-6E8A-4147-A177-3AD203B41FA5}">
                      <a16:colId xmlns:a16="http://schemas.microsoft.com/office/drawing/2014/main" val="2696889248"/>
                    </a:ext>
                  </a:extLst>
                </a:gridCol>
                <a:gridCol w="861550">
                  <a:extLst>
                    <a:ext uri="{9D8B030D-6E8A-4147-A177-3AD203B41FA5}">
                      <a16:colId xmlns:a16="http://schemas.microsoft.com/office/drawing/2014/main" val="2470283878"/>
                    </a:ext>
                  </a:extLst>
                </a:gridCol>
                <a:gridCol w="772650">
                  <a:extLst>
                    <a:ext uri="{9D8B030D-6E8A-4147-A177-3AD203B41FA5}">
                      <a16:colId xmlns:a16="http://schemas.microsoft.com/office/drawing/2014/main" val="2259197678"/>
                    </a:ext>
                  </a:extLst>
                </a:gridCol>
                <a:gridCol w="1098087">
                  <a:extLst>
                    <a:ext uri="{9D8B030D-6E8A-4147-A177-3AD203B41FA5}">
                      <a16:colId xmlns:a16="http://schemas.microsoft.com/office/drawing/2014/main" val="3225374137"/>
                    </a:ext>
                  </a:extLst>
                </a:gridCol>
                <a:gridCol w="867900">
                  <a:extLst>
                    <a:ext uri="{9D8B030D-6E8A-4147-A177-3AD203B41FA5}">
                      <a16:colId xmlns:a16="http://schemas.microsoft.com/office/drawing/2014/main" val="39779728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No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업체명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견적 번호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가격 </a:t>
                      </a: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투찰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 일시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견적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예정가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낙찰하한율(%)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낙찰하한가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상세견적서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가격 적합 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주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큐비트엑스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QT2025-0032</a:t>
                      </a:r>
                      <a:endParaRPr lang="ko-KR" altLang="en-US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2026.07.29 15:34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157,000,000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174,114,038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87.745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152,776,363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상세견적서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(3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 파일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A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QT2025-0031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2026.07.30 14:54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174,114,038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87.745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152,776,363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상세견적서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(0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 파일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QT2025-0030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2026.07.31 16:20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180,000,000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174,114,038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87.745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152,776,363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상세견적서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 파일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예정가</a:t>
                      </a:r>
                      <a:r>
                        <a:rPr lang="ko-KR" altLang="en-US" sz="800" b="0" u="none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초과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C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QT2025-0030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2026.07.31 17:20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174,114,038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87.745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152,776,363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상세견적서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 파일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낙찰하한가</a:t>
                      </a:r>
                      <a:r>
                        <a:rPr lang="ko-KR" altLang="en-US" sz="800" b="0" u="none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미만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7333812"/>
                  </a:ext>
                </a:extLst>
              </a:tr>
            </a:tbl>
          </a:graphicData>
        </a:graphic>
      </p:graphicFrame>
      <p:sp>
        <p:nvSpPr>
          <p:cNvPr id="25" name="직사각형 24">
            <a:extLst>
              <a:ext uri="{FF2B5EF4-FFF2-40B4-BE49-F238E27FC236}">
                <a16:creationId xmlns:a16="http://schemas.microsoft.com/office/drawing/2014/main" id="{3511D908-0AAC-55B9-6390-8614B981E828}"/>
              </a:ext>
            </a:extLst>
          </p:cNvPr>
          <p:cNvSpPr/>
          <p:nvPr/>
        </p:nvSpPr>
        <p:spPr>
          <a:xfrm>
            <a:off x="163503" y="4104450"/>
            <a:ext cx="7729916" cy="44502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낙찰하한율과 낙찰하한가의 도출 내역을 확인하실 수 있습니다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08E0C10E-DBE1-7E8A-2805-DC1CA1E22F57}"/>
              </a:ext>
            </a:extLst>
          </p:cNvPr>
          <p:cNvSpPr/>
          <p:nvPr/>
        </p:nvSpPr>
        <p:spPr>
          <a:xfrm>
            <a:off x="5781092" y="4188047"/>
            <a:ext cx="2010445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 err="1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·</a:t>
            </a:r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낙찰하한금액 도출 내역 확인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60098A64-23FA-0084-B606-F32A8AD25CC2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2C5801C5-4EAD-81F0-F62A-3E2B907BE33B}"/>
              </a:ext>
            </a:extLst>
          </p:cNvPr>
          <p:cNvSpPr/>
          <p:nvPr/>
        </p:nvSpPr>
        <p:spPr>
          <a:xfrm>
            <a:off x="1280592" y="4635920"/>
            <a:ext cx="4358443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상세견적서 확인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CB43FBF-6468-1175-F487-BA1C58C41544}"/>
              </a:ext>
            </a:extLst>
          </p:cNvPr>
          <p:cNvSpPr/>
          <p:nvPr/>
        </p:nvSpPr>
        <p:spPr>
          <a:xfrm>
            <a:off x="1280592" y="4908834"/>
            <a:ext cx="4358443" cy="150849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4C912BD9-FE9A-1ACF-C98B-77C47348E353}"/>
              </a:ext>
            </a:extLst>
          </p:cNvPr>
          <p:cNvSpPr/>
          <p:nvPr/>
        </p:nvSpPr>
        <p:spPr>
          <a:xfrm>
            <a:off x="5376812" y="4635920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E5EDB5BD-AD97-08F7-7948-5E63694AEBEB}"/>
              </a:ext>
            </a:extLst>
          </p:cNvPr>
          <p:cNvSpPr/>
          <p:nvPr/>
        </p:nvSpPr>
        <p:spPr>
          <a:xfrm>
            <a:off x="1411812" y="5005221"/>
            <a:ext cx="1045158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상세견적서 확인</a:t>
            </a:r>
          </a:p>
        </p:txBody>
      </p:sp>
      <p:graphicFrame>
        <p:nvGraphicFramePr>
          <p:cNvPr id="31" name="표 30">
            <a:extLst>
              <a:ext uri="{FF2B5EF4-FFF2-40B4-BE49-F238E27FC236}">
                <a16:creationId xmlns:a16="http://schemas.microsoft.com/office/drawing/2014/main" id="{35921972-61BE-91EA-7075-FFD1F46DB2D7}"/>
              </a:ext>
            </a:extLst>
          </p:cNvPr>
          <p:cNvGraphicFramePr>
            <a:graphicFrameLocks noGrp="1"/>
          </p:cNvGraphicFramePr>
          <p:nvPr/>
        </p:nvGraphicFramePr>
        <p:xfrm>
          <a:off x="1411812" y="5319794"/>
          <a:ext cx="4117252" cy="586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2230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3225022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상세견적서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529863"/>
                  </a:ext>
                </a:extLst>
              </a:tr>
            </a:tbl>
          </a:graphicData>
        </a:graphic>
      </p:graphicFrame>
      <p:grpSp>
        <p:nvGrpSpPr>
          <p:cNvPr id="35" name="그룹 34">
            <a:extLst>
              <a:ext uri="{FF2B5EF4-FFF2-40B4-BE49-F238E27FC236}">
                <a16:creationId xmlns:a16="http://schemas.microsoft.com/office/drawing/2014/main" id="{74396D8C-CEA2-F764-67A2-EA55BEE266BA}"/>
              </a:ext>
            </a:extLst>
          </p:cNvPr>
          <p:cNvGrpSpPr/>
          <p:nvPr/>
        </p:nvGrpSpPr>
        <p:grpSpPr>
          <a:xfrm>
            <a:off x="3340275" y="5381151"/>
            <a:ext cx="1275802" cy="198885"/>
            <a:chOff x="2576736" y="3905324"/>
            <a:chExt cx="1275802" cy="198885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70A0768A-3CD2-2918-9D2E-3114238487BE}"/>
                </a:ext>
              </a:extLst>
            </p:cNvPr>
            <p:cNvSpPr/>
            <p:nvPr/>
          </p:nvSpPr>
          <p:spPr>
            <a:xfrm>
              <a:off x="2576736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994C3DE0-B6C5-10E5-6F27-7EF083F6E3C3}"/>
                </a:ext>
              </a:extLst>
            </p:cNvPr>
            <p:cNvSpPr/>
            <p:nvPr/>
          </p:nvSpPr>
          <p:spPr>
            <a:xfrm>
              <a:off x="3239573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20BE5EBB-EC83-88C6-B6C2-27061FAB8531}"/>
              </a:ext>
            </a:extLst>
          </p:cNvPr>
          <p:cNvGrpSpPr/>
          <p:nvPr/>
        </p:nvGrpSpPr>
        <p:grpSpPr>
          <a:xfrm>
            <a:off x="3340275" y="5633355"/>
            <a:ext cx="1275802" cy="198885"/>
            <a:chOff x="2576736" y="3905324"/>
            <a:chExt cx="1275802" cy="198885"/>
          </a:xfrm>
        </p:grpSpPr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1B113BBD-61E5-D10A-F186-A2F4A340C5FA}"/>
                </a:ext>
              </a:extLst>
            </p:cNvPr>
            <p:cNvSpPr/>
            <p:nvPr/>
          </p:nvSpPr>
          <p:spPr>
            <a:xfrm>
              <a:off x="2576736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07F7ACE6-FC2E-B39E-1E1B-37A1277C0F02}"/>
                </a:ext>
              </a:extLst>
            </p:cNvPr>
            <p:cNvSpPr/>
            <p:nvPr/>
          </p:nvSpPr>
          <p:spPr>
            <a:xfrm>
              <a:off x="3239573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85B3BF64-D03E-30C2-E395-4261DD3CF693}"/>
              </a:ext>
            </a:extLst>
          </p:cNvPr>
          <p:cNvSpPr/>
          <p:nvPr/>
        </p:nvSpPr>
        <p:spPr>
          <a:xfrm>
            <a:off x="4810196" y="5988905"/>
            <a:ext cx="701616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닫기</a:t>
            </a:r>
            <a:endParaRPr lang="ko-KR" altLang="en-US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1F4902EB-F447-80CC-F192-3877FC64F5E8}"/>
              </a:ext>
            </a:extLst>
          </p:cNvPr>
          <p:cNvSpPr/>
          <p:nvPr/>
        </p:nvSpPr>
        <p:spPr>
          <a:xfrm>
            <a:off x="6370984" y="2688710"/>
            <a:ext cx="1030288" cy="1307728"/>
          </a:xfrm>
          <a:prstGeom prst="rect">
            <a:avLst/>
          </a:prstGeom>
          <a:solidFill>
            <a:srgbClr val="FFFF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55" name="연결선: 꺾임 54">
            <a:extLst>
              <a:ext uri="{FF2B5EF4-FFF2-40B4-BE49-F238E27FC236}">
                <a16:creationId xmlns:a16="http://schemas.microsoft.com/office/drawing/2014/main" id="{D12B986E-A89B-6DFA-D365-91ED927DB462}"/>
              </a:ext>
            </a:extLst>
          </p:cNvPr>
          <p:cNvCxnSpPr>
            <a:cxnSpLocks/>
            <a:stCxn id="54" idx="1"/>
            <a:endCxn id="15" idx="0"/>
          </p:cNvCxnSpPr>
          <p:nvPr/>
        </p:nvCxnSpPr>
        <p:spPr>
          <a:xfrm rot="10800000" flipV="1">
            <a:off x="3459814" y="3342574"/>
            <a:ext cx="2911170" cy="1293346"/>
          </a:xfrm>
          <a:prstGeom prst="bentConnector2">
            <a:avLst/>
          </a:prstGeom>
          <a:ln>
            <a:solidFill>
              <a:srgbClr val="C00000"/>
            </a:solidFill>
            <a:prstDash val="sysDash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664C8265-F417-A6A4-A9CC-73F32E66A9E4}"/>
              </a:ext>
            </a:extLst>
          </p:cNvPr>
          <p:cNvGraphicFramePr>
            <a:graphicFrameLocks noGrp="1"/>
          </p:cNvGraphicFramePr>
          <p:nvPr/>
        </p:nvGraphicFramePr>
        <p:xfrm>
          <a:off x="164466" y="817960"/>
          <a:ext cx="7732447" cy="675840"/>
        </p:xfrm>
        <a:graphic>
          <a:graphicData uri="http://schemas.openxmlformats.org/drawingml/2006/table">
            <a:tbl>
              <a:tblPr firstRow="1" bandRow="1"/>
              <a:tblGrid>
                <a:gridCol w="83838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763949">
                  <a:extLst>
                    <a:ext uri="{9D8B030D-6E8A-4147-A177-3AD203B41FA5}">
                      <a16:colId xmlns:a16="http://schemas.microsoft.com/office/drawing/2014/main" val="1731736782"/>
                    </a:ext>
                  </a:extLst>
                </a:gridCol>
                <a:gridCol w="616894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821542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289563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1002816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1092824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628938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677541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재공고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선정완료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BB520C47-202D-328D-299C-D2316C13AA68}"/>
              </a:ext>
            </a:extLst>
          </p:cNvPr>
          <p:cNvCxnSpPr>
            <a:cxnSpLocks/>
          </p:cNvCxnSpPr>
          <p:nvPr/>
        </p:nvCxnSpPr>
        <p:spPr>
          <a:xfrm>
            <a:off x="167468" y="1941219"/>
            <a:ext cx="7737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타원 2">
            <a:extLst>
              <a:ext uri="{FF2B5EF4-FFF2-40B4-BE49-F238E27FC236}">
                <a16:creationId xmlns:a16="http://schemas.microsoft.com/office/drawing/2014/main" id="{1DABF9A7-93C0-D721-F497-5144C1CE9FBC}"/>
              </a:ext>
            </a:extLst>
          </p:cNvPr>
          <p:cNvSpPr/>
          <p:nvPr/>
        </p:nvSpPr>
        <p:spPr>
          <a:xfrm>
            <a:off x="59028" y="2212204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5608A20-C4E9-367E-2EDD-4EA5581FCAA9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7F7FE00F-47FE-78BD-2EB7-444FE11B7213}"/>
              </a:ext>
            </a:extLst>
          </p:cNvPr>
          <p:cNvGrpSpPr/>
          <p:nvPr/>
        </p:nvGrpSpPr>
        <p:grpSpPr>
          <a:xfrm>
            <a:off x="163503" y="1599955"/>
            <a:ext cx="7741824" cy="345139"/>
            <a:chOff x="163503" y="1599955"/>
            <a:chExt cx="7741824" cy="345139"/>
          </a:xfrm>
        </p:grpSpPr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CBC4AA22-A22B-4686-218B-D12D5819C17C}"/>
                </a:ext>
              </a:extLst>
            </p:cNvPr>
            <p:cNvCxnSpPr>
              <a:cxnSpLocks/>
            </p:cNvCxnSpPr>
            <p:nvPr/>
          </p:nvCxnSpPr>
          <p:spPr>
            <a:xfrm>
              <a:off x="167468" y="1941219"/>
              <a:ext cx="7737859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5F913AE8-0523-DE06-CB47-A918FEAB89D7}"/>
                </a:ext>
              </a:extLst>
            </p:cNvPr>
            <p:cNvSpPr/>
            <p:nvPr/>
          </p:nvSpPr>
          <p:spPr>
            <a:xfrm>
              <a:off x="163503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발주계획 정보</a:t>
              </a:r>
            </a:p>
          </p:txBody>
        </p:sp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7D3AED2D-E15D-0718-A0B4-70B942B84867}"/>
                </a:ext>
              </a:extLst>
            </p:cNvPr>
            <p:cNvSpPr/>
            <p:nvPr/>
          </p:nvSpPr>
          <p:spPr>
            <a:xfrm>
              <a:off x="1848030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 참여현황</a:t>
              </a:r>
            </a:p>
          </p:txBody>
        </p:sp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519B5F24-30BE-F6CE-F5E1-86F9005B04BD}"/>
                </a:ext>
              </a:extLst>
            </p:cNvPr>
            <p:cNvSpPr/>
            <p:nvPr/>
          </p:nvSpPr>
          <p:spPr>
            <a:xfrm>
              <a:off x="2681319" y="1652651"/>
              <a:ext cx="852685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심사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평가</a:t>
              </a:r>
            </a:p>
          </p:txBody>
        </p:sp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2ACB0B03-F371-FD4C-9EF1-1F7E3818F661}"/>
                </a:ext>
              </a:extLst>
            </p:cNvPr>
            <p:cNvSpPr/>
            <p:nvPr/>
          </p:nvSpPr>
          <p:spPr>
            <a:xfrm>
              <a:off x="1004560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정보</a:t>
              </a: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43D7EF2B-FC4B-0BD9-D312-E8B7F947F311}"/>
                </a:ext>
              </a:extLst>
            </p:cNvPr>
            <p:cNvSpPr/>
            <p:nvPr/>
          </p:nvSpPr>
          <p:spPr>
            <a:xfrm>
              <a:off x="3532662" y="1599955"/>
              <a:ext cx="839130" cy="345139"/>
            </a:xfrm>
            <a:prstGeom prst="rect">
              <a:avLst/>
            </a:prstGeom>
            <a:solidFill>
              <a:srgbClr val="00B050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개찰</a:t>
              </a: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BCC12522-C20A-9621-95F9-C91CE41C8CBD}"/>
                </a:ext>
              </a:extLst>
            </p:cNvPr>
            <p:cNvSpPr/>
            <p:nvPr/>
          </p:nvSpPr>
          <p:spPr>
            <a:xfrm>
              <a:off x="4370291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낙찰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업체 선정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)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EE9432EE-5A3B-F6D8-AB47-62BE9FC37216}"/>
                </a:ext>
              </a:extLst>
            </p:cNvPr>
            <p:cNvSpPr/>
            <p:nvPr/>
          </p:nvSpPr>
          <p:spPr>
            <a:xfrm>
              <a:off x="5213654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수의시담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4BEFFE20-75D6-6141-086F-FCB00A51EDAC}"/>
                </a:ext>
              </a:extLst>
            </p:cNvPr>
            <p:cNvSpPr/>
            <p:nvPr/>
          </p:nvSpPr>
          <p:spPr>
            <a:xfrm>
              <a:off x="6051872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계약 요청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8867121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C5E161-9637-E169-19EF-B893135E3B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0E583324-4426-DFD5-0EEE-36CB7009DD52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72676E53-907A-B29F-9199-CE25895E4891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09C1DD7F-C5E0-A688-58BE-39215049747A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0121A322-28EB-50D6-0529-66AA59676B35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1959B3E5-5075-6A41-BF83-EFD350CAB4C3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4D213B9-B269-70BB-C455-30625A7F48C7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3E8CB673-7543-1E08-9859-29CA62003D01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7" name="Picture 1">
            <a:extLst>
              <a:ext uri="{FF2B5EF4-FFF2-40B4-BE49-F238E27FC236}">
                <a16:creationId xmlns:a16="http://schemas.microsoft.com/office/drawing/2014/main" id="{A4553CED-66AF-5EB4-8B42-FE610F948E4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23E90F15-C421-72E4-B288-3B4EAE13AB48}"/>
              </a:ext>
            </a:extLst>
          </p:cNvPr>
          <p:cNvSpPr txBox="1"/>
          <p:nvPr/>
        </p:nvSpPr>
        <p:spPr>
          <a:xfrm>
            <a:off x="749224" y="25608"/>
            <a:ext cx="535114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 &gt; 입찰공고 현황(상세정보) &gt; 개찰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–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개찰이 완료된 후의 화면(낙찰자 선정방법이 ‘2단계 경쟁입찰(규격/가격 동시)’인 경우)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170804A-A089-FB9C-EFC9-E21F5BB0CE33}"/>
              </a:ext>
            </a:extLst>
          </p:cNvPr>
          <p:cNvSpPr txBox="1"/>
          <p:nvPr/>
        </p:nvSpPr>
        <p:spPr>
          <a:xfrm>
            <a:off x="164468" y="2041002"/>
            <a:ext cx="3053340" cy="230832"/>
          </a:xfrm>
          <a:prstGeom prst="rect">
            <a:avLst/>
          </a:prstGeom>
          <a:noFill/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참여업체 </a:t>
            </a:r>
            <a:r>
              <a:rPr lang="en-US" altLang="ko-KR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총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건</a:t>
            </a: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5FE29892-8EAF-9D80-9A7D-AF265CD2F87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3777480"/>
              </p:ext>
            </p:extLst>
          </p:nvPr>
        </p:nvGraphicFramePr>
        <p:xfrm>
          <a:off x="171331" y="2324090"/>
          <a:ext cx="7722089" cy="1351680"/>
        </p:xfrm>
        <a:graphic>
          <a:graphicData uri="http://schemas.openxmlformats.org/drawingml/2006/table">
            <a:tbl>
              <a:tblPr firstRow="1" bandRow="1"/>
              <a:tblGrid>
                <a:gridCol w="314370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1143363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853634">
                  <a:extLst>
                    <a:ext uri="{9D8B030D-6E8A-4147-A177-3AD203B41FA5}">
                      <a16:colId xmlns:a16="http://schemas.microsoft.com/office/drawing/2014/main" val="3438477450"/>
                    </a:ext>
                  </a:extLst>
                </a:gridCol>
                <a:gridCol w="1052225">
                  <a:extLst>
                    <a:ext uri="{9D8B030D-6E8A-4147-A177-3AD203B41FA5}">
                      <a16:colId xmlns:a16="http://schemas.microsoft.com/office/drawing/2014/main" val="916893631"/>
                    </a:ext>
                  </a:extLst>
                </a:gridCol>
                <a:gridCol w="831030">
                  <a:extLst>
                    <a:ext uri="{9D8B030D-6E8A-4147-A177-3AD203B41FA5}">
                      <a16:colId xmlns:a16="http://schemas.microsoft.com/office/drawing/2014/main" val="1516929747"/>
                    </a:ext>
                  </a:extLst>
                </a:gridCol>
                <a:gridCol w="730356">
                  <a:extLst>
                    <a:ext uri="{9D8B030D-6E8A-4147-A177-3AD203B41FA5}">
                      <a16:colId xmlns:a16="http://schemas.microsoft.com/office/drawing/2014/main" val="2696889248"/>
                    </a:ext>
                  </a:extLst>
                </a:gridCol>
                <a:gridCol w="1116808">
                  <a:extLst>
                    <a:ext uri="{9D8B030D-6E8A-4147-A177-3AD203B41FA5}">
                      <a16:colId xmlns:a16="http://schemas.microsoft.com/office/drawing/2014/main" val="3225374137"/>
                    </a:ext>
                  </a:extLst>
                </a:gridCol>
                <a:gridCol w="882696">
                  <a:extLst>
                    <a:ext uri="{9D8B030D-6E8A-4147-A177-3AD203B41FA5}">
                      <a16:colId xmlns:a16="http://schemas.microsoft.com/office/drawing/2014/main" val="2983225771"/>
                    </a:ext>
                  </a:extLst>
                </a:gridCol>
                <a:gridCol w="797607">
                  <a:extLst>
                    <a:ext uri="{9D8B030D-6E8A-4147-A177-3AD203B41FA5}">
                      <a16:colId xmlns:a16="http://schemas.microsoft.com/office/drawing/2014/main" val="39779728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No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업체명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견적 번호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가격 </a:t>
                      </a: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투찰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 일시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견적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예정가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상세견적서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가격 적합 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가격점수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주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큐비트엑스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QT2025-0032</a:t>
                      </a:r>
                      <a:endParaRPr lang="ko-KR" altLang="en-US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2026.07.29 15:34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157,000,000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174,114,038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상세견적서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(3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 파일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17.50</a:t>
                      </a:r>
                      <a:endParaRPr lang="ko-KR" altLang="en-US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A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QT2025-0031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2026.07.30 14:54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174,114,038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상세견적서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(0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 파일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16.48</a:t>
                      </a:r>
                      <a:endParaRPr lang="ko-KR" altLang="en-US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QT2025-0030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2026.07.31 16:20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180,000,000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174,114,038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상세견적서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 파일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예정가</a:t>
                      </a:r>
                      <a:r>
                        <a:rPr lang="ko-KR" altLang="en-US" sz="800" b="0" u="none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초과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입력불가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</a:tbl>
          </a:graphicData>
        </a:graphic>
      </p:graphicFrame>
      <p:sp>
        <p:nvSpPr>
          <p:cNvPr id="58" name="직사각형 57">
            <a:extLst>
              <a:ext uri="{FF2B5EF4-FFF2-40B4-BE49-F238E27FC236}">
                <a16:creationId xmlns:a16="http://schemas.microsoft.com/office/drawing/2014/main" id="{27D5DD3F-483F-C37F-D98B-BE25760DDF34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D914E365-59F3-5B73-2B16-A6214917D6A0}"/>
              </a:ext>
            </a:extLst>
          </p:cNvPr>
          <p:cNvGraphicFramePr>
            <a:graphicFrameLocks noGrp="1"/>
          </p:cNvGraphicFramePr>
          <p:nvPr/>
        </p:nvGraphicFramePr>
        <p:xfrm>
          <a:off x="164466" y="817960"/>
          <a:ext cx="7732447" cy="675840"/>
        </p:xfrm>
        <a:graphic>
          <a:graphicData uri="http://schemas.openxmlformats.org/drawingml/2006/table">
            <a:tbl>
              <a:tblPr firstRow="1" bandRow="1"/>
              <a:tblGrid>
                <a:gridCol w="83838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763949">
                  <a:extLst>
                    <a:ext uri="{9D8B030D-6E8A-4147-A177-3AD203B41FA5}">
                      <a16:colId xmlns:a16="http://schemas.microsoft.com/office/drawing/2014/main" val="1731736782"/>
                    </a:ext>
                  </a:extLst>
                </a:gridCol>
                <a:gridCol w="616894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821542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289563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1002816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1092824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628938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677541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재공고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선정완료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63" name="타원 62">
            <a:extLst>
              <a:ext uri="{FF2B5EF4-FFF2-40B4-BE49-F238E27FC236}">
                <a16:creationId xmlns:a16="http://schemas.microsoft.com/office/drawing/2014/main" id="{BCAE36C6-F928-DBC1-A09C-FC1C21435F82}"/>
              </a:ext>
            </a:extLst>
          </p:cNvPr>
          <p:cNvSpPr/>
          <p:nvPr/>
        </p:nvSpPr>
        <p:spPr>
          <a:xfrm>
            <a:off x="59028" y="2212204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67E18A85-11E3-43EE-B917-E89DDB5171B0}"/>
              </a:ext>
            </a:extLst>
          </p:cNvPr>
          <p:cNvCxnSpPr>
            <a:cxnSpLocks/>
          </p:cNvCxnSpPr>
          <p:nvPr/>
        </p:nvCxnSpPr>
        <p:spPr>
          <a:xfrm>
            <a:off x="167468" y="1941219"/>
            <a:ext cx="7737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459336A8-7CC4-BAD4-9D8D-55CDC0137892}"/>
              </a:ext>
            </a:extLst>
          </p:cNvPr>
          <p:cNvSpPr txBox="1"/>
          <p:nvPr/>
        </p:nvSpPr>
        <p:spPr>
          <a:xfrm>
            <a:off x="8049344" y="584684"/>
            <a:ext cx="1856656" cy="1594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개찰이 완료된 후의 화면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업무 처리 기능을 사용할 수 없음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‘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가격 동시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인 경우의 개찰 현황 조회 화면</a:t>
            </a:r>
            <a:b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입력된 가격점수가 제공됨</a:t>
            </a: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highlight>
                <a:srgbClr val="FFFF00"/>
              </a:highlight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068F798-54C4-562D-9CF5-C9C41D1E3DE3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55158A80-ED36-96F3-FAD0-752DF0D9F812}"/>
              </a:ext>
            </a:extLst>
          </p:cNvPr>
          <p:cNvGrpSpPr/>
          <p:nvPr/>
        </p:nvGrpSpPr>
        <p:grpSpPr>
          <a:xfrm>
            <a:off x="163503" y="1599955"/>
            <a:ext cx="7741824" cy="345139"/>
            <a:chOff x="163503" y="1599955"/>
            <a:chExt cx="7741824" cy="345139"/>
          </a:xfrm>
        </p:grpSpPr>
        <p:cxnSp>
          <p:nvCxnSpPr>
            <p:cNvPr id="3" name="직선 연결선 2">
              <a:extLst>
                <a:ext uri="{FF2B5EF4-FFF2-40B4-BE49-F238E27FC236}">
                  <a16:creationId xmlns:a16="http://schemas.microsoft.com/office/drawing/2014/main" id="{BD9CF230-D8BD-E4EA-1920-54831CB0D458}"/>
                </a:ext>
              </a:extLst>
            </p:cNvPr>
            <p:cNvCxnSpPr>
              <a:cxnSpLocks/>
            </p:cNvCxnSpPr>
            <p:nvPr/>
          </p:nvCxnSpPr>
          <p:spPr>
            <a:xfrm>
              <a:off x="167468" y="1941219"/>
              <a:ext cx="7737859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7EDF0AB6-C0CA-41AE-D433-285958582D07}"/>
                </a:ext>
              </a:extLst>
            </p:cNvPr>
            <p:cNvSpPr/>
            <p:nvPr/>
          </p:nvSpPr>
          <p:spPr>
            <a:xfrm>
              <a:off x="163503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발주계획 정보</a:t>
              </a: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733732D6-5270-AB0D-34D9-06141F852226}"/>
                </a:ext>
              </a:extLst>
            </p:cNvPr>
            <p:cNvSpPr/>
            <p:nvPr/>
          </p:nvSpPr>
          <p:spPr>
            <a:xfrm>
              <a:off x="1848030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 참여현황</a:t>
              </a:r>
            </a:p>
          </p:txBody>
        </p:sp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864A358A-961B-767F-1767-6C9547A85CEA}"/>
                </a:ext>
              </a:extLst>
            </p:cNvPr>
            <p:cNvSpPr/>
            <p:nvPr/>
          </p:nvSpPr>
          <p:spPr>
            <a:xfrm>
              <a:off x="2681319" y="1652651"/>
              <a:ext cx="852685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심사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평가</a:t>
              </a:r>
            </a:p>
          </p:txBody>
        </p:sp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DEC3AAAF-5C07-AB0F-24B6-04D60E19A7B9}"/>
                </a:ext>
              </a:extLst>
            </p:cNvPr>
            <p:cNvSpPr/>
            <p:nvPr/>
          </p:nvSpPr>
          <p:spPr>
            <a:xfrm>
              <a:off x="1004560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정보</a:t>
              </a:r>
            </a:p>
          </p:txBody>
        </p:sp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BC280467-E8C6-02D8-B5EC-AC5CB9EAAFF0}"/>
                </a:ext>
              </a:extLst>
            </p:cNvPr>
            <p:cNvSpPr/>
            <p:nvPr/>
          </p:nvSpPr>
          <p:spPr>
            <a:xfrm>
              <a:off x="3532662" y="1599955"/>
              <a:ext cx="839130" cy="345139"/>
            </a:xfrm>
            <a:prstGeom prst="rect">
              <a:avLst/>
            </a:prstGeom>
            <a:solidFill>
              <a:srgbClr val="00B050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개찰</a:t>
              </a: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8BA35718-D282-DC45-3E82-34A93CA1FC30}"/>
                </a:ext>
              </a:extLst>
            </p:cNvPr>
            <p:cNvSpPr/>
            <p:nvPr/>
          </p:nvSpPr>
          <p:spPr>
            <a:xfrm>
              <a:off x="4370291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낙찰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업체 선정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)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DFF05569-753D-03E2-E4D9-93EA19835597}"/>
                </a:ext>
              </a:extLst>
            </p:cNvPr>
            <p:cNvSpPr/>
            <p:nvPr/>
          </p:nvSpPr>
          <p:spPr>
            <a:xfrm>
              <a:off x="5213654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수의시담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AFC89EB1-1DF5-0FE0-68A1-C37466279E3F}"/>
                </a:ext>
              </a:extLst>
            </p:cNvPr>
            <p:cNvSpPr/>
            <p:nvPr/>
          </p:nvSpPr>
          <p:spPr>
            <a:xfrm>
              <a:off x="6051872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계약 요청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79434384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C2DD21-E0A3-3D9C-9015-2BFF692760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1188D223-4944-6D8E-7C02-1DC50571F8CD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C0131F0-2AA2-5576-1F99-D30D61691A93}"/>
              </a:ext>
            </a:extLst>
          </p:cNvPr>
          <p:cNvSpPr txBox="1"/>
          <p:nvPr/>
        </p:nvSpPr>
        <p:spPr>
          <a:xfrm>
            <a:off x="8049344" y="527006"/>
            <a:ext cx="1856656" cy="62940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개찰을 진행하지 않은 경우 노출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특히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가격 동시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인 경우에는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가격점수를 반드시 입력해야만 개찰이 완료됨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최저가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인 경우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순위 선정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방식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우선협상대상자 선정기준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예정가를 초과하지 않는 범위 내에서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투찰가격이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가장 낮은 업체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(1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순위는 무조건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우선협상자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이며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부적격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당연히 순위 없음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동일 가격으로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투찰한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경우 랜덤으로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자동 추첨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우선협상자 선정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결과는 무조건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수동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으로 처리함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최초 상태는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탈락 처리 전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임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가격의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적합 여부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제공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예정가를 초과하면 부적합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우선협상대상자를 변경하는 경우 활용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하나의 업체만 선택 가능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우선협상대상자에게 통보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MSG-015</a:t>
            </a: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 업체를 선정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: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계약이 가능한지 확인해야 하기 때문에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수동으로 진행함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하나의 업체만 선택 가능하며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선택되지 않은 업체는 모두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탈락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처리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진행상태를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선정완료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상태로 변경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탈락 업체에게 통보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MSG-016, MSG-017</a:t>
            </a: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공고취소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처리 가능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: 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뒤 페이지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공고취소 처리하기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팝업 호출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1123624D-C0C8-CE23-8C30-163F1C49AEA9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08B93178-DF5B-65E3-6CCC-97AB179B4ED2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88D5B841-962E-F9E2-342C-FBA2904810A7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B4E26BC-7569-3B6E-CA65-EA967F6CAE7D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A1FB518-89A3-FBF1-1CCF-5717B4E43097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D938D44-D22B-4EA3-9762-AFA46BEB2707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7" name="Picture 1">
            <a:extLst>
              <a:ext uri="{FF2B5EF4-FFF2-40B4-BE49-F238E27FC236}">
                <a16:creationId xmlns:a16="http://schemas.microsoft.com/office/drawing/2014/main" id="{4EB1CF69-7AB6-471B-CC99-42ABB8D3E14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788E1A51-B772-8950-D2F5-596B39AC6CFC}"/>
              </a:ext>
            </a:extLst>
          </p:cNvPr>
          <p:cNvSpPr txBox="1"/>
          <p:nvPr/>
        </p:nvSpPr>
        <p:spPr>
          <a:xfrm>
            <a:off x="749224" y="25608"/>
            <a:ext cx="294664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최저가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0A0F78E-BD3C-39D1-5F8C-E0EC3ED84A27}"/>
              </a:ext>
            </a:extLst>
          </p:cNvPr>
          <p:cNvSpPr txBox="1"/>
          <p:nvPr/>
        </p:nvSpPr>
        <p:spPr>
          <a:xfrm>
            <a:off x="834661" y="5775557"/>
            <a:ext cx="184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2BA5005F-FBFB-BF05-DA73-B5BF26818516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6F068646-D0AF-E7E8-3283-EDEEBA6B5FF0}"/>
              </a:ext>
            </a:extLst>
          </p:cNvPr>
          <p:cNvGraphicFramePr>
            <a:graphicFrameLocks noGrp="1"/>
          </p:cNvGraphicFramePr>
          <p:nvPr/>
        </p:nvGraphicFramePr>
        <p:xfrm>
          <a:off x="171330" y="2855369"/>
          <a:ext cx="7660286" cy="1689600"/>
        </p:xfrm>
        <a:graphic>
          <a:graphicData uri="http://schemas.openxmlformats.org/drawingml/2006/table">
            <a:tbl>
              <a:tblPr firstRow="1" bandRow="1"/>
              <a:tblGrid>
                <a:gridCol w="320906">
                  <a:extLst>
                    <a:ext uri="{9D8B030D-6E8A-4147-A177-3AD203B41FA5}">
                      <a16:colId xmlns:a16="http://schemas.microsoft.com/office/drawing/2014/main" val="2143910102"/>
                    </a:ext>
                  </a:extLst>
                </a:gridCol>
                <a:gridCol w="435034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1005674">
                  <a:extLst>
                    <a:ext uri="{9D8B030D-6E8A-4147-A177-3AD203B41FA5}">
                      <a16:colId xmlns:a16="http://schemas.microsoft.com/office/drawing/2014/main" val="1353104844"/>
                    </a:ext>
                  </a:extLst>
                </a:gridCol>
                <a:gridCol w="1513543">
                  <a:extLst>
                    <a:ext uri="{9D8B030D-6E8A-4147-A177-3AD203B41FA5}">
                      <a16:colId xmlns:a16="http://schemas.microsoft.com/office/drawing/2014/main" val="2103438129"/>
                    </a:ext>
                  </a:extLst>
                </a:gridCol>
                <a:gridCol w="1499353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979044">
                  <a:extLst>
                    <a:ext uri="{9D8B030D-6E8A-4147-A177-3AD203B41FA5}">
                      <a16:colId xmlns:a16="http://schemas.microsoft.com/office/drawing/2014/main" val="1516929747"/>
                    </a:ext>
                  </a:extLst>
                </a:gridCol>
                <a:gridCol w="960023">
                  <a:extLst>
                    <a:ext uri="{9D8B030D-6E8A-4147-A177-3AD203B41FA5}">
                      <a16:colId xmlns:a16="http://schemas.microsoft.com/office/drawing/2014/main" val="2415492609"/>
                    </a:ext>
                  </a:extLst>
                </a:gridCol>
                <a:gridCol w="946709">
                  <a:extLst>
                    <a:ext uri="{9D8B030D-6E8A-4147-A177-3AD203B41FA5}">
                      <a16:colId xmlns:a16="http://schemas.microsoft.com/office/drawing/2014/main" val="269688924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□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순위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우선협상대상자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결과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업체명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견적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가격 적합 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예정가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itchFamily="2" charset="-127"/>
                          <a:ea typeface="나눔고딕" pitchFamily="2" charset="-127"/>
                          <a:cs typeface="+mn-cs"/>
                        </a:rPr>
                        <a:t>□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우선협상대상자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탈락 처리 전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A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100,000,000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itchFamily="2" charset="-127"/>
                          <a:ea typeface="나눔고딕" pitchFamily="2" charset="-127"/>
                          <a:cs typeface="+mn-cs"/>
                        </a:rPr>
                        <a:t>□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탈락 처리 전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100,000,000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28815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itchFamily="2" charset="-127"/>
                          <a:ea typeface="나눔고딕" pitchFamily="2" charset="-127"/>
                          <a:cs typeface="+mn-cs"/>
                        </a:rPr>
                        <a:t>□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탈락 처리 전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C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95,000,000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100,000,000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itchFamily="2" charset="-127"/>
                          <a:ea typeface="나눔고딕" pitchFamily="2" charset="-127"/>
                          <a:cs typeface="+mn-cs"/>
                        </a:rPr>
                        <a:t>□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탈락 처리 전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D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예정가</a:t>
                      </a:r>
                      <a:r>
                        <a:rPr lang="ko-KR" altLang="en-US" sz="800" b="0" u="none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초과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100,000,000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</a:tbl>
          </a:graphicData>
        </a:graphic>
      </p:graphicFrame>
      <p:sp>
        <p:nvSpPr>
          <p:cNvPr id="25" name="직사각형 24">
            <a:extLst>
              <a:ext uri="{FF2B5EF4-FFF2-40B4-BE49-F238E27FC236}">
                <a16:creationId xmlns:a16="http://schemas.microsoft.com/office/drawing/2014/main" id="{F109B2C4-540F-1B0C-847B-B761CF840F34}"/>
              </a:ext>
            </a:extLst>
          </p:cNvPr>
          <p:cNvSpPr/>
          <p:nvPr/>
        </p:nvSpPr>
        <p:spPr>
          <a:xfrm>
            <a:off x="2450398" y="4638696"/>
            <a:ext cx="1174293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우선협상대상자 선정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21AABEE1-9986-8D35-33E3-3BA49155ED3B}"/>
              </a:ext>
            </a:extLst>
          </p:cNvPr>
          <p:cNvSpPr/>
          <p:nvPr/>
        </p:nvSpPr>
        <p:spPr>
          <a:xfrm>
            <a:off x="3684886" y="4638696"/>
            <a:ext cx="1158889" cy="28803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우선협상대상자 통보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EB4EE46B-C8E4-2E7E-15F8-E0F2CC8ADF91}"/>
              </a:ext>
            </a:extLst>
          </p:cNvPr>
          <p:cNvSpPr/>
          <p:nvPr/>
        </p:nvSpPr>
        <p:spPr>
          <a:xfrm>
            <a:off x="4903970" y="4638696"/>
            <a:ext cx="950048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9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38AC055-BD70-266F-8EB2-938159C4BEE3}"/>
              </a:ext>
            </a:extLst>
          </p:cNvPr>
          <p:cNvSpPr/>
          <p:nvPr/>
        </p:nvSpPr>
        <p:spPr>
          <a:xfrm>
            <a:off x="5903439" y="4638696"/>
            <a:ext cx="934690" cy="28803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탈락 통보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82E29FA1-C0B6-508E-4D11-2445C69FBADB}"/>
              </a:ext>
            </a:extLst>
          </p:cNvPr>
          <p:cNvSpPr txBox="1"/>
          <p:nvPr/>
        </p:nvSpPr>
        <p:spPr>
          <a:xfrm>
            <a:off x="164468" y="2579912"/>
            <a:ext cx="3053340" cy="230832"/>
          </a:xfrm>
          <a:prstGeom prst="rect">
            <a:avLst/>
          </a:prstGeom>
          <a:noFill/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참여업체 </a:t>
            </a:r>
            <a:r>
              <a:rPr lang="en-US" altLang="ko-KR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총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건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CAC404DD-3D8D-DAA8-FB39-8B55DF1423E1}"/>
              </a:ext>
            </a:extLst>
          </p:cNvPr>
          <p:cNvSpPr/>
          <p:nvPr/>
        </p:nvSpPr>
        <p:spPr>
          <a:xfrm>
            <a:off x="183739" y="2043596"/>
            <a:ext cx="7660288" cy="44502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개찰을 진행하지 않았습니다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 후에 낙찰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처리가 가능합니다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E49251C1-6377-1ECD-D985-09C5F62EBBBF}"/>
              </a:ext>
            </a:extLst>
          </p:cNvPr>
          <p:cNvSpPr/>
          <p:nvPr/>
        </p:nvSpPr>
        <p:spPr>
          <a:xfrm>
            <a:off x="413029" y="2729417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1597D6A7-8179-4E48-AB38-1DFA17B3A255}"/>
              </a:ext>
            </a:extLst>
          </p:cNvPr>
          <p:cNvSpPr/>
          <p:nvPr/>
        </p:nvSpPr>
        <p:spPr>
          <a:xfrm>
            <a:off x="5805854" y="2729417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6F71E408-9CE0-8FDC-E307-1AF1D25E8120}"/>
              </a:ext>
            </a:extLst>
          </p:cNvPr>
          <p:cNvSpPr/>
          <p:nvPr/>
        </p:nvSpPr>
        <p:spPr>
          <a:xfrm>
            <a:off x="2355696" y="4545124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F3C8AA88-40E6-2EB6-BBDB-77994453BD9A}"/>
              </a:ext>
            </a:extLst>
          </p:cNvPr>
          <p:cNvSpPr/>
          <p:nvPr/>
        </p:nvSpPr>
        <p:spPr>
          <a:xfrm>
            <a:off x="3619117" y="4545124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B9443A13-9763-C81B-A415-2A3207C68E81}"/>
              </a:ext>
            </a:extLst>
          </p:cNvPr>
          <p:cNvSpPr/>
          <p:nvPr/>
        </p:nvSpPr>
        <p:spPr>
          <a:xfrm>
            <a:off x="4785184" y="4545124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4A737E40-2458-1EA3-0EB6-8321AEB27A4C}"/>
              </a:ext>
            </a:extLst>
          </p:cNvPr>
          <p:cNvSpPr/>
          <p:nvPr/>
        </p:nvSpPr>
        <p:spPr>
          <a:xfrm>
            <a:off x="5782011" y="4545124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CFA8BAB5-11CC-11A8-CC0A-851146CEE496}"/>
              </a:ext>
            </a:extLst>
          </p:cNvPr>
          <p:cNvGraphicFramePr>
            <a:graphicFrameLocks noGrp="1"/>
          </p:cNvGraphicFramePr>
          <p:nvPr/>
        </p:nvGraphicFramePr>
        <p:xfrm>
          <a:off x="164466" y="817960"/>
          <a:ext cx="7732447" cy="675840"/>
        </p:xfrm>
        <a:graphic>
          <a:graphicData uri="http://schemas.openxmlformats.org/drawingml/2006/table">
            <a:tbl>
              <a:tblPr firstRow="1" bandRow="1"/>
              <a:tblGrid>
                <a:gridCol w="83838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763949">
                  <a:extLst>
                    <a:ext uri="{9D8B030D-6E8A-4147-A177-3AD203B41FA5}">
                      <a16:colId xmlns:a16="http://schemas.microsoft.com/office/drawing/2014/main" val="1731736782"/>
                    </a:ext>
                  </a:extLst>
                </a:gridCol>
                <a:gridCol w="616894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821542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289563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1002816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1092824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628938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677541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재공고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선정완료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2" name="타원 1">
            <a:extLst>
              <a:ext uri="{FF2B5EF4-FFF2-40B4-BE49-F238E27FC236}">
                <a16:creationId xmlns:a16="http://schemas.microsoft.com/office/drawing/2014/main" id="{74564054-B652-E757-8988-F6C7896C845F}"/>
              </a:ext>
            </a:extLst>
          </p:cNvPr>
          <p:cNvSpPr/>
          <p:nvPr/>
        </p:nvSpPr>
        <p:spPr>
          <a:xfrm>
            <a:off x="1858360" y="2729417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A7489146-2C70-D066-F68F-535B7D63FA2A}"/>
              </a:ext>
            </a:extLst>
          </p:cNvPr>
          <p:cNvSpPr/>
          <p:nvPr/>
        </p:nvSpPr>
        <p:spPr>
          <a:xfrm>
            <a:off x="164468" y="5029457"/>
            <a:ext cx="4392488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시 유의사항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4FBFCE9A-BB23-A172-9299-17B0A218369A}"/>
              </a:ext>
            </a:extLst>
          </p:cNvPr>
          <p:cNvSpPr/>
          <p:nvPr/>
        </p:nvSpPr>
        <p:spPr>
          <a:xfrm>
            <a:off x="164468" y="5302370"/>
            <a:ext cx="4392488" cy="18710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53197F70-818E-4CC7-44D0-0923E94FA485}"/>
              </a:ext>
            </a:extLst>
          </p:cNvPr>
          <p:cNvSpPr/>
          <p:nvPr/>
        </p:nvSpPr>
        <p:spPr>
          <a:xfrm>
            <a:off x="4286956" y="5029457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C057B871-D0AF-15DB-FE2D-2AE2913FA121}"/>
              </a:ext>
            </a:extLst>
          </p:cNvPr>
          <p:cNvSpPr/>
          <p:nvPr/>
        </p:nvSpPr>
        <p:spPr>
          <a:xfrm>
            <a:off x="272247" y="5715757"/>
            <a:ext cx="4176697" cy="938958"/>
          </a:xfrm>
          <a:prstGeom prst="rect">
            <a:avLst/>
          </a:prstGeom>
          <a:solidFill>
            <a:srgbClr val="FFFF00">
              <a:alpha val="20000"/>
            </a:srgb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56000" tIns="108000" bIns="108000" rtlCol="0" anchor="ctr" anchorCtr="0"/>
          <a:lstStyle/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낙찰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(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업체 선정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)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후에는 더 이상 변경할 수 없습니다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.</a:t>
            </a:r>
            <a:b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</a:b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또한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처리 후에는 협력업체에게 결과가 제공됩니다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b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해당 업체가 계약 가능한지의 여부를 반드시 확인하고 처리해주세요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.</a:t>
            </a:r>
          </a:p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defRPr/>
            </a:pPr>
            <a:r>
              <a: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낙찰</a:t>
            </a: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(</a:t>
            </a:r>
            <a:r>
              <a: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업체 선정</a:t>
            </a: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)</a:t>
            </a:r>
            <a:r>
              <a: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처리하시겠습니까</a:t>
            </a: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?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pic>
        <p:nvPicPr>
          <p:cNvPr id="48" name="Picture 8" descr="Announcement, hailer, loudspeaker, megaphone, speaker icon - Download on Iconfinder">
            <a:extLst>
              <a:ext uri="{FF2B5EF4-FFF2-40B4-BE49-F238E27FC236}">
                <a16:creationId xmlns:a16="http://schemas.microsoft.com/office/drawing/2014/main" id="{98AD6AA9-4F61-123A-BA5B-CEB9E9D4324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8369" y="5900016"/>
            <a:ext cx="570440" cy="5704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2" name="직사각형 51">
            <a:extLst>
              <a:ext uri="{FF2B5EF4-FFF2-40B4-BE49-F238E27FC236}">
                <a16:creationId xmlns:a16="http://schemas.microsoft.com/office/drawing/2014/main" id="{C5B02BD6-F33F-7D21-8DE4-8FB8C20C23D6}"/>
              </a:ext>
            </a:extLst>
          </p:cNvPr>
          <p:cNvSpPr/>
          <p:nvPr/>
        </p:nvSpPr>
        <p:spPr>
          <a:xfrm>
            <a:off x="2681586" y="6739069"/>
            <a:ext cx="1023630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1BCDF8FF-FA3A-6532-CB27-A6FADA0CDED1}"/>
              </a:ext>
            </a:extLst>
          </p:cNvPr>
          <p:cNvSpPr/>
          <p:nvPr/>
        </p:nvSpPr>
        <p:spPr>
          <a:xfrm>
            <a:off x="3764957" y="6739069"/>
            <a:ext cx="699418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D6751CCC-CA2A-B0D0-29A3-FF80A1170755}"/>
              </a:ext>
            </a:extLst>
          </p:cNvPr>
          <p:cNvSpPr/>
          <p:nvPr/>
        </p:nvSpPr>
        <p:spPr>
          <a:xfrm>
            <a:off x="295688" y="5398758"/>
            <a:ext cx="1760097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 유의사항</a:t>
            </a:r>
          </a:p>
        </p:txBody>
      </p:sp>
      <p:cxnSp>
        <p:nvCxnSpPr>
          <p:cNvPr id="58" name="연결선: 꺾임 57">
            <a:extLst>
              <a:ext uri="{FF2B5EF4-FFF2-40B4-BE49-F238E27FC236}">
                <a16:creationId xmlns:a16="http://schemas.microsoft.com/office/drawing/2014/main" id="{61BFA947-15D1-7A86-9186-C1A8BA0490C0}"/>
              </a:ext>
            </a:extLst>
          </p:cNvPr>
          <p:cNvCxnSpPr>
            <a:cxnSpLocks/>
            <a:stCxn id="31" idx="2"/>
            <a:endCxn id="22" idx="3"/>
          </p:cNvCxnSpPr>
          <p:nvPr/>
        </p:nvCxnSpPr>
        <p:spPr>
          <a:xfrm rot="5400000">
            <a:off x="4312393" y="5171291"/>
            <a:ext cx="1311165" cy="822038"/>
          </a:xfrm>
          <a:prstGeom prst="bentConnector2">
            <a:avLst/>
          </a:prstGeom>
          <a:ln>
            <a:solidFill>
              <a:srgbClr val="C00000"/>
            </a:solidFill>
            <a:prstDash val="sysDash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B96B357-DDB4-BABE-A364-5F001825B348}"/>
              </a:ext>
            </a:extLst>
          </p:cNvPr>
          <p:cNvSpPr/>
          <p:nvPr/>
        </p:nvSpPr>
        <p:spPr>
          <a:xfrm>
            <a:off x="6892602" y="4638695"/>
            <a:ext cx="934690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공고취소</a:t>
            </a: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BE912CD8-DF27-DA49-11CA-1F5F05FC11B9}"/>
              </a:ext>
            </a:extLst>
          </p:cNvPr>
          <p:cNvSpPr/>
          <p:nvPr/>
        </p:nvSpPr>
        <p:spPr>
          <a:xfrm>
            <a:off x="6778838" y="4527108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369280C7-D21F-E979-197D-330365FE24B7}"/>
              </a:ext>
            </a:extLst>
          </p:cNvPr>
          <p:cNvGrpSpPr/>
          <p:nvPr/>
        </p:nvGrpSpPr>
        <p:grpSpPr>
          <a:xfrm>
            <a:off x="163503" y="1596176"/>
            <a:ext cx="7741824" cy="348918"/>
            <a:chOff x="163503" y="1596176"/>
            <a:chExt cx="7741824" cy="348918"/>
          </a:xfrm>
        </p:grpSpPr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08807D9C-3B35-829D-5B5E-514AE6387722}"/>
                </a:ext>
              </a:extLst>
            </p:cNvPr>
            <p:cNvCxnSpPr>
              <a:cxnSpLocks/>
            </p:cNvCxnSpPr>
            <p:nvPr/>
          </p:nvCxnSpPr>
          <p:spPr>
            <a:xfrm>
              <a:off x="167468" y="1941219"/>
              <a:ext cx="7737859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직사각형 45">
              <a:extLst>
                <a:ext uri="{FF2B5EF4-FFF2-40B4-BE49-F238E27FC236}">
                  <a16:creationId xmlns:a16="http://schemas.microsoft.com/office/drawing/2014/main" id="{5413C3C8-489C-C589-D3D2-F649420748E4}"/>
                </a:ext>
              </a:extLst>
            </p:cNvPr>
            <p:cNvSpPr/>
            <p:nvPr/>
          </p:nvSpPr>
          <p:spPr>
            <a:xfrm>
              <a:off x="163503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발주계획 정보</a:t>
              </a:r>
            </a:p>
          </p:txBody>
        </p: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DAC1DDA7-D797-D0E6-757F-2D553629C521}"/>
                </a:ext>
              </a:extLst>
            </p:cNvPr>
            <p:cNvSpPr/>
            <p:nvPr/>
          </p:nvSpPr>
          <p:spPr>
            <a:xfrm>
              <a:off x="1848030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 참여현황</a:t>
              </a:r>
            </a:p>
          </p:txBody>
        </p:sp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66E4F50E-7E3D-F95B-A804-B6FB36D3DAD9}"/>
                </a:ext>
              </a:extLst>
            </p:cNvPr>
            <p:cNvSpPr/>
            <p:nvPr/>
          </p:nvSpPr>
          <p:spPr>
            <a:xfrm>
              <a:off x="2681319" y="1652651"/>
              <a:ext cx="852685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심사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평가</a:t>
              </a:r>
            </a:p>
          </p:txBody>
        </p:sp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45BA59DC-B021-ED12-5C10-5737B60E07BB}"/>
                </a:ext>
              </a:extLst>
            </p:cNvPr>
            <p:cNvSpPr/>
            <p:nvPr/>
          </p:nvSpPr>
          <p:spPr>
            <a:xfrm>
              <a:off x="1004560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정보</a:t>
              </a:r>
            </a:p>
          </p:txBody>
        </p:sp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F91542B1-E7F6-209C-78DF-280D76C0015D}"/>
                </a:ext>
              </a:extLst>
            </p:cNvPr>
            <p:cNvSpPr/>
            <p:nvPr/>
          </p:nvSpPr>
          <p:spPr>
            <a:xfrm>
              <a:off x="3532662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개찰</a:t>
              </a:r>
            </a:p>
          </p:txBody>
        </p:sp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9202355E-9E93-BDCF-315C-4C41637E03EB}"/>
                </a:ext>
              </a:extLst>
            </p:cNvPr>
            <p:cNvSpPr/>
            <p:nvPr/>
          </p:nvSpPr>
          <p:spPr>
            <a:xfrm>
              <a:off x="4370291" y="1596176"/>
              <a:ext cx="839130" cy="348918"/>
            </a:xfrm>
            <a:prstGeom prst="rect">
              <a:avLst/>
            </a:prstGeom>
            <a:solidFill>
              <a:srgbClr val="00B050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낙찰</a:t>
              </a:r>
              <a:r>
                <a:rPr lang="en-US" altLang="ko-KR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업체 선정</a:t>
              </a:r>
              <a:r>
                <a:rPr lang="en-US" altLang="ko-KR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)</a:t>
              </a:r>
              <a:endPara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4A7FF924-1614-D409-EBCD-2FB2E1E345FA}"/>
                </a:ext>
              </a:extLst>
            </p:cNvPr>
            <p:cNvSpPr/>
            <p:nvPr/>
          </p:nvSpPr>
          <p:spPr>
            <a:xfrm>
              <a:off x="5213654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수의시담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09EE5EB2-B620-9A29-7A32-E69B4F23D5A2}"/>
                </a:ext>
              </a:extLst>
            </p:cNvPr>
            <p:cNvSpPr/>
            <p:nvPr/>
          </p:nvSpPr>
          <p:spPr>
            <a:xfrm>
              <a:off x="6051872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계약 요청</a:t>
              </a:r>
            </a:p>
          </p:txBody>
        </p:sp>
      </p:grpSp>
      <p:sp>
        <p:nvSpPr>
          <p:cNvPr id="65" name="타원 64">
            <a:extLst>
              <a:ext uri="{FF2B5EF4-FFF2-40B4-BE49-F238E27FC236}">
                <a16:creationId xmlns:a16="http://schemas.microsoft.com/office/drawing/2014/main" id="{8998AFDB-E8ED-3947-2988-CDE7EDC63E3C}"/>
              </a:ext>
            </a:extLst>
          </p:cNvPr>
          <p:cNvSpPr/>
          <p:nvPr/>
        </p:nvSpPr>
        <p:spPr>
          <a:xfrm>
            <a:off x="58070" y="1940850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0DF8590-CB2A-1D6E-A493-711B529DCEBD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E6C1710D-A3D8-4F05-F7EA-566FF99B811A}"/>
              </a:ext>
            </a:extLst>
          </p:cNvPr>
          <p:cNvSpPr txBox="1"/>
          <p:nvPr/>
        </p:nvSpPr>
        <p:spPr>
          <a:xfrm>
            <a:off x="5460724" y="5343582"/>
            <a:ext cx="2283254" cy="633571"/>
          </a:xfrm>
          <a:prstGeom prst="rect">
            <a:avLst/>
          </a:prstGeom>
          <a:solidFill>
            <a:srgbClr val="C00000">
              <a:alpha val="69804"/>
            </a:srgbClr>
          </a:solidFill>
        </p:spPr>
        <p:txBody>
          <a:bodyPr wrap="square">
            <a:spAutoFit/>
          </a:bodyPr>
          <a:lstStyle/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이 처리되면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</a:p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낙찰업체의 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입찰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견적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금액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이</a:t>
            </a:r>
            <a:b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최종 계약 금액’으로 데이터베이스에 저장되어야 함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484157169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4D61C1-2895-1434-508E-18BF499E16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3E938544-1794-6748-4A80-CE3867EEBE9E}"/>
              </a:ext>
            </a:extLst>
          </p:cNvPr>
          <p:cNvSpPr txBox="1"/>
          <p:nvPr/>
        </p:nvSpPr>
        <p:spPr>
          <a:xfrm>
            <a:off x="749224" y="25608"/>
            <a:ext cx="266290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공고취소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처리하기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E95B93C-304E-86A0-8F20-2E5FE049ABB5}"/>
              </a:ext>
            </a:extLst>
          </p:cNvPr>
          <p:cNvSpPr/>
          <p:nvPr/>
        </p:nvSpPr>
        <p:spPr>
          <a:xfrm>
            <a:off x="164468" y="421916"/>
            <a:ext cx="5472608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공고취소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처리하기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424DCFA2-96E8-CFCD-1C8B-5DB8CBD608F5}"/>
              </a:ext>
            </a:extLst>
          </p:cNvPr>
          <p:cNvSpPr/>
          <p:nvPr/>
        </p:nvSpPr>
        <p:spPr>
          <a:xfrm>
            <a:off x="164468" y="686202"/>
            <a:ext cx="5472608" cy="260740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A9419B4-0DC3-4C07-F93C-366645EEBC47}"/>
              </a:ext>
            </a:extLst>
          </p:cNvPr>
          <p:cNvSpPr/>
          <p:nvPr/>
        </p:nvSpPr>
        <p:spPr>
          <a:xfrm>
            <a:off x="5362477" y="421916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E671EAF-3920-E4BF-0F18-A3159E902C61}"/>
              </a:ext>
            </a:extLst>
          </p:cNvPr>
          <p:cNvSpPr/>
          <p:nvPr/>
        </p:nvSpPr>
        <p:spPr>
          <a:xfrm>
            <a:off x="272248" y="1099589"/>
            <a:ext cx="5220812" cy="1185909"/>
          </a:xfrm>
          <a:prstGeom prst="rect">
            <a:avLst/>
          </a:prstGeom>
          <a:solidFill>
            <a:srgbClr val="FFFF00">
              <a:alpha val="20000"/>
            </a:srgb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56000" tIns="108000" bIns="108000" rtlCol="0" anchor="ctr" anchorCtr="0"/>
          <a:lstStyle/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공고취소로 처리하면 해당 </a:t>
            </a:r>
            <a:r>
              <a:rPr lang="ko-KR" altLang="en-US" sz="800" dirty="0" err="1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공고 건은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무효가 됩니다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b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이후 업무 진행이 불가능하여 아래의 경우 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공고취소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로 처리합니다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pPr lvl="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defRPr/>
            </a:pP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·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낙찰업체 또는 수의계약업체가 계약을 포기하는 경우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·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수의시담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견적 제출 과정 중 가격 협의가 이루어지지 않는 경우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·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기타 주관기관과 낙찰업체에게 특별한 사정이 있는 경우 등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pic>
        <p:nvPicPr>
          <p:cNvPr id="35" name="Picture 8" descr="Announcement, hailer, loudspeaker, megaphone, speaker icon - Download on Iconfinder">
            <a:extLst>
              <a:ext uri="{FF2B5EF4-FFF2-40B4-BE49-F238E27FC236}">
                <a16:creationId xmlns:a16="http://schemas.microsoft.com/office/drawing/2014/main" id="{7986FA9A-2908-535C-18A5-0F2768FF4E8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8370" y="1407323"/>
            <a:ext cx="570440" cy="5704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9" name="직사각형 38">
            <a:extLst>
              <a:ext uri="{FF2B5EF4-FFF2-40B4-BE49-F238E27FC236}">
                <a16:creationId xmlns:a16="http://schemas.microsoft.com/office/drawing/2014/main" id="{5E9D0638-28A2-F579-4CFE-272EC8D24B5F}"/>
              </a:ext>
            </a:extLst>
          </p:cNvPr>
          <p:cNvSpPr/>
          <p:nvPr/>
        </p:nvSpPr>
        <p:spPr>
          <a:xfrm>
            <a:off x="295689" y="782970"/>
            <a:ext cx="1178208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공고취소 처리하기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B76999DA-41A2-8F4B-6B4C-2254BFC095F8}"/>
              </a:ext>
            </a:extLst>
          </p:cNvPr>
          <p:cNvSpPr txBox="1"/>
          <p:nvPr/>
        </p:nvSpPr>
        <p:spPr>
          <a:xfrm>
            <a:off x="8049344" y="584684"/>
            <a:ext cx="1856656" cy="18374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공고취소 처리 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공고취소로 처리하면 해당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공고 건은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무효가 됨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이후 업무 진행이 불가능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진행상태가 ‘공고취소’로 변경되어 종료됨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이후 본 공고가 다시 진행되려면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발주계약 요청부터 다시 시작해야 함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별도의 건으로 취급함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758CA15F-11ED-810C-F797-B04B85DDB5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9273421"/>
              </p:ext>
            </p:extLst>
          </p:nvPr>
        </p:nvGraphicFramePr>
        <p:xfrm>
          <a:off x="278798" y="2365510"/>
          <a:ext cx="5214262" cy="337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88132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4026130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indent="-7200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공고취소 사유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메모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r>
                        <a:rPr lang="ko-KR" altLang="en-US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4554203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9AE8F399-2CA2-4E95-D2F2-2C5B841E0FAA}"/>
              </a:ext>
            </a:extLst>
          </p:cNvPr>
          <p:cNvSpPr/>
          <p:nvPr/>
        </p:nvSpPr>
        <p:spPr>
          <a:xfrm>
            <a:off x="1564866" y="2425520"/>
            <a:ext cx="3806237" cy="21544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100</a:t>
            </a:r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자 이내로 입력해주세요.</a:t>
            </a:r>
            <a:endParaRPr lang="en-US" altLang="ko-KR" sz="800" b="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7FA24334-01AB-AA1A-991F-EAC49988E3C3}"/>
              </a:ext>
            </a:extLst>
          </p:cNvPr>
          <p:cNvSpPr/>
          <p:nvPr/>
        </p:nvSpPr>
        <p:spPr>
          <a:xfrm>
            <a:off x="4801161" y="2788493"/>
            <a:ext cx="699418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89432ED9-E360-046B-F1F5-1660BB08025F}"/>
              </a:ext>
            </a:extLst>
          </p:cNvPr>
          <p:cNvSpPr/>
          <p:nvPr/>
        </p:nvSpPr>
        <p:spPr>
          <a:xfrm>
            <a:off x="3512839" y="2788493"/>
            <a:ext cx="1221551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공고취소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처리하기 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</a:t>
            </a:r>
            <a:endParaRPr lang="ko-KR" altLang="en-US" sz="9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BEC61CFB-4CF3-198D-D33B-7ECCB222F34B}"/>
              </a:ext>
            </a:extLst>
          </p:cNvPr>
          <p:cNvSpPr/>
          <p:nvPr/>
        </p:nvSpPr>
        <p:spPr>
          <a:xfrm>
            <a:off x="3400800" y="2678915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50859715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3A1C6B-D037-47D3-0297-9DDFB0B627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2987B1CB-A724-850E-1D02-BBCE3C01AF8E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6747F303-3BA9-092E-FD7B-E3C7BB9FD50E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25F20DBB-CA47-9D15-1385-AFEEB38E8A18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79DA3632-A93B-7A47-96CD-0F4471EF0ABE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0A7EB14-DE68-39E5-8FF8-AEE6351A638D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6773E425-DEB1-CB0C-F536-E42C9B24C45E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988B973B-89C0-750F-7183-6368B8A0748D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7" name="Picture 1">
            <a:extLst>
              <a:ext uri="{FF2B5EF4-FFF2-40B4-BE49-F238E27FC236}">
                <a16:creationId xmlns:a16="http://schemas.microsoft.com/office/drawing/2014/main" id="{81633014-C18B-A92B-209B-7AD1981553C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35BE72E1-3252-48E4-FCEE-258C05B78D6B}"/>
              </a:ext>
            </a:extLst>
          </p:cNvPr>
          <p:cNvSpPr txBox="1"/>
          <p:nvPr/>
        </p:nvSpPr>
        <p:spPr>
          <a:xfrm>
            <a:off x="749224" y="25608"/>
            <a:ext cx="326403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제한적 최저가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162CFF6A-7DAF-1CE6-A3BA-A1C1DDFBA470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741C85A5-8D22-BD6F-0F57-E44CCF4F4030}"/>
              </a:ext>
            </a:extLst>
          </p:cNvPr>
          <p:cNvSpPr/>
          <p:nvPr/>
        </p:nvSpPr>
        <p:spPr>
          <a:xfrm>
            <a:off x="183739" y="2043596"/>
            <a:ext cx="7713174" cy="44502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개찰을 진행하지 않았습니다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 후에 낙찰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처리가 가능합니다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41E00DF-9E26-E17E-E063-F9E317DB524F}"/>
              </a:ext>
            </a:extLst>
          </p:cNvPr>
          <p:cNvSpPr txBox="1"/>
          <p:nvPr/>
        </p:nvSpPr>
        <p:spPr>
          <a:xfrm>
            <a:off x="8049344" y="532928"/>
            <a:ext cx="1856656" cy="567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제한적 최저가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인 경우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순위 선정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방식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우선협상대상자 선정기준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예정가를 초과하지 않는 범위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+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낙찰하한가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미만의 범위 내에서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투찰가격이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가장 낮은 업체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동일 가격으로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투찰한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경우 우선순위는 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기술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평가점수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이 높은 업체가 선정됨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순위는 무조건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우선협상자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임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부적격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당연히 순위 없음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기술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평가점수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과 적격여부 제공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동점자가 발생한 경우 직관적으로 순위를 이해해야 하기 때문에 제공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적합 여부 제공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B108563-8881-93CD-36D0-C4D2654E7FA8}"/>
              </a:ext>
            </a:extLst>
          </p:cNvPr>
          <p:cNvGraphicFramePr>
            <a:graphicFrameLocks noGrp="1"/>
          </p:cNvGraphicFramePr>
          <p:nvPr/>
        </p:nvGraphicFramePr>
        <p:xfrm>
          <a:off x="164466" y="817960"/>
          <a:ext cx="7732447" cy="675840"/>
        </p:xfrm>
        <a:graphic>
          <a:graphicData uri="http://schemas.openxmlformats.org/drawingml/2006/table">
            <a:tbl>
              <a:tblPr firstRow="1" bandRow="1"/>
              <a:tblGrid>
                <a:gridCol w="83838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763949">
                  <a:extLst>
                    <a:ext uri="{9D8B030D-6E8A-4147-A177-3AD203B41FA5}">
                      <a16:colId xmlns:a16="http://schemas.microsoft.com/office/drawing/2014/main" val="1731736782"/>
                    </a:ext>
                  </a:extLst>
                </a:gridCol>
                <a:gridCol w="616894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821542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289563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1002816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1092824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628938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677541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재공고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선정완료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60" name="TextBox 59">
            <a:extLst>
              <a:ext uri="{FF2B5EF4-FFF2-40B4-BE49-F238E27FC236}">
                <a16:creationId xmlns:a16="http://schemas.microsoft.com/office/drawing/2014/main" id="{3AE3B54D-CA59-2A51-C8D1-00882A376D79}"/>
              </a:ext>
            </a:extLst>
          </p:cNvPr>
          <p:cNvSpPr txBox="1"/>
          <p:nvPr/>
        </p:nvSpPr>
        <p:spPr>
          <a:xfrm>
            <a:off x="164468" y="2588538"/>
            <a:ext cx="3053340" cy="230832"/>
          </a:xfrm>
          <a:prstGeom prst="rect">
            <a:avLst/>
          </a:prstGeom>
          <a:noFill/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참여업체 </a:t>
            </a:r>
            <a:r>
              <a:rPr lang="en-US" altLang="ko-KR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총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건</a:t>
            </a:r>
          </a:p>
        </p:txBody>
      </p:sp>
      <p:graphicFrame>
        <p:nvGraphicFramePr>
          <p:cNvPr id="62" name="표 61">
            <a:extLst>
              <a:ext uri="{FF2B5EF4-FFF2-40B4-BE49-F238E27FC236}">
                <a16:creationId xmlns:a16="http://schemas.microsoft.com/office/drawing/2014/main" id="{A918B3FC-95C7-2751-5CA6-049743E17A8A}"/>
              </a:ext>
            </a:extLst>
          </p:cNvPr>
          <p:cNvGraphicFramePr>
            <a:graphicFrameLocks noGrp="1"/>
          </p:cNvGraphicFramePr>
          <p:nvPr/>
        </p:nvGraphicFramePr>
        <p:xfrm>
          <a:off x="171332" y="2863995"/>
          <a:ext cx="9571837" cy="2027520"/>
        </p:xfrm>
        <a:graphic>
          <a:graphicData uri="http://schemas.openxmlformats.org/drawingml/2006/table">
            <a:tbl>
              <a:tblPr firstRow="1" bandRow="1"/>
              <a:tblGrid>
                <a:gridCol w="267825">
                  <a:extLst>
                    <a:ext uri="{9D8B030D-6E8A-4147-A177-3AD203B41FA5}">
                      <a16:colId xmlns:a16="http://schemas.microsoft.com/office/drawing/2014/main" val="2143910102"/>
                    </a:ext>
                  </a:extLst>
                </a:gridCol>
                <a:gridCol w="363075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839325">
                  <a:extLst>
                    <a:ext uri="{9D8B030D-6E8A-4147-A177-3AD203B41FA5}">
                      <a16:colId xmlns:a16="http://schemas.microsoft.com/office/drawing/2014/main" val="1353104844"/>
                    </a:ext>
                  </a:extLst>
                </a:gridCol>
                <a:gridCol w="1263187">
                  <a:extLst>
                    <a:ext uri="{9D8B030D-6E8A-4147-A177-3AD203B41FA5}">
                      <a16:colId xmlns:a16="http://schemas.microsoft.com/office/drawing/2014/main" val="2103438129"/>
                    </a:ext>
                  </a:extLst>
                </a:gridCol>
                <a:gridCol w="532937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1204450">
                  <a:extLst>
                    <a:ext uri="{9D8B030D-6E8A-4147-A177-3AD203B41FA5}">
                      <a16:colId xmlns:a16="http://schemas.microsoft.com/office/drawing/2014/main" val="379925440"/>
                    </a:ext>
                  </a:extLst>
                </a:gridCol>
                <a:gridCol w="1036175">
                  <a:extLst>
                    <a:ext uri="{9D8B030D-6E8A-4147-A177-3AD203B41FA5}">
                      <a16:colId xmlns:a16="http://schemas.microsoft.com/office/drawing/2014/main" val="1696618955"/>
                    </a:ext>
                  </a:extLst>
                </a:gridCol>
                <a:gridCol w="817100">
                  <a:extLst>
                    <a:ext uri="{9D8B030D-6E8A-4147-A177-3AD203B41FA5}">
                      <a16:colId xmlns:a16="http://schemas.microsoft.com/office/drawing/2014/main" val="1516929747"/>
                    </a:ext>
                  </a:extLst>
                </a:gridCol>
                <a:gridCol w="867900">
                  <a:extLst>
                    <a:ext uri="{9D8B030D-6E8A-4147-A177-3AD203B41FA5}">
                      <a16:colId xmlns:a16="http://schemas.microsoft.com/office/drawing/2014/main" val="2415492609"/>
                    </a:ext>
                  </a:extLst>
                </a:gridCol>
                <a:gridCol w="790113">
                  <a:extLst>
                    <a:ext uri="{9D8B030D-6E8A-4147-A177-3AD203B41FA5}">
                      <a16:colId xmlns:a16="http://schemas.microsoft.com/office/drawing/2014/main" val="2696889248"/>
                    </a:ext>
                  </a:extLst>
                </a:gridCol>
                <a:gridCol w="861550">
                  <a:extLst>
                    <a:ext uri="{9D8B030D-6E8A-4147-A177-3AD203B41FA5}">
                      <a16:colId xmlns:a16="http://schemas.microsoft.com/office/drawing/2014/main" val="2470283878"/>
                    </a:ext>
                  </a:extLst>
                </a:gridCol>
                <a:gridCol w="728200">
                  <a:extLst>
                    <a:ext uri="{9D8B030D-6E8A-4147-A177-3AD203B41FA5}">
                      <a16:colId xmlns:a16="http://schemas.microsoft.com/office/drawing/2014/main" val="225919767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□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순위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우선협상대상자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결과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업체명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규격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기술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평가점수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규격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기술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적격여부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견적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가격 적합 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예정가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낙찰하한율(%)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낙찰하한가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itchFamily="2" charset="-127"/>
                          <a:ea typeface="나눔고딕" pitchFamily="2" charset="-127"/>
                          <a:cs typeface="+mn-cs"/>
                        </a:rPr>
                        <a:t>□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우선협상대상자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탈락 처리 전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A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100,000,000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87.745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87,745,000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itchFamily="2" charset="-127"/>
                          <a:ea typeface="나눔고딕" pitchFamily="2" charset="-127"/>
                          <a:cs typeface="+mn-cs"/>
                        </a:rPr>
                        <a:t>□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탈락 처리 전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39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100,000,000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87.745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87,745,000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itchFamily="2" charset="-127"/>
                          <a:ea typeface="나눔고딕" pitchFamily="2" charset="-127"/>
                          <a:cs typeface="+mn-cs"/>
                        </a:rPr>
                        <a:t>□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탈락 처리 전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C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45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95,000,000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100,000,000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87.745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87,745,000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01994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itchFamily="2" charset="-127"/>
                          <a:ea typeface="나눔고딕" pitchFamily="2" charset="-127"/>
                          <a:cs typeface="+mn-cs"/>
                        </a:rPr>
                        <a:t>□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탈락 처리 전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D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예정가</a:t>
                      </a:r>
                      <a:r>
                        <a:rPr lang="ko-KR" altLang="en-US" sz="800" b="0" u="none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초과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100,000,000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87.745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87,745,000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itchFamily="2" charset="-127"/>
                          <a:ea typeface="나눔고딕" pitchFamily="2" charset="-127"/>
                          <a:cs typeface="+mn-cs"/>
                        </a:rPr>
                        <a:t>□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탈락 처리 전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E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낙찰하한가</a:t>
                      </a:r>
                      <a:r>
                        <a:rPr lang="ko-KR" altLang="en-US" sz="800" b="0" u="none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미만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100,000,000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87.745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87,745,000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4986613"/>
                  </a:ext>
                </a:extLst>
              </a:tr>
            </a:tbl>
          </a:graphicData>
        </a:graphic>
      </p:graphicFrame>
      <p:sp>
        <p:nvSpPr>
          <p:cNvPr id="64" name="타원 63">
            <a:extLst>
              <a:ext uri="{FF2B5EF4-FFF2-40B4-BE49-F238E27FC236}">
                <a16:creationId xmlns:a16="http://schemas.microsoft.com/office/drawing/2014/main" id="{68202733-C2A6-8589-8742-5A11C6F5B48C}"/>
              </a:ext>
            </a:extLst>
          </p:cNvPr>
          <p:cNvSpPr/>
          <p:nvPr/>
        </p:nvSpPr>
        <p:spPr>
          <a:xfrm>
            <a:off x="324146" y="2759515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" name="타원 65">
            <a:extLst>
              <a:ext uri="{FF2B5EF4-FFF2-40B4-BE49-F238E27FC236}">
                <a16:creationId xmlns:a16="http://schemas.microsoft.com/office/drawing/2014/main" id="{24E5D0A4-896E-471A-F5A5-0ED06AB420A3}"/>
              </a:ext>
            </a:extLst>
          </p:cNvPr>
          <p:cNvSpPr/>
          <p:nvPr/>
        </p:nvSpPr>
        <p:spPr>
          <a:xfrm>
            <a:off x="3331848" y="2759515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" name="타원 83">
            <a:extLst>
              <a:ext uri="{FF2B5EF4-FFF2-40B4-BE49-F238E27FC236}">
                <a16:creationId xmlns:a16="http://schemas.microsoft.com/office/drawing/2014/main" id="{355B922B-FB0E-4475-605C-386BE9726B51}"/>
              </a:ext>
            </a:extLst>
          </p:cNvPr>
          <p:cNvSpPr/>
          <p:nvPr/>
        </p:nvSpPr>
        <p:spPr>
          <a:xfrm>
            <a:off x="6278705" y="2759515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6040E052-D7A4-DA4A-51BE-278E597C31FB}"/>
              </a:ext>
            </a:extLst>
          </p:cNvPr>
          <p:cNvSpPr txBox="1"/>
          <p:nvPr/>
        </p:nvSpPr>
        <p:spPr>
          <a:xfrm>
            <a:off x="834661" y="6126971"/>
            <a:ext cx="184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87F6FC9-1478-F658-F798-A551180A785D}"/>
              </a:ext>
            </a:extLst>
          </p:cNvPr>
          <p:cNvSpPr/>
          <p:nvPr/>
        </p:nvSpPr>
        <p:spPr>
          <a:xfrm>
            <a:off x="2450398" y="4998736"/>
            <a:ext cx="1174293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우선협상대상자 선정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DCB41A4-D2AD-ECE5-73F7-0C666A2F5A22}"/>
              </a:ext>
            </a:extLst>
          </p:cNvPr>
          <p:cNvSpPr/>
          <p:nvPr/>
        </p:nvSpPr>
        <p:spPr>
          <a:xfrm>
            <a:off x="3684886" y="4998736"/>
            <a:ext cx="1158889" cy="28803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우선협상대상자 통보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1CEF990C-51BC-D673-23EF-5CCF090D1B88}"/>
              </a:ext>
            </a:extLst>
          </p:cNvPr>
          <p:cNvSpPr/>
          <p:nvPr/>
        </p:nvSpPr>
        <p:spPr>
          <a:xfrm>
            <a:off x="4903970" y="4998736"/>
            <a:ext cx="950048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9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6ED6D50A-9D9D-EEAD-A571-B30AC9EFF6DA}"/>
              </a:ext>
            </a:extLst>
          </p:cNvPr>
          <p:cNvSpPr/>
          <p:nvPr/>
        </p:nvSpPr>
        <p:spPr>
          <a:xfrm>
            <a:off x="5903439" y="4998736"/>
            <a:ext cx="934690" cy="28803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탈락 통보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57339AE9-1F15-75EF-BF7D-BC4912EF888F}"/>
              </a:ext>
            </a:extLst>
          </p:cNvPr>
          <p:cNvSpPr/>
          <p:nvPr/>
        </p:nvSpPr>
        <p:spPr>
          <a:xfrm>
            <a:off x="164468" y="5380871"/>
            <a:ext cx="4392488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시 유의사항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C01B0A2C-437F-8AA6-DD88-3696732C6D91}"/>
              </a:ext>
            </a:extLst>
          </p:cNvPr>
          <p:cNvSpPr/>
          <p:nvPr/>
        </p:nvSpPr>
        <p:spPr>
          <a:xfrm>
            <a:off x="164468" y="5653784"/>
            <a:ext cx="4392488" cy="18710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4683FDCB-9BD8-CA83-374D-B8E0FFEA98FE}"/>
              </a:ext>
            </a:extLst>
          </p:cNvPr>
          <p:cNvSpPr/>
          <p:nvPr/>
        </p:nvSpPr>
        <p:spPr>
          <a:xfrm>
            <a:off x="4286956" y="5380871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6F9C908A-C656-EF65-3EC5-6C198DBB3E4B}"/>
              </a:ext>
            </a:extLst>
          </p:cNvPr>
          <p:cNvSpPr/>
          <p:nvPr/>
        </p:nvSpPr>
        <p:spPr>
          <a:xfrm>
            <a:off x="272247" y="6067171"/>
            <a:ext cx="4176697" cy="938958"/>
          </a:xfrm>
          <a:prstGeom prst="rect">
            <a:avLst/>
          </a:prstGeom>
          <a:solidFill>
            <a:srgbClr val="FFFF00">
              <a:alpha val="20000"/>
            </a:srgb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56000" tIns="108000" bIns="108000" rtlCol="0" anchor="ctr" anchorCtr="0"/>
          <a:lstStyle/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낙찰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(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업체 선정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)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후에는 더 이상 변경할 수 없습니다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.</a:t>
            </a:r>
            <a:b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</a:b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또한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처리 후에는 협력업체에게 결과가 제공됩니다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b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해당 업체가 계약 가능한지의 여부를 반드시 확인하고 처리해주세요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.</a:t>
            </a:r>
          </a:p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defRPr/>
            </a:pPr>
            <a:r>
              <a: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낙찰</a:t>
            </a: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(</a:t>
            </a:r>
            <a:r>
              <a: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업체 선정</a:t>
            </a: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)</a:t>
            </a:r>
            <a:r>
              <a: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처리하시겠습니까</a:t>
            </a: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?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pic>
        <p:nvPicPr>
          <p:cNvPr id="45" name="Picture 8" descr="Announcement, hailer, loudspeaker, megaphone, speaker icon - Download on Iconfinder">
            <a:extLst>
              <a:ext uri="{FF2B5EF4-FFF2-40B4-BE49-F238E27FC236}">
                <a16:creationId xmlns:a16="http://schemas.microsoft.com/office/drawing/2014/main" id="{FF76F8D1-07E0-FEB4-1758-419F66C2D2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8369" y="6251430"/>
            <a:ext cx="570440" cy="5704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6" name="직사각형 45">
            <a:extLst>
              <a:ext uri="{FF2B5EF4-FFF2-40B4-BE49-F238E27FC236}">
                <a16:creationId xmlns:a16="http://schemas.microsoft.com/office/drawing/2014/main" id="{D6465ACF-4382-CDD8-F855-221D60429A63}"/>
              </a:ext>
            </a:extLst>
          </p:cNvPr>
          <p:cNvSpPr/>
          <p:nvPr/>
        </p:nvSpPr>
        <p:spPr>
          <a:xfrm>
            <a:off x="2681586" y="7090483"/>
            <a:ext cx="1023630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B0D33CF3-23D8-366E-3844-E99AD98908A4}"/>
              </a:ext>
            </a:extLst>
          </p:cNvPr>
          <p:cNvSpPr/>
          <p:nvPr/>
        </p:nvSpPr>
        <p:spPr>
          <a:xfrm>
            <a:off x="3764957" y="7090483"/>
            <a:ext cx="699418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C35C66E4-A947-FC75-4146-5B12D0C56E33}"/>
              </a:ext>
            </a:extLst>
          </p:cNvPr>
          <p:cNvSpPr/>
          <p:nvPr/>
        </p:nvSpPr>
        <p:spPr>
          <a:xfrm>
            <a:off x="295688" y="5750172"/>
            <a:ext cx="1760097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 유의사항</a:t>
            </a:r>
          </a:p>
        </p:txBody>
      </p:sp>
      <p:cxnSp>
        <p:nvCxnSpPr>
          <p:cNvPr id="49" name="연결선: 꺾임 48">
            <a:extLst>
              <a:ext uri="{FF2B5EF4-FFF2-40B4-BE49-F238E27FC236}">
                <a16:creationId xmlns:a16="http://schemas.microsoft.com/office/drawing/2014/main" id="{F9276D5E-3580-BF59-3D3B-6163D2E81330}"/>
              </a:ext>
            </a:extLst>
          </p:cNvPr>
          <p:cNvCxnSpPr>
            <a:cxnSpLocks/>
            <a:stCxn id="23" idx="2"/>
            <a:endCxn id="42" idx="3"/>
          </p:cNvCxnSpPr>
          <p:nvPr/>
        </p:nvCxnSpPr>
        <p:spPr>
          <a:xfrm rot="5400000">
            <a:off x="4316706" y="5527018"/>
            <a:ext cx="1302539" cy="822038"/>
          </a:xfrm>
          <a:prstGeom prst="bentConnector2">
            <a:avLst/>
          </a:prstGeom>
          <a:ln>
            <a:solidFill>
              <a:srgbClr val="C00000"/>
            </a:solidFill>
            <a:prstDash val="sysDash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E8436880-730E-822C-6398-8E660E40FA58}"/>
              </a:ext>
            </a:extLst>
          </p:cNvPr>
          <p:cNvSpPr/>
          <p:nvPr/>
        </p:nvSpPr>
        <p:spPr>
          <a:xfrm>
            <a:off x="6892602" y="4998735"/>
            <a:ext cx="934690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공고취소</a:t>
            </a:r>
          </a:p>
        </p:txBody>
      </p: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761B2463-6F31-5742-4146-A427A8335C4F}"/>
              </a:ext>
            </a:extLst>
          </p:cNvPr>
          <p:cNvGrpSpPr/>
          <p:nvPr/>
        </p:nvGrpSpPr>
        <p:grpSpPr>
          <a:xfrm>
            <a:off x="163503" y="1596176"/>
            <a:ext cx="7741824" cy="348918"/>
            <a:chOff x="163503" y="1596176"/>
            <a:chExt cx="7741824" cy="348918"/>
          </a:xfrm>
        </p:grpSpPr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50C9E91E-6A4C-BD80-08C3-AA56BBAE776C}"/>
                </a:ext>
              </a:extLst>
            </p:cNvPr>
            <p:cNvCxnSpPr>
              <a:cxnSpLocks/>
            </p:cNvCxnSpPr>
            <p:nvPr/>
          </p:nvCxnSpPr>
          <p:spPr>
            <a:xfrm>
              <a:off x="167468" y="1941219"/>
              <a:ext cx="7737859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1DA2DC43-060F-DE24-6807-6198E419A760}"/>
                </a:ext>
              </a:extLst>
            </p:cNvPr>
            <p:cNvSpPr/>
            <p:nvPr/>
          </p:nvSpPr>
          <p:spPr>
            <a:xfrm>
              <a:off x="163503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발주계획 정보</a:t>
              </a: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2CB31562-D0E0-95F6-7376-B4CAA9B3D105}"/>
                </a:ext>
              </a:extLst>
            </p:cNvPr>
            <p:cNvSpPr/>
            <p:nvPr/>
          </p:nvSpPr>
          <p:spPr>
            <a:xfrm>
              <a:off x="1848030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 참여현황</a:t>
              </a:r>
            </a:p>
          </p:txBody>
        </p:sp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B1815746-8544-E22D-350E-0118C8A8FCA9}"/>
                </a:ext>
              </a:extLst>
            </p:cNvPr>
            <p:cNvSpPr/>
            <p:nvPr/>
          </p:nvSpPr>
          <p:spPr>
            <a:xfrm>
              <a:off x="2681319" y="1652651"/>
              <a:ext cx="852685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심사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평가</a:t>
              </a: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4EFB21AF-B56E-4AE2-260C-4D5B15449E35}"/>
                </a:ext>
              </a:extLst>
            </p:cNvPr>
            <p:cNvSpPr/>
            <p:nvPr/>
          </p:nvSpPr>
          <p:spPr>
            <a:xfrm>
              <a:off x="1004560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정보</a:t>
              </a: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2BD68BEC-F830-15AC-40BB-FA711C45691D}"/>
                </a:ext>
              </a:extLst>
            </p:cNvPr>
            <p:cNvSpPr/>
            <p:nvPr/>
          </p:nvSpPr>
          <p:spPr>
            <a:xfrm>
              <a:off x="3532662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개찰</a:t>
              </a:r>
            </a:p>
          </p:txBody>
        </p: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5CE4C192-5E66-2B3C-0CE5-E6133B7C27B6}"/>
                </a:ext>
              </a:extLst>
            </p:cNvPr>
            <p:cNvSpPr/>
            <p:nvPr/>
          </p:nvSpPr>
          <p:spPr>
            <a:xfrm>
              <a:off x="4370291" y="1596176"/>
              <a:ext cx="839130" cy="348918"/>
            </a:xfrm>
            <a:prstGeom prst="rect">
              <a:avLst/>
            </a:prstGeom>
            <a:solidFill>
              <a:srgbClr val="00B050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낙찰</a:t>
              </a:r>
              <a:r>
                <a:rPr lang="en-US" altLang="ko-KR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업체 선정</a:t>
              </a:r>
              <a:r>
                <a:rPr lang="en-US" altLang="ko-KR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)</a:t>
              </a:r>
              <a:endPara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3B19AD72-65ED-01F7-A2D2-98B30CABF7B4}"/>
                </a:ext>
              </a:extLst>
            </p:cNvPr>
            <p:cNvSpPr/>
            <p:nvPr/>
          </p:nvSpPr>
          <p:spPr>
            <a:xfrm>
              <a:off x="5213654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수의시담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BA388DF8-F235-B179-FC74-975358BEDC02}"/>
                </a:ext>
              </a:extLst>
            </p:cNvPr>
            <p:cNvSpPr/>
            <p:nvPr/>
          </p:nvSpPr>
          <p:spPr>
            <a:xfrm>
              <a:off x="6051872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계약 요청</a:t>
              </a:r>
            </a:p>
          </p:txBody>
        </p:sp>
      </p:grp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6FAA4718-9234-A5DC-E6F2-E63DB4D3D3FE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1AC54A1C-3196-9143-C2EF-5A82EA8FD584}"/>
              </a:ext>
            </a:extLst>
          </p:cNvPr>
          <p:cNvSpPr txBox="1"/>
          <p:nvPr/>
        </p:nvSpPr>
        <p:spPr>
          <a:xfrm>
            <a:off x="5460724" y="5564191"/>
            <a:ext cx="2283254" cy="633571"/>
          </a:xfrm>
          <a:prstGeom prst="rect">
            <a:avLst/>
          </a:prstGeom>
          <a:solidFill>
            <a:srgbClr val="C00000">
              <a:alpha val="69804"/>
            </a:srgbClr>
          </a:solidFill>
        </p:spPr>
        <p:txBody>
          <a:bodyPr wrap="square">
            <a:spAutoFit/>
          </a:bodyPr>
          <a:lstStyle/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이 처리되면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</a:p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낙찰업체의 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입찰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견적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금액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이</a:t>
            </a:r>
            <a:b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최종 계약 금액’으로 데이터베이스에 저장되어야 함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98222009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404578-D04A-4531-98F3-4D964B0E0F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8A270BB8-345A-57DD-1F92-8793B9EFFBC8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57529FB4-0791-B0B1-43A7-FD2631F2B445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82A8656D-A1C2-8F71-3C80-D180E7EB20CA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9D630300-850D-BDE8-842E-DD13AEF2E956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6BB2EAD6-88CD-177C-75BE-C2C3EF53FC81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4EDE86D6-F715-05F1-DEFB-E47CDA4DC70D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398BD09-FAE7-861B-5411-A65DFC16F39F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7" name="Picture 1">
            <a:extLst>
              <a:ext uri="{FF2B5EF4-FFF2-40B4-BE49-F238E27FC236}">
                <a16:creationId xmlns:a16="http://schemas.microsoft.com/office/drawing/2014/main" id="{74A284B1-8D66-B3B5-49FD-E67279025B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AABE2242-F692-95E7-175F-DCD5EF8E7AE2}"/>
              </a:ext>
            </a:extLst>
          </p:cNvPr>
          <p:cNvSpPr txBox="1"/>
          <p:nvPr/>
        </p:nvSpPr>
        <p:spPr>
          <a:xfrm>
            <a:off x="749224" y="25608"/>
            <a:ext cx="404469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동시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F08E7FD-B466-7434-D0C7-8F92D656B02C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ECD7D03B-C77A-0C51-0ADC-476F989DE02D}"/>
              </a:ext>
            </a:extLst>
          </p:cNvPr>
          <p:cNvSpPr/>
          <p:nvPr/>
        </p:nvSpPr>
        <p:spPr>
          <a:xfrm>
            <a:off x="183739" y="2043596"/>
            <a:ext cx="7660288" cy="44502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개찰을 진행하지 않았습니다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 후에 낙찰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처리가 가능합니다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2D8F982-F0C1-8CE5-C489-D9EBD3AFA9F0}"/>
              </a:ext>
            </a:extLst>
          </p:cNvPr>
          <p:cNvSpPr txBox="1"/>
          <p:nvPr/>
        </p:nvSpPr>
        <p:spPr>
          <a:xfrm>
            <a:off x="8049344" y="584684"/>
            <a:ext cx="1856656" cy="5269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가격 동시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인 경우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순위 선정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방식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우선협상대상자 선정기준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총점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동점자가 발생했을 경우에는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동점자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처리기준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 따라 결정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 참여 시 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가격이 동시에 접수되었기 때문에 부적격도 본 화면에 표시될 수 있음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 시 입력한 가격점수를 보여줌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기술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적격여부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적합 여부 중 하나라도 정상적이지 않으면 부적격 처리됨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18D28FC1-F9AD-4F7A-D42A-0E3C432B2D16}"/>
              </a:ext>
            </a:extLst>
          </p:cNvPr>
          <p:cNvGraphicFramePr>
            <a:graphicFrameLocks noGrp="1"/>
          </p:cNvGraphicFramePr>
          <p:nvPr/>
        </p:nvGraphicFramePr>
        <p:xfrm>
          <a:off x="164466" y="817960"/>
          <a:ext cx="7732447" cy="675840"/>
        </p:xfrm>
        <a:graphic>
          <a:graphicData uri="http://schemas.openxmlformats.org/drawingml/2006/table">
            <a:tbl>
              <a:tblPr firstRow="1" bandRow="1"/>
              <a:tblGrid>
                <a:gridCol w="83838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763949">
                  <a:extLst>
                    <a:ext uri="{9D8B030D-6E8A-4147-A177-3AD203B41FA5}">
                      <a16:colId xmlns:a16="http://schemas.microsoft.com/office/drawing/2014/main" val="1731736782"/>
                    </a:ext>
                  </a:extLst>
                </a:gridCol>
                <a:gridCol w="616894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821542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289563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1002816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1092824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628938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677541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재공고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선정완료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48" name="TextBox 47">
            <a:extLst>
              <a:ext uri="{FF2B5EF4-FFF2-40B4-BE49-F238E27FC236}">
                <a16:creationId xmlns:a16="http://schemas.microsoft.com/office/drawing/2014/main" id="{056D9F03-D677-0396-0E2E-228B7BB21F91}"/>
              </a:ext>
            </a:extLst>
          </p:cNvPr>
          <p:cNvSpPr txBox="1"/>
          <p:nvPr/>
        </p:nvSpPr>
        <p:spPr>
          <a:xfrm>
            <a:off x="164468" y="2579912"/>
            <a:ext cx="3053340" cy="230832"/>
          </a:xfrm>
          <a:prstGeom prst="rect">
            <a:avLst/>
          </a:prstGeom>
          <a:noFill/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참여업체 </a:t>
            </a:r>
            <a:r>
              <a:rPr lang="en-US" altLang="ko-KR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총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건</a:t>
            </a:r>
          </a:p>
        </p:txBody>
      </p:sp>
      <p:graphicFrame>
        <p:nvGraphicFramePr>
          <p:cNvPr id="50" name="표 49">
            <a:extLst>
              <a:ext uri="{FF2B5EF4-FFF2-40B4-BE49-F238E27FC236}">
                <a16:creationId xmlns:a16="http://schemas.microsoft.com/office/drawing/2014/main" id="{3B187889-35E7-04FD-2913-DBB5F73B9867}"/>
              </a:ext>
            </a:extLst>
          </p:cNvPr>
          <p:cNvGraphicFramePr>
            <a:graphicFrameLocks noGrp="1"/>
          </p:cNvGraphicFramePr>
          <p:nvPr/>
        </p:nvGraphicFramePr>
        <p:xfrm>
          <a:off x="171332" y="2855369"/>
          <a:ext cx="8927312" cy="2027520"/>
        </p:xfrm>
        <a:graphic>
          <a:graphicData uri="http://schemas.openxmlformats.org/drawingml/2006/table">
            <a:tbl>
              <a:tblPr firstRow="1" bandRow="1"/>
              <a:tblGrid>
                <a:gridCol w="267825">
                  <a:extLst>
                    <a:ext uri="{9D8B030D-6E8A-4147-A177-3AD203B41FA5}">
                      <a16:colId xmlns:a16="http://schemas.microsoft.com/office/drawing/2014/main" val="2143910102"/>
                    </a:ext>
                  </a:extLst>
                </a:gridCol>
                <a:gridCol w="363075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839325">
                  <a:extLst>
                    <a:ext uri="{9D8B030D-6E8A-4147-A177-3AD203B41FA5}">
                      <a16:colId xmlns:a16="http://schemas.microsoft.com/office/drawing/2014/main" val="1353104844"/>
                    </a:ext>
                  </a:extLst>
                </a:gridCol>
                <a:gridCol w="1263187">
                  <a:extLst>
                    <a:ext uri="{9D8B030D-6E8A-4147-A177-3AD203B41FA5}">
                      <a16:colId xmlns:a16="http://schemas.microsoft.com/office/drawing/2014/main" val="2103438129"/>
                    </a:ext>
                  </a:extLst>
                </a:gridCol>
                <a:gridCol w="532937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1204450">
                  <a:extLst>
                    <a:ext uri="{9D8B030D-6E8A-4147-A177-3AD203B41FA5}">
                      <a16:colId xmlns:a16="http://schemas.microsoft.com/office/drawing/2014/main" val="9657335"/>
                    </a:ext>
                  </a:extLst>
                </a:gridCol>
                <a:gridCol w="1036175">
                  <a:extLst>
                    <a:ext uri="{9D8B030D-6E8A-4147-A177-3AD203B41FA5}">
                      <a16:colId xmlns:a16="http://schemas.microsoft.com/office/drawing/2014/main" val="419882300"/>
                    </a:ext>
                  </a:extLst>
                </a:gridCol>
                <a:gridCol w="817100">
                  <a:extLst>
                    <a:ext uri="{9D8B030D-6E8A-4147-A177-3AD203B41FA5}">
                      <a16:colId xmlns:a16="http://schemas.microsoft.com/office/drawing/2014/main" val="1516929747"/>
                    </a:ext>
                  </a:extLst>
                </a:gridCol>
                <a:gridCol w="801225">
                  <a:extLst>
                    <a:ext uri="{9D8B030D-6E8A-4147-A177-3AD203B41FA5}">
                      <a16:colId xmlns:a16="http://schemas.microsoft.com/office/drawing/2014/main" val="2415492609"/>
                    </a:ext>
                  </a:extLst>
                </a:gridCol>
                <a:gridCol w="790113">
                  <a:extLst>
                    <a:ext uri="{9D8B030D-6E8A-4147-A177-3AD203B41FA5}">
                      <a16:colId xmlns:a16="http://schemas.microsoft.com/office/drawing/2014/main" val="2696889248"/>
                    </a:ext>
                  </a:extLst>
                </a:gridCol>
                <a:gridCol w="553575">
                  <a:extLst>
                    <a:ext uri="{9D8B030D-6E8A-4147-A177-3AD203B41FA5}">
                      <a16:colId xmlns:a16="http://schemas.microsoft.com/office/drawing/2014/main" val="2470283878"/>
                    </a:ext>
                  </a:extLst>
                </a:gridCol>
                <a:gridCol w="458325">
                  <a:extLst>
                    <a:ext uri="{9D8B030D-6E8A-4147-A177-3AD203B41FA5}">
                      <a16:colId xmlns:a16="http://schemas.microsoft.com/office/drawing/2014/main" val="225919767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□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순위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우선협상대상자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결과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업체명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규격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기술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평가점수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규격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기술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적격여부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견적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가격 적합 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예정가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가격점수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총점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itchFamily="2" charset="-127"/>
                          <a:ea typeface="나눔고딕" pitchFamily="2" charset="-127"/>
                          <a:cs typeface="+mn-cs"/>
                        </a:rPr>
                        <a:t>□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우선협상대상자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탈락 처리 전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A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75.45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100,000,000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90.45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itchFamily="2" charset="-127"/>
                          <a:ea typeface="나눔고딕" pitchFamily="2" charset="-127"/>
                          <a:cs typeface="+mn-cs"/>
                        </a:rPr>
                        <a:t>□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-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탈락 처리 전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76.45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91,000,000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100,000,000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14.00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90.45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76736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itchFamily="2" charset="-127"/>
                          <a:ea typeface="나눔고딕" pitchFamily="2" charset="-127"/>
                          <a:cs typeface="+mn-cs"/>
                        </a:rPr>
                        <a:t>□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-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탈락 처리 전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78.45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95,000,000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100,000,000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89.45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51582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itchFamily="2" charset="-127"/>
                          <a:ea typeface="나눔고딕" pitchFamily="2" charset="-127"/>
                          <a:cs typeface="+mn-cs"/>
                        </a:rPr>
                        <a:t>□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탈락 처리 전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C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70.03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예정가</a:t>
                      </a:r>
                      <a:r>
                        <a:rPr lang="ko-KR" altLang="en-US" sz="800" b="0" u="none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초과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100,000,000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입력불가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부적격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itchFamily="2" charset="-127"/>
                          <a:ea typeface="나눔고딕" pitchFamily="2" charset="-127"/>
                          <a:cs typeface="+mn-cs"/>
                        </a:rPr>
                        <a:t>□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탈락 처리 전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D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62.28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부적격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95,000,000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100,000,000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입력불가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부적격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</a:tbl>
          </a:graphicData>
        </a:graphic>
      </p:graphicFrame>
      <p:sp>
        <p:nvSpPr>
          <p:cNvPr id="52" name="타원 51">
            <a:extLst>
              <a:ext uri="{FF2B5EF4-FFF2-40B4-BE49-F238E27FC236}">
                <a16:creationId xmlns:a16="http://schemas.microsoft.com/office/drawing/2014/main" id="{65912838-CA7A-5684-9844-BE35622DBE21}"/>
              </a:ext>
            </a:extLst>
          </p:cNvPr>
          <p:cNvSpPr/>
          <p:nvPr/>
        </p:nvSpPr>
        <p:spPr>
          <a:xfrm>
            <a:off x="326752" y="2740916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00A88060-D812-D6A7-1DDC-6D87545CA0F0}"/>
              </a:ext>
            </a:extLst>
          </p:cNvPr>
          <p:cNvSpPr/>
          <p:nvPr/>
        </p:nvSpPr>
        <p:spPr>
          <a:xfrm>
            <a:off x="4725527" y="4433032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9F9C0D25-4D48-7BBD-E6DB-BA8EBCA8FB39}"/>
              </a:ext>
            </a:extLst>
          </p:cNvPr>
          <p:cNvSpPr/>
          <p:nvPr/>
        </p:nvSpPr>
        <p:spPr>
          <a:xfrm>
            <a:off x="8517396" y="4116252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85EE8B3A-B9DC-00B3-69DC-CA86DAD8D69D}"/>
              </a:ext>
            </a:extLst>
          </p:cNvPr>
          <p:cNvSpPr/>
          <p:nvPr/>
        </p:nvSpPr>
        <p:spPr>
          <a:xfrm>
            <a:off x="7941332" y="2770951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B190A603-5C23-3A5E-7A3F-D914E4700258}"/>
              </a:ext>
            </a:extLst>
          </p:cNvPr>
          <p:cNvGrpSpPr/>
          <p:nvPr/>
        </p:nvGrpSpPr>
        <p:grpSpPr>
          <a:xfrm>
            <a:off x="163503" y="1596176"/>
            <a:ext cx="7741824" cy="348918"/>
            <a:chOff x="163503" y="1596176"/>
            <a:chExt cx="7741824" cy="348918"/>
          </a:xfrm>
        </p:grpSpPr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4FFD5E8-77BB-62FC-41F2-FE39D1677246}"/>
                </a:ext>
              </a:extLst>
            </p:cNvPr>
            <p:cNvCxnSpPr>
              <a:cxnSpLocks/>
            </p:cNvCxnSpPr>
            <p:nvPr/>
          </p:nvCxnSpPr>
          <p:spPr>
            <a:xfrm>
              <a:off x="167468" y="1941219"/>
              <a:ext cx="7737859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F862E627-4EE5-D40C-0B4E-E361F36090F0}"/>
                </a:ext>
              </a:extLst>
            </p:cNvPr>
            <p:cNvSpPr/>
            <p:nvPr/>
          </p:nvSpPr>
          <p:spPr>
            <a:xfrm>
              <a:off x="163503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발주계획 정보</a:t>
              </a: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5B1D584A-14EA-7871-4344-8C2AB8A8634E}"/>
                </a:ext>
              </a:extLst>
            </p:cNvPr>
            <p:cNvSpPr/>
            <p:nvPr/>
          </p:nvSpPr>
          <p:spPr>
            <a:xfrm>
              <a:off x="1848030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 참여현황</a:t>
              </a:r>
            </a:p>
          </p:txBody>
        </p: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145D86DD-DD4B-C270-20D6-80C1A1A1ADDE}"/>
                </a:ext>
              </a:extLst>
            </p:cNvPr>
            <p:cNvSpPr/>
            <p:nvPr/>
          </p:nvSpPr>
          <p:spPr>
            <a:xfrm>
              <a:off x="2681319" y="1652651"/>
              <a:ext cx="852685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심사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평가</a:t>
              </a:r>
            </a:p>
          </p:txBody>
        </p:sp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42010AC3-F021-2AA1-7687-AED3F0DBA8D7}"/>
                </a:ext>
              </a:extLst>
            </p:cNvPr>
            <p:cNvSpPr/>
            <p:nvPr/>
          </p:nvSpPr>
          <p:spPr>
            <a:xfrm>
              <a:off x="1004560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정보</a:t>
              </a:r>
            </a:p>
          </p:txBody>
        </p: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CEDCF0BC-F2A6-E577-929A-0F7781B50A75}"/>
                </a:ext>
              </a:extLst>
            </p:cNvPr>
            <p:cNvSpPr/>
            <p:nvPr/>
          </p:nvSpPr>
          <p:spPr>
            <a:xfrm>
              <a:off x="3532662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개찰</a:t>
              </a: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BF7CE2F9-E9B2-8BD4-5058-AE074E9EA8D1}"/>
                </a:ext>
              </a:extLst>
            </p:cNvPr>
            <p:cNvSpPr/>
            <p:nvPr/>
          </p:nvSpPr>
          <p:spPr>
            <a:xfrm>
              <a:off x="4370291" y="1596176"/>
              <a:ext cx="839130" cy="348918"/>
            </a:xfrm>
            <a:prstGeom prst="rect">
              <a:avLst/>
            </a:prstGeom>
            <a:solidFill>
              <a:srgbClr val="00B050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낙찰</a:t>
              </a:r>
              <a:r>
                <a:rPr lang="en-US" altLang="ko-KR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업체 선정</a:t>
              </a:r>
              <a:r>
                <a:rPr lang="en-US" altLang="ko-KR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)</a:t>
              </a:r>
              <a:endPara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1E62DD85-E091-377A-B32E-9A6A9BC178F4}"/>
                </a:ext>
              </a:extLst>
            </p:cNvPr>
            <p:cNvSpPr/>
            <p:nvPr/>
          </p:nvSpPr>
          <p:spPr>
            <a:xfrm>
              <a:off x="5213654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수의시담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4BB36D12-989E-A956-2074-D2A313549022}"/>
                </a:ext>
              </a:extLst>
            </p:cNvPr>
            <p:cNvSpPr/>
            <p:nvPr/>
          </p:nvSpPr>
          <p:spPr>
            <a:xfrm>
              <a:off x="6051872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계약 요청</a:t>
              </a:r>
            </a:p>
          </p:txBody>
        </p:sp>
      </p:grpSp>
      <p:sp>
        <p:nvSpPr>
          <p:cNvPr id="44" name="TextBox 43">
            <a:extLst>
              <a:ext uri="{FF2B5EF4-FFF2-40B4-BE49-F238E27FC236}">
                <a16:creationId xmlns:a16="http://schemas.microsoft.com/office/drawing/2014/main" id="{D8B9AC7B-8573-58E1-1D61-F8B3AAF0A04A}"/>
              </a:ext>
            </a:extLst>
          </p:cNvPr>
          <p:cNvSpPr txBox="1"/>
          <p:nvPr/>
        </p:nvSpPr>
        <p:spPr>
          <a:xfrm>
            <a:off x="834661" y="6109719"/>
            <a:ext cx="184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0FBD57FD-A51F-A6DD-10AA-75DF04EA2D77}"/>
              </a:ext>
            </a:extLst>
          </p:cNvPr>
          <p:cNvSpPr/>
          <p:nvPr/>
        </p:nvSpPr>
        <p:spPr>
          <a:xfrm>
            <a:off x="2450398" y="4981484"/>
            <a:ext cx="1174293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우선협상대상자 선정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D801EF7F-6E8F-42B4-8624-7BE332EEA4A2}"/>
              </a:ext>
            </a:extLst>
          </p:cNvPr>
          <p:cNvSpPr/>
          <p:nvPr/>
        </p:nvSpPr>
        <p:spPr>
          <a:xfrm>
            <a:off x="3684886" y="4981484"/>
            <a:ext cx="1158889" cy="28803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우선협상대상자 통보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97F92790-995F-29A5-F98D-2BDD8AF8F910}"/>
              </a:ext>
            </a:extLst>
          </p:cNvPr>
          <p:cNvSpPr/>
          <p:nvPr/>
        </p:nvSpPr>
        <p:spPr>
          <a:xfrm>
            <a:off x="4903970" y="4981484"/>
            <a:ext cx="950048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9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D2335A8F-0A09-E478-700D-5B565317F71D}"/>
              </a:ext>
            </a:extLst>
          </p:cNvPr>
          <p:cNvSpPr/>
          <p:nvPr/>
        </p:nvSpPr>
        <p:spPr>
          <a:xfrm>
            <a:off x="5903439" y="4981484"/>
            <a:ext cx="934690" cy="28803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탈락 통보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17C6ED6D-1C4D-57C2-A4C8-263CBD9E42C3}"/>
              </a:ext>
            </a:extLst>
          </p:cNvPr>
          <p:cNvSpPr/>
          <p:nvPr/>
        </p:nvSpPr>
        <p:spPr>
          <a:xfrm>
            <a:off x="164468" y="5363619"/>
            <a:ext cx="4392488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시 유의사항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A7AA3F8C-A098-882E-D1D3-29088D4E5F04}"/>
              </a:ext>
            </a:extLst>
          </p:cNvPr>
          <p:cNvSpPr/>
          <p:nvPr/>
        </p:nvSpPr>
        <p:spPr>
          <a:xfrm>
            <a:off x="164468" y="5636532"/>
            <a:ext cx="4392488" cy="18710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B2F544B5-83FD-B0A2-B0DD-AFDDFF1E0823}"/>
              </a:ext>
            </a:extLst>
          </p:cNvPr>
          <p:cNvSpPr/>
          <p:nvPr/>
        </p:nvSpPr>
        <p:spPr>
          <a:xfrm>
            <a:off x="4286956" y="5363619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D467EB9A-D383-BC00-86D8-A9154EB9D74B}"/>
              </a:ext>
            </a:extLst>
          </p:cNvPr>
          <p:cNvSpPr/>
          <p:nvPr/>
        </p:nvSpPr>
        <p:spPr>
          <a:xfrm>
            <a:off x="272247" y="6049919"/>
            <a:ext cx="4176697" cy="938958"/>
          </a:xfrm>
          <a:prstGeom prst="rect">
            <a:avLst/>
          </a:prstGeom>
          <a:solidFill>
            <a:srgbClr val="FFFF00">
              <a:alpha val="20000"/>
            </a:srgb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56000" tIns="108000" bIns="108000" rtlCol="0" anchor="ctr" anchorCtr="0"/>
          <a:lstStyle/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낙찰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(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업체 선정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)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후에는 더 이상 변경할 수 없습니다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.</a:t>
            </a:r>
            <a:b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</a:b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또한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처리 후에는 협력업체에게 결과가 제공됩니다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b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해당 업체가 계약 가능한지의 여부를 반드시 확인하고 처리해주세요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.</a:t>
            </a:r>
          </a:p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defRPr/>
            </a:pPr>
            <a:r>
              <a: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낙찰</a:t>
            </a: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(</a:t>
            </a:r>
            <a:r>
              <a: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업체 선정</a:t>
            </a: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)</a:t>
            </a:r>
            <a:r>
              <a: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처리하시겠습니까</a:t>
            </a: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?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pic>
        <p:nvPicPr>
          <p:cNvPr id="58" name="Picture 8" descr="Announcement, hailer, loudspeaker, megaphone, speaker icon - Download on Iconfinder">
            <a:extLst>
              <a:ext uri="{FF2B5EF4-FFF2-40B4-BE49-F238E27FC236}">
                <a16:creationId xmlns:a16="http://schemas.microsoft.com/office/drawing/2014/main" id="{6BC53620-4536-2199-E8E7-5BA4423AB5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8369" y="6234178"/>
            <a:ext cx="570440" cy="5704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9" name="직사각형 58">
            <a:extLst>
              <a:ext uri="{FF2B5EF4-FFF2-40B4-BE49-F238E27FC236}">
                <a16:creationId xmlns:a16="http://schemas.microsoft.com/office/drawing/2014/main" id="{BA5B1C69-7854-EEC8-9CF6-AB01EFC66CD3}"/>
              </a:ext>
            </a:extLst>
          </p:cNvPr>
          <p:cNvSpPr/>
          <p:nvPr/>
        </p:nvSpPr>
        <p:spPr>
          <a:xfrm>
            <a:off x="2681586" y="7073231"/>
            <a:ext cx="1023630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85B7211F-F251-C55F-3052-64C071552903}"/>
              </a:ext>
            </a:extLst>
          </p:cNvPr>
          <p:cNvSpPr/>
          <p:nvPr/>
        </p:nvSpPr>
        <p:spPr>
          <a:xfrm>
            <a:off x="3764957" y="7073231"/>
            <a:ext cx="699418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E3E543D-3461-E578-D108-0FDDB88BDAA6}"/>
              </a:ext>
            </a:extLst>
          </p:cNvPr>
          <p:cNvSpPr/>
          <p:nvPr/>
        </p:nvSpPr>
        <p:spPr>
          <a:xfrm>
            <a:off x="295688" y="5732920"/>
            <a:ext cx="1760097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 유의사항</a:t>
            </a:r>
          </a:p>
        </p:txBody>
      </p:sp>
      <p:cxnSp>
        <p:nvCxnSpPr>
          <p:cNvPr id="62" name="연결선: 꺾임 61">
            <a:extLst>
              <a:ext uri="{FF2B5EF4-FFF2-40B4-BE49-F238E27FC236}">
                <a16:creationId xmlns:a16="http://schemas.microsoft.com/office/drawing/2014/main" id="{DD193E0B-E375-F324-8788-7A6DEBA1563B}"/>
              </a:ext>
            </a:extLst>
          </p:cNvPr>
          <p:cNvCxnSpPr>
            <a:cxnSpLocks/>
            <a:stCxn id="47" idx="2"/>
            <a:endCxn id="53" idx="3"/>
          </p:cNvCxnSpPr>
          <p:nvPr/>
        </p:nvCxnSpPr>
        <p:spPr>
          <a:xfrm rot="5400000">
            <a:off x="4316706" y="5509766"/>
            <a:ext cx="1302539" cy="822038"/>
          </a:xfrm>
          <a:prstGeom prst="bentConnector2">
            <a:avLst/>
          </a:prstGeom>
          <a:ln>
            <a:solidFill>
              <a:srgbClr val="C00000"/>
            </a:solidFill>
            <a:prstDash val="sysDash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1F6F9964-3CFB-119D-698F-FA3A5E44DCB9}"/>
              </a:ext>
            </a:extLst>
          </p:cNvPr>
          <p:cNvSpPr/>
          <p:nvPr/>
        </p:nvSpPr>
        <p:spPr>
          <a:xfrm>
            <a:off x="6892602" y="4981483"/>
            <a:ext cx="934690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공고취소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AD8A2050-4D08-4489-783A-3CEE5739251B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8566893F-3CC4-03C5-731F-46236B8E99AB}"/>
              </a:ext>
            </a:extLst>
          </p:cNvPr>
          <p:cNvSpPr txBox="1"/>
          <p:nvPr/>
        </p:nvSpPr>
        <p:spPr>
          <a:xfrm>
            <a:off x="5460724" y="5537033"/>
            <a:ext cx="2283254" cy="633571"/>
          </a:xfrm>
          <a:prstGeom prst="rect">
            <a:avLst/>
          </a:prstGeom>
          <a:solidFill>
            <a:srgbClr val="C00000">
              <a:alpha val="69804"/>
            </a:srgbClr>
          </a:solidFill>
        </p:spPr>
        <p:txBody>
          <a:bodyPr wrap="square">
            <a:spAutoFit/>
          </a:bodyPr>
          <a:lstStyle/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이 처리되면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</a:p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낙찰업체의 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입찰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견적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금액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이</a:t>
            </a:r>
            <a:b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최종 계약 금액’으로 데이터베이스에 저장되어야 함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09758577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6E803A-8154-6344-A1D8-9A8B794B9E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15A44CA7-F85E-A13F-2603-9015A624F80C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4BA5E3F8-D364-C776-26AB-3CB32291FAC2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5E1A5A56-B72E-DC42-D01D-29740F3FEB95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96512E9B-FB63-6FD2-1AD4-9F881DF29F01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FF4F3008-E68C-F033-CC91-33FD84AB1D14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F05E209A-9587-B1E0-9B18-23CF2C8CBA41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4F93395B-D1CA-6FFF-90BC-DC600AE01EAE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7" name="Picture 1">
            <a:extLst>
              <a:ext uri="{FF2B5EF4-FFF2-40B4-BE49-F238E27FC236}">
                <a16:creationId xmlns:a16="http://schemas.microsoft.com/office/drawing/2014/main" id="{0BA14F5F-B03D-B277-4656-FC51BCE32D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5C6EB12A-F22B-D850-9BE1-C4864F42F892}"/>
              </a:ext>
            </a:extLst>
          </p:cNvPr>
          <p:cNvSpPr txBox="1"/>
          <p:nvPr/>
        </p:nvSpPr>
        <p:spPr>
          <a:xfrm>
            <a:off x="749224" y="25608"/>
            <a:ext cx="404469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분리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34B5DD6D-B179-0160-0CFE-89A87E589B89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B02A2A04-6048-7737-E5BD-CC0A6F487426}"/>
              </a:ext>
            </a:extLst>
          </p:cNvPr>
          <p:cNvSpPr/>
          <p:nvPr/>
        </p:nvSpPr>
        <p:spPr>
          <a:xfrm>
            <a:off x="183739" y="2043596"/>
            <a:ext cx="7713174" cy="44502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개찰을 진행하지 않았습니다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 후에 낙찰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처리가 가능합니다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8A97619-5110-3CA3-B0A8-BF5CE8853A1C}"/>
              </a:ext>
            </a:extLst>
          </p:cNvPr>
          <p:cNvSpPr txBox="1"/>
          <p:nvPr/>
        </p:nvSpPr>
        <p:spPr>
          <a:xfrm>
            <a:off x="8049344" y="532928"/>
            <a:ext cx="1856656" cy="19974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가격 분리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인 경우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순위 선정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방식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우선협상대상자 선정기준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예정가를 초과하지 않는 범위에서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투찰가격이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가장 낮은 업체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동일 가격으로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투찰한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경우 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기술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점수를 바탕으로 순위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우선협상대상자 선정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10F7425-9248-A058-F52C-2967BC04F71C}"/>
              </a:ext>
            </a:extLst>
          </p:cNvPr>
          <p:cNvGraphicFramePr>
            <a:graphicFrameLocks noGrp="1"/>
          </p:cNvGraphicFramePr>
          <p:nvPr/>
        </p:nvGraphicFramePr>
        <p:xfrm>
          <a:off x="164466" y="817960"/>
          <a:ext cx="7732447" cy="675840"/>
        </p:xfrm>
        <a:graphic>
          <a:graphicData uri="http://schemas.openxmlformats.org/drawingml/2006/table">
            <a:tbl>
              <a:tblPr firstRow="1" bandRow="1"/>
              <a:tblGrid>
                <a:gridCol w="83838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763949">
                  <a:extLst>
                    <a:ext uri="{9D8B030D-6E8A-4147-A177-3AD203B41FA5}">
                      <a16:colId xmlns:a16="http://schemas.microsoft.com/office/drawing/2014/main" val="1731736782"/>
                    </a:ext>
                  </a:extLst>
                </a:gridCol>
                <a:gridCol w="616894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821542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289563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1002816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1092824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628938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677541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재공고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선정완료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60" name="TextBox 59">
            <a:extLst>
              <a:ext uri="{FF2B5EF4-FFF2-40B4-BE49-F238E27FC236}">
                <a16:creationId xmlns:a16="http://schemas.microsoft.com/office/drawing/2014/main" id="{CE52CCFC-3936-E5D8-24F7-74F97D0E95A7}"/>
              </a:ext>
            </a:extLst>
          </p:cNvPr>
          <p:cNvSpPr txBox="1"/>
          <p:nvPr/>
        </p:nvSpPr>
        <p:spPr>
          <a:xfrm>
            <a:off x="164468" y="2579912"/>
            <a:ext cx="3053340" cy="230832"/>
          </a:xfrm>
          <a:prstGeom prst="rect">
            <a:avLst/>
          </a:prstGeom>
          <a:noFill/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참여업체 </a:t>
            </a:r>
            <a:r>
              <a:rPr lang="en-US" altLang="ko-KR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총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건</a:t>
            </a:r>
          </a:p>
        </p:txBody>
      </p:sp>
      <p:graphicFrame>
        <p:nvGraphicFramePr>
          <p:cNvPr id="62" name="표 61">
            <a:extLst>
              <a:ext uri="{FF2B5EF4-FFF2-40B4-BE49-F238E27FC236}">
                <a16:creationId xmlns:a16="http://schemas.microsoft.com/office/drawing/2014/main" id="{E280C6F7-590B-E9FF-D1CE-C0ACDB5649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9601285"/>
              </p:ext>
            </p:extLst>
          </p:nvPr>
        </p:nvGraphicFramePr>
        <p:xfrm>
          <a:off x="171332" y="2855369"/>
          <a:ext cx="7982087" cy="1689600"/>
        </p:xfrm>
        <a:graphic>
          <a:graphicData uri="http://schemas.openxmlformats.org/drawingml/2006/table">
            <a:tbl>
              <a:tblPr firstRow="1" bandRow="1"/>
              <a:tblGrid>
                <a:gridCol w="267825">
                  <a:extLst>
                    <a:ext uri="{9D8B030D-6E8A-4147-A177-3AD203B41FA5}">
                      <a16:colId xmlns:a16="http://schemas.microsoft.com/office/drawing/2014/main" val="2143910102"/>
                    </a:ext>
                  </a:extLst>
                </a:gridCol>
                <a:gridCol w="363075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839325">
                  <a:extLst>
                    <a:ext uri="{9D8B030D-6E8A-4147-A177-3AD203B41FA5}">
                      <a16:colId xmlns:a16="http://schemas.microsoft.com/office/drawing/2014/main" val="1353104844"/>
                    </a:ext>
                  </a:extLst>
                </a:gridCol>
                <a:gridCol w="1263187">
                  <a:extLst>
                    <a:ext uri="{9D8B030D-6E8A-4147-A177-3AD203B41FA5}">
                      <a16:colId xmlns:a16="http://schemas.microsoft.com/office/drawing/2014/main" val="2103438129"/>
                    </a:ext>
                  </a:extLst>
                </a:gridCol>
                <a:gridCol w="532937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1204450">
                  <a:extLst>
                    <a:ext uri="{9D8B030D-6E8A-4147-A177-3AD203B41FA5}">
                      <a16:colId xmlns:a16="http://schemas.microsoft.com/office/drawing/2014/main" val="379925440"/>
                    </a:ext>
                  </a:extLst>
                </a:gridCol>
                <a:gridCol w="1036175">
                  <a:extLst>
                    <a:ext uri="{9D8B030D-6E8A-4147-A177-3AD203B41FA5}">
                      <a16:colId xmlns:a16="http://schemas.microsoft.com/office/drawing/2014/main" val="1696618955"/>
                    </a:ext>
                  </a:extLst>
                </a:gridCol>
                <a:gridCol w="817100">
                  <a:extLst>
                    <a:ext uri="{9D8B030D-6E8A-4147-A177-3AD203B41FA5}">
                      <a16:colId xmlns:a16="http://schemas.microsoft.com/office/drawing/2014/main" val="1516929747"/>
                    </a:ext>
                  </a:extLst>
                </a:gridCol>
                <a:gridCol w="867900">
                  <a:extLst>
                    <a:ext uri="{9D8B030D-6E8A-4147-A177-3AD203B41FA5}">
                      <a16:colId xmlns:a16="http://schemas.microsoft.com/office/drawing/2014/main" val="2415492609"/>
                    </a:ext>
                  </a:extLst>
                </a:gridCol>
                <a:gridCol w="790113">
                  <a:extLst>
                    <a:ext uri="{9D8B030D-6E8A-4147-A177-3AD203B41FA5}">
                      <a16:colId xmlns:a16="http://schemas.microsoft.com/office/drawing/2014/main" val="269688924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□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순위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우선협상대상자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결과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업체명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규격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기술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평가점수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규격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기술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적격여부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견적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가격 적합 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예정가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itchFamily="2" charset="-127"/>
                          <a:ea typeface="나눔고딕" pitchFamily="2" charset="-127"/>
                          <a:cs typeface="+mn-cs"/>
                        </a:rPr>
                        <a:t>□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우선협상대상자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탈락 처리 전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A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100,000,000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itchFamily="2" charset="-127"/>
                          <a:ea typeface="나눔고딕" pitchFamily="2" charset="-127"/>
                          <a:cs typeface="+mn-cs"/>
                        </a:rPr>
                        <a:t>□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탈락 처리 전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39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100,000,000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itchFamily="2" charset="-127"/>
                          <a:ea typeface="나눔고딕" pitchFamily="2" charset="-127"/>
                          <a:cs typeface="+mn-cs"/>
                        </a:rPr>
                        <a:t>□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탈락 처리 전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C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45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95,000,000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100,000,000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01994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itchFamily="2" charset="-127"/>
                          <a:ea typeface="나눔고딕" pitchFamily="2" charset="-127"/>
                          <a:cs typeface="+mn-cs"/>
                        </a:rPr>
                        <a:t>□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탈락 처리 전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D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적격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예정가</a:t>
                      </a:r>
                      <a:r>
                        <a:rPr lang="ko-KR" altLang="en-US" sz="800" b="0" u="none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초과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100,000,000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</a:tbl>
          </a:graphicData>
        </a:graphic>
      </p:graphicFrame>
      <p:sp>
        <p:nvSpPr>
          <p:cNvPr id="64" name="타원 63">
            <a:extLst>
              <a:ext uri="{FF2B5EF4-FFF2-40B4-BE49-F238E27FC236}">
                <a16:creationId xmlns:a16="http://schemas.microsoft.com/office/drawing/2014/main" id="{6B0B1CEC-5321-7DA7-5757-E375F2F5BE92}"/>
              </a:ext>
            </a:extLst>
          </p:cNvPr>
          <p:cNvSpPr/>
          <p:nvPr/>
        </p:nvSpPr>
        <p:spPr>
          <a:xfrm>
            <a:off x="324146" y="2750889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6AA3D10D-FD22-785F-09FC-5FD4B4CD2037}"/>
              </a:ext>
            </a:extLst>
          </p:cNvPr>
          <p:cNvGrpSpPr/>
          <p:nvPr/>
        </p:nvGrpSpPr>
        <p:grpSpPr>
          <a:xfrm>
            <a:off x="163503" y="1596176"/>
            <a:ext cx="7741824" cy="348918"/>
            <a:chOff x="163503" y="1596176"/>
            <a:chExt cx="7741824" cy="348918"/>
          </a:xfrm>
        </p:grpSpPr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0E7A54DF-D066-0BFC-CA45-56D03BB81CBA}"/>
                </a:ext>
              </a:extLst>
            </p:cNvPr>
            <p:cNvCxnSpPr>
              <a:cxnSpLocks/>
            </p:cNvCxnSpPr>
            <p:nvPr/>
          </p:nvCxnSpPr>
          <p:spPr>
            <a:xfrm>
              <a:off x="167468" y="1941219"/>
              <a:ext cx="7737859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026C2F2E-348C-E52F-0882-73B29EB40495}"/>
                </a:ext>
              </a:extLst>
            </p:cNvPr>
            <p:cNvSpPr/>
            <p:nvPr/>
          </p:nvSpPr>
          <p:spPr>
            <a:xfrm>
              <a:off x="163503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발주계획 정보</a:t>
              </a: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F9EE261B-C199-1D95-0C0E-62F2A0354AD4}"/>
                </a:ext>
              </a:extLst>
            </p:cNvPr>
            <p:cNvSpPr/>
            <p:nvPr/>
          </p:nvSpPr>
          <p:spPr>
            <a:xfrm>
              <a:off x="1848030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 참여현황</a:t>
              </a: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1DFFF255-BF3E-0213-2BA7-E77A636452BD}"/>
                </a:ext>
              </a:extLst>
            </p:cNvPr>
            <p:cNvSpPr/>
            <p:nvPr/>
          </p:nvSpPr>
          <p:spPr>
            <a:xfrm>
              <a:off x="2681319" y="1652651"/>
              <a:ext cx="852685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심사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평가</a:t>
              </a:r>
            </a:p>
          </p:txBody>
        </p: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2BC9BED6-9519-0458-285C-AB8A4C7CA583}"/>
                </a:ext>
              </a:extLst>
            </p:cNvPr>
            <p:cNvSpPr/>
            <p:nvPr/>
          </p:nvSpPr>
          <p:spPr>
            <a:xfrm>
              <a:off x="1004560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정보</a:t>
              </a:r>
            </a:p>
          </p:txBody>
        </p: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BC8B92E-3572-F374-06AE-E92487DD8386}"/>
                </a:ext>
              </a:extLst>
            </p:cNvPr>
            <p:cNvSpPr/>
            <p:nvPr/>
          </p:nvSpPr>
          <p:spPr>
            <a:xfrm>
              <a:off x="3532662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개찰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E01B5625-F9BC-2074-B637-BBC5FD774A5F}"/>
                </a:ext>
              </a:extLst>
            </p:cNvPr>
            <p:cNvSpPr/>
            <p:nvPr/>
          </p:nvSpPr>
          <p:spPr>
            <a:xfrm>
              <a:off x="4370291" y="1596176"/>
              <a:ext cx="839130" cy="348918"/>
            </a:xfrm>
            <a:prstGeom prst="rect">
              <a:avLst/>
            </a:prstGeom>
            <a:solidFill>
              <a:srgbClr val="00B050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낙찰</a:t>
              </a:r>
              <a:r>
                <a:rPr lang="en-US" altLang="ko-KR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업체 선정</a:t>
              </a:r>
              <a:r>
                <a:rPr lang="en-US" altLang="ko-KR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)</a:t>
              </a:r>
              <a:endPara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CF1D4896-70FB-41FA-F59B-84F4F40C8379}"/>
                </a:ext>
              </a:extLst>
            </p:cNvPr>
            <p:cNvSpPr/>
            <p:nvPr/>
          </p:nvSpPr>
          <p:spPr>
            <a:xfrm>
              <a:off x="5213654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수의시담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B83FF56D-5256-FCFA-5C06-52D7292EED6F}"/>
                </a:ext>
              </a:extLst>
            </p:cNvPr>
            <p:cNvSpPr/>
            <p:nvPr/>
          </p:nvSpPr>
          <p:spPr>
            <a:xfrm>
              <a:off x="6051872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계약 요청</a:t>
              </a:r>
            </a:p>
          </p:txBody>
        </p:sp>
      </p:grpSp>
      <p:sp>
        <p:nvSpPr>
          <p:cNvPr id="41" name="TextBox 40">
            <a:extLst>
              <a:ext uri="{FF2B5EF4-FFF2-40B4-BE49-F238E27FC236}">
                <a16:creationId xmlns:a16="http://schemas.microsoft.com/office/drawing/2014/main" id="{AF1BB368-6C04-41D2-7AD2-BC7F259A28E5}"/>
              </a:ext>
            </a:extLst>
          </p:cNvPr>
          <p:cNvSpPr txBox="1"/>
          <p:nvPr/>
        </p:nvSpPr>
        <p:spPr>
          <a:xfrm>
            <a:off x="834661" y="5772746"/>
            <a:ext cx="184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E5D2F454-EB06-307C-7676-BFAAD9D54C7C}"/>
              </a:ext>
            </a:extLst>
          </p:cNvPr>
          <p:cNvSpPr/>
          <p:nvPr/>
        </p:nvSpPr>
        <p:spPr>
          <a:xfrm>
            <a:off x="2450398" y="4644511"/>
            <a:ext cx="1174293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우선협상대상자 선정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ABACC82D-A44A-A306-1C3C-2E6F00B50216}"/>
              </a:ext>
            </a:extLst>
          </p:cNvPr>
          <p:cNvSpPr/>
          <p:nvPr/>
        </p:nvSpPr>
        <p:spPr>
          <a:xfrm>
            <a:off x="3684886" y="4644511"/>
            <a:ext cx="1158889" cy="28803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우선협상대상자 통보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62234703-059A-5D09-2FF1-6E321843BB7A}"/>
              </a:ext>
            </a:extLst>
          </p:cNvPr>
          <p:cNvSpPr/>
          <p:nvPr/>
        </p:nvSpPr>
        <p:spPr>
          <a:xfrm>
            <a:off x="4903970" y="4644511"/>
            <a:ext cx="950048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9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09A8970F-5064-6CFC-F166-44CE65CED231}"/>
              </a:ext>
            </a:extLst>
          </p:cNvPr>
          <p:cNvSpPr/>
          <p:nvPr/>
        </p:nvSpPr>
        <p:spPr>
          <a:xfrm>
            <a:off x="5903439" y="4644511"/>
            <a:ext cx="934690" cy="28803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탈락 통보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E6CA4F64-C7B3-F9E6-5C79-13E9376C2B69}"/>
              </a:ext>
            </a:extLst>
          </p:cNvPr>
          <p:cNvSpPr/>
          <p:nvPr/>
        </p:nvSpPr>
        <p:spPr>
          <a:xfrm>
            <a:off x="164468" y="5026646"/>
            <a:ext cx="4392488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시 유의사항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C340B36D-5B7F-90FE-D98F-AF47831327A1}"/>
              </a:ext>
            </a:extLst>
          </p:cNvPr>
          <p:cNvSpPr/>
          <p:nvPr/>
        </p:nvSpPr>
        <p:spPr>
          <a:xfrm>
            <a:off x="164468" y="5299559"/>
            <a:ext cx="4392488" cy="18710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1DD5B04E-8350-456A-0FDF-A20BCC32DEB8}"/>
              </a:ext>
            </a:extLst>
          </p:cNvPr>
          <p:cNvSpPr/>
          <p:nvPr/>
        </p:nvSpPr>
        <p:spPr>
          <a:xfrm>
            <a:off x="4286956" y="5026646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1CC21F61-D515-6192-4197-15FB49B0E953}"/>
              </a:ext>
            </a:extLst>
          </p:cNvPr>
          <p:cNvSpPr/>
          <p:nvPr/>
        </p:nvSpPr>
        <p:spPr>
          <a:xfrm>
            <a:off x="272247" y="5712946"/>
            <a:ext cx="4176697" cy="938958"/>
          </a:xfrm>
          <a:prstGeom prst="rect">
            <a:avLst/>
          </a:prstGeom>
          <a:solidFill>
            <a:srgbClr val="FFFF00">
              <a:alpha val="20000"/>
            </a:srgb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56000" tIns="108000" bIns="108000" rtlCol="0" anchor="ctr" anchorCtr="0"/>
          <a:lstStyle/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낙찰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(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업체 선정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)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후에는 더 이상 변경할 수 없습니다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.</a:t>
            </a:r>
            <a:b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</a:b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또한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처리 후에는 협력업체에게 결과가 제공됩니다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b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해당 업체가 계약 가능한지의 여부를 반드시 확인하고 처리해주세요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.</a:t>
            </a:r>
          </a:p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defRPr/>
            </a:pPr>
            <a:r>
              <a: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낙찰</a:t>
            </a: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(</a:t>
            </a:r>
            <a:r>
              <a: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업체 선정</a:t>
            </a: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)</a:t>
            </a:r>
            <a:r>
              <a: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처리하시겠습니까</a:t>
            </a: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?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pic>
        <p:nvPicPr>
          <p:cNvPr id="57" name="Picture 8" descr="Announcement, hailer, loudspeaker, megaphone, speaker icon - Download on Iconfinder">
            <a:extLst>
              <a:ext uri="{FF2B5EF4-FFF2-40B4-BE49-F238E27FC236}">
                <a16:creationId xmlns:a16="http://schemas.microsoft.com/office/drawing/2014/main" id="{309D7F9F-706C-B949-11D9-7EA631F86A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8369" y="5897205"/>
            <a:ext cx="570440" cy="5704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8" name="직사각형 57">
            <a:extLst>
              <a:ext uri="{FF2B5EF4-FFF2-40B4-BE49-F238E27FC236}">
                <a16:creationId xmlns:a16="http://schemas.microsoft.com/office/drawing/2014/main" id="{A30811B8-2911-433E-D5A4-253AFAEB5122}"/>
              </a:ext>
            </a:extLst>
          </p:cNvPr>
          <p:cNvSpPr/>
          <p:nvPr/>
        </p:nvSpPr>
        <p:spPr>
          <a:xfrm>
            <a:off x="2681586" y="6736258"/>
            <a:ext cx="1023630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9F8BEC39-3BC5-554A-EF3E-F652E47325A2}"/>
              </a:ext>
            </a:extLst>
          </p:cNvPr>
          <p:cNvSpPr/>
          <p:nvPr/>
        </p:nvSpPr>
        <p:spPr>
          <a:xfrm>
            <a:off x="3764957" y="6736258"/>
            <a:ext cx="699418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7456399A-18B2-72C7-EDE9-80D75513F589}"/>
              </a:ext>
            </a:extLst>
          </p:cNvPr>
          <p:cNvSpPr/>
          <p:nvPr/>
        </p:nvSpPr>
        <p:spPr>
          <a:xfrm>
            <a:off x="295688" y="5395947"/>
            <a:ext cx="1760097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 유의사항</a:t>
            </a:r>
          </a:p>
        </p:txBody>
      </p:sp>
      <p:cxnSp>
        <p:nvCxnSpPr>
          <p:cNvPr id="63" name="연결선: 꺾임 62">
            <a:extLst>
              <a:ext uri="{FF2B5EF4-FFF2-40B4-BE49-F238E27FC236}">
                <a16:creationId xmlns:a16="http://schemas.microsoft.com/office/drawing/2014/main" id="{0F227E74-5654-EDE5-C004-82E71E012F9D}"/>
              </a:ext>
            </a:extLst>
          </p:cNvPr>
          <p:cNvCxnSpPr>
            <a:cxnSpLocks/>
            <a:stCxn id="47" idx="2"/>
            <a:endCxn id="53" idx="3"/>
          </p:cNvCxnSpPr>
          <p:nvPr/>
        </p:nvCxnSpPr>
        <p:spPr>
          <a:xfrm rot="5400000">
            <a:off x="4316706" y="5172793"/>
            <a:ext cx="1302539" cy="822038"/>
          </a:xfrm>
          <a:prstGeom prst="bentConnector2">
            <a:avLst/>
          </a:prstGeom>
          <a:ln>
            <a:solidFill>
              <a:srgbClr val="C00000"/>
            </a:solidFill>
            <a:prstDash val="sysDash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1773D71D-E4A4-AB4B-F72B-67F741D50A5A}"/>
              </a:ext>
            </a:extLst>
          </p:cNvPr>
          <p:cNvSpPr/>
          <p:nvPr/>
        </p:nvSpPr>
        <p:spPr>
          <a:xfrm>
            <a:off x="6892602" y="4644510"/>
            <a:ext cx="934690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공고취소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189A0BFB-1AC4-144A-E0EB-B84DA8C6AA2E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FF5AC1A9-F931-F333-CF10-F02DFC0B597F}"/>
              </a:ext>
            </a:extLst>
          </p:cNvPr>
          <p:cNvSpPr txBox="1"/>
          <p:nvPr/>
        </p:nvSpPr>
        <p:spPr>
          <a:xfrm>
            <a:off x="5460724" y="5303030"/>
            <a:ext cx="2283254" cy="633571"/>
          </a:xfrm>
          <a:prstGeom prst="rect">
            <a:avLst/>
          </a:prstGeom>
          <a:solidFill>
            <a:srgbClr val="C00000">
              <a:alpha val="69804"/>
            </a:srgbClr>
          </a:solidFill>
        </p:spPr>
        <p:txBody>
          <a:bodyPr wrap="square">
            <a:spAutoFit/>
          </a:bodyPr>
          <a:lstStyle/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이 처리되면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</a:p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낙찰업체의 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입찰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견적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금액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이</a:t>
            </a:r>
            <a:b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최종 계약 금액’으로 데이터베이스에 저장되어야 함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47754831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FFD271-8B4A-32BA-A53F-D0349D94D0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1F47F071-48C3-5F97-1C30-35C7BE59F77D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8649F7E4-5B09-43E6-927F-800FBB91826C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6CE5265F-1635-BA7B-C9B1-424FFA6E7193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16AEE2DF-2316-C3C2-A28B-D5D1A723C407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BC6C7011-694E-D333-37F9-48553EC4DD6F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C500A459-84D2-A2EC-6613-68ED2AF0512D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A6B33251-7422-13E4-DFD0-C106AF935FB5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7" name="Picture 1">
            <a:extLst>
              <a:ext uri="{FF2B5EF4-FFF2-40B4-BE49-F238E27FC236}">
                <a16:creationId xmlns:a16="http://schemas.microsoft.com/office/drawing/2014/main" id="{566A23B0-AA3A-5A01-388A-DDE3F7BF132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F8F005DA-B818-B455-6A00-F7FF2F2CE688}"/>
              </a:ext>
            </a:extLst>
          </p:cNvPr>
          <p:cNvSpPr txBox="1"/>
          <p:nvPr/>
        </p:nvSpPr>
        <p:spPr>
          <a:xfrm>
            <a:off x="749224" y="25608"/>
            <a:ext cx="307167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 &gt; 입찰공고 현황(상세정보) &gt; 낙찰(업체 선정) &gt; 적격심사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0CD41C3F-3E55-4F15-2D5E-ED8A9C36FFD1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99D05824-9E32-C9CC-778B-E957E70ECA2D}"/>
              </a:ext>
            </a:extLst>
          </p:cNvPr>
          <p:cNvSpPr/>
          <p:nvPr/>
        </p:nvSpPr>
        <p:spPr>
          <a:xfrm>
            <a:off x="183739" y="2043596"/>
            <a:ext cx="7660288" cy="44502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개찰을 진행하지 않았습니다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개찰 후에 낙찰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처리가 가능합니다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9D31913-F924-85E5-3BA4-6E8BFCC116F9}"/>
              </a:ext>
            </a:extLst>
          </p:cNvPr>
          <p:cNvSpPr txBox="1"/>
          <p:nvPr/>
        </p:nvSpPr>
        <p:spPr>
          <a:xfrm>
            <a:off x="8049344" y="584684"/>
            <a:ext cx="1856656" cy="16773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적격심사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인 경우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순위 선정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방식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우선협상대상자 선정기준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낙찰하한가를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초과하는 범위에서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투찰가격이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가장 낮은 업체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동일 가격으로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투찰한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경우 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기술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점수를 바탕으로 순위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우선협상대상자 선정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985ED15-A136-2563-34A3-3568F0979956}"/>
              </a:ext>
            </a:extLst>
          </p:cNvPr>
          <p:cNvGraphicFramePr>
            <a:graphicFrameLocks noGrp="1"/>
          </p:cNvGraphicFramePr>
          <p:nvPr/>
        </p:nvGraphicFramePr>
        <p:xfrm>
          <a:off x="164466" y="817960"/>
          <a:ext cx="7732447" cy="675840"/>
        </p:xfrm>
        <a:graphic>
          <a:graphicData uri="http://schemas.openxmlformats.org/drawingml/2006/table">
            <a:tbl>
              <a:tblPr firstRow="1" bandRow="1"/>
              <a:tblGrid>
                <a:gridCol w="83838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763949">
                  <a:extLst>
                    <a:ext uri="{9D8B030D-6E8A-4147-A177-3AD203B41FA5}">
                      <a16:colId xmlns:a16="http://schemas.microsoft.com/office/drawing/2014/main" val="1731736782"/>
                    </a:ext>
                  </a:extLst>
                </a:gridCol>
                <a:gridCol w="616894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821542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289563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1002816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1092824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628938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677541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재공고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선정완료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50" name="TextBox 49">
            <a:extLst>
              <a:ext uri="{FF2B5EF4-FFF2-40B4-BE49-F238E27FC236}">
                <a16:creationId xmlns:a16="http://schemas.microsoft.com/office/drawing/2014/main" id="{A6D6D29E-93CA-725D-89F6-C3A14B92BC09}"/>
              </a:ext>
            </a:extLst>
          </p:cNvPr>
          <p:cNvSpPr txBox="1"/>
          <p:nvPr/>
        </p:nvSpPr>
        <p:spPr>
          <a:xfrm>
            <a:off x="164468" y="2579912"/>
            <a:ext cx="3053340" cy="230832"/>
          </a:xfrm>
          <a:prstGeom prst="rect">
            <a:avLst/>
          </a:prstGeom>
          <a:noFill/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참여업체 </a:t>
            </a:r>
            <a:r>
              <a:rPr lang="en-US" altLang="ko-KR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총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건</a:t>
            </a:r>
          </a:p>
        </p:txBody>
      </p:sp>
      <p:graphicFrame>
        <p:nvGraphicFramePr>
          <p:cNvPr id="52" name="표 51">
            <a:extLst>
              <a:ext uri="{FF2B5EF4-FFF2-40B4-BE49-F238E27FC236}">
                <a16:creationId xmlns:a16="http://schemas.microsoft.com/office/drawing/2014/main" id="{36E9B2EC-9002-A3C9-A48F-5A2509AFA331}"/>
              </a:ext>
            </a:extLst>
          </p:cNvPr>
          <p:cNvGraphicFramePr>
            <a:graphicFrameLocks noGrp="1"/>
          </p:cNvGraphicFramePr>
          <p:nvPr/>
        </p:nvGraphicFramePr>
        <p:xfrm>
          <a:off x="171332" y="2855369"/>
          <a:ext cx="9571837" cy="2027520"/>
        </p:xfrm>
        <a:graphic>
          <a:graphicData uri="http://schemas.openxmlformats.org/drawingml/2006/table">
            <a:tbl>
              <a:tblPr firstRow="1" bandRow="1"/>
              <a:tblGrid>
                <a:gridCol w="267825">
                  <a:extLst>
                    <a:ext uri="{9D8B030D-6E8A-4147-A177-3AD203B41FA5}">
                      <a16:colId xmlns:a16="http://schemas.microsoft.com/office/drawing/2014/main" val="2143910102"/>
                    </a:ext>
                  </a:extLst>
                </a:gridCol>
                <a:gridCol w="363075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839325">
                  <a:extLst>
                    <a:ext uri="{9D8B030D-6E8A-4147-A177-3AD203B41FA5}">
                      <a16:colId xmlns:a16="http://schemas.microsoft.com/office/drawing/2014/main" val="1353104844"/>
                    </a:ext>
                  </a:extLst>
                </a:gridCol>
                <a:gridCol w="1263187">
                  <a:extLst>
                    <a:ext uri="{9D8B030D-6E8A-4147-A177-3AD203B41FA5}">
                      <a16:colId xmlns:a16="http://schemas.microsoft.com/office/drawing/2014/main" val="2103438129"/>
                    </a:ext>
                  </a:extLst>
                </a:gridCol>
                <a:gridCol w="532937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1204450">
                  <a:extLst>
                    <a:ext uri="{9D8B030D-6E8A-4147-A177-3AD203B41FA5}">
                      <a16:colId xmlns:a16="http://schemas.microsoft.com/office/drawing/2014/main" val="3715615107"/>
                    </a:ext>
                  </a:extLst>
                </a:gridCol>
                <a:gridCol w="1036175">
                  <a:extLst>
                    <a:ext uri="{9D8B030D-6E8A-4147-A177-3AD203B41FA5}">
                      <a16:colId xmlns:a16="http://schemas.microsoft.com/office/drawing/2014/main" val="419882300"/>
                    </a:ext>
                  </a:extLst>
                </a:gridCol>
                <a:gridCol w="817100">
                  <a:extLst>
                    <a:ext uri="{9D8B030D-6E8A-4147-A177-3AD203B41FA5}">
                      <a16:colId xmlns:a16="http://schemas.microsoft.com/office/drawing/2014/main" val="1516929747"/>
                    </a:ext>
                  </a:extLst>
                </a:gridCol>
                <a:gridCol w="867900">
                  <a:extLst>
                    <a:ext uri="{9D8B030D-6E8A-4147-A177-3AD203B41FA5}">
                      <a16:colId xmlns:a16="http://schemas.microsoft.com/office/drawing/2014/main" val="2415492609"/>
                    </a:ext>
                  </a:extLst>
                </a:gridCol>
                <a:gridCol w="790113">
                  <a:extLst>
                    <a:ext uri="{9D8B030D-6E8A-4147-A177-3AD203B41FA5}">
                      <a16:colId xmlns:a16="http://schemas.microsoft.com/office/drawing/2014/main" val="2696889248"/>
                    </a:ext>
                  </a:extLst>
                </a:gridCol>
                <a:gridCol w="861550">
                  <a:extLst>
                    <a:ext uri="{9D8B030D-6E8A-4147-A177-3AD203B41FA5}">
                      <a16:colId xmlns:a16="http://schemas.microsoft.com/office/drawing/2014/main" val="2470283878"/>
                    </a:ext>
                  </a:extLst>
                </a:gridCol>
                <a:gridCol w="728200">
                  <a:extLst>
                    <a:ext uri="{9D8B030D-6E8A-4147-A177-3AD203B41FA5}">
                      <a16:colId xmlns:a16="http://schemas.microsoft.com/office/drawing/2014/main" val="225919767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□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순위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우선협상대상자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결과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업체명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규격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기술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평가점수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규격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기술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적격여부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견적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가격 적합 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예정가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낙찰하한율(%)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낙찰하한가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itchFamily="2" charset="-127"/>
                          <a:ea typeface="나눔고딕" pitchFamily="2" charset="-127"/>
                          <a:cs typeface="+mn-cs"/>
                        </a:rPr>
                        <a:t>□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우선협상대상자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탈락 처리 전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A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100,000,000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87.745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87,745,000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itchFamily="2" charset="-127"/>
                          <a:ea typeface="나눔고딕" pitchFamily="2" charset="-127"/>
                          <a:cs typeface="+mn-cs"/>
                        </a:rPr>
                        <a:t>□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-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탈락 처리 전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탈락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39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100,000,000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87.745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87,745,000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26093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itchFamily="2" charset="-127"/>
                          <a:ea typeface="나눔고딕" pitchFamily="2" charset="-127"/>
                          <a:cs typeface="+mn-cs"/>
                        </a:rPr>
                        <a:t>□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탈락 처리 전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C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39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95,000,000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100,000,000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87.745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87,745,000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itchFamily="2" charset="-127"/>
                          <a:ea typeface="나눔고딕" pitchFamily="2" charset="-127"/>
                          <a:cs typeface="+mn-cs"/>
                        </a:rPr>
                        <a:t>□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탈락 처리 전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D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45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예정가</a:t>
                      </a:r>
                      <a:r>
                        <a:rPr lang="ko-KR" altLang="en-US" sz="800" b="0" u="none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초과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100,000,000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87.745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87,745,000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itchFamily="2" charset="-127"/>
                          <a:ea typeface="나눔고딕" pitchFamily="2" charset="-127"/>
                          <a:cs typeface="+mn-cs"/>
                        </a:rPr>
                        <a:t>□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탈락 처리 전 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|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E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낙찰하한가</a:t>
                      </a:r>
                      <a:r>
                        <a:rPr lang="ko-KR" altLang="en-US" sz="800" b="0" u="none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미만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100,000,000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87.745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87,745,000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4986613"/>
                  </a:ext>
                </a:extLst>
              </a:tr>
            </a:tbl>
          </a:graphicData>
        </a:graphic>
      </p:graphicFrame>
      <p:sp>
        <p:nvSpPr>
          <p:cNvPr id="54" name="타원 53">
            <a:extLst>
              <a:ext uri="{FF2B5EF4-FFF2-40B4-BE49-F238E27FC236}">
                <a16:creationId xmlns:a16="http://schemas.microsoft.com/office/drawing/2014/main" id="{96D7875F-F161-E4C6-952C-F83EA2AB3A2F}"/>
              </a:ext>
            </a:extLst>
          </p:cNvPr>
          <p:cNvSpPr/>
          <p:nvPr/>
        </p:nvSpPr>
        <p:spPr>
          <a:xfrm>
            <a:off x="324146" y="2750889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359ED746-0F3C-1332-3AEA-1A175CAF9228}"/>
              </a:ext>
            </a:extLst>
          </p:cNvPr>
          <p:cNvGrpSpPr/>
          <p:nvPr/>
        </p:nvGrpSpPr>
        <p:grpSpPr>
          <a:xfrm>
            <a:off x="163503" y="1596176"/>
            <a:ext cx="7741824" cy="348918"/>
            <a:chOff x="163503" y="1596176"/>
            <a:chExt cx="7741824" cy="348918"/>
          </a:xfrm>
        </p:grpSpPr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EBDC87A2-1595-9BD8-CC99-03DE09C38049}"/>
                </a:ext>
              </a:extLst>
            </p:cNvPr>
            <p:cNvCxnSpPr>
              <a:cxnSpLocks/>
            </p:cNvCxnSpPr>
            <p:nvPr/>
          </p:nvCxnSpPr>
          <p:spPr>
            <a:xfrm>
              <a:off x="167468" y="1941219"/>
              <a:ext cx="7737859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69318910-60C5-6F84-E52F-915B2C3EF01A}"/>
                </a:ext>
              </a:extLst>
            </p:cNvPr>
            <p:cNvSpPr/>
            <p:nvPr/>
          </p:nvSpPr>
          <p:spPr>
            <a:xfrm>
              <a:off x="163503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발주계획 정보</a:t>
              </a: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C490B33F-D135-07AE-8C57-845AAD510AA0}"/>
                </a:ext>
              </a:extLst>
            </p:cNvPr>
            <p:cNvSpPr/>
            <p:nvPr/>
          </p:nvSpPr>
          <p:spPr>
            <a:xfrm>
              <a:off x="1848030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 참여현황</a:t>
              </a: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B79A2A50-45FE-C137-BD58-1F9D685B4162}"/>
                </a:ext>
              </a:extLst>
            </p:cNvPr>
            <p:cNvSpPr/>
            <p:nvPr/>
          </p:nvSpPr>
          <p:spPr>
            <a:xfrm>
              <a:off x="2681319" y="1652651"/>
              <a:ext cx="852685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심사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평가</a:t>
              </a:r>
            </a:p>
          </p:txBody>
        </p: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0C9C3A8-09F9-6C3B-892A-EA7F4AAC4761}"/>
                </a:ext>
              </a:extLst>
            </p:cNvPr>
            <p:cNvSpPr/>
            <p:nvPr/>
          </p:nvSpPr>
          <p:spPr>
            <a:xfrm>
              <a:off x="1004560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정보</a:t>
              </a:r>
            </a:p>
          </p:txBody>
        </p:sp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2ED77A49-CB6F-E6C7-7F07-4EF346AC0490}"/>
                </a:ext>
              </a:extLst>
            </p:cNvPr>
            <p:cNvSpPr/>
            <p:nvPr/>
          </p:nvSpPr>
          <p:spPr>
            <a:xfrm>
              <a:off x="3532662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개찰</a:t>
              </a:r>
            </a:p>
          </p:txBody>
        </p: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48E8EE35-F184-8583-2CCE-145C15958BC0}"/>
                </a:ext>
              </a:extLst>
            </p:cNvPr>
            <p:cNvSpPr/>
            <p:nvPr/>
          </p:nvSpPr>
          <p:spPr>
            <a:xfrm>
              <a:off x="4370291" y="1596176"/>
              <a:ext cx="839130" cy="348918"/>
            </a:xfrm>
            <a:prstGeom prst="rect">
              <a:avLst/>
            </a:prstGeom>
            <a:solidFill>
              <a:srgbClr val="00B050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낙찰</a:t>
              </a:r>
              <a:r>
                <a:rPr lang="en-US" altLang="ko-KR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업체 선정</a:t>
              </a:r>
              <a:r>
                <a:rPr lang="en-US" altLang="ko-KR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)</a:t>
              </a:r>
              <a:endPara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B57A5F33-9B99-311F-A26A-C61DE6E9961D}"/>
                </a:ext>
              </a:extLst>
            </p:cNvPr>
            <p:cNvSpPr/>
            <p:nvPr/>
          </p:nvSpPr>
          <p:spPr>
            <a:xfrm>
              <a:off x="5213654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수의시담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862349C1-B20B-246C-6C4A-4CBC3B8D7854}"/>
                </a:ext>
              </a:extLst>
            </p:cNvPr>
            <p:cNvSpPr/>
            <p:nvPr/>
          </p:nvSpPr>
          <p:spPr>
            <a:xfrm>
              <a:off x="6051872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계약 요청</a:t>
              </a:r>
            </a:p>
          </p:txBody>
        </p:sp>
      </p:grpSp>
      <p:sp>
        <p:nvSpPr>
          <p:cNvPr id="43" name="TextBox 42">
            <a:extLst>
              <a:ext uri="{FF2B5EF4-FFF2-40B4-BE49-F238E27FC236}">
                <a16:creationId xmlns:a16="http://schemas.microsoft.com/office/drawing/2014/main" id="{D967A432-EDB9-BD13-CD73-500B406C041C}"/>
              </a:ext>
            </a:extLst>
          </p:cNvPr>
          <p:cNvSpPr txBox="1"/>
          <p:nvPr/>
        </p:nvSpPr>
        <p:spPr>
          <a:xfrm>
            <a:off x="834661" y="6108219"/>
            <a:ext cx="184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7D383A3A-1812-20FA-8D9D-65E5DA3BD326}"/>
              </a:ext>
            </a:extLst>
          </p:cNvPr>
          <p:cNvSpPr/>
          <p:nvPr/>
        </p:nvSpPr>
        <p:spPr>
          <a:xfrm>
            <a:off x="2450398" y="4979984"/>
            <a:ext cx="1174293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우선협상대상자 선정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8E3145F9-7A78-B64C-99A4-A10801A3510C}"/>
              </a:ext>
            </a:extLst>
          </p:cNvPr>
          <p:cNvSpPr/>
          <p:nvPr/>
        </p:nvSpPr>
        <p:spPr>
          <a:xfrm>
            <a:off x="3684886" y="4979984"/>
            <a:ext cx="1158889" cy="28803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우선협상대상자 통보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71ABE69C-33E5-FEA7-695F-11C50FCE6E7A}"/>
              </a:ext>
            </a:extLst>
          </p:cNvPr>
          <p:cNvSpPr/>
          <p:nvPr/>
        </p:nvSpPr>
        <p:spPr>
          <a:xfrm>
            <a:off x="4903970" y="4979984"/>
            <a:ext cx="950048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9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7F1A17FC-3DFA-D146-75DB-4331E404B155}"/>
              </a:ext>
            </a:extLst>
          </p:cNvPr>
          <p:cNvSpPr/>
          <p:nvPr/>
        </p:nvSpPr>
        <p:spPr>
          <a:xfrm>
            <a:off x="5903439" y="4979984"/>
            <a:ext cx="934690" cy="28803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탈락 통보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A07A667D-EF6E-60AA-0144-C4B9F9345473}"/>
              </a:ext>
            </a:extLst>
          </p:cNvPr>
          <p:cNvSpPr/>
          <p:nvPr/>
        </p:nvSpPr>
        <p:spPr>
          <a:xfrm>
            <a:off x="164468" y="5362119"/>
            <a:ext cx="4392488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시 유의사항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97AEBFAF-440E-8838-1D85-C3E926203D7B}"/>
              </a:ext>
            </a:extLst>
          </p:cNvPr>
          <p:cNvSpPr/>
          <p:nvPr/>
        </p:nvSpPr>
        <p:spPr>
          <a:xfrm>
            <a:off x="164468" y="5635032"/>
            <a:ext cx="4392488" cy="18710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2AF028FA-DDD4-2BEE-5CEE-45FAD0AF60EA}"/>
              </a:ext>
            </a:extLst>
          </p:cNvPr>
          <p:cNvSpPr/>
          <p:nvPr/>
        </p:nvSpPr>
        <p:spPr>
          <a:xfrm>
            <a:off x="4286956" y="5362119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96517032-D9FF-7251-FAE7-2E3A1B79D9DA}"/>
              </a:ext>
            </a:extLst>
          </p:cNvPr>
          <p:cNvSpPr/>
          <p:nvPr/>
        </p:nvSpPr>
        <p:spPr>
          <a:xfrm>
            <a:off x="272247" y="6048419"/>
            <a:ext cx="4176697" cy="938958"/>
          </a:xfrm>
          <a:prstGeom prst="rect">
            <a:avLst/>
          </a:prstGeom>
          <a:solidFill>
            <a:srgbClr val="FFFF00">
              <a:alpha val="20000"/>
            </a:srgb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56000" tIns="108000" bIns="108000" rtlCol="0" anchor="ctr" anchorCtr="0"/>
          <a:lstStyle/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낙찰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(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업체 선정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)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후에는 더 이상 변경할 수 없습니다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.</a:t>
            </a:r>
            <a:b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</a:b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또한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처리 후에는 협력업체에게 결과가 제공됩니다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b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해당 업체가 계약 가능한지의 여부를 반드시 확인하고 처리해주세요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.</a:t>
            </a:r>
          </a:p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defRPr/>
            </a:pPr>
            <a:r>
              <a: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낙찰</a:t>
            </a: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(</a:t>
            </a:r>
            <a:r>
              <a: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업체 선정</a:t>
            </a: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)</a:t>
            </a:r>
            <a:r>
              <a: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처리하시겠습니까</a:t>
            </a: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?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pic>
        <p:nvPicPr>
          <p:cNvPr id="55" name="Picture 8" descr="Announcement, hailer, loudspeaker, megaphone, speaker icon - Download on Iconfinder">
            <a:extLst>
              <a:ext uri="{FF2B5EF4-FFF2-40B4-BE49-F238E27FC236}">
                <a16:creationId xmlns:a16="http://schemas.microsoft.com/office/drawing/2014/main" id="{4A10DD90-AB4C-1C9E-4543-A8EA8F9CF1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8369" y="6232678"/>
            <a:ext cx="570440" cy="5704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6" name="직사각형 55">
            <a:extLst>
              <a:ext uri="{FF2B5EF4-FFF2-40B4-BE49-F238E27FC236}">
                <a16:creationId xmlns:a16="http://schemas.microsoft.com/office/drawing/2014/main" id="{635578C3-B7A8-1965-79A1-8271F31E5A9D}"/>
              </a:ext>
            </a:extLst>
          </p:cNvPr>
          <p:cNvSpPr/>
          <p:nvPr/>
        </p:nvSpPr>
        <p:spPr>
          <a:xfrm>
            <a:off x="2681586" y="7071731"/>
            <a:ext cx="1023630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F2D86B19-C9B8-CDA8-BA2A-638A5360F090}"/>
              </a:ext>
            </a:extLst>
          </p:cNvPr>
          <p:cNvSpPr/>
          <p:nvPr/>
        </p:nvSpPr>
        <p:spPr>
          <a:xfrm>
            <a:off x="3764957" y="7071731"/>
            <a:ext cx="699418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DD0AFE2E-1F71-A772-2F95-8C545967D87F}"/>
              </a:ext>
            </a:extLst>
          </p:cNvPr>
          <p:cNvSpPr/>
          <p:nvPr/>
        </p:nvSpPr>
        <p:spPr>
          <a:xfrm>
            <a:off x="295688" y="5731420"/>
            <a:ext cx="1760097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 유의사항</a:t>
            </a:r>
          </a:p>
        </p:txBody>
      </p:sp>
      <p:cxnSp>
        <p:nvCxnSpPr>
          <p:cNvPr id="59" name="연결선: 꺾임 58">
            <a:extLst>
              <a:ext uri="{FF2B5EF4-FFF2-40B4-BE49-F238E27FC236}">
                <a16:creationId xmlns:a16="http://schemas.microsoft.com/office/drawing/2014/main" id="{23ABB24F-B9A9-4AF6-4BC5-474F9448E309}"/>
              </a:ext>
            </a:extLst>
          </p:cNvPr>
          <p:cNvCxnSpPr>
            <a:cxnSpLocks/>
            <a:stCxn id="46" idx="2"/>
            <a:endCxn id="49" idx="3"/>
          </p:cNvCxnSpPr>
          <p:nvPr/>
        </p:nvCxnSpPr>
        <p:spPr>
          <a:xfrm rot="5400000">
            <a:off x="4316706" y="5508266"/>
            <a:ext cx="1302539" cy="822038"/>
          </a:xfrm>
          <a:prstGeom prst="bentConnector2">
            <a:avLst/>
          </a:prstGeom>
          <a:ln>
            <a:solidFill>
              <a:srgbClr val="C00000"/>
            </a:solidFill>
            <a:prstDash val="sysDash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294411C1-74E1-EDBC-7DB1-0AA076DE4565}"/>
              </a:ext>
            </a:extLst>
          </p:cNvPr>
          <p:cNvSpPr/>
          <p:nvPr/>
        </p:nvSpPr>
        <p:spPr>
          <a:xfrm>
            <a:off x="6892602" y="4979983"/>
            <a:ext cx="934690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공고취소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AA84EC93-8F49-3A66-63A3-14AB878586EC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9650B32F-5F1F-51FB-5860-035AAB6D232B}"/>
              </a:ext>
            </a:extLst>
          </p:cNvPr>
          <p:cNvSpPr txBox="1"/>
          <p:nvPr/>
        </p:nvSpPr>
        <p:spPr>
          <a:xfrm>
            <a:off x="5460724" y="5545439"/>
            <a:ext cx="2283254" cy="633571"/>
          </a:xfrm>
          <a:prstGeom prst="rect">
            <a:avLst/>
          </a:prstGeom>
          <a:solidFill>
            <a:srgbClr val="C00000">
              <a:alpha val="69804"/>
            </a:srgbClr>
          </a:solidFill>
        </p:spPr>
        <p:txBody>
          <a:bodyPr wrap="square">
            <a:spAutoFit/>
          </a:bodyPr>
          <a:lstStyle/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이 처리되면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</a:p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</a:pP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낙찰업체의 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입찰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견적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금액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이</a:t>
            </a:r>
            <a:b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최종 계약 금액’으로 데이터베이스에 저장되어야 함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76398463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6D5C7C-BCBE-5E9E-18CE-1DF4F41073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0EBC277F-E1AD-E341-F4A8-300A7A907B2F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D03897E-F707-23D6-5208-BCF1A8988098}"/>
              </a:ext>
            </a:extLst>
          </p:cNvPr>
          <p:cNvSpPr txBox="1"/>
          <p:nvPr/>
        </p:nvSpPr>
        <p:spPr>
          <a:xfrm>
            <a:off x="8049344" y="584684"/>
            <a:ext cx="1856656" cy="11910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완료 후 화면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업무 처리 기능을 사용할 수 없음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highlight>
                <a:srgbClr val="FFFF00"/>
              </a:highlight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최저가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인 경우의 낙찰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화면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제한적 최저가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인 경우의 낙찰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화면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70611D54-CBDE-4BBF-17C2-0725BA924E33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4088A3A3-8666-B90A-D1F8-1A899B8CEF0E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45958B91-7688-855B-DAE4-8DB3F7543192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F6DA461-16B4-D073-AE15-02AA1958144C}"/>
              </a:ext>
            </a:extLst>
          </p:cNvPr>
          <p:cNvSpPr txBox="1"/>
          <p:nvPr/>
        </p:nvSpPr>
        <p:spPr>
          <a:xfrm>
            <a:off x="749224" y="25608"/>
            <a:ext cx="355417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 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–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완료 후 화면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CE20D612-5378-C999-EC2D-F5BDB5798E35}"/>
              </a:ext>
            </a:extLst>
          </p:cNvPr>
          <p:cNvGraphicFramePr>
            <a:graphicFrameLocks noGrp="1"/>
          </p:cNvGraphicFramePr>
          <p:nvPr/>
        </p:nvGraphicFramePr>
        <p:xfrm>
          <a:off x="171329" y="2315470"/>
          <a:ext cx="7733995" cy="1689600"/>
        </p:xfrm>
        <a:graphic>
          <a:graphicData uri="http://schemas.openxmlformats.org/drawingml/2006/table">
            <a:tbl>
              <a:tblPr firstRow="1" bandRow="1"/>
              <a:tblGrid>
                <a:gridCol w="615168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1520004">
                  <a:extLst>
                    <a:ext uri="{9D8B030D-6E8A-4147-A177-3AD203B41FA5}">
                      <a16:colId xmlns:a16="http://schemas.microsoft.com/office/drawing/2014/main" val="1353104844"/>
                    </a:ext>
                  </a:extLst>
                </a:gridCol>
                <a:gridCol w="615168">
                  <a:extLst>
                    <a:ext uri="{9D8B030D-6E8A-4147-A177-3AD203B41FA5}">
                      <a16:colId xmlns:a16="http://schemas.microsoft.com/office/drawing/2014/main" val="2103438129"/>
                    </a:ext>
                  </a:extLst>
                </a:gridCol>
                <a:gridCol w="90297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1384436">
                  <a:extLst>
                    <a:ext uri="{9D8B030D-6E8A-4147-A177-3AD203B41FA5}">
                      <a16:colId xmlns:a16="http://schemas.microsoft.com/office/drawing/2014/main" val="1516929747"/>
                    </a:ext>
                  </a:extLst>
                </a:gridCol>
                <a:gridCol w="1357538">
                  <a:extLst>
                    <a:ext uri="{9D8B030D-6E8A-4147-A177-3AD203B41FA5}">
                      <a16:colId xmlns:a16="http://schemas.microsoft.com/office/drawing/2014/main" val="2415492609"/>
                    </a:ext>
                  </a:extLst>
                </a:gridCol>
                <a:gridCol w="1338711">
                  <a:extLst>
                    <a:ext uri="{9D8B030D-6E8A-4147-A177-3AD203B41FA5}">
                      <a16:colId xmlns:a16="http://schemas.microsoft.com/office/drawing/2014/main" val="269688924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순위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우선협상대상자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결과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업체명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견적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가격 적합 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예정가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우선협상대상자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A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100,000,000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-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100,000,000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2881583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C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95,000,000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100,000,000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D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예정가</a:t>
                      </a:r>
                      <a:r>
                        <a:rPr lang="ko-KR" altLang="en-US" sz="800" b="0" u="none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초과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100,000,000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</a:tbl>
          </a:graphicData>
        </a:graphic>
      </p:graphicFrame>
      <p:sp>
        <p:nvSpPr>
          <p:cNvPr id="38" name="TextBox 37">
            <a:extLst>
              <a:ext uri="{FF2B5EF4-FFF2-40B4-BE49-F238E27FC236}">
                <a16:creationId xmlns:a16="http://schemas.microsoft.com/office/drawing/2014/main" id="{82958B44-79D8-D3F9-D8A2-C913A033B6D6}"/>
              </a:ext>
            </a:extLst>
          </p:cNvPr>
          <p:cNvSpPr txBox="1"/>
          <p:nvPr/>
        </p:nvSpPr>
        <p:spPr>
          <a:xfrm>
            <a:off x="164468" y="2040013"/>
            <a:ext cx="3053340" cy="230832"/>
          </a:xfrm>
          <a:prstGeom prst="rect">
            <a:avLst/>
          </a:prstGeom>
          <a:noFill/>
        </p:spPr>
        <p:txBody>
          <a:bodyPr wrap="square" lIns="0" rIns="0">
            <a:spAutoFit/>
          </a:bodyPr>
          <a:lstStyle/>
          <a:p>
            <a:pPr algn="l"/>
            <a:r>
              <a:rPr lang="ko-KR" altLang="en-US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참여업체 </a:t>
            </a:r>
            <a:r>
              <a:rPr lang="en-US" altLang="ko-KR" sz="9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총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건</a:t>
            </a:r>
          </a:p>
        </p:txBody>
      </p:sp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92DE7EF8-4DCC-BD09-D37C-F562B77A8293}"/>
              </a:ext>
            </a:extLst>
          </p:cNvPr>
          <p:cNvGraphicFramePr>
            <a:graphicFrameLocks noGrp="1"/>
          </p:cNvGraphicFramePr>
          <p:nvPr/>
        </p:nvGraphicFramePr>
        <p:xfrm>
          <a:off x="164466" y="817960"/>
          <a:ext cx="7732447" cy="675840"/>
        </p:xfrm>
        <a:graphic>
          <a:graphicData uri="http://schemas.openxmlformats.org/drawingml/2006/table">
            <a:tbl>
              <a:tblPr firstRow="1" bandRow="1"/>
              <a:tblGrid>
                <a:gridCol w="83838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763949">
                  <a:extLst>
                    <a:ext uri="{9D8B030D-6E8A-4147-A177-3AD203B41FA5}">
                      <a16:colId xmlns:a16="http://schemas.microsoft.com/office/drawing/2014/main" val="1731736782"/>
                    </a:ext>
                  </a:extLst>
                </a:gridCol>
                <a:gridCol w="616894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821542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289563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1002816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1092824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628938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677541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재공고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선정완료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graphicFrame>
        <p:nvGraphicFramePr>
          <p:cNvPr id="50" name="표 49">
            <a:extLst>
              <a:ext uri="{FF2B5EF4-FFF2-40B4-BE49-F238E27FC236}">
                <a16:creationId xmlns:a16="http://schemas.microsoft.com/office/drawing/2014/main" id="{D71A1CB9-DEEB-BB67-B57D-8A5AA56186CC}"/>
              </a:ext>
            </a:extLst>
          </p:cNvPr>
          <p:cNvGraphicFramePr>
            <a:graphicFrameLocks noGrp="1"/>
          </p:cNvGraphicFramePr>
          <p:nvPr/>
        </p:nvGraphicFramePr>
        <p:xfrm>
          <a:off x="171332" y="4173788"/>
          <a:ext cx="8403900" cy="2027520"/>
        </p:xfrm>
        <a:graphic>
          <a:graphicData uri="http://schemas.openxmlformats.org/drawingml/2006/table">
            <a:tbl>
              <a:tblPr firstRow="1" bandRow="1"/>
              <a:tblGrid>
                <a:gridCol w="363075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839325">
                  <a:extLst>
                    <a:ext uri="{9D8B030D-6E8A-4147-A177-3AD203B41FA5}">
                      <a16:colId xmlns:a16="http://schemas.microsoft.com/office/drawing/2014/main" val="1353104844"/>
                    </a:ext>
                  </a:extLst>
                </a:gridCol>
                <a:gridCol w="363075">
                  <a:extLst>
                    <a:ext uri="{9D8B030D-6E8A-4147-A177-3AD203B41FA5}">
                      <a16:colId xmlns:a16="http://schemas.microsoft.com/office/drawing/2014/main" val="2103438129"/>
                    </a:ext>
                  </a:extLst>
                </a:gridCol>
                <a:gridCol w="532937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1204450">
                  <a:extLst>
                    <a:ext uri="{9D8B030D-6E8A-4147-A177-3AD203B41FA5}">
                      <a16:colId xmlns:a16="http://schemas.microsoft.com/office/drawing/2014/main" val="379925440"/>
                    </a:ext>
                  </a:extLst>
                </a:gridCol>
                <a:gridCol w="1036175">
                  <a:extLst>
                    <a:ext uri="{9D8B030D-6E8A-4147-A177-3AD203B41FA5}">
                      <a16:colId xmlns:a16="http://schemas.microsoft.com/office/drawing/2014/main" val="1696618955"/>
                    </a:ext>
                  </a:extLst>
                </a:gridCol>
                <a:gridCol w="817100">
                  <a:extLst>
                    <a:ext uri="{9D8B030D-6E8A-4147-A177-3AD203B41FA5}">
                      <a16:colId xmlns:a16="http://schemas.microsoft.com/office/drawing/2014/main" val="1516929747"/>
                    </a:ext>
                  </a:extLst>
                </a:gridCol>
                <a:gridCol w="867900">
                  <a:extLst>
                    <a:ext uri="{9D8B030D-6E8A-4147-A177-3AD203B41FA5}">
                      <a16:colId xmlns:a16="http://schemas.microsoft.com/office/drawing/2014/main" val="2415492609"/>
                    </a:ext>
                  </a:extLst>
                </a:gridCol>
                <a:gridCol w="790113">
                  <a:extLst>
                    <a:ext uri="{9D8B030D-6E8A-4147-A177-3AD203B41FA5}">
                      <a16:colId xmlns:a16="http://schemas.microsoft.com/office/drawing/2014/main" val="2696889248"/>
                    </a:ext>
                  </a:extLst>
                </a:gridCol>
                <a:gridCol w="861550">
                  <a:extLst>
                    <a:ext uri="{9D8B030D-6E8A-4147-A177-3AD203B41FA5}">
                      <a16:colId xmlns:a16="http://schemas.microsoft.com/office/drawing/2014/main" val="2470283878"/>
                    </a:ext>
                  </a:extLst>
                </a:gridCol>
                <a:gridCol w="728200">
                  <a:extLst>
                    <a:ext uri="{9D8B030D-6E8A-4147-A177-3AD203B41FA5}">
                      <a16:colId xmlns:a16="http://schemas.microsoft.com/office/drawing/2014/main" val="225919767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순위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우선협상대상자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결과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업체명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규격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기술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평가점수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규격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기술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적격여부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견적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가격 적합 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예정가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낙찰하한율(%)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낙찰하한가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우선협상대상자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A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100,000,000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87.745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87,745,000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39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100,000,000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87.745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87,745,000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C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45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95,000,000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100,000,000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87.745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87,745,000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0199422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D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적격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예정가</a:t>
                      </a:r>
                      <a:r>
                        <a:rPr lang="ko-KR" altLang="en-US" sz="800" b="0" u="none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초과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100,000,000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87.745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87,745,000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E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낙찰하한가</a:t>
                      </a:r>
                      <a:r>
                        <a:rPr lang="ko-KR" altLang="en-US" sz="800" b="0" u="none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미만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100,000,000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87.745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87,745,000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4986613"/>
                  </a:ext>
                </a:extLst>
              </a:tr>
            </a:tbl>
          </a:graphicData>
        </a:graphic>
      </p:graphicFrame>
      <p:sp>
        <p:nvSpPr>
          <p:cNvPr id="53" name="타원 52">
            <a:extLst>
              <a:ext uri="{FF2B5EF4-FFF2-40B4-BE49-F238E27FC236}">
                <a16:creationId xmlns:a16="http://schemas.microsoft.com/office/drawing/2014/main" id="{3B515149-9C34-12B5-42DF-DA83AEEEAF13}"/>
              </a:ext>
            </a:extLst>
          </p:cNvPr>
          <p:cNvSpPr/>
          <p:nvPr/>
        </p:nvSpPr>
        <p:spPr>
          <a:xfrm>
            <a:off x="59028" y="4065776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31DD4D56-0898-42C0-4B23-56D5A9FF7601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계속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514CF6E-94F8-3CDA-DF18-014A0F486138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1E88FE57-3AAD-E49F-FD02-0D9E373ABAC9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B256DB79-D2D6-29F2-C5A1-AD640C5E4A2C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6" name="Picture 1">
            <a:extLst>
              <a:ext uri="{FF2B5EF4-FFF2-40B4-BE49-F238E27FC236}">
                <a16:creationId xmlns:a16="http://schemas.microsoft.com/office/drawing/2014/main" id="{B3229B30-127F-798C-1DD0-96B44CDBAA5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23" name="타원 22">
            <a:extLst>
              <a:ext uri="{FF2B5EF4-FFF2-40B4-BE49-F238E27FC236}">
                <a16:creationId xmlns:a16="http://schemas.microsoft.com/office/drawing/2014/main" id="{14777225-5230-1626-05F0-3F97A54C0337}"/>
              </a:ext>
            </a:extLst>
          </p:cNvPr>
          <p:cNvSpPr/>
          <p:nvPr/>
        </p:nvSpPr>
        <p:spPr>
          <a:xfrm>
            <a:off x="59028" y="2229252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47915055-AB00-14E6-E37F-9BCC4CC97473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9C1355F8-0291-237B-B2F6-2FFA0A2F6546}"/>
              </a:ext>
            </a:extLst>
          </p:cNvPr>
          <p:cNvGrpSpPr/>
          <p:nvPr/>
        </p:nvGrpSpPr>
        <p:grpSpPr>
          <a:xfrm>
            <a:off x="163503" y="1596176"/>
            <a:ext cx="7741824" cy="348918"/>
            <a:chOff x="163503" y="1596176"/>
            <a:chExt cx="7741824" cy="348918"/>
          </a:xfrm>
        </p:grpSpPr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0EEB1934-1ECD-8C2A-3FD6-9EFE8C58340F}"/>
                </a:ext>
              </a:extLst>
            </p:cNvPr>
            <p:cNvCxnSpPr>
              <a:cxnSpLocks/>
            </p:cNvCxnSpPr>
            <p:nvPr/>
          </p:nvCxnSpPr>
          <p:spPr>
            <a:xfrm>
              <a:off x="167468" y="1941219"/>
              <a:ext cx="7737859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ACAB6BA6-9BD9-EA77-4B7A-D444BF7DB27D}"/>
                </a:ext>
              </a:extLst>
            </p:cNvPr>
            <p:cNvSpPr/>
            <p:nvPr/>
          </p:nvSpPr>
          <p:spPr>
            <a:xfrm>
              <a:off x="163503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발주계획 정보</a:t>
              </a:r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F4085796-88E5-00A2-11E6-596BA313AA3B}"/>
                </a:ext>
              </a:extLst>
            </p:cNvPr>
            <p:cNvSpPr/>
            <p:nvPr/>
          </p:nvSpPr>
          <p:spPr>
            <a:xfrm>
              <a:off x="1848030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 참여현황</a:t>
              </a:r>
            </a:p>
          </p:txBody>
        </p:sp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EB3AB25B-3666-D466-82CC-58BFE8340C24}"/>
                </a:ext>
              </a:extLst>
            </p:cNvPr>
            <p:cNvSpPr/>
            <p:nvPr/>
          </p:nvSpPr>
          <p:spPr>
            <a:xfrm>
              <a:off x="2681319" y="1652651"/>
              <a:ext cx="852685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심사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평가</a:t>
              </a: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67E1B04B-A47C-6658-7D5D-1A38F3FE7CA1}"/>
                </a:ext>
              </a:extLst>
            </p:cNvPr>
            <p:cNvSpPr/>
            <p:nvPr/>
          </p:nvSpPr>
          <p:spPr>
            <a:xfrm>
              <a:off x="1004560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정보</a:t>
              </a:r>
            </a:p>
          </p:txBody>
        </p:sp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3CEFB84B-F75C-3760-EC0B-8F8509E9924F}"/>
                </a:ext>
              </a:extLst>
            </p:cNvPr>
            <p:cNvSpPr/>
            <p:nvPr/>
          </p:nvSpPr>
          <p:spPr>
            <a:xfrm>
              <a:off x="3532662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개찰</a:t>
              </a: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7D43F30A-5853-F523-3B70-34B648AC6987}"/>
                </a:ext>
              </a:extLst>
            </p:cNvPr>
            <p:cNvSpPr/>
            <p:nvPr/>
          </p:nvSpPr>
          <p:spPr>
            <a:xfrm>
              <a:off x="4370291" y="1596176"/>
              <a:ext cx="839130" cy="348918"/>
            </a:xfrm>
            <a:prstGeom prst="rect">
              <a:avLst/>
            </a:prstGeom>
            <a:solidFill>
              <a:srgbClr val="00B050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낙찰</a:t>
              </a:r>
              <a:r>
                <a:rPr lang="en-US" altLang="ko-KR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업체 선정</a:t>
              </a:r>
              <a:r>
                <a:rPr lang="en-US" altLang="ko-KR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)</a:t>
              </a:r>
              <a:endPara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478AD775-6798-5FDB-EC62-F6539BF670A4}"/>
                </a:ext>
              </a:extLst>
            </p:cNvPr>
            <p:cNvSpPr/>
            <p:nvPr/>
          </p:nvSpPr>
          <p:spPr>
            <a:xfrm>
              <a:off x="5213654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수의시담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525C33E8-4CA8-669A-BBE3-4C655E7F5764}"/>
                </a:ext>
              </a:extLst>
            </p:cNvPr>
            <p:cNvSpPr/>
            <p:nvPr/>
          </p:nvSpPr>
          <p:spPr>
            <a:xfrm>
              <a:off x="6051872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계약 요청</a:t>
              </a:r>
            </a:p>
          </p:txBody>
        </p:sp>
      </p:grpSp>
      <p:sp>
        <p:nvSpPr>
          <p:cNvPr id="24" name="타원 23">
            <a:extLst>
              <a:ext uri="{FF2B5EF4-FFF2-40B4-BE49-F238E27FC236}">
                <a16:creationId xmlns:a16="http://schemas.microsoft.com/office/drawing/2014/main" id="{EBC305E7-58AE-1CE2-7F0A-5011B49BB3C6}"/>
              </a:ext>
            </a:extLst>
          </p:cNvPr>
          <p:cNvSpPr/>
          <p:nvPr/>
        </p:nvSpPr>
        <p:spPr>
          <a:xfrm>
            <a:off x="59028" y="1861827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0037629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750813-E17B-F810-E4C8-438E461C50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890880A5-6FFA-F454-83B6-79C4A9694FB4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1137F64-FCAF-24EE-6180-FE58E81DF854}"/>
              </a:ext>
            </a:extLst>
          </p:cNvPr>
          <p:cNvSpPr txBox="1"/>
          <p:nvPr/>
        </p:nvSpPr>
        <p:spPr>
          <a:xfrm>
            <a:off x="8049344" y="584684"/>
            <a:ext cx="1856656" cy="15111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동시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인 경우의 낙찰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화면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‘2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 경쟁입찰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 분리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인 경우의 낙찰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화면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낙찰자 선정방법이 ‘적격심사’인 경우의 낙찰(업체 선정) 화면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DA9C429-733F-A1EE-3B3C-1A802D6544CC}"/>
              </a:ext>
            </a:extLst>
          </p:cNvPr>
          <p:cNvSpPr txBox="1"/>
          <p:nvPr/>
        </p:nvSpPr>
        <p:spPr>
          <a:xfrm>
            <a:off x="749224" y="25608"/>
            <a:ext cx="355417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 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–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완료 후 화면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848450F2-5D4F-EEAC-749F-4798B3BC5379}"/>
              </a:ext>
            </a:extLst>
          </p:cNvPr>
          <p:cNvGraphicFramePr>
            <a:graphicFrameLocks noGrp="1"/>
          </p:cNvGraphicFramePr>
          <p:nvPr/>
        </p:nvGraphicFramePr>
        <p:xfrm>
          <a:off x="171332" y="393368"/>
          <a:ext cx="7759375" cy="2027520"/>
        </p:xfrm>
        <a:graphic>
          <a:graphicData uri="http://schemas.openxmlformats.org/drawingml/2006/table">
            <a:tbl>
              <a:tblPr firstRow="1" bandRow="1"/>
              <a:tblGrid>
                <a:gridCol w="363075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839325">
                  <a:extLst>
                    <a:ext uri="{9D8B030D-6E8A-4147-A177-3AD203B41FA5}">
                      <a16:colId xmlns:a16="http://schemas.microsoft.com/office/drawing/2014/main" val="1353104844"/>
                    </a:ext>
                  </a:extLst>
                </a:gridCol>
                <a:gridCol w="363075">
                  <a:extLst>
                    <a:ext uri="{9D8B030D-6E8A-4147-A177-3AD203B41FA5}">
                      <a16:colId xmlns:a16="http://schemas.microsoft.com/office/drawing/2014/main" val="2103438129"/>
                    </a:ext>
                  </a:extLst>
                </a:gridCol>
                <a:gridCol w="532937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1204450">
                  <a:extLst>
                    <a:ext uri="{9D8B030D-6E8A-4147-A177-3AD203B41FA5}">
                      <a16:colId xmlns:a16="http://schemas.microsoft.com/office/drawing/2014/main" val="9657335"/>
                    </a:ext>
                  </a:extLst>
                </a:gridCol>
                <a:gridCol w="1036175">
                  <a:extLst>
                    <a:ext uri="{9D8B030D-6E8A-4147-A177-3AD203B41FA5}">
                      <a16:colId xmlns:a16="http://schemas.microsoft.com/office/drawing/2014/main" val="419882300"/>
                    </a:ext>
                  </a:extLst>
                </a:gridCol>
                <a:gridCol w="817100">
                  <a:extLst>
                    <a:ext uri="{9D8B030D-6E8A-4147-A177-3AD203B41FA5}">
                      <a16:colId xmlns:a16="http://schemas.microsoft.com/office/drawing/2014/main" val="1516929747"/>
                    </a:ext>
                  </a:extLst>
                </a:gridCol>
                <a:gridCol w="801225">
                  <a:extLst>
                    <a:ext uri="{9D8B030D-6E8A-4147-A177-3AD203B41FA5}">
                      <a16:colId xmlns:a16="http://schemas.microsoft.com/office/drawing/2014/main" val="2415492609"/>
                    </a:ext>
                  </a:extLst>
                </a:gridCol>
                <a:gridCol w="790113">
                  <a:extLst>
                    <a:ext uri="{9D8B030D-6E8A-4147-A177-3AD203B41FA5}">
                      <a16:colId xmlns:a16="http://schemas.microsoft.com/office/drawing/2014/main" val="2696889248"/>
                    </a:ext>
                  </a:extLst>
                </a:gridCol>
                <a:gridCol w="553575">
                  <a:extLst>
                    <a:ext uri="{9D8B030D-6E8A-4147-A177-3AD203B41FA5}">
                      <a16:colId xmlns:a16="http://schemas.microsoft.com/office/drawing/2014/main" val="2470283878"/>
                    </a:ext>
                  </a:extLst>
                </a:gridCol>
                <a:gridCol w="458325">
                  <a:extLst>
                    <a:ext uri="{9D8B030D-6E8A-4147-A177-3AD203B41FA5}">
                      <a16:colId xmlns:a16="http://schemas.microsoft.com/office/drawing/2014/main" val="225919767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순위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우선협상대상자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결과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업체명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규격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기술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평가점수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규격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기술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적격여부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견적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가격 적합 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예정가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가격점수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총점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우선협상대상자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A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75.45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100,000,000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90.45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-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76.45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91,000,000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100,000,000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14.00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90.45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767362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-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78.45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95,000,000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100,000,000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11.00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89.45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515824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C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70.03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예정가</a:t>
                      </a:r>
                      <a:r>
                        <a:rPr lang="ko-KR" altLang="en-US" sz="800" b="0" u="none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초과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100,000,000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입력불가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부적격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D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62.28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부적격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95,000,000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100,000,000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입력불가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부적격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</a:tbl>
          </a:graphicData>
        </a:graphic>
      </p:graphicFrame>
      <p:sp>
        <p:nvSpPr>
          <p:cNvPr id="18" name="타원 17">
            <a:extLst>
              <a:ext uri="{FF2B5EF4-FFF2-40B4-BE49-F238E27FC236}">
                <a16:creationId xmlns:a16="http://schemas.microsoft.com/office/drawing/2014/main" id="{97779267-F8FA-709E-0773-5F892A62151B}"/>
              </a:ext>
            </a:extLst>
          </p:cNvPr>
          <p:cNvSpPr/>
          <p:nvPr/>
        </p:nvSpPr>
        <p:spPr>
          <a:xfrm>
            <a:off x="59028" y="296652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8C55AA88-BCCB-ACF9-2011-BD05DCD1874A}"/>
              </a:ext>
            </a:extLst>
          </p:cNvPr>
          <p:cNvGraphicFramePr>
            <a:graphicFrameLocks noGrp="1"/>
          </p:cNvGraphicFramePr>
          <p:nvPr/>
        </p:nvGraphicFramePr>
        <p:xfrm>
          <a:off x="167040" y="2523823"/>
          <a:ext cx="8407505" cy="1689600"/>
        </p:xfrm>
        <a:graphic>
          <a:graphicData uri="http://schemas.openxmlformats.org/drawingml/2006/table">
            <a:tbl>
              <a:tblPr firstRow="1" bandRow="1"/>
              <a:tblGrid>
                <a:gridCol w="363238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839701">
                  <a:extLst>
                    <a:ext uri="{9D8B030D-6E8A-4147-A177-3AD203B41FA5}">
                      <a16:colId xmlns:a16="http://schemas.microsoft.com/office/drawing/2014/main" val="1353104844"/>
                    </a:ext>
                  </a:extLst>
                </a:gridCol>
                <a:gridCol w="363075">
                  <a:extLst>
                    <a:ext uri="{9D8B030D-6E8A-4147-A177-3AD203B41FA5}">
                      <a16:colId xmlns:a16="http://schemas.microsoft.com/office/drawing/2014/main" val="2103438129"/>
                    </a:ext>
                  </a:extLst>
                </a:gridCol>
                <a:gridCol w="533176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1204990">
                  <a:extLst>
                    <a:ext uri="{9D8B030D-6E8A-4147-A177-3AD203B41FA5}">
                      <a16:colId xmlns:a16="http://schemas.microsoft.com/office/drawing/2014/main" val="379925440"/>
                    </a:ext>
                  </a:extLst>
                </a:gridCol>
                <a:gridCol w="1036640">
                  <a:extLst>
                    <a:ext uri="{9D8B030D-6E8A-4147-A177-3AD203B41FA5}">
                      <a16:colId xmlns:a16="http://schemas.microsoft.com/office/drawing/2014/main" val="1696618955"/>
                    </a:ext>
                  </a:extLst>
                </a:gridCol>
                <a:gridCol w="817466">
                  <a:extLst>
                    <a:ext uri="{9D8B030D-6E8A-4147-A177-3AD203B41FA5}">
                      <a16:colId xmlns:a16="http://schemas.microsoft.com/office/drawing/2014/main" val="1516929747"/>
                    </a:ext>
                  </a:extLst>
                </a:gridCol>
                <a:gridCol w="868289">
                  <a:extLst>
                    <a:ext uri="{9D8B030D-6E8A-4147-A177-3AD203B41FA5}">
                      <a16:colId xmlns:a16="http://schemas.microsoft.com/office/drawing/2014/main" val="2415492609"/>
                    </a:ext>
                  </a:extLst>
                </a:gridCol>
                <a:gridCol w="790467">
                  <a:extLst>
                    <a:ext uri="{9D8B030D-6E8A-4147-A177-3AD203B41FA5}">
                      <a16:colId xmlns:a16="http://schemas.microsoft.com/office/drawing/2014/main" val="2696889248"/>
                    </a:ext>
                  </a:extLst>
                </a:gridCol>
                <a:gridCol w="861936">
                  <a:extLst>
                    <a:ext uri="{9D8B030D-6E8A-4147-A177-3AD203B41FA5}">
                      <a16:colId xmlns:a16="http://schemas.microsoft.com/office/drawing/2014/main" val="2470283878"/>
                    </a:ext>
                  </a:extLst>
                </a:gridCol>
                <a:gridCol w="728527">
                  <a:extLst>
                    <a:ext uri="{9D8B030D-6E8A-4147-A177-3AD203B41FA5}">
                      <a16:colId xmlns:a16="http://schemas.microsoft.com/office/drawing/2014/main" val="225919767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순위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우선협상대상자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결과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업체명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규격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기술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평가점수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규격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기술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적격여부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견적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가격 적합 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예정가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낙찰하한율(%)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낙찰하한가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우선협상대상자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A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100,000,000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87.745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87,745,000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39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100,000,000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87.745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87,745,000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C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45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95,000,000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100,000,000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87.745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87,745,000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0199422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D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적격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예정가</a:t>
                      </a:r>
                      <a:r>
                        <a:rPr lang="ko-KR" altLang="en-US" sz="800" b="0" u="none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초과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100,000,000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87.745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87,745,000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</a:tbl>
          </a:graphicData>
        </a:graphic>
      </p:graphicFrame>
      <p:sp>
        <p:nvSpPr>
          <p:cNvPr id="22" name="타원 21">
            <a:extLst>
              <a:ext uri="{FF2B5EF4-FFF2-40B4-BE49-F238E27FC236}">
                <a16:creationId xmlns:a16="http://schemas.microsoft.com/office/drawing/2014/main" id="{B2F27095-999B-DEC9-CA8C-EF87EA013B4E}"/>
              </a:ext>
            </a:extLst>
          </p:cNvPr>
          <p:cNvSpPr/>
          <p:nvPr/>
        </p:nvSpPr>
        <p:spPr>
          <a:xfrm>
            <a:off x="59028" y="2420438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D022857D-7470-BDA9-1BE2-D8C76CD670D3}"/>
              </a:ext>
            </a:extLst>
          </p:cNvPr>
          <p:cNvGraphicFramePr>
            <a:graphicFrameLocks noGrp="1"/>
          </p:cNvGraphicFramePr>
          <p:nvPr/>
        </p:nvGraphicFramePr>
        <p:xfrm>
          <a:off x="171332" y="4328650"/>
          <a:ext cx="8403900" cy="2027520"/>
        </p:xfrm>
        <a:graphic>
          <a:graphicData uri="http://schemas.openxmlformats.org/drawingml/2006/table">
            <a:tbl>
              <a:tblPr firstRow="1" bandRow="1"/>
              <a:tblGrid>
                <a:gridCol w="363075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839325">
                  <a:extLst>
                    <a:ext uri="{9D8B030D-6E8A-4147-A177-3AD203B41FA5}">
                      <a16:colId xmlns:a16="http://schemas.microsoft.com/office/drawing/2014/main" val="1353104844"/>
                    </a:ext>
                  </a:extLst>
                </a:gridCol>
                <a:gridCol w="363075">
                  <a:extLst>
                    <a:ext uri="{9D8B030D-6E8A-4147-A177-3AD203B41FA5}">
                      <a16:colId xmlns:a16="http://schemas.microsoft.com/office/drawing/2014/main" val="2103438129"/>
                    </a:ext>
                  </a:extLst>
                </a:gridCol>
                <a:gridCol w="532937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1204450">
                  <a:extLst>
                    <a:ext uri="{9D8B030D-6E8A-4147-A177-3AD203B41FA5}">
                      <a16:colId xmlns:a16="http://schemas.microsoft.com/office/drawing/2014/main" val="3715615107"/>
                    </a:ext>
                  </a:extLst>
                </a:gridCol>
                <a:gridCol w="1036175">
                  <a:extLst>
                    <a:ext uri="{9D8B030D-6E8A-4147-A177-3AD203B41FA5}">
                      <a16:colId xmlns:a16="http://schemas.microsoft.com/office/drawing/2014/main" val="419882300"/>
                    </a:ext>
                  </a:extLst>
                </a:gridCol>
                <a:gridCol w="817100">
                  <a:extLst>
                    <a:ext uri="{9D8B030D-6E8A-4147-A177-3AD203B41FA5}">
                      <a16:colId xmlns:a16="http://schemas.microsoft.com/office/drawing/2014/main" val="1516929747"/>
                    </a:ext>
                  </a:extLst>
                </a:gridCol>
                <a:gridCol w="867900">
                  <a:extLst>
                    <a:ext uri="{9D8B030D-6E8A-4147-A177-3AD203B41FA5}">
                      <a16:colId xmlns:a16="http://schemas.microsoft.com/office/drawing/2014/main" val="2415492609"/>
                    </a:ext>
                  </a:extLst>
                </a:gridCol>
                <a:gridCol w="790113">
                  <a:extLst>
                    <a:ext uri="{9D8B030D-6E8A-4147-A177-3AD203B41FA5}">
                      <a16:colId xmlns:a16="http://schemas.microsoft.com/office/drawing/2014/main" val="2696889248"/>
                    </a:ext>
                  </a:extLst>
                </a:gridCol>
                <a:gridCol w="861550">
                  <a:extLst>
                    <a:ext uri="{9D8B030D-6E8A-4147-A177-3AD203B41FA5}">
                      <a16:colId xmlns:a16="http://schemas.microsoft.com/office/drawing/2014/main" val="2470283878"/>
                    </a:ext>
                  </a:extLst>
                </a:gridCol>
                <a:gridCol w="728200">
                  <a:extLst>
                    <a:ext uri="{9D8B030D-6E8A-4147-A177-3AD203B41FA5}">
                      <a16:colId xmlns:a16="http://schemas.microsoft.com/office/drawing/2014/main" val="225919767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순위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우선협상대상자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결과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업체명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규격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기술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평가점수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규격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기술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 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적격여부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견적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가격 적합 여부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예정가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낙찰하한율(%)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낙찰하한가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우선협상대상자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A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100,000,000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87.745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87,745,000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-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39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100,000,000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87.745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87,745,000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2609306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C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39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95,000,000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적합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100,000,000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87.745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87,745,000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D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45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예정가</a:t>
                      </a:r>
                      <a:r>
                        <a:rPr lang="ko-KR" altLang="en-US" sz="800" b="0" u="none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초과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100,000,000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87.745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87,745,000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탈락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E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적격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낙찰하한가</a:t>
                      </a:r>
                      <a:r>
                        <a:rPr lang="ko-KR" altLang="en-US" sz="800" b="0" u="none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미만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100,000,000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87.745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87,745,000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4986613"/>
                  </a:ext>
                </a:extLst>
              </a:tr>
            </a:tbl>
          </a:graphicData>
        </a:graphic>
      </p:graphicFrame>
      <p:sp>
        <p:nvSpPr>
          <p:cNvPr id="25" name="타원 24">
            <a:extLst>
              <a:ext uri="{FF2B5EF4-FFF2-40B4-BE49-F238E27FC236}">
                <a16:creationId xmlns:a16="http://schemas.microsoft.com/office/drawing/2014/main" id="{D372505B-012E-E19C-1D51-D86FDDD247A5}"/>
              </a:ext>
            </a:extLst>
          </p:cNvPr>
          <p:cNvSpPr/>
          <p:nvPr/>
        </p:nvSpPr>
        <p:spPr>
          <a:xfrm>
            <a:off x="59028" y="4274585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EB876EEF-CFEE-CBB7-860A-AE2EA1BB2C15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338487929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CB1578-4A94-424B-8B26-5655CF11E8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7292E4DB-4F47-68EC-3077-A54015D1FFF0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9DCE696-B123-343B-E919-5A9C684355BD}"/>
              </a:ext>
            </a:extLst>
          </p:cNvPr>
          <p:cNvSpPr txBox="1"/>
          <p:nvPr/>
        </p:nvSpPr>
        <p:spPr>
          <a:xfrm>
            <a:off x="8049344" y="584684"/>
            <a:ext cx="1856656" cy="30223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수의시담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진행하기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버튼 클릭 시 아래의 영역이 나오며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수의시담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업무가 전개됨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정보 제공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수의시담은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당연히 낙찰 업체를 대상으로 진행하는 업무임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수의시담을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위한 견적 마감일시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운영하면서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필요하지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않을 수도 있음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견적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요청 시 업체에게 전달할 사항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견적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요청 시 업체에게 전달할 자료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진행상태를 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u="sng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수의시담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u="sng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견적 요청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)’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으로 변경</a:t>
            </a:r>
            <a:b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고객 통보 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MSG-018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E0114EBE-DAB2-A7A6-CCE2-B7C288CD0495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A5B3E4C9-5F4E-3D7D-5B8D-7FBAE03A71EA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296AB1B2-53F6-5A4F-554C-92718308EA3F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3922376-2750-BE36-9354-5D35DCE41251}"/>
              </a:ext>
            </a:extLst>
          </p:cNvPr>
          <p:cNvSpPr txBox="1"/>
          <p:nvPr/>
        </p:nvSpPr>
        <p:spPr>
          <a:xfrm>
            <a:off x="749224" y="25608"/>
            <a:ext cx="320792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 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spc="-5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수의시담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– </a:t>
            </a:r>
            <a:r>
              <a:rPr lang="ko-KR" altLang="en-US" sz="800" spc="-5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수의시담을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위한 견적 요청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D2E4CBA0-24C3-9722-D278-371AD15A6D56}"/>
              </a:ext>
            </a:extLst>
          </p:cNvPr>
          <p:cNvGraphicFramePr>
            <a:graphicFrameLocks noGrp="1"/>
          </p:cNvGraphicFramePr>
          <p:nvPr/>
        </p:nvGraphicFramePr>
        <p:xfrm>
          <a:off x="164466" y="817960"/>
          <a:ext cx="7732447" cy="675840"/>
        </p:xfrm>
        <a:graphic>
          <a:graphicData uri="http://schemas.openxmlformats.org/drawingml/2006/table">
            <a:tbl>
              <a:tblPr firstRow="1" bandRow="1"/>
              <a:tblGrid>
                <a:gridCol w="83838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763949">
                  <a:extLst>
                    <a:ext uri="{9D8B030D-6E8A-4147-A177-3AD203B41FA5}">
                      <a16:colId xmlns:a16="http://schemas.microsoft.com/office/drawing/2014/main" val="1731736782"/>
                    </a:ext>
                  </a:extLst>
                </a:gridCol>
                <a:gridCol w="616894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821542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289563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1002816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1092824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628938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677541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재공고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선정완료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A50BE632-1798-17F0-218E-16BDE67A480F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8EE9C19-06FB-2423-B742-3512CCE2094C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E5519E5-C032-2EC9-CD98-8CD953AE2245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6" name="Picture 1">
            <a:extLst>
              <a:ext uri="{FF2B5EF4-FFF2-40B4-BE49-F238E27FC236}">
                <a16:creationId xmlns:a16="http://schemas.microsoft.com/office/drawing/2014/main" id="{E512CA7A-B86B-47CE-5012-91DE9DB598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2EEFF7DC-7D9F-B530-80B3-EF588CA880F8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F04D7C6B-825E-D10A-30C2-163C3EB091ED}"/>
              </a:ext>
            </a:extLst>
          </p:cNvPr>
          <p:cNvSpPr/>
          <p:nvPr/>
        </p:nvSpPr>
        <p:spPr>
          <a:xfrm>
            <a:off x="163503" y="2060848"/>
            <a:ext cx="7729916" cy="44502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□ ‘수의시담’은 단독 응찰로 다수 재공고가 반복된 경우 진행하는 업무입니다. 본 입찰 건에 ‘수의시담’을 진행하시겠습니까?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54D2009D-4D1D-C72B-4CF0-242DCECF2531}"/>
              </a:ext>
            </a:extLst>
          </p:cNvPr>
          <p:cNvSpPr/>
          <p:nvPr/>
        </p:nvSpPr>
        <p:spPr>
          <a:xfrm>
            <a:off x="6501172" y="2144445"/>
            <a:ext cx="1290365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 err="1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수의시담</a:t>
            </a:r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진행하기 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</a:t>
            </a:r>
            <a:endParaRPr lang="ko-KR" altLang="en-US" sz="9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EB117C4F-374C-4F33-7FE2-1D8A10D2EB3F}"/>
              </a:ext>
            </a:extLst>
          </p:cNvPr>
          <p:cNvSpPr/>
          <p:nvPr/>
        </p:nvSpPr>
        <p:spPr>
          <a:xfrm>
            <a:off x="6392091" y="2056569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D19AD808-6012-B1A0-CE09-AC73831BBDDC}"/>
              </a:ext>
            </a:extLst>
          </p:cNvPr>
          <p:cNvSpPr/>
          <p:nvPr/>
        </p:nvSpPr>
        <p:spPr>
          <a:xfrm>
            <a:off x="181506" y="2611118"/>
            <a:ext cx="1313872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본 입찰의 담당자 정보</a:t>
            </a:r>
            <a:endParaRPr lang="ko-KR" altLang="en-US" sz="9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4AF1A8F5-E6FC-7036-53C7-3A7CB316F267}"/>
              </a:ext>
            </a:extLst>
          </p:cNvPr>
          <p:cNvGraphicFramePr>
            <a:graphicFrameLocks noGrp="1"/>
          </p:cNvGraphicFramePr>
          <p:nvPr/>
        </p:nvGraphicFramePr>
        <p:xfrm>
          <a:off x="181506" y="2907776"/>
          <a:ext cx="7711912" cy="67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5001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799912">
                  <a:extLst>
                    <a:ext uri="{9D8B030D-6E8A-4147-A177-3AD203B41FA5}">
                      <a16:colId xmlns:a16="http://schemas.microsoft.com/office/drawing/2014/main" val="3916647765"/>
                    </a:ext>
                  </a:extLst>
                </a:gridCol>
                <a:gridCol w="799912">
                  <a:extLst>
                    <a:ext uri="{9D8B030D-6E8A-4147-A177-3AD203B41FA5}">
                      <a16:colId xmlns:a16="http://schemas.microsoft.com/office/drawing/2014/main" val="1183147798"/>
                    </a:ext>
                  </a:extLst>
                </a:gridCol>
                <a:gridCol w="541215">
                  <a:extLst>
                    <a:ext uri="{9D8B030D-6E8A-4147-A177-3AD203B41FA5}">
                      <a16:colId xmlns:a16="http://schemas.microsoft.com/office/drawing/2014/main" val="296951377"/>
                    </a:ext>
                  </a:extLst>
                </a:gridCol>
                <a:gridCol w="413134">
                  <a:extLst>
                    <a:ext uri="{9D8B030D-6E8A-4147-A177-3AD203B41FA5}">
                      <a16:colId xmlns:a16="http://schemas.microsoft.com/office/drawing/2014/main" val="2761937130"/>
                    </a:ext>
                  </a:extLst>
                </a:gridCol>
                <a:gridCol w="1348840">
                  <a:extLst>
                    <a:ext uri="{9D8B030D-6E8A-4147-A177-3AD203B41FA5}">
                      <a16:colId xmlns:a16="http://schemas.microsoft.com/office/drawing/2014/main" val="1266029869"/>
                    </a:ext>
                  </a:extLst>
                </a:gridCol>
                <a:gridCol w="1094226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  <a:gridCol w="1021119">
                  <a:extLst>
                    <a:ext uri="{9D8B030D-6E8A-4147-A177-3AD203B41FA5}">
                      <a16:colId xmlns:a16="http://schemas.microsoft.com/office/drawing/2014/main" val="3329224653"/>
                    </a:ext>
                  </a:extLst>
                </a:gridCol>
                <a:gridCol w="1328553">
                  <a:extLst>
                    <a:ext uri="{9D8B030D-6E8A-4147-A177-3AD203B41FA5}">
                      <a16:colId xmlns:a16="http://schemas.microsoft.com/office/drawing/2014/main" val="270519625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No</a:t>
                      </a:r>
                      <a:endParaRPr lang="ko-KR" altLang="en-US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담당자 구분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이름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직책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이메일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핸드폰번호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전화번호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담당업무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A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업체명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기본 담당자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이희성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이사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leehee43@naver.com</a:t>
                      </a:r>
                      <a:endParaRPr lang="ko-KR" altLang="en-US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010-6844-2810</a:t>
                      </a:r>
                      <a:endParaRPr lang="ko-KR" altLang="en-US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02-6959-9856</a:t>
                      </a:r>
                      <a:endParaRPr lang="ko-KR" altLang="en-US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사내 입찰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계약 담당자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C8838248-CBE2-1AF2-3B41-3FCE681C8B97}"/>
              </a:ext>
            </a:extLst>
          </p:cNvPr>
          <p:cNvSpPr/>
          <p:nvPr/>
        </p:nvSpPr>
        <p:spPr>
          <a:xfrm>
            <a:off x="181506" y="4773703"/>
            <a:ext cx="1856656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수의시담을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위한 견적 요청 정보</a:t>
            </a:r>
            <a:endParaRPr lang="ko-KR" altLang="en-US" sz="9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9E2ECEBA-E5BA-35E0-34D8-F41F5954311D}"/>
              </a:ext>
            </a:extLst>
          </p:cNvPr>
          <p:cNvSpPr/>
          <p:nvPr/>
        </p:nvSpPr>
        <p:spPr>
          <a:xfrm>
            <a:off x="181506" y="3674459"/>
            <a:ext cx="1313872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정보</a:t>
            </a:r>
            <a:endParaRPr lang="ko-KR" altLang="en-US" sz="9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3DCB73AE-0803-559B-4F37-5B5D7D2058D7}"/>
              </a:ext>
            </a:extLst>
          </p:cNvPr>
          <p:cNvGraphicFramePr>
            <a:graphicFrameLocks noGrp="1"/>
          </p:cNvGraphicFramePr>
          <p:nvPr/>
        </p:nvGraphicFramePr>
        <p:xfrm>
          <a:off x="171328" y="3971117"/>
          <a:ext cx="7711912" cy="675840"/>
        </p:xfrm>
        <a:graphic>
          <a:graphicData uri="http://schemas.openxmlformats.org/drawingml/2006/table">
            <a:tbl>
              <a:tblPr firstRow="1" bandRow="1"/>
              <a:tblGrid>
                <a:gridCol w="941715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2326861">
                  <a:extLst>
                    <a:ext uri="{9D8B030D-6E8A-4147-A177-3AD203B41FA5}">
                      <a16:colId xmlns:a16="http://schemas.microsoft.com/office/drawing/2014/main" val="1353104844"/>
                    </a:ext>
                  </a:extLst>
                </a:gridCol>
                <a:gridCol w="941715">
                  <a:extLst>
                    <a:ext uri="{9D8B030D-6E8A-4147-A177-3AD203B41FA5}">
                      <a16:colId xmlns:a16="http://schemas.microsoft.com/office/drawing/2014/main" val="2103438129"/>
                    </a:ext>
                  </a:extLst>
                </a:gridCol>
                <a:gridCol w="138229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2119331">
                  <a:extLst>
                    <a:ext uri="{9D8B030D-6E8A-4147-A177-3AD203B41FA5}">
                      <a16:colId xmlns:a16="http://schemas.microsoft.com/office/drawing/2014/main" val="151692974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순위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우선협상대상자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결과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업체명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견적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우선협상대상자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A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21" name="타원 20">
            <a:extLst>
              <a:ext uri="{FF2B5EF4-FFF2-40B4-BE49-F238E27FC236}">
                <a16:creationId xmlns:a16="http://schemas.microsoft.com/office/drawing/2014/main" id="{934ACEEB-9AC6-2F4B-1756-5683447DE9BA}"/>
              </a:ext>
            </a:extLst>
          </p:cNvPr>
          <p:cNvSpPr/>
          <p:nvPr/>
        </p:nvSpPr>
        <p:spPr>
          <a:xfrm>
            <a:off x="59028" y="3882121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EBF1E78E-06B5-8368-3FA1-B7810B23ABEE}"/>
              </a:ext>
            </a:extLst>
          </p:cNvPr>
          <p:cNvGraphicFramePr>
            <a:graphicFrameLocks noGrp="1"/>
          </p:cNvGraphicFramePr>
          <p:nvPr/>
        </p:nvGraphicFramePr>
        <p:xfrm>
          <a:off x="164467" y="5060486"/>
          <a:ext cx="7740859" cy="1013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4177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56682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견적 마감일시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14883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견적 요청 시 전달 사항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630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견적 요청 시 전달 자료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0242041"/>
                  </a:ext>
                </a:extLst>
              </a:tr>
            </a:tbl>
          </a:graphicData>
        </a:graphic>
      </p:graphicFrame>
      <p:sp>
        <p:nvSpPr>
          <p:cNvPr id="25" name="직사각형 24">
            <a:extLst>
              <a:ext uri="{FF2B5EF4-FFF2-40B4-BE49-F238E27FC236}">
                <a16:creationId xmlns:a16="http://schemas.microsoft.com/office/drawing/2014/main" id="{C5F9DE29-7BC1-4320-0AFC-856CEB39D60A}"/>
              </a:ext>
            </a:extLst>
          </p:cNvPr>
          <p:cNvSpPr/>
          <p:nvPr/>
        </p:nvSpPr>
        <p:spPr>
          <a:xfrm>
            <a:off x="1820225" y="5118019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날짜 선택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C6D2FB81-9277-AC7B-4E6B-9B11C6B9BF7A}"/>
              </a:ext>
            </a:extLst>
          </p:cNvPr>
          <p:cNvSpPr/>
          <p:nvPr/>
        </p:nvSpPr>
        <p:spPr>
          <a:xfrm>
            <a:off x="2630476" y="5118019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795B5C72-C7B1-2F64-7539-6E74468FECDB}"/>
              </a:ext>
            </a:extLst>
          </p:cNvPr>
          <p:cNvSpPr/>
          <p:nvPr/>
        </p:nvSpPr>
        <p:spPr>
          <a:xfrm>
            <a:off x="2915894" y="5118019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시간 선택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76EB8981-555E-9523-652C-2D029AA81CA1}"/>
              </a:ext>
            </a:extLst>
          </p:cNvPr>
          <p:cNvSpPr/>
          <p:nvPr/>
        </p:nvSpPr>
        <p:spPr>
          <a:xfrm>
            <a:off x="3515976" y="5118019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568C7FBC-2A74-757D-A1C6-876BDC8C8D2E}"/>
              </a:ext>
            </a:extLst>
          </p:cNvPr>
          <p:cNvSpPr/>
          <p:nvPr/>
        </p:nvSpPr>
        <p:spPr>
          <a:xfrm>
            <a:off x="3809851" y="5118019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분 선택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0D6E41D5-2632-55DD-90F4-63997F2AD145}"/>
              </a:ext>
            </a:extLst>
          </p:cNvPr>
          <p:cNvSpPr/>
          <p:nvPr/>
        </p:nvSpPr>
        <p:spPr>
          <a:xfrm>
            <a:off x="4409933" y="5118019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▼</a:t>
            </a: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70F1B72F-7B5F-B2C1-6CDF-FB9CF98D9DED}"/>
              </a:ext>
            </a:extLst>
          </p:cNvPr>
          <p:cNvSpPr/>
          <p:nvPr/>
        </p:nvSpPr>
        <p:spPr>
          <a:xfrm>
            <a:off x="1604201" y="5014504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CAC913D-8CF3-64FB-E9A4-0AB1D5E3C752}"/>
              </a:ext>
            </a:extLst>
          </p:cNvPr>
          <p:cNvSpPr/>
          <p:nvPr/>
        </p:nvSpPr>
        <p:spPr>
          <a:xfrm>
            <a:off x="1820225" y="5464373"/>
            <a:ext cx="4823162" cy="2080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50</a:t>
            </a:r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자 이내로 입력해주세요</a:t>
            </a:r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800" b="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E5525718-D8DA-9DEC-C5D9-9D59FA18FD6C}"/>
              </a:ext>
            </a:extLst>
          </p:cNvPr>
          <p:cNvSpPr/>
          <p:nvPr/>
        </p:nvSpPr>
        <p:spPr>
          <a:xfrm>
            <a:off x="1604201" y="5368097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9CC274E3-2CDC-03D3-CD15-592C743F00BB}"/>
              </a:ext>
            </a:extLst>
          </p:cNvPr>
          <p:cNvSpPr/>
          <p:nvPr/>
        </p:nvSpPr>
        <p:spPr>
          <a:xfrm>
            <a:off x="1820225" y="5799566"/>
            <a:ext cx="2361869" cy="2080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파일을 첨부해주세요</a:t>
            </a:r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800" b="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28B152CD-CA3C-181F-FA76-C9D759609907}"/>
              </a:ext>
            </a:extLst>
          </p:cNvPr>
          <p:cNvSpPr/>
          <p:nvPr/>
        </p:nvSpPr>
        <p:spPr>
          <a:xfrm>
            <a:off x="4177737" y="5801102"/>
            <a:ext cx="692070" cy="20647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찾아보기</a:t>
            </a: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56F962CA-9C92-DCC4-A5F8-420C24C997C6}"/>
              </a:ext>
            </a:extLst>
          </p:cNvPr>
          <p:cNvSpPr/>
          <p:nvPr/>
        </p:nvSpPr>
        <p:spPr>
          <a:xfrm>
            <a:off x="1604201" y="5687545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30D69279-743C-DAF0-679B-5BAA4DE78678}"/>
              </a:ext>
            </a:extLst>
          </p:cNvPr>
          <p:cNvSpPr/>
          <p:nvPr/>
        </p:nvSpPr>
        <p:spPr>
          <a:xfrm>
            <a:off x="6465167" y="6179861"/>
            <a:ext cx="1435833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 err="1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수의시담을</a:t>
            </a:r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위한 견적 요청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D9D02259-6359-AE67-82CC-AAF324E458F2}"/>
              </a:ext>
            </a:extLst>
          </p:cNvPr>
          <p:cNvSpPr/>
          <p:nvPr/>
        </p:nvSpPr>
        <p:spPr>
          <a:xfrm>
            <a:off x="0" y="6677986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C13C2F4B-7D28-A2CD-4F72-63D460C5077D}"/>
              </a:ext>
            </a:extLst>
          </p:cNvPr>
          <p:cNvSpPr txBox="1"/>
          <p:nvPr/>
        </p:nvSpPr>
        <p:spPr>
          <a:xfrm>
            <a:off x="8071465" y="4643152"/>
            <a:ext cx="184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D6F5E21F-061B-BD59-8D18-BA81A41ACF98}"/>
              </a:ext>
            </a:extLst>
          </p:cNvPr>
          <p:cNvSpPr/>
          <p:nvPr/>
        </p:nvSpPr>
        <p:spPr>
          <a:xfrm>
            <a:off x="7401272" y="3897052"/>
            <a:ext cx="3889121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수의시담을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위한 견적 요청 시 유의사항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05452F94-6427-B8E1-B655-07826239E3B7}"/>
              </a:ext>
            </a:extLst>
          </p:cNvPr>
          <p:cNvSpPr/>
          <p:nvPr/>
        </p:nvSpPr>
        <p:spPr>
          <a:xfrm>
            <a:off x="7401272" y="4169965"/>
            <a:ext cx="3889121" cy="179587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B819772E-63C9-192F-4D4D-354EF0FC71DA}"/>
              </a:ext>
            </a:extLst>
          </p:cNvPr>
          <p:cNvSpPr/>
          <p:nvPr/>
        </p:nvSpPr>
        <p:spPr>
          <a:xfrm>
            <a:off x="11001761" y="3897052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A043F90A-A41B-522E-7840-D70494C8E358}"/>
              </a:ext>
            </a:extLst>
          </p:cNvPr>
          <p:cNvSpPr/>
          <p:nvPr/>
        </p:nvSpPr>
        <p:spPr>
          <a:xfrm>
            <a:off x="7509051" y="4583351"/>
            <a:ext cx="3659981" cy="817207"/>
          </a:xfrm>
          <a:prstGeom prst="rect">
            <a:avLst/>
          </a:prstGeom>
          <a:solidFill>
            <a:srgbClr val="FFFF00">
              <a:alpha val="20000"/>
            </a:srgb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56000" tIns="108000" bIns="108000" rtlCol="0" anchor="ctr" anchorCtr="0"/>
          <a:lstStyle/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수의시담을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위한 견적 요청 시 </a:t>
            </a:r>
            <a:b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</a:b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해당 업체에게 견적 요청 메일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/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메시지가 자동으로 발송됩니다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. </a:t>
            </a:r>
          </a:p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defRPr/>
            </a:pPr>
            <a:r>
              <a:rPr kumimoji="1" lang="ko-KR" altLang="en-US" sz="800" i="0" u="none" strike="noStrike" kern="1200" cap="none" spc="0" normalizeH="0" baseline="0" noProof="0" dirty="0" err="1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수의시담을</a:t>
            </a:r>
            <a:r>
              <a: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위한 견적을 </a:t>
            </a:r>
            <a:r>
              <a:rPr kumimoji="1" lang="ko-KR" altLang="en-US" sz="800" i="0" u="none" strike="noStrike" kern="1200" cap="none" spc="0" normalizeH="0" baseline="0" noProof="0" dirty="0" err="1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요청하시겠습니까</a:t>
            </a: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?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pic>
        <p:nvPicPr>
          <p:cNvPr id="49" name="Picture 8" descr="Announcement, hailer, loudspeaker, megaphone, speaker icon - Download on Iconfinder">
            <a:extLst>
              <a:ext uri="{FF2B5EF4-FFF2-40B4-BE49-F238E27FC236}">
                <a16:creationId xmlns:a16="http://schemas.microsoft.com/office/drawing/2014/main" id="{664ED9D4-4F5F-04A8-791D-0353908BA14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5173" y="4717212"/>
            <a:ext cx="570440" cy="5704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1" name="직사각형 50">
            <a:extLst>
              <a:ext uri="{FF2B5EF4-FFF2-40B4-BE49-F238E27FC236}">
                <a16:creationId xmlns:a16="http://schemas.microsoft.com/office/drawing/2014/main" id="{A0A76C4A-A323-A600-9985-FAE00305B0F2}"/>
              </a:ext>
            </a:extLst>
          </p:cNvPr>
          <p:cNvSpPr/>
          <p:nvPr/>
        </p:nvSpPr>
        <p:spPr>
          <a:xfrm>
            <a:off x="8874477" y="5513093"/>
            <a:ext cx="1533216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수의시담을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위한 견적 요청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00391CB2-A1FC-3C73-83AA-CA7219C486B4}"/>
              </a:ext>
            </a:extLst>
          </p:cNvPr>
          <p:cNvSpPr/>
          <p:nvPr/>
        </p:nvSpPr>
        <p:spPr>
          <a:xfrm>
            <a:off x="10467434" y="5513093"/>
            <a:ext cx="699418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BF830098-EE11-DF18-919C-8AA00AB9CA0D}"/>
              </a:ext>
            </a:extLst>
          </p:cNvPr>
          <p:cNvSpPr/>
          <p:nvPr/>
        </p:nvSpPr>
        <p:spPr>
          <a:xfrm>
            <a:off x="7532492" y="4266353"/>
            <a:ext cx="2362826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수의시담을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위한 견적 요청 시 유의사항</a:t>
            </a: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CBC84BF0-2520-1DF9-AFD8-4A8FC895B588}"/>
              </a:ext>
            </a:extLst>
          </p:cNvPr>
          <p:cNvSpPr/>
          <p:nvPr/>
        </p:nvSpPr>
        <p:spPr>
          <a:xfrm>
            <a:off x="8717549" y="5429133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57" name="연결선: 꺾임 56">
            <a:extLst>
              <a:ext uri="{FF2B5EF4-FFF2-40B4-BE49-F238E27FC236}">
                <a16:creationId xmlns:a16="http://schemas.microsoft.com/office/drawing/2014/main" id="{5AFBAF76-BE4F-7CA7-2896-00D9E613C5F5}"/>
              </a:ext>
            </a:extLst>
          </p:cNvPr>
          <p:cNvCxnSpPr>
            <a:cxnSpLocks/>
            <a:stCxn id="42" idx="0"/>
            <a:endCxn id="46" idx="1"/>
          </p:cNvCxnSpPr>
          <p:nvPr/>
        </p:nvCxnSpPr>
        <p:spPr>
          <a:xfrm rot="5400000" flipH="1" flipV="1">
            <a:off x="6736200" y="5514789"/>
            <a:ext cx="1111957" cy="218188"/>
          </a:xfrm>
          <a:prstGeom prst="bentConnector2">
            <a:avLst/>
          </a:prstGeom>
          <a:ln>
            <a:solidFill>
              <a:srgbClr val="C00000"/>
            </a:solidFill>
            <a:prstDash val="sysDash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F14B387F-99BD-C1DF-3ADE-0CEFE3C599DE}"/>
              </a:ext>
            </a:extLst>
          </p:cNvPr>
          <p:cNvGrpSpPr/>
          <p:nvPr/>
        </p:nvGrpSpPr>
        <p:grpSpPr>
          <a:xfrm>
            <a:off x="163503" y="1599955"/>
            <a:ext cx="7741824" cy="345139"/>
            <a:chOff x="163503" y="1599955"/>
            <a:chExt cx="7741824" cy="345139"/>
          </a:xfrm>
        </p:grpSpPr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4565A86C-E6E6-7B88-64C8-2E2DE2C37EBC}"/>
                </a:ext>
              </a:extLst>
            </p:cNvPr>
            <p:cNvCxnSpPr>
              <a:cxnSpLocks/>
            </p:cNvCxnSpPr>
            <p:nvPr/>
          </p:nvCxnSpPr>
          <p:spPr>
            <a:xfrm>
              <a:off x="167468" y="1941219"/>
              <a:ext cx="7737859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FBD0E847-71DF-F195-5BF0-3ADFB04FC086}"/>
                </a:ext>
              </a:extLst>
            </p:cNvPr>
            <p:cNvSpPr/>
            <p:nvPr/>
          </p:nvSpPr>
          <p:spPr>
            <a:xfrm>
              <a:off x="163503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발주계획 정보</a:t>
              </a:r>
            </a:p>
          </p:txBody>
        </p:sp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CC73EE6E-702D-B274-9061-9113B5031165}"/>
                </a:ext>
              </a:extLst>
            </p:cNvPr>
            <p:cNvSpPr/>
            <p:nvPr/>
          </p:nvSpPr>
          <p:spPr>
            <a:xfrm>
              <a:off x="1848030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 참여현황</a:t>
              </a:r>
            </a:p>
          </p:txBody>
        </p:sp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66109C87-9FD4-1C4A-6B94-B2B9792F95B0}"/>
                </a:ext>
              </a:extLst>
            </p:cNvPr>
            <p:cNvSpPr/>
            <p:nvPr/>
          </p:nvSpPr>
          <p:spPr>
            <a:xfrm>
              <a:off x="2681319" y="1652651"/>
              <a:ext cx="852685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심사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평가</a:t>
              </a:r>
            </a:p>
          </p:txBody>
        </p:sp>
        <p:sp>
          <p:nvSpPr>
            <p:cNvPr id="86" name="직사각형 85">
              <a:extLst>
                <a:ext uri="{FF2B5EF4-FFF2-40B4-BE49-F238E27FC236}">
                  <a16:creationId xmlns:a16="http://schemas.microsoft.com/office/drawing/2014/main" id="{0DBD5B1B-4260-9DA9-AF9E-03D8A48604E9}"/>
                </a:ext>
              </a:extLst>
            </p:cNvPr>
            <p:cNvSpPr/>
            <p:nvPr/>
          </p:nvSpPr>
          <p:spPr>
            <a:xfrm>
              <a:off x="1004560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정보</a:t>
              </a:r>
            </a:p>
          </p:txBody>
        </p:sp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12F2FCA3-576E-9FCE-9317-692CE05540F8}"/>
                </a:ext>
              </a:extLst>
            </p:cNvPr>
            <p:cNvSpPr/>
            <p:nvPr/>
          </p:nvSpPr>
          <p:spPr>
            <a:xfrm>
              <a:off x="3532662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개찰</a:t>
              </a:r>
            </a:p>
          </p:txBody>
        </p:sp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13E2BCF3-1C71-6111-8C74-080B989624B8}"/>
                </a:ext>
              </a:extLst>
            </p:cNvPr>
            <p:cNvSpPr/>
            <p:nvPr/>
          </p:nvSpPr>
          <p:spPr>
            <a:xfrm>
              <a:off x="4370291" y="1658940"/>
              <a:ext cx="839130" cy="28615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낙찰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업체 선정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)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080D38C2-8CE2-56D3-2497-5561D41C074A}"/>
                </a:ext>
              </a:extLst>
            </p:cNvPr>
            <p:cNvSpPr/>
            <p:nvPr/>
          </p:nvSpPr>
          <p:spPr>
            <a:xfrm>
              <a:off x="5213654" y="1599955"/>
              <a:ext cx="839130" cy="345139"/>
            </a:xfrm>
            <a:prstGeom prst="rect">
              <a:avLst/>
            </a:prstGeom>
            <a:solidFill>
              <a:srgbClr val="00B050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 err="1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수의시담</a:t>
              </a:r>
              <a:endPara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841DF1AF-B676-F660-7A8A-8423AC4BA920}"/>
                </a:ext>
              </a:extLst>
            </p:cNvPr>
            <p:cNvSpPr/>
            <p:nvPr/>
          </p:nvSpPr>
          <p:spPr>
            <a:xfrm>
              <a:off x="6051872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계약 요청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43717126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C4ABC5-8691-B7DA-F318-AE8D727BF6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EBFC1F06-D90A-E603-AEFB-EE0699CFAC82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7592C7C-2822-AC2E-FA1A-1112542FC22F}"/>
              </a:ext>
            </a:extLst>
          </p:cNvPr>
          <p:cNvSpPr txBox="1"/>
          <p:nvPr/>
        </p:nvSpPr>
        <p:spPr>
          <a:xfrm>
            <a:off x="8049344" y="584684"/>
            <a:ext cx="1856656" cy="31824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수의시담을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위한 견적 요청 후 요청 목록 화면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견적 차수 표시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입찰견적서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팝업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호출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업체명 클릭 시 해당 차수의 견적 요청 상세정보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뒤 페이지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화면 이동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상세견적서 확인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팝업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호출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수의시담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후 가격이 적절한 경우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수의시담을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완료 처리함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완료 처리 시 진행상태를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수의시담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완료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상태로 변경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수의시담이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완료 처리되면 낙찰 과정에서 이미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저장되어 있던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‘최종 계약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금액’이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업데이트 되어야 함</a:t>
            </a: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수의시담을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위한 견적 요청 화면으로 이동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19F62CE4-3C36-A33A-C9CF-D28F6DB5E375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A2745078-A007-4677-9DA4-80EAFD96628F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B35FA158-A13B-97AE-0CD0-EA15BC95572C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845C617-0017-43D0-263D-D38C04E57A17}"/>
              </a:ext>
            </a:extLst>
          </p:cNvPr>
          <p:cNvSpPr txBox="1"/>
          <p:nvPr/>
        </p:nvSpPr>
        <p:spPr>
          <a:xfrm>
            <a:off x="749224" y="25608"/>
            <a:ext cx="271420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 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spc="-5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수의시담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– </a:t>
            </a:r>
            <a:r>
              <a:rPr lang="ko-KR" altLang="en-US" sz="800" spc="-5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수의시담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현황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16ABDDF7-96D1-2D0B-6A6D-346801FC231C}"/>
              </a:ext>
            </a:extLst>
          </p:cNvPr>
          <p:cNvGraphicFramePr>
            <a:graphicFrameLocks noGrp="1"/>
          </p:cNvGraphicFramePr>
          <p:nvPr/>
        </p:nvGraphicFramePr>
        <p:xfrm>
          <a:off x="164465" y="817960"/>
          <a:ext cx="7728951" cy="675840"/>
        </p:xfrm>
        <a:graphic>
          <a:graphicData uri="http://schemas.openxmlformats.org/drawingml/2006/table">
            <a:tbl>
              <a:tblPr firstRow="1" bandRow="1"/>
              <a:tblGrid>
                <a:gridCol w="812009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651067">
                  <a:extLst>
                    <a:ext uri="{9D8B030D-6E8A-4147-A177-3AD203B41FA5}">
                      <a16:colId xmlns:a16="http://schemas.microsoft.com/office/drawing/2014/main" val="1731736782"/>
                    </a:ext>
                  </a:extLst>
                </a:gridCol>
                <a:gridCol w="1219392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764247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305792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786861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971273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609155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609155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재공고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수의시담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견적제출 완료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1BB19D45-6CA4-B871-8F11-F86AF364D10A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799C805-6CF1-6F7A-46B6-47B238451D27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9E424A27-648B-B687-52A7-DF647BE3F636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6" name="Picture 1">
            <a:extLst>
              <a:ext uri="{FF2B5EF4-FFF2-40B4-BE49-F238E27FC236}">
                <a16:creationId xmlns:a16="http://schemas.microsoft.com/office/drawing/2014/main" id="{3D262D43-646A-9E22-F92F-6C2B1DCEBA1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9042EB18-0317-222E-388D-15D6D16C64E3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76E54A72-D4C5-9873-B9DC-9AFC030E772C}"/>
              </a:ext>
            </a:extLst>
          </p:cNvPr>
          <p:cNvGraphicFramePr>
            <a:graphicFrameLocks noGrp="1"/>
          </p:cNvGraphicFramePr>
          <p:nvPr/>
        </p:nvGraphicFramePr>
        <p:xfrm>
          <a:off x="163503" y="2095399"/>
          <a:ext cx="7733410" cy="1351680"/>
        </p:xfrm>
        <a:graphic>
          <a:graphicData uri="http://schemas.openxmlformats.org/drawingml/2006/table">
            <a:tbl>
              <a:tblPr firstRow="1" bandRow="1"/>
              <a:tblGrid>
                <a:gridCol w="333119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551135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960559">
                  <a:extLst>
                    <a:ext uri="{9D8B030D-6E8A-4147-A177-3AD203B41FA5}">
                      <a16:colId xmlns:a16="http://schemas.microsoft.com/office/drawing/2014/main" val="4052911490"/>
                    </a:ext>
                  </a:extLst>
                </a:gridCol>
                <a:gridCol w="1128878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1184025">
                  <a:extLst>
                    <a:ext uri="{9D8B030D-6E8A-4147-A177-3AD203B41FA5}">
                      <a16:colId xmlns:a16="http://schemas.microsoft.com/office/drawing/2014/main" val="3053194834"/>
                    </a:ext>
                  </a:extLst>
                </a:gridCol>
                <a:gridCol w="1184025">
                  <a:extLst>
                    <a:ext uri="{9D8B030D-6E8A-4147-A177-3AD203B41FA5}">
                      <a16:colId xmlns:a16="http://schemas.microsoft.com/office/drawing/2014/main" val="419952432"/>
                    </a:ext>
                  </a:extLst>
                </a:gridCol>
                <a:gridCol w="1134972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1256697">
                  <a:extLst>
                    <a:ext uri="{9D8B030D-6E8A-4147-A177-3AD203B41FA5}">
                      <a16:colId xmlns:a16="http://schemas.microsoft.com/office/drawing/2014/main" val="177855800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차수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제출상태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견적 번호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업체명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견적 마감 일시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견적 제출 일시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수의시담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 견적 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상세견적서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제출완료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QT2025-0031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A</a:t>
                      </a:r>
                      <a:r>
                        <a:rPr kumimoji="0" lang="ko-KR" altLang="en-US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업체명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2026.08.15 18:00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-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-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상세견적서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(0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 파일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차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제출완료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QT2025-0030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A</a:t>
                      </a:r>
                      <a:r>
                        <a:rPr kumimoji="0" lang="ko-KR" altLang="en-US" sz="8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업체명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2026.07.31 18:00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2026.07.30 15:40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180,000,000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상세견적서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 파일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차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제출완료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QT2025-0029</a:t>
                      </a:r>
                      <a:endParaRPr kumimoji="0" lang="ko-KR" altLang="en-US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A</a:t>
                      </a:r>
                      <a:r>
                        <a:rPr kumimoji="0" lang="ko-KR" altLang="en-US" sz="8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업체명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2026.07.15 18:00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2026.07.14 17:20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190,000,000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상세견적서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개 파일</a:t>
                      </a:r>
                      <a:r>
                        <a:rPr lang="en-US" altLang="ko-KR" sz="800" b="0" u="sng" dirty="0">
                          <a:solidFill>
                            <a:srgbClr val="0070C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b="0" u="sng" dirty="0">
                        <a:solidFill>
                          <a:srgbClr val="0070C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3076827"/>
                  </a:ext>
                </a:extLst>
              </a:tr>
            </a:tbl>
          </a:graphicData>
        </a:graphic>
      </p:graphicFrame>
      <p:sp>
        <p:nvSpPr>
          <p:cNvPr id="15" name="타원 14">
            <a:extLst>
              <a:ext uri="{FF2B5EF4-FFF2-40B4-BE49-F238E27FC236}">
                <a16:creationId xmlns:a16="http://schemas.microsoft.com/office/drawing/2014/main" id="{99ABF12A-9572-76C2-8657-2A48597DC626}"/>
              </a:ext>
            </a:extLst>
          </p:cNvPr>
          <p:cNvSpPr/>
          <p:nvPr/>
        </p:nvSpPr>
        <p:spPr>
          <a:xfrm>
            <a:off x="57617" y="1988840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85E0A1E3-C59F-B22A-8B5A-74F103DB586D}"/>
              </a:ext>
            </a:extLst>
          </p:cNvPr>
          <p:cNvSpPr/>
          <p:nvPr/>
        </p:nvSpPr>
        <p:spPr>
          <a:xfrm>
            <a:off x="1035198" y="1988840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8EC033A8-D392-0B33-15E7-1FDE8B5B3161}"/>
              </a:ext>
            </a:extLst>
          </p:cNvPr>
          <p:cNvSpPr/>
          <p:nvPr/>
        </p:nvSpPr>
        <p:spPr>
          <a:xfrm>
            <a:off x="163503" y="3543276"/>
            <a:ext cx="7729916" cy="44502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□ 수의시담을 완료 처리하시겠습니까?</a:t>
            </a: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BA05546-0702-E50F-38CD-FD152FC23BC0}"/>
              </a:ext>
            </a:extLst>
          </p:cNvPr>
          <p:cNvSpPr/>
          <p:nvPr/>
        </p:nvSpPr>
        <p:spPr>
          <a:xfrm>
            <a:off x="6458770" y="1988840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0C9735F6-D229-8682-81E3-9B8C6E22E3F9}"/>
              </a:ext>
            </a:extLst>
          </p:cNvPr>
          <p:cNvSpPr/>
          <p:nvPr/>
        </p:nvSpPr>
        <p:spPr>
          <a:xfrm>
            <a:off x="2063100" y="1988840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A5A19B27-31F1-6768-9DB8-2E5DFABFE726}"/>
              </a:ext>
            </a:extLst>
          </p:cNvPr>
          <p:cNvSpPr/>
          <p:nvPr/>
        </p:nvSpPr>
        <p:spPr>
          <a:xfrm>
            <a:off x="5660300" y="3625189"/>
            <a:ext cx="1137485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 err="1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수의시담</a:t>
            </a:r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완료 처리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1BBB5BCC-14C0-74FF-6CA0-8F02444B1199}"/>
              </a:ext>
            </a:extLst>
          </p:cNvPr>
          <p:cNvSpPr/>
          <p:nvPr/>
        </p:nvSpPr>
        <p:spPr>
          <a:xfrm>
            <a:off x="163503" y="4072318"/>
            <a:ext cx="7729916" cy="44502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rtlCol="0" anchor="ctr"/>
          <a:lstStyle/>
          <a:p>
            <a:pPr algn="l"/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□ 견적 수신 후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가격이 적합하지 않으면 재견적을 요청할 수 있습니다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재견적을 </a:t>
            </a: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요청하시겠습니까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1EFBF9DF-4466-694A-2E96-015611ABA485}"/>
              </a:ext>
            </a:extLst>
          </p:cNvPr>
          <p:cNvSpPr/>
          <p:nvPr/>
        </p:nvSpPr>
        <p:spPr>
          <a:xfrm>
            <a:off x="6654052" y="4155915"/>
            <a:ext cx="1137485" cy="28803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재견적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요청하기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</a:t>
            </a:r>
            <a:endParaRPr lang="ko-KR" altLang="en-US" sz="9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8AFA8A3C-3DAD-A0E9-7DA9-33A167042C3A}"/>
              </a:ext>
            </a:extLst>
          </p:cNvPr>
          <p:cNvSpPr/>
          <p:nvPr/>
        </p:nvSpPr>
        <p:spPr>
          <a:xfrm>
            <a:off x="6546040" y="4056529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" name="타원 68">
            <a:extLst>
              <a:ext uri="{FF2B5EF4-FFF2-40B4-BE49-F238E27FC236}">
                <a16:creationId xmlns:a16="http://schemas.microsoft.com/office/drawing/2014/main" id="{6253C7D7-2F55-19BF-EBD5-0CB0873F27F7}"/>
              </a:ext>
            </a:extLst>
          </p:cNvPr>
          <p:cNvSpPr/>
          <p:nvPr/>
        </p:nvSpPr>
        <p:spPr>
          <a:xfrm>
            <a:off x="5552288" y="3515550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80" name="연결선: 꺾임 79">
            <a:extLst>
              <a:ext uri="{FF2B5EF4-FFF2-40B4-BE49-F238E27FC236}">
                <a16:creationId xmlns:a16="http://schemas.microsoft.com/office/drawing/2014/main" id="{14205D1F-77BB-67C7-D528-3DF7E7D0AC38}"/>
              </a:ext>
            </a:extLst>
          </p:cNvPr>
          <p:cNvCxnSpPr>
            <a:cxnSpLocks/>
            <a:stCxn id="50" idx="1"/>
          </p:cNvCxnSpPr>
          <p:nvPr/>
        </p:nvCxnSpPr>
        <p:spPr>
          <a:xfrm rot="10800000" flipV="1">
            <a:off x="5276692" y="3769205"/>
            <a:ext cx="383608" cy="867368"/>
          </a:xfrm>
          <a:prstGeom prst="bentConnector2">
            <a:avLst/>
          </a:prstGeom>
          <a:ln>
            <a:solidFill>
              <a:srgbClr val="C00000"/>
            </a:solidFill>
            <a:prstDash val="sysDash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C1A69C9E-603F-2D53-A53B-43BD4AE85E79}"/>
              </a:ext>
            </a:extLst>
          </p:cNvPr>
          <p:cNvSpPr/>
          <p:nvPr/>
        </p:nvSpPr>
        <p:spPr>
          <a:xfrm>
            <a:off x="6856173" y="3623562"/>
            <a:ext cx="934690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공고취소</a:t>
            </a: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0B085E30-EB32-5C52-888B-1CFF2EBDA638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D91996E5-CB99-7DD1-5C56-07A186D3D544}"/>
              </a:ext>
            </a:extLst>
          </p:cNvPr>
          <p:cNvSpPr txBox="1"/>
          <p:nvPr/>
        </p:nvSpPr>
        <p:spPr>
          <a:xfrm>
            <a:off x="4002324" y="5382673"/>
            <a:ext cx="184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381C73D3-FC3D-DCB6-D340-F2154A073C48}"/>
              </a:ext>
            </a:extLst>
          </p:cNvPr>
          <p:cNvSpPr/>
          <p:nvPr/>
        </p:nvSpPr>
        <p:spPr>
          <a:xfrm>
            <a:off x="3332131" y="4636573"/>
            <a:ext cx="3889121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수의시담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완료 처리 시 유의사항</a:t>
            </a: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5CD190D1-9F36-00B8-70ED-A396872D3C24}"/>
              </a:ext>
            </a:extLst>
          </p:cNvPr>
          <p:cNvSpPr/>
          <p:nvPr/>
        </p:nvSpPr>
        <p:spPr>
          <a:xfrm>
            <a:off x="3332131" y="4909486"/>
            <a:ext cx="3889121" cy="179587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1862FA27-8828-59E1-7300-D4CB6C4A1560}"/>
              </a:ext>
            </a:extLst>
          </p:cNvPr>
          <p:cNvSpPr/>
          <p:nvPr/>
        </p:nvSpPr>
        <p:spPr>
          <a:xfrm>
            <a:off x="6932620" y="4636573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D6CC4EF6-81C4-9B3C-A047-9EBFCF550FE8}"/>
              </a:ext>
            </a:extLst>
          </p:cNvPr>
          <p:cNvSpPr/>
          <p:nvPr/>
        </p:nvSpPr>
        <p:spPr>
          <a:xfrm>
            <a:off x="3439910" y="5322872"/>
            <a:ext cx="3659981" cy="817207"/>
          </a:xfrm>
          <a:prstGeom prst="rect">
            <a:avLst/>
          </a:prstGeom>
          <a:solidFill>
            <a:srgbClr val="FFFF00">
              <a:alpha val="20000"/>
            </a:srgb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56000" tIns="108000" bIns="108000" rtlCol="0" anchor="ctr" anchorCtr="0"/>
          <a:lstStyle/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수의시담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완료 처리 시 </a:t>
            </a:r>
            <a:b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</a:b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선정 업체를 대상으로 </a:t>
            </a: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재견적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등의 업무 처리가 불가합니다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.</a:t>
            </a:r>
          </a:p>
          <a:p>
            <a:pPr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defRPr/>
            </a:pPr>
            <a:r>
              <a:rPr kumimoji="1" lang="ko-KR" altLang="en-US" sz="800" i="0" u="none" strike="noStrike" kern="1200" cap="none" spc="0" normalizeH="0" baseline="0" noProof="0" dirty="0" err="1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수의시담을 완료 처리하시겠습니까?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pic>
        <p:nvPicPr>
          <p:cNvPr id="112" name="Picture 8" descr="Announcement, hailer, loudspeaker, megaphone, speaker icon - Download on Iconfinder">
            <a:extLst>
              <a:ext uri="{FF2B5EF4-FFF2-40B4-BE49-F238E27FC236}">
                <a16:creationId xmlns:a16="http://schemas.microsoft.com/office/drawing/2014/main" id="{4AB48C66-FC91-8F7B-D47D-A0307D9204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56032" y="5456733"/>
            <a:ext cx="570440" cy="5704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92550517-F2F5-BF9D-47A6-9532ECAF6BF8}"/>
              </a:ext>
            </a:extLst>
          </p:cNvPr>
          <p:cNvSpPr/>
          <p:nvPr/>
        </p:nvSpPr>
        <p:spPr>
          <a:xfrm>
            <a:off x="5203055" y="6252614"/>
            <a:ext cx="1135497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수의시담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완료 처리</a:t>
            </a: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C03A07F9-4B88-C98C-1996-696FE5E2A31C}"/>
              </a:ext>
            </a:extLst>
          </p:cNvPr>
          <p:cNvSpPr/>
          <p:nvPr/>
        </p:nvSpPr>
        <p:spPr>
          <a:xfrm>
            <a:off x="6398293" y="6252614"/>
            <a:ext cx="699418" cy="288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3A3C2BD9-75B5-CD75-567B-55A052946232}"/>
              </a:ext>
            </a:extLst>
          </p:cNvPr>
          <p:cNvSpPr/>
          <p:nvPr/>
        </p:nvSpPr>
        <p:spPr>
          <a:xfrm>
            <a:off x="3463351" y="5005874"/>
            <a:ext cx="1923604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수의시담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완료 처리 시 유의사항</a:t>
            </a:r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043C6866-A22E-E78E-7CA3-90F5C1CF6BA6}"/>
              </a:ext>
            </a:extLst>
          </p:cNvPr>
          <p:cNvSpPr/>
          <p:nvPr/>
        </p:nvSpPr>
        <p:spPr>
          <a:xfrm>
            <a:off x="5053876" y="6168654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3D80AF48-963A-F162-7A10-C896A3C34D39}"/>
              </a:ext>
            </a:extLst>
          </p:cNvPr>
          <p:cNvGrpSpPr/>
          <p:nvPr/>
        </p:nvGrpSpPr>
        <p:grpSpPr>
          <a:xfrm>
            <a:off x="163503" y="1599955"/>
            <a:ext cx="7741824" cy="345139"/>
            <a:chOff x="163503" y="1599955"/>
            <a:chExt cx="7741824" cy="345139"/>
          </a:xfrm>
        </p:grpSpPr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B93EA24-6CDC-A6EA-E708-BAA58CFA7503}"/>
                </a:ext>
              </a:extLst>
            </p:cNvPr>
            <p:cNvCxnSpPr>
              <a:cxnSpLocks/>
            </p:cNvCxnSpPr>
            <p:nvPr/>
          </p:nvCxnSpPr>
          <p:spPr>
            <a:xfrm>
              <a:off x="167468" y="1941219"/>
              <a:ext cx="7737859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AA5857F8-2939-3E76-6B65-4131EFEF508E}"/>
                </a:ext>
              </a:extLst>
            </p:cNvPr>
            <p:cNvSpPr/>
            <p:nvPr/>
          </p:nvSpPr>
          <p:spPr>
            <a:xfrm>
              <a:off x="163503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발주계획 정보</a:t>
              </a:r>
            </a:p>
          </p:txBody>
        </p: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77277ADC-8146-85B8-8000-E81D23DC9AD0}"/>
                </a:ext>
              </a:extLst>
            </p:cNvPr>
            <p:cNvSpPr/>
            <p:nvPr/>
          </p:nvSpPr>
          <p:spPr>
            <a:xfrm>
              <a:off x="1848030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 참여현황</a:t>
              </a:r>
            </a:p>
          </p:txBody>
        </p: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9A198DA-E5FA-5185-A1AD-F8156EB77406}"/>
                </a:ext>
              </a:extLst>
            </p:cNvPr>
            <p:cNvSpPr/>
            <p:nvPr/>
          </p:nvSpPr>
          <p:spPr>
            <a:xfrm>
              <a:off x="2681319" y="1652651"/>
              <a:ext cx="852685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심사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평가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1F54888B-6092-7CE3-23FC-30D694589D84}"/>
                </a:ext>
              </a:extLst>
            </p:cNvPr>
            <p:cNvSpPr/>
            <p:nvPr/>
          </p:nvSpPr>
          <p:spPr>
            <a:xfrm>
              <a:off x="1004560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정보</a:t>
              </a:r>
            </a:p>
          </p:txBody>
        </p:sp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9E0FF08E-604E-2116-4FED-0EFA02A128F0}"/>
                </a:ext>
              </a:extLst>
            </p:cNvPr>
            <p:cNvSpPr/>
            <p:nvPr/>
          </p:nvSpPr>
          <p:spPr>
            <a:xfrm>
              <a:off x="3532662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개찰</a:t>
              </a: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2652AEB1-CD4B-8B19-E90A-29F01520EF16}"/>
                </a:ext>
              </a:extLst>
            </p:cNvPr>
            <p:cNvSpPr/>
            <p:nvPr/>
          </p:nvSpPr>
          <p:spPr>
            <a:xfrm>
              <a:off x="4370291" y="1658940"/>
              <a:ext cx="839130" cy="28615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낙찰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업체 선정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)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E84F5CA4-CCED-C1EF-D070-626A152D02B4}"/>
                </a:ext>
              </a:extLst>
            </p:cNvPr>
            <p:cNvSpPr/>
            <p:nvPr/>
          </p:nvSpPr>
          <p:spPr>
            <a:xfrm>
              <a:off x="5213654" y="1599955"/>
              <a:ext cx="839130" cy="345139"/>
            </a:xfrm>
            <a:prstGeom prst="rect">
              <a:avLst/>
            </a:prstGeom>
            <a:solidFill>
              <a:srgbClr val="00B050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 err="1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수의시담</a:t>
              </a:r>
              <a:endPara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53445CEA-E170-4A5C-D577-0583410C3CF1}"/>
                </a:ext>
              </a:extLst>
            </p:cNvPr>
            <p:cNvSpPr/>
            <p:nvPr/>
          </p:nvSpPr>
          <p:spPr>
            <a:xfrm>
              <a:off x="6051872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계약 요청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89957278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EF3608-5413-8B8C-84D0-6FAE94ACB9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18C65E1A-4670-B7C3-9185-2E2C33617CA4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47F20D7-8E7E-47C2-BC89-6C8B9154ACBF}"/>
              </a:ext>
            </a:extLst>
          </p:cNvPr>
          <p:cNvSpPr txBox="1"/>
          <p:nvPr/>
        </p:nvSpPr>
        <p:spPr>
          <a:xfrm>
            <a:off x="8049344" y="584684"/>
            <a:ext cx="1856656" cy="23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CA05A5FB-DD99-20F2-224B-84C74FACF51C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FFE0683D-5315-3F98-3CD5-E885BE93E82B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8E650C1E-B923-766A-D867-3D8695581CE6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CDC982B-372F-F87A-FCDD-24AD255989A9}"/>
              </a:ext>
            </a:extLst>
          </p:cNvPr>
          <p:cNvSpPr txBox="1"/>
          <p:nvPr/>
        </p:nvSpPr>
        <p:spPr>
          <a:xfrm>
            <a:off x="749224" y="25608"/>
            <a:ext cx="356700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 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spc="-5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수의시담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– </a:t>
            </a:r>
            <a:r>
              <a:rPr lang="ko-KR" altLang="en-US" sz="800" spc="-5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수의시담을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위한 견적 요청 상세정보</a:t>
            </a:r>
          </a:p>
        </p:txBody>
      </p:sp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FC953998-A60D-1D5E-753A-F5FEF5FA25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5142036"/>
              </p:ext>
            </p:extLst>
          </p:nvPr>
        </p:nvGraphicFramePr>
        <p:xfrm>
          <a:off x="164465" y="817960"/>
          <a:ext cx="7737858" cy="675840"/>
        </p:xfrm>
        <a:graphic>
          <a:graphicData uri="http://schemas.openxmlformats.org/drawingml/2006/table">
            <a:tbl>
              <a:tblPr firstRow="1" bandRow="1"/>
              <a:tblGrid>
                <a:gridCol w="873450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700330">
                  <a:extLst>
                    <a:ext uri="{9D8B030D-6E8A-4147-A177-3AD203B41FA5}">
                      <a16:colId xmlns:a16="http://schemas.microsoft.com/office/drawing/2014/main" val="1731736782"/>
                    </a:ext>
                  </a:extLst>
                </a:gridCol>
                <a:gridCol w="1006392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797020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328930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801478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989316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620471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620471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재공고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수의시담(견적요청)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13D83C00-E70C-D241-484A-ADFFE282A95D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2E0F2DDE-6991-7EE3-D7FC-57B161DCF4F9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182D5CE9-382A-4D61-C870-0B6A79F53224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6" name="Picture 1">
            <a:extLst>
              <a:ext uri="{FF2B5EF4-FFF2-40B4-BE49-F238E27FC236}">
                <a16:creationId xmlns:a16="http://schemas.microsoft.com/office/drawing/2014/main" id="{16DE05E0-262F-7E20-7BD8-B0C01B09921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B8CA7F6E-F8E3-EF42-D602-1BD4956AF88E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0616884F-A8E4-9182-61CB-8E74AC90EA46}"/>
              </a:ext>
            </a:extLst>
          </p:cNvPr>
          <p:cNvSpPr/>
          <p:nvPr/>
        </p:nvSpPr>
        <p:spPr>
          <a:xfrm>
            <a:off x="181506" y="2043894"/>
            <a:ext cx="1313872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본 입찰의 담당자 정보</a:t>
            </a:r>
            <a:endParaRPr lang="ko-KR" altLang="en-US" sz="9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30D88A59-3E98-73C8-E421-68D6E045ADC9}"/>
              </a:ext>
            </a:extLst>
          </p:cNvPr>
          <p:cNvGraphicFramePr>
            <a:graphicFrameLocks noGrp="1"/>
          </p:cNvGraphicFramePr>
          <p:nvPr/>
        </p:nvGraphicFramePr>
        <p:xfrm>
          <a:off x="181506" y="2340552"/>
          <a:ext cx="7711912" cy="67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5001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799912">
                  <a:extLst>
                    <a:ext uri="{9D8B030D-6E8A-4147-A177-3AD203B41FA5}">
                      <a16:colId xmlns:a16="http://schemas.microsoft.com/office/drawing/2014/main" val="3916647765"/>
                    </a:ext>
                  </a:extLst>
                </a:gridCol>
                <a:gridCol w="799912">
                  <a:extLst>
                    <a:ext uri="{9D8B030D-6E8A-4147-A177-3AD203B41FA5}">
                      <a16:colId xmlns:a16="http://schemas.microsoft.com/office/drawing/2014/main" val="1183147798"/>
                    </a:ext>
                  </a:extLst>
                </a:gridCol>
                <a:gridCol w="541215">
                  <a:extLst>
                    <a:ext uri="{9D8B030D-6E8A-4147-A177-3AD203B41FA5}">
                      <a16:colId xmlns:a16="http://schemas.microsoft.com/office/drawing/2014/main" val="296951377"/>
                    </a:ext>
                  </a:extLst>
                </a:gridCol>
                <a:gridCol w="413134">
                  <a:extLst>
                    <a:ext uri="{9D8B030D-6E8A-4147-A177-3AD203B41FA5}">
                      <a16:colId xmlns:a16="http://schemas.microsoft.com/office/drawing/2014/main" val="2761937130"/>
                    </a:ext>
                  </a:extLst>
                </a:gridCol>
                <a:gridCol w="1348840">
                  <a:extLst>
                    <a:ext uri="{9D8B030D-6E8A-4147-A177-3AD203B41FA5}">
                      <a16:colId xmlns:a16="http://schemas.microsoft.com/office/drawing/2014/main" val="1266029869"/>
                    </a:ext>
                  </a:extLst>
                </a:gridCol>
                <a:gridCol w="1094226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  <a:gridCol w="1021119">
                  <a:extLst>
                    <a:ext uri="{9D8B030D-6E8A-4147-A177-3AD203B41FA5}">
                      <a16:colId xmlns:a16="http://schemas.microsoft.com/office/drawing/2014/main" val="3329224653"/>
                    </a:ext>
                  </a:extLst>
                </a:gridCol>
                <a:gridCol w="1328553">
                  <a:extLst>
                    <a:ext uri="{9D8B030D-6E8A-4147-A177-3AD203B41FA5}">
                      <a16:colId xmlns:a16="http://schemas.microsoft.com/office/drawing/2014/main" val="270519625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No</a:t>
                      </a:r>
                      <a:endParaRPr lang="ko-KR" altLang="en-US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담당자 구분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이름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직책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이메일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핸드폰번호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전화번호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담당업무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A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업체명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기본 담당자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이희성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이사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leehee43@naver.com</a:t>
                      </a:r>
                      <a:endParaRPr lang="ko-KR" altLang="en-US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010-6844-2810</a:t>
                      </a:r>
                      <a:endParaRPr lang="ko-KR" altLang="en-US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02-6959-9856</a:t>
                      </a:r>
                      <a:endParaRPr lang="ko-KR" altLang="en-US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사내 입찰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계약 담당자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AFF15B7D-7885-9553-289B-EFDDDDEE2FB4}"/>
              </a:ext>
            </a:extLst>
          </p:cNvPr>
          <p:cNvSpPr/>
          <p:nvPr/>
        </p:nvSpPr>
        <p:spPr>
          <a:xfrm>
            <a:off x="181506" y="4206479"/>
            <a:ext cx="1856656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수의시담을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위한 견적 요청 정보</a:t>
            </a:r>
            <a:endParaRPr lang="ko-KR" altLang="en-US" sz="9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5C81C5D4-E47C-1AE3-4D12-F16260B5572F}"/>
              </a:ext>
            </a:extLst>
          </p:cNvPr>
          <p:cNvSpPr/>
          <p:nvPr/>
        </p:nvSpPr>
        <p:spPr>
          <a:xfrm>
            <a:off x="181506" y="3107235"/>
            <a:ext cx="1313872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낙찰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업체 선정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정보</a:t>
            </a:r>
            <a:endParaRPr lang="ko-KR" altLang="en-US" sz="9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516DFC54-B745-386A-D3C4-249F8B029CCE}"/>
              </a:ext>
            </a:extLst>
          </p:cNvPr>
          <p:cNvGraphicFramePr>
            <a:graphicFrameLocks noGrp="1"/>
          </p:cNvGraphicFramePr>
          <p:nvPr/>
        </p:nvGraphicFramePr>
        <p:xfrm>
          <a:off x="171328" y="3403893"/>
          <a:ext cx="7661991" cy="675840"/>
        </p:xfrm>
        <a:graphic>
          <a:graphicData uri="http://schemas.openxmlformats.org/drawingml/2006/table">
            <a:tbl>
              <a:tblPr firstRow="1" bandRow="1"/>
              <a:tblGrid>
                <a:gridCol w="935619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2311799">
                  <a:extLst>
                    <a:ext uri="{9D8B030D-6E8A-4147-A177-3AD203B41FA5}">
                      <a16:colId xmlns:a16="http://schemas.microsoft.com/office/drawing/2014/main" val="1353104844"/>
                    </a:ext>
                  </a:extLst>
                </a:gridCol>
                <a:gridCol w="935619">
                  <a:extLst>
                    <a:ext uri="{9D8B030D-6E8A-4147-A177-3AD203B41FA5}">
                      <a16:colId xmlns:a16="http://schemas.microsoft.com/office/drawing/2014/main" val="2103438129"/>
                    </a:ext>
                  </a:extLst>
                </a:gridCol>
                <a:gridCol w="1373342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2105612">
                  <a:extLst>
                    <a:ext uri="{9D8B030D-6E8A-4147-A177-3AD203B41FA5}">
                      <a16:colId xmlns:a16="http://schemas.microsoft.com/office/drawing/2014/main" val="151692974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순위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우선협상대상자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결과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업체명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견적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)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금액</a:t>
                      </a:r>
                      <a:endParaRPr lang="en-US" altLang="ko-KR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CE1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우선협상대상자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낙찰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A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업체명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90,000,000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76CE6D61-E364-9419-E636-B9E23BB213AE}"/>
              </a:ext>
            </a:extLst>
          </p:cNvPr>
          <p:cNvGraphicFramePr>
            <a:graphicFrameLocks noGrp="1"/>
          </p:cNvGraphicFramePr>
          <p:nvPr/>
        </p:nvGraphicFramePr>
        <p:xfrm>
          <a:off x="164467" y="4509967"/>
          <a:ext cx="7740859" cy="1013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4177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56682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견적 마감일시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2026.08.15 18:00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14883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견적 요청 시 전달 사항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단독응찰로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진행되는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수의시담으로서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입찰금액보다 조정된 금액으로 계약하길 희망합니다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630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견적 요청 시 전달 자료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첨부된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0242041"/>
                  </a:ext>
                </a:extLst>
              </a:tr>
            </a:tbl>
          </a:graphicData>
        </a:graphic>
      </p:graphicFrame>
      <p:sp>
        <p:nvSpPr>
          <p:cNvPr id="28" name="직사각형 27">
            <a:extLst>
              <a:ext uri="{FF2B5EF4-FFF2-40B4-BE49-F238E27FC236}">
                <a16:creationId xmlns:a16="http://schemas.microsoft.com/office/drawing/2014/main" id="{9BEE3642-D0AB-1796-FBD9-D3DEAF47200E}"/>
              </a:ext>
            </a:extLst>
          </p:cNvPr>
          <p:cNvSpPr/>
          <p:nvPr/>
        </p:nvSpPr>
        <p:spPr>
          <a:xfrm>
            <a:off x="2696614" y="5248336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바로보기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75D05486-D304-D3F0-1853-35015C984DB2}"/>
              </a:ext>
            </a:extLst>
          </p:cNvPr>
          <p:cNvSpPr/>
          <p:nvPr/>
        </p:nvSpPr>
        <p:spPr>
          <a:xfrm>
            <a:off x="3359451" y="5248336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다운로드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A6719F6-588F-4A7C-BB56-F2DF8A9BA873}"/>
              </a:ext>
            </a:extLst>
          </p:cNvPr>
          <p:cNvSpPr/>
          <p:nvPr/>
        </p:nvSpPr>
        <p:spPr>
          <a:xfrm>
            <a:off x="184392" y="5627340"/>
            <a:ext cx="699418" cy="288032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목록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526BC6C9-BC58-1798-15E1-2219510603C5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A3930D82-B0C7-EE7E-9EAF-DB9F4FE58F8A}"/>
              </a:ext>
            </a:extLst>
          </p:cNvPr>
          <p:cNvGrpSpPr/>
          <p:nvPr/>
        </p:nvGrpSpPr>
        <p:grpSpPr>
          <a:xfrm>
            <a:off x="163503" y="1599955"/>
            <a:ext cx="7741824" cy="345139"/>
            <a:chOff x="163503" y="1599955"/>
            <a:chExt cx="7741824" cy="345139"/>
          </a:xfrm>
        </p:grpSpPr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A9CA263-41F1-88C0-33C5-C4942A3D63C2}"/>
                </a:ext>
              </a:extLst>
            </p:cNvPr>
            <p:cNvCxnSpPr>
              <a:cxnSpLocks/>
            </p:cNvCxnSpPr>
            <p:nvPr/>
          </p:nvCxnSpPr>
          <p:spPr>
            <a:xfrm>
              <a:off x="167468" y="1941219"/>
              <a:ext cx="7737859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26280CB6-43E2-5E31-D3A4-E067DC47E881}"/>
                </a:ext>
              </a:extLst>
            </p:cNvPr>
            <p:cNvSpPr/>
            <p:nvPr/>
          </p:nvSpPr>
          <p:spPr>
            <a:xfrm>
              <a:off x="163503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발주계획 정보</a:t>
              </a:r>
            </a:p>
          </p:txBody>
        </p:sp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FCFB239F-75FA-74B6-7986-8DB0DE5BCE95}"/>
                </a:ext>
              </a:extLst>
            </p:cNvPr>
            <p:cNvSpPr/>
            <p:nvPr/>
          </p:nvSpPr>
          <p:spPr>
            <a:xfrm>
              <a:off x="1848030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 참여현황</a:t>
              </a:r>
            </a:p>
          </p:txBody>
        </p:sp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6DA7CF66-EF14-2496-CD1E-6170D48EB34B}"/>
                </a:ext>
              </a:extLst>
            </p:cNvPr>
            <p:cNvSpPr/>
            <p:nvPr/>
          </p:nvSpPr>
          <p:spPr>
            <a:xfrm>
              <a:off x="2681319" y="1652651"/>
              <a:ext cx="852685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심사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평가</a:t>
              </a: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45C7ED59-262D-B299-A3EE-CCE08F69D0AD}"/>
                </a:ext>
              </a:extLst>
            </p:cNvPr>
            <p:cNvSpPr/>
            <p:nvPr/>
          </p:nvSpPr>
          <p:spPr>
            <a:xfrm>
              <a:off x="1004560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정보</a:t>
              </a: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F9975982-9884-9CE6-7ACB-B95CC373DE77}"/>
                </a:ext>
              </a:extLst>
            </p:cNvPr>
            <p:cNvSpPr/>
            <p:nvPr/>
          </p:nvSpPr>
          <p:spPr>
            <a:xfrm>
              <a:off x="3532662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개찰</a:t>
              </a: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9E09D039-9B85-4C1F-203D-D2AF1B5458BF}"/>
                </a:ext>
              </a:extLst>
            </p:cNvPr>
            <p:cNvSpPr/>
            <p:nvPr/>
          </p:nvSpPr>
          <p:spPr>
            <a:xfrm>
              <a:off x="4370291" y="1658940"/>
              <a:ext cx="839130" cy="28615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낙찰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업체 선정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)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F0CC74B1-704D-DB79-B803-5357B2D1BB44}"/>
                </a:ext>
              </a:extLst>
            </p:cNvPr>
            <p:cNvSpPr/>
            <p:nvPr/>
          </p:nvSpPr>
          <p:spPr>
            <a:xfrm>
              <a:off x="5213654" y="1599955"/>
              <a:ext cx="839130" cy="345139"/>
            </a:xfrm>
            <a:prstGeom prst="rect">
              <a:avLst/>
            </a:prstGeom>
            <a:solidFill>
              <a:srgbClr val="00B050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 err="1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수의시담</a:t>
              </a:r>
              <a:endParaRPr lang="ko-KR" altLang="en-US" sz="8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7E5F0270-2C1B-6B4B-F1DE-6CC4BA92E4E2}"/>
                </a:ext>
              </a:extLst>
            </p:cNvPr>
            <p:cNvSpPr/>
            <p:nvPr/>
          </p:nvSpPr>
          <p:spPr>
            <a:xfrm>
              <a:off x="6051872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계약 요청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504356239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9A2DA7-B60F-1C7A-F40B-9549DC829F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3A1FBB61-6F2E-A48E-03CA-48667F79D1A0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E7F5667-2AE7-9409-1D97-D9A0D9D22FF3}"/>
              </a:ext>
            </a:extLst>
          </p:cNvPr>
          <p:cNvSpPr txBox="1"/>
          <p:nvPr/>
        </p:nvSpPr>
        <p:spPr>
          <a:xfrm>
            <a:off x="8049344" y="584684"/>
            <a:ext cx="1856656" cy="43858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저장된 ‘최종 계약 </a:t>
            </a:r>
            <a:r>
              <a:rPr lang="ko-KR" altLang="en-US" sz="800" u="sng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금액’을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보여줌</a:t>
            </a:r>
            <a:endParaRPr lang="en-US" altLang="ko-KR" sz="800" u="sng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자동 계산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소수 셋째 자리 반올림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대금 지급 조건 선택에 따라 아래의 입력 폼이 달라짐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분할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선택 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선금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기성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준공의 비율 입력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비율은 반드시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100%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 되어야 함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일괄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선택 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선금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중도금 선택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기타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선택 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기타 입력 항목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텍스트 박스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만 보여줌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계약요청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전자결재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하기 위해서는  반드시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계약 상대자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를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‘ERP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의 거래처 정보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와 매핑 시켜야 함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PMS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에 전송될 때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ERP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의 거래처 코드가 넘어가야 하기 때문임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매핑이 된 경우에는 회사명 옆에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거래처 코드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를 제공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‘ERP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의 거래처 정보와 매핑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C8FF6624-EAC5-DFBF-16F5-215A7C5C8194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2AB2CD28-FFA1-12CF-57F2-7AEEAAE1CF68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098BC872-DE58-A889-2271-06CE7D9C9D35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4FBCA-E9FB-DB46-D28B-08323B997052}"/>
              </a:ext>
            </a:extLst>
          </p:cNvPr>
          <p:cNvSpPr txBox="1"/>
          <p:nvPr/>
        </p:nvSpPr>
        <p:spPr>
          <a:xfrm>
            <a:off x="749224" y="25608"/>
            <a:ext cx="251543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 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계약 요청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64808A84-7B51-4341-2ACA-206FBA8C4C81}"/>
              </a:ext>
            </a:extLst>
          </p:cNvPr>
          <p:cNvGraphicFramePr>
            <a:graphicFrameLocks noGrp="1"/>
          </p:cNvGraphicFramePr>
          <p:nvPr/>
        </p:nvGraphicFramePr>
        <p:xfrm>
          <a:off x="164465" y="817960"/>
          <a:ext cx="7737860" cy="675840"/>
        </p:xfrm>
        <a:graphic>
          <a:graphicData uri="http://schemas.openxmlformats.org/drawingml/2006/table">
            <a:tbl>
              <a:tblPr firstRow="1" bandRow="1"/>
              <a:tblGrid>
                <a:gridCol w="866521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694775">
                  <a:extLst>
                    <a:ext uri="{9D8B030D-6E8A-4147-A177-3AD203B41FA5}">
                      <a16:colId xmlns:a16="http://schemas.microsoft.com/office/drawing/2014/main" val="1731736782"/>
                    </a:ext>
                  </a:extLst>
                </a:gridCol>
                <a:gridCol w="789593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882685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328025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839685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1036478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650049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650049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재공고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수의시담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완료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136B4313-02E4-C844-6475-004728B97F7B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16D53333-0AC9-641A-D1D0-55D3192A94FD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408C5400-91A6-6A6E-B17C-3A372FE6B121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6" name="Picture 1">
            <a:extLst>
              <a:ext uri="{FF2B5EF4-FFF2-40B4-BE49-F238E27FC236}">
                <a16:creationId xmlns:a16="http://schemas.microsoft.com/office/drawing/2014/main" id="{F055A287-3B11-23E3-63B0-8DA928363B7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6DAB9B41-2542-9C11-99F3-1181DD35AE8F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A00D3A20-D3E0-E748-B502-DA032B409262}"/>
              </a:ext>
            </a:extLst>
          </p:cNvPr>
          <p:cNvSpPr/>
          <p:nvPr/>
        </p:nvSpPr>
        <p:spPr>
          <a:xfrm>
            <a:off x="181506" y="2034970"/>
            <a:ext cx="1856656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계약 요청 정보</a:t>
            </a:r>
            <a:endParaRPr lang="ko-KR" altLang="en-US" sz="9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B2CF1BE9-7FEE-BEB5-4DD1-B627270430B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024290"/>
              </p:ext>
            </p:extLst>
          </p:nvPr>
        </p:nvGraphicFramePr>
        <p:xfrm>
          <a:off x="164467" y="2313127"/>
          <a:ext cx="7740859" cy="4110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4177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56682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계약명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 중 승강기설치공사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14883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계약방법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경쟁입찰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일반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 &gt;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제한적 최저가 입찰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630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계약상대자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A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업체명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거래처 코드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매핑 안됨 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|  02663)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02420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추정금액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94,490,000 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구천사백사십구만원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 VAT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포함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65643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계약금액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48,507,800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사천팔백오십만칠천팔백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원정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/ VAT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포함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27964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낙찰률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추정금액 대비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90.069%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89032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공급가액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금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사천사백구만팔천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원정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94706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대금 지급 조건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○ 분할     ○ 일괄     ○ 기타</a:t>
                      </a: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</a:b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</a:b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선금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:                                  %    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기성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:                                  %    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준공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:                                  %</a:t>
                      </a: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</a:b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</a:b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○ 선금    ○ 준공</a:t>
                      </a: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</a:b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</a:b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기타 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: 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41347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용역기한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                                     ~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73745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계약일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*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                                      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계약상대자 날인 시 유효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4555447"/>
                  </a:ext>
                </a:extLst>
              </a:tr>
            </a:tbl>
          </a:graphicData>
        </a:graphic>
      </p:graphicFrame>
      <p:sp>
        <p:nvSpPr>
          <p:cNvPr id="23" name="직사각형 22">
            <a:extLst>
              <a:ext uri="{FF2B5EF4-FFF2-40B4-BE49-F238E27FC236}">
                <a16:creationId xmlns:a16="http://schemas.microsoft.com/office/drawing/2014/main" id="{8BE80260-D90A-3F6A-7BCF-240D96D0DAE8}"/>
              </a:ext>
            </a:extLst>
          </p:cNvPr>
          <p:cNvSpPr/>
          <p:nvPr/>
        </p:nvSpPr>
        <p:spPr>
          <a:xfrm>
            <a:off x="2161215" y="5458918"/>
            <a:ext cx="4823162" cy="2080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50</a:t>
            </a:r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자 이내로 입력해주세요</a:t>
            </a:r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.(</a:t>
            </a:r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 </a:t>
            </a:r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00" b="0" dirty="0" err="1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기성금</a:t>
            </a:r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매월 </a:t>
            </a:r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회</a:t>
            </a:r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b="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0C47684A-C8E0-4210-05C2-15B68EA4A676}"/>
              </a:ext>
            </a:extLst>
          </p:cNvPr>
          <p:cNvSpPr/>
          <p:nvPr/>
        </p:nvSpPr>
        <p:spPr>
          <a:xfrm>
            <a:off x="1604201" y="3620746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B68480FD-D609-9E07-A6DD-37AEED95359B}"/>
              </a:ext>
            </a:extLst>
          </p:cNvPr>
          <p:cNvSpPr/>
          <p:nvPr/>
        </p:nvSpPr>
        <p:spPr>
          <a:xfrm>
            <a:off x="0" y="6569974"/>
            <a:ext cx="8049344" cy="18002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계속</a:t>
            </a: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8948497C-5A9E-4604-0C1E-9CB11308397C}"/>
              </a:ext>
            </a:extLst>
          </p:cNvPr>
          <p:cNvSpPr/>
          <p:nvPr/>
        </p:nvSpPr>
        <p:spPr>
          <a:xfrm>
            <a:off x="1604201" y="3914029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2B625F64-9F2E-FB1C-1A85-4A7730174426}"/>
              </a:ext>
            </a:extLst>
          </p:cNvPr>
          <p:cNvSpPr/>
          <p:nvPr/>
        </p:nvSpPr>
        <p:spPr>
          <a:xfrm>
            <a:off x="2168289" y="4979356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숫자로 입력</a:t>
            </a:r>
            <a:endParaRPr lang="ko-KR" altLang="en-US" sz="8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861945D8-65F4-4E45-ADA3-ACD78C49422C}"/>
              </a:ext>
            </a:extLst>
          </p:cNvPr>
          <p:cNvSpPr/>
          <p:nvPr/>
        </p:nvSpPr>
        <p:spPr>
          <a:xfrm>
            <a:off x="3656167" y="4979356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숫자로 입력</a:t>
            </a:r>
            <a:endParaRPr lang="ko-KR" altLang="en-US" sz="8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8185AA01-3492-5702-5237-37D0355B7B7B}"/>
              </a:ext>
            </a:extLst>
          </p:cNvPr>
          <p:cNvSpPr/>
          <p:nvPr/>
        </p:nvSpPr>
        <p:spPr>
          <a:xfrm>
            <a:off x="5135419" y="4979356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숫자로 입력</a:t>
            </a:r>
            <a:endParaRPr lang="ko-KR" altLang="en-US" sz="8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2A8ED04E-2C52-5435-CE09-4DA223163559}"/>
              </a:ext>
            </a:extLst>
          </p:cNvPr>
          <p:cNvSpPr/>
          <p:nvPr/>
        </p:nvSpPr>
        <p:spPr>
          <a:xfrm>
            <a:off x="1604201" y="4599211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9F3A2A62-3093-8367-4EB1-02A3B672D067}"/>
              </a:ext>
            </a:extLst>
          </p:cNvPr>
          <p:cNvGrpSpPr/>
          <p:nvPr/>
        </p:nvGrpSpPr>
        <p:grpSpPr>
          <a:xfrm>
            <a:off x="163503" y="1599955"/>
            <a:ext cx="7741824" cy="345139"/>
            <a:chOff x="163503" y="1599955"/>
            <a:chExt cx="7741824" cy="345139"/>
          </a:xfrm>
        </p:grpSpPr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E81A8446-784E-0833-26A4-4816BE9B2AF2}"/>
                </a:ext>
              </a:extLst>
            </p:cNvPr>
            <p:cNvCxnSpPr>
              <a:cxnSpLocks/>
            </p:cNvCxnSpPr>
            <p:nvPr/>
          </p:nvCxnSpPr>
          <p:spPr>
            <a:xfrm>
              <a:off x="167468" y="1941219"/>
              <a:ext cx="7737859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7BF76C54-7CED-C85B-E7C3-59977E076863}"/>
                </a:ext>
              </a:extLst>
            </p:cNvPr>
            <p:cNvSpPr/>
            <p:nvPr/>
          </p:nvSpPr>
          <p:spPr>
            <a:xfrm>
              <a:off x="163503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발주계획 정보</a:t>
              </a: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C24E441E-6F46-6324-94CA-72E9C0B91A10}"/>
                </a:ext>
              </a:extLst>
            </p:cNvPr>
            <p:cNvSpPr/>
            <p:nvPr/>
          </p:nvSpPr>
          <p:spPr>
            <a:xfrm>
              <a:off x="1848030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 참여현황</a:t>
              </a:r>
            </a:p>
          </p:txBody>
        </p:sp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51999938-EF42-04CA-7966-653893B780A0}"/>
                </a:ext>
              </a:extLst>
            </p:cNvPr>
            <p:cNvSpPr/>
            <p:nvPr/>
          </p:nvSpPr>
          <p:spPr>
            <a:xfrm>
              <a:off x="2681319" y="1652651"/>
              <a:ext cx="852685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심사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평가</a:t>
              </a: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D9F16ED2-A6E9-1EC0-8B2D-26698CC6E61B}"/>
                </a:ext>
              </a:extLst>
            </p:cNvPr>
            <p:cNvSpPr/>
            <p:nvPr/>
          </p:nvSpPr>
          <p:spPr>
            <a:xfrm>
              <a:off x="1004560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정보</a:t>
              </a: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DBAC5481-DD81-8D23-7EB5-684DB1E71F37}"/>
                </a:ext>
              </a:extLst>
            </p:cNvPr>
            <p:cNvSpPr/>
            <p:nvPr/>
          </p:nvSpPr>
          <p:spPr>
            <a:xfrm>
              <a:off x="3532662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개찰</a:t>
              </a: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DFB8C4C7-9030-3CD9-23F6-2B2373018101}"/>
                </a:ext>
              </a:extLst>
            </p:cNvPr>
            <p:cNvSpPr/>
            <p:nvPr/>
          </p:nvSpPr>
          <p:spPr>
            <a:xfrm>
              <a:off x="4370291" y="1658940"/>
              <a:ext cx="839130" cy="28615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낙찰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업체 선정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)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F2701481-15FE-ED8D-8FD5-484C75F81003}"/>
                </a:ext>
              </a:extLst>
            </p:cNvPr>
            <p:cNvSpPr/>
            <p:nvPr/>
          </p:nvSpPr>
          <p:spPr>
            <a:xfrm>
              <a:off x="5213654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수의시담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8878F8D2-4F59-83A0-4061-0FE75336E45F}"/>
                </a:ext>
              </a:extLst>
            </p:cNvPr>
            <p:cNvSpPr/>
            <p:nvPr/>
          </p:nvSpPr>
          <p:spPr>
            <a:xfrm>
              <a:off x="6051872" y="1599955"/>
              <a:ext cx="839130" cy="345139"/>
            </a:xfrm>
            <a:prstGeom prst="rect">
              <a:avLst/>
            </a:prstGeom>
            <a:solidFill>
              <a:srgbClr val="00B050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계약 요청</a:t>
              </a:r>
            </a:p>
          </p:txBody>
        </p:sp>
      </p:grp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0EEC890-4187-6458-941F-293C96D5FD14}"/>
              </a:ext>
            </a:extLst>
          </p:cNvPr>
          <p:cNvSpPr/>
          <p:nvPr/>
        </p:nvSpPr>
        <p:spPr>
          <a:xfrm>
            <a:off x="1820225" y="5809428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날짜 선택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84410FBE-8C81-A264-BAB6-0D301419921F}"/>
              </a:ext>
            </a:extLst>
          </p:cNvPr>
          <p:cNvSpPr/>
          <p:nvPr/>
        </p:nvSpPr>
        <p:spPr>
          <a:xfrm>
            <a:off x="2630476" y="5809428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227424E7-0071-554D-CC4D-D021BA32A62E}"/>
              </a:ext>
            </a:extLst>
          </p:cNvPr>
          <p:cNvSpPr/>
          <p:nvPr/>
        </p:nvSpPr>
        <p:spPr>
          <a:xfrm>
            <a:off x="3041347" y="5809428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날짜 선택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1594F54-884F-7CA8-758E-CD52AC6AFFA0}"/>
              </a:ext>
            </a:extLst>
          </p:cNvPr>
          <p:cNvSpPr/>
          <p:nvPr/>
        </p:nvSpPr>
        <p:spPr>
          <a:xfrm>
            <a:off x="3851598" y="5809428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7D7B91B-53CD-3086-9A03-9A53AD289BDE}"/>
              </a:ext>
            </a:extLst>
          </p:cNvPr>
          <p:cNvSpPr/>
          <p:nvPr/>
        </p:nvSpPr>
        <p:spPr>
          <a:xfrm>
            <a:off x="1820225" y="6157261"/>
            <a:ext cx="821743" cy="2154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날짜 선택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8DF7B40B-AEF3-577C-9E15-FC3D7ED8938B}"/>
              </a:ext>
            </a:extLst>
          </p:cNvPr>
          <p:cNvSpPr/>
          <p:nvPr/>
        </p:nvSpPr>
        <p:spPr>
          <a:xfrm>
            <a:off x="2630476" y="6157261"/>
            <a:ext cx="215441" cy="21544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3A0DB19D-AD28-E734-A737-FF0076B8DF50}"/>
              </a:ext>
            </a:extLst>
          </p:cNvPr>
          <p:cNvSpPr/>
          <p:nvPr/>
        </p:nvSpPr>
        <p:spPr>
          <a:xfrm>
            <a:off x="3829999" y="3045457"/>
            <a:ext cx="1485593" cy="215441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ERP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의 거래처 정보와 매핑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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F231FDFE-A76D-B2DC-59D9-11D9F8E9566F}"/>
              </a:ext>
            </a:extLst>
          </p:cNvPr>
          <p:cNvSpPr/>
          <p:nvPr/>
        </p:nvSpPr>
        <p:spPr>
          <a:xfrm>
            <a:off x="1604201" y="2907626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31843957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98CE0F-222B-DACA-4247-2EBEBB9042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263F62F6-09F2-46FF-26A9-EB9E732D0590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6F058AB-852E-9C6A-5D24-6CA20A575BCE}"/>
              </a:ext>
            </a:extLst>
          </p:cNvPr>
          <p:cNvSpPr txBox="1"/>
          <p:nvPr/>
        </p:nvSpPr>
        <p:spPr>
          <a:xfrm>
            <a:off x="8049344" y="584684"/>
            <a:ext cx="1856656" cy="431502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각 보증보험 증권의 발급이 필요한 경우 항목을 체크함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발급 필요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인 경우 아래의 항목을 노출함</a:t>
            </a:r>
            <a:endParaRPr lang="en-US" altLang="ko-KR" sz="800" u="sng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계약 상대자가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‘ERP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의 거래처 정보와 매핑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되지 않은 경우 계약요청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전자결재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할 수 없음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전자결재가 요청되면 진행상태를 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계약품의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요청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)’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로 변경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완료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승인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)’ 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 진행상태를 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계약품의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완료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)’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로 변경</a:t>
            </a:r>
            <a:b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문서 참조 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[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샘플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]</a:t>
            </a:r>
            <a:r>
              <a:rPr lang="ko-KR" altLang="en-US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계약체결을 위한 품의</a:t>
            </a:r>
            <a: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.pdf</a:t>
            </a:r>
            <a:b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완료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승인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후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계약관리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로 전송 시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계약관리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발주계약 현황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에서 조회 가능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계약관리로 정보가 넘어가더라도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정보를 복사해서 넘어가야 함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현 입찰관리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&gt;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현황에는 목록이 유지됨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highlight>
                <a:srgbClr val="FFFF00"/>
              </a:highlight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E786C22-32B1-05E4-CB33-33FE0DB2B432}"/>
              </a:ext>
            </a:extLst>
          </p:cNvPr>
          <p:cNvSpPr txBox="1"/>
          <p:nvPr/>
        </p:nvSpPr>
        <p:spPr>
          <a:xfrm>
            <a:off x="749224" y="25608"/>
            <a:ext cx="251543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 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계약 요청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1517503A-666E-B495-3CE1-652BC3465ED2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08C1C1B-5ECA-083A-C9A5-55EFE7CD7F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3668831"/>
              </p:ext>
            </p:extLst>
          </p:nvPr>
        </p:nvGraphicFramePr>
        <p:xfrm>
          <a:off x="164465" y="352611"/>
          <a:ext cx="7740859" cy="3152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4179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56680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계약이행 보증보험 증권</a:t>
                      </a:r>
                      <a:r>
                        <a:rPr lang="ko-KR" altLang="en-US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○ 발급 필요   ○ 발급 필요 없음  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계약이행 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보증금률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:                            %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92621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선금이행 보증보험 증권</a:t>
                      </a:r>
                      <a:r>
                        <a:rPr lang="ko-KR" altLang="en-US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○ 발급 필요   ○ 발급 필요 없음  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선금이행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보증금률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:                            %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3821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하자이행 보증보험 증권</a:t>
                      </a:r>
                      <a:r>
                        <a:rPr lang="ko-KR" altLang="en-US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○ 발급 필요   ○ 발급 필요 없음  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하자이행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보증금률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:                            %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60076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indent="-7200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계약서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비 </a:t>
                      </a:r>
                      <a:r>
                        <a:rPr lang="ko-KR" altLang="en-US" sz="800" b="1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날인본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r>
                        <a:rPr lang="ko-KR" altLang="en-US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rgbClr val="C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*</a:t>
                      </a:r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b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b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45542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indent="-7200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기타서류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b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b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8821064"/>
                  </a:ext>
                </a:extLst>
              </a:tr>
            </a:tbl>
          </a:graphicData>
        </a:graphic>
      </p:graphicFrame>
      <p:pic>
        <p:nvPicPr>
          <p:cNvPr id="13" name="그림 12">
            <a:extLst>
              <a:ext uri="{FF2B5EF4-FFF2-40B4-BE49-F238E27FC236}">
                <a16:creationId xmlns:a16="http://schemas.microsoft.com/office/drawing/2014/main" id="{DBC4C820-7D05-0615-5FBA-23ED40E46AC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20225" y="2178714"/>
            <a:ext cx="5270769" cy="553770"/>
          </a:xfrm>
          <a:prstGeom prst="rect">
            <a:avLst/>
          </a:prstGeom>
        </p:spPr>
      </p:pic>
      <p:pic>
        <p:nvPicPr>
          <p:cNvPr id="19" name="그림 18">
            <a:extLst>
              <a:ext uri="{FF2B5EF4-FFF2-40B4-BE49-F238E27FC236}">
                <a16:creationId xmlns:a16="http://schemas.microsoft.com/office/drawing/2014/main" id="{E8276CC7-0321-8458-57F4-195658E8338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20225" y="2870239"/>
            <a:ext cx="5270769" cy="553770"/>
          </a:xfrm>
          <a:prstGeom prst="rect">
            <a:avLst/>
          </a:prstGeom>
        </p:spPr>
      </p:pic>
      <p:sp>
        <p:nvSpPr>
          <p:cNvPr id="22" name="직사각형 21">
            <a:extLst>
              <a:ext uri="{FF2B5EF4-FFF2-40B4-BE49-F238E27FC236}">
                <a16:creationId xmlns:a16="http://schemas.microsoft.com/office/drawing/2014/main" id="{97F2CF5E-1E32-6846-BFD6-B6193437370A}"/>
              </a:ext>
            </a:extLst>
          </p:cNvPr>
          <p:cNvSpPr/>
          <p:nvPr/>
        </p:nvSpPr>
        <p:spPr>
          <a:xfrm>
            <a:off x="2740878" y="660506"/>
            <a:ext cx="682702" cy="2080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숫자로 입력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0A6A24F1-4601-1F69-D839-90A4F9DA6659}"/>
              </a:ext>
            </a:extLst>
          </p:cNvPr>
          <p:cNvSpPr/>
          <p:nvPr/>
        </p:nvSpPr>
        <p:spPr>
          <a:xfrm>
            <a:off x="2740878" y="1243109"/>
            <a:ext cx="682702" cy="2080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숫자로 입력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654B4870-CC3C-0E39-22F8-6BF94FC7F7AC}"/>
              </a:ext>
            </a:extLst>
          </p:cNvPr>
          <p:cNvSpPr/>
          <p:nvPr/>
        </p:nvSpPr>
        <p:spPr>
          <a:xfrm>
            <a:off x="2740878" y="1816302"/>
            <a:ext cx="682702" cy="2080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숫자로 입력</a:t>
            </a: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B55AE982-A938-85C3-1E02-0D7822015D5E}"/>
              </a:ext>
            </a:extLst>
          </p:cNvPr>
          <p:cNvSpPr/>
          <p:nvPr/>
        </p:nvSpPr>
        <p:spPr>
          <a:xfrm>
            <a:off x="1616276" y="288026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3DB89FA9-39F7-234D-56C1-F24521A8042A}"/>
              </a:ext>
            </a:extLst>
          </p:cNvPr>
          <p:cNvSpPr/>
          <p:nvPr/>
        </p:nvSpPr>
        <p:spPr>
          <a:xfrm>
            <a:off x="181506" y="3589691"/>
            <a:ext cx="1856656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추가 사항</a:t>
            </a:r>
            <a:endParaRPr lang="ko-KR" altLang="en-US" sz="9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46" name="표 45">
            <a:extLst>
              <a:ext uri="{FF2B5EF4-FFF2-40B4-BE49-F238E27FC236}">
                <a16:creationId xmlns:a16="http://schemas.microsoft.com/office/drawing/2014/main" id="{D4B1D36C-4624-CBEC-1966-02900DD8EF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3814203"/>
              </p:ext>
            </p:extLst>
          </p:nvPr>
        </p:nvGraphicFramePr>
        <p:xfrm>
          <a:off x="164467" y="3876474"/>
          <a:ext cx="7740859" cy="1666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4177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56682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비고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14883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참조 문서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63039"/>
                  </a:ext>
                </a:extLst>
              </a:tr>
            </a:tbl>
          </a:graphicData>
        </a:graphic>
      </p:graphicFrame>
      <p:sp>
        <p:nvSpPr>
          <p:cNvPr id="48" name="직사각형 47">
            <a:extLst>
              <a:ext uri="{FF2B5EF4-FFF2-40B4-BE49-F238E27FC236}">
                <a16:creationId xmlns:a16="http://schemas.microsoft.com/office/drawing/2014/main" id="{17C33F2F-7325-2B01-3172-ACD814E9DE11}"/>
              </a:ext>
            </a:extLst>
          </p:cNvPr>
          <p:cNvSpPr/>
          <p:nvPr/>
        </p:nvSpPr>
        <p:spPr>
          <a:xfrm>
            <a:off x="1848030" y="3966603"/>
            <a:ext cx="5949286" cy="73978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rtlCol="0" anchor="t" anchorCtr="0"/>
          <a:lstStyle/>
          <a:p>
            <a:pPr algn="l">
              <a:lnSpc>
                <a:spcPct val="130000"/>
              </a:lnSpc>
            </a:pPr>
            <a:r>
              <a:rPr lang="en-US" altLang="ko-KR" sz="800" b="0" dirty="0" err="1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TextArea</a:t>
            </a:r>
            <a:b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</a:t>
            </a:r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b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인지세 </a:t>
            </a:r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35,000</a:t>
            </a:r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원</a:t>
            </a:r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전체 인지세의 </a:t>
            </a:r>
            <a: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50%) / </a:t>
            </a:r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종이문서용 전자수입인지 납부</a:t>
            </a:r>
            <a:br>
              <a:rPr lang="en-US" altLang="ko-KR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물품대금 연동 : 연동제 미대상</a:t>
            </a:r>
            <a:endParaRPr lang="en-US" altLang="ko-KR" sz="800" b="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l">
              <a:lnSpc>
                <a:spcPct val="130000"/>
              </a:lnSpc>
            </a:pPr>
            <a:endParaRPr lang="ko-KR" altLang="en-US" sz="800" b="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51" name="그림 50">
            <a:extLst>
              <a:ext uri="{FF2B5EF4-FFF2-40B4-BE49-F238E27FC236}">
                <a16:creationId xmlns:a16="http://schemas.microsoft.com/office/drawing/2014/main" id="{D4E0541C-3232-D9AA-91C2-1B3B0A67217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42471" y="4858760"/>
            <a:ext cx="5949286" cy="625057"/>
          </a:xfrm>
          <a:prstGeom prst="rect">
            <a:avLst/>
          </a:prstGeom>
        </p:spPr>
      </p:pic>
      <p:sp>
        <p:nvSpPr>
          <p:cNvPr id="53" name="직사각형 52">
            <a:extLst>
              <a:ext uri="{FF2B5EF4-FFF2-40B4-BE49-F238E27FC236}">
                <a16:creationId xmlns:a16="http://schemas.microsoft.com/office/drawing/2014/main" id="{C55F063A-9D59-426F-4F34-DD523F512007}"/>
              </a:ext>
            </a:extLst>
          </p:cNvPr>
          <p:cNvSpPr/>
          <p:nvPr/>
        </p:nvSpPr>
        <p:spPr>
          <a:xfrm>
            <a:off x="6635817" y="5635370"/>
            <a:ext cx="1251509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계약요청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 </a:t>
            </a:r>
            <a:endParaRPr lang="ko-KR" altLang="en-US" sz="9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C7FD0061-2FBE-5614-FCB5-5A8E74CD2957}"/>
              </a:ext>
            </a:extLst>
          </p:cNvPr>
          <p:cNvSpPr/>
          <p:nvPr/>
        </p:nvSpPr>
        <p:spPr>
          <a:xfrm>
            <a:off x="-3959864" y="4402674"/>
            <a:ext cx="378042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요청 시 유의사항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79643E3B-B30C-1C57-B986-F911440A49FF}"/>
              </a:ext>
            </a:extLst>
          </p:cNvPr>
          <p:cNvSpPr/>
          <p:nvPr/>
        </p:nvSpPr>
        <p:spPr>
          <a:xfrm>
            <a:off x="-3959864" y="4675587"/>
            <a:ext cx="3780420" cy="185143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41688486-81B1-311A-1B41-B81E7B773D73}"/>
              </a:ext>
            </a:extLst>
          </p:cNvPr>
          <p:cNvSpPr/>
          <p:nvPr/>
        </p:nvSpPr>
        <p:spPr>
          <a:xfrm>
            <a:off x="-452532" y="4402674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B9B785F1-130E-9CDB-C4D7-F011FBC6E4C0}"/>
              </a:ext>
            </a:extLst>
          </p:cNvPr>
          <p:cNvSpPr/>
          <p:nvPr/>
        </p:nvSpPr>
        <p:spPr>
          <a:xfrm>
            <a:off x="-3852085" y="5088974"/>
            <a:ext cx="3532535" cy="879892"/>
          </a:xfrm>
          <a:prstGeom prst="rect">
            <a:avLst/>
          </a:prstGeom>
          <a:solidFill>
            <a:srgbClr val="FFFF00">
              <a:alpha val="20000"/>
            </a:srgb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56000" tIns="108000" bIns="108000" rtlCol="0" anchor="ctr" anchorCtr="0"/>
          <a:lstStyle/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전자결재 요청을 하면 </a:t>
            </a:r>
            <a:b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</a:b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더 이상 입력하신 계약 요청내역이 수정되지 않습니다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.</a:t>
            </a:r>
          </a:p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요청하시겠습니까?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pic>
        <p:nvPicPr>
          <p:cNvPr id="63" name="Picture 8" descr="Announcement, hailer, loudspeaker, megaphone, speaker icon - Download on Iconfinder">
            <a:extLst>
              <a:ext uri="{FF2B5EF4-FFF2-40B4-BE49-F238E27FC236}">
                <a16:creationId xmlns:a16="http://schemas.microsoft.com/office/drawing/2014/main" id="{6E184956-9182-BB91-AE74-6B4B3A09173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735963" y="5245595"/>
            <a:ext cx="570440" cy="5704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5" name="직사각형 64">
            <a:extLst>
              <a:ext uri="{FF2B5EF4-FFF2-40B4-BE49-F238E27FC236}">
                <a16:creationId xmlns:a16="http://schemas.microsoft.com/office/drawing/2014/main" id="{21160C51-E6B2-E6AD-4F0C-9B7509A4FC7D}"/>
              </a:ext>
            </a:extLst>
          </p:cNvPr>
          <p:cNvSpPr/>
          <p:nvPr/>
        </p:nvSpPr>
        <p:spPr>
          <a:xfrm>
            <a:off x="-1008527" y="6077341"/>
            <a:ext cx="699418" cy="28803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취소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D52E6805-234F-70FA-7C94-03F077961956}"/>
              </a:ext>
            </a:extLst>
          </p:cNvPr>
          <p:cNvSpPr/>
          <p:nvPr/>
        </p:nvSpPr>
        <p:spPr>
          <a:xfrm>
            <a:off x="-3828644" y="4771975"/>
            <a:ext cx="1657505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요청 시 유의사항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4B8083B7-19C5-DE60-2446-F13349A3011A}"/>
              </a:ext>
            </a:extLst>
          </p:cNvPr>
          <p:cNvSpPr/>
          <p:nvPr/>
        </p:nvSpPr>
        <p:spPr>
          <a:xfrm>
            <a:off x="-2326807" y="6077341"/>
            <a:ext cx="1251509" cy="28803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계약요청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en-US" altLang="ko-KR" sz="900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 </a:t>
            </a:r>
            <a:endParaRPr lang="ko-KR" altLang="en-US" sz="900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" name="타원 70">
            <a:extLst>
              <a:ext uri="{FF2B5EF4-FFF2-40B4-BE49-F238E27FC236}">
                <a16:creationId xmlns:a16="http://schemas.microsoft.com/office/drawing/2014/main" id="{8D956E84-8272-F875-5649-37635E7FBB06}"/>
              </a:ext>
            </a:extLst>
          </p:cNvPr>
          <p:cNvSpPr/>
          <p:nvPr/>
        </p:nvSpPr>
        <p:spPr>
          <a:xfrm>
            <a:off x="-4079254" y="4293096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2’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72" name="연결선: 꺾임 71">
            <a:extLst>
              <a:ext uri="{FF2B5EF4-FFF2-40B4-BE49-F238E27FC236}">
                <a16:creationId xmlns:a16="http://schemas.microsoft.com/office/drawing/2014/main" id="{8F5CC74F-4FB5-0931-AAF7-465414B3143E}"/>
              </a:ext>
            </a:extLst>
          </p:cNvPr>
          <p:cNvCxnSpPr>
            <a:cxnSpLocks/>
            <a:stCxn id="53" idx="1"/>
            <a:endCxn id="57" idx="3"/>
          </p:cNvCxnSpPr>
          <p:nvPr/>
        </p:nvCxnSpPr>
        <p:spPr>
          <a:xfrm rot="10800000">
            <a:off x="-179443" y="5601306"/>
            <a:ext cx="6815261" cy="178080"/>
          </a:xfrm>
          <a:prstGeom prst="bentConnector3">
            <a:avLst>
              <a:gd name="adj1" fmla="val 50000"/>
            </a:avLst>
          </a:prstGeom>
          <a:ln>
            <a:solidFill>
              <a:srgbClr val="C00000"/>
            </a:solidFill>
            <a:prstDash val="sysDash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C220F468-77CD-CDBC-C3CB-98D248E05BF5}"/>
              </a:ext>
            </a:extLst>
          </p:cNvPr>
          <p:cNvSpPr/>
          <p:nvPr/>
        </p:nvSpPr>
        <p:spPr>
          <a:xfrm>
            <a:off x="-3959864" y="2107219"/>
            <a:ext cx="378042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ERP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의 거래처 정보와 매핑 필요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362356C-CDA9-81DC-B68D-7BDF9F13FC16}"/>
              </a:ext>
            </a:extLst>
          </p:cNvPr>
          <p:cNvSpPr/>
          <p:nvPr/>
        </p:nvSpPr>
        <p:spPr>
          <a:xfrm>
            <a:off x="-3959864" y="2380132"/>
            <a:ext cx="3780420" cy="185143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8643A867-B0FC-EAB2-734E-BEFD7817F163}"/>
              </a:ext>
            </a:extLst>
          </p:cNvPr>
          <p:cNvSpPr/>
          <p:nvPr/>
        </p:nvSpPr>
        <p:spPr>
          <a:xfrm>
            <a:off x="-452532" y="2107219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1FE1DDAB-6D30-37BA-1B43-BB0C2CE1DA70}"/>
              </a:ext>
            </a:extLst>
          </p:cNvPr>
          <p:cNvSpPr/>
          <p:nvPr/>
        </p:nvSpPr>
        <p:spPr>
          <a:xfrm>
            <a:off x="-3852085" y="2793519"/>
            <a:ext cx="3532535" cy="879892"/>
          </a:xfrm>
          <a:prstGeom prst="rect">
            <a:avLst/>
          </a:prstGeom>
          <a:solidFill>
            <a:srgbClr val="FFFF00">
              <a:alpha val="20000"/>
            </a:srgb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56000" tIns="108000" bIns="108000" rtlCol="0" anchor="ctr" anchorCtr="0"/>
          <a:lstStyle/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계약요청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(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전자결재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)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처리를 위해서는 반드시 ‘계약 </a:t>
            </a: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상대자’를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‘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ERP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의 거래처 </a:t>
            </a: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정보’와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매핑 시켜야 합니다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.</a:t>
            </a:r>
          </a:p>
          <a:p>
            <a:pPr marL="0" marR="0" lvl="0" indent="0" algn="l" defTabSz="914400" rtl="0" eaLnBrk="1" fontAlgn="base" latinLnBrk="1" hangingPunct="1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화면 상단의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‘ERP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의 거래처 정보와 매핑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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’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버튼을 클릭하세요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pic>
        <p:nvPicPr>
          <p:cNvPr id="16" name="Picture 8" descr="Announcement, hailer, loudspeaker, megaphone, speaker icon - Download on Iconfinder">
            <a:extLst>
              <a:ext uri="{FF2B5EF4-FFF2-40B4-BE49-F238E27FC236}">
                <a16:creationId xmlns:a16="http://schemas.microsoft.com/office/drawing/2014/main" id="{DC685AA2-2DF7-84E8-86ED-1CAC6AB158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735963" y="2950140"/>
            <a:ext cx="570440" cy="5704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" name="직사각형 16">
            <a:extLst>
              <a:ext uri="{FF2B5EF4-FFF2-40B4-BE49-F238E27FC236}">
                <a16:creationId xmlns:a16="http://schemas.microsoft.com/office/drawing/2014/main" id="{C7A29CF5-4AC6-74CC-A61B-9E7DA811E190}"/>
              </a:ext>
            </a:extLst>
          </p:cNvPr>
          <p:cNvSpPr/>
          <p:nvPr/>
        </p:nvSpPr>
        <p:spPr>
          <a:xfrm>
            <a:off x="-1008527" y="3781886"/>
            <a:ext cx="699418" cy="28803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닫기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1DD0F3F-5407-8D24-1E5D-C59E223B1B90}"/>
              </a:ext>
            </a:extLst>
          </p:cNvPr>
          <p:cNvSpPr/>
          <p:nvPr/>
        </p:nvSpPr>
        <p:spPr>
          <a:xfrm>
            <a:off x="-3828644" y="2476520"/>
            <a:ext cx="1949252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ERP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의 거래처 정보와 매핑 필요</a:t>
            </a: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C50700A4-6117-2C68-DF80-D78B7A8CC193}"/>
              </a:ext>
            </a:extLst>
          </p:cNvPr>
          <p:cNvSpPr/>
          <p:nvPr/>
        </p:nvSpPr>
        <p:spPr>
          <a:xfrm>
            <a:off x="-4079254" y="1997641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2’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CCA84934-CE83-F3D4-ACB2-827D1B332BD4}"/>
              </a:ext>
            </a:extLst>
          </p:cNvPr>
          <p:cNvSpPr/>
          <p:nvPr/>
        </p:nvSpPr>
        <p:spPr>
          <a:xfrm>
            <a:off x="6486113" y="5517881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5" name="연결선: 꺾임 24">
            <a:extLst>
              <a:ext uri="{FF2B5EF4-FFF2-40B4-BE49-F238E27FC236}">
                <a16:creationId xmlns:a16="http://schemas.microsoft.com/office/drawing/2014/main" id="{10CD025D-1F5D-17B1-61C2-BD021F9AE44A}"/>
              </a:ext>
            </a:extLst>
          </p:cNvPr>
          <p:cNvCxnSpPr>
            <a:cxnSpLocks/>
            <a:stCxn id="53" idx="1"/>
            <a:endCxn id="12" idx="3"/>
          </p:cNvCxnSpPr>
          <p:nvPr/>
        </p:nvCxnSpPr>
        <p:spPr>
          <a:xfrm rot="10800000">
            <a:off x="-179443" y="3305852"/>
            <a:ext cx="6815261" cy="2473535"/>
          </a:xfrm>
          <a:prstGeom prst="bentConnector3">
            <a:avLst>
              <a:gd name="adj1" fmla="val 50000"/>
            </a:avLst>
          </a:prstGeom>
          <a:ln>
            <a:solidFill>
              <a:srgbClr val="C00000"/>
            </a:solidFill>
            <a:prstDash val="sysDash"/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20956672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F170BE-B301-533C-E7AA-F93A54B146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DD475987-826A-974D-AC80-9933E35A0A22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2A808C3-6223-180A-92C0-55A7F70A4A40}"/>
              </a:ext>
            </a:extLst>
          </p:cNvPr>
          <p:cNvSpPr txBox="1"/>
          <p:nvPr/>
        </p:nvSpPr>
        <p:spPr>
          <a:xfrm>
            <a:off x="749224" y="25608"/>
            <a:ext cx="420377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 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계약 요청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(ERP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의 거래처 정보와 매핑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B41BFF4-480E-6085-12BE-EB1C57628C7D}"/>
              </a:ext>
            </a:extLst>
          </p:cNvPr>
          <p:cNvSpPr/>
          <p:nvPr/>
        </p:nvSpPr>
        <p:spPr>
          <a:xfrm>
            <a:off x="200472" y="440668"/>
            <a:ext cx="3344929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거래처 매핑 확인</a:t>
            </a:r>
            <a:endParaRPr lang="en-US" altLang="ko-KR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3AB6652-1112-C258-B8E1-0B4EA701D16E}"/>
              </a:ext>
            </a:extLst>
          </p:cNvPr>
          <p:cNvSpPr/>
          <p:nvPr/>
        </p:nvSpPr>
        <p:spPr>
          <a:xfrm>
            <a:off x="200472" y="713580"/>
            <a:ext cx="3344929" cy="187132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76B453BF-0946-FAEB-D3A2-DA34F03AB095}"/>
              </a:ext>
            </a:extLst>
          </p:cNvPr>
          <p:cNvSpPr/>
          <p:nvPr/>
        </p:nvSpPr>
        <p:spPr>
          <a:xfrm>
            <a:off x="3280251" y="440668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22E56590-8293-9A48-F608-78A4C64BD38E}"/>
              </a:ext>
            </a:extLst>
          </p:cNvPr>
          <p:cNvSpPr/>
          <p:nvPr/>
        </p:nvSpPr>
        <p:spPr>
          <a:xfrm>
            <a:off x="308251" y="1126968"/>
            <a:ext cx="3120512" cy="879892"/>
          </a:xfrm>
          <a:prstGeom prst="rect">
            <a:avLst/>
          </a:prstGeom>
          <a:solidFill>
            <a:srgbClr val="FFFF00">
              <a:alpha val="20000"/>
            </a:srgb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56000" tIns="108000" bIns="108000" rtlCol="0" anchor="ctr" anchorCtr="0"/>
          <a:lstStyle/>
          <a:p>
            <a:pPr lvl="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defRPr/>
            </a:pP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본 계약 상대자의 사업자등록번호와 일치되는 </a:t>
            </a:r>
            <a:b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ERP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의 거래처 정보가 매핑되었습니다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pPr lvl="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defRPr/>
            </a:pP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확정 처리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계약정보로 전송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)’가 가능합니다.</a:t>
            </a:r>
          </a:p>
        </p:txBody>
      </p:sp>
      <p:pic>
        <p:nvPicPr>
          <p:cNvPr id="29" name="Picture 8" descr="Announcement, hailer, loudspeaker, megaphone, speaker icon - Download on Iconfinder">
            <a:extLst>
              <a:ext uri="{FF2B5EF4-FFF2-40B4-BE49-F238E27FC236}">
                <a16:creationId xmlns:a16="http://schemas.microsoft.com/office/drawing/2014/main" id="{75A2DD00-232C-366C-B8A0-B40AD043FDE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4373" y="1283589"/>
            <a:ext cx="570440" cy="5704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1" name="직사각형 30">
            <a:extLst>
              <a:ext uri="{FF2B5EF4-FFF2-40B4-BE49-F238E27FC236}">
                <a16:creationId xmlns:a16="http://schemas.microsoft.com/office/drawing/2014/main" id="{555001DC-C349-7DFD-CBF1-2FAB042380D1}"/>
              </a:ext>
            </a:extLst>
          </p:cNvPr>
          <p:cNvSpPr/>
          <p:nvPr/>
        </p:nvSpPr>
        <p:spPr>
          <a:xfrm>
            <a:off x="331692" y="809969"/>
            <a:ext cx="1085233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거래처 매핑 확인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7251122-CDB1-94A2-77E4-0D3907814E3F}"/>
              </a:ext>
            </a:extLst>
          </p:cNvPr>
          <p:cNvSpPr/>
          <p:nvPr/>
        </p:nvSpPr>
        <p:spPr>
          <a:xfrm>
            <a:off x="2917485" y="2117967"/>
            <a:ext cx="511278" cy="28803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닫기</a:t>
            </a:r>
            <a:endParaRPr lang="ko-KR" altLang="en-US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29558005-B258-0B9D-8657-7B87AE280F18}"/>
              </a:ext>
            </a:extLst>
          </p:cNvPr>
          <p:cNvSpPr/>
          <p:nvPr/>
        </p:nvSpPr>
        <p:spPr>
          <a:xfrm>
            <a:off x="3690948" y="440668"/>
            <a:ext cx="3344929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거래처 매핑 실패 안내</a:t>
            </a:r>
            <a:endParaRPr lang="en-US" altLang="ko-KR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355EAF1D-56E2-A36F-5D59-83EEF9AB6C9B}"/>
              </a:ext>
            </a:extLst>
          </p:cNvPr>
          <p:cNvSpPr/>
          <p:nvPr/>
        </p:nvSpPr>
        <p:spPr>
          <a:xfrm>
            <a:off x="3690948" y="713580"/>
            <a:ext cx="3344929" cy="187132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7BE744AF-134E-2DF4-AA57-347046D3FCC7}"/>
              </a:ext>
            </a:extLst>
          </p:cNvPr>
          <p:cNvSpPr/>
          <p:nvPr/>
        </p:nvSpPr>
        <p:spPr>
          <a:xfrm>
            <a:off x="6770727" y="440668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C5D5DB35-3C7A-B0D0-5388-7CC11D601E5C}"/>
              </a:ext>
            </a:extLst>
          </p:cNvPr>
          <p:cNvSpPr/>
          <p:nvPr/>
        </p:nvSpPr>
        <p:spPr>
          <a:xfrm>
            <a:off x="3798727" y="1126968"/>
            <a:ext cx="3120512" cy="879892"/>
          </a:xfrm>
          <a:prstGeom prst="rect">
            <a:avLst/>
          </a:prstGeom>
          <a:solidFill>
            <a:srgbClr val="FFFF00">
              <a:alpha val="20000"/>
            </a:srgb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56000" tIns="108000" bIns="108000" rtlCol="0" anchor="ctr" anchorCtr="0"/>
          <a:lstStyle/>
          <a:p>
            <a:pPr lvl="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defRPr/>
            </a:pP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본 계약 상대자의 사업자등록번호와 일치되는 </a:t>
            </a:r>
            <a:b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ERP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의 거래처 정보가 없습니다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pPr lvl="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defRPr/>
            </a:pP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ERP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의 거래처 정보를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확인 후 다시 시도해주세요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</p:txBody>
      </p:sp>
      <p:pic>
        <p:nvPicPr>
          <p:cNvPr id="49" name="Picture 8" descr="Announcement, hailer, loudspeaker, megaphone, speaker icon - Download on Iconfinder">
            <a:extLst>
              <a:ext uri="{FF2B5EF4-FFF2-40B4-BE49-F238E27FC236}">
                <a16:creationId xmlns:a16="http://schemas.microsoft.com/office/drawing/2014/main" id="{C2335308-E193-8B11-5116-C6AD31C428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14849" y="1283589"/>
            <a:ext cx="570440" cy="5704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2" name="직사각형 51">
            <a:extLst>
              <a:ext uri="{FF2B5EF4-FFF2-40B4-BE49-F238E27FC236}">
                <a16:creationId xmlns:a16="http://schemas.microsoft.com/office/drawing/2014/main" id="{20FBC241-F0B8-6674-D7CE-E3AB630C7C29}"/>
              </a:ext>
            </a:extLst>
          </p:cNvPr>
          <p:cNvSpPr/>
          <p:nvPr/>
        </p:nvSpPr>
        <p:spPr>
          <a:xfrm>
            <a:off x="3822168" y="809969"/>
            <a:ext cx="1391407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거래처 매핑 실패 안내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FA4E13A4-3EEE-D069-FCCC-9CF18307A2DA}"/>
              </a:ext>
            </a:extLst>
          </p:cNvPr>
          <p:cNvSpPr/>
          <p:nvPr/>
        </p:nvSpPr>
        <p:spPr>
          <a:xfrm>
            <a:off x="6407961" y="2117967"/>
            <a:ext cx="511278" cy="28803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닫기</a:t>
            </a:r>
            <a:endParaRPr lang="ko-KR" altLang="en-US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" name="타원 59">
            <a:extLst>
              <a:ext uri="{FF2B5EF4-FFF2-40B4-BE49-F238E27FC236}">
                <a16:creationId xmlns:a16="http://schemas.microsoft.com/office/drawing/2014/main" id="{225E7901-19BD-D509-4E47-FCE87811E766}"/>
              </a:ext>
            </a:extLst>
          </p:cNvPr>
          <p:cNvSpPr/>
          <p:nvPr/>
        </p:nvSpPr>
        <p:spPr>
          <a:xfrm>
            <a:off x="108705" y="351136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E42E7361-2571-6E2A-D6A8-336CBCB9C7CE}"/>
              </a:ext>
            </a:extLst>
          </p:cNvPr>
          <p:cNvSpPr txBox="1"/>
          <p:nvPr/>
        </p:nvSpPr>
        <p:spPr>
          <a:xfrm>
            <a:off x="8049344" y="584684"/>
            <a:ext cx="1856656" cy="1991314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rgbClr val="C00000"/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협력업체의 </a:t>
            </a:r>
            <a:r>
              <a:rPr lang="en-US" altLang="ko-KR" sz="800" dirty="0">
                <a:solidFill>
                  <a:srgbClr val="C00000"/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rgbClr val="C00000"/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사업자등록번호</a:t>
            </a:r>
            <a:r>
              <a:rPr lang="en-US" altLang="ko-KR" sz="800" dirty="0">
                <a:solidFill>
                  <a:srgbClr val="C00000"/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rgbClr val="C00000"/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와</a:t>
            </a:r>
            <a:r>
              <a:rPr lang="en-US" altLang="ko-KR" sz="800" dirty="0">
                <a:solidFill>
                  <a:srgbClr val="C00000"/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ERP</a:t>
            </a:r>
            <a:r>
              <a:rPr lang="ko-KR" altLang="en-US" sz="800" dirty="0">
                <a:solidFill>
                  <a:srgbClr val="C00000"/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의 거래처 정보의 </a:t>
            </a:r>
            <a:r>
              <a:rPr lang="en-US" altLang="ko-KR" sz="800" dirty="0">
                <a:solidFill>
                  <a:srgbClr val="C00000"/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rgbClr val="C00000"/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사업자등록번호</a:t>
            </a:r>
            <a:r>
              <a:rPr lang="en-US" altLang="ko-KR" sz="800" dirty="0">
                <a:solidFill>
                  <a:srgbClr val="C00000"/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rgbClr val="C00000"/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매핑 여부에 따른 안내 화면</a:t>
            </a:r>
            <a:br>
              <a:rPr lang="en-US" altLang="ko-KR" sz="800" dirty="0">
                <a:solidFill>
                  <a:srgbClr val="C00000"/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br>
              <a:rPr lang="en-US" altLang="ko-KR" sz="800" dirty="0">
                <a:solidFill>
                  <a:srgbClr val="C00000"/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rgbClr val="C00000"/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계약 상대자의 사업자등록번호와</a:t>
            </a:r>
            <a:r>
              <a:rPr lang="en-US" altLang="ko-KR" sz="800" dirty="0">
                <a:solidFill>
                  <a:srgbClr val="C00000"/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>
                <a:solidFill>
                  <a:srgbClr val="C00000"/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동일한 </a:t>
            </a:r>
            <a:r>
              <a:rPr lang="en-US" altLang="ko-KR" sz="800" dirty="0">
                <a:solidFill>
                  <a:srgbClr val="C00000"/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‘ERP</a:t>
            </a:r>
            <a:r>
              <a:rPr lang="ko-KR" altLang="en-US" sz="800" dirty="0">
                <a:solidFill>
                  <a:srgbClr val="C00000"/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의 거래처 정보</a:t>
            </a:r>
            <a:r>
              <a:rPr lang="en-US" altLang="ko-KR" sz="800" dirty="0">
                <a:solidFill>
                  <a:srgbClr val="C00000"/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rgbClr val="C00000"/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가 다수인 경우에는 거래처 선택 매핑 </a:t>
            </a:r>
            <a:endParaRPr lang="en-US" altLang="ko-KR" sz="800" dirty="0">
              <a:solidFill>
                <a:srgbClr val="C00000"/>
              </a:solidFill>
              <a:highlight>
                <a:srgbClr val="FFFF00"/>
              </a:highlight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dirty="0">
                <a:solidFill>
                  <a:srgbClr val="C00000"/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계약 상대자의 </a:t>
            </a:r>
            <a:r>
              <a:rPr lang="en-US" altLang="ko-KR" sz="800" dirty="0">
                <a:solidFill>
                  <a:srgbClr val="C00000"/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</a:t>
            </a:r>
            <a:r>
              <a:rPr lang="ko-KR" altLang="en-US" sz="800" dirty="0">
                <a:solidFill>
                  <a:srgbClr val="C00000"/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사업자등록번호</a:t>
            </a:r>
            <a:r>
              <a:rPr lang="en-US" altLang="ko-KR" sz="800" dirty="0">
                <a:solidFill>
                  <a:srgbClr val="C00000"/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rgbClr val="C00000"/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와</a:t>
            </a:r>
            <a:r>
              <a:rPr lang="en-US" altLang="ko-KR" sz="800" dirty="0">
                <a:solidFill>
                  <a:srgbClr val="C00000"/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>
                <a:solidFill>
                  <a:srgbClr val="C00000"/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동일한 </a:t>
            </a:r>
            <a:r>
              <a:rPr lang="en-US" altLang="ko-KR" sz="800" dirty="0">
                <a:solidFill>
                  <a:srgbClr val="C00000"/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‘ERP</a:t>
            </a:r>
            <a:r>
              <a:rPr lang="ko-KR" altLang="en-US" sz="800" dirty="0">
                <a:solidFill>
                  <a:srgbClr val="C00000"/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의 거래처 정보</a:t>
            </a:r>
            <a:r>
              <a:rPr lang="en-US" altLang="ko-KR" sz="800" dirty="0">
                <a:solidFill>
                  <a:srgbClr val="C00000"/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’</a:t>
            </a:r>
            <a:r>
              <a:rPr lang="ko-KR" altLang="en-US" sz="800" dirty="0">
                <a:solidFill>
                  <a:srgbClr val="C00000"/>
                </a:solidFill>
                <a:highlight>
                  <a:srgbClr val="FFFF00"/>
                </a:highlight>
                <a:latin typeface="나눔고딕" panose="020D0604000000000000" pitchFamily="50" charset="-127"/>
                <a:ea typeface="나눔고딕" panose="020D0604000000000000" pitchFamily="50" charset="-127"/>
              </a:rPr>
              <a:t>가 다수인 경우에는 거래처 선택을 통해 매핑함</a:t>
            </a:r>
            <a:endParaRPr lang="en-US" altLang="ko-KR" sz="80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endParaRPr lang="en-US" altLang="ko-KR" sz="800" dirty="0">
              <a:solidFill>
                <a:srgbClr val="C00000"/>
              </a:solidFill>
              <a:highlight>
                <a:srgbClr val="FFFF00"/>
              </a:highlight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9AEAFCED-0221-CEC2-F700-E9BAE39C141A}"/>
              </a:ext>
            </a:extLst>
          </p:cNvPr>
          <p:cNvSpPr/>
          <p:nvPr/>
        </p:nvSpPr>
        <p:spPr>
          <a:xfrm>
            <a:off x="200472" y="2899358"/>
            <a:ext cx="741122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거래처 선택 매핑</a:t>
            </a:r>
            <a:endParaRPr lang="en-US" altLang="ko-KR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C2510069-6AE8-B524-94BF-7C6EB2A36F3C}"/>
              </a:ext>
            </a:extLst>
          </p:cNvPr>
          <p:cNvSpPr/>
          <p:nvPr/>
        </p:nvSpPr>
        <p:spPr>
          <a:xfrm>
            <a:off x="200472" y="3172270"/>
            <a:ext cx="7411220" cy="299432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258016D5-E328-5382-9715-F628C5D2D5B4}"/>
              </a:ext>
            </a:extLst>
          </p:cNvPr>
          <p:cNvSpPr/>
          <p:nvPr/>
        </p:nvSpPr>
        <p:spPr>
          <a:xfrm>
            <a:off x="7341692" y="2899358"/>
            <a:ext cx="270000" cy="269781"/>
          </a:xfrm>
          <a:prstGeom prst="rect">
            <a:avLst/>
          </a:prstGeom>
          <a:solidFill>
            <a:srgbClr val="0070C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X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37708756-9175-51E9-8089-A5B62CE03A58}"/>
              </a:ext>
            </a:extLst>
          </p:cNvPr>
          <p:cNvSpPr/>
          <p:nvPr/>
        </p:nvSpPr>
        <p:spPr>
          <a:xfrm>
            <a:off x="308251" y="3585658"/>
            <a:ext cx="7129026" cy="879892"/>
          </a:xfrm>
          <a:prstGeom prst="rect">
            <a:avLst/>
          </a:prstGeom>
          <a:solidFill>
            <a:srgbClr val="FFFF00">
              <a:alpha val="20000"/>
            </a:srgb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56000" tIns="108000" bIns="108000" rtlCol="0" anchor="ctr" anchorCtr="0"/>
          <a:lstStyle/>
          <a:p>
            <a:pPr lvl="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defRPr/>
            </a:pP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본 계약 상대자의 사업자등록번호와 일치되는 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ERP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의 거래처 정보가 여러 개 발견되었습니다</a:t>
            </a:r>
            <a:r>
              <a:rPr lang="en-US" altLang="ko-KR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r>
              <a:rPr lang="ko-KR" altLang="en-US" sz="800" dirty="0">
                <a:solidFill>
                  <a:srgbClr val="0070C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en-US" altLang="ko-KR" sz="800" dirty="0">
              <a:solidFill>
                <a:srgbClr val="0070C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lvl="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defRPr/>
            </a:pP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아래의 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ERP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의 거래처 정보에서 본 계약과 관련된 거래처 코드를 선택해주세요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b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만약 적합한 거래처 정보가 아니라면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ERP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 먼저 거래처 정보를 등록하셔야 합니다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2DCCD3CE-C0E4-57E2-2B83-46C4185D9B85}"/>
              </a:ext>
            </a:extLst>
          </p:cNvPr>
          <p:cNvSpPr/>
          <p:nvPr/>
        </p:nvSpPr>
        <p:spPr>
          <a:xfrm>
            <a:off x="331692" y="3268659"/>
            <a:ext cx="1085233" cy="261610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en-US" altLang="ko-KR" sz="11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|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거래처 선택 매핑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065B35CB-F049-B944-6363-9F6E93D1DDB2}"/>
              </a:ext>
            </a:extLst>
          </p:cNvPr>
          <p:cNvSpPr/>
          <p:nvPr/>
        </p:nvSpPr>
        <p:spPr>
          <a:xfrm>
            <a:off x="6925998" y="5678678"/>
            <a:ext cx="511278" cy="28803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닫기</a:t>
            </a:r>
            <a:endParaRPr lang="ko-KR" altLang="en-US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83" name="Picture 8" descr="Announcement, hailer, loudspeaker, megaphone, speaker icon - Download on Iconfinder">
            <a:extLst>
              <a:ext uri="{FF2B5EF4-FFF2-40B4-BE49-F238E27FC236}">
                <a16:creationId xmlns:a16="http://schemas.microsoft.com/office/drawing/2014/main" id="{FD48BB32-DC12-0F42-F1B6-C1FC9A33DC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4373" y="3742279"/>
            <a:ext cx="570440" cy="5704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85" name="표 84">
            <a:extLst>
              <a:ext uri="{FF2B5EF4-FFF2-40B4-BE49-F238E27FC236}">
                <a16:creationId xmlns:a16="http://schemas.microsoft.com/office/drawing/2014/main" id="{023D13B4-7C79-54C6-86DF-6A80BAC7C5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8630929"/>
              </p:ext>
            </p:extLst>
          </p:nvPr>
        </p:nvGraphicFramePr>
        <p:xfrm>
          <a:off x="317112" y="4569015"/>
          <a:ext cx="7120164" cy="1013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77400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080625">
                  <a:extLst>
                    <a:ext uri="{9D8B030D-6E8A-4147-A177-3AD203B41FA5}">
                      <a16:colId xmlns:a16="http://schemas.microsoft.com/office/drawing/2014/main" val="2264476566"/>
                    </a:ext>
                  </a:extLst>
                </a:gridCol>
                <a:gridCol w="864725">
                  <a:extLst>
                    <a:ext uri="{9D8B030D-6E8A-4147-A177-3AD203B41FA5}">
                      <a16:colId xmlns:a16="http://schemas.microsoft.com/office/drawing/2014/main" val="1900745260"/>
                    </a:ext>
                  </a:extLst>
                </a:gridCol>
                <a:gridCol w="2385550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  <a:gridCol w="715500">
                  <a:extLst>
                    <a:ext uri="{9D8B030D-6E8A-4147-A177-3AD203B41FA5}">
                      <a16:colId xmlns:a16="http://schemas.microsoft.com/office/drawing/2014/main" val="2048789610"/>
                    </a:ext>
                  </a:extLst>
                </a:gridCol>
                <a:gridCol w="785350">
                  <a:extLst>
                    <a:ext uri="{9D8B030D-6E8A-4147-A177-3AD203B41FA5}">
                      <a16:colId xmlns:a16="http://schemas.microsoft.com/office/drawing/2014/main" val="378561692"/>
                    </a:ext>
                  </a:extLst>
                </a:gridCol>
                <a:gridCol w="611014">
                  <a:extLst>
                    <a:ext uri="{9D8B030D-6E8A-4147-A177-3AD203B41FA5}">
                      <a16:colId xmlns:a16="http://schemas.microsoft.com/office/drawing/2014/main" val="324849889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거래처 코드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거래처명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사업자등록번호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거래 담당자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휴</a:t>
                      </a:r>
                      <a:r>
                        <a:rPr lang="en-US" altLang="ko-KR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폐업 구분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등록일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매핑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02663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주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큐비트엑스</a:t>
                      </a:r>
                      <a:endParaRPr lang="ko-KR" altLang="en-US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349-83-01795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이희성 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(leehee43@naver.com, 010-6844-2810)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정상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2026. 06. 09</a:t>
                      </a: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02666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주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큐비트엑스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천안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349-83-01795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3603251"/>
                  </a:ext>
                </a:extLst>
              </a:tr>
            </a:tbl>
          </a:graphicData>
        </a:graphic>
      </p:graphicFrame>
      <p:sp>
        <p:nvSpPr>
          <p:cNvPr id="87" name="직사각형 86">
            <a:extLst>
              <a:ext uri="{FF2B5EF4-FFF2-40B4-BE49-F238E27FC236}">
                <a16:creationId xmlns:a16="http://schemas.microsoft.com/office/drawing/2014/main" id="{E78CF0D8-0E66-31BD-15A4-4672F7CF37AA}"/>
              </a:ext>
            </a:extLst>
          </p:cNvPr>
          <p:cNvSpPr/>
          <p:nvPr/>
        </p:nvSpPr>
        <p:spPr>
          <a:xfrm>
            <a:off x="6907232" y="4952950"/>
            <a:ext cx="447902" cy="215441"/>
          </a:xfrm>
          <a:prstGeom prst="rect">
            <a:avLst/>
          </a:prstGeom>
          <a:solidFill>
            <a:srgbClr val="FFC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매핑</a:t>
            </a:r>
          </a:p>
        </p:txBody>
      </p:sp>
      <p:sp>
        <p:nvSpPr>
          <p:cNvPr id="89" name="타원 88">
            <a:extLst>
              <a:ext uri="{FF2B5EF4-FFF2-40B4-BE49-F238E27FC236}">
                <a16:creationId xmlns:a16="http://schemas.microsoft.com/office/drawing/2014/main" id="{1E392C1C-A86A-3FC6-0615-49D04D82AAD8}"/>
              </a:ext>
            </a:extLst>
          </p:cNvPr>
          <p:cNvSpPr/>
          <p:nvPr/>
        </p:nvSpPr>
        <p:spPr>
          <a:xfrm>
            <a:off x="119556" y="2739614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D0F16607-0315-AC3B-78C0-A77A5AD4A685}"/>
              </a:ext>
            </a:extLst>
          </p:cNvPr>
          <p:cNvSpPr/>
          <p:nvPr/>
        </p:nvSpPr>
        <p:spPr>
          <a:xfrm>
            <a:off x="6907232" y="5305088"/>
            <a:ext cx="447902" cy="215441"/>
          </a:xfrm>
          <a:prstGeom prst="rect">
            <a:avLst/>
          </a:prstGeom>
          <a:solidFill>
            <a:srgbClr val="FFC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매핑</a:t>
            </a:r>
          </a:p>
        </p:txBody>
      </p:sp>
    </p:spTree>
    <p:extLst>
      <p:ext uri="{BB962C8B-B14F-4D97-AF65-F5344CB8AC3E}">
        <p14:creationId xmlns:p14="http://schemas.microsoft.com/office/powerpoint/2010/main" val="1262652675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EB82A8-9BE2-631C-73AA-ECEF73323E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6494E8A0-2015-CD6C-11BD-E3E331CB1626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84A3EAA-3B81-28CC-C945-BAE755012EE1}"/>
              </a:ext>
            </a:extLst>
          </p:cNvPr>
          <p:cNvSpPr txBox="1"/>
          <p:nvPr/>
        </p:nvSpPr>
        <p:spPr>
          <a:xfrm>
            <a:off x="8049344" y="584684"/>
            <a:ext cx="1856656" cy="3970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계약 요청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요청 완료 후 화면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en-US" altLang="ko-KR" sz="80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579A454F-26A8-3A4F-9367-4833C15AA68F}"/>
              </a:ext>
            </a:extLst>
          </p:cNvPr>
          <p:cNvSpPr/>
          <p:nvPr/>
        </p:nvSpPr>
        <p:spPr>
          <a:xfrm>
            <a:off x="164468" y="403565"/>
            <a:ext cx="756617" cy="246221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l"/>
            <a:r>
              <a: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266A4539-7675-EEB7-95BF-86CBB755B39D}"/>
              </a:ext>
            </a:extLst>
          </p:cNvPr>
          <p:cNvCxnSpPr/>
          <p:nvPr/>
        </p:nvCxnSpPr>
        <p:spPr>
          <a:xfrm>
            <a:off x="164468" y="711804"/>
            <a:ext cx="774085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4FC899D0-D161-4107-9616-D043D3D52210}"/>
              </a:ext>
            </a:extLst>
          </p:cNvPr>
          <p:cNvSpPr/>
          <p:nvPr/>
        </p:nvSpPr>
        <p:spPr>
          <a:xfrm>
            <a:off x="6392091" y="418953"/>
            <a:ext cx="1513236" cy="215444"/>
          </a:xfrm>
          <a:prstGeom prst="rect">
            <a:avLst/>
          </a:prstGeom>
        </p:spPr>
        <p:txBody>
          <a:bodyPr wrap="none" lIns="0" rIns="0">
            <a:spAutoFit/>
          </a:bodyPr>
          <a:lstStyle/>
          <a:p>
            <a:pPr lvl="0" algn="r"/>
            <a:r>
              <a:rPr lang="en-US" altLang="ko-KR" sz="800" b="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H &gt; 1Depth &gt; 2Depth &gt; </a:t>
            </a: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3Depth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C1F6B91-52C3-02F6-E49A-78F4B8E13FF3}"/>
              </a:ext>
            </a:extLst>
          </p:cNvPr>
          <p:cNvSpPr txBox="1"/>
          <p:nvPr/>
        </p:nvSpPr>
        <p:spPr>
          <a:xfrm>
            <a:off x="749224" y="25608"/>
            <a:ext cx="334258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 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계약 요청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요청 완료 후 화면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3E90B7BA-3FA7-9BA1-714C-F004A99E2DD6}"/>
              </a:ext>
            </a:extLst>
          </p:cNvPr>
          <p:cNvSpPr/>
          <p:nvPr/>
        </p:nvSpPr>
        <p:spPr>
          <a:xfrm>
            <a:off x="181506" y="2043596"/>
            <a:ext cx="1856656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계약 요청 정보</a:t>
            </a:r>
            <a:endParaRPr lang="ko-KR" altLang="en-US" sz="9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32D6295-7A68-7156-F7A6-4C25EE3070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202020"/>
              </p:ext>
            </p:extLst>
          </p:nvPr>
        </p:nvGraphicFramePr>
        <p:xfrm>
          <a:off x="164467" y="2330379"/>
          <a:ext cx="7740859" cy="3775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4177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56682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계약명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 중 승강기설치공사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14883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계약방법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경쟁입찰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일반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 &gt;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제한적 최저가 입찰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630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계약상대자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A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업체명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거래처 코드 </a:t>
                      </a: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: 02663)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02420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추정금액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94,490,000 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구천사백사십구만원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 VAT 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포함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65643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계약금액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48,507,800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사천팔백오십만칠천팔백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원정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/ VAT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포함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27964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낙찰률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추정금액 대비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90.069%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89032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공급가액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금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사천사백구만팔천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원정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94706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대금 지급조건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[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분할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]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선금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: 33% /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기성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: 34% /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준공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: 33%</a:t>
                      </a: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[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일괄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] :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준공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[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기타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] :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사업기간 중 월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회 공정률을 확인하여 지급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41347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용역기한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2026.01.01 ~ 2026.12.31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47991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계약일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2026.01.01  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계약상대자 날인 시 유효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5105472"/>
                  </a:ext>
                </a:extLst>
              </a:tr>
            </a:tbl>
          </a:graphicData>
        </a:graphic>
      </p:graphicFrame>
      <p:sp>
        <p:nvSpPr>
          <p:cNvPr id="20" name="직사각형 19">
            <a:extLst>
              <a:ext uri="{FF2B5EF4-FFF2-40B4-BE49-F238E27FC236}">
                <a16:creationId xmlns:a16="http://schemas.microsoft.com/office/drawing/2014/main" id="{E338BE31-8EA4-64D2-46F2-EF88F67FDF81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계속</a:t>
            </a: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53493654-0618-461F-2BC7-5340CBCDAA75}"/>
              </a:ext>
            </a:extLst>
          </p:cNvPr>
          <p:cNvGraphicFramePr>
            <a:graphicFrameLocks noGrp="1"/>
          </p:cNvGraphicFramePr>
          <p:nvPr/>
        </p:nvGraphicFramePr>
        <p:xfrm>
          <a:off x="164464" y="817960"/>
          <a:ext cx="7737860" cy="675840"/>
        </p:xfrm>
        <a:graphic>
          <a:graphicData uri="http://schemas.openxmlformats.org/drawingml/2006/table">
            <a:tbl>
              <a:tblPr firstRow="1" bandRow="1"/>
              <a:tblGrid>
                <a:gridCol w="812777">
                  <a:extLst>
                    <a:ext uri="{9D8B030D-6E8A-4147-A177-3AD203B41FA5}">
                      <a16:colId xmlns:a16="http://schemas.microsoft.com/office/drawing/2014/main" val="4038510210"/>
                    </a:ext>
                  </a:extLst>
                </a:gridCol>
                <a:gridCol w="651683">
                  <a:extLst>
                    <a:ext uri="{9D8B030D-6E8A-4147-A177-3AD203B41FA5}">
                      <a16:colId xmlns:a16="http://schemas.microsoft.com/office/drawing/2014/main" val="1731736782"/>
                    </a:ext>
                  </a:extLst>
                </a:gridCol>
                <a:gridCol w="1220545">
                  <a:extLst>
                    <a:ext uri="{9D8B030D-6E8A-4147-A177-3AD203B41FA5}">
                      <a16:colId xmlns:a16="http://schemas.microsoft.com/office/drawing/2014/main" val="537809851"/>
                    </a:ext>
                  </a:extLst>
                </a:gridCol>
                <a:gridCol w="1765916">
                  <a:extLst>
                    <a:ext uri="{9D8B030D-6E8A-4147-A177-3AD203B41FA5}">
                      <a16:colId xmlns:a16="http://schemas.microsoft.com/office/drawing/2014/main" val="2399369133"/>
                    </a:ext>
                  </a:extLst>
                </a:gridCol>
                <a:gridCol w="307680">
                  <a:extLst>
                    <a:ext uri="{9D8B030D-6E8A-4147-A177-3AD203B41FA5}">
                      <a16:colId xmlns:a16="http://schemas.microsoft.com/office/drawing/2014/main" val="1550368863"/>
                    </a:ext>
                  </a:extLst>
                </a:gridCol>
                <a:gridCol w="787605">
                  <a:extLst>
                    <a:ext uri="{9D8B030D-6E8A-4147-A177-3AD203B41FA5}">
                      <a16:colId xmlns:a16="http://schemas.microsoft.com/office/drawing/2014/main" val="883633877"/>
                    </a:ext>
                  </a:extLst>
                </a:gridCol>
                <a:gridCol w="972192">
                  <a:extLst>
                    <a:ext uri="{9D8B030D-6E8A-4147-A177-3AD203B41FA5}">
                      <a16:colId xmlns:a16="http://schemas.microsoft.com/office/drawing/2014/main" val="18646811"/>
                    </a:ext>
                  </a:extLst>
                </a:gridCol>
                <a:gridCol w="609731">
                  <a:extLst>
                    <a:ext uri="{9D8B030D-6E8A-4147-A177-3AD203B41FA5}">
                      <a16:colId xmlns:a16="http://schemas.microsoft.com/office/drawing/2014/main" val="858523054"/>
                    </a:ext>
                  </a:extLst>
                </a:gridCol>
                <a:gridCol w="609731">
                  <a:extLst>
                    <a:ext uri="{9D8B030D-6E8A-4147-A177-3AD203B41FA5}">
                      <a16:colId xmlns:a16="http://schemas.microsoft.com/office/drawing/2014/main" val="32833227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번호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공고 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진행상태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입찰 건명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구분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낙찰자 선정방법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사업담당자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itchFamily="2" charset="-127"/>
                          <a:ea typeface="나눔고딕" pitchFamily="2" charset="-127"/>
                        </a:rPr>
                        <a:t>계약담당자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itchFamily="2" charset="-127"/>
                        <a:ea typeface="나눔고딕" pitchFamily="2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19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BD2026-0023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재공고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계약품의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전자결재 완료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서초동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1601-9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오피스텔 신축공사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...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공사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경쟁입찰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일반</a:t>
                      </a: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제한적 최저가 입찰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홍길동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임꺽정</a:t>
                      </a:r>
                    </a:p>
                  </a:txBody>
                  <a:tcPr marL="36000" marR="36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334330"/>
                  </a:ext>
                </a:extLst>
              </a:tr>
            </a:tbl>
          </a:graphicData>
        </a:graphic>
      </p:graphicFrame>
      <p:sp>
        <p:nvSpPr>
          <p:cNvPr id="3" name="타원 2">
            <a:extLst>
              <a:ext uri="{FF2B5EF4-FFF2-40B4-BE49-F238E27FC236}">
                <a16:creationId xmlns:a16="http://schemas.microsoft.com/office/drawing/2014/main" id="{37C104B9-4397-A9C1-6C7F-92A300A0110C}"/>
              </a:ext>
            </a:extLst>
          </p:cNvPr>
          <p:cNvSpPr/>
          <p:nvPr/>
        </p:nvSpPr>
        <p:spPr>
          <a:xfrm>
            <a:off x="73494" y="2274428"/>
            <a:ext cx="216024" cy="216024"/>
          </a:xfrm>
          <a:prstGeom prst="ellipse">
            <a:avLst/>
          </a:prstGeom>
          <a:solidFill>
            <a:srgbClr val="C0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BD42A4D3-3237-A3E5-099E-8FF0523316FA}"/>
              </a:ext>
            </a:extLst>
          </p:cNvPr>
          <p:cNvSpPr/>
          <p:nvPr/>
        </p:nvSpPr>
        <p:spPr>
          <a:xfrm>
            <a:off x="-1690381" y="798199"/>
            <a:ext cx="1467136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</a:t>
            </a:r>
            <a:endParaRPr lang="ko-KR" altLang="en-US" sz="800" spc="-50" dirty="0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81532A0A-5647-C6C5-5E18-E33B08134CDB}"/>
              </a:ext>
            </a:extLst>
          </p:cNvPr>
          <p:cNvSpPr/>
          <p:nvPr/>
        </p:nvSpPr>
        <p:spPr>
          <a:xfrm>
            <a:off x="-529236" y="798199"/>
            <a:ext cx="303624" cy="299494"/>
          </a:xfrm>
          <a:prstGeom prst="rect">
            <a:avLst/>
          </a:prstGeom>
          <a:solidFill>
            <a:srgbClr val="FFC000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kumimoji="1" lang="ko-KR" altLang="en-US" sz="800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5D4F6418-C363-B04F-01C2-D0EF4D5E1D26}"/>
              </a:ext>
            </a:extLst>
          </p:cNvPr>
          <p:cNvSpPr/>
          <p:nvPr/>
        </p:nvSpPr>
        <p:spPr>
          <a:xfrm>
            <a:off x="-1688466" y="0"/>
            <a:ext cx="1467136" cy="8014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44000" rtlCol="0" anchor="b" anchorCtr="0"/>
          <a:lstStyle/>
          <a:p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전자입찰시스템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(SRM)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23" name="Picture 1">
            <a:extLst>
              <a:ext uri="{FF2B5EF4-FFF2-40B4-BE49-F238E27FC236}">
                <a16:creationId xmlns:a16="http://schemas.microsoft.com/office/drawing/2014/main" id="{855BF6CD-DBB7-BF27-73E9-95594053408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50908" y="146463"/>
            <a:ext cx="1181862" cy="276987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26" name="직사각형 25">
            <a:extLst>
              <a:ext uri="{FF2B5EF4-FFF2-40B4-BE49-F238E27FC236}">
                <a16:creationId xmlns:a16="http://schemas.microsoft.com/office/drawing/2014/main" id="{B4782CD7-B069-E575-89BC-2E5184E5C842}"/>
              </a:ext>
            </a:extLst>
          </p:cNvPr>
          <p:cNvSpPr/>
          <p:nvPr/>
        </p:nvSpPr>
        <p:spPr>
          <a:xfrm>
            <a:off x="-1690381" y="1098520"/>
            <a:ext cx="1467136" cy="57383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입찰계획 현황</a:t>
            </a:r>
            <a:endParaRPr lang="en-US" altLang="ko-KR" sz="800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72000" indent="-72000" algn="l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ko-KR" altLang="en-US" sz="800" u="sng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endParaRPr lang="en-US" altLang="ko-KR" sz="800" u="sng" spc="-5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B0C3C7AB-B238-3F4B-EF2E-7E7788C24A70}"/>
              </a:ext>
            </a:extLst>
          </p:cNvPr>
          <p:cNvGrpSpPr/>
          <p:nvPr/>
        </p:nvGrpSpPr>
        <p:grpSpPr>
          <a:xfrm>
            <a:off x="163503" y="1599955"/>
            <a:ext cx="7741824" cy="345139"/>
            <a:chOff x="163503" y="1599955"/>
            <a:chExt cx="7741824" cy="345139"/>
          </a:xfrm>
        </p:grpSpPr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CE8106C6-8025-2CC6-C344-1C8AF5A2B27E}"/>
                </a:ext>
              </a:extLst>
            </p:cNvPr>
            <p:cNvCxnSpPr>
              <a:cxnSpLocks/>
            </p:cNvCxnSpPr>
            <p:nvPr/>
          </p:nvCxnSpPr>
          <p:spPr>
            <a:xfrm>
              <a:off x="167468" y="1941219"/>
              <a:ext cx="7737859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43876712-9E16-681B-B9D0-E8A311CEC62B}"/>
                </a:ext>
              </a:extLst>
            </p:cNvPr>
            <p:cNvSpPr/>
            <p:nvPr/>
          </p:nvSpPr>
          <p:spPr>
            <a:xfrm>
              <a:off x="163503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발주계획 정보</a:t>
              </a:r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0C076A82-9387-E60D-730A-EFF9F9D9775B}"/>
                </a:ext>
              </a:extLst>
            </p:cNvPr>
            <p:cNvSpPr/>
            <p:nvPr/>
          </p:nvSpPr>
          <p:spPr>
            <a:xfrm>
              <a:off x="1848030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 참여현황</a:t>
              </a:r>
            </a:p>
          </p:txBody>
        </p:sp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CBBB9445-321C-21E3-F34C-A65354F4C8A2}"/>
                </a:ext>
              </a:extLst>
            </p:cNvPr>
            <p:cNvSpPr/>
            <p:nvPr/>
          </p:nvSpPr>
          <p:spPr>
            <a:xfrm>
              <a:off x="2681319" y="1652651"/>
              <a:ext cx="852685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심사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/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평가</a:t>
              </a: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045657AD-C679-7069-E4B3-3A790C3DEA5B}"/>
                </a:ext>
              </a:extLst>
            </p:cNvPr>
            <p:cNvSpPr/>
            <p:nvPr/>
          </p:nvSpPr>
          <p:spPr>
            <a:xfrm>
              <a:off x="1004560" y="1652652"/>
              <a:ext cx="839130" cy="29244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입찰계획 정보</a:t>
              </a:r>
            </a:p>
          </p:txBody>
        </p:sp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A42658A8-DB91-F7DC-2D83-352001D8DF82}"/>
                </a:ext>
              </a:extLst>
            </p:cNvPr>
            <p:cNvSpPr/>
            <p:nvPr/>
          </p:nvSpPr>
          <p:spPr>
            <a:xfrm>
              <a:off x="3532662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개찰</a:t>
              </a: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C1C4DC4A-3569-DA25-C955-DF2C6EBA332F}"/>
                </a:ext>
              </a:extLst>
            </p:cNvPr>
            <p:cNvSpPr/>
            <p:nvPr/>
          </p:nvSpPr>
          <p:spPr>
            <a:xfrm>
              <a:off x="4370291" y="1658940"/>
              <a:ext cx="839130" cy="28615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낙찰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업체 선정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)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82690344-73E6-3446-595A-DD7B5C6ACC7A}"/>
                </a:ext>
              </a:extLst>
            </p:cNvPr>
            <p:cNvSpPr/>
            <p:nvPr/>
          </p:nvSpPr>
          <p:spPr>
            <a:xfrm>
              <a:off x="5213654" y="1652651"/>
              <a:ext cx="839130" cy="2924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수의시담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6F7DB6C6-F079-3B2A-5334-52255A30AABB}"/>
                </a:ext>
              </a:extLst>
            </p:cNvPr>
            <p:cNvSpPr/>
            <p:nvPr/>
          </p:nvSpPr>
          <p:spPr>
            <a:xfrm>
              <a:off x="6051872" y="1599955"/>
              <a:ext cx="839130" cy="345139"/>
            </a:xfrm>
            <a:prstGeom prst="rect">
              <a:avLst/>
            </a:prstGeom>
            <a:solidFill>
              <a:srgbClr val="00B050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bg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계약 요청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18805381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9B6658-F38F-51C1-E171-6DDA4245C9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4C1D4D83-9330-7F91-DF21-FAE5A9FB7D86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40532" y="17201"/>
            <a:ext cx="2376264" cy="216000"/>
          </a:xfrm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1B722D8-FE3F-68F1-4A96-4A2C3783B71A}"/>
              </a:ext>
            </a:extLst>
          </p:cNvPr>
          <p:cNvSpPr txBox="1"/>
          <p:nvPr/>
        </p:nvSpPr>
        <p:spPr>
          <a:xfrm>
            <a:off x="749224" y="25608"/>
            <a:ext cx="334258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입찰관리 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&gt;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 현황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상세정보</a:t>
            </a:r>
            <a:r>
              <a:rPr lang="en-US" altLang="ko-KR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&gt; </a:t>
            </a:r>
            <a:r>
              <a:rPr lang="ko-KR" altLang="en-US" sz="800" spc="-5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계약 요청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전자결재 요청 완료 후 화면</a:t>
            </a: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800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1077CDC0-3313-A2CC-CEFD-2850F9664018}"/>
              </a:ext>
            </a:extLst>
          </p:cNvPr>
          <p:cNvSpPr/>
          <p:nvPr/>
        </p:nvSpPr>
        <p:spPr>
          <a:xfrm>
            <a:off x="181506" y="2907692"/>
            <a:ext cx="1856656" cy="230832"/>
          </a:xfrm>
          <a:prstGeom prst="rect">
            <a:avLst/>
          </a:prstGeom>
        </p:spPr>
        <p:txBody>
          <a:bodyPr wrap="square" lIns="0" rIns="0">
            <a:spAutoFit/>
          </a:bodyPr>
          <a:lstStyle/>
          <a:p>
            <a:pPr lvl="0" algn="l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추가 사항</a:t>
            </a:r>
            <a:endParaRPr lang="ko-KR" altLang="en-US" sz="900" b="0" dirty="0">
              <a:solidFill>
                <a:prstClr val="black">
                  <a:lumMod val="75000"/>
                  <a:lumOff val="25000"/>
                </a:prst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DAE63A9-0E3C-7498-B65C-B0689C23E0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9390876"/>
              </p:ext>
            </p:extLst>
          </p:nvPr>
        </p:nvGraphicFramePr>
        <p:xfrm>
          <a:off x="164467" y="3194475"/>
          <a:ext cx="7740859" cy="1315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4177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56682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비고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인지세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: 35,000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원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전체 인지세의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50%) /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종이문서용 전자수입인지 납부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물품대금 연동 : 연동제 미대상</a:t>
                      </a: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14883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참조 문서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첨부된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</a:b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</a:b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첨부된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63039"/>
                  </a:ext>
                </a:extLst>
              </a:tr>
            </a:tbl>
          </a:graphicData>
        </a:graphic>
      </p:graphicFrame>
      <p:sp>
        <p:nvSpPr>
          <p:cNvPr id="23" name="직사각형 22">
            <a:extLst>
              <a:ext uri="{FF2B5EF4-FFF2-40B4-BE49-F238E27FC236}">
                <a16:creationId xmlns:a16="http://schemas.microsoft.com/office/drawing/2014/main" id="{DE35F3F1-A0F8-D99B-264D-4787A25408D5}"/>
              </a:ext>
            </a:extLst>
          </p:cNvPr>
          <p:cNvSpPr/>
          <p:nvPr/>
        </p:nvSpPr>
        <p:spPr>
          <a:xfrm>
            <a:off x="0" y="6489340"/>
            <a:ext cx="8049344" cy="1800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Footer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29CE7B37-9FD6-5903-2CD7-E0413D607503}"/>
              </a:ext>
            </a:extLst>
          </p:cNvPr>
          <p:cNvSpPr/>
          <p:nvPr/>
        </p:nvSpPr>
        <p:spPr>
          <a:xfrm>
            <a:off x="2780091" y="3989546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바로보기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50E63397-7E3C-2D79-217D-DAFE270CA3F7}"/>
              </a:ext>
            </a:extLst>
          </p:cNvPr>
          <p:cNvSpPr/>
          <p:nvPr/>
        </p:nvSpPr>
        <p:spPr>
          <a:xfrm>
            <a:off x="3442928" y="3989546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다운로드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4696004A-13DB-4D63-DB1D-1BEE11057795}"/>
              </a:ext>
            </a:extLst>
          </p:cNvPr>
          <p:cNvSpPr/>
          <p:nvPr/>
        </p:nvSpPr>
        <p:spPr>
          <a:xfrm>
            <a:off x="2780091" y="4253907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바로보기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E183CD4-861F-FE72-8222-9FDF1E15F814}"/>
              </a:ext>
            </a:extLst>
          </p:cNvPr>
          <p:cNvSpPr/>
          <p:nvPr/>
        </p:nvSpPr>
        <p:spPr>
          <a:xfrm>
            <a:off x="3442928" y="4253907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다운로드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51B11EF4-7009-6FAE-C1CF-1C228B67A74F}"/>
              </a:ext>
            </a:extLst>
          </p:cNvPr>
          <p:cNvSpPr txBox="1"/>
          <p:nvPr/>
        </p:nvSpPr>
        <p:spPr>
          <a:xfrm>
            <a:off x="8049344" y="584684"/>
            <a:ext cx="1856656" cy="23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08000" indent="-108000" algn="l">
              <a:lnSpc>
                <a:spcPct val="130000"/>
              </a:lnSpc>
              <a:spcBef>
                <a:spcPts val="300"/>
              </a:spcBef>
              <a:spcAft>
                <a:spcPts val="300"/>
              </a:spcAft>
              <a:buFont typeface="+mj-ea"/>
              <a:buAutoNum type="circleNumDbPlain"/>
            </a:pPr>
            <a:r>
              <a: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en-US" altLang="ko-KR" sz="800" u="sng" dirty="0">
              <a:solidFill>
                <a:schemeClr val="tx1">
                  <a:lumMod val="75000"/>
                  <a:lumOff val="2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CC8E4306-7E28-F70F-134F-A4111C5E4A95}"/>
              </a:ext>
            </a:extLst>
          </p:cNvPr>
          <p:cNvSpPr/>
          <p:nvPr/>
        </p:nvSpPr>
        <p:spPr>
          <a:xfrm>
            <a:off x="2780091" y="4253907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바로보기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25618B2-F447-75A9-2F10-B3D1043140A9}"/>
              </a:ext>
            </a:extLst>
          </p:cNvPr>
          <p:cNvSpPr/>
          <p:nvPr/>
        </p:nvSpPr>
        <p:spPr>
          <a:xfrm>
            <a:off x="3442928" y="4253907"/>
            <a:ext cx="612965" cy="19888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다운로드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0146C185-76D1-B7D4-AF16-1FB8503BCA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494"/>
              </p:ext>
            </p:extLst>
          </p:nvPr>
        </p:nvGraphicFramePr>
        <p:xfrm>
          <a:off x="164465" y="352611"/>
          <a:ext cx="7740859" cy="2421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4179">
                  <a:extLst>
                    <a:ext uri="{9D8B030D-6E8A-4147-A177-3AD203B41FA5}">
                      <a16:colId xmlns:a16="http://schemas.microsoft.com/office/drawing/2014/main" val="912049012"/>
                    </a:ext>
                  </a:extLst>
                </a:gridCol>
                <a:gridCol w="6156680">
                  <a:extLst>
                    <a:ext uri="{9D8B030D-6E8A-4147-A177-3AD203B41FA5}">
                      <a16:colId xmlns:a16="http://schemas.microsoft.com/office/drawing/2014/main" val="75893339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계약이행 보증보험 증권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발급 필요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계약이행 </a:t>
                      </a:r>
                      <a:r>
                        <a:rPr lang="ko-KR" altLang="en-US" sz="800" b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보증금률</a:t>
                      </a:r>
                      <a:r>
                        <a:rPr lang="ko-KR" altLang="en-US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</a:t>
                      </a:r>
                      <a:r>
                        <a:rPr lang="en-US" altLang="ko-KR" sz="8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:  10%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92621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선금이행 보증보험 증권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발급 필요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선금이행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보증금률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:                            %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3821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marR="0" lvl="0" indent="-7200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하자이행 보증보험 증권</a:t>
                      </a:r>
                      <a:endParaRPr lang="en-US" altLang="ko-KR" sz="800" b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발급 필요 없음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60076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indent="-7200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계약서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45542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72000" indent="-7200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기타서류</a:t>
                      </a:r>
                    </a:p>
                  </a:txBody>
                  <a:tcPr marL="72000" marR="72000" marT="108000" marB="10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  <a:b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</a:b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lvl="0" indent="0" algn="l" defTabSz="109728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등록된 파일명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.PDF</a:t>
                      </a:r>
                      <a:endParaRPr lang="en-US" altLang="ko-KR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72000" marR="72000" marT="108000" marB="108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8821064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A39870A0-6872-50E3-6DDB-7849BC7EA0D2}"/>
              </a:ext>
            </a:extLst>
          </p:cNvPr>
          <p:cNvSpPr/>
          <p:nvPr/>
        </p:nvSpPr>
        <p:spPr>
          <a:xfrm>
            <a:off x="2740878" y="1243109"/>
            <a:ext cx="682702" cy="2080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/>
          <a:lstStyle/>
          <a:p>
            <a:pPr algn="l"/>
            <a:r>
              <a:rPr lang="ko-KR" altLang="en-US" sz="800" b="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숫자로 입력</a:t>
            </a:r>
          </a:p>
        </p:txBody>
      </p: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706B579F-D39A-7FDC-1E4A-E92CCEA932E0}"/>
              </a:ext>
            </a:extLst>
          </p:cNvPr>
          <p:cNvGrpSpPr/>
          <p:nvPr/>
        </p:nvGrpSpPr>
        <p:grpSpPr>
          <a:xfrm>
            <a:off x="2778598" y="1919376"/>
            <a:ext cx="1275802" cy="198885"/>
            <a:chOff x="2576736" y="3905324"/>
            <a:chExt cx="1275802" cy="198885"/>
          </a:xfrm>
        </p:grpSpPr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19953C29-1910-3BE4-EA2F-558400B96E08}"/>
                </a:ext>
              </a:extLst>
            </p:cNvPr>
            <p:cNvSpPr/>
            <p:nvPr/>
          </p:nvSpPr>
          <p:spPr>
            <a:xfrm>
              <a:off x="2576736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2039420E-C0F9-D9A9-113D-600304F28CEE}"/>
                </a:ext>
              </a:extLst>
            </p:cNvPr>
            <p:cNvSpPr/>
            <p:nvPr/>
          </p:nvSpPr>
          <p:spPr>
            <a:xfrm>
              <a:off x="3239573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33532417-0149-C06F-3EAE-355DEAD9743C}"/>
              </a:ext>
            </a:extLst>
          </p:cNvPr>
          <p:cNvGrpSpPr/>
          <p:nvPr/>
        </p:nvGrpSpPr>
        <p:grpSpPr>
          <a:xfrm>
            <a:off x="2787224" y="2259593"/>
            <a:ext cx="1275802" cy="198885"/>
            <a:chOff x="2576736" y="3905324"/>
            <a:chExt cx="1275802" cy="198885"/>
          </a:xfrm>
        </p:grpSpPr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D1433501-2F9C-DF89-A6F5-8366035DBCA0}"/>
                </a:ext>
              </a:extLst>
            </p:cNvPr>
            <p:cNvSpPr/>
            <p:nvPr/>
          </p:nvSpPr>
          <p:spPr>
            <a:xfrm>
              <a:off x="2576736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3C2595E-B58F-6EF7-9164-19ECE0C1D3BC}"/>
                </a:ext>
              </a:extLst>
            </p:cNvPr>
            <p:cNvSpPr/>
            <p:nvPr/>
          </p:nvSpPr>
          <p:spPr>
            <a:xfrm>
              <a:off x="3239573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8BCFCD09-083E-232A-7C31-D5A689B0896D}"/>
              </a:ext>
            </a:extLst>
          </p:cNvPr>
          <p:cNvGrpSpPr/>
          <p:nvPr/>
        </p:nvGrpSpPr>
        <p:grpSpPr>
          <a:xfrm>
            <a:off x="2787224" y="2518661"/>
            <a:ext cx="1275802" cy="198885"/>
            <a:chOff x="2576736" y="3905324"/>
            <a:chExt cx="1275802" cy="198885"/>
          </a:xfrm>
        </p:grpSpPr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5487049B-298D-D128-DDEB-4592F5A76737}"/>
                </a:ext>
              </a:extLst>
            </p:cNvPr>
            <p:cNvSpPr/>
            <p:nvPr/>
          </p:nvSpPr>
          <p:spPr>
            <a:xfrm>
              <a:off x="2576736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바로보기</a:t>
              </a:r>
            </a:p>
          </p:txBody>
        </p: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07168A5-B3C4-A8C3-0E9B-376D4B766D3D}"/>
                </a:ext>
              </a:extLst>
            </p:cNvPr>
            <p:cNvSpPr/>
            <p:nvPr/>
          </p:nvSpPr>
          <p:spPr>
            <a:xfrm>
              <a:off x="3239573" y="3905324"/>
              <a:ext cx="612965" cy="19888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다운로드</a:t>
              </a: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4F653C8-1DA7-157B-27D6-654037C0B146}"/>
              </a:ext>
            </a:extLst>
          </p:cNvPr>
          <p:cNvSpPr/>
          <p:nvPr/>
        </p:nvSpPr>
        <p:spPr>
          <a:xfrm>
            <a:off x="184392" y="4599880"/>
            <a:ext cx="699418" cy="288032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목록</a:t>
            </a:r>
          </a:p>
        </p:txBody>
      </p:sp>
    </p:spTree>
    <p:extLst>
      <p:ext uri="{BB962C8B-B14F-4D97-AF65-F5344CB8AC3E}">
        <p14:creationId xmlns:p14="http://schemas.microsoft.com/office/powerpoint/2010/main" val="2924650937"/>
      </p:ext>
    </p:extLst>
  </p:cSld>
  <p:clrMapOvr>
    <a:masterClrMapping/>
  </p:clrMapOvr>
</p:sld>
</file>

<file path=ppt/theme/theme1.xml><?xml version="1.0" encoding="utf-8"?>
<a:theme xmlns:a="http://schemas.openxmlformats.org/drawingml/2006/main" name="3_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webextensions/_rels/taskpanes.xml.rels><?xml version="1.0" encoding="UTF-8" standalone="yes"?>
<Relationships xmlns="http://schemas.openxmlformats.org/package/2006/relationships"><Relationship Id="rId2" Type="http://schemas.microsoft.com/office/2011/relationships/webextension" Target="webextension2.xml"/><Relationship Id="rId1" Type="http://schemas.microsoft.com/office/2011/relationships/webextension" Target="webextension1.xml"/></Relationships>
</file>

<file path=ppt/webextensions/taskpanes.xml><?xml version="1.0" encoding="utf-8"?>
<wetp:taskpanes xmlns:wetp="http://schemas.microsoft.com/office/webextensions/taskpanes/2010/11">
  <wetp:taskpane dockstate="right" visibility="0" width="350" row="0">
    <wetp:webextensionref xmlns:r="http://schemas.openxmlformats.org/officeDocument/2006/relationships" r:id="rId1"/>
  </wetp:taskpane>
  <wetp:taskpane dockstate="right" visibility="0" width="350" row="0">
    <wetp:webextensionref xmlns:r="http://schemas.openxmlformats.org/officeDocument/2006/relationships" r:id="rId2"/>
  </wetp:taskpane>
</wetp:taskpanes>
</file>

<file path=ppt/webextensions/webextension1.xml><?xml version="1.0" encoding="utf-8"?>
<we:webextension xmlns:we="http://schemas.microsoft.com/office/webextensions/webextension/2010/11" id="{70CF86A4-D00E-424F-83E0-4E2EC7868F76}">
  <we:reference id="WA200010725" version="1.0.0.1" store="Omex" storeType="OMEX"/>
  <we:alternateReferences>
    <we:reference id="WA200010725" version="1.0.0.1" store="WA200010725" storeType="OMEX"/>
  </we:alternateReferences>
  <we:properties>
    <we:property name="claude.fileId" value="&quot;0e8f8347-06a0-4424-8c62-44f19d71d6c0&quot;"/>
  </we:properties>
  <we:bindings/>
  <we:snapshot xmlns:r="http://schemas.openxmlformats.org/officeDocument/2006/relationships"/>
</we:webextension>
</file>

<file path=ppt/webextensions/webextension2.xml><?xml version="1.0" encoding="utf-8"?>
<we:webextension xmlns:we="http://schemas.microsoft.com/office/webextensions/webextension/2010/11" id="{A6CEBC8F-52B5-4CE7-A5E3-B10CE8ECF18E}">
  <we:reference id="wa200010215" version="2.0.0.0" store="ko-KR" storeType="OMEX"/>
  <we:alternateReferences>
    <we:reference id="WA200010215" version="2.0.0.0" store="WA200010215" storeType="OMEX"/>
  </we:alternateReferences>
  <we:properties>
    <we:property name="bps.codex_control.document_id" value="&quot;8f3133cc-db8b-4235-832c-04b6bf4da9da&quot;"/>
  </we:properties>
  <we:bindings/>
  <we:snapshot xmlns:r="http://schemas.openxmlformats.org/officeDocument/2006/relationships"/>
</we:webextension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248439</TotalTime>
  <Words>20030</Words>
  <Application>Microsoft Office PowerPoint</Application>
  <PresentationFormat>A4 용지(210x297mm)</PresentationFormat>
  <Paragraphs>5675</Paragraphs>
  <Slides>79</Slides>
  <Notes>1</Notes>
  <HiddenSlides>0</HiddenSlides>
  <MMClips>0</MMClips>
  <ScaleCrop>false</ScaleCrop>
  <HeadingPairs>
    <vt:vector size="6" baseType="variant">
      <vt:variant>
        <vt:lpstr>사용한 글꼴</vt:lpstr>
      </vt:variant>
      <vt:variant>
        <vt:i4>4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79</vt:i4>
      </vt:variant>
    </vt:vector>
  </HeadingPairs>
  <TitlesOfParts>
    <vt:vector size="84" baseType="lpstr">
      <vt:lpstr>맑은 고딕</vt:lpstr>
      <vt:lpstr>Arial</vt:lpstr>
      <vt:lpstr>나눔고딕</vt:lpstr>
      <vt:lpstr>Wingdings</vt:lpstr>
      <vt:lpstr>3_디자인 사용자 지정</vt:lpstr>
      <vt:lpstr>PowerPoint 프레젠테이션</vt:lpstr>
      <vt:lpstr> </vt:lpstr>
      <vt:lpstr> </vt:lpstr>
      <vt:lpstr> </vt:lpstr>
      <vt:lpstr> </vt:lpstr>
      <vt:lpstr> </vt:lpstr>
      <vt:lpstr> </vt:lpstr>
      <vt:lpstr> </vt:lpstr>
      <vt:lpstr> </vt:lpstr>
      <vt:lpstr> </vt:lpstr>
      <vt:lpstr> </vt:lpstr>
      <vt:lpstr> </vt:lpstr>
      <vt:lpstr> </vt:lpstr>
      <vt:lpstr> </vt:lpstr>
      <vt:lpstr>PowerPoint 프레젠테이션</vt:lpstr>
      <vt:lpstr> </vt:lpstr>
      <vt:lpstr> 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 </vt:lpstr>
      <vt:lpstr> </vt:lpstr>
      <vt:lpstr> </vt:lpstr>
      <vt:lpstr> </vt:lpstr>
      <vt:lpstr> </vt:lpstr>
      <vt:lpstr> </vt:lpstr>
      <vt:lpstr> </vt:lpstr>
      <vt:lpstr> </vt:lpstr>
      <vt:lpstr> </vt:lpstr>
      <vt:lpstr>PowerPoint 프레젠테이션</vt:lpstr>
      <vt:lpstr>PowerPoint 프레젠테이션</vt:lpstr>
      <vt:lpstr> </vt:lpstr>
      <vt:lpstr> </vt:lpstr>
      <vt:lpstr> </vt:lpstr>
      <vt:lpstr> </vt:lpstr>
      <vt:lpstr> </vt:lpstr>
      <vt:lpstr> </vt:lpstr>
      <vt:lpstr> </vt:lpstr>
      <vt:lpstr> </vt:lpstr>
      <vt:lpstr> </vt:lpstr>
      <vt:lpstr> </vt:lpstr>
      <vt:lpstr> </vt:lpstr>
      <vt:lpstr>PowerPoint 프레젠테이션</vt:lpstr>
      <vt:lpstr> </vt:lpstr>
      <vt:lpstr> </vt:lpstr>
      <vt:lpstr> </vt:lpstr>
      <vt:lpstr>PowerPoint 프레젠테이션</vt:lpstr>
      <vt:lpstr> </vt:lpstr>
      <vt:lpstr> </vt:lpstr>
      <vt:lpstr> </vt:lpstr>
      <vt:lpstr> </vt:lpstr>
      <vt:lpstr> </vt:lpstr>
      <vt:lpstr> </vt:lpstr>
      <vt:lpstr> </vt:lpstr>
      <vt:lpstr> </vt:lpstr>
      <vt:lpstr>PowerPoint 프레젠테이션</vt:lpstr>
      <vt:lpstr> </vt:lpstr>
      <vt:lpstr> </vt:lpstr>
      <vt:lpstr> </vt:lpstr>
      <vt:lpstr> </vt:lpstr>
      <vt:lpstr> </vt:lpstr>
      <vt:lpstr>PowerPoint 프레젠테이션</vt:lpstr>
      <vt:lpstr> </vt:lpstr>
      <vt:lpstr> </vt:lpstr>
      <vt:lpstr> </vt:lpstr>
      <vt:lpstr> </vt:lpstr>
      <vt:lpstr> </vt:lpstr>
      <vt:lpstr> </vt:lpstr>
      <vt:lpstr> </vt:lpstr>
      <vt:lpstr> </vt:lpstr>
      <vt:lpstr> </vt:lpstr>
      <vt:lpstr> </vt:lpstr>
      <vt:lpstr> </vt:lpstr>
      <vt:lpstr> </vt:lpstr>
      <vt:lpstr> </vt:lpstr>
      <vt:lpstr> </vt:lpstr>
    </vt:vector>
  </TitlesOfParts>
  <Company>HIST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사회보장위원회_사회보장통계</dc:title>
  <dc:creator>조헌진</dc:creator>
  <cp:lastModifiedBy>10249 10249</cp:lastModifiedBy>
  <cp:revision>8905</cp:revision>
  <cp:lastPrinted>2019-06-18T05:05:25Z</cp:lastPrinted>
  <dcterms:created xsi:type="dcterms:W3CDTF">2006-06-07T02:37:19Z</dcterms:created>
  <dcterms:modified xsi:type="dcterms:W3CDTF">2026-09-15T23:37:43Z</dcterms:modified>
</cp:coreProperties>
</file>