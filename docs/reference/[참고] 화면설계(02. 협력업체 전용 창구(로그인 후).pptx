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67"/>
  </p:notesMasterIdLst>
  <p:handoutMasterIdLst>
    <p:handoutMasterId r:id="rId68"/>
  </p:handoutMasterIdLst>
  <p:sldIdLst>
    <p:sldId id="3218" r:id="rId2"/>
    <p:sldId id="3956" r:id="rId3"/>
    <p:sldId id="3941" r:id="rId4"/>
    <p:sldId id="3287" r:id="rId5"/>
    <p:sldId id="3462" r:id="rId6"/>
    <p:sldId id="3762" r:id="rId7"/>
    <p:sldId id="3463" r:id="rId8"/>
    <p:sldId id="3547" r:id="rId9"/>
    <p:sldId id="3500" r:id="rId10"/>
    <p:sldId id="3501" r:id="rId11"/>
    <p:sldId id="3464" r:id="rId12"/>
    <p:sldId id="3503" r:id="rId13"/>
    <p:sldId id="3942" r:id="rId14"/>
    <p:sldId id="3472" r:id="rId15"/>
    <p:sldId id="3972" r:id="rId16"/>
    <p:sldId id="3549" r:id="rId17"/>
    <p:sldId id="3466" r:id="rId18"/>
    <p:sldId id="3800" r:id="rId19"/>
    <p:sldId id="3953" r:id="rId20"/>
    <p:sldId id="3957" r:id="rId21"/>
    <p:sldId id="3784" r:id="rId22"/>
    <p:sldId id="3973" r:id="rId23"/>
    <p:sldId id="3802" r:id="rId24"/>
    <p:sldId id="3974" r:id="rId25"/>
    <p:sldId id="3959" r:id="rId26"/>
    <p:sldId id="3550" r:id="rId27"/>
    <p:sldId id="3765" r:id="rId28"/>
    <p:sldId id="3798" r:id="rId29"/>
    <p:sldId id="3804" r:id="rId30"/>
    <p:sldId id="3960" r:id="rId31"/>
    <p:sldId id="3790" r:id="rId32"/>
    <p:sldId id="3961" r:id="rId33"/>
    <p:sldId id="3799" r:id="rId34"/>
    <p:sldId id="3564" r:id="rId35"/>
    <p:sldId id="3744" r:id="rId36"/>
    <p:sldId id="3791" r:id="rId37"/>
    <p:sldId id="3981" r:id="rId38"/>
    <p:sldId id="3792" r:id="rId39"/>
    <p:sldId id="3573" r:id="rId40"/>
    <p:sldId id="3574" r:id="rId41"/>
    <p:sldId id="3962" r:id="rId42"/>
    <p:sldId id="3795" r:id="rId43"/>
    <p:sldId id="3963" r:id="rId44"/>
    <p:sldId id="3748" r:id="rId45"/>
    <p:sldId id="3964" r:id="rId46"/>
    <p:sldId id="3965" r:id="rId47"/>
    <p:sldId id="3945" r:id="rId48"/>
    <p:sldId id="3966" r:id="rId49"/>
    <p:sldId id="3771" r:id="rId50"/>
    <p:sldId id="3772" r:id="rId51"/>
    <p:sldId id="3977" r:id="rId52"/>
    <p:sldId id="3978" r:id="rId53"/>
    <p:sldId id="3979" r:id="rId54"/>
    <p:sldId id="3980" r:id="rId55"/>
    <p:sldId id="3946" r:id="rId56"/>
    <p:sldId id="3975" r:id="rId57"/>
    <p:sldId id="3811" r:id="rId58"/>
    <p:sldId id="3967" r:id="rId59"/>
    <p:sldId id="3976" r:id="rId60"/>
    <p:sldId id="3950" r:id="rId61"/>
    <p:sldId id="3951" r:id="rId62"/>
    <p:sldId id="3969" r:id="rId63"/>
    <p:sldId id="3970" r:id="rId64"/>
    <p:sldId id="3753" r:id="rId65"/>
    <p:sldId id="3971" r:id="rId66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69"/>
      <p:bold r:id="rId70"/>
    </p:embeddedFont>
    <p:embeddedFont>
      <p:font typeface="맑은 고딕" panose="020B0503020000020004" pitchFamily="50" charset="-127"/>
      <p:regular r:id="rId71"/>
      <p:bold r:id="rId72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00000"/>
    <a:srgbClr val="FFC000"/>
    <a:srgbClr val="F2F2F2"/>
    <a:srgbClr val="404040"/>
    <a:srgbClr val="00B050"/>
    <a:srgbClr val="FFFF00"/>
    <a:srgbClr val="DCE6F2"/>
    <a:srgbClr val="596F8A"/>
    <a:srgbClr val="0039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72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50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 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5A8E22-9F46-93DA-729C-D838E17D46BE}"/>
              </a:ext>
            </a:extLst>
          </p:cNvPr>
          <p:cNvSpPr/>
          <p:nvPr/>
        </p:nvSpPr>
        <p:spPr>
          <a:xfrm>
            <a:off x="1741391" y="1119117"/>
            <a:ext cx="1530610" cy="5256585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9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</p:spTree>
    <p:extLst>
      <p:ext uri="{BB962C8B-B14F-4D97-AF65-F5344CB8AC3E}">
        <p14:creationId xmlns:p14="http://schemas.microsoft.com/office/powerpoint/2010/main" val="326318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195E-E9F1-98BF-A146-9FE22C64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DD1538-3F1C-B1A0-19F2-E6850C57C1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F9A89-BA64-6305-C6B9-85C65533571B}"/>
              </a:ext>
            </a:extLst>
          </p:cNvPr>
          <p:cNvSpPr txBox="1"/>
          <p:nvPr/>
        </p:nvSpPr>
        <p:spPr>
          <a:xfrm>
            <a:off x="749224" y="25608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BE632-99C5-9F08-92F5-45283DCD6889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D1E65F-2B82-4753-1CFF-1412A69F3FE1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5C8BB26-F009-9EAC-F2B2-22EB93C43B2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93EB46-179F-8CD0-B506-F7FDDE87D74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BD35B1-2A5A-2D71-BAF2-4E309420356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BF5A94-846D-F8EC-F28E-F7D29D4F8057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10092B-2C6B-FCCF-4E8A-7C4F0B93DF13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E2F940-F646-2C5A-C118-87EE31F39109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91A2C311-C613-6E1E-9FF3-B1F8FC949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2A71B6C-3550-A665-E2C3-879BD28D38F1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108491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D6642-CEE1-6561-41F5-DFC1D9A7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02126A4-A16C-955B-AD0A-D8739D3B9F1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A85B27-5C06-0711-DDCC-5CBBADD7A9EF}"/>
              </a:ext>
            </a:extLst>
          </p:cNvPr>
          <p:cNvSpPr txBox="1"/>
          <p:nvPr/>
        </p:nvSpPr>
        <p:spPr>
          <a:xfrm>
            <a:off x="749224" y="25608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공지사항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B1D76-A3BB-6DE3-E580-323298587A71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95EFE4-5B56-A577-60FD-5251F74D070C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DDCFEDC-25DB-76D0-B413-EE4741B8553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2A75827-6843-D455-55FD-06098F59196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73524E2-65CC-B082-58F6-770B549CF9B9}"/>
              </a:ext>
            </a:extLst>
          </p:cNvPr>
          <p:cNvSpPr/>
          <p:nvPr/>
        </p:nvSpPr>
        <p:spPr>
          <a:xfrm>
            <a:off x="164468" y="834984"/>
            <a:ext cx="7740859" cy="72180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C7F8F32-290F-3A06-BA33-E0396FC4092C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4F7409-F026-42FB-95FA-83C107E76BED}"/>
              </a:ext>
            </a:extLst>
          </p:cNvPr>
          <p:cNvSpPr txBox="1"/>
          <p:nvPr/>
        </p:nvSpPr>
        <p:spPr>
          <a:xfrm>
            <a:off x="235849" y="1241606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DD1C9BF-7641-95CE-C6BC-202DAE1D11C4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0EC32E2-1199-F804-CA7F-D59A4AA9090E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E9A6704-CCD5-310A-6DA0-11CDB9071886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9E22174-F5AB-B4BD-9AC9-B35DB44E1C11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9D75FE5-F4B0-6D6A-8003-6FE39C9C3B3B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5A71A97B-A3CA-4176-C45E-5BAC53F9B67D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302E61E-E645-BAC5-8068-D90F9ACDD789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D132625-B389-8C76-D981-C98549AA5787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F09C949-0A79-8C39-EAC3-35E566AB1CD2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C6DB73D-556B-7099-FC83-ED83230B2047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28CD7DD-9A61-A7E6-4886-F818CEAD4016}"/>
              </a:ext>
            </a:extLst>
          </p:cNvPr>
          <p:cNvSpPr/>
          <p:nvPr/>
        </p:nvSpPr>
        <p:spPr>
          <a:xfrm>
            <a:off x="6867117" y="164231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ED4E52F-F499-CFA0-7DF8-E149759F0F72}"/>
              </a:ext>
            </a:extLst>
          </p:cNvPr>
          <p:cNvSpPr/>
          <p:nvPr/>
        </p:nvSpPr>
        <p:spPr>
          <a:xfrm>
            <a:off x="7688579" y="164231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A71F00-3E7D-3E54-0AF0-066A90837879}"/>
              </a:ext>
            </a:extLst>
          </p:cNvPr>
          <p:cNvSpPr txBox="1"/>
          <p:nvPr/>
        </p:nvSpPr>
        <p:spPr>
          <a:xfrm>
            <a:off x="181506" y="162880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ABAF1EE1-D7BC-8493-4A4C-C37C517D6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832702"/>
              </p:ext>
            </p:extLst>
          </p:nvPr>
        </p:nvGraphicFramePr>
        <p:xfrm>
          <a:off x="181506" y="1945477"/>
          <a:ext cx="7722515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40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66302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862523">
                  <a:extLst>
                    <a:ext uri="{9D8B030D-6E8A-4147-A177-3AD203B41FA5}">
                      <a16:colId xmlns:a16="http://schemas.microsoft.com/office/drawing/2014/main" val="175949893"/>
                    </a:ext>
                  </a:extLst>
                </a:gridCol>
                <a:gridCol w="1358158">
                  <a:extLst>
                    <a:ext uri="{9D8B030D-6E8A-4147-A177-3AD203B41FA5}">
                      <a16:colId xmlns:a16="http://schemas.microsoft.com/office/drawing/2014/main" val="2606137487"/>
                    </a:ext>
                  </a:extLst>
                </a:gridCol>
                <a:gridCol w="919406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세부기준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개정되었습니다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10,235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grpSp>
        <p:nvGrpSpPr>
          <p:cNvPr id="88" name="그룹 87">
            <a:extLst>
              <a:ext uri="{FF2B5EF4-FFF2-40B4-BE49-F238E27FC236}">
                <a16:creationId xmlns:a16="http://schemas.microsoft.com/office/drawing/2014/main" id="{9AE37659-D2EA-E89A-503A-50EC87E760CC}"/>
              </a:ext>
            </a:extLst>
          </p:cNvPr>
          <p:cNvGrpSpPr/>
          <p:nvPr/>
        </p:nvGrpSpPr>
        <p:grpSpPr>
          <a:xfrm>
            <a:off x="2004219" y="4090003"/>
            <a:ext cx="4025354" cy="216024"/>
            <a:chOff x="2992062" y="4869160"/>
            <a:chExt cx="4025354" cy="216024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44A13FD-8603-D618-1941-DA7E42A963A4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87FE528B-6917-D6E8-B02E-EFEFFE288F87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CBB7167-CC09-51A0-F637-62121ADEBB94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ACBBDD1B-CD1E-93E6-C95B-3F94F4995473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F8E9C8E-897C-1449-5096-9E688DCCA474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AFDCC1E-FC80-626D-6D71-E059752B47F2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53F89CCA-DC79-9172-9BA1-D9C642DEC9AF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9E034607-F7D1-D770-9FF8-5145E0B8C848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E2F9568-1FBC-EC9E-44F4-816C4C58F0C6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2DBFE84-661B-9AE7-0101-152CA2729EC7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953355C0-36BB-74E7-838A-DE26C8837410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B9D4C73F-BD14-117E-526F-C65C99B809C8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81A18502-9D24-5686-974F-E28FEE4FD862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6F6E53DD-ED3D-53D3-4130-79F6B01AB70B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4B706C0F-E06E-6809-7E5D-EFB1AF56A13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67D2C119-9423-A194-CFB6-2AA5B4FA3F87}"/>
              </a:ext>
            </a:extLst>
          </p:cNvPr>
          <p:cNvSpPr/>
          <p:nvPr/>
        </p:nvSpPr>
        <p:spPr>
          <a:xfrm>
            <a:off x="1391271" y="123446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8889A8F-DD26-5E12-3044-E2090D659DE7}"/>
              </a:ext>
            </a:extLst>
          </p:cNvPr>
          <p:cNvSpPr/>
          <p:nvPr/>
        </p:nvSpPr>
        <p:spPr>
          <a:xfrm>
            <a:off x="2201522" y="123446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4E2C5BB-BFDD-6E50-8E94-95BD8F4D96B3}"/>
              </a:ext>
            </a:extLst>
          </p:cNvPr>
          <p:cNvSpPr/>
          <p:nvPr/>
        </p:nvSpPr>
        <p:spPr>
          <a:xfrm>
            <a:off x="2516659" y="1234461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2D91F9ED-DA3B-0461-4DE9-256E2B763487}"/>
              </a:ext>
            </a:extLst>
          </p:cNvPr>
          <p:cNvSpPr/>
          <p:nvPr/>
        </p:nvSpPr>
        <p:spPr>
          <a:xfrm>
            <a:off x="6224667" y="1234463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35A65D-61FA-08A2-222E-785003A69EBB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22B8D0-4CC5-E260-68C1-3A25C5E394E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1DA3A3-FA11-75C0-AC06-E4A961183158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F3298F2C-13A6-4523-1B86-4182B1890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C57DB8C5-F4F9-2A45-2300-86A9B0F5F207}"/>
              </a:ext>
            </a:extLst>
          </p:cNvPr>
          <p:cNvSpPr/>
          <p:nvPr/>
        </p:nvSpPr>
        <p:spPr>
          <a:xfrm>
            <a:off x="1264085" y="109712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1A7AF3-96AD-1BBA-5D33-C8A7FAAAADDE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37299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09CD-ACC9-3384-441B-1DA9384B1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31DF7BD-63E5-2F92-2CC6-9BDD05C980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F4245-E9A4-1914-34C4-10FAEC868202}"/>
              </a:ext>
            </a:extLst>
          </p:cNvPr>
          <p:cNvSpPr txBox="1"/>
          <p:nvPr/>
        </p:nvSpPr>
        <p:spPr>
          <a:xfrm>
            <a:off x="749224" y="25608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공지사항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608EF-D610-602D-C44C-5F2DD1DFCFF9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4866BA-BB66-3909-FC2C-9BA97ADB798B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E1EA89A-95AB-AEF0-C722-D89BE23D1EEC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650A15-E36C-2F6E-05CB-14EB67AA3D6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2FF3E951-AC95-18B8-1B67-4293292FA10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86C932-619E-33BB-2B19-9D2FAC8BAB36}"/>
              </a:ext>
            </a:extLst>
          </p:cNvPr>
          <p:cNvSpPr txBox="1"/>
          <p:nvPr/>
        </p:nvSpPr>
        <p:spPr>
          <a:xfrm>
            <a:off x="180526" y="5247952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2A698FC-2B01-4F30-A6B3-DB935FB87FC8}"/>
              </a:ext>
            </a:extLst>
          </p:cNvPr>
          <p:cNvGrpSpPr/>
          <p:nvPr/>
        </p:nvGrpSpPr>
        <p:grpSpPr>
          <a:xfrm>
            <a:off x="1693888" y="5250998"/>
            <a:ext cx="1278892" cy="198885"/>
            <a:chOff x="1693888" y="5290969"/>
            <a:chExt cx="1507496" cy="19888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3906206-E3A3-DDF2-6C0B-ECAFBF5DF57F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2545EC8-6506-7ADA-3D7C-CE841F1B4D6D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9DB76A1-B98F-2902-79AD-0780E456A754}"/>
              </a:ext>
            </a:extLst>
          </p:cNvPr>
          <p:cNvGrpSpPr/>
          <p:nvPr/>
        </p:nvGrpSpPr>
        <p:grpSpPr>
          <a:xfrm>
            <a:off x="1737018" y="5496963"/>
            <a:ext cx="1278892" cy="198885"/>
            <a:chOff x="1693888" y="5290969"/>
            <a:chExt cx="1507496" cy="19888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DE6AAB0-A61C-328D-8AE9-365D254E91C0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5D8E5ED-F8AB-5DA1-6CA1-AA02FA0AC953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0DC8E9E-3F19-F311-44D7-B0ED59797DDC}"/>
              </a:ext>
            </a:extLst>
          </p:cNvPr>
          <p:cNvCxnSpPr>
            <a:cxnSpLocks/>
          </p:cNvCxnSpPr>
          <p:nvPr/>
        </p:nvCxnSpPr>
        <p:spPr>
          <a:xfrm>
            <a:off x="167468" y="579491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B1E30D-F604-8BAF-AE53-C05339949507}"/>
              </a:ext>
            </a:extLst>
          </p:cNvPr>
          <p:cNvSpPr/>
          <p:nvPr/>
        </p:nvSpPr>
        <p:spPr>
          <a:xfrm>
            <a:off x="164468" y="5897524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1BB7F7D-4D4B-3119-AEB6-61A82B1294E4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837056"/>
          <a:ext cx="7632847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‘협력업체 선정 세부기준’이 개정되었습니다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2025.08.12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303202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24D671-CEF2-D60C-1529-377B8104BE97}"/>
              </a:ext>
            </a:extLst>
          </p:cNvPr>
          <p:cNvSpPr/>
          <p:nvPr/>
        </p:nvSpPr>
        <p:spPr>
          <a:xfrm>
            <a:off x="180526" y="2313987"/>
            <a:ext cx="7740859" cy="2816199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Editor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작성된 내용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E6F1EE-4689-D613-8AE5-0249FBEF350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1F38A2-10A3-98EA-5A24-922A7337F7D0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4D1C41-7429-6091-BFE5-F65CB881267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3" name="Picture 1">
            <a:extLst>
              <a:ext uri="{FF2B5EF4-FFF2-40B4-BE49-F238E27FC236}">
                <a16:creationId xmlns:a16="http://schemas.microsoft.com/office/drawing/2014/main" id="{BE1FE75C-5234-B16B-D8EF-482E7EC1D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B897C96-BF6A-76F6-3F03-E97DC7273507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409811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BFE7-91AF-D1C9-3D87-48F271118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3EA515B-3C64-E406-FE96-807392AE6A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E2AE26-4EA4-86DC-5D8C-C27B77BF56B2}"/>
              </a:ext>
            </a:extLst>
          </p:cNvPr>
          <p:cNvSpPr txBox="1"/>
          <p:nvPr/>
        </p:nvSpPr>
        <p:spPr>
          <a:xfrm>
            <a:off x="749224" y="25608"/>
            <a:ext cx="16353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89199-6F6C-30C5-6429-75D28FDE45C1}"/>
              </a:ext>
            </a:extLst>
          </p:cNvPr>
          <p:cNvSpPr txBox="1"/>
          <p:nvPr/>
        </p:nvSpPr>
        <p:spPr>
          <a:xfrm>
            <a:off x="8049344" y="584684"/>
            <a:ext cx="1856656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협력업체가 작성한 질문과 답변만 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B2D05C6-936B-8E36-6CA7-0E185AE79054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76E6CBF-E66B-6364-4DAB-EC021AFA9C5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AA738CC-F134-915D-65D1-71421DA15D8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6AEB76-3B1A-6893-A8A8-548A87E46B30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6865BF-558E-E0C5-9892-A6E6DB85BB2B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8239B3-4DBA-2B1E-B3C9-7229165A1A5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303041-44CB-1EAD-7D35-AAAA54063BB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8ED52C31-D832-020E-055B-B6E785CD2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E718574-E217-3790-7A9C-CFCCF2D47A50}"/>
              </a:ext>
            </a:extLst>
          </p:cNvPr>
          <p:cNvSpPr/>
          <p:nvPr/>
        </p:nvSpPr>
        <p:spPr>
          <a:xfrm>
            <a:off x="164468" y="834983"/>
            <a:ext cx="7740859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C972A3-74C0-B433-CE83-BDD4483C35B3}"/>
              </a:ext>
            </a:extLst>
          </p:cNvPr>
          <p:cNvSpPr/>
          <p:nvPr/>
        </p:nvSpPr>
        <p:spPr>
          <a:xfrm>
            <a:off x="1408523" y="142288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03C600-8059-1E8C-9BB4-CA7A49B0F1C1}"/>
              </a:ext>
            </a:extLst>
          </p:cNvPr>
          <p:cNvSpPr/>
          <p:nvPr/>
        </p:nvSpPr>
        <p:spPr>
          <a:xfrm>
            <a:off x="2218774" y="142288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4687D0-AC1D-FC9D-23B5-D83E244F891A}"/>
              </a:ext>
            </a:extLst>
          </p:cNvPr>
          <p:cNvSpPr/>
          <p:nvPr/>
        </p:nvSpPr>
        <p:spPr>
          <a:xfrm>
            <a:off x="2533911" y="142288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CB637E-F111-BC49-A951-5389117948B3}"/>
              </a:ext>
            </a:extLst>
          </p:cNvPr>
          <p:cNvSpPr/>
          <p:nvPr/>
        </p:nvSpPr>
        <p:spPr>
          <a:xfrm>
            <a:off x="6241919" y="142288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FE2A2-234B-13F9-0762-689EF3C20419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5BACB-7C97-99A0-61E3-A4BC31F4D226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답변요청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답변완료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8C57DC-D39D-107A-38D3-69C383B98A20}"/>
              </a:ext>
            </a:extLst>
          </p:cNvPr>
          <p:cNvSpPr txBox="1"/>
          <p:nvPr/>
        </p:nvSpPr>
        <p:spPr>
          <a:xfrm>
            <a:off x="235849" y="1430028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1B7203-F03C-6DDA-E4FB-48B77D16B207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E00D72-FEC1-0097-ED69-EFD4E0EF0C60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9728909-D7EB-4851-9783-132FBA92CCE6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D39C633-60CD-4E01-B602-AAD00F1E9B90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975D8E1-6B1E-583A-DE43-802D9D6F6EFD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B419F7-85FD-5770-E482-2C612A2AE31C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ABEEE9-B32F-A428-906F-BE731CDC5A5F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279E1FA-57B0-8ABC-ACAA-2E6139CFCC7F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DA7310-C065-C119-BD82-D0151F64D458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686F790-EBD1-E2DE-D7F1-FD4FBB2376F2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D2157E-2F9E-53B8-B469-56A1ECBF49AD}"/>
              </a:ext>
            </a:extLst>
          </p:cNvPr>
          <p:cNvSpPr/>
          <p:nvPr/>
        </p:nvSpPr>
        <p:spPr>
          <a:xfrm>
            <a:off x="6867117" y="19017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D36BE5-DD31-B5EB-86D1-80D6612043AD}"/>
              </a:ext>
            </a:extLst>
          </p:cNvPr>
          <p:cNvSpPr/>
          <p:nvPr/>
        </p:nvSpPr>
        <p:spPr>
          <a:xfrm>
            <a:off x="7688579" y="1901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042A68-8122-7600-966B-FDD8C0598695}"/>
              </a:ext>
            </a:extLst>
          </p:cNvPr>
          <p:cNvSpPr txBox="1"/>
          <p:nvPr/>
        </p:nvSpPr>
        <p:spPr>
          <a:xfrm>
            <a:off x="181506" y="188818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7430D980-CB52-DB39-BBF5-CF569DF2F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34151"/>
              </p:ext>
            </p:extLst>
          </p:nvPr>
        </p:nvGraphicFramePr>
        <p:xfrm>
          <a:off x="181506" y="2204864"/>
          <a:ext cx="7722513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3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04586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993048">
                  <a:extLst>
                    <a:ext uri="{9D8B030D-6E8A-4147-A177-3AD203B41FA5}">
                      <a16:colId xmlns:a16="http://schemas.microsoft.com/office/drawing/2014/main" val="175949893"/>
                    </a:ext>
                  </a:extLst>
                </a:gridCol>
                <a:gridCol w="919733">
                  <a:extLst>
                    <a:ext uri="{9D8B030D-6E8A-4147-A177-3AD203B41FA5}">
                      <a16:colId xmlns:a16="http://schemas.microsoft.com/office/drawing/2014/main" val="2606137487"/>
                    </a:ext>
                  </a:extLst>
                </a:gridCol>
                <a:gridCol w="672778">
                  <a:extLst>
                    <a:ext uri="{9D8B030D-6E8A-4147-A177-3AD203B41FA5}">
                      <a16:colId xmlns:a16="http://schemas.microsoft.com/office/drawing/2014/main" val="3361869317"/>
                    </a:ext>
                  </a:extLst>
                </a:gridCol>
                <a:gridCol w="55701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919733">
                  <a:extLst>
                    <a:ext uri="{9D8B030D-6E8A-4147-A177-3AD203B41FA5}">
                      <a16:colId xmlns:a16="http://schemas.microsoft.com/office/drawing/2014/main" val="648293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후 회사의 기본정보를 수정하고 싶어요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답변요청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후 회사의 기본정보를 수정하고 싶어요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큐비트엑스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답변완료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2026.07.02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큐비트엑스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큐비트엑스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큐비트엑스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00E4808C-B44E-48CB-37BC-950FD1CBCCA7}"/>
              </a:ext>
            </a:extLst>
          </p:cNvPr>
          <p:cNvGrpSpPr/>
          <p:nvPr/>
        </p:nvGrpSpPr>
        <p:grpSpPr>
          <a:xfrm>
            <a:off x="2004219" y="4349390"/>
            <a:ext cx="4025354" cy="216024"/>
            <a:chOff x="2992062" y="4869160"/>
            <a:chExt cx="4025354" cy="21602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3D82CCC-6EF7-96DE-02D8-4A2B56C6A472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8833839-3A00-C71A-4974-2E77E3D68EA5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81FFF9CF-5C53-DF15-D5B7-76D475332904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CDD317D-A033-84FA-83DC-B9E84A3C5E28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D381CBF2-FAB5-83FB-91B9-D4C36952C87B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5D01952-AFBB-E441-C246-3AAE375711C9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B55FF0F-4D07-9C8E-8DA2-08B5CB0BBEE0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D039F27-8371-8481-4A68-2F45935CB342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267F17B-34C4-3681-6FFD-C34918C3CA44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7694284-CA93-F69B-D5E7-C58C7680349D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965DFE0-68EC-06C8-74BB-78F6178223F6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10876FA-B3E5-35CD-0100-C173CAA86AC8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2DF2D8E-13B5-D057-B7DE-E6002177191C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714F296-FC0D-4821-C611-3EB83158E314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A58C3BE-6521-AF45-C19E-DEB29F8FEE20}"/>
              </a:ext>
            </a:extLst>
          </p:cNvPr>
          <p:cNvSpPr/>
          <p:nvPr/>
        </p:nvSpPr>
        <p:spPr>
          <a:xfrm>
            <a:off x="7053414" y="4653136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E3CECDF4-DD34-BD34-0C11-5EF95874347B}"/>
              </a:ext>
            </a:extLst>
          </p:cNvPr>
          <p:cNvSpPr/>
          <p:nvPr/>
        </p:nvSpPr>
        <p:spPr>
          <a:xfrm>
            <a:off x="73494" y="60218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6ADCE8A5-B4C6-2B92-A412-F2588A1DC067}"/>
              </a:ext>
            </a:extLst>
          </p:cNvPr>
          <p:cNvSpPr/>
          <p:nvPr/>
        </p:nvSpPr>
        <p:spPr>
          <a:xfrm>
            <a:off x="1258567" y="129826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0617ACF-6147-4CE4-35BF-B70D186BFB61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186502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95E0-1310-E0B2-4A1B-D3FB0827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C50BBA5-DB9A-47E5-D70C-D2B84445D7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09579B-C802-0115-3F1E-0F2FC0CF4F21}"/>
              </a:ext>
            </a:extLst>
          </p:cNvPr>
          <p:cNvSpPr txBox="1"/>
          <p:nvPr/>
        </p:nvSpPr>
        <p:spPr>
          <a:xfrm>
            <a:off x="749224" y="25608"/>
            <a:ext cx="16353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ABBCA-3B06-9A8D-1A12-8F3A6CE98633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 등록 시 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MSG-008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880DF3-53EE-D267-C450-17C0EC3A5746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26F7908-59A9-DCA4-7A43-9DBB6C6D066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0109AA0-BD0B-E25F-C581-45A93FACF6C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451539-EBEE-A624-F37B-49422D67BFD5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0C9719-12BC-AC7C-97A7-27C5A31D4313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51FB14-2FBC-EFD5-70D5-DC9D9C29A20D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4E7A47-5D3A-65DD-E773-0448A2EB1BE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310DA022-15CF-2FF1-E98A-536C8ADE0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ABC9AD42-6B6F-4BAA-611D-BBCA12A28B55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828430"/>
          <a:ext cx="7632847" cy="25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질문 내용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530204"/>
                  </a:ext>
                </a:extLst>
              </a:tr>
            </a:tbl>
          </a:graphicData>
        </a:graphic>
      </p:graphicFrame>
      <p:sp>
        <p:nvSpPr>
          <p:cNvPr id="65" name="직사각형 64">
            <a:extLst>
              <a:ext uri="{FF2B5EF4-FFF2-40B4-BE49-F238E27FC236}">
                <a16:creationId xmlns:a16="http://schemas.microsoft.com/office/drawing/2014/main" id="{528C8077-944A-E8B3-11C1-1890280C17BB}"/>
              </a:ext>
            </a:extLst>
          </p:cNvPr>
          <p:cNvSpPr/>
          <p:nvPr/>
        </p:nvSpPr>
        <p:spPr>
          <a:xfrm>
            <a:off x="1333849" y="1581990"/>
            <a:ext cx="6391459" cy="17696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TextArea</a:t>
            </a:r>
            <a:endParaRPr kumimoji="0"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8540D20-37F8-FFB8-D7D4-F11ED87AB0A1}"/>
              </a:ext>
            </a:extLst>
          </p:cNvPr>
          <p:cNvSpPr/>
          <p:nvPr/>
        </p:nvSpPr>
        <p:spPr>
          <a:xfrm>
            <a:off x="1306894" y="892420"/>
            <a:ext cx="6202390" cy="215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EB71241-0A2F-0C48-66E3-A711BFA78A2A}"/>
              </a:ext>
            </a:extLst>
          </p:cNvPr>
          <p:cNvSpPr/>
          <p:nvPr/>
        </p:nvSpPr>
        <p:spPr>
          <a:xfrm>
            <a:off x="164468" y="4826690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2B7E5B9-6505-8C25-A797-9F9D70873ECC}"/>
              </a:ext>
            </a:extLst>
          </p:cNvPr>
          <p:cNvSpPr/>
          <p:nvPr/>
        </p:nvSpPr>
        <p:spPr>
          <a:xfrm>
            <a:off x="6186331" y="4826675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5B022BF9-65C2-6A96-D6C1-EB80A793653C}"/>
              </a:ext>
            </a:extLst>
          </p:cNvPr>
          <p:cNvSpPr/>
          <p:nvPr/>
        </p:nvSpPr>
        <p:spPr>
          <a:xfrm>
            <a:off x="5322566" y="4826675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41FEEECF-E120-C843-FC3F-FD40D22DAD36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3420374"/>
          <a:ext cx="7632847" cy="13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첫 번째로 첨부된 파일명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  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72000" marR="0" lvl="0" indent="-72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두 번째로 첨부된 파일명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.HWP  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b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pic>
        <p:nvPicPr>
          <p:cNvPr id="82" name="그림 81">
            <a:extLst>
              <a:ext uri="{FF2B5EF4-FFF2-40B4-BE49-F238E27FC236}">
                <a16:creationId xmlns:a16="http://schemas.microsoft.com/office/drawing/2014/main" id="{632BFD48-9141-73D7-D07C-159DF6164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49" y="4064708"/>
            <a:ext cx="5455355" cy="573163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A9024D6-EBE7-305A-2E22-17A95535A919}"/>
              </a:ext>
            </a:extLst>
          </p:cNvPr>
          <p:cNvSpPr/>
          <p:nvPr/>
        </p:nvSpPr>
        <p:spPr>
          <a:xfrm>
            <a:off x="5214554" y="467179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5EFA17-0F15-CE2D-749F-0B08B2560E78}"/>
              </a:ext>
            </a:extLst>
          </p:cNvPr>
          <p:cNvSpPr/>
          <p:nvPr/>
        </p:nvSpPr>
        <p:spPr>
          <a:xfrm>
            <a:off x="7053415" y="4826675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60A78E-1D53-6941-F6E4-4E80478A1ECC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43077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AAF6-D805-76ED-F455-BBCD2742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9270002-8436-CF02-C6F7-A7AC2FA30E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8A1C0-0012-82B0-7CC0-3C74548AB586}"/>
              </a:ext>
            </a:extLst>
          </p:cNvPr>
          <p:cNvSpPr txBox="1"/>
          <p:nvPr/>
        </p:nvSpPr>
        <p:spPr>
          <a:xfrm>
            <a:off x="749224" y="25608"/>
            <a:ext cx="16353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1EF5F3-A021-1339-CB82-97BB4A4A81E6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16AD8-D470-E09B-B2B4-B5F3ABAFC09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A12E79B-795C-465A-EDF0-EB6A9D656B0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E4AD61-DE67-E91B-842F-D4407513297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B6EF5D-D0A9-9A39-EA64-9CBF9782662E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FB3C1A-C121-8A28-C04F-DDFC5E30C13E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0B924B81-6CD2-A7B3-DA72-A32B8621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D3D374-D53C-1082-FFE8-2079EF5F8FAB}"/>
              </a:ext>
            </a:extLst>
          </p:cNvPr>
          <p:cNvSpPr txBox="1"/>
          <p:nvPr/>
        </p:nvSpPr>
        <p:spPr>
          <a:xfrm>
            <a:off x="180526" y="5057564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569013-37F3-6A44-01E8-45C2D8C52805}"/>
              </a:ext>
            </a:extLst>
          </p:cNvPr>
          <p:cNvGrpSpPr/>
          <p:nvPr/>
        </p:nvGrpSpPr>
        <p:grpSpPr>
          <a:xfrm>
            <a:off x="1693888" y="5049180"/>
            <a:ext cx="1278892" cy="198885"/>
            <a:chOff x="1693888" y="5290969"/>
            <a:chExt cx="1507496" cy="19888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1909A71-6E52-390D-C6B3-353CD9349998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218F613-CA48-AD35-927E-C1FDBCFC2747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F3552A0-7A97-2C13-0A80-EE2359C07DA3}"/>
              </a:ext>
            </a:extLst>
          </p:cNvPr>
          <p:cNvGrpSpPr/>
          <p:nvPr/>
        </p:nvGrpSpPr>
        <p:grpSpPr>
          <a:xfrm>
            <a:off x="1737018" y="5295145"/>
            <a:ext cx="1278892" cy="198885"/>
            <a:chOff x="1693888" y="5290969"/>
            <a:chExt cx="1507496" cy="19888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33E1BF2-886B-1E3E-7E63-875064450099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BC16076-A8D0-90BB-F710-ABDA1E2A3BB3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375A996-F05E-88A3-80A6-C02C12716B69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1087820"/>
          <a:ext cx="7632847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후 회사의 기본정보를 수정하고 싶어요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답변요청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답변완료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46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2025.08.12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5936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696F10-933D-316D-D275-0FB70AB856D2}"/>
              </a:ext>
            </a:extLst>
          </p:cNvPr>
          <p:cNvSpPr/>
          <p:nvPr/>
        </p:nvSpPr>
        <p:spPr>
          <a:xfrm>
            <a:off x="180527" y="2543743"/>
            <a:ext cx="7632848" cy="2433430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TextArea로</a:t>
            </a:r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500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질문 내용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5C90CE-0EDD-6B31-A7DB-AA62C53B6384}"/>
              </a:ext>
            </a:extLst>
          </p:cNvPr>
          <p:cNvSpPr/>
          <p:nvPr/>
        </p:nvSpPr>
        <p:spPr>
          <a:xfrm>
            <a:off x="195586" y="818451"/>
            <a:ext cx="468077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 내용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AF23AF-E794-319C-7518-74116900CF1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67E94C8-E8D1-7F36-730B-6502210D0D2B}"/>
              </a:ext>
            </a:extLst>
          </p:cNvPr>
          <p:cNvCxnSpPr>
            <a:cxnSpLocks/>
          </p:cNvCxnSpPr>
          <p:nvPr/>
        </p:nvCxnSpPr>
        <p:spPr>
          <a:xfrm>
            <a:off x="167468" y="5622001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63279E-B20A-F1F8-CE21-C6ED14411650}"/>
              </a:ext>
            </a:extLst>
          </p:cNvPr>
          <p:cNvSpPr/>
          <p:nvPr/>
        </p:nvSpPr>
        <p:spPr>
          <a:xfrm>
            <a:off x="164468" y="5747943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E7D3FE6-BED0-DB78-BB09-AD8538B7BA71}"/>
              </a:ext>
            </a:extLst>
          </p:cNvPr>
          <p:cNvGrpSpPr/>
          <p:nvPr/>
        </p:nvGrpSpPr>
        <p:grpSpPr>
          <a:xfrm>
            <a:off x="6177136" y="5747265"/>
            <a:ext cx="1689362" cy="288032"/>
            <a:chOff x="5921532" y="1435096"/>
            <a:chExt cx="1944966" cy="28803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0E64811-427C-2B0A-4FE6-27BF3888FA44}"/>
                </a:ext>
              </a:extLst>
            </p:cNvPr>
            <p:cNvSpPr/>
            <p:nvPr/>
          </p:nvSpPr>
          <p:spPr>
            <a:xfrm>
              <a:off x="5921532" y="1435096"/>
              <a:ext cx="936104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수정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B4289D8-1683-62BD-18DE-858C4B959162}"/>
                </a:ext>
              </a:extLst>
            </p:cNvPr>
            <p:cNvSpPr/>
            <p:nvPr/>
          </p:nvSpPr>
          <p:spPr>
            <a:xfrm>
              <a:off x="6930394" y="1435096"/>
              <a:ext cx="936104" cy="288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776ADE8-CAE5-C036-9CA4-0DE00044109D}"/>
              </a:ext>
            </a:extLst>
          </p:cNvPr>
          <p:cNvSpPr txBox="1"/>
          <p:nvPr/>
        </p:nvSpPr>
        <p:spPr>
          <a:xfrm>
            <a:off x="8049344" y="584684"/>
            <a:ext cx="185665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답변이 등록된 경우 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 불가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Alert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답변이 등록되어 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삭제는 불가능합니다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.’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FF858C1-1C1E-9095-54AB-B3BB97688D91}"/>
              </a:ext>
            </a:extLst>
          </p:cNvPr>
          <p:cNvSpPr/>
          <p:nvPr/>
        </p:nvSpPr>
        <p:spPr>
          <a:xfrm>
            <a:off x="6037526" y="562200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7D8705-CDC5-AD39-40E8-0A238F898762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427056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1CDE1-2E2A-15A1-E4C2-B42B08AA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7CB71E4-564B-784C-09E6-1994CE62F7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FED4B1-7B4B-6E17-C410-8CAB533F21E0}"/>
              </a:ext>
            </a:extLst>
          </p:cNvPr>
          <p:cNvSpPr txBox="1"/>
          <p:nvPr/>
        </p:nvSpPr>
        <p:spPr>
          <a:xfrm>
            <a:off x="749224" y="25608"/>
            <a:ext cx="16353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EBCC43-8BD3-9389-1EAD-2803A0ED238F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있는 경우에만 보여줌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0B489551-E6EB-1CE1-4302-F2689DEEE8B8}"/>
              </a:ext>
            </a:extLst>
          </p:cNvPr>
          <p:cNvGraphicFramePr>
            <a:graphicFrameLocks noGrp="1"/>
          </p:cNvGraphicFramePr>
          <p:nvPr/>
        </p:nvGraphicFramePr>
        <p:xfrm>
          <a:off x="197590" y="680255"/>
          <a:ext cx="7632847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564948838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4143968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147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2025.08.12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01923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8DAA6311-AA57-FFAF-51E3-DE1B889E2388}"/>
              </a:ext>
            </a:extLst>
          </p:cNvPr>
          <p:cNvSpPr/>
          <p:nvPr/>
        </p:nvSpPr>
        <p:spPr>
          <a:xfrm>
            <a:off x="180526" y="1448859"/>
            <a:ext cx="7740859" cy="1219512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Editor로</a:t>
            </a:r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500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답변 내용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5EB1817-D111-E2AC-10C2-E9F40D717CEA}"/>
              </a:ext>
            </a:extLst>
          </p:cNvPr>
          <p:cNvSpPr/>
          <p:nvPr/>
        </p:nvSpPr>
        <p:spPr>
          <a:xfrm>
            <a:off x="195586" y="375924"/>
            <a:ext cx="468077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 내용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221F21-ED64-ADE1-BF16-636EC142D965}"/>
              </a:ext>
            </a:extLst>
          </p:cNvPr>
          <p:cNvSpPr txBox="1"/>
          <p:nvPr/>
        </p:nvSpPr>
        <p:spPr>
          <a:xfrm>
            <a:off x="180526" y="2806981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0DFECBA-A461-43CD-9C0A-FB4343DB2399}"/>
              </a:ext>
            </a:extLst>
          </p:cNvPr>
          <p:cNvGrpSpPr/>
          <p:nvPr/>
        </p:nvGrpSpPr>
        <p:grpSpPr>
          <a:xfrm>
            <a:off x="1693888" y="2798597"/>
            <a:ext cx="1278892" cy="198885"/>
            <a:chOff x="1693888" y="5290969"/>
            <a:chExt cx="1507496" cy="19888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B8C14C5-111F-0467-831F-CB9D46E1A38E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68C728E-9FBC-8C08-D5EE-B7493380E14D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A7942D3-A1C2-4D19-248A-BE4EA8EB1C18}"/>
              </a:ext>
            </a:extLst>
          </p:cNvPr>
          <p:cNvGrpSpPr/>
          <p:nvPr/>
        </p:nvGrpSpPr>
        <p:grpSpPr>
          <a:xfrm>
            <a:off x="1737018" y="3044562"/>
            <a:ext cx="1278892" cy="198885"/>
            <a:chOff x="1693888" y="5290969"/>
            <a:chExt cx="1507496" cy="19888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90C40D97-FD18-99DA-C049-0B3E585BB826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A81D422-713D-9E4D-FEBB-E169A6A1B00B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51A326F-D92D-D33F-EAA8-FC77FDD3E40E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EDF8D60-4B41-E298-FA43-DAB1B1E02797}"/>
              </a:ext>
            </a:extLst>
          </p:cNvPr>
          <p:cNvSpPr/>
          <p:nvPr/>
        </p:nvSpPr>
        <p:spPr>
          <a:xfrm>
            <a:off x="73494" y="21470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100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C46B0-C98D-C973-C4C2-566F7912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D942079-B9C5-A72E-2FF3-ED234CF9A2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7FE5B-777E-3C61-59B6-CE7BC4242033}"/>
              </a:ext>
            </a:extLst>
          </p:cNvPr>
          <p:cNvSpPr txBox="1"/>
          <p:nvPr/>
        </p:nvSpPr>
        <p:spPr>
          <a:xfrm>
            <a:off x="749224" y="25608"/>
            <a:ext cx="22862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1C49C-12BA-B4EB-D14E-930E73AC7DEE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9EF15C-263E-1E38-C033-C29788F0604A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2F54435-1832-FF50-9B89-94C6A3D7F63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9A1E26D-8476-79B2-30A6-2395A5345305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BA440F-F517-809B-1353-DDFB1E585085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8F74A4-5BC2-4F37-BC1B-C9DF97F5A72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77AD55-C715-F743-85C2-626D198AC36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6D3C8D-B3EF-F71F-0F1A-857664570772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008A9844-6AB2-8E0C-14E6-119DCA50A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B01622-04B4-F586-AFAE-3DD414EDB6CC}"/>
              </a:ext>
            </a:extLst>
          </p:cNvPr>
          <p:cNvSpPr/>
          <p:nvPr/>
        </p:nvSpPr>
        <p:spPr>
          <a:xfrm>
            <a:off x="164468" y="834984"/>
            <a:ext cx="7740859" cy="72180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D05418-450A-FF75-34A7-A51B3806790C}"/>
              </a:ext>
            </a:extLst>
          </p:cNvPr>
          <p:cNvSpPr/>
          <p:nvPr/>
        </p:nvSpPr>
        <p:spPr>
          <a:xfrm>
            <a:off x="1408523" y="122322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AE91B02-17C8-290E-A7E4-85B94778C631}"/>
              </a:ext>
            </a:extLst>
          </p:cNvPr>
          <p:cNvSpPr/>
          <p:nvPr/>
        </p:nvSpPr>
        <p:spPr>
          <a:xfrm>
            <a:off x="2218774" y="122323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5FC8A2-C41A-4438-7BB7-FE9346814461}"/>
              </a:ext>
            </a:extLst>
          </p:cNvPr>
          <p:cNvSpPr/>
          <p:nvPr/>
        </p:nvSpPr>
        <p:spPr>
          <a:xfrm>
            <a:off x="2533911" y="122322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0891CFE-29F6-E9B6-90DC-FCCB81440597}"/>
              </a:ext>
            </a:extLst>
          </p:cNvPr>
          <p:cNvSpPr/>
          <p:nvPr/>
        </p:nvSpPr>
        <p:spPr>
          <a:xfrm>
            <a:off x="6241919" y="122323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1E41EC-3B5B-30EA-BE00-259F2966D9DD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B926D2-F31B-4BFA-5E55-98FFB6083CA6}"/>
              </a:ext>
            </a:extLst>
          </p:cNvPr>
          <p:cNvSpPr txBox="1"/>
          <p:nvPr/>
        </p:nvSpPr>
        <p:spPr>
          <a:xfrm>
            <a:off x="235849" y="1230373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0B2A39E-C65B-BD59-27D1-E08C1350F7F1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9AE264C-56F3-A393-8FE3-1D80664E63E8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3763FC3-763B-4A12-18B6-47A807AA7A2F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90F8A3F-3CF5-C6D7-9290-0399482067EC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B4B43B-4F20-F048-3AE4-99127F6DAE12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98CA627-A23B-7AE1-82AE-EEC71BCB6A9F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03BC1F2-7285-CDE4-63D5-6D3E865643CB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8D3BF5E-A4FC-057B-3BD1-5A3110349090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53D1231-CCF4-7150-88CD-4F593EC09DF4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6578AA5-EE36-0AF6-EB84-5F02B3960518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6B16CC6-17EF-624A-95E3-A8465523CA43}"/>
              </a:ext>
            </a:extLst>
          </p:cNvPr>
          <p:cNvSpPr/>
          <p:nvPr/>
        </p:nvSpPr>
        <p:spPr>
          <a:xfrm>
            <a:off x="6867117" y="165094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1B81648-4AA0-BCEB-EEA7-290CE1024151}"/>
              </a:ext>
            </a:extLst>
          </p:cNvPr>
          <p:cNvSpPr/>
          <p:nvPr/>
        </p:nvSpPr>
        <p:spPr>
          <a:xfrm>
            <a:off x="7688579" y="16509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667997-1FF0-4FBF-04F7-CAA5DD78E7D5}"/>
              </a:ext>
            </a:extLst>
          </p:cNvPr>
          <p:cNvSpPr txBox="1"/>
          <p:nvPr/>
        </p:nvSpPr>
        <p:spPr>
          <a:xfrm>
            <a:off x="181506" y="1637426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8DBFA279-D06A-A414-BEA3-12621E805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680519"/>
              </p:ext>
            </p:extLst>
          </p:nvPr>
        </p:nvGraphicFramePr>
        <p:xfrm>
          <a:off x="181506" y="1954103"/>
          <a:ext cx="7722513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40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66302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862522">
                  <a:extLst>
                    <a:ext uri="{9D8B030D-6E8A-4147-A177-3AD203B41FA5}">
                      <a16:colId xmlns:a16="http://schemas.microsoft.com/office/drawing/2014/main" val="175949893"/>
                    </a:ext>
                  </a:extLst>
                </a:gridCol>
                <a:gridCol w="1358158">
                  <a:extLst>
                    <a:ext uri="{9D8B030D-6E8A-4147-A177-3AD203B41FA5}">
                      <a16:colId xmlns:a16="http://schemas.microsoft.com/office/drawing/2014/main" val="2606137487"/>
                    </a:ext>
                  </a:extLst>
                </a:gridCol>
                <a:gridCol w="919406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HW_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물품계약서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10,235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grpSp>
        <p:nvGrpSpPr>
          <p:cNvPr id="63" name="그룹 62">
            <a:extLst>
              <a:ext uri="{FF2B5EF4-FFF2-40B4-BE49-F238E27FC236}">
                <a16:creationId xmlns:a16="http://schemas.microsoft.com/office/drawing/2014/main" id="{00E202AB-3AE0-0621-A6C7-DAE754914AF8}"/>
              </a:ext>
            </a:extLst>
          </p:cNvPr>
          <p:cNvGrpSpPr/>
          <p:nvPr/>
        </p:nvGrpSpPr>
        <p:grpSpPr>
          <a:xfrm>
            <a:off x="2004219" y="4098629"/>
            <a:ext cx="4025354" cy="216024"/>
            <a:chOff x="2992062" y="4869160"/>
            <a:chExt cx="4025354" cy="216024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A8D1A6C-5AB7-E168-4F8C-D131769ED4BC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6A5EE77D-CBC0-08FB-5358-09F60BC5226C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78D697B9-531F-3F87-E9CA-726DF5C713E2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7F50044-6419-3D0E-0AC4-98CD1908C362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CD7928C2-87AB-313E-3885-E19199EECD55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F0F9A847-09BC-6E28-D873-E62C098C2168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1518287-D333-DF8C-59EF-518CA4E0BF22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C274377-B34E-95A4-0A7A-5813B42CE528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2A965DA8-6114-A0C8-47EA-A2DA470B13BF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0D10EA0-08F7-E746-2225-5F49FDDAF10B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F1F1EB7A-5F9B-DC1B-8384-E34466DE4871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D963B0B1-38E1-0B70-532D-A0C27C49CB71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92D19E92-F331-5AB6-1AE9-FE80E3A85E78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42ECEB5-673D-8B27-D1DB-D2EDDB4466BC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46022DA-18A9-26A5-2CBC-2F77C8E1A93A}"/>
              </a:ext>
            </a:extLst>
          </p:cNvPr>
          <p:cNvSpPr/>
          <p:nvPr/>
        </p:nvSpPr>
        <p:spPr>
          <a:xfrm>
            <a:off x="7053414" y="4402375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2AE27E3-3F25-AB19-F50A-CC0171B47986}"/>
              </a:ext>
            </a:extLst>
          </p:cNvPr>
          <p:cNvSpPr/>
          <p:nvPr/>
        </p:nvSpPr>
        <p:spPr>
          <a:xfrm>
            <a:off x="1289725" y="10918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47E206-E241-8373-2C7F-BE54A9C77A52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706689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5A1C-4D08-70DB-B52B-75A48DC5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B756F02-C7B6-DCD1-5E57-D88377335A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E914BD-BDF1-1CF6-24DF-1D5D46A086FE}"/>
              </a:ext>
            </a:extLst>
          </p:cNvPr>
          <p:cNvSpPr txBox="1"/>
          <p:nvPr/>
        </p:nvSpPr>
        <p:spPr>
          <a:xfrm>
            <a:off x="749224" y="25608"/>
            <a:ext cx="22188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F2BBB-C47E-CEF9-4DB4-7BB473563A4E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E740F97-F86D-AA0E-CF74-EB0ABD5DA8D9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3B4D70C-6989-41BA-75B0-1B40FD9911B8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3825B4-17E9-0356-BA83-729C4C2C41B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64F44F-2A9E-1C3B-925F-820C4B0BA48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35C891-00BA-18B4-9936-2CDFFC49CE7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F6078C-1C1A-6142-1169-2DD5E1B84E52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19E5A5-C7A0-257C-FD4E-E204B2325C63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DC2E4831-AFCC-48C4-D872-2229E1ABA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871A10-BB10-6D37-9303-0288F41BB26A}"/>
              </a:ext>
            </a:extLst>
          </p:cNvPr>
          <p:cNvSpPr txBox="1"/>
          <p:nvPr/>
        </p:nvSpPr>
        <p:spPr>
          <a:xfrm>
            <a:off x="180526" y="5230700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BFC1892-6813-617E-D022-D291646E914C}"/>
              </a:ext>
            </a:extLst>
          </p:cNvPr>
          <p:cNvGrpSpPr/>
          <p:nvPr/>
        </p:nvGrpSpPr>
        <p:grpSpPr>
          <a:xfrm>
            <a:off x="1693888" y="5233746"/>
            <a:ext cx="1278892" cy="198885"/>
            <a:chOff x="1693888" y="5290969"/>
            <a:chExt cx="1507496" cy="19888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49579DF-2683-16FD-24A0-276C23DCC296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7417DD3-4888-C810-9A73-125AD5288A0D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F2A77BF-DE4D-7D66-DC98-200827F7ED09}"/>
              </a:ext>
            </a:extLst>
          </p:cNvPr>
          <p:cNvGrpSpPr/>
          <p:nvPr/>
        </p:nvGrpSpPr>
        <p:grpSpPr>
          <a:xfrm>
            <a:off x="1737018" y="5479711"/>
            <a:ext cx="1278892" cy="198885"/>
            <a:chOff x="1693888" y="5290969"/>
            <a:chExt cx="1507496" cy="19888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FC24FE4-8BCA-73AD-AFAA-865CFC54FBBE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594FEB6-7D36-9406-8E0A-49BB83020717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4332927-14E6-DF4D-B48A-796605A62F56}"/>
              </a:ext>
            </a:extLst>
          </p:cNvPr>
          <p:cNvCxnSpPr>
            <a:cxnSpLocks/>
          </p:cNvCxnSpPr>
          <p:nvPr/>
        </p:nvCxnSpPr>
        <p:spPr>
          <a:xfrm>
            <a:off x="167468" y="5777666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E29332-6521-DA09-6DAD-D8BB19171CE3}"/>
              </a:ext>
            </a:extLst>
          </p:cNvPr>
          <p:cNvSpPr/>
          <p:nvPr/>
        </p:nvSpPr>
        <p:spPr>
          <a:xfrm>
            <a:off x="164468" y="588027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282CF5C-194D-9900-1C7C-B67514197C32}"/>
              </a:ext>
            </a:extLst>
          </p:cNvPr>
          <p:cNvGrpSpPr/>
          <p:nvPr/>
        </p:nvGrpSpPr>
        <p:grpSpPr>
          <a:xfrm>
            <a:off x="6177136" y="5879594"/>
            <a:ext cx="1689362" cy="288032"/>
            <a:chOff x="5921532" y="1435096"/>
            <a:chExt cx="1944966" cy="288032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612E5E4-FD7A-F20D-E162-C8F9C5F4472E}"/>
                </a:ext>
              </a:extLst>
            </p:cNvPr>
            <p:cNvSpPr/>
            <p:nvPr/>
          </p:nvSpPr>
          <p:spPr>
            <a:xfrm>
              <a:off x="5921532" y="1435096"/>
              <a:ext cx="936104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수정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97B6C7E-753C-D878-7661-70CA084B2C74}"/>
                </a:ext>
              </a:extLst>
            </p:cNvPr>
            <p:cNvSpPr/>
            <p:nvPr/>
          </p:nvSpPr>
          <p:spPr>
            <a:xfrm>
              <a:off x="6930394" y="1435096"/>
              <a:ext cx="936104" cy="288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E8BE0047-1FDC-CC5A-8C28-7AD88B56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28303"/>
              </p:ext>
            </p:extLst>
          </p:nvPr>
        </p:nvGraphicFramePr>
        <p:xfrm>
          <a:off x="164468" y="819804"/>
          <a:ext cx="7632847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HW_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물품계약서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2025.08.12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303202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D964E3-5EDE-08C5-4D83-96F964C5915A}"/>
              </a:ext>
            </a:extLst>
          </p:cNvPr>
          <p:cNvSpPr/>
          <p:nvPr/>
        </p:nvSpPr>
        <p:spPr>
          <a:xfrm>
            <a:off x="180526" y="2273412"/>
            <a:ext cx="7740859" cy="2839522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Editor로 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내용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1D99DC7-E90A-1304-ED11-79B473B8C3FA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95225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4A564-15E4-C902-097F-31388620A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975B18C-3337-DAB5-02B8-B46D0A8E8D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AECA0-46F0-9BB1-232E-830BA4133874}"/>
              </a:ext>
            </a:extLst>
          </p:cNvPr>
          <p:cNvSpPr txBox="1"/>
          <p:nvPr/>
        </p:nvSpPr>
        <p:spPr>
          <a:xfrm>
            <a:off x="749224" y="25608"/>
            <a:ext cx="22573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68744-D15C-00D8-4E3D-93CAAA672A45}"/>
              </a:ext>
            </a:extLst>
          </p:cNvPr>
          <p:cNvSpPr txBox="1"/>
          <p:nvPr/>
        </p:nvSpPr>
        <p:spPr>
          <a:xfrm>
            <a:off x="8049344" y="584684"/>
            <a:ext cx="1856656" cy="254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협력업체에게 요청된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‘사전 견적’ 내역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견적요청명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정의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요청중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마감일시 이전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마감일시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이후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제출상태 정의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미제출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 안함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제출완료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 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견적포기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77CAC0B-E834-447E-9A42-E747EEC3C185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C2556A7-F9AB-786D-224B-65079BDD6C4B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8A0F12-F514-A854-5895-4F9E6CEC1525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B9EE78-2E89-AD07-DF0E-D4E93ABDC0F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312CD78-995F-1B9D-858B-DB5266BACA86}"/>
              </a:ext>
            </a:extLst>
          </p:cNvPr>
          <p:cNvSpPr/>
          <p:nvPr/>
        </p:nvSpPr>
        <p:spPr>
          <a:xfrm>
            <a:off x="164467" y="808284"/>
            <a:ext cx="7740859" cy="150458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4723AB-D0EB-FB2E-494D-3A972E8F6D71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요청일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ABB43C-457B-A526-3899-D4B6DCB40DD2}"/>
              </a:ext>
            </a:extLst>
          </p:cNvPr>
          <p:cNvSpPr txBox="1"/>
          <p:nvPr/>
        </p:nvSpPr>
        <p:spPr>
          <a:xfrm>
            <a:off x="235850" y="1984820"/>
            <a:ext cx="1679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706F9FC-1105-1BFB-6F50-9DCC76A88185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7618BCE-F3C8-7845-0883-C5B95E8B2D05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3FF1774-CE93-2E65-6C98-4D8FFFE583A8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AE60CD6-548A-4147-BD16-A6B241732DF9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EB61146-7A63-2450-E40C-33DCFAB72B0E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8CA5660-741E-3849-6299-505E74C150B5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5640208-B454-1A18-B9DF-926F4015A71B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7B6FA58-D61E-E768-8CBA-1B186B3F9ADD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8020421-B9DE-ACF4-639A-481D71F49E91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8379A82-AC67-331D-D037-BBFC5D037FD5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1B482F-85E4-2475-3241-7B537F00E221}"/>
              </a:ext>
            </a:extLst>
          </p:cNvPr>
          <p:cNvSpPr txBox="1"/>
          <p:nvPr/>
        </p:nvSpPr>
        <p:spPr>
          <a:xfrm>
            <a:off x="235849" y="1716199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견적유형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0EEDB59-85ED-117C-2E3E-DADF84D4D955}"/>
              </a:ext>
            </a:extLst>
          </p:cNvPr>
          <p:cNvSpPr/>
          <p:nvPr/>
        </p:nvSpPr>
        <p:spPr>
          <a:xfrm>
            <a:off x="1408523" y="197767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1B4C40A-00A0-FC80-ED3E-7ECF3449076A}"/>
              </a:ext>
            </a:extLst>
          </p:cNvPr>
          <p:cNvSpPr/>
          <p:nvPr/>
        </p:nvSpPr>
        <p:spPr>
          <a:xfrm>
            <a:off x="2218774" y="197767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D7D8FF3-5CF2-569B-601A-5D7601C504CB}"/>
              </a:ext>
            </a:extLst>
          </p:cNvPr>
          <p:cNvSpPr/>
          <p:nvPr/>
        </p:nvSpPr>
        <p:spPr>
          <a:xfrm>
            <a:off x="2533911" y="1977675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5165880-BC6B-67BA-1235-C610FA39B2B7}"/>
              </a:ext>
            </a:extLst>
          </p:cNvPr>
          <p:cNvSpPr/>
          <p:nvPr/>
        </p:nvSpPr>
        <p:spPr>
          <a:xfrm>
            <a:off x="6241919" y="197767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2694660-F7CF-BB0F-9ACF-F088BCD1EE86}"/>
              </a:ext>
            </a:extLst>
          </p:cNvPr>
          <p:cNvSpPr/>
          <p:nvPr/>
        </p:nvSpPr>
        <p:spPr>
          <a:xfrm>
            <a:off x="6867117" y="243440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10C1CFC-ADE5-84C5-4DBA-0AFC340BDFFD}"/>
              </a:ext>
            </a:extLst>
          </p:cNvPr>
          <p:cNvSpPr/>
          <p:nvPr/>
        </p:nvSpPr>
        <p:spPr>
          <a:xfrm>
            <a:off x="7688579" y="243440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7865FAF-F078-00F5-A48D-D1E9B8CD5267}"/>
              </a:ext>
            </a:extLst>
          </p:cNvPr>
          <p:cNvSpPr txBox="1"/>
          <p:nvPr/>
        </p:nvSpPr>
        <p:spPr>
          <a:xfrm>
            <a:off x="181506" y="2420888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7DF19CAA-EA4D-9F34-D81B-EC40DE2F58C2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2729854"/>
          <a:ext cx="7724120" cy="2027520"/>
        </p:xfrm>
        <a:graphic>
          <a:graphicData uri="http://schemas.openxmlformats.org/drawingml/2006/table">
            <a:tbl>
              <a:tblPr firstRow="1" bandRow="1"/>
              <a:tblGrid>
                <a:gridCol w="47062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77506">
                  <a:extLst>
                    <a:ext uri="{9D8B030D-6E8A-4147-A177-3AD203B41FA5}">
                      <a16:colId xmlns:a16="http://schemas.microsoft.com/office/drawing/2014/main" val="4058516384"/>
                    </a:ext>
                  </a:extLst>
                </a:gridCol>
                <a:gridCol w="70783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578447">
                  <a:extLst>
                    <a:ext uri="{9D8B030D-6E8A-4147-A177-3AD203B41FA5}">
                      <a16:colId xmlns:a16="http://schemas.microsoft.com/office/drawing/2014/main" val="2005425160"/>
                    </a:ext>
                  </a:extLst>
                </a:gridCol>
                <a:gridCol w="195195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578447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17318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  <a:gridCol w="760918">
                  <a:extLst>
                    <a:ext uri="{9D8B030D-6E8A-4147-A177-3AD203B41FA5}">
                      <a16:colId xmlns:a16="http://schemas.microsoft.com/office/drawing/2014/main" val="2305781461"/>
                    </a:ext>
                  </a:extLst>
                </a:gridCol>
                <a:gridCol w="1081071">
                  <a:extLst>
                    <a:ext uri="{9D8B030D-6E8A-4147-A177-3AD203B41FA5}">
                      <a16:colId xmlns:a16="http://schemas.microsoft.com/office/drawing/2014/main" val="1372629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포기일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RFQ2606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마감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견적포기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90" name="그룹 89">
            <a:extLst>
              <a:ext uri="{FF2B5EF4-FFF2-40B4-BE49-F238E27FC236}">
                <a16:creationId xmlns:a16="http://schemas.microsoft.com/office/drawing/2014/main" id="{C94CDDBA-57B1-7CF9-3D1F-40E5DA4C428B}"/>
              </a:ext>
            </a:extLst>
          </p:cNvPr>
          <p:cNvGrpSpPr/>
          <p:nvPr/>
        </p:nvGrpSpPr>
        <p:grpSpPr>
          <a:xfrm>
            <a:off x="2004219" y="4887264"/>
            <a:ext cx="4025354" cy="216024"/>
            <a:chOff x="2992062" y="4869160"/>
            <a:chExt cx="4025354" cy="216024"/>
          </a:xfrm>
        </p:grpSpPr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D5BC7C97-F3EE-0AD1-D964-8765AC81E55B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C37D4D17-3E90-31DC-BE72-A6D394E43790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EA4B1BF6-7158-6FEA-F56F-F5EE184026A3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1092B417-F896-550D-1CD5-89AF0D9766FE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773FF88-FEB7-DFCA-939D-4A70DDE6FDD7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5F03B63A-D03F-910A-BC82-4EA5280080E0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29D0F44-563E-4B7F-BC68-89C111A9977F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F15E853-807E-4349-5432-AACDC27A7A6A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F8DBFAA4-A872-7FD7-C82B-10464ABA714E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2F9A6CE9-900F-35FB-9703-0FC65F75E0B7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66CCCC84-D0E0-11D0-D0AD-75D6FEB6AC07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9622D561-21BA-E133-7646-57A71DAB6614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FD74F841-16CA-3349-ED0A-059FCEE50CF9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625BC45-ABF4-8629-1D82-D566139EAD84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6F352E0E-2DAD-BD60-79F8-C095CBEAC76D}"/>
              </a:ext>
            </a:extLst>
          </p:cNvPr>
          <p:cNvSpPr txBox="1"/>
          <p:nvPr/>
        </p:nvSpPr>
        <p:spPr>
          <a:xfrm>
            <a:off x="235849" y="1462762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미제출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제출완료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견적포기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16EC6E9-3DDF-0D8F-62F4-B702F4A25540}"/>
              </a:ext>
            </a:extLst>
          </p:cNvPr>
          <p:cNvSpPr txBox="1"/>
          <p:nvPr/>
        </p:nvSpPr>
        <p:spPr>
          <a:xfrm>
            <a:off x="235849" y="1215504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진행상태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요청중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1A36D9-A805-0D12-BB52-FF8AFEE93ED4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E40497-8A3C-2931-D6B0-9E2C4C4F7FB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8EEB2D-4D37-FC1F-9D33-C80BA0C90712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E557823F-226D-DCB6-998F-74F04EB0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93B338E1-D6B2-4EA9-0E52-9538FAA1AD97}"/>
              </a:ext>
            </a:extLst>
          </p:cNvPr>
          <p:cNvSpPr/>
          <p:nvPr/>
        </p:nvSpPr>
        <p:spPr>
          <a:xfrm>
            <a:off x="1272710" y="185022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3252635-79E4-3FEC-D7B4-9EB2577D0AE9}"/>
              </a:ext>
            </a:extLst>
          </p:cNvPr>
          <p:cNvSpPr/>
          <p:nvPr/>
        </p:nvSpPr>
        <p:spPr>
          <a:xfrm>
            <a:off x="1272710" y="263761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810216C-14E5-763C-132F-F79801B1826F}"/>
              </a:ext>
            </a:extLst>
          </p:cNvPr>
          <p:cNvSpPr/>
          <p:nvPr/>
        </p:nvSpPr>
        <p:spPr>
          <a:xfrm>
            <a:off x="1950907" y="263761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D9132B1-4D0D-455D-5620-DFE3E3017D36}"/>
              </a:ext>
            </a:extLst>
          </p:cNvPr>
          <p:cNvSpPr/>
          <p:nvPr/>
        </p:nvSpPr>
        <p:spPr>
          <a:xfrm>
            <a:off x="71889" y="222787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06A9F0-4247-43BA-DE0C-2E3574BAAD8C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406760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54B6-2CE8-203E-CC38-CC2CE0C3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3AE511D-2C10-B26B-F5AA-AC295FDC1A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F233E-43B0-ADD9-2049-6C7A1D408CE1}"/>
              </a:ext>
            </a:extLst>
          </p:cNvPr>
          <p:cNvSpPr txBox="1"/>
          <p:nvPr/>
        </p:nvSpPr>
        <p:spPr>
          <a:xfrm>
            <a:off x="749224" y="25608"/>
            <a:ext cx="27286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7A462-05B3-D502-C6FB-1F567DD1D23F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40C8F3D-1261-873B-71E5-08E7159FC2F8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2821151-BF19-348D-99CD-34F66EF2E1E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87E7045-E99E-E112-456E-CE73ED57209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036009-F7F5-0410-2764-3E11ECF3EBF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C1353E-0C51-F046-BB6F-945C6949E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22874"/>
              </p:ext>
            </p:extLst>
          </p:nvPr>
        </p:nvGraphicFramePr>
        <p:xfrm>
          <a:off x="164465" y="823847"/>
          <a:ext cx="7706588" cy="675840"/>
        </p:xfrm>
        <a:graphic>
          <a:graphicData uri="http://schemas.openxmlformats.org/drawingml/2006/table">
            <a:tbl>
              <a:tblPr firstRow="1" bandRow="1"/>
              <a:tblGrid>
                <a:gridCol w="790989">
                  <a:extLst>
                    <a:ext uri="{9D8B030D-6E8A-4147-A177-3AD203B41FA5}">
                      <a16:colId xmlns:a16="http://schemas.microsoft.com/office/drawing/2014/main" val="3243631968"/>
                    </a:ext>
                  </a:extLst>
                </a:gridCol>
                <a:gridCol w="72899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188761">
                  <a:extLst>
                    <a:ext uri="{9D8B030D-6E8A-4147-A177-3AD203B41FA5}">
                      <a16:colId xmlns:a16="http://schemas.microsoft.com/office/drawing/2014/main" val="1797717941"/>
                    </a:ext>
                  </a:extLst>
                </a:gridCol>
                <a:gridCol w="194814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52236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1483216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622210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포기일시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사전 견적 요청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요청중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마감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|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 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견적포기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 17:35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A95F46F1-7743-ABBB-9D20-4CA502297682}"/>
              </a:ext>
            </a:extLst>
          </p:cNvPr>
          <p:cNvSpPr/>
          <p:nvPr/>
        </p:nvSpPr>
        <p:spPr>
          <a:xfrm>
            <a:off x="183392" y="1618379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2F7DC10-F6A2-E68E-21BB-71270AA8F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042763"/>
              </p:ext>
            </p:extLst>
          </p:nvPr>
        </p:nvGraphicFramePr>
        <p:xfrm>
          <a:off x="164467" y="1899017"/>
          <a:ext cx="7740859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태양광 발전기 도입 관련 견적 요청의 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견적유형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예산 확보를 위해 반드시 필요한 견적이니 성의 있게 작성 부탁드립니다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2026.06.11 16:30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72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견적마감일시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2026.08.10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334745"/>
                  </a:ext>
                </a:extLst>
              </a:tr>
            </a:tbl>
          </a:graphicData>
        </a:graphic>
      </p:graphicFrame>
      <p:sp>
        <p:nvSpPr>
          <p:cNvPr id="60" name="직사각형 59">
            <a:extLst>
              <a:ext uri="{FF2B5EF4-FFF2-40B4-BE49-F238E27FC236}">
                <a16:creationId xmlns:a16="http://schemas.microsoft.com/office/drawing/2014/main" id="{94C93469-695A-1747-4A12-BF4E4E5D0713}"/>
              </a:ext>
            </a:extLst>
          </p:cNvPr>
          <p:cNvSpPr/>
          <p:nvPr/>
        </p:nvSpPr>
        <p:spPr>
          <a:xfrm>
            <a:off x="183392" y="440110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6F3254-E9DF-561E-CFBC-56CB4D694B96}"/>
              </a:ext>
            </a:extLst>
          </p:cNvPr>
          <p:cNvSpPr txBox="1"/>
          <p:nvPr/>
        </p:nvSpPr>
        <p:spPr>
          <a:xfrm>
            <a:off x="164468" y="4681954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품목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693B507A-3D2B-5CBA-ABF9-FC29215EF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284397"/>
              </p:ext>
            </p:extLst>
          </p:nvPr>
        </p:nvGraphicFramePr>
        <p:xfrm>
          <a:off x="171333" y="4965042"/>
          <a:ext cx="7699722" cy="1013760"/>
        </p:xfrm>
        <a:graphic>
          <a:graphicData uri="http://schemas.openxmlformats.org/drawingml/2006/table">
            <a:tbl>
              <a:tblPr firstRow="1" bandRow="1"/>
              <a:tblGrid>
                <a:gridCol w="23690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455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1897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2765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290836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0836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5566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5249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3903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877E5D-7231-369B-D0E6-832CF0E15A2D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D14DAB6A-AB03-0003-BCED-377A6936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C8490B-47AA-84FB-8115-EB185A32947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F7E34A-9BFC-81E6-C5C0-AACEFF7FFAC7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4AC272-DEA3-CEB1-A8F5-727812A40A5F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81182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D5DCE-AE7A-62FE-E09B-CBFAFA483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87F0D0B-5BDA-0BE2-F056-67024C1B77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5E08FB-0E6D-FBE9-2409-07454D04773C}"/>
              </a:ext>
            </a:extLst>
          </p:cNvPr>
          <p:cNvSpPr txBox="1"/>
          <p:nvPr/>
        </p:nvSpPr>
        <p:spPr>
          <a:xfrm>
            <a:off x="749224" y="25608"/>
            <a:ext cx="27286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9B8BC-6E31-C778-D298-A64C23CA82F4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시 전달할 내용을 입력한 경우에만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6913531-FDC1-432F-EBA9-543356EEA00B}"/>
              </a:ext>
            </a:extLst>
          </p:cNvPr>
          <p:cNvSpPr/>
          <p:nvPr/>
        </p:nvSpPr>
        <p:spPr>
          <a:xfrm>
            <a:off x="183392" y="35385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전달 자료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F5CBC5-6FA5-1F8C-8095-731B8CFFCF26}"/>
              </a:ext>
            </a:extLst>
          </p:cNvPr>
          <p:cNvSpPr txBox="1"/>
          <p:nvPr/>
        </p:nvSpPr>
        <p:spPr>
          <a:xfrm>
            <a:off x="164468" y="621663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전달자료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5AA3BC39-A061-D006-BA23-67097D402000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904751"/>
          <a:ext cx="7699721" cy="1013760"/>
        </p:xfrm>
        <a:graphic>
          <a:graphicData uri="http://schemas.openxmlformats.org/drawingml/2006/table">
            <a:tbl>
              <a:tblPr firstRow="1" bandRow="1"/>
              <a:tblGrid>
                <a:gridCol w="40860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38556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90555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 안내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)#1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반드시 읽어주세요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)#2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782E0204-F6B9-CF96-FC34-1B7D110AF536}"/>
              </a:ext>
            </a:extLst>
          </p:cNvPr>
          <p:cNvSpPr/>
          <p:nvPr/>
        </p:nvSpPr>
        <p:spPr>
          <a:xfrm>
            <a:off x="2974784" y="131636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B3F241F-6A0A-C883-DDA1-7772C22CB8C3}"/>
              </a:ext>
            </a:extLst>
          </p:cNvPr>
          <p:cNvSpPr/>
          <p:nvPr/>
        </p:nvSpPr>
        <p:spPr>
          <a:xfrm>
            <a:off x="3637621" y="131636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5E63547-6340-DEDF-0C1D-FCFDD8B5FEC3}"/>
              </a:ext>
            </a:extLst>
          </p:cNvPr>
          <p:cNvSpPr/>
          <p:nvPr/>
        </p:nvSpPr>
        <p:spPr>
          <a:xfrm>
            <a:off x="2974784" y="165062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B6D9905-9AA0-8EAF-8915-9EDE17D41969}"/>
              </a:ext>
            </a:extLst>
          </p:cNvPr>
          <p:cNvSpPr/>
          <p:nvPr/>
        </p:nvSpPr>
        <p:spPr>
          <a:xfrm>
            <a:off x="3637621" y="165062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C74D7E1-C2E3-869B-78ED-61DE040A1A72}"/>
              </a:ext>
            </a:extLst>
          </p:cNvPr>
          <p:cNvSpPr/>
          <p:nvPr/>
        </p:nvSpPr>
        <p:spPr>
          <a:xfrm>
            <a:off x="164466" y="2016067"/>
            <a:ext cx="769972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시 업체에게 전달할 사항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금액과 함께 견적서를 반드시 제출해주세요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3872C2B-619C-8ACF-CF5D-E3C7509F97F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7C86D0A-B136-78A0-28AA-89C9FF380405}"/>
              </a:ext>
            </a:extLst>
          </p:cNvPr>
          <p:cNvSpPr/>
          <p:nvPr/>
        </p:nvSpPr>
        <p:spPr>
          <a:xfrm>
            <a:off x="183392" y="2902839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내역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4" name="표 133">
            <a:extLst>
              <a:ext uri="{FF2B5EF4-FFF2-40B4-BE49-F238E27FC236}">
                <a16:creationId xmlns:a16="http://schemas.microsoft.com/office/drawing/2014/main" id="{4F1ED4FE-1AC2-0BAB-64B1-60D68D26D6C3}"/>
              </a:ext>
            </a:extLst>
          </p:cNvPr>
          <p:cNvGraphicFramePr>
            <a:graphicFrameLocks noGrp="1"/>
          </p:cNvGraphicFramePr>
          <p:nvPr/>
        </p:nvGraphicFramePr>
        <p:xfrm>
          <a:off x="183393" y="3205051"/>
          <a:ext cx="8199274" cy="1351680"/>
        </p:xfrm>
        <a:graphic>
          <a:graphicData uri="http://schemas.openxmlformats.org/drawingml/2006/table">
            <a:tbl>
              <a:tblPr firstRow="1" bandRow="1"/>
              <a:tblGrid>
                <a:gridCol w="2371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50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197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43407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594287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594287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5900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40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E5B48D2-AE07-4972-A644-0FB657C901CB}"/>
              </a:ext>
            </a:extLst>
          </p:cNvPr>
          <p:cNvSpPr/>
          <p:nvPr/>
        </p:nvSpPr>
        <p:spPr>
          <a:xfrm>
            <a:off x="6671994" y="5758062"/>
            <a:ext cx="119219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6" name="표 145">
            <a:extLst>
              <a:ext uri="{FF2B5EF4-FFF2-40B4-BE49-F238E27FC236}">
                <a16:creationId xmlns:a16="http://schemas.microsoft.com/office/drawing/2014/main" id="{93DCFAF9-8E22-C56F-335B-8D17314D767B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4654636"/>
          <a:ext cx="7721936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16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377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견적서 첨부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첨부한 견적서 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문서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참고자료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첨부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견적서와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함께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첨부한 기타문서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참고자료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전달사항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저희 견적서 잘 봐주시기 바랍니다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설치에 필요한 인력들의 인건비도 포함하였습니다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28462"/>
                  </a:ext>
                </a:extLst>
              </a:tr>
            </a:tbl>
          </a:graphicData>
        </a:graphic>
      </p:graphicFrame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BC1A9A31-FA5B-2A9D-E90D-CA62A8A492B2}"/>
              </a:ext>
            </a:extLst>
          </p:cNvPr>
          <p:cNvGrpSpPr/>
          <p:nvPr/>
        </p:nvGrpSpPr>
        <p:grpSpPr>
          <a:xfrm>
            <a:off x="6213140" y="2558644"/>
            <a:ext cx="1651046" cy="288032"/>
            <a:chOff x="5493060" y="2558644"/>
            <a:chExt cx="2371126" cy="28803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1E02E78A-22B6-8F3E-FC6A-7F751F74DC1E}"/>
                </a:ext>
              </a:extLst>
            </p:cNvPr>
            <p:cNvSpPr/>
            <p:nvPr/>
          </p:nvSpPr>
          <p:spPr>
            <a:xfrm>
              <a:off x="6720689" y="2558644"/>
              <a:ext cx="1143497" cy="288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포기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6AA34843-6B7E-5A34-C0EE-C3148EC06088}"/>
                </a:ext>
              </a:extLst>
            </p:cNvPr>
            <p:cNvSpPr/>
            <p:nvPr/>
          </p:nvSpPr>
          <p:spPr>
            <a:xfrm>
              <a:off x="5493060" y="2558644"/>
              <a:ext cx="1143497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제출</a:t>
              </a:r>
            </a:p>
          </p:txBody>
        </p:sp>
      </p:grp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A802DC3A-8A81-8545-0653-1F6989660428}"/>
              </a:ext>
            </a:extLst>
          </p:cNvPr>
          <p:cNvSpPr/>
          <p:nvPr/>
        </p:nvSpPr>
        <p:spPr>
          <a:xfrm>
            <a:off x="2928577" y="473018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B469C1C3-5602-C73C-0B95-95AB05EDCF59}"/>
              </a:ext>
            </a:extLst>
          </p:cNvPr>
          <p:cNvSpPr/>
          <p:nvPr/>
        </p:nvSpPr>
        <p:spPr>
          <a:xfrm>
            <a:off x="3591414" y="473018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9FCE82C2-D93A-B36C-740B-84575B059E8A}"/>
              </a:ext>
            </a:extLst>
          </p:cNvPr>
          <p:cNvSpPr/>
          <p:nvPr/>
        </p:nvSpPr>
        <p:spPr>
          <a:xfrm>
            <a:off x="4116282" y="505800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01A21CBD-33A2-CFBB-7BC6-150C5CB2AC97}"/>
              </a:ext>
            </a:extLst>
          </p:cNvPr>
          <p:cNvSpPr/>
          <p:nvPr/>
        </p:nvSpPr>
        <p:spPr>
          <a:xfrm>
            <a:off x="4779119" y="505800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B5417B60-2C07-4D6D-C272-0E2CEAD91206}"/>
              </a:ext>
            </a:extLst>
          </p:cNvPr>
          <p:cNvSpPr/>
          <p:nvPr/>
        </p:nvSpPr>
        <p:spPr>
          <a:xfrm>
            <a:off x="8169560" y="1140747"/>
            <a:ext cx="387622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 시 유의사항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944791E8-4AB8-4724-87A0-0458A8BD211F}"/>
              </a:ext>
            </a:extLst>
          </p:cNvPr>
          <p:cNvSpPr/>
          <p:nvPr/>
        </p:nvSpPr>
        <p:spPr>
          <a:xfrm>
            <a:off x="8169560" y="1413659"/>
            <a:ext cx="387622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53B2B96E-E51F-3275-CF28-45A2359793D2}"/>
              </a:ext>
            </a:extLst>
          </p:cNvPr>
          <p:cNvSpPr/>
          <p:nvPr/>
        </p:nvSpPr>
        <p:spPr>
          <a:xfrm>
            <a:off x="11760440" y="114074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7ACA58E2-A3B2-E383-A0F6-BC3EFE23466D}"/>
              </a:ext>
            </a:extLst>
          </p:cNvPr>
          <p:cNvSpPr/>
          <p:nvPr/>
        </p:nvSpPr>
        <p:spPr>
          <a:xfrm>
            <a:off x="8277339" y="1827047"/>
            <a:ext cx="3615979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마감일시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이전에는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포기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를 처리하신 후에도 견적 제출이 가능합니다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포기하시겠습니까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7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4DA5A81A-0512-1A69-AB46-B1C376576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461" y="198366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FF9E073C-C75B-5D17-ED4B-C35FEF6A5D3D}"/>
              </a:ext>
            </a:extLst>
          </p:cNvPr>
          <p:cNvSpPr/>
          <p:nvPr/>
        </p:nvSpPr>
        <p:spPr>
          <a:xfrm>
            <a:off x="10347126" y="2815414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CB525772-EAD8-55DD-7422-50DBC7926955}"/>
              </a:ext>
            </a:extLst>
          </p:cNvPr>
          <p:cNvSpPr/>
          <p:nvPr/>
        </p:nvSpPr>
        <p:spPr>
          <a:xfrm>
            <a:off x="11192805" y="281541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626B9D75-6571-F568-D5DD-FCDD5D579458}"/>
              </a:ext>
            </a:extLst>
          </p:cNvPr>
          <p:cNvSpPr/>
          <p:nvPr/>
        </p:nvSpPr>
        <p:spPr>
          <a:xfrm>
            <a:off x="8300780" y="1510048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 시 유의사항</a:t>
            </a:r>
          </a:p>
        </p:txBody>
      </p:sp>
      <p:cxnSp>
        <p:nvCxnSpPr>
          <p:cNvPr id="185" name="연결선: 꺾임 184">
            <a:extLst>
              <a:ext uri="{FF2B5EF4-FFF2-40B4-BE49-F238E27FC236}">
                <a16:creationId xmlns:a16="http://schemas.microsoft.com/office/drawing/2014/main" id="{30900F22-80CE-A789-270C-C57E9627D47F}"/>
              </a:ext>
            </a:extLst>
          </p:cNvPr>
          <p:cNvCxnSpPr>
            <a:cxnSpLocks/>
            <a:stCxn id="55" idx="0"/>
            <a:endCxn id="172" idx="1"/>
          </p:cNvCxnSpPr>
          <p:nvPr/>
        </p:nvCxnSpPr>
        <p:spPr>
          <a:xfrm rot="5400000" flipH="1" flipV="1">
            <a:off x="7713154" y="2102238"/>
            <a:ext cx="209322" cy="703490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6AAAC687-B189-D571-9B95-B57F68151894}"/>
              </a:ext>
            </a:extLst>
          </p:cNvPr>
          <p:cNvSpPr/>
          <p:nvPr/>
        </p:nvSpPr>
        <p:spPr>
          <a:xfrm>
            <a:off x="8169560" y="3960399"/>
            <a:ext cx="387622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 유의사항</a:t>
            </a: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E6BD3185-80D9-BB6A-9092-EAEC664E030F}"/>
              </a:ext>
            </a:extLst>
          </p:cNvPr>
          <p:cNvSpPr/>
          <p:nvPr/>
        </p:nvSpPr>
        <p:spPr>
          <a:xfrm>
            <a:off x="8169560" y="4233311"/>
            <a:ext cx="387622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80D7B86D-F528-C5E6-A550-FDA4BD5CF27C}"/>
              </a:ext>
            </a:extLst>
          </p:cNvPr>
          <p:cNvSpPr/>
          <p:nvPr/>
        </p:nvSpPr>
        <p:spPr>
          <a:xfrm>
            <a:off x="11760440" y="3960399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29AB745D-54E6-B894-29A4-D802E8719721}"/>
              </a:ext>
            </a:extLst>
          </p:cNvPr>
          <p:cNvSpPr/>
          <p:nvPr/>
        </p:nvSpPr>
        <p:spPr>
          <a:xfrm>
            <a:off x="8277339" y="4646699"/>
            <a:ext cx="3615979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마감일시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이전에는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취소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를 처리하신 후에도 견적 제출이 가능합니다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취소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삭제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9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120EDD81-C049-80D2-D56D-2B5E4D648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461" y="4803320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62B0084B-E798-57BF-C540-40F4517C38E0}"/>
              </a:ext>
            </a:extLst>
          </p:cNvPr>
          <p:cNvSpPr/>
          <p:nvPr/>
        </p:nvSpPr>
        <p:spPr>
          <a:xfrm>
            <a:off x="9959226" y="5635066"/>
            <a:ext cx="11738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AE2E6A9D-2233-BA2A-E94B-468C8C3A0C5C}"/>
              </a:ext>
            </a:extLst>
          </p:cNvPr>
          <p:cNvSpPr/>
          <p:nvPr/>
        </p:nvSpPr>
        <p:spPr>
          <a:xfrm>
            <a:off x="11192805" y="5635066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DA2CD2CB-8B95-B28B-4BA7-4863666E7D5B}"/>
              </a:ext>
            </a:extLst>
          </p:cNvPr>
          <p:cNvSpPr/>
          <p:nvPr/>
        </p:nvSpPr>
        <p:spPr>
          <a:xfrm>
            <a:off x="8300780" y="4329700"/>
            <a:ext cx="206627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유의사항</a:t>
            </a:r>
          </a:p>
        </p:txBody>
      </p:sp>
      <p:cxnSp>
        <p:nvCxnSpPr>
          <p:cNvPr id="198" name="연결선: 꺾임 197">
            <a:extLst>
              <a:ext uri="{FF2B5EF4-FFF2-40B4-BE49-F238E27FC236}">
                <a16:creationId xmlns:a16="http://schemas.microsoft.com/office/drawing/2014/main" id="{AA7DD410-E651-196E-C0CF-88CC3573B25A}"/>
              </a:ext>
            </a:extLst>
          </p:cNvPr>
          <p:cNvCxnSpPr>
            <a:cxnSpLocks/>
            <a:stCxn id="142" idx="0"/>
            <a:endCxn id="191" idx="1"/>
          </p:cNvCxnSpPr>
          <p:nvPr/>
        </p:nvCxnSpPr>
        <p:spPr>
          <a:xfrm rot="5400000" flipH="1" flipV="1">
            <a:off x="7424281" y="5012784"/>
            <a:ext cx="589088" cy="901469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A1B224E5-5CC4-3055-63C5-6079A38CD2D6}"/>
              </a:ext>
            </a:extLst>
          </p:cNvPr>
          <p:cNvSpPr/>
          <p:nvPr/>
        </p:nvSpPr>
        <p:spPr>
          <a:xfrm>
            <a:off x="56454" y="192609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7437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331FE-CEC9-E361-AFF5-2F871116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8086D0C-64A3-5F61-F6EC-87BD50DCB4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38AC50-5EAC-A1FC-4C0C-21BD7A5BF301}"/>
              </a:ext>
            </a:extLst>
          </p:cNvPr>
          <p:cNvSpPr txBox="1"/>
          <p:nvPr/>
        </p:nvSpPr>
        <p:spPr>
          <a:xfrm>
            <a:off x="749224" y="25608"/>
            <a:ext cx="17604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46F9A-0353-2479-9395-36657C8F1D37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4FE3C3-59A7-F7E5-FC31-21E70CAD5011}"/>
              </a:ext>
            </a:extLst>
          </p:cNvPr>
          <p:cNvSpPr txBox="1"/>
          <p:nvPr/>
        </p:nvSpPr>
        <p:spPr>
          <a:xfrm>
            <a:off x="820528" y="63051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1]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F6BEFE8-3028-98F8-BB16-3AEF14176D57}"/>
              </a:ext>
            </a:extLst>
          </p:cNvPr>
          <p:cNvSpPr/>
          <p:nvPr/>
        </p:nvSpPr>
        <p:spPr>
          <a:xfrm>
            <a:off x="92460" y="348981"/>
            <a:ext cx="8767172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C3BDF63-D910-2E82-7D9A-48685035B8AF}"/>
              </a:ext>
            </a:extLst>
          </p:cNvPr>
          <p:cNvSpPr/>
          <p:nvPr/>
        </p:nvSpPr>
        <p:spPr>
          <a:xfrm>
            <a:off x="92460" y="621892"/>
            <a:ext cx="8767172" cy="63297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1AD0969-8282-9280-15AB-C872E2174533}"/>
              </a:ext>
            </a:extLst>
          </p:cNvPr>
          <p:cNvSpPr/>
          <p:nvPr/>
        </p:nvSpPr>
        <p:spPr>
          <a:xfrm>
            <a:off x="8589404" y="348981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76C54DB-7835-040A-4C39-51A49FB54EE4}"/>
              </a:ext>
            </a:extLst>
          </p:cNvPr>
          <p:cNvSpPr/>
          <p:nvPr/>
        </p:nvSpPr>
        <p:spPr>
          <a:xfrm>
            <a:off x="223681" y="718282"/>
            <a:ext cx="64601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</a:t>
            </a:r>
          </a:p>
        </p:txBody>
      </p:sp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ED09B28D-6EF7-E86F-C80C-568E9B818145}"/>
              </a:ext>
            </a:extLst>
          </p:cNvPr>
          <p:cNvGraphicFramePr>
            <a:graphicFrameLocks noGrp="1"/>
          </p:cNvGraphicFramePr>
          <p:nvPr/>
        </p:nvGraphicFramePr>
        <p:xfrm>
          <a:off x="234604" y="1317871"/>
          <a:ext cx="8368012" cy="1351680"/>
        </p:xfrm>
        <a:graphic>
          <a:graphicData uri="http://schemas.openxmlformats.org/drawingml/2006/table">
            <a:tbl>
              <a:tblPr firstRow="1" bandRow="1"/>
              <a:tblGrid>
                <a:gridCol w="2371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50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197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43407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63025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594287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5900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40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94303855-0015-22FF-C7CB-6C52A3EF0165}"/>
              </a:ext>
            </a:extLst>
          </p:cNvPr>
          <p:cNvSpPr/>
          <p:nvPr/>
        </p:nvSpPr>
        <p:spPr>
          <a:xfrm>
            <a:off x="4104312" y="1726987"/>
            <a:ext cx="639446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1,000,000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7546487-6496-67C6-071A-9141BADEF492}"/>
              </a:ext>
            </a:extLst>
          </p:cNvPr>
          <p:cNvSpPr/>
          <p:nvPr/>
        </p:nvSpPr>
        <p:spPr>
          <a:xfrm>
            <a:off x="4104312" y="2051895"/>
            <a:ext cx="639446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3,000,000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174692F-B94B-59AE-368E-2A5E1C9297E8}"/>
              </a:ext>
            </a:extLst>
          </p:cNvPr>
          <p:cNvSpPr/>
          <p:nvPr/>
        </p:nvSpPr>
        <p:spPr>
          <a:xfrm>
            <a:off x="234603" y="1000825"/>
            <a:ext cx="8368011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품목별 견적 금액 입력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3EC245C6-D68F-8EE8-6537-84533BD85822}"/>
              </a:ext>
            </a:extLst>
          </p:cNvPr>
          <p:cNvSpPr/>
          <p:nvPr/>
        </p:nvSpPr>
        <p:spPr>
          <a:xfrm>
            <a:off x="7091740" y="6546941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4B2148B-AC12-C1EB-7B9D-991E9FAFD83C}"/>
              </a:ext>
            </a:extLst>
          </p:cNvPr>
          <p:cNvSpPr/>
          <p:nvPr/>
        </p:nvSpPr>
        <p:spPr>
          <a:xfrm>
            <a:off x="7850899" y="6546941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EF12F42B-D1E2-EB26-0D15-1406A5F96C2F}"/>
              </a:ext>
            </a:extLst>
          </p:cNvPr>
          <p:cNvGraphicFramePr>
            <a:graphicFrameLocks noGrp="1"/>
          </p:cNvGraphicFramePr>
          <p:nvPr/>
        </p:nvGraphicFramePr>
        <p:xfrm>
          <a:off x="234603" y="3060907"/>
          <a:ext cx="832557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16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84141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견적서 첨부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문서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참고자료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첨부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전달사항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28462"/>
                  </a:ext>
                </a:extLst>
              </a:tr>
            </a:tbl>
          </a:graphicData>
        </a:graphic>
      </p:graphicFrame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CB59A59-905E-55B2-B5C1-037F0EA61655}"/>
              </a:ext>
            </a:extLst>
          </p:cNvPr>
          <p:cNvSpPr/>
          <p:nvPr/>
        </p:nvSpPr>
        <p:spPr>
          <a:xfrm>
            <a:off x="1801310" y="3802913"/>
            <a:ext cx="660807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C14CAF78-697F-8B5E-2B0C-E584CA15C497}"/>
              </a:ext>
            </a:extLst>
          </p:cNvPr>
          <p:cNvSpPr/>
          <p:nvPr/>
        </p:nvSpPr>
        <p:spPr>
          <a:xfrm>
            <a:off x="1801311" y="3121768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8430A45-5AB6-D007-5361-43775808F425}"/>
              </a:ext>
            </a:extLst>
          </p:cNvPr>
          <p:cNvSpPr/>
          <p:nvPr/>
        </p:nvSpPr>
        <p:spPr>
          <a:xfrm>
            <a:off x="4158823" y="3123304"/>
            <a:ext cx="692070" cy="20647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0B3C8B34-A228-9DC1-B13D-3A7EF213A1DB}"/>
              </a:ext>
            </a:extLst>
          </p:cNvPr>
          <p:cNvSpPr/>
          <p:nvPr/>
        </p:nvSpPr>
        <p:spPr>
          <a:xfrm>
            <a:off x="234603" y="2766043"/>
            <a:ext cx="8368011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품목별 견적 금액 입력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D27E8B-F579-1662-6664-B6B44A3E6C4E}"/>
              </a:ext>
            </a:extLst>
          </p:cNvPr>
          <p:cNvSpPr/>
          <p:nvPr/>
        </p:nvSpPr>
        <p:spPr>
          <a:xfrm>
            <a:off x="1801311" y="3476400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3C03D8-B8F3-BD1F-2B6D-A0157D8D76ED}"/>
              </a:ext>
            </a:extLst>
          </p:cNvPr>
          <p:cNvSpPr/>
          <p:nvPr/>
        </p:nvSpPr>
        <p:spPr>
          <a:xfrm>
            <a:off x="4158823" y="3477936"/>
            <a:ext cx="692070" cy="20647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35D199-3F3D-B7D0-99C2-C2CC8FD0D43A}"/>
              </a:ext>
            </a:extLst>
          </p:cNvPr>
          <p:cNvSpPr/>
          <p:nvPr/>
        </p:nvSpPr>
        <p:spPr>
          <a:xfrm>
            <a:off x="234603" y="4152450"/>
            <a:ext cx="8368011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담당자 정보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관련 문의가 가능한 담당자 정보를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기능을 통해 등록 후 사용하세요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2000CD6-9641-2968-D039-435F5F9FD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601639"/>
              </p:ext>
            </p:extLst>
          </p:nvPr>
        </p:nvGraphicFramePr>
        <p:xfrm>
          <a:off x="242102" y="4442019"/>
          <a:ext cx="8347302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53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87676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선택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      </a:t>
                      </a: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8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부장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id="{47FBA6E0-E530-B857-CF92-D78F5C5D7C0E}"/>
              </a:ext>
            </a:extLst>
          </p:cNvPr>
          <p:cNvSpPr/>
          <p:nvPr/>
        </p:nvSpPr>
        <p:spPr>
          <a:xfrm>
            <a:off x="8751620" y="619047"/>
            <a:ext cx="108012" cy="63297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B69E4D6-95DA-C026-5EAE-C85A61A911E3}"/>
              </a:ext>
            </a:extLst>
          </p:cNvPr>
          <p:cNvSpPr/>
          <p:nvPr/>
        </p:nvSpPr>
        <p:spPr>
          <a:xfrm>
            <a:off x="8751620" y="1000825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D6FFB39-9A5C-9726-38F6-59949B248277}"/>
              </a:ext>
            </a:extLst>
          </p:cNvPr>
          <p:cNvSpPr/>
          <p:nvPr/>
        </p:nvSpPr>
        <p:spPr>
          <a:xfrm>
            <a:off x="6825744" y="3960865"/>
            <a:ext cx="3671872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유의사항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784417A-C543-7F2A-0D59-78358C5C9166}"/>
              </a:ext>
            </a:extLst>
          </p:cNvPr>
          <p:cNvSpPr/>
          <p:nvPr/>
        </p:nvSpPr>
        <p:spPr>
          <a:xfrm>
            <a:off x="6825744" y="4233777"/>
            <a:ext cx="3671872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57A00F0-8F8A-9EB3-92F7-35F033D2A770}"/>
              </a:ext>
            </a:extLst>
          </p:cNvPr>
          <p:cNvSpPr/>
          <p:nvPr/>
        </p:nvSpPr>
        <p:spPr>
          <a:xfrm>
            <a:off x="10217075" y="3960865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5E1E3AD-B821-4625-2B4D-0CF43F76817C}"/>
              </a:ext>
            </a:extLst>
          </p:cNvPr>
          <p:cNvSpPr/>
          <p:nvPr/>
        </p:nvSpPr>
        <p:spPr>
          <a:xfrm>
            <a:off x="6933524" y="4647165"/>
            <a:ext cx="3428851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마감일시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이전에는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후에도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취소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’, 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이 가능합니다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7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A6B4F9F0-3DE4-945A-ADAE-861A46828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645" y="4803786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4005991A-3B93-4F94-2A55-25A78CE89853}"/>
              </a:ext>
            </a:extLst>
          </p:cNvPr>
          <p:cNvSpPr/>
          <p:nvPr/>
        </p:nvSpPr>
        <p:spPr>
          <a:xfrm>
            <a:off x="9649218" y="5635532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6654326-1EA1-BEC9-E7B1-7624F39B2340}"/>
              </a:ext>
            </a:extLst>
          </p:cNvPr>
          <p:cNvSpPr/>
          <p:nvPr/>
        </p:nvSpPr>
        <p:spPr>
          <a:xfrm>
            <a:off x="6956964" y="4330166"/>
            <a:ext cx="12583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유의사항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26D5E43-0CA4-E1EB-CD97-BAAEF0E8F15C}"/>
              </a:ext>
            </a:extLst>
          </p:cNvPr>
          <p:cNvSpPr/>
          <p:nvPr/>
        </p:nvSpPr>
        <p:spPr>
          <a:xfrm>
            <a:off x="8895033" y="5635532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</a:t>
            </a:r>
          </a:p>
        </p:txBody>
      </p: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5CF41855-B158-E4F2-4635-ADC4785BB788}"/>
              </a:ext>
            </a:extLst>
          </p:cNvPr>
          <p:cNvCxnSpPr>
            <a:cxnSpLocks/>
            <a:stCxn id="119" idx="0"/>
            <a:endCxn id="68" idx="2"/>
          </p:cNvCxnSpPr>
          <p:nvPr/>
        </p:nvCxnSpPr>
        <p:spPr>
          <a:xfrm rot="5400000" flipH="1" flipV="1">
            <a:off x="7830645" y="5715907"/>
            <a:ext cx="441839" cy="122023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6BD2EF-8413-2DD2-9CC6-F2E4E1CCECE1}"/>
              </a:ext>
            </a:extLst>
          </p:cNvPr>
          <p:cNvSpPr/>
          <p:nvPr/>
        </p:nvSpPr>
        <p:spPr>
          <a:xfrm>
            <a:off x="1798513" y="4500119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선택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3318DE-E970-EABB-A0B6-6F02572EF59E}"/>
              </a:ext>
            </a:extLst>
          </p:cNvPr>
          <p:cNvSpPr/>
          <p:nvPr/>
        </p:nvSpPr>
        <p:spPr>
          <a:xfrm>
            <a:off x="3059902" y="4500121"/>
            <a:ext cx="227054" cy="20800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53494B-BF43-F5AD-A50F-39B8D951DE05}"/>
              </a:ext>
            </a:extLst>
          </p:cNvPr>
          <p:cNvSpPr txBox="1"/>
          <p:nvPr/>
        </p:nvSpPr>
        <p:spPr>
          <a:xfrm>
            <a:off x="3781644" y="4624819"/>
            <a:ext cx="1856656" cy="397032"/>
          </a:xfrm>
          <a:prstGeom prst="rect">
            <a:avLst/>
          </a:prstGeom>
          <a:solidFill>
            <a:srgbClr val="C00000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 협력업체에 등록된 담당자 선택</a:t>
            </a:r>
            <a:b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아래는 자동 완성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575437C-15CC-F661-1693-91BE3821EEF2}"/>
              </a:ext>
            </a:extLst>
          </p:cNvPr>
          <p:cNvSpPr/>
          <p:nvPr/>
        </p:nvSpPr>
        <p:spPr>
          <a:xfrm>
            <a:off x="3219936" y="437575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8A77C5AD-71EC-8899-86F9-9C01B032346B}"/>
              </a:ext>
            </a:extLst>
          </p:cNvPr>
          <p:cNvCxnSpPr>
            <a:cxnSpLocks/>
            <a:stCxn id="18" idx="0"/>
            <a:endCxn id="22" idx="6"/>
          </p:cNvCxnSpPr>
          <p:nvPr/>
        </p:nvCxnSpPr>
        <p:spPr>
          <a:xfrm rot="16200000" flipV="1">
            <a:off x="4002439" y="3917286"/>
            <a:ext cx="141055" cy="1274012"/>
          </a:xfrm>
          <a:prstGeom prst="bentConnector2">
            <a:avLst/>
          </a:prstGeom>
          <a:ln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F8364221-C4A2-EAD1-969B-1D6D5732389A}"/>
              </a:ext>
            </a:extLst>
          </p:cNvPr>
          <p:cNvSpPr/>
          <p:nvPr/>
        </p:nvSpPr>
        <p:spPr>
          <a:xfrm>
            <a:off x="8769321" y="552196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1E6EC-D9FD-356A-29AE-485F854CD46A}"/>
              </a:ext>
            </a:extLst>
          </p:cNvPr>
          <p:cNvSpPr txBox="1"/>
          <p:nvPr/>
        </p:nvSpPr>
        <p:spPr>
          <a:xfrm>
            <a:off x="7206719" y="5720253"/>
            <a:ext cx="1197551" cy="236988"/>
          </a:xfrm>
          <a:prstGeom prst="rect">
            <a:avLst/>
          </a:prstGeom>
          <a:solidFill>
            <a:srgbClr val="C00000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MSG-011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369BA23-E46D-2DD9-5E17-6EBBFA4D5DB8}"/>
              </a:ext>
            </a:extLst>
          </p:cNvPr>
          <p:cNvCxnSpPr>
            <a:cxnSpLocks/>
            <a:stCxn id="8" idx="2"/>
            <a:endCxn id="12" idx="3"/>
          </p:cNvCxnSpPr>
          <p:nvPr/>
        </p:nvCxnSpPr>
        <p:spPr>
          <a:xfrm rot="10800000" flipV="1">
            <a:off x="8404271" y="5629971"/>
            <a:ext cx="365051" cy="208775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916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58D1-9DE2-3EEE-330A-7F0E2AE7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20A95A-5C65-5D5C-8FB2-7EABE1C96A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85042-BAB7-83E4-0798-CC759368D1E8}"/>
              </a:ext>
            </a:extLst>
          </p:cNvPr>
          <p:cNvSpPr txBox="1"/>
          <p:nvPr/>
        </p:nvSpPr>
        <p:spPr>
          <a:xfrm>
            <a:off x="749224" y="25608"/>
            <a:ext cx="24497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553D1-08DE-A58F-FC60-36D2CC6B97AA}"/>
              </a:ext>
            </a:extLst>
          </p:cNvPr>
          <p:cNvSpPr txBox="1"/>
          <p:nvPr/>
        </p:nvSpPr>
        <p:spPr>
          <a:xfrm>
            <a:off x="8049344" y="584684"/>
            <a:ext cx="185665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진행상태 정리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노란색 영역 참고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협력업체에게는 아래의 상태만 안내함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2F24645-4264-BEF9-0142-7A620DC43F0C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B53BF0-DCF5-C775-C904-D8C0D8A0B69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E4A5CDB-7D0D-FAEE-2CF3-8ED75C4340B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40B785-9E22-7A47-DEAB-CFA1D663589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B6B69D-9123-C109-A2FC-A91D12496E48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08DE97-86FA-9908-5F1A-04DF1320D94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86451BB3-F8BF-9C8F-5FDE-168D8A692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BD22A92-B834-808E-C685-BBCC7C0E1AE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38CE11-5D31-2D72-FC7C-C3DD4BEE4B00}"/>
              </a:ext>
            </a:extLst>
          </p:cNvPr>
          <p:cNvSpPr/>
          <p:nvPr/>
        </p:nvSpPr>
        <p:spPr>
          <a:xfrm>
            <a:off x="164468" y="834981"/>
            <a:ext cx="7740859" cy="12553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8DABD-E2F8-1E98-4239-921123C94C12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마감 일시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05BED-D9A3-8A50-31FF-94FBE6AB2A85}"/>
              </a:ext>
            </a:extLst>
          </p:cNvPr>
          <p:cNvSpPr txBox="1"/>
          <p:nvPr/>
        </p:nvSpPr>
        <p:spPr>
          <a:xfrm>
            <a:off x="235849" y="1752583"/>
            <a:ext cx="34282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5933A0-EC47-AB9B-83EE-CB461ECDAAA0}"/>
              </a:ext>
            </a:extLst>
          </p:cNvPr>
          <p:cNvSpPr/>
          <p:nvPr/>
        </p:nvSpPr>
        <p:spPr>
          <a:xfrm>
            <a:off x="4954802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B54CF9-1D64-3F5F-4E7C-0152CB34B66A}"/>
              </a:ext>
            </a:extLst>
          </p:cNvPr>
          <p:cNvSpPr/>
          <p:nvPr/>
        </p:nvSpPr>
        <p:spPr>
          <a:xfrm>
            <a:off x="5765053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E8A78A-7702-30FC-52CE-CE28A0C0928F}"/>
              </a:ext>
            </a:extLst>
          </p:cNvPr>
          <p:cNvSpPr/>
          <p:nvPr/>
        </p:nvSpPr>
        <p:spPr>
          <a:xfrm>
            <a:off x="6178308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08A089-342D-47A0-87CC-4ED2A81355A7}"/>
              </a:ext>
            </a:extLst>
          </p:cNvPr>
          <p:cNvSpPr/>
          <p:nvPr/>
        </p:nvSpPr>
        <p:spPr>
          <a:xfrm>
            <a:off x="6988559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FF4BB19-C520-0312-F6E7-5A330288CF0B}"/>
              </a:ext>
            </a:extLst>
          </p:cNvPr>
          <p:cNvSpPr/>
          <p:nvPr/>
        </p:nvSpPr>
        <p:spPr>
          <a:xfrm>
            <a:off x="166502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C6BC0E8-3B98-5EC1-16BC-FA3EEA443705}"/>
              </a:ext>
            </a:extLst>
          </p:cNvPr>
          <p:cNvSpPr/>
          <p:nvPr/>
        </p:nvSpPr>
        <p:spPr>
          <a:xfrm>
            <a:off x="221359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E59E699-9304-9C41-8208-14947120DC87}"/>
              </a:ext>
            </a:extLst>
          </p:cNvPr>
          <p:cNvSpPr/>
          <p:nvPr/>
        </p:nvSpPr>
        <p:spPr>
          <a:xfrm>
            <a:off x="2762164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5BFFF2-2059-59DB-B333-8535EB1AB57C}"/>
              </a:ext>
            </a:extLst>
          </p:cNvPr>
          <p:cNvSpPr/>
          <p:nvPr/>
        </p:nvSpPr>
        <p:spPr>
          <a:xfrm>
            <a:off x="3310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B67DCAB-70DE-E768-BA4B-FD6DC29E9C6C}"/>
              </a:ext>
            </a:extLst>
          </p:cNvPr>
          <p:cNvSpPr/>
          <p:nvPr/>
        </p:nvSpPr>
        <p:spPr>
          <a:xfrm>
            <a:off x="3859302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BE1930-DAF7-A9DB-C99B-36CDAA445E47}"/>
              </a:ext>
            </a:extLst>
          </p:cNvPr>
          <p:cNvSpPr/>
          <p:nvPr/>
        </p:nvSpPr>
        <p:spPr>
          <a:xfrm>
            <a:off x="4407870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65F0C7-AC6F-777E-43FC-D8D17E773120}"/>
              </a:ext>
            </a:extLst>
          </p:cNvPr>
          <p:cNvSpPr txBox="1"/>
          <p:nvPr/>
        </p:nvSpPr>
        <p:spPr>
          <a:xfrm>
            <a:off x="235849" y="1205604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 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2ED8D6-D341-1CA6-98B4-EC9BDB049FE6}"/>
              </a:ext>
            </a:extLst>
          </p:cNvPr>
          <p:cNvSpPr/>
          <p:nvPr/>
        </p:nvSpPr>
        <p:spPr>
          <a:xfrm>
            <a:off x="1666337" y="174543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516DB3B-558D-A0EA-9816-26B2957BF320}"/>
              </a:ext>
            </a:extLst>
          </p:cNvPr>
          <p:cNvSpPr/>
          <p:nvPr/>
        </p:nvSpPr>
        <p:spPr>
          <a:xfrm>
            <a:off x="2476588" y="174544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FBE227-017E-4B38-F1E5-E855885B6D53}"/>
              </a:ext>
            </a:extLst>
          </p:cNvPr>
          <p:cNvSpPr/>
          <p:nvPr/>
        </p:nvSpPr>
        <p:spPr>
          <a:xfrm>
            <a:off x="2791725" y="174543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EB5A036-3675-4371-AB00-E6716EE48F6C}"/>
              </a:ext>
            </a:extLst>
          </p:cNvPr>
          <p:cNvSpPr/>
          <p:nvPr/>
        </p:nvSpPr>
        <p:spPr>
          <a:xfrm>
            <a:off x="6499733" y="174544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EA7291D-406C-933F-56E0-E8A8418F1A5C}"/>
              </a:ext>
            </a:extLst>
          </p:cNvPr>
          <p:cNvSpPr/>
          <p:nvPr/>
        </p:nvSpPr>
        <p:spPr>
          <a:xfrm>
            <a:off x="6867117" y="219963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C71C21D-8894-38BC-A1D3-9BAB58CF2A2D}"/>
              </a:ext>
            </a:extLst>
          </p:cNvPr>
          <p:cNvSpPr/>
          <p:nvPr/>
        </p:nvSpPr>
        <p:spPr>
          <a:xfrm>
            <a:off x="7688579" y="219963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8873AB-F68A-5762-6083-5E059E4ED59A}"/>
              </a:ext>
            </a:extLst>
          </p:cNvPr>
          <p:cNvSpPr txBox="1"/>
          <p:nvPr/>
        </p:nvSpPr>
        <p:spPr>
          <a:xfrm>
            <a:off x="181506" y="2186112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EA009A86-3A51-90BE-11AB-2F2328C5DCEE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2495078"/>
          <a:ext cx="8952642" cy="2365440"/>
        </p:xfrm>
        <a:graphic>
          <a:graphicData uri="http://schemas.openxmlformats.org/drawingml/2006/table">
            <a:tbl>
              <a:tblPr firstRow="1" bandRow="1"/>
              <a:tblGrid>
                <a:gridCol w="84091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2150">
                  <a:extLst>
                    <a:ext uri="{9D8B030D-6E8A-4147-A177-3AD203B41FA5}">
                      <a16:colId xmlns:a16="http://schemas.microsoft.com/office/drawing/2014/main" val="421133013"/>
                    </a:ext>
                  </a:extLst>
                </a:gridCol>
                <a:gridCol w="12266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34587">
                  <a:extLst>
                    <a:ext uri="{9D8B030D-6E8A-4147-A177-3AD203B41FA5}">
                      <a16:colId xmlns:a16="http://schemas.microsoft.com/office/drawing/2014/main" val="2708523098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960918577"/>
                    </a:ext>
                  </a:extLst>
                </a:gridCol>
                <a:gridCol w="867900">
                  <a:extLst>
                    <a:ext uri="{9D8B030D-6E8A-4147-A177-3AD203B41FA5}">
                      <a16:colId xmlns:a16="http://schemas.microsoft.com/office/drawing/2014/main" val="2297195669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9417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공고게시중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박승길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견적제출 완료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가격협의 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14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취소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41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97629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9AE9A60D-9BD3-D838-E522-F20CC70163E2}"/>
              </a:ext>
            </a:extLst>
          </p:cNvPr>
          <p:cNvGrpSpPr/>
          <p:nvPr/>
        </p:nvGrpSpPr>
        <p:grpSpPr>
          <a:xfrm>
            <a:off x="2004219" y="4979203"/>
            <a:ext cx="4025354" cy="216024"/>
            <a:chOff x="2992062" y="4869160"/>
            <a:chExt cx="4025354" cy="216024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9B043FD-C291-55EE-F17B-B033FDAB0DB0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7C301B3-CBE6-55BC-5F78-B4D56EE483B2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9E63D60-AECB-78F7-E3AC-5D11FBAE0F93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99BDAB4-D3B3-04CC-9F22-F29FA468DE15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4A0265F-571F-ECB4-45EC-29688DB0881E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BF494B7-0995-3EE3-4B63-1598B162C751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BA62AFCF-D891-B784-D47B-CFA498EABB8B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BD44184E-4E1D-7113-50FF-9C1FC8195B06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FDC88CC-C7E6-18AC-23EF-CB7DC019C6B8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2834719-9865-DCFB-4DF2-BA3472BFD017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BBD070E-D5A1-445D-32E1-568D3D5CD163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552AF48-13AD-A717-AF47-DC16A8E5C6B8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B084437-4354-734A-2C60-F1729F0A9E52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9EC1BDC-BB1E-6ED7-1257-B84B8C4542EB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F9EDBB-83AE-A18C-8211-85CE4687A358}"/>
              </a:ext>
            </a:extLst>
          </p:cNvPr>
          <p:cNvSpPr/>
          <p:nvPr/>
        </p:nvSpPr>
        <p:spPr>
          <a:xfrm>
            <a:off x="1612591" y="2831259"/>
            <a:ext cx="1215256" cy="2029259"/>
          </a:xfrm>
          <a:prstGeom prst="rect">
            <a:avLst/>
          </a:prstGeom>
          <a:noFill/>
          <a:ln w="31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8ACE08-569F-1533-5666-C922A3A1E29E}"/>
              </a:ext>
            </a:extLst>
          </p:cNvPr>
          <p:cNvSpPr txBox="1"/>
          <p:nvPr/>
        </p:nvSpPr>
        <p:spPr>
          <a:xfrm>
            <a:off x="3110490" y="3784906"/>
            <a:ext cx="3900921" cy="1015663"/>
          </a:xfrm>
          <a:prstGeom prst="rect">
            <a:avLst/>
          </a:prstGeom>
          <a:solidFill>
            <a:srgbClr val="FFFF00">
              <a:alpha val="69804"/>
            </a:srgbClr>
          </a:solidFill>
        </p:spPr>
        <p:txBody>
          <a:bodyPr wrap="square">
            <a:spAutoFit/>
          </a:bodyPr>
          <a:lstStyle/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공고게시중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요청기간 중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위해 견적 요청 상태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견적제출 완료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위해 해당 업체가 견적을 제출한 상태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가격협의 완료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협의가 종료된 상태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취소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특정 사정에 의해 수의계약 취소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AACDC519-EE55-233F-FD78-8AD0731179A7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2827847" y="3975810"/>
            <a:ext cx="282643" cy="31692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8F118912-0340-8540-F3C4-EEF12F622DC4}"/>
              </a:ext>
            </a:extLst>
          </p:cNvPr>
          <p:cNvSpPr/>
          <p:nvPr/>
        </p:nvSpPr>
        <p:spPr>
          <a:xfrm>
            <a:off x="2989834" y="366377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D51783-DA55-0A7E-073B-2520D4CEF097}"/>
              </a:ext>
            </a:extLst>
          </p:cNvPr>
          <p:cNvSpPr txBox="1"/>
          <p:nvPr/>
        </p:nvSpPr>
        <p:spPr>
          <a:xfrm>
            <a:off x="235849" y="1465669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진행상태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89089C4-38EF-0A46-B511-3AEF6514FAAF}"/>
              </a:ext>
            </a:extLst>
          </p:cNvPr>
          <p:cNvSpPr/>
          <p:nvPr/>
        </p:nvSpPr>
        <p:spPr>
          <a:xfrm>
            <a:off x="1666363" y="1458521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선택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C98090D-572C-D277-82A4-F72176CA1685}"/>
              </a:ext>
            </a:extLst>
          </p:cNvPr>
          <p:cNvSpPr/>
          <p:nvPr/>
        </p:nvSpPr>
        <p:spPr>
          <a:xfrm>
            <a:off x="3062345" y="14585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5284503-8989-6310-229B-B29C444870C6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1779828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4C49-D389-999A-B661-DB008659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2F95DF3-727C-50F1-6FE8-09BCB94BAF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48D08D-376D-84F0-D6C5-155706C00843}"/>
              </a:ext>
            </a:extLst>
          </p:cNvPr>
          <p:cNvSpPr txBox="1"/>
          <p:nvPr/>
        </p:nvSpPr>
        <p:spPr>
          <a:xfrm>
            <a:off x="749224" y="25608"/>
            <a:ext cx="29386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정보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C060D-0F7B-0E7A-ECB9-A273B61B2C86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3192BDF-91D8-41AC-B047-6F46BBBBC7CC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19F3B7F-1CAD-ED2D-BE96-D8204B22AD27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3BC1CE-3A54-B7E2-12E0-3097B6BADF85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FC9C90F-AEA9-3950-16BC-5202CDC0D519}"/>
              </a:ext>
            </a:extLst>
          </p:cNvPr>
          <p:cNvCxnSpPr>
            <a:cxnSpLocks/>
          </p:cNvCxnSpPr>
          <p:nvPr/>
        </p:nvCxnSpPr>
        <p:spPr>
          <a:xfrm>
            <a:off x="167468" y="1952499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CCE111-D1C8-C07B-7837-73FC47E53299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0F48309-B914-A5B2-5F1C-EC3F23487F58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1118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466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10722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565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103182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3358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5191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1214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40FB735-D365-2E31-2897-DB883BBD2FF7}"/>
              </a:ext>
            </a:extLst>
          </p:cNvPr>
          <p:cNvSpPr/>
          <p:nvPr/>
        </p:nvSpPr>
        <p:spPr>
          <a:xfrm>
            <a:off x="163502" y="1593287"/>
            <a:ext cx="1250662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EFA1B0-E453-172F-3B98-A56EE244EE28}"/>
              </a:ext>
            </a:extLst>
          </p:cNvPr>
          <p:cNvSpPr/>
          <p:nvPr/>
        </p:nvSpPr>
        <p:spPr>
          <a:xfrm>
            <a:off x="141703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BAA48F-B463-0898-730E-86AD37AF0185}"/>
              </a:ext>
            </a:extLst>
          </p:cNvPr>
          <p:cNvSpPr/>
          <p:nvPr/>
        </p:nvSpPr>
        <p:spPr>
          <a:xfrm>
            <a:off x="183392" y="2050722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기본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E4C2843-7055-FDAB-AD7B-8CCD5BFFB42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323017"/>
          <a:ext cx="7740860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34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7751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4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습식공사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2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0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추정가격이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미만으로 수의계약 진행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20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습식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석공사업 보유업체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57527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C683AC-3CF2-86D5-70B3-F5C17DA86F4A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B08489-6C2A-689D-8F7C-9E6F337AE0E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862F52-1B41-BBDA-5C2B-9A614C2926A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0" name="Picture 1">
            <a:extLst>
              <a:ext uri="{FF2B5EF4-FFF2-40B4-BE49-F238E27FC236}">
                <a16:creationId xmlns:a16="http://schemas.microsoft.com/office/drawing/2014/main" id="{4C728340-20A7-4470-D27C-CF56499F9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25E90AA-E5CA-4E1D-5BAC-03DD288FEEDB}"/>
              </a:ext>
            </a:extLst>
          </p:cNvPr>
          <p:cNvSpPr/>
          <p:nvPr/>
        </p:nvSpPr>
        <p:spPr>
          <a:xfrm>
            <a:off x="183392" y="5442527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31AE9D6-86A4-FED1-B166-E43CCE75897A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5736262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 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EB55C9-45AC-453E-BF55-EAA95A3BEE19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201031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B8A0F-859C-7F7C-A204-97B65856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E91C585-4967-34A7-A4D6-6A079141B4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F5EE1-DE7C-BFAA-2EAB-FEA41185043F}"/>
              </a:ext>
            </a:extLst>
          </p:cNvPr>
          <p:cNvSpPr txBox="1"/>
          <p:nvPr/>
        </p:nvSpPr>
        <p:spPr>
          <a:xfrm>
            <a:off x="749224" y="25608"/>
            <a:ext cx="29386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정보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759C8-244A-36C7-BD46-FD2D02B917A7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5AF997-638B-8EF1-CF7E-F5222652C560}"/>
              </a:ext>
            </a:extLst>
          </p:cNvPr>
          <p:cNvSpPr/>
          <p:nvPr/>
        </p:nvSpPr>
        <p:spPr>
          <a:xfrm>
            <a:off x="183392" y="33265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284BB64-606F-730A-E757-562CE9F7A6B9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605052"/>
          <a:ext cx="9358510" cy="67584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66062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CCC551-CA14-6F2D-C6A2-15614EA60789}"/>
              </a:ext>
            </a:extLst>
          </p:cNvPr>
          <p:cNvSpPr/>
          <p:nvPr/>
        </p:nvSpPr>
        <p:spPr>
          <a:xfrm>
            <a:off x="183392" y="141277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상세정보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1066474-1F50-F9DA-AB5D-4607F08EF7C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710949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요청기간 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2026.07.31 09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~ 2026.08.15 18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C0809DD-4076-FBB8-CF44-B91D85FECC5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028878"/>
          <a:ext cx="7776865" cy="10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시방서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구매견적서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3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기타서류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389591"/>
                  </a:ext>
                </a:extLst>
              </a:tr>
            </a:tbl>
          </a:graphicData>
        </a:graphic>
      </p:graphicFrame>
      <p:grpSp>
        <p:nvGrpSpPr>
          <p:cNvPr id="37" name="그룹 36">
            <a:extLst>
              <a:ext uri="{FF2B5EF4-FFF2-40B4-BE49-F238E27FC236}">
                <a16:creationId xmlns:a16="http://schemas.microsoft.com/office/drawing/2014/main" id="{AE81227C-C36E-0EAD-357B-99A9109522FD}"/>
              </a:ext>
            </a:extLst>
          </p:cNvPr>
          <p:cNvGrpSpPr/>
          <p:nvPr/>
        </p:nvGrpSpPr>
        <p:grpSpPr>
          <a:xfrm>
            <a:off x="2777097" y="2088658"/>
            <a:ext cx="1275802" cy="198885"/>
            <a:chOff x="2576736" y="3905324"/>
            <a:chExt cx="1275802" cy="19888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89DB67A-724F-8BBC-B6E7-C3D3B603DC79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1BB9B98-8114-B2DA-D6AD-4C36CAC0AC05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398EB7F-7929-21DD-8D67-C26E49FE85E5}"/>
              </a:ext>
            </a:extLst>
          </p:cNvPr>
          <p:cNvGrpSpPr/>
          <p:nvPr/>
        </p:nvGrpSpPr>
        <p:grpSpPr>
          <a:xfrm>
            <a:off x="2777097" y="2320521"/>
            <a:ext cx="1275802" cy="198885"/>
            <a:chOff x="2576736" y="3905324"/>
            <a:chExt cx="1275802" cy="19888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C7D84B2-CCA7-ED60-92A7-354F0BFEA661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626F072-52D3-46D5-CD54-AB3B4BF0ECF7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650CB52-DA38-96AE-4B10-8E1BC946E458}"/>
              </a:ext>
            </a:extLst>
          </p:cNvPr>
          <p:cNvGrpSpPr/>
          <p:nvPr/>
        </p:nvGrpSpPr>
        <p:grpSpPr>
          <a:xfrm>
            <a:off x="2777097" y="2621942"/>
            <a:ext cx="1275802" cy="198885"/>
            <a:chOff x="2576736" y="3905324"/>
            <a:chExt cx="1275802" cy="19888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23D6661-3ED5-2DA6-150C-5EDC625BF1C7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C957DF0-15BF-FBE9-8DC6-0A5B49D981AE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C7B427D-BB5B-B6C6-D124-53013E3CA2B0}"/>
              </a:ext>
            </a:extLst>
          </p:cNvPr>
          <p:cNvGrpSpPr/>
          <p:nvPr/>
        </p:nvGrpSpPr>
        <p:grpSpPr>
          <a:xfrm>
            <a:off x="2777097" y="2853805"/>
            <a:ext cx="1275802" cy="198885"/>
            <a:chOff x="2576736" y="3905324"/>
            <a:chExt cx="1275802" cy="198885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CC126A7-94F3-D0C3-828E-5C08485B61DC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4B38CF4-5137-8D70-C93B-83B0967B8F43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46E6DAE-A3D7-94EB-3817-650FFD0BE27A}"/>
              </a:ext>
            </a:extLst>
          </p:cNvPr>
          <p:cNvSpPr/>
          <p:nvPr/>
        </p:nvSpPr>
        <p:spPr>
          <a:xfrm>
            <a:off x="183392" y="321105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가능 업체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8325637B-F8D4-01E5-20A4-B4D5085F6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91261"/>
              </p:ext>
            </p:extLst>
          </p:nvPr>
        </p:nvGraphicFramePr>
        <p:xfrm>
          <a:off x="164467" y="3499216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2218358209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37664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참여 가능 업체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큐비트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엑스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(135-81-77202)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32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5320591-F59E-0C4C-9B26-9060FCD0D039}"/>
              </a:ext>
            </a:extLst>
          </p:cNvPr>
          <p:cNvGraphicFramePr>
            <a:graphicFrameLocks noGrp="1"/>
          </p:cNvGraphicFramePr>
          <p:nvPr/>
        </p:nvGraphicFramePr>
        <p:xfrm>
          <a:off x="171331" y="4221505"/>
          <a:ext cx="7710148" cy="1351680"/>
        </p:xfrm>
        <a:graphic>
          <a:graphicData uri="http://schemas.openxmlformats.org/drawingml/2006/table">
            <a:tbl>
              <a:tblPr firstRow="1" bandRow="1"/>
              <a:tblGrid>
                <a:gridCol w="35336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385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18231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 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C3AD3C9-284A-A4DC-46BC-E2A4FF26870B}"/>
              </a:ext>
            </a:extLst>
          </p:cNvPr>
          <p:cNvSpPr/>
          <p:nvPr/>
        </p:nvSpPr>
        <p:spPr>
          <a:xfrm>
            <a:off x="183392" y="3940243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5CE3B9-E1D2-5D48-FA31-CAECE2F4DDAA}"/>
              </a:ext>
            </a:extLst>
          </p:cNvPr>
          <p:cNvSpPr/>
          <p:nvPr/>
        </p:nvSpPr>
        <p:spPr>
          <a:xfrm>
            <a:off x="164467" y="566678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8557D9-10FF-B6FA-7F0C-E6D6DCE5442D}"/>
              </a:ext>
            </a:extLst>
          </p:cNvPr>
          <p:cNvSpPr/>
          <p:nvPr/>
        </p:nvSpPr>
        <p:spPr>
          <a:xfrm>
            <a:off x="6321152" y="5666782"/>
            <a:ext cx="158417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견적서 제출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8C9424-BBCE-2021-0138-5D47213774A0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3565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AE33-5B78-57F7-659A-BA1F7B16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6F03DE-D1E5-8B75-3C86-3514ABA177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BBAB71-D717-2678-AC09-BDD3F69DF8E2}"/>
              </a:ext>
            </a:extLst>
          </p:cNvPr>
          <p:cNvSpPr txBox="1"/>
          <p:nvPr/>
        </p:nvSpPr>
        <p:spPr>
          <a:xfrm>
            <a:off x="749224" y="25608"/>
            <a:ext cx="47243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16EDE-49CB-FA78-2D15-9192B0F8B89A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0B8885F-DA1A-8469-15DC-1D6FFB9AF73C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D62FAC5-8807-15D1-19E9-9D1F25E7410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DE7B437-56D0-2BA1-4B00-C80F831B797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F7DFE7-DE52-24B5-C783-48CDEA9EEA8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8FBC51-6B03-3BFD-9967-3E53485A5E61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29E32-EF25-8F41-31C7-7D1DF7C0061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AC4A4519-5255-5459-D182-84965B4C8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22978F7-0CD9-53A0-EE44-AE83763E03D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A392EF2-C56A-7D87-2367-9BA103E3F0D7}"/>
              </a:ext>
            </a:extLst>
          </p:cNvPr>
          <p:cNvCxnSpPr>
            <a:cxnSpLocks/>
          </p:cNvCxnSpPr>
          <p:nvPr/>
        </p:nvCxnSpPr>
        <p:spPr>
          <a:xfrm>
            <a:off x="167468" y="1952499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162EC08-36DF-E347-8779-635E0143A1DA}"/>
              </a:ext>
            </a:extLst>
          </p:cNvPr>
          <p:cNvSpPr/>
          <p:nvPr/>
        </p:nvSpPr>
        <p:spPr>
          <a:xfrm>
            <a:off x="163502" y="1660057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정보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F1E5549-DC44-41F6-1837-2151A16A2F79}"/>
              </a:ext>
            </a:extLst>
          </p:cNvPr>
          <p:cNvSpPr/>
          <p:nvPr/>
        </p:nvSpPr>
        <p:spPr>
          <a:xfrm>
            <a:off x="1417037" y="1604706"/>
            <a:ext cx="1250662" cy="34779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CF842034-A7BB-5A75-2810-7CBC68089F78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2376259"/>
          <a:ext cx="7741825" cy="1351680"/>
        </p:xfrm>
        <a:graphic>
          <a:graphicData uri="http://schemas.openxmlformats.org/drawingml/2006/table">
            <a:tbl>
              <a:tblPr firstRow="1" bandRow="1"/>
              <a:tblGrid>
                <a:gridCol w="29023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0065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750675">
                  <a:extLst>
                    <a:ext uri="{9D8B030D-6E8A-4147-A177-3AD203B41FA5}">
                      <a16:colId xmlns:a16="http://schemas.microsoft.com/office/drawing/2014/main" val="4052911490"/>
                    </a:ext>
                  </a:extLst>
                </a:gridCol>
                <a:gridCol w="1034587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1034587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9917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39371">
                  <a:extLst>
                    <a:ext uri="{9D8B030D-6E8A-4147-A177-3AD203B41FA5}">
                      <a16:colId xmlns:a16="http://schemas.microsoft.com/office/drawing/2014/main" val="3291656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차수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요청 시 전달 사항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제출 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수의시담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견적 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제출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견적금액이 적합하지 않습니다. 조정된 금액으로 다시 한번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2026.08.15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견적제출 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견적금액이 적합하지 않습니다. 조정된 금액으로 다시 한번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2026.07.30 15:40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견적제출 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귀사와의 수의계약을 위해 견적서 제출을 </a:t>
                      </a:r>
                      <a:r>
                        <a:rPr kumimoji="0" lang="ko-KR" altLang="en-US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요청드립니다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2026.07.15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2026.07.14 17:20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DA156AE3-F833-0F07-0BAD-B62F09C3BF9C}"/>
              </a:ext>
            </a:extLst>
          </p:cNvPr>
          <p:cNvSpPr/>
          <p:nvPr/>
        </p:nvSpPr>
        <p:spPr>
          <a:xfrm>
            <a:off x="181506" y="2058976"/>
            <a:ext cx="221521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요청 현황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6F0741A-6F59-564D-F12B-CD3B1D832DF1}"/>
              </a:ext>
            </a:extLst>
          </p:cNvPr>
          <p:cNvSpPr/>
          <p:nvPr/>
        </p:nvSpPr>
        <p:spPr>
          <a:xfrm>
            <a:off x="7034107" y="2775406"/>
            <a:ext cx="819674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2" charset="-127"/>
                <a:ea typeface="나눔고딕" pitchFamily="2" charset="-127"/>
              </a:rPr>
              <a:t>견적 제출하기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162F758-1A9C-617E-53C2-E516AC981579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1118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466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10722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565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103182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3358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5191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1214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D4126E4-1829-E4B2-38BF-3612E557FB58}"/>
              </a:ext>
            </a:extLst>
          </p:cNvPr>
          <p:cNvSpPr txBox="1"/>
          <p:nvPr/>
        </p:nvSpPr>
        <p:spPr>
          <a:xfrm>
            <a:off x="8049344" y="584684"/>
            <a:ext cx="1856656" cy="206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견적이 다수 회 진행된 경우 차수별로 확인할 수 있음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요청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화면으로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이동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뒷페이지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제출여부에 따라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제출내역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버튼 제공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A3F500-2E66-E5B2-74C8-2BA981168ABC}"/>
              </a:ext>
            </a:extLst>
          </p:cNvPr>
          <p:cNvSpPr/>
          <p:nvPr/>
        </p:nvSpPr>
        <p:spPr>
          <a:xfrm>
            <a:off x="7034107" y="3104382"/>
            <a:ext cx="81967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견적 제출내역</a:t>
            </a:r>
            <a:endParaRPr lang="en-US" altLang="ko-KR" sz="8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B67E04-A698-0D41-3309-12F0D2DFCF80}"/>
              </a:ext>
            </a:extLst>
          </p:cNvPr>
          <p:cNvSpPr/>
          <p:nvPr/>
        </p:nvSpPr>
        <p:spPr>
          <a:xfrm>
            <a:off x="7034107" y="3448691"/>
            <a:ext cx="81967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견적 제출내역</a:t>
            </a:r>
            <a:endParaRPr lang="en-US" altLang="ko-KR" sz="8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173B37B-833B-15AD-47B9-B74F7B4E322C}"/>
              </a:ext>
            </a:extLst>
          </p:cNvPr>
          <p:cNvSpPr/>
          <p:nvPr/>
        </p:nvSpPr>
        <p:spPr>
          <a:xfrm>
            <a:off x="73494" y="22682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A7BC2D9-B390-CC45-6EDB-9EF675DE54F7}"/>
              </a:ext>
            </a:extLst>
          </p:cNvPr>
          <p:cNvSpPr/>
          <p:nvPr/>
        </p:nvSpPr>
        <p:spPr>
          <a:xfrm>
            <a:off x="1088790" y="22682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B8A6EC9-9BEE-A643-7094-C1E30CB6C43C}"/>
              </a:ext>
            </a:extLst>
          </p:cNvPr>
          <p:cNvSpPr/>
          <p:nvPr/>
        </p:nvSpPr>
        <p:spPr>
          <a:xfrm>
            <a:off x="6852021" y="22682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16FFE6-4470-CA27-5DA6-7E3F54490CA7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1620499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FB5B-8B42-75E2-1CDC-6D80F686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108FAE4-FE59-FDD8-A30F-396CD9747B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A4D995-9277-2865-8902-117F0FA3E0F8}"/>
              </a:ext>
            </a:extLst>
          </p:cNvPr>
          <p:cNvSpPr txBox="1"/>
          <p:nvPr/>
        </p:nvSpPr>
        <p:spPr>
          <a:xfrm>
            <a:off x="749224" y="25608"/>
            <a:ext cx="47243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요청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0ABD0-50E2-81D4-A4B9-C5BFBB4DC594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2517946-3FAA-74D3-D4C2-57F8762325A0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3C7823F-9EC8-0FD2-70CA-90389B0CC7F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98FAD6B-B999-55AD-9A45-C5F1AA52242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BB42B9-D9C8-049D-29C9-408FF9765404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614814-4C13-F802-B512-0528AEDA1E29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4B3F-71AD-690C-0E1E-9D532C982E21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8D8C733F-4DA5-F8ED-77BA-2EEBEFB57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03F279D-D017-0773-2DC9-C7AB2ED1934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89F368D-DCC2-B6D0-35F0-05396662AA98}"/>
              </a:ext>
            </a:extLst>
          </p:cNvPr>
          <p:cNvCxnSpPr>
            <a:cxnSpLocks/>
          </p:cNvCxnSpPr>
          <p:nvPr/>
        </p:nvCxnSpPr>
        <p:spPr>
          <a:xfrm>
            <a:off x="167468" y="1952499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806E1B5-BAEB-464A-96E3-B88810F92825}"/>
              </a:ext>
            </a:extLst>
          </p:cNvPr>
          <p:cNvSpPr/>
          <p:nvPr/>
        </p:nvSpPr>
        <p:spPr>
          <a:xfrm>
            <a:off x="163502" y="1660057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정보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9834C7-1CE0-3B45-E0E1-052ABE5B37B3}"/>
              </a:ext>
            </a:extLst>
          </p:cNvPr>
          <p:cNvSpPr/>
          <p:nvPr/>
        </p:nvSpPr>
        <p:spPr>
          <a:xfrm>
            <a:off x="1417037" y="1604706"/>
            <a:ext cx="1250662" cy="34779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9E72E1-A037-CBD7-3E5E-AFDFEF1F3510}"/>
              </a:ext>
            </a:extLst>
          </p:cNvPr>
          <p:cNvSpPr/>
          <p:nvPr/>
        </p:nvSpPr>
        <p:spPr>
          <a:xfrm>
            <a:off x="181506" y="2060848"/>
            <a:ext cx="185665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D89DA84-1D98-4CFA-1E00-0FAEE1D8CFC3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347631"/>
          <a:ext cx="774085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마감 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2026.08.15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요청 시 전달 사항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귀사와의 수의계약을 위해 견적서 제출을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요청드립니다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요청 시 전달 자료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24204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8A397E-8A38-64AA-9C90-BCA21BD32716}"/>
              </a:ext>
            </a:extLst>
          </p:cNvPr>
          <p:cNvSpPr/>
          <p:nvPr/>
        </p:nvSpPr>
        <p:spPr>
          <a:xfrm>
            <a:off x="2696614" y="308929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59BA50-6A41-4B50-8FE2-0B2D7FA6D6A4}"/>
              </a:ext>
            </a:extLst>
          </p:cNvPr>
          <p:cNvSpPr/>
          <p:nvPr/>
        </p:nvSpPr>
        <p:spPr>
          <a:xfrm>
            <a:off x="3359451" y="308929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48A519-F201-07FB-41CF-64269948E2A1}"/>
              </a:ext>
            </a:extLst>
          </p:cNvPr>
          <p:cNvSpPr/>
          <p:nvPr/>
        </p:nvSpPr>
        <p:spPr>
          <a:xfrm>
            <a:off x="183392" y="3512527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221ADEC-284D-71B1-7835-040626DA0F94}"/>
              </a:ext>
            </a:extLst>
          </p:cNvPr>
          <p:cNvGraphicFramePr>
            <a:graphicFrameLocks noGrp="1"/>
          </p:cNvGraphicFramePr>
          <p:nvPr/>
        </p:nvGraphicFramePr>
        <p:xfrm>
          <a:off x="171331" y="3780414"/>
          <a:ext cx="7710148" cy="1351680"/>
        </p:xfrm>
        <a:graphic>
          <a:graphicData uri="http://schemas.openxmlformats.org/drawingml/2006/table">
            <a:tbl>
              <a:tblPr firstRow="1" bandRow="1"/>
              <a:tblGrid>
                <a:gridCol w="35336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385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18231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 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7865AE-1DCB-330D-7661-9C8E85968C86}"/>
              </a:ext>
            </a:extLst>
          </p:cNvPr>
          <p:cNvSpPr/>
          <p:nvPr/>
        </p:nvSpPr>
        <p:spPr>
          <a:xfrm>
            <a:off x="163502" y="523782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B83F55B-E016-B109-7535-9EC0C2B6F854}"/>
              </a:ext>
            </a:extLst>
          </p:cNvPr>
          <p:cNvSpPr/>
          <p:nvPr/>
        </p:nvSpPr>
        <p:spPr>
          <a:xfrm>
            <a:off x="6321152" y="5237826"/>
            <a:ext cx="156457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제출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9A5A2FC-8EE9-04FC-CAC2-FA60EE6AA2B6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1118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466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10722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565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103182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3358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5191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1214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3A31CE-D296-5A6E-906B-F421BD4BC952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4117631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B2AB-4D5D-2D74-70D2-6B22205BB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6259192-0181-690C-A948-7F8930D029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1FD133-D3E5-1685-EAE6-8F67F479A1CB}"/>
              </a:ext>
            </a:extLst>
          </p:cNvPr>
          <p:cNvSpPr txBox="1"/>
          <p:nvPr/>
        </p:nvSpPr>
        <p:spPr>
          <a:xfrm>
            <a:off x="749224" y="25608"/>
            <a:ext cx="39645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8C6EE-236F-F45E-474E-A2370B005867}"/>
              </a:ext>
            </a:extLst>
          </p:cNvPr>
          <p:cNvSpPr txBox="1"/>
          <p:nvPr/>
        </p:nvSpPr>
        <p:spPr>
          <a:xfrm>
            <a:off x="8049344" y="584684"/>
            <a:ext cx="1856656" cy="119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 설정된 상태에서 진행된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협력업체가 적정선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가격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에서 수의계약을 위한 견적을 제출할 수 있도록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4483E1-0ECF-EDC6-70D9-D0A90F47A3F9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78CACC9-6A26-7472-FCC7-5AC2F8C4CCA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FA01C4-5ABB-340C-94C5-4C0CFFBA4FCE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01B299-5C54-79A5-7F94-B8AF4AB4FDAB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0292B6-9275-31A7-4114-F2406BB38763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22B598-856B-FE72-71FE-93A18619911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8CCA83FD-9877-6F22-39B0-EBA59D93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5E4C718-0497-59B6-C443-28F5DD473087}"/>
              </a:ext>
            </a:extLst>
          </p:cNvPr>
          <p:cNvCxnSpPr>
            <a:cxnSpLocks/>
          </p:cNvCxnSpPr>
          <p:nvPr/>
        </p:nvCxnSpPr>
        <p:spPr>
          <a:xfrm>
            <a:off x="167468" y="1952499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36AFF9D-2C1F-25BC-74C9-6B44A68C36D5}"/>
              </a:ext>
            </a:extLst>
          </p:cNvPr>
          <p:cNvSpPr/>
          <p:nvPr/>
        </p:nvSpPr>
        <p:spPr>
          <a:xfrm>
            <a:off x="163502" y="1660057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정보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823C94-9894-FC94-8639-B08F458A557E}"/>
              </a:ext>
            </a:extLst>
          </p:cNvPr>
          <p:cNvSpPr/>
          <p:nvPr/>
        </p:nvSpPr>
        <p:spPr>
          <a:xfrm>
            <a:off x="1417037" y="1604706"/>
            <a:ext cx="1250662" cy="34779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7C93E6-3B38-8FCC-79B5-145D7B2482E9}"/>
              </a:ext>
            </a:extLst>
          </p:cNvPr>
          <p:cNvSpPr/>
          <p:nvPr/>
        </p:nvSpPr>
        <p:spPr>
          <a:xfrm>
            <a:off x="181506" y="2772302"/>
            <a:ext cx="1313872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제출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B52E49B-9A99-8D66-CC85-667F163296C5}"/>
              </a:ext>
            </a:extLst>
          </p:cNvPr>
          <p:cNvGraphicFramePr>
            <a:graphicFrameLocks noGrp="1"/>
          </p:cNvGraphicFramePr>
          <p:nvPr/>
        </p:nvGraphicFramePr>
        <p:xfrm>
          <a:off x="161177" y="3059867"/>
          <a:ext cx="7717010" cy="1351680"/>
        </p:xfrm>
        <a:graphic>
          <a:graphicData uri="http://schemas.openxmlformats.org/drawingml/2006/table">
            <a:tbl>
              <a:tblPr firstRow="1" bandRow="1"/>
              <a:tblGrid>
                <a:gridCol w="294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0104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00226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52207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144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61444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810696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874752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803311">
                  <a:extLst>
                    <a:ext uri="{9D8B030D-6E8A-4147-A177-3AD203B41FA5}">
                      <a16:colId xmlns:a16="http://schemas.microsoft.com/office/drawing/2014/main" val="2128366993"/>
                    </a:ext>
                  </a:extLst>
                </a:gridCol>
                <a:gridCol w="885563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부가세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합계금액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6C01D8-63D1-2FA9-D510-01B748B9C412}"/>
              </a:ext>
            </a:extLst>
          </p:cNvPr>
          <p:cNvSpPr/>
          <p:nvPr/>
        </p:nvSpPr>
        <p:spPr>
          <a:xfrm>
            <a:off x="4622361" y="3468983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1,000,000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ED7949-D0C7-962A-A5E5-2875E94547C2}"/>
              </a:ext>
            </a:extLst>
          </p:cNvPr>
          <p:cNvSpPr/>
          <p:nvPr/>
        </p:nvSpPr>
        <p:spPr>
          <a:xfrm>
            <a:off x="4622361" y="3793891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3,000,000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821DBD-0941-5992-A79B-DEEFE3DE4129}"/>
              </a:ext>
            </a:extLst>
          </p:cNvPr>
          <p:cNvSpPr/>
          <p:nvPr/>
        </p:nvSpPr>
        <p:spPr>
          <a:xfrm>
            <a:off x="6308276" y="3468983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9B648F0-A0DA-28F3-90D9-685E1E5CA70F}"/>
              </a:ext>
            </a:extLst>
          </p:cNvPr>
          <p:cNvSpPr/>
          <p:nvPr/>
        </p:nvSpPr>
        <p:spPr>
          <a:xfrm>
            <a:off x="6308276" y="3793891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3DECC23-BC9E-85F0-8618-D804AD00EA3B}"/>
              </a:ext>
            </a:extLst>
          </p:cNvPr>
          <p:cNvGraphicFramePr>
            <a:graphicFrameLocks noGrp="1"/>
          </p:cNvGraphicFramePr>
          <p:nvPr/>
        </p:nvGraphicFramePr>
        <p:xfrm>
          <a:off x="161177" y="4514189"/>
          <a:ext cx="7708147" cy="825600"/>
        </p:xfrm>
        <a:graphic>
          <a:graphicData uri="http://schemas.openxmlformats.org/drawingml/2006/table">
            <a:tbl>
              <a:tblPr firstRow="1" bandRow="1"/>
              <a:tblGrid>
                <a:gridCol w="130855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399588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상세견적서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pic>
        <p:nvPicPr>
          <p:cNvPr id="26" name="그림 25">
            <a:extLst>
              <a:ext uri="{FF2B5EF4-FFF2-40B4-BE49-F238E27FC236}">
                <a16:creationId xmlns:a16="http://schemas.microsoft.com/office/drawing/2014/main" id="{C56ED691-9199-DC3E-6D08-CABCE7357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620" y="4587687"/>
            <a:ext cx="6301654" cy="662078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8DD001A5-759A-BF49-A971-05D83A1B706F}"/>
              </a:ext>
            </a:extLst>
          </p:cNvPr>
          <p:cNvSpPr/>
          <p:nvPr/>
        </p:nvSpPr>
        <p:spPr>
          <a:xfrm>
            <a:off x="189384" y="5427397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되도록 각 항목당 하나의 파일로 등록해주세요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DB1AA8F2-BB04-96AC-ED2C-A4FD7EC031C2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5734543"/>
          <a:ext cx="7717976" cy="947520"/>
        </p:xfrm>
        <a:graphic>
          <a:graphicData uri="http://schemas.openxmlformats.org/drawingml/2006/table">
            <a:tbl>
              <a:tblPr firstRow="1" bandRow="1"/>
              <a:tblGrid>
                <a:gridCol w="26589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30816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14391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 등급 확인서는 반드시 유효기간 내에 있어야 합니다.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pic>
        <p:nvPicPr>
          <p:cNvPr id="51" name="그림 50">
            <a:extLst>
              <a:ext uri="{FF2B5EF4-FFF2-40B4-BE49-F238E27FC236}">
                <a16:creationId xmlns:a16="http://schemas.microsoft.com/office/drawing/2014/main" id="{2FF5A166-159B-E94F-BA3A-00F51E7ED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344" y="6023432"/>
            <a:ext cx="5958968" cy="626074"/>
          </a:xfrm>
          <a:prstGeom prst="rect">
            <a:avLst/>
          </a:prstGeom>
        </p:spPr>
      </p:pic>
      <p:sp>
        <p:nvSpPr>
          <p:cNvPr id="62" name="타원 61">
            <a:extLst>
              <a:ext uri="{FF2B5EF4-FFF2-40B4-BE49-F238E27FC236}">
                <a16:creationId xmlns:a16="http://schemas.microsoft.com/office/drawing/2014/main" id="{D280766B-FE12-5951-6A39-3D20286BCA3A}"/>
              </a:ext>
            </a:extLst>
          </p:cNvPr>
          <p:cNvSpPr/>
          <p:nvPr/>
        </p:nvSpPr>
        <p:spPr>
          <a:xfrm>
            <a:off x="153129" y="568047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9767145-EDFB-0240-F468-D15D1D4D27DE}"/>
              </a:ext>
            </a:extLst>
          </p:cNvPr>
          <p:cNvSpPr/>
          <p:nvPr/>
        </p:nvSpPr>
        <p:spPr>
          <a:xfrm>
            <a:off x="0" y="6687186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FDF036-22C9-2592-5C5A-AE3BDB79A518}"/>
              </a:ext>
            </a:extLst>
          </p:cNvPr>
          <p:cNvSpPr/>
          <p:nvPr/>
        </p:nvSpPr>
        <p:spPr>
          <a:xfrm>
            <a:off x="189384" y="2056348"/>
            <a:ext cx="771497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시 참고하실 수 있도록 예정가를 제공합니다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5D726A8-182C-EDEA-F886-73B2BAFCD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80694"/>
              </p:ext>
            </p:extLst>
          </p:nvPr>
        </p:nvGraphicFramePr>
        <p:xfrm>
          <a:off x="163503" y="2346079"/>
          <a:ext cx="771497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25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8872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19,500,000  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일천구백오십만원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44C5C12-E184-A90E-F210-963A2C5A99BD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1118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466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10722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565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103182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3358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5191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1214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0D69C3A5-00AF-A80B-48D8-3A3191727DFC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1668426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719F-B4DF-AFEE-D934-DDD4677F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8FD62D6-3075-F453-679E-B2BB56067E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45A70C-4C34-20D9-7E98-516850E54F37}"/>
              </a:ext>
            </a:extLst>
          </p:cNvPr>
          <p:cNvSpPr txBox="1"/>
          <p:nvPr/>
        </p:nvSpPr>
        <p:spPr>
          <a:xfrm>
            <a:off x="749224" y="25608"/>
            <a:ext cx="39645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B1251D67-8C82-81C9-6951-1851940E5724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419233"/>
          <a:ext cx="7717976" cy="947520"/>
        </p:xfrm>
        <a:graphic>
          <a:graphicData uri="http://schemas.openxmlformats.org/drawingml/2006/table">
            <a:tbl>
              <a:tblPr firstRow="1" bandRow="1"/>
              <a:tblGrid>
                <a:gridCol w="26589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30816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14391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증명서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pic>
        <p:nvPicPr>
          <p:cNvPr id="51" name="그림 50">
            <a:extLst>
              <a:ext uri="{FF2B5EF4-FFF2-40B4-BE49-F238E27FC236}">
                <a16:creationId xmlns:a16="http://schemas.microsoft.com/office/drawing/2014/main" id="{64D9469F-4ADE-4445-1764-4445C79B9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344" y="708122"/>
            <a:ext cx="5958968" cy="62607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9B459A4-D502-D4E9-2FB8-32B70927BA7F}"/>
              </a:ext>
            </a:extLst>
          </p:cNvPr>
          <p:cNvSpPr/>
          <p:nvPr/>
        </p:nvSpPr>
        <p:spPr>
          <a:xfrm>
            <a:off x="164467" y="1477131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DE0A92-33DD-66C6-82D1-014D43EF56D7}"/>
              </a:ext>
            </a:extLst>
          </p:cNvPr>
          <p:cNvSpPr/>
          <p:nvPr/>
        </p:nvSpPr>
        <p:spPr>
          <a:xfrm>
            <a:off x="6308276" y="1477131"/>
            <a:ext cx="157744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F6C337-0874-22FA-6574-BBD7F9E6245F}"/>
              </a:ext>
            </a:extLst>
          </p:cNvPr>
          <p:cNvSpPr/>
          <p:nvPr/>
        </p:nvSpPr>
        <p:spPr>
          <a:xfrm>
            <a:off x="2020275" y="1937602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1D21F2-1E5F-A4CF-0B38-0E9F3A756F91}"/>
              </a:ext>
            </a:extLst>
          </p:cNvPr>
          <p:cNvSpPr/>
          <p:nvPr/>
        </p:nvSpPr>
        <p:spPr>
          <a:xfrm>
            <a:off x="2128054" y="2355175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견적을 제출하면 더 이상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정확하게 가격이 입력되었는지 다시 한번 확인 부탁드립니다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제출을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21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5A375B23-86CF-14BF-5302-BBC0B0AD0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176" y="2511796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2D12C1-AA52-5503-D577-93A05190BAA9}"/>
              </a:ext>
            </a:extLst>
          </p:cNvPr>
          <p:cNvSpPr/>
          <p:nvPr/>
        </p:nvSpPr>
        <p:spPr>
          <a:xfrm>
            <a:off x="4971612" y="3343542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071650-6CEC-EA43-D05E-3D2D7A1802C2}"/>
              </a:ext>
            </a:extLst>
          </p:cNvPr>
          <p:cNvSpPr/>
          <p:nvPr/>
        </p:nvSpPr>
        <p:spPr>
          <a:xfrm>
            <a:off x="2151495" y="2038176"/>
            <a:ext cx="240290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제출 시 유의사항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093E5EE-1CCB-B76F-BC20-FF6ADB822C06}"/>
              </a:ext>
            </a:extLst>
          </p:cNvPr>
          <p:cNvSpPr/>
          <p:nvPr/>
        </p:nvSpPr>
        <p:spPr>
          <a:xfrm>
            <a:off x="3841299" y="3343542"/>
            <a:ext cx="1063542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제출하기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2D614AB-620B-0D1B-D240-F9462BC70ED8}"/>
              </a:ext>
            </a:extLst>
          </p:cNvPr>
          <p:cNvCxnSpPr>
            <a:cxnSpLocks/>
            <a:stCxn id="7" idx="2"/>
            <a:endCxn id="17" idx="3"/>
          </p:cNvCxnSpPr>
          <p:nvPr/>
        </p:nvCxnSpPr>
        <p:spPr>
          <a:xfrm rot="5400000">
            <a:off x="5899769" y="1666089"/>
            <a:ext cx="1098158" cy="1296306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40C454-BC7B-2B47-B1D9-EA7EFDF9F887}"/>
              </a:ext>
            </a:extLst>
          </p:cNvPr>
          <p:cNvSpPr/>
          <p:nvPr/>
        </p:nvSpPr>
        <p:spPr>
          <a:xfrm>
            <a:off x="2020275" y="1668875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제출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50C9832-5A0A-E875-EE00-94D4567190D0}"/>
              </a:ext>
            </a:extLst>
          </p:cNvPr>
          <p:cNvSpPr/>
          <p:nvPr/>
        </p:nvSpPr>
        <p:spPr>
          <a:xfrm>
            <a:off x="5527607" y="1668875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759B68-4863-2525-3EAC-8F0029BCED1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6E755-EE93-B663-FB74-41020F4E2112}"/>
              </a:ext>
            </a:extLst>
          </p:cNvPr>
          <p:cNvSpPr txBox="1"/>
          <p:nvPr/>
        </p:nvSpPr>
        <p:spPr>
          <a:xfrm>
            <a:off x="8049344" y="584684"/>
            <a:ext cx="1856656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제출하기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 클릭 시 진행상태를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견적제출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로 변경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C1F90AE-89A3-0606-179C-E1D6A8BB3C32}"/>
              </a:ext>
            </a:extLst>
          </p:cNvPr>
          <p:cNvSpPr/>
          <p:nvPr/>
        </p:nvSpPr>
        <p:spPr>
          <a:xfrm>
            <a:off x="3730364" y="324898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6713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3DC5-8428-1141-E834-D7C479355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A5B1395-7790-16D9-4916-5BAFFE0E58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EA3437-A690-C75F-9928-E966955CC44C}"/>
              </a:ext>
            </a:extLst>
          </p:cNvPr>
          <p:cNvSpPr txBox="1"/>
          <p:nvPr/>
        </p:nvSpPr>
        <p:spPr>
          <a:xfrm>
            <a:off x="749224" y="25608"/>
            <a:ext cx="39645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제출내역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E8B98-4F87-0C89-DF42-E43DB23B0369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0D11089-AF4F-1B4B-008D-05AA7E629825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2085442-CCB5-9325-8C93-99B90810306A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078C39-0F05-14D5-96F8-60AA47A6977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8C861B-CD7E-5C09-DDA6-C9131145FC7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6C7BD7-2A6F-8F7A-0F8F-FC1EC6F177D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6975B7-688B-8EBD-E955-018B6B2B0DA6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6603F513-6123-CD3C-2D93-11E768C8D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A16FD75-BACD-6175-4B5D-721A210B185F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252382-13B0-A129-B04E-62AEA7F36B71}"/>
              </a:ext>
            </a:extLst>
          </p:cNvPr>
          <p:cNvCxnSpPr>
            <a:cxnSpLocks/>
          </p:cNvCxnSpPr>
          <p:nvPr/>
        </p:nvCxnSpPr>
        <p:spPr>
          <a:xfrm>
            <a:off x="167468" y="1952499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B9F0091-85D2-33C2-EB84-3F1FAC44E69B}"/>
              </a:ext>
            </a:extLst>
          </p:cNvPr>
          <p:cNvSpPr/>
          <p:nvPr/>
        </p:nvSpPr>
        <p:spPr>
          <a:xfrm>
            <a:off x="163502" y="1660057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정보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01D67E7-0835-065D-4116-6F102E81853F}"/>
              </a:ext>
            </a:extLst>
          </p:cNvPr>
          <p:cNvSpPr/>
          <p:nvPr/>
        </p:nvSpPr>
        <p:spPr>
          <a:xfrm>
            <a:off x="1417037" y="1604706"/>
            <a:ext cx="1250662" cy="34779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및 확인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B3A340BA-4884-811A-5351-78DCB4B04382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97565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47319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61106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76923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221406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79118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61106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009901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CAD2D5F-BDCB-8338-9560-9F49AD3368AE}"/>
              </a:ext>
            </a:extLst>
          </p:cNvPr>
          <p:cNvGraphicFramePr>
            <a:graphicFrameLocks noGrp="1"/>
          </p:cNvGraphicFramePr>
          <p:nvPr/>
        </p:nvGraphicFramePr>
        <p:xfrm>
          <a:off x="183739" y="2340254"/>
          <a:ext cx="7721588" cy="1351680"/>
        </p:xfrm>
        <a:graphic>
          <a:graphicData uri="http://schemas.openxmlformats.org/drawingml/2006/table">
            <a:tbl>
              <a:tblPr firstRow="1" bandRow="1"/>
              <a:tblGrid>
                <a:gridCol w="29459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01516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00285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52298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16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6165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811177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875271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803788">
                  <a:extLst>
                    <a:ext uri="{9D8B030D-6E8A-4147-A177-3AD203B41FA5}">
                      <a16:colId xmlns:a16="http://schemas.microsoft.com/office/drawing/2014/main" val="2128366993"/>
                    </a:ext>
                  </a:extLst>
                </a:gridCol>
                <a:gridCol w="88608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부가세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합계금액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3E832B0-B288-5791-7042-0C6F36B009F9}"/>
              </a:ext>
            </a:extLst>
          </p:cNvPr>
          <p:cNvGraphicFramePr>
            <a:graphicFrameLocks noGrp="1"/>
          </p:cNvGraphicFramePr>
          <p:nvPr/>
        </p:nvGraphicFramePr>
        <p:xfrm>
          <a:off x="183739" y="3794576"/>
          <a:ext cx="7685585" cy="581760"/>
        </p:xfrm>
        <a:graphic>
          <a:graphicData uri="http://schemas.openxmlformats.org/drawingml/2006/table">
            <a:tbl>
              <a:tblPr firstRow="1" bandRow="1"/>
              <a:tblGrid>
                <a:gridCol w="130472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38085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상세견적서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5D0B43-1877-040A-4478-E0ACA2161016}"/>
              </a:ext>
            </a:extLst>
          </p:cNvPr>
          <p:cNvSpPr/>
          <p:nvPr/>
        </p:nvSpPr>
        <p:spPr>
          <a:xfrm>
            <a:off x="193067" y="590774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B82A07A-29AA-66B3-451B-CBE4E01FB01F}"/>
              </a:ext>
            </a:extLst>
          </p:cNvPr>
          <p:cNvGrpSpPr/>
          <p:nvPr/>
        </p:nvGrpSpPr>
        <p:grpSpPr>
          <a:xfrm>
            <a:off x="2504773" y="3847969"/>
            <a:ext cx="1275802" cy="198885"/>
            <a:chOff x="3545142" y="4085591"/>
            <a:chExt cx="1275802" cy="19888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7F4A1F9-757E-714F-2CC7-1DBAA576C5F8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BBBBBF1-5537-B09E-16E0-F9411ABD913A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276972B-F8A1-8624-3080-562FD4AF11CF}"/>
              </a:ext>
            </a:extLst>
          </p:cNvPr>
          <p:cNvGrpSpPr/>
          <p:nvPr/>
        </p:nvGrpSpPr>
        <p:grpSpPr>
          <a:xfrm>
            <a:off x="2504773" y="4110947"/>
            <a:ext cx="1275802" cy="198885"/>
            <a:chOff x="3545142" y="4085591"/>
            <a:chExt cx="1275802" cy="19888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1283FBD-6337-C0A7-5A10-3B6CE2598ECF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54EF518-2F79-AA70-35CB-4BB5D15BA4B8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0EA5129-308A-A98E-AAC1-AADD2AA71035}"/>
              </a:ext>
            </a:extLst>
          </p:cNvPr>
          <p:cNvSpPr/>
          <p:nvPr/>
        </p:nvSpPr>
        <p:spPr>
          <a:xfrm>
            <a:off x="181505" y="2058976"/>
            <a:ext cx="3754867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제출 내역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02D79A3E-D43D-9E26-84D0-D26F55320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257298"/>
              </p:ext>
            </p:extLst>
          </p:nvPr>
        </p:nvGraphicFramePr>
        <p:xfrm>
          <a:off x="163194" y="4798500"/>
          <a:ext cx="7714979" cy="1013760"/>
        </p:xfrm>
        <a:graphic>
          <a:graphicData uri="http://schemas.openxmlformats.org/drawingml/2006/table">
            <a:tbl>
              <a:tblPr firstRow="1" bandRow="1"/>
              <a:tblGrid>
                <a:gridCol w="41376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8795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2162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첨부파일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grpSp>
        <p:nvGrpSpPr>
          <p:cNvPr id="48" name="그룹 47">
            <a:extLst>
              <a:ext uri="{FF2B5EF4-FFF2-40B4-BE49-F238E27FC236}">
                <a16:creationId xmlns:a16="http://schemas.microsoft.com/office/drawing/2014/main" id="{5A2758F8-D160-E4C6-E793-D20B83ABE8E0}"/>
              </a:ext>
            </a:extLst>
          </p:cNvPr>
          <p:cNvGrpSpPr/>
          <p:nvPr/>
        </p:nvGrpSpPr>
        <p:grpSpPr>
          <a:xfrm>
            <a:off x="3514764" y="5197084"/>
            <a:ext cx="1275802" cy="198885"/>
            <a:chOff x="3514764" y="5575520"/>
            <a:chExt cx="1275802" cy="198885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A85F0D9-5A18-3D3C-4F8C-A38DE9F834B6}"/>
                </a:ext>
              </a:extLst>
            </p:cNvPr>
            <p:cNvSpPr/>
            <p:nvPr/>
          </p:nvSpPr>
          <p:spPr>
            <a:xfrm>
              <a:off x="3514764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A1B1D4C-27EE-2E52-5B90-C076A97D6B5A}"/>
                </a:ext>
              </a:extLst>
            </p:cNvPr>
            <p:cNvSpPr/>
            <p:nvPr/>
          </p:nvSpPr>
          <p:spPr>
            <a:xfrm>
              <a:off x="4177601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69044B7-CD51-7558-F0D4-A516D6C1E3D1}"/>
              </a:ext>
            </a:extLst>
          </p:cNvPr>
          <p:cNvGrpSpPr/>
          <p:nvPr/>
        </p:nvGrpSpPr>
        <p:grpSpPr>
          <a:xfrm>
            <a:off x="3514764" y="5536252"/>
            <a:ext cx="1275802" cy="198885"/>
            <a:chOff x="3545142" y="4085591"/>
            <a:chExt cx="1275802" cy="198885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E805C23-9B55-69DE-74C2-C455A9572506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EAD3F07-8809-A628-C552-8396325B23EA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12DBE57-92ED-C4FF-8188-A26480EB4E84}"/>
              </a:ext>
            </a:extLst>
          </p:cNvPr>
          <p:cNvSpPr/>
          <p:nvPr/>
        </p:nvSpPr>
        <p:spPr>
          <a:xfrm>
            <a:off x="189384" y="4490260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33D8974-8BCA-4845-4EFE-8F2E87CC900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4418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925A-6EA4-C03C-5B4C-95D89822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54B0D64-38E2-FF80-5207-22239325B2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12B6A2-EB70-9751-8CA6-9B1757A54A4A}"/>
              </a:ext>
            </a:extLst>
          </p:cNvPr>
          <p:cNvSpPr txBox="1"/>
          <p:nvPr/>
        </p:nvSpPr>
        <p:spPr>
          <a:xfrm>
            <a:off x="749224" y="25608"/>
            <a:ext cx="17315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23FD07E-EF9A-3693-1168-B9F48031A030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E5DB435-DC35-A5B0-81EC-2F9B21B4F91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ED41AB-E301-CCF6-A88D-2AB48177B8B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9EA495-6094-771F-B2CE-A031F0C3EB3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2E3B87-8FBC-E4C4-BE73-468163FF949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146299-9B40-9496-2B7E-641D81925C5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0" name="Picture 1">
            <a:extLst>
              <a:ext uri="{FF2B5EF4-FFF2-40B4-BE49-F238E27FC236}">
                <a16:creationId xmlns:a16="http://schemas.microsoft.com/office/drawing/2014/main" id="{E9918B1C-8B8F-D01B-78AF-BB082851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9842E87-0BC2-383E-8479-8887ACC4825F}"/>
              </a:ext>
            </a:extLst>
          </p:cNvPr>
          <p:cNvSpPr txBox="1"/>
          <p:nvPr/>
        </p:nvSpPr>
        <p:spPr>
          <a:xfrm>
            <a:off x="8049344" y="532928"/>
            <a:ext cx="1856656" cy="277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입찰마감일 기준 기간검색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에 따른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으로 검색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본공고인지 유찰 후 재공고인지 여부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정리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노란색 영역 참고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협력업체에게는 아래의 단계 외에는 보여주지 않음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공고대기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공고게시중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입찰진행중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입찰마감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투찰진행중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투찰마감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선정완료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유찰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건명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 호출(뒷페이지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협력업체에게는 해당 상태 값만 제공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34D721-3545-C293-A368-EF5EAC051448}"/>
              </a:ext>
            </a:extLst>
          </p:cNvPr>
          <p:cNvSpPr/>
          <p:nvPr/>
        </p:nvSpPr>
        <p:spPr>
          <a:xfrm>
            <a:off x="0" y="667798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CE4C5F-C183-FBD6-4F20-177AAE2FFF57}"/>
              </a:ext>
            </a:extLst>
          </p:cNvPr>
          <p:cNvSpPr/>
          <p:nvPr/>
        </p:nvSpPr>
        <p:spPr>
          <a:xfrm>
            <a:off x="164468" y="834983"/>
            <a:ext cx="7740859" cy="180192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21F7C-BF15-FD2E-92E1-21BFF28B79A5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마감일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308A8-832C-0253-9C87-8930E370A1C1}"/>
              </a:ext>
            </a:extLst>
          </p:cNvPr>
          <p:cNvSpPr txBox="1"/>
          <p:nvPr/>
        </p:nvSpPr>
        <p:spPr>
          <a:xfrm>
            <a:off x="235849" y="1786312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구분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본공고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재공고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FAC40D-F68F-E90A-DC06-065A195C60B2}"/>
              </a:ext>
            </a:extLst>
          </p:cNvPr>
          <p:cNvSpPr txBox="1"/>
          <p:nvPr/>
        </p:nvSpPr>
        <p:spPr>
          <a:xfrm>
            <a:off x="235850" y="2317453"/>
            <a:ext cx="17648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3A1DBE-D6D7-445C-DF7D-E5C2B33AE395}"/>
              </a:ext>
            </a:extLst>
          </p:cNvPr>
          <p:cNvSpPr/>
          <p:nvPr/>
        </p:nvSpPr>
        <p:spPr>
          <a:xfrm>
            <a:off x="4972054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2EFA02-3EC8-68A7-77E2-DAAC562A7CA7}"/>
              </a:ext>
            </a:extLst>
          </p:cNvPr>
          <p:cNvSpPr/>
          <p:nvPr/>
        </p:nvSpPr>
        <p:spPr>
          <a:xfrm>
            <a:off x="5782305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0C383B-538B-651B-DA6C-40B8D8B9FCE1}"/>
              </a:ext>
            </a:extLst>
          </p:cNvPr>
          <p:cNvSpPr/>
          <p:nvPr/>
        </p:nvSpPr>
        <p:spPr>
          <a:xfrm>
            <a:off x="6195560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41A509-328E-34C7-C614-5D05A9A1053B}"/>
              </a:ext>
            </a:extLst>
          </p:cNvPr>
          <p:cNvSpPr/>
          <p:nvPr/>
        </p:nvSpPr>
        <p:spPr>
          <a:xfrm>
            <a:off x="7005811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D268FE-4792-CD30-4909-975A2A910F16}"/>
              </a:ext>
            </a:extLst>
          </p:cNvPr>
          <p:cNvSpPr/>
          <p:nvPr/>
        </p:nvSpPr>
        <p:spPr>
          <a:xfrm>
            <a:off x="168227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EF2339-79FD-1204-48E1-83BD6A4034DC}"/>
              </a:ext>
            </a:extLst>
          </p:cNvPr>
          <p:cNvSpPr/>
          <p:nvPr/>
        </p:nvSpPr>
        <p:spPr>
          <a:xfrm>
            <a:off x="223084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522FF6-7B7D-53FE-1352-B823AA5CE39D}"/>
              </a:ext>
            </a:extLst>
          </p:cNvPr>
          <p:cNvSpPr/>
          <p:nvPr/>
        </p:nvSpPr>
        <p:spPr>
          <a:xfrm>
            <a:off x="277941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AEC0B7-5985-7F67-AF74-9F8155A8DDDD}"/>
              </a:ext>
            </a:extLst>
          </p:cNvPr>
          <p:cNvSpPr/>
          <p:nvPr/>
        </p:nvSpPr>
        <p:spPr>
          <a:xfrm>
            <a:off x="332798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EE0236-8FB7-79F9-5283-3526DB022501}"/>
              </a:ext>
            </a:extLst>
          </p:cNvPr>
          <p:cNvSpPr/>
          <p:nvPr/>
        </p:nvSpPr>
        <p:spPr>
          <a:xfrm>
            <a:off x="3876554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C952D8-D816-1125-929C-D1275E564D26}"/>
              </a:ext>
            </a:extLst>
          </p:cNvPr>
          <p:cNvSpPr/>
          <p:nvPr/>
        </p:nvSpPr>
        <p:spPr>
          <a:xfrm>
            <a:off x="4425122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F6F2FB-4508-F8C1-2A4C-F3A2D63C993A}"/>
              </a:ext>
            </a:extLst>
          </p:cNvPr>
          <p:cNvSpPr txBox="1"/>
          <p:nvPr/>
        </p:nvSpPr>
        <p:spPr>
          <a:xfrm>
            <a:off x="235849" y="1221380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23117C-9996-F436-C60A-F0145E518F72}"/>
              </a:ext>
            </a:extLst>
          </p:cNvPr>
          <p:cNvSpPr/>
          <p:nvPr/>
        </p:nvSpPr>
        <p:spPr>
          <a:xfrm>
            <a:off x="1654646" y="231030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D71EA8F-D861-044E-6033-FB9429F058CD}"/>
              </a:ext>
            </a:extLst>
          </p:cNvPr>
          <p:cNvSpPr/>
          <p:nvPr/>
        </p:nvSpPr>
        <p:spPr>
          <a:xfrm>
            <a:off x="2464897" y="231031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1762B1-A146-A144-5279-899E4D1B2E4E}"/>
              </a:ext>
            </a:extLst>
          </p:cNvPr>
          <p:cNvSpPr/>
          <p:nvPr/>
        </p:nvSpPr>
        <p:spPr>
          <a:xfrm>
            <a:off x="2780034" y="231030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BE05529-CAD0-9095-B5DB-01701DD99FF8}"/>
              </a:ext>
            </a:extLst>
          </p:cNvPr>
          <p:cNvSpPr/>
          <p:nvPr/>
        </p:nvSpPr>
        <p:spPr>
          <a:xfrm>
            <a:off x="6488042" y="231031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891C6C-0A34-A7AB-2E56-F75D993C382F}"/>
              </a:ext>
            </a:extLst>
          </p:cNvPr>
          <p:cNvSpPr txBox="1"/>
          <p:nvPr/>
        </p:nvSpPr>
        <p:spPr>
          <a:xfrm>
            <a:off x="235849" y="2059815"/>
            <a:ext cx="77408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8D2C512-82DC-2F0D-5E41-F6B01DAA7BAC}"/>
              </a:ext>
            </a:extLst>
          </p:cNvPr>
          <p:cNvSpPr/>
          <p:nvPr/>
        </p:nvSpPr>
        <p:spPr>
          <a:xfrm>
            <a:off x="1552720" y="80590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ED2319-6321-F153-4955-56A7029A1C5F}"/>
              </a:ext>
            </a:extLst>
          </p:cNvPr>
          <p:cNvSpPr txBox="1"/>
          <p:nvPr/>
        </p:nvSpPr>
        <p:spPr>
          <a:xfrm>
            <a:off x="235849" y="149741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계약방법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낙찰자 선정방법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EF28D3D-DF6D-1927-EB7A-136AB15F34B0}"/>
              </a:ext>
            </a:extLst>
          </p:cNvPr>
          <p:cNvSpPr/>
          <p:nvPr/>
        </p:nvSpPr>
        <p:spPr>
          <a:xfrm>
            <a:off x="1666765" y="1497418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 선택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67604C9-F15B-AA12-B092-DBEAAD40CC8F}"/>
              </a:ext>
            </a:extLst>
          </p:cNvPr>
          <p:cNvSpPr/>
          <p:nvPr/>
        </p:nvSpPr>
        <p:spPr>
          <a:xfrm>
            <a:off x="3062747" y="149742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B99D150-1DBC-CD1E-2157-E01BCA312243}"/>
              </a:ext>
            </a:extLst>
          </p:cNvPr>
          <p:cNvSpPr/>
          <p:nvPr/>
        </p:nvSpPr>
        <p:spPr>
          <a:xfrm>
            <a:off x="3349569" y="1497418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선택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FB4FADC-F88F-148C-1591-818FF3A4E813}"/>
              </a:ext>
            </a:extLst>
          </p:cNvPr>
          <p:cNvSpPr/>
          <p:nvPr/>
        </p:nvSpPr>
        <p:spPr>
          <a:xfrm>
            <a:off x="4745551" y="149742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9144739-2218-863F-451D-103F47787C79}"/>
              </a:ext>
            </a:extLst>
          </p:cNvPr>
          <p:cNvSpPr/>
          <p:nvPr/>
        </p:nvSpPr>
        <p:spPr>
          <a:xfrm>
            <a:off x="1552720" y="167115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E8856665-A22C-F9DF-B0A1-957CA6E09BE1}"/>
              </a:ext>
            </a:extLst>
          </p:cNvPr>
          <p:cNvSpPr/>
          <p:nvPr/>
        </p:nvSpPr>
        <p:spPr>
          <a:xfrm>
            <a:off x="1552720" y="136925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AA36628-0D15-1DF9-FB8F-CEB3737F672A}"/>
              </a:ext>
            </a:extLst>
          </p:cNvPr>
          <p:cNvSpPr/>
          <p:nvPr/>
        </p:nvSpPr>
        <p:spPr>
          <a:xfrm>
            <a:off x="1666765" y="2028182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선택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9A12BA-D488-6854-51CF-5217DEB6AFFA}"/>
              </a:ext>
            </a:extLst>
          </p:cNvPr>
          <p:cNvSpPr/>
          <p:nvPr/>
        </p:nvSpPr>
        <p:spPr>
          <a:xfrm>
            <a:off x="3062747" y="202818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59BD311-D582-5F8F-506D-B9D4B6C3D0FA}"/>
              </a:ext>
            </a:extLst>
          </p:cNvPr>
          <p:cNvSpPr/>
          <p:nvPr/>
        </p:nvSpPr>
        <p:spPr>
          <a:xfrm>
            <a:off x="1552720" y="196911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DBFD020-7624-5AAA-37FB-303938F23338}"/>
              </a:ext>
            </a:extLst>
          </p:cNvPr>
          <p:cNvSpPr/>
          <p:nvPr/>
        </p:nvSpPr>
        <p:spPr>
          <a:xfrm>
            <a:off x="1552720" y="220171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679E0D8-A88A-8B4B-9038-B1D1E2C04014}"/>
              </a:ext>
            </a:extLst>
          </p:cNvPr>
          <p:cNvSpPr/>
          <p:nvPr/>
        </p:nvSpPr>
        <p:spPr>
          <a:xfrm>
            <a:off x="5856272" y="275874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F84BD0C-400D-7E01-04D1-F480FA5FF627}"/>
              </a:ext>
            </a:extLst>
          </p:cNvPr>
          <p:cNvSpPr/>
          <p:nvPr/>
        </p:nvSpPr>
        <p:spPr>
          <a:xfrm>
            <a:off x="6677734" y="275874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D0A268-D676-7F3E-ED42-BFF699FDAC93}"/>
              </a:ext>
            </a:extLst>
          </p:cNvPr>
          <p:cNvSpPr txBox="1"/>
          <p:nvPr/>
        </p:nvSpPr>
        <p:spPr>
          <a:xfrm>
            <a:off x="181506" y="2745222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0C418FA-F503-D907-2A94-E564B25E161A}"/>
              </a:ext>
            </a:extLst>
          </p:cNvPr>
          <p:cNvSpPr/>
          <p:nvPr/>
        </p:nvSpPr>
        <p:spPr>
          <a:xfrm>
            <a:off x="6982990" y="2758740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58824A55-701C-4650-E508-7E6261DABC42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3054188"/>
          <a:ext cx="10256513" cy="3041280"/>
        </p:xfrm>
        <a:graphic>
          <a:graphicData uri="http://schemas.openxmlformats.org/drawingml/2006/table">
            <a:tbl>
              <a:tblPr firstRow="1" bandRow="1"/>
              <a:tblGrid>
                <a:gridCol w="84091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72650">
                  <a:extLst>
                    <a:ext uri="{9D8B030D-6E8A-4147-A177-3AD203B41FA5}">
                      <a16:colId xmlns:a16="http://schemas.microsoft.com/office/drawing/2014/main" val="2112928521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34587">
                  <a:extLst>
                    <a:ext uri="{9D8B030D-6E8A-4147-A177-3AD203B41FA5}">
                      <a16:colId xmlns:a16="http://schemas.microsoft.com/office/drawing/2014/main" val="2708523098"/>
                    </a:ext>
                  </a:extLst>
                </a:gridCol>
                <a:gridCol w="721850">
                  <a:extLst>
                    <a:ext uri="{9D8B030D-6E8A-4147-A177-3AD203B41FA5}">
                      <a16:colId xmlns:a16="http://schemas.microsoft.com/office/drawing/2014/main" val="3829591775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960918577"/>
                    </a:ext>
                  </a:extLst>
                </a:gridCol>
                <a:gridCol w="1545763">
                  <a:extLst>
                    <a:ext uri="{9D8B030D-6E8A-4147-A177-3AD203B41FA5}">
                      <a16:colId xmlns:a16="http://schemas.microsoft.com/office/drawing/2014/main" val="2297195669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77400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참여업체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공고게시중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재공고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재공고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입찰마감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경쟁입찰(지명)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2단계 경쟁입찰(규격/가격 동시)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투찰진행중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투찰마감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823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선정완료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유찰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37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공고취소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43254"/>
                  </a:ext>
                </a:extLst>
              </a:tr>
            </a:tbl>
          </a:graphicData>
        </a:graphic>
      </p:graphicFrame>
      <p:grpSp>
        <p:nvGrpSpPr>
          <p:cNvPr id="80" name="그룹 79">
            <a:extLst>
              <a:ext uri="{FF2B5EF4-FFF2-40B4-BE49-F238E27FC236}">
                <a16:creationId xmlns:a16="http://schemas.microsoft.com/office/drawing/2014/main" id="{4EDC7A9A-9A29-272E-74A3-BA6B54BAE5C4}"/>
              </a:ext>
            </a:extLst>
          </p:cNvPr>
          <p:cNvGrpSpPr/>
          <p:nvPr/>
        </p:nvGrpSpPr>
        <p:grpSpPr>
          <a:xfrm>
            <a:off x="2004219" y="6209934"/>
            <a:ext cx="4025354" cy="216024"/>
            <a:chOff x="2992062" y="4869160"/>
            <a:chExt cx="4025354" cy="216024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3E4A3C2C-8B2E-8398-50D5-7471CD4A1B36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40578E49-1040-42A8-DC43-2DBC73D3385B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4E3555DD-5EE4-FD3E-1132-7357A2323132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91673AA7-CC01-8EA4-97D4-C590FDCF6C78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3FF157C-5FE4-5B88-DAEF-DB5B7177E159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53D0D333-FBDC-7743-1A57-F2C390EC9B9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BC1DD70-B742-49D7-DAA1-A741543F4FD0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60DCDC4E-D43F-8180-7112-8AEBD6275C3F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D1E23EA8-807C-19C9-1540-6F397C0BB226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BA0B205A-A652-1B73-F5AA-720B6827F854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53C44D23-5666-3B3E-1EAB-96DA7332098C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000C1A71-4CFD-2905-9DB2-F2F4210C5CD4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5F36B51-F11C-BD7B-1E6B-0FA99E1D95BB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9DA7D7F-834C-CFF6-9E77-766F1678C38A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BA672C00-9A42-081D-86B4-690065A8AFF2}"/>
              </a:ext>
            </a:extLst>
          </p:cNvPr>
          <p:cNvSpPr txBox="1"/>
          <p:nvPr/>
        </p:nvSpPr>
        <p:spPr>
          <a:xfrm>
            <a:off x="2775989" y="4415587"/>
            <a:ext cx="2451527" cy="1615827"/>
          </a:xfrm>
          <a:prstGeom prst="rect">
            <a:avLst/>
          </a:prstGeom>
          <a:solidFill>
            <a:srgbClr val="FFFF00">
              <a:alpha val="69804"/>
            </a:srgbClr>
          </a:solidFill>
        </p:spPr>
        <p:txBody>
          <a:bodyPr wrap="square">
            <a:spAutoFit/>
          </a:bodyPr>
          <a:lstStyle/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공고게시중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게시기간 중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입찰진행중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입찰기간 중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입찰마감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입찰기간 종료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투찰진행중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투찰기간이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별도인 경우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투찰기간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내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투찰마감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투찰기간이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별도인 경우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투찰기간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종료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선정완료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 선정 시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유찰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유찰 처리 시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공고취소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특정 사정에 의해 입찰 취소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7F9CF637-7FCA-2873-70CF-EF0122F62321}"/>
              </a:ext>
            </a:extLst>
          </p:cNvPr>
          <p:cNvSpPr/>
          <p:nvPr/>
        </p:nvSpPr>
        <p:spPr>
          <a:xfrm>
            <a:off x="1818320" y="3410249"/>
            <a:ext cx="587922" cy="2621166"/>
          </a:xfrm>
          <a:prstGeom prst="rect">
            <a:avLst/>
          </a:prstGeom>
          <a:noFill/>
          <a:ln w="31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F8DB5066-A0D7-E87C-A6DA-A8E32DF4B277}"/>
              </a:ext>
            </a:extLst>
          </p:cNvPr>
          <p:cNvCxnSpPr>
            <a:cxnSpLocks/>
            <a:stCxn id="96" idx="3"/>
            <a:endCxn id="95" idx="1"/>
          </p:cNvCxnSpPr>
          <p:nvPr/>
        </p:nvCxnSpPr>
        <p:spPr>
          <a:xfrm>
            <a:off x="2406242" y="4720832"/>
            <a:ext cx="369747" cy="502669"/>
          </a:xfrm>
          <a:prstGeom prst="bentConnector3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타원 97">
            <a:extLst>
              <a:ext uri="{FF2B5EF4-FFF2-40B4-BE49-F238E27FC236}">
                <a16:creationId xmlns:a16="http://schemas.microsoft.com/office/drawing/2014/main" id="{A8B2FF90-32FF-E8AE-1A84-A9071C12951D}"/>
              </a:ext>
            </a:extLst>
          </p:cNvPr>
          <p:cNvSpPr/>
          <p:nvPr/>
        </p:nvSpPr>
        <p:spPr>
          <a:xfrm>
            <a:off x="127837" y="326806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80ABB93-38C6-A09A-A103-21086ED79564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709224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5393A-89CD-20B0-04E3-2F89AD35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7EC77EF-F2F9-A02C-E6E1-809AE09EC2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7F1FC2-0781-23FA-FF93-253EE64DA458}"/>
              </a:ext>
            </a:extLst>
          </p:cNvPr>
          <p:cNvSpPr txBox="1"/>
          <p:nvPr/>
        </p:nvSpPr>
        <p:spPr>
          <a:xfrm>
            <a:off x="749224" y="25608"/>
            <a:ext cx="2621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9AC077-39A6-2AB7-D8A0-DA940A9C264C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A2D239-D72E-E094-B1C1-7C16890D03C3}"/>
              </a:ext>
            </a:extLst>
          </p:cNvPr>
          <p:cNvSpPr/>
          <p:nvPr/>
        </p:nvSpPr>
        <p:spPr>
          <a:xfrm>
            <a:off x="173183" y="687700"/>
            <a:ext cx="7391698" cy="59456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8D8E40-EC5A-AD97-245E-258C5785F7D1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C6311E-1D7C-76C3-50C8-6F9DBEA6D449}"/>
              </a:ext>
            </a:extLst>
          </p:cNvPr>
          <p:cNvSpPr/>
          <p:nvPr/>
        </p:nvSpPr>
        <p:spPr>
          <a:xfrm>
            <a:off x="7452512" y="688542"/>
            <a:ext cx="108012" cy="594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64AB96-EBD1-9AF6-6E95-F75F9247C186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AB1322-BA0F-CF22-A7F4-F4F645CCCB71}"/>
              </a:ext>
            </a:extLst>
          </p:cNvPr>
          <p:cNvSpPr/>
          <p:nvPr/>
        </p:nvSpPr>
        <p:spPr>
          <a:xfrm>
            <a:off x="301563" y="792082"/>
            <a:ext cx="10451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AD0646-9D5C-B368-12C2-9CE5675509E9}"/>
              </a:ext>
            </a:extLst>
          </p:cNvPr>
          <p:cNvSpPr/>
          <p:nvPr/>
        </p:nvSpPr>
        <p:spPr>
          <a:xfrm>
            <a:off x="301563" y="112904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입찰진행사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7EA591-697F-D6D5-48AA-FC7213F7FE78}"/>
              </a:ext>
            </a:extLst>
          </p:cNvPr>
          <p:cNvSpPr/>
          <p:nvPr/>
        </p:nvSpPr>
        <p:spPr>
          <a:xfrm>
            <a:off x="301563" y="231137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진행방법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B5C06A-5F9B-0D88-5C07-86A41C5DFE5F}"/>
              </a:ext>
            </a:extLst>
          </p:cNvPr>
          <p:cNvSpPr/>
          <p:nvPr/>
        </p:nvSpPr>
        <p:spPr>
          <a:xfrm>
            <a:off x="301563" y="373352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보증금률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39DF3E-454B-5B29-9A50-ADC3674CC0AC}"/>
              </a:ext>
            </a:extLst>
          </p:cNvPr>
          <p:cNvSpPr/>
          <p:nvPr/>
        </p:nvSpPr>
        <p:spPr>
          <a:xfrm>
            <a:off x="168335" y="6473146"/>
            <a:ext cx="7279820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96F380F-92F2-4162-0C53-7BD6379F6E2E}"/>
              </a:ext>
            </a:extLst>
          </p:cNvPr>
          <p:cNvGrpSpPr/>
          <p:nvPr/>
        </p:nvGrpSpPr>
        <p:grpSpPr>
          <a:xfrm>
            <a:off x="5781091" y="835105"/>
            <a:ext cx="1505075" cy="215441"/>
            <a:chOff x="5383899" y="1059428"/>
            <a:chExt cx="1902268" cy="21544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DCE8BB2-2927-E9A5-74E3-C36AE6C8ACD5}"/>
                </a:ext>
              </a:extLst>
            </p:cNvPr>
            <p:cNvSpPr/>
            <p:nvPr/>
          </p:nvSpPr>
          <p:spPr>
            <a:xfrm>
              <a:off x="6372455" y="1059428"/>
              <a:ext cx="913712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D7C67DA-A6E4-1B40-53D4-FC3AB9493BC3}"/>
                </a:ext>
              </a:extLst>
            </p:cNvPr>
            <p:cNvSpPr/>
            <p:nvPr/>
          </p:nvSpPr>
          <p:spPr>
            <a:xfrm>
              <a:off x="5383899" y="1059428"/>
              <a:ext cx="913712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인쇄</a:t>
              </a:r>
            </a:p>
          </p:txBody>
        </p:sp>
      </p:grpSp>
      <p:graphicFrame>
        <p:nvGraphicFramePr>
          <p:cNvPr id="31" name="Table 0">
            <a:extLst>
              <a:ext uri="{FF2B5EF4-FFF2-40B4-BE49-F238E27FC236}">
                <a16:creationId xmlns:a16="http://schemas.microsoft.com/office/drawing/2014/main" id="{0BDF3764-D9D2-A236-1B43-F2C24B613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585492"/>
              </p:ext>
            </p:extLst>
          </p:nvPr>
        </p:nvGraphicFramePr>
        <p:xfrm>
          <a:off x="301563" y="1409776"/>
          <a:ext cx="6984603" cy="82296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공고번호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BD2026-0025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상태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입찰공고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입찰담당자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이길수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개찰담당자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박승길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입찰건명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서초동 1601-9 오피스텔 신축공사 중 기계식주차설비공사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" name="Table 1">
            <a:extLst>
              <a:ext uri="{FF2B5EF4-FFF2-40B4-BE49-F238E27FC236}">
                <a16:creationId xmlns:a16="http://schemas.microsoft.com/office/drawing/2014/main" id="{E1B96BA0-F9CD-AD3E-00DA-38490EB86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137200"/>
              </p:ext>
            </p:extLst>
          </p:nvPr>
        </p:nvGraphicFramePr>
        <p:xfrm>
          <a:off x="301563" y="2570383"/>
          <a:ext cx="6984603" cy="109728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구분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계약방법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경쟁입찰(일반)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낙찰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자 선정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방법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제한적</a:t>
                      </a: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최저가</a:t>
                      </a: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수행기간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2026-08-20 ~ 2027-06-30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수행기간(일수)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314 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납품장소(현장)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현장 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2">
            <a:extLst>
              <a:ext uri="{FF2B5EF4-FFF2-40B4-BE49-F238E27FC236}">
                <a16:creationId xmlns:a16="http://schemas.microsoft.com/office/drawing/2014/main" id="{95BADCA6-F41D-03E0-35E7-3B3EBE465152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4004036"/>
          <a:ext cx="6984603" cy="54864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5 %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계약이행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10 %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하자이행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3 %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하자이행 기간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3 (년)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F9A392B9-65E7-F0BD-82E1-78759139BA9D}"/>
              </a:ext>
            </a:extLst>
          </p:cNvPr>
          <p:cNvSpPr/>
          <p:nvPr/>
        </p:nvSpPr>
        <p:spPr>
          <a:xfrm>
            <a:off x="301563" y="4632884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일정계획</a:t>
            </a:r>
          </a:p>
        </p:txBody>
      </p:sp>
      <p:graphicFrame>
        <p:nvGraphicFramePr>
          <p:cNvPr id="80" name="Table 3">
            <a:extLst>
              <a:ext uri="{FF2B5EF4-FFF2-40B4-BE49-F238E27FC236}">
                <a16:creationId xmlns:a16="http://schemas.microsoft.com/office/drawing/2014/main" id="{9412833D-C3D2-AE3F-C760-553159C16DF5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4924004"/>
          <a:ext cx="6984603" cy="109728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 시작일시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2026-08-04 16:00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공급업체 등록마감일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2026-08-10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현장설명회(일시 / 장소)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입찰참가 신청마감일시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2026-08-11 16:00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 마감일시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제안발표(일시 / 장소)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850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1F70-9AFE-84F9-36C9-AF39108B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880170E-A797-6493-D8FE-90FE92E5C8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5DC07-A7E2-65A8-235F-054F41F2902F}"/>
              </a:ext>
            </a:extLst>
          </p:cNvPr>
          <p:cNvSpPr txBox="1"/>
          <p:nvPr/>
        </p:nvSpPr>
        <p:spPr>
          <a:xfrm>
            <a:off x="749224" y="25608"/>
            <a:ext cx="2621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B7F223-E7C6-32BB-9062-0001C90515BC}"/>
              </a:ext>
            </a:extLst>
          </p:cNvPr>
          <p:cNvSpPr/>
          <p:nvPr/>
        </p:nvSpPr>
        <p:spPr>
          <a:xfrm>
            <a:off x="173183" y="404664"/>
            <a:ext cx="7391698" cy="42124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36457E-E901-812B-AD57-98D38183B397}"/>
              </a:ext>
            </a:extLst>
          </p:cNvPr>
          <p:cNvSpPr/>
          <p:nvPr/>
        </p:nvSpPr>
        <p:spPr>
          <a:xfrm>
            <a:off x="7452512" y="405548"/>
            <a:ext cx="108012" cy="42118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D809C9-2988-5C5C-B50E-4CC80D27E68D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6BC789-D6BC-269D-DAF4-1D25BAA69852}"/>
              </a:ext>
            </a:extLst>
          </p:cNvPr>
          <p:cNvSpPr/>
          <p:nvPr/>
        </p:nvSpPr>
        <p:spPr>
          <a:xfrm>
            <a:off x="301563" y="54868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입찰업체 전달내역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6D0505-1181-E789-A7DB-389D29ECADF7}"/>
              </a:ext>
            </a:extLst>
          </p:cNvPr>
          <p:cNvSpPr/>
          <p:nvPr/>
        </p:nvSpPr>
        <p:spPr>
          <a:xfrm>
            <a:off x="301563" y="269792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품목</a:t>
            </a:r>
          </a:p>
        </p:txBody>
      </p:sp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4A7B796A-478D-D711-786C-35CD1657777C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853864"/>
          <a:ext cx="6984603" cy="160020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업체 자격요건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승강기·삭도공사업 면허 보유업체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참여신청 제출서류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1. 입찰참가신청서.hwp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 제출서류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2. 입찰보증금지급각서.hwp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전달사항(비고)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입찰공고문의 입찰 참가자격, 참가신청 및 낙찰자 결정방법을 숙지하여 주시기 바랍니다.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입찰업체 배포서류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(제출서류 양식 외)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00. 입찰공고문_재공고(서초동 1601-9 오피스텔 신축공사 중 기계식주차설비공사).pdf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1699D60B-AEED-9E5A-8A5B-5CC4319B4F82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2969121"/>
          <a:ext cx="6984603" cy="960120"/>
        </p:xfrm>
        <a:graphic>
          <a:graphicData uri="http://schemas.openxmlformats.org/drawingml/2006/table">
            <a:tbl>
              <a:tblPr/>
              <a:tblGrid>
                <a:gridCol w="179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8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품목명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규격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단위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수량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비고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서초동 1601-9 오피스텔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신축공사 중 기계식주차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설치공사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식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0F1CFE-CC39-36CB-3309-5A96C5AA8C56}"/>
              </a:ext>
            </a:extLst>
          </p:cNvPr>
          <p:cNvSpPr/>
          <p:nvPr/>
        </p:nvSpPr>
        <p:spPr>
          <a:xfrm>
            <a:off x="6591183" y="4021158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</p:spTree>
    <p:extLst>
      <p:ext uri="{BB962C8B-B14F-4D97-AF65-F5344CB8AC3E}">
        <p14:creationId xmlns:p14="http://schemas.microsoft.com/office/powerpoint/2010/main" val="2372930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E1742-C215-09E1-3798-1131F685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F5562C6-132F-0ADF-76F7-C335BB18A95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D43A5E-3FE5-9072-5879-5F2E72B3A8F2}"/>
              </a:ext>
            </a:extLst>
          </p:cNvPr>
          <p:cNvSpPr txBox="1"/>
          <p:nvPr/>
        </p:nvSpPr>
        <p:spPr>
          <a:xfrm>
            <a:off x="749224" y="25608"/>
            <a:ext cx="2226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8D879-CD33-8150-EC80-A5F40BBB1AE2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088A45-C330-775A-D55F-E1DFE3738356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DAE859A-3899-5629-C90D-ADA968D5776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BFEBE57-3C56-9037-C893-CB9DD54BF06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FDA7AC-8F73-EBD4-C660-A9E4B91FA28A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09B80C-5F7D-2216-AF03-AD90B800866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4CA93B-49F3-1D6F-4AE5-0CC1E7501CF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0" name="Picture 1">
            <a:extLst>
              <a:ext uri="{FF2B5EF4-FFF2-40B4-BE49-F238E27FC236}">
                <a16:creationId xmlns:a16="http://schemas.microsoft.com/office/drawing/2014/main" id="{D1289A8A-53DC-548F-58CD-2774FC935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1BC13A-554B-6FE8-75D2-D04C2311F0CD}"/>
              </a:ext>
            </a:extLst>
          </p:cNvPr>
          <p:cNvSpPr/>
          <p:nvPr/>
        </p:nvSpPr>
        <p:spPr>
          <a:xfrm>
            <a:off x="183392" y="159279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기본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99F46E8-2019-E671-B1D6-2BACF698E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694570"/>
              </p:ext>
            </p:extLst>
          </p:nvPr>
        </p:nvGraphicFramePr>
        <p:xfrm>
          <a:off x="164467" y="1865091"/>
          <a:ext cx="7740859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4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습식공사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2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0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습식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석공사업 보유업체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57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778303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EA99BF-E3D0-CC96-FA8E-1715CAED2FA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C2EAE8-289A-A310-18C8-1540020D6FA6}"/>
              </a:ext>
            </a:extLst>
          </p:cNvPr>
          <p:cNvSpPr/>
          <p:nvPr/>
        </p:nvSpPr>
        <p:spPr>
          <a:xfrm>
            <a:off x="183392" y="4989883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23A1072-472D-32DA-B5BB-14DC2B64C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30413"/>
              </p:ext>
            </p:extLst>
          </p:nvPr>
        </p:nvGraphicFramePr>
        <p:xfrm>
          <a:off x="164467" y="5283618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 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26F1230-D9B6-3B5A-BFB2-7BA6DED497C3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87591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98148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65709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4413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965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3157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4878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08025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67A8DF1-41E8-1E98-5343-5359241B5922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2571097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D84C-8EB8-1B0B-DDA5-904B8C3F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C3972E-7E05-F40C-CC72-030211265F8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B59EAB-61C1-DE20-AC33-923A724884DD}"/>
              </a:ext>
            </a:extLst>
          </p:cNvPr>
          <p:cNvSpPr txBox="1"/>
          <p:nvPr/>
        </p:nvSpPr>
        <p:spPr>
          <a:xfrm>
            <a:off x="749224" y="25608"/>
            <a:ext cx="2190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EFCD5-2EBE-D978-35EE-FB0220859B24}"/>
              </a:ext>
            </a:extLst>
          </p:cNvPr>
          <p:cNvSpPr txBox="1"/>
          <p:nvPr/>
        </p:nvSpPr>
        <p:spPr>
          <a:xfrm>
            <a:off x="8049344" y="1409903"/>
            <a:ext cx="1856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현장설명회가 있는 경우에만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‘제한적 최저가 입찰’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‘2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입력되는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정보이며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경우에만 노출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19861A4-6201-E566-628B-95E74E0B14E6}"/>
              </a:ext>
            </a:extLst>
          </p:cNvPr>
          <p:cNvSpPr/>
          <p:nvPr/>
        </p:nvSpPr>
        <p:spPr>
          <a:xfrm>
            <a:off x="183392" y="36254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FE93A4E3-0580-7E78-78C3-F1562F0BB32B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634936"/>
          <a:ext cx="9358510" cy="67584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66062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6149AADF-D131-1077-F4B9-D1A5707E240A}"/>
              </a:ext>
            </a:extLst>
          </p:cNvPr>
          <p:cNvSpPr/>
          <p:nvPr/>
        </p:nvSpPr>
        <p:spPr>
          <a:xfrm>
            <a:off x="183392" y="146509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상세정보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3FE2D87-2A9F-8FDE-6E67-4F8CB1B001C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763271"/>
          <a:ext cx="774085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시작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마감일시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2026.07.31 09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~ 2026.08.15 18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입찰공고 게시기간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2026.07.28 09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2026.08.15 18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현장설명회 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현장설명회 없음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 2026.08.05 16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 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현장설명회 일시는 사정에 의해 변경될 수 있습니다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시 통보 드립니다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892629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761480BB-7920-DB00-D92E-87B89BBB9972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768405"/>
          <a:ext cx="7776865" cy="27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입찰공고문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입찰참가신청서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35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입찰보증금지급각서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165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시방서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구매견적서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3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기타서류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389591"/>
                  </a:ext>
                </a:extLst>
              </a:tr>
            </a:tbl>
          </a:graphicData>
        </a:graphic>
      </p:graphicFrame>
      <p:grpSp>
        <p:nvGrpSpPr>
          <p:cNvPr id="38" name="그룹 37">
            <a:extLst>
              <a:ext uri="{FF2B5EF4-FFF2-40B4-BE49-F238E27FC236}">
                <a16:creationId xmlns:a16="http://schemas.microsoft.com/office/drawing/2014/main" id="{A6CCE060-FBE4-7EEF-42AB-EAE07A5544C2}"/>
              </a:ext>
            </a:extLst>
          </p:cNvPr>
          <p:cNvGrpSpPr/>
          <p:nvPr/>
        </p:nvGrpSpPr>
        <p:grpSpPr>
          <a:xfrm>
            <a:off x="2777097" y="2829072"/>
            <a:ext cx="1275802" cy="198885"/>
            <a:chOff x="2576736" y="3905324"/>
            <a:chExt cx="1275802" cy="19888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C42F4D5-2CBF-14AA-FC7E-BACF174C4D4B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A01E95A-5C31-6D56-E08A-B620CF1D065B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E2231B1-97D3-98F6-F494-12C1B0F0F22A}"/>
              </a:ext>
            </a:extLst>
          </p:cNvPr>
          <p:cNvGrpSpPr/>
          <p:nvPr/>
        </p:nvGrpSpPr>
        <p:grpSpPr>
          <a:xfrm>
            <a:off x="2777097" y="3779196"/>
            <a:ext cx="1275802" cy="198885"/>
            <a:chOff x="2576736" y="3905324"/>
            <a:chExt cx="1275802" cy="198885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1E6A163-D841-E431-17CC-B274E1B1C564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5C48C6F-510E-6A1D-F232-FA4649386C9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30FBE15-44CE-6E1A-391B-408A9694BD9F}"/>
              </a:ext>
            </a:extLst>
          </p:cNvPr>
          <p:cNvGrpSpPr/>
          <p:nvPr/>
        </p:nvGrpSpPr>
        <p:grpSpPr>
          <a:xfrm>
            <a:off x="2777097" y="4133830"/>
            <a:ext cx="1275802" cy="198885"/>
            <a:chOff x="2576736" y="3905324"/>
            <a:chExt cx="1275802" cy="198885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C284337-E339-3F6F-60FC-EA8682707067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B58D981-3F10-1C26-650F-CA8523AA0869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A856034-23D5-EDC1-1589-75D712FBADD8}"/>
              </a:ext>
            </a:extLst>
          </p:cNvPr>
          <p:cNvGrpSpPr/>
          <p:nvPr/>
        </p:nvGrpSpPr>
        <p:grpSpPr>
          <a:xfrm>
            <a:off x="2777097" y="4382356"/>
            <a:ext cx="1275802" cy="198885"/>
            <a:chOff x="2576736" y="3905324"/>
            <a:chExt cx="1275802" cy="198885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09900ED-A591-8460-0FEF-C15621855B7A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EDED092-7938-2628-02F4-B171D0D200F4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D01F36F-E3F0-65AF-B06D-0698405275BE}"/>
              </a:ext>
            </a:extLst>
          </p:cNvPr>
          <p:cNvGrpSpPr/>
          <p:nvPr/>
        </p:nvGrpSpPr>
        <p:grpSpPr>
          <a:xfrm>
            <a:off x="2777097" y="4645526"/>
            <a:ext cx="1275802" cy="198885"/>
            <a:chOff x="2576736" y="3905324"/>
            <a:chExt cx="1275802" cy="198885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0D20CA2A-7D44-DEE1-DFEB-2099E8C21EDB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013B305C-E1BC-D998-6EE3-18F3771304B8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59329E7-0C46-BD58-247D-11E4575FFAA0}"/>
              </a:ext>
            </a:extLst>
          </p:cNvPr>
          <p:cNvGrpSpPr/>
          <p:nvPr/>
        </p:nvGrpSpPr>
        <p:grpSpPr>
          <a:xfrm>
            <a:off x="2777097" y="4949794"/>
            <a:ext cx="1275802" cy="198885"/>
            <a:chOff x="2576736" y="3905324"/>
            <a:chExt cx="1275802" cy="19888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A7D956D-5EF4-9D0A-97F0-AB7B8B99D7C4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1EFC27B8-9476-AF4F-95DF-6476A1496FC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F249DD2-D57F-6E71-3E6C-D32AB356A99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86E5EC1-9BF8-BB34-97AB-6375859A33E1}"/>
              </a:ext>
            </a:extLst>
          </p:cNvPr>
          <p:cNvSpPr/>
          <p:nvPr/>
        </p:nvSpPr>
        <p:spPr>
          <a:xfrm>
            <a:off x="75380" y="230612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3EED040-AD6A-4C5B-2600-4836819B45F0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5935396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8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1608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가격투찰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기간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낙찰자 선정방법이 ‘제한적 최저가 입찰’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‘2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)’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 경우 규격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심사 결과에 따라 별도의 가격 </a:t>
                      </a:r>
                      <a:r>
                        <a:rPr lang="ko-KR" altLang="en-US" sz="800" b="0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투찰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기간을 안내해드립니다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202382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2316A263-689E-CDBE-58CE-F6293B00F970}"/>
              </a:ext>
            </a:extLst>
          </p:cNvPr>
          <p:cNvSpPr/>
          <p:nvPr/>
        </p:nvSpPr>
        <p:spPr>
          <a:xfrm>
            <a:off x="75380" y="544503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527A46-0021-BF1C-1292-78B32E9C287B}"/>
              </a:ext>
            </a:extLst>
          </p:cNvPr>
          <p:cNvSpPr/>
          <p:nvPr/>
        </p:nvSpPr>
        <p:spPr>
          <a:xfrm>
            <a:off x="183392" y="564542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투찰기간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4029538-1A38-F3F5-3593-BCFCC4CE9D6B}"/>
              </a:ext>
            </a:extLst>
          </p:cNvPr>
          <p:cNvGrpSpPr/>
          <p:nvPr/>
        </p:nvGrpSpPr>
        <p:grpSpPr>
          <a:xfrm>
            <a:off x="2777097" y="3077260"/>
            <a:ext cx="1275802" cy="198885"/>
            <a:chOff x="2576736" y="3905324"/>
            <a:chExt cx="1275802" cy="19888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07471EA-4C0D-2F6D-1A95-8F0C297A3633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3D73D9C-DFE8-FE81-B0C4-3BC1142628AC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7E80227-2D2C-82BE-0C5D-C9262D447DF4}"/>
              </a:ext>
            </a:extLst>
          </p:cNvPr>
          <p:cNvGrpSpPr/>
          <p:nvPr/>
        </p:nvGrpSpPr>
        <p:grpSpPr>
          <a:xfrm>
            <a:off x="2777097" y="3414769"/>
            <a:ext cx="1275802" cy="198885"/>
            <a:chOff x="2576736" y="3905324"/>
            <a:chExt cx="1275802" cy="19888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6556F0C-8801-CD21-B72D-44C13F1CBF65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BBD4D8D-37E5-4620-C932-C8D77E7E26EB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E5051EC-030E-0546-538C-D2A7E168F2CB}"/>
              </a:ext>
            </a:extLst>
          </p:cNvPr>
          <p:cNvGrpSpPr/>
          <p:nvPr/>
        </p:nvGrpSpPr>
        <p:grpSpPr>
          <a:xfrm>
            <a:off x="2777097" y="5207441"/>
            <a:ext cx="1275802" cy="198885"/>
            <a:chOff x="2576736" y="3905324"/>
            <a:chExt cx="1275802" cy="19888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A68B4C2-9480-98EA-B695-32616E44130E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C28C135-7EC7-2944-3FB6-8B1E4EB009DE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1597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4B30-D77B-645B-079E-099EAF519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86629CD-159D-36A0-2CD6-960CEE5610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961932-979A-31F0-E313-909F7F81A614}"/>
              </a:ext>
            </a:extLst>
          </p:cNvPr>
          <p:cNvSpPr txBox="1"/>
          <p:nvPr/>
        </p:nvSpPr>
        <p:spPr>
          <a:xfrm>
            <a:off x="749224" y="25608"/>
            <a:ext cx="2190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BEDE0-A485-B381-8063-F3E18D2FEDF1}"/>
              </a:ext>
            </a:extLst>
          </p:cNvPr>
          <p:cNvSpPr txBox="1"/>
          <p:nvPr/>
        </p:nvSpPr>
        <p:spPr>
          <a:xfrm>
            <a:off x="8049344" y="576120"/>
            <a:ext cx="1856656" cy="5250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‘제한적 최저가 입찰’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)’, ‘2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)’,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적격심사’의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경우에만 등록될 수 있으며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경우에만 등록된 항목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등록될 수 있으며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경우에만 등록된 항목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등록될 수 있으며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경우에만 등록된 항목 노출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무조건 제안발표를 하는 것은 아님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자가심사가 있건 없건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항목을 모두 보여줌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‘제한적 최저가’, ‘2단계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)’, ‘2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)’,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적격심사’의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경우에만 등록될 수 있으며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경우에만 등록된 항목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DA5785D-C9A0-79E8-9A86-48A613820965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80EDAA5-2156-9FBF-E873-02C5B23D3F3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979211"/>
          <a:ext cx="7740859" cy="8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종합평가 비율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80%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가격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20%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 전달사항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시 등록해야 하는 서류를 꼼꼼히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읽어보시고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빠짐없이 등록해주세요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0BD59B-17E2-8C52-1B94-43C97C9F9E04}"/>
              </a:ext>
            </a:extLst>
          </p:cNvPr>
          <p:cNvSpPr/>
          <p:nvPr/>
        </p:nvSpPr>
        <p:spPr>
          <a:xfrm>
            <a:off x="183392" y="363619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2B41571-67AE-A944-2233-CC1BD508D2E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48202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동점자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처리기준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</a:tbl>
          </a:graphicData>
        </a:graphic>
      </p:graphicFrame>
      <p:sp>
        <p:nvSpPr>
          <p:cNvPr id="17" name="타원 16">
            <a:extLst>
              <a:ext uri="{FF2B5EF4-FFF2-40B4-BE49-F238E27FC236}">
                <a16:creationId xmlns:a16="http://schemas.microsoft.com/office/drawing/2014/main" id="{9034B584-BAC8-E283-79CE-0128EBB12B2B}"/>
              </a:ext>
            </a:extLst>
          </p:cNvPr>
          <p:cNvSpPr/>
          <p:nvPr/>
        </p:nvSpPr>
        <p:spPr>
          <a:xfrm>
            <a:off x="75380" y="22314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AC5E220-A0EA-1976-4C47-B12E57299B3E}"/>
              </a:ext>
            </a:extLst>
          </p:cNvPr>
          <p:cNvSpPr/>
          <p:nvPr/>
        </p:nvSpPr>
        <p:spPr>
          <a:xfrm>
            <a:off x="1398982" y="91133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C3DAA5-6B81-5610-D210-4A392D6B4576}"/>
              </a:ext>
            </a:extLst>
          </p:cNvPr>
          <p:cNvSpPr/>
          <p:nvPr/>
        </p:nvSpPr>
        <p:spPr>
          <a:xfrm>
            <a:off x="183392" y="1955325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제안발표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0CE298D-5A43-A384-98A0-8C2BD98B0D2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218994"/>
          <a:ext cx="7740859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7270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협상에 의한 계약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협상에 의한 계약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185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제안발표 진행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2026.08.31 16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부터 진행  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제안발표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일시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장소는 사정에 의해 변경될 수 있습니다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시 통보 드립니다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2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전기회관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대회의실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57527"/>
                  </a:ext>
                </a:extLst>
              </a:tr>
            </a:tbl>
          </a:graphicData>
        </a:graphic>
      </p:graphicFrame>
      <p:sp>
        <p:nvSpPr>
          <p:cNvPr id="31" name="타원 30">
            <a:extLst>
              <a:ext uri="{FF2B5EF4-FFF2-40B4-BE49-F238E27FC236}">
                <a16:creationId xmlns:a16="http://schemas.microsoft.com/office/drawing/2014/main" id="{681743D2-5C21-C98A-0BC9-4126966B68C9}"/>
              </a:ext>
            </a:extLst>
          </p:cNvPr>
          <p:cNvSpPr/>
          <p:nvPr/>
        </p:nvSpPr>
        <p:spPr>
          <a:xfrm>
            <a:off x="75380" y="177385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09C4E54-6A48-D0F6-8306-6434C02D379D}"/>
              </a:ext>
            </a:extLst>
          </p:cNvPr>
          <p:cNvSpPr/>
          <p:nvPr/>
        </p:nvSpPr>
        <p:spPr>
          <a:xfrm>
            <a:off x="183392" y="3658807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37C221F1-BFB5-C858-8444-00182BE88252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3911883"/>
          <a:ext cx="7713521" cy="1013760"/>
        </p:xfrm>
        <a:graphic>
          <a:graphicData uri="http://schemas.openxmlformats.org/drawingml/2006/table">
            <a:tbl>
              <a:tblPr firstRow="1" bandRow="1"/>
              <a:tblGrid>
                <a:gridCol w="61156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05497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241324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807223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항목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배점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자가심사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시공경험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일반공사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C287D81A-B54E-0808-5D34-6B812A486A06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4912439"/>
          <a:ext cx="7713521" cy="675840"/>
        </p:xfrm>
        <a:graphic>
          <a:graphicData uri="http://schemas.openxmlformats.org/drawingml/2006/table">
            <a:tbl>
              <a:tblPr firstRow="1" bandRow="1"/>
              <a:tblGrid>
                <a:gridCol w="61156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05497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241324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807223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정성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 평가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배점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65154"/>
                  </a:ext>
                </a:extLst>
              </a:tr>
            </a:tbl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156B192F-C31F-8B48-4544-29C1BDB152AB}"/>
              </a:ext>
            </a:extLst>
          </p:cNvPr>
          <p:cNvSpPr/>
          <p:nvPr/>
        </p:nvSpPr>
        <p:spPr>
          <a:xfrm>
            <a:off x="75380" y="383214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2293F1F9-4D82-4365-95F8-281ED81903F5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5699862"/>
          <a:ext cx="7710148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140">
                  <a:extLst>
                    <a:ext uri="{9D8B030D-6E8A-4147-A177-3AD203B41FA5}">
                      <a16:colId xmlns:a16="http://schemas.microsoft.com/office/drawing/2014/main" val="477224945"/>
                    </a:ext>
                  </a:extLst>
                </a:gridCol>
                <a:gridCol w="6112008">
                  <a:extLst>
                    <a:ext uri="{9D8B030D-6E8A-4147-A177-3AD203B41FA5}">
                      <a16:colId xmlns:a16="http://schemas.microsoft.com/office/drawing/2014/main" val="347871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최저점수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적격여부 판단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719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심사기준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배점 및 평가기준 등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533698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38BC310B-65C9-77EC-AEFD-3E14D5DEC4CB}"/>
              </a:ext>
            </a:extLst>
          </p:cNvPr>
          <p:cNvSpPr/>
          <p:nvPr/>
        </p:nvSpPr>
        <p:spPr>
          <a:xfrm>
            <a:off x="2767183" y="610819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D6125BF-EBFB-EA1F-56D3-F7A13B8EAA3E}"/>
              </a:ext>
            </a:extLst>
          </p:cNvPr>
          <p:cNvSpPr/>
          <p:nvPr/>
        </p:nvSpPr>
        <p:spPr>
          <a:xfrm>
            <a:off x="3430020" y="610819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E1FDDF8-F80C-C712-6ED0-91A99E1D528E}"/>
              </a:ext>
            </a:extLst>
          </p:cNvPr>
          <p:cNvSpPr/>
          <p:nvPr/>
        </p:nvSpPr>
        <p:spPr>
          <a:xfrm>
            <a:off x="75380" y="561760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6667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BD34E-EF82-B0A7-3390-B802B295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9587D6E-D14C-34EF-7E1D-669406738A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D125E9-4433-065A-A2FB-A6573C798EAF}"/>
              </a:ext>
            </a:extLst>
          </p:cNvPr>
          <p:cNvSpPr txBox="1"/>
          <p:nvPr/>
        </p:nvSpPr>
        <p:spPr>
          <a:xfrm>
            <a:off x="749224" y="25608"/>
            <a:ext cx="2190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4C95FD-31C5-C66A-F11D-38F39E8EF93B}"/>
              </a:ext>
            </a:extLst>
          </p:cNvPr>
          <p:cNvSpPr txBox="1"/>
          <p:nvPr/>
        </p:nvSpPr>
        <p:spPr>
          <a:xfrm>
            <a:off x="8049344" y="584684"/>
            <a:ext cx="185665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화면으로 이동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‘경쟁입찰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지명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인 경우 입찰계획 수립 당시 등록된 협력업체만 입찰이 가능함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위해서는 반드시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 먼저 제출되어야 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가격투찰이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동시에 진행되지 않는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노출되는 팝업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별도로 설정된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기간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에만 접근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30BD97-AE15-D20A-E077-262048C270D0}"/>
              </a:ext>
            </a:extLst>
          </p:cNvPr>
          <p:cNvSpPr/>
          <p:nvPr/>
        </p:nvSpPr>
        <p:spPr>
          <a:xfrm>
            <a:off x="0" y="6678707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536F9B6-C1C3-C3EE-E32D-E9467A79BDC3}"/>
              </a:ext>
            </a:extLst>
          </p:cNvPr>
          <p:cNvGraphicFramePr>
            <a:graphicFrameLocks noGrp="1"/>
          </p:cNvGraphicFramePr>
          <p:nvPr/>
        </p:nvGraphicFramePr>
        <p:xfrm>
          <a:off x="171330" y="1330232"/>
          <a:ext cx="7733995" cy="675840"/>
        </p:xfrm>
        <a:graphic>
          <a:graphicData uri="http://schemas.openxmlformats.org/drawingml/2006/table">
            <a:tbl>
              <a:tblPr firstRow="1" bandRow="1"/>
              <a:tblGrid>
                <a:gridCol w="35445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4454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3498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 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7013EF0-97C9-A5BD-2823-181E3D2B539E}"/>
              </a:ext>
            </a:extLst>
          </p:cNvPr>
          <p:cNvGraphicFramePr>
            <a:graphicFrameLocks noGrp="1"/>
          </p:cNvGraphicFramePr>
          <p:nvPr/>
        </p:nvGraphicFramePr>
        <p:xfrm>
          <a:off x="171331" y="2000102"/>
          <a:ext cx="7733995" cy="675840"/>
        </p:xfrm>
        <a:graphic>
          <a:graphicData uri="http://schemas.openxmlformats.org/drawingml/2006/table">
            <a:tbl>
              <a:tblPr firstRow="1" bandRow="1"/>
              <a:tblGrid>
                <a:gridCol w="35445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4454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3498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제안서를 첨부해주세요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되도록 하나의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파일로 합쳐서 첨부해주세요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44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85494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01F24B-3521-7AED-94C7-B21832470D96}"/>
              </a:ext>
            </a:extLst>
          </p:cNvPr>
          <p:cNvSpPr/>
          <p:nvPr/>
        </p:nvSpPr>
        <p:spPr>
          <a:xfrm>
            <a:off x="164467" y="2764257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C50B40-27A9-835A-1A00-1B68DCC530C1}"/>
              </a:ext>
            </a:extLst>
          </p:cNvPr>
          <p:cNvSpPr/>
          <p:nvPr/>
        </p:nvSpPr>
        <p:spPr>
          <a:xfrm>
            <a:off x="6792952" y="2764257"/>
            <a:ext cx="111237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투찰하기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3DAC9C-ED99-2269-8E94-B9DCF2D500CF}"/>
              </a:ext>
            </a:extLst>
          </p:cNvPr>
          <p:cNvSpPr/>
          <p:nvPr/>
        </p:nvSpPr>
        <p:spPr>
          <a:xfrm>
            <a:off x="5393674" y="2764257"/>
            <a:ext cx="1335895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제출하기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F1A4670-43FA-8489-640B-35EAC2E0F535}"/>
              </a:ext>
            </a:extLst>
          </p:cNvPr>
          <p:cNvSpPr/>
          <p:nvPr/>
        </p:nvSpPr>
        <p:spPr>
          <a:xfrm>
            <a:off x="3864254" y="4473001"/>
            <a:ext cx="4329106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F574FEE-8156-7F73-AA1D-C1F98ADDC5F4}"/>
              </a:ext>
            </a:extLst>
          </p:cNvPr>
          <p:cNvSpPr/>
          <p:nvPr/>
        </p:nvSpPr>
        <p:spPr>
          <a:xfrm>
            <a:off x="3864254" y="4745914"/>
            <a:ext cx="4329106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C06FF2-9DD9-796B-C0D0-4136162BEF74}"/>
              </a:ext>
            </a:extLst>
          </p:cNvPr>
          <p:cNvSpPr/>
          <p:nvPr/>
        </p:nvSpPr>
        <p:spPr>
          <a:xfrm>
            <a:off x="7923360" y="4473001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188245-B4E4-1B3F-DD6E-3EFC4643AD41}"/>
              </a:ext>
            </a:extLst>
          </p:cNvPr>
          <p:cNvSpPr/>
          <p:nvPr/>
        </p:nvSpPr>
        <p:spPr>
          <a:xfrm>
            <a:off x="3972033" y="5159300"/>
            <a:ext cx="4068685" cy="976609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낙찰자 선정방법이 ‘제한적 최저가’, ‘2단계 경쟁입찰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규격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분리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)’, ‘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적격심사’의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경우에는 우선 입찰 서류 제출만으로 입찰 참여가 완료됩니다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서류를 통한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규격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기술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심사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진행됩니다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 후 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시점에 별도 통보 드립니다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31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77B1AE81-E578-F54E-3A8D-B1FE088A2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155" y="536238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721E252A-29D9-E11E-56D8-5BFE91A6EBFC}"/>
              </a:ext>
            </a:extLst>
          </p:cNvPr>
          <p:cNvSpPr/>
          <p:nvPr/>
        </p:nvSpPr>
        <p:spPr>
          <a:xfrm>
            <a:off x="7341300" y="6209432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2BC78F9-B092-4547-5D26-6C0F159840D2}"/>
              </a:ext>
            </a:extLst>
          </p:cNvPr>
          <p:cNvSpPr/>
          <p:nvPr/>
        </p:nvSpPr>
        <p:spPr>
          <a:xfrm>
            <a:off x="3995474" y="4842302"/>
            <a:ext cx="12583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7BC519FE-0712-600D-6288-FDE1AA9441B9}"/>
              </a:ext>
            </a:extLst>
          </p:cNvPr>
          <p:cNvCxnSpPr>
            <a:cxnSpLocks/>
            <a:stCxn id="22" idx="3"/>
            <a:endCxn id="27" idx="3"/>
          </p:cNvCxnSpPr>
          <p:nvPr/>
        </p:nvCxnSpPr>
        <p:spPr>
          <a:xfrm>
            <a:off x="7905326" y="2908273"/>
            <a:ext cx="288034" cy="2763360"/>
          </a:xfrm>
          <a:prstGeom prst="bentConnector3">
            <a:avLst>
              <a:gd name="adj1" fmla="val 179366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B6FE9C1-D4D9-DA63-CF2C-7D06939C155B}"/>
              </a:ext>
            </a:extLst>
          </p:cNvPr>
          <p:cNvSpPr/>
          <p:nvPr/>
        </p:nvSpPr>
        <p:spPr>
          <a:xfrm>
            <a:off x="183392" y="36866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9DE3C66A-8641-9536-AD2D-0E9D428DFD8A}"/>
              </a:ext>
            </a:extLst>
          </p:cNvPr>
          <p:cNvGraphicFramePr>
            <a:graphicFrameLocks noGrp="1"/>
          </p:cNvGraphicFramePr>
          <p:nvPr/>
        </p:nvGraphicFramePr>
        <p:xfrm>
          <a:off x="171330" y="670944"/>
          <a:ext cx="7733995" cy="675840"/>
        </p:xfrm>
        <a:graphic>
          <a:graphicData uri="http://schemas.openxmlformats.org/drawingml/2006/table">
            <a:tbl>
              <a:tblPr firstRow="1" bandRow="1"/>
              <a:tblGrid>
                <a:gridCol w="35445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4454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3498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입찰참가신청서는 반드시 날인이 되어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날인이 빠진 경우 미입찰로 처리됩니다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AB503503-975C-6262-900D-4B240C9E9C50}"/>
              </a:ext>
            </a:extLst>
          </p:cNvPr>
          <p:cNvSpPr/>
          <p:nvPr/>
        </p:nvSpPr>
        <p:spPr>
          <a:xfrm>
            <a:off x="5285662" y="26766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6475C3D-6666-D34D-17E9-9D05E6A0AF64}"/>
              </a:ext>
            </a:extLst>
          </p:cNvPr>
          <p:cNvSpPr/>
          <p:nvPr/>
        </p:nvSpPr>
        <p:spPr>
          <a:xfrm>
            <a:off x="3817155" y="437368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7E79496-7768-DA97-E1CD-DBFDAA52CB9F}"/>
              </a:ext>
            </a:extLst>
          </p:cNvPr>
          <p:cNvSpPr/>
          <p:nvPr/>
        </p:nvSpPr>
        <p:spPr>
          <a:xfrm>
            <a:off x="1470251" y="2340663"/>
            <a:ext cx="363617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제한 안내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D16A7A1-8E1D-024E-2AC0-DF1865241FB0}"/>
              </a:ext>
            </a:extLst>
          </p:cNvPr>
          <p:cNvSpPr/>
          <p:nvPr/>
        </p:nvSpPr>
        <p:spPr>
          <a:xfrm>
            <a:off x="1470251" y="2613576"/>
            <a:ext cx="3636171" cy="166326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F4E3BE7-528F-C469-CFD5-A74ED8FD55EE}"/>
              </a:ext>
            </a:extLst>
          </p:cNvPr>
          <p:cNvSpPr/>
          <p:nvPr/>
        </p:nvSpPr>
        <p:spPr>
          <a:xfrm>
            <a:off x="4833044" y="234066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9674432-996C-417F-1F27-C14EB173B36D}"/>
              </a:ext>
            </a:extLst>
          </p:cNvPr>
          <p:cNvSpPr/>
          <p:nvPr/>
        </p:nvSpPr>
        <p:spPr>
          <a:xfrm>
            <a:off x="1578030" y="3026963"/>
            <a:ext cx="3369267" cy="773524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입찰은 계약방법이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경쟁입찰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지명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)’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건으로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제한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지명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된 업체만 입찰이 가능합니다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참여가 가능한 업체만 참여할 수 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4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44BB9BF3-35E4-FFCE-C75A-90541A386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152" y="3128505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1251F99D-D2FA-8C7A-8360-E95B1BA9E702}"/>
              </a:ext>
            </a:extLst>
          </p:cNvPr>
          <p:cNvSpPr/>
          <p:nvPr/>
        </p:nvSpPr>
        <p:spPr>
          <a:xfrm>
            <a:off x="4248226" y="388406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E2C925D-FE24-83C2-9D81-10E216DE81E2}"/>
              </a:ext>
            </a:extLst>
          </p:cNvPr>
          <p:cNvSpPr/>
          <p:nvPr/>
        </p:nvSpPr>
        <p:spPr>
          <a:xfrm>
            <a:off x="1601471" y="2709964"/>
            <a:ext cx="12583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제한 안내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3F1D02A-8189-938E-9236-A8662B3E43A9}"/>
              </a:ext>
            </a:extLst>
          </p:cNvPr>
          <p:cNvSpPr/>
          <p:nvPr/>
        </p:nvSpPr>
        <p:spPr>
          <a:xfrm>
            <a:off x="1362006" y="22413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774E4E85-8496-FA96-4949-8C6810674FE9}"/>
              </a:ext>
            </a:extLst>
          </p:cNvPr>
          <p:cNvCxnSpPr>
            <a:cxnSpLocks/>
            <a:stCxn id="24" idx="2"/>
            <a:endCxn id="45" idx="3"/>
          </p:cNvCxnSpPr>
          <p:nvPr/>
        </p:nvCxnSpPr>
        <p:spPr>
          <a:xfrm rot="5400000">
            <a:off x="5387563" y="2771148"/>
            <a:ext cx="392918" cy="955200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타원 1">
            <a:extLst>
              <a:ext uri="{FF2B5EF4-FFF2-40B4-BE49-F238E27FC236}">
                <a16:creationId xmlns:a16="http://schemas.microsoft.com/office/drawing/2014/main" id="{B8AF2449-3680-010E-A650-140801AFCD8F}"/>
              </a:ext>
            </a:extLst>
          </p:cNvPr>
          <p:cNvSpPr/>
          <p:nvPr/>
        </p:nvSpPr>
        <p:spPr>
          <a:xfrm>
            <a:off x="6684940" y="267280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BAF3B1-F29B-E248-D5B8-B93708D6E81E}"/>
              </a:ext>
            </a:extLst>
          </p:cNvPr>
          <p:cNvSpPr/>
          <p:nvPr/>
        </p:nvSpPr>
        <p:spPr>
          <a:xfrm>
            <a:off x="127413" y="4660824"/>
            <a:ext cx="363617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0B510F-07FB-C1A2-A29B-7F891EEC961B}"/>
              </a:ext>
            </a:extLst>
          </p:cNvPr>
          <p:cNvSpPr/>
          <p:nvPr/>
        </p:nvSpPr>
        <p:spPr>
          <a:xfrm>
            <a:off x="127413" y="4933737"/>
            <a:ext cx="3636171" cy="166326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50C6F7-0462-A6EE-EC7E-1828181A1A41}"/>
              </a:ext>
            </a:extLst>
          </p:cNvPr>
          <p:cNvSpPr/>
          <p:nvPr/>
        </p:nvSpPr>
        <p:spPr>
          <a:xfrm>
            <a:off x="3490206" y="466082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DFC6EF-3B53-B944-54DC-13B4D63143F8}"/>
              </a:ext>
            </a:extLst>
          </p:cNvPr>
          <p:cNvSpPr/>
          <p:nvPr/>
        </p:nvSpPr>
        <p:spPr>
          <a:xfrm>
            <a:off x="235192" y="5347124"/>
            <a:ext cx="3369267" cy="773524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위해서는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반드시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 먼저 제출되어야 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서류를 제출하신 후 가격을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7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CB347968-1611-D3A3-FB52-A30D8BE12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14" y="5448666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20EB22-4087-1B00-14CB-77D5D201C329}"/>
              </a:ext>
            </a:extLst>
          </p:cNvPr>
          <p:cNvSpPr/>
          <p:nvPr/>
        </p:nvSpPr>
        <p:spPr>
          <a:xfrm>
            <a:off x="2905388" y="620422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3AEA29-FE55-A9C8-15CB-B96449D2DD50}"/>
              </a:ext>
            </a:extLst>
          </p:cNvPr>
          <p:cNvSpPr/>
          <p:nvPr/>
        </p:nvSpPr>
        <p:spPr>
          <a:xfrm>
            <a:off x="258633" y="5030125"/>
            <a:ext cx="12583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3945790-F49C-7455-2E70-293C8B7D523E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 rot="5400000">
            <a:off x="3843052" y="1154736"/>
            <a:ext cx="1608535" cy="5403640"/>
          </a:xfrm>
          <a:prstGeom prst="bentConnector3">
            <a:avLst>
              <a:gd name="adj1" fmla="val 80032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96AE3771-6AB7-8A41-F97E-5FE38E087F5A}"/>
              </a:ext>
            </a:extLst>
          </p:cNvPr>
          <p:cNvSpPr/>
          <p:nvPr/>
        </p:nvSpPr>
        <p:spPr>
          <a:xfrm>
            <a:off x="56456" y="456781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0577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73DA1-351A-E2E1-067B-FAD8D29F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3967779-88DA-B87D-7C52-FC1337B8CA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E79B5B-EC0E-5A44-2F45-F2005FACE575}"/>
              </a:ext>
            </a:extLst>
          </p:cNvPr>
          <p:cNvSpPr txBox="1"/>
          <p:nvPr/>
        </p:nvSpPr>
        <p:spPr>
          <a:xfrm>
            <a:off x="749224" y="25608"/>
            <a:ext cx="17604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971D2B-B238-35C3-CE54-6392771A60C4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62258FA-FB76-D727-7982-7F82E06F6ED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D5F23F9-62C1-A226-AEA4-06A540BF7C4A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B7C783-F776-31A1-054D-A870ABF01F9D}"/>
              </a:ext>
            </a:extLst>
          </p:cNvPr>
          <p:cNvSpPr/>
          <p:nvPr/>
        </p:nvSpPr>
        <p:spPr>
          <a:xfrm>
            <a:off x="0" y="6858006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1978402-FAEB-A346-69F2-907F10FAC88F}"/>
              </a:ext>
            </a:extLst>
          </p:cNvPr>
          <p:cNvSpPr/>
          <p:nvPr/>
        </p:nvSpPr>
        <p:spPr>
          <a:xfrm>
            <a:off x="6867117" y="274848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D712511-FBE9-115C-9738-B9B625ACA8E0}"/>
              </a:ext>
            </a:extLst>
          </p:cNvPr>
          <p:cNvSpPr/>
          <p:nvPr/>
        </p:nvSpPr>
        <p:spPr>
          <a:xfrm>
            <a:off x="7688579" y="274848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168965-3D27-6886-FA80-EF632B2E256B}"/>
              </a:ext>
            </a:extLst>
          </p:cNvPr>
          <p:cNvSpPr txBox="1"/>
          <p:nvPr/>
        </p:nvSpPr>
        <p:spPr>
          <a:xfrm>
            <a:off x="181506" y="2734964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D70562-06B3-FE07-6912-082AA7E6E93A}"/>
              </a:ext>
            </a:extLst>
          </p:cNvPr>
          <p:cNvSpPr txBox="1"/>
          <p:nvPr/>
        </p:nvSpPr>
        <p:spPr>
          <a:xfrm>
            <a:off x="8049344" y="584684"/>
            <a:ext cx="1856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목록에는 해당 협력업체가 입찰 참여한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작성중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건 포함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건만 제공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제출상태 정리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노란색 영역 참조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E25064-F260-5396-63E8-B54583AFB4BA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F28CB-34F3-797F-4F83-30F73A724EE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5D4680-8098-4F04-D1E6-E2806D1442EB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5" name="Picture 1">
            <a:extLst>
              <a:ext uri="{FF2B5EF4-FFF2-40B4-BE49-F238E27FC236}">
                <a16:creationId xmlns:a16="http://schemas.microsoft.com/office/drawing/2014/main" id="{FBD7BFB8-AC0D-F17B-7DF1-5E688DC9E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304A061-3FA8-FC87-F0B3-E2A1F7624A04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3026678"/>
          <a:ext cx="11513380" cy="3379200"/>
        </p:xfrm>
        <a:graphic>
          <a:graphicData uri="http://schemas.openxmlformats.org/drawingml/2006/table">
            <a:tbl>
              <a:tblPr firstRow="1" bandRow="1"/>
              <a:tblGrid>
                <a:gridCol w="84091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72650">
                  <a:extLst>
                    <a:ext uri="{9D8B030D-6E8A-4147-A177-3AD203B41FA5}">
                      <a16:colId xmlns:a16="http://schemas.microsoft.com/office/drawing/2014/main" val="421133013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948300">
                  <a:extLst>
                    <a:ext uri="{9D8B030D-6E8A-4147-A177-3AD203B41FA5}">
                      <a16:colId xmlns:a16="http://schemas.microsoft.com/office/drawing/2014/main" val="2003258821"/>
                    </a:ext>
                  </a:extLst>
                </a:gridCol>
                <a:gridCol w="1058400">
                  <a:extLst>
                    <a:ext uri="{9D8B030D-6E8A-4147-A177-3AD203B41FA5}">
                      <a16:colId xmlns:a16="http://schemas.microsoft.com/office/drawing/2014/main" val="675018997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34587">
                  <a:extLst>
                    <a:ext uri="{9D8B030D-6E8A-4147-A177-3AD203B41FA5}">
                      <a16:colId xmlns:a16="http://schemas.microsoft.com/office/drawing/2014/main" val="2708523098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960918577"/>
                    </a:ext>
                  </a:extLst>
                </a:gridCol>
                <a:gridCol w="1545763">
                  <a:extLst>
                    <a:ext uri="{9D8B030D-6E8A-4147-A177-3AD203B41FA5}">
                      <a16:colId xmlns:a16="http://schemas.microsoft.com/office/drawing/2014/main" val="2297195669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9417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우선협상대상자 선정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박승길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재공고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입찰마감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서류 제출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우선협상대상자 선정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재공고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투찰진행중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투찰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경쟁입찰(지명)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2단계 경쟁입찰(규격/가격 동시)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투찰마감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심사완료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포기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선정완료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107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유찰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15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재입찰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172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공고취소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360626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5A173D-02A1-3EB8-3A70-90813EC73F0E}"/>
              </a:ext>
            </a:extLst>
          </p:cNvPr>
          <p:cNvGrpSpPr/>
          <p:nvPr/>
        </p:nvGrpSpPr>
        <p:grpSpPr>
          <a:xfrm>
            <a:off x="2004219" y="6508092"/>
            <a:ext cx="4025354" cy="216024"/>
            <a:chOff x="2992062" y="4869160"/>
            <a:chExt cx="4025354" cy="21602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0E97F25-5D3D-FC16-740B-F302D87DE1DC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F34DFF6-D87A-AC0A-0BB0-020C3D26AF2C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C558B63-065A-B3A2-3132-F9B23A339F18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8062737-915C-319C-6553-7BE0F0EFC166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C7EB002-75F3-0574-EC39-BACB7E778D53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EE21AAA-8BFA-6198-4F23-A6BEAE4822F9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2E3A70C-8591-09EB-D543-6F3531C80AC0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C3D4C05-25A4-8BFF-9E4C-9914717C198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A18DAB3-2E71-0CF0-903E-1EF06A38B95C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48E3B9F-759B-65FF-092A-B8FA94281EB2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D3A1083-CA50-87A5-0D5B-A8D173845EB8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D97AAA7-AAE0-684D-D639-E0B5B7308B0D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D840553-B5D7-4387-23BF-C9F1FB44F29D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4E05975-B1D5-FD79-4BCA-D05124C8CD9C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111B5D02-94C4-7822-7474-94809D049AB1}"/>
              </a:ext>
            </a:extLst>
          </p:cNvPr>
          <p:cNvSpPr/>
          <p:nvPr/>
        </p:nvSpPr>
        <p:spPr>
          <a:xfrm>
            <a:off x="2368849" y="294563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EE97F367-8748-B850-95FA-911A6C0D5196}"/>
              </a:ext>
            </a:extLst>
          </p:cNvPr>
          <p:cNvSpPr/>
          <p:nvPr/>
        </p:nvSpPr>
        <p:spPr>
          <a:xfrm>
            <a:off x="164468" y="834983"/>
            <a:ext cx="7740859" cy="180192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AD22205-50BA-063D-9BCD-881B1F74733C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마감일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12BB75E-3C07-078C-2986-0B7B396B9F9D}"/>
              </a:ext>
            </a:extLst>
          </p:cNvPr>
          <p:cNvSpPr txBox="1"/>
          <p:nvPr/>
        </p:nvSpPr>
        <p:spPr>
          <a:xfrm>
            <a:off x="235849" y="1786312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구분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본공고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재공고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0BE8FB3-B7B9-020D-D76F-95C0DABFD967}"/>
              </a:ext>
            </a:extLst>
          </p:cNvPr>
          <p:cNvSpPr txBox="1"/>
          <p:nvPr/>
        </p:nvSpPr>
        <p:spPr>
          <a:xfrm>
            <a:off x="235850" y="2317453"/>
            <a:ext cx="17648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885F9974-C74A-7CB9-D793-482859EC71FD}"/>
              </a:ext>
            </a:extLst>
          </p:cNvPr>
          <p:cNvSpPr/>
          <p:nvPr/>
        </p:nvSpPr>
        <p:spPr>
          <a:xfrm>
            <a:off x="4972054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8558008-DDF6-4D14-98A0-87324463F55C}"/>
              </a:ext>
            </a:extLst>
          </p:cNvPr>
          <p:cNvSpPr/>
          <p:nvPr/>
        </p:nvSpPr>
        <p:spPr>
          <a:xfrm>
            <a:off x="5782305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C3A561A9-8A39-D64D-7951-AFE481F78488}"/>
              </a:ext>
            </a:extLst>
          </p:cNvPr>
          <p:cNvSpPr/>
          <p:nvPr/>
        </p:nvSpPr>
        <p:spPr>
          <a:xfrm>
            <a:off x="6195560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FAB5AB9-740C-BCBA-7014-AA4409A48D3A}"/>
              </a:ext>
            </a:extLst>
          </p:cNvPr>
          <p:cNvSpPr/>
          <p:nvPr/>
        </p:nvSpPr>
        <p:spPr>
          <a:xfrm>
            <a:off x="7005811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1C13B357-0AE0-A615-144A-F1B0AFB5038A}"/>
              </a:ext>
            </a:extLst>
          </p:cNvPr>
          <p:cNvSpPr/>
          <p:nvPr/>
        </p:nvSpPr>
        <p:spPr>
          <a:xfrm>
            <a:off x="168227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055F198-FBD2-BCA2-C136-8A015A4EC914}"/>
              </a:ext>
            </a:extLst>
          </p:cNvPr>
          <p:cNvSpPr/>
          <p:nvPr/>
        </p:nvSpPr>
        <p:spPr>
          <a:xfrm>
            <a:off x="223084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E9A855C-10C0-96C6-7E89-BD0F1641B0DA}"/>
              </a:ext>
            </a:extLst>
          </p:cNvPr>
          <p:cNvSpPr/>
          <p:nvPr/>
        </p:nvSpPr>
        <p:spPr>
          <a:xfrm>
            <a:off x="277941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21C02A4-92DF-C0FC-8486-5AE9DC86A4BE}"/>
              </a:ext>
            </a:extLst>
          </p:cNvPr>
          <p:cNvSpPr/>
          <p:nvPr/>
        </p:nvSpPr>
        <p:spPr>
          <a:xfrm>
            <a:off x="332798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981165F5-8E25-6533-0C1B-A684B96B5A6B}"/>
              </a:ext>
            </a:extLst>
          </p:cNvPr>
          <p:cNvSpPr/>
          <p:nvPr/>
        </p:nvSpPr>
        <p:spPr>
          <a:xfrm>
            <a:off x="3876554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2DAD783-746D-F772-0D97-7493E70109E6}"/>
              </a:ext>
            </a:extLst>
          </p:cNvPr>
          <p:cNvSpPr/>
          <p:nvPr/>
        </p:nvSpPr>
        <p:spPr>
          <a:xfrm>
            <a:off x="4425122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349B60E-163B-1EFF-EBB7-B22957CF8273}"/>
              </a:ext>
            </a:extLst>
          </p:cNvPr>
          <p:cNvSpPr txBox="1"/>
          <p:nvPr/>
        </p:nvSpPr>
        <p:spPr>
          <a:xfrm>
            <a:off x="235849" y="1221380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1384B37F-1686-96AC-3A99-158F87330DE3}"/>
              </a:ext>
            </a:extLst>
          </p:cNvPr>
          <p:cNvSpPr/>
          <p:nvPr/>
        </p:nvSpPr>
        <p:spPr>
          <a:xfrm>
            <a:off x="1654646" y="231030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178C0835-F0A9-B0FC-D29F-930D0940A9B1}"/>
              </a:ext>
            </a:extLst>
          </p:cNvPr>
          <p:cNvSpPr/>
          <p:nvPr/>
        </p:nvSpPr>
        <p:spPr>
          <a:xfrm>
            <a:off x="2464897" y="231031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F5B49C87-9AC5-7ABF-ED8D-14F6CDAD2D25}"/>
              </a:ext>
            </a:extLst>
          </p:cNvPr>
          <p:cNvSpPr/>
          <p:nvPr/>
        </p:nvSpPr>
        <p:spPr>
          <a:xfrm>
            <a:off x="2780034" y="231030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045584E1-9760-AD0B-A048-757C6128533C}"/>
              </a:ext>
            </a:extLst>
          </p:cNvPr>
          <p:cNvSpPr/>
          <p:nvPr/>
        </p:nvSpPr>
        <p:spPr>
          <a:xfrm>
            <a:off x="6488042" y="231031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35E2142-2B45-CD63-10CA-79CB5C7F5495}"/>
              </a:ext>
            </a:extLst>
          </p:cNvPr>
          <p:cNvSpPr txBox="1"/>
          <p:nvPr/>
        </p:nvSpPr>
        <p:spPr>
          <a:xfrm>
            <a:off x="235849" y="2059815"/>
            <a:ext cx="77408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35CA355-CA25-E485-294F-3D0BA5AF361D}"/>
              </a:ext>
            </a:extLst>
          </p:cNvPr>
          <p:cNvSpPr txBox="1"/>
          <p:nvPr/>
        </p:nvSpPr>
        <p:spPr>
          <a:xfrm>
            <a:off x="235849" y="149741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계약방법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낙찰자 선정방법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3D0181C-1808-5D58-E2F0-EC5ABC285A25}"/>
              </a:ext>
            </a:extLst>
          </p:cNvPr>
          <p:cNvSpPr/>
          <p:nvPr/>
        </p:nvSpPr>
        <p:spPr>
          <a:xfrm>
            <a:off x="1666765" y="1497418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 선택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C3D07E0C-1D15-57C2-811A-B82E7A1721FD}"/>
              </a:ext>
            </a:extLst>
          </p:cNvPr>
          <p:cNvSpPr/>
          <p:nvPr/>
        </p:nvSpPr>
        <p:spPr>
          <a:xfrm>
            <a:off x="3062747" y="149742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CE0448A8-6604-8849-17CD-A1334F84690E}"/>
              </a:ext>
            </a:extLst>
          </p:cNvPr>
          <p:cNvSpPr/>
          <p:nvPr/>
        </p:nvSpPr>
        <p:spPr>
          <a:xfrm>
            <a:off x="3349569" y="1497418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선택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8879089D-246C-9D74-0F17-9B9E4BACF606}"/>
              </a:ext>
            </a:extLst>
          </p:cNvPr>
          <p:cNvSpPr/>
          <p:nvPr/>
        </p:nvSpPr>
        <p:spPr>
          <a:xfrm>
            <a:off x="4745551" y="149742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02DFD6EF-1FC6-490D-80E1-3FA49EBD0C2F}"/>
              </a:ext>
            </a:extLst>
          </p:cNvPr>
          <p:cNvSpPr/>
          <p:nvPr/>
        </p:nvSpPr>
        <p:spPr>
          <a:xfrm>
            <a:off x="1666765" y="2028182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선택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86DA4218-0B9D-9074-927E-F4236FBBCD2A}"/>
              </a:ext>
            </a:extLst>
          </p:cNvPr>
          <p:cNvSpPr/>
          <p:nvPr/>
        </p:nvSpPr>
        <p:spPr>
          <a:xfrm>
            <a:off x="3062747" y="202818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F5741139-8BA7-15F0-F1BC-D3C828680576}"/>
              </a:ext>
            </a:extLst>
          </p:cNvPr>
          <p:cNvSpPr/>
          <p:nvPr/>
        </p:nvSpPr>
        <p:spPr>
          <a:xfrm>
            <a:off x="71889" y="73423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11BFCEC-F600-FE4F-7AE3-FFCE613B7F3F}"/>
              </a:ext>
            </a:extLst>
          </p:cNvPr>
          <p:cNvSpPr txBox="1"/>
          <p:nvPr/>
        </p:nvSpPr>
        <p:spPr>
          <a:xfrm>
            <a:off x="3646737" y="4528304"/>
            <a:ext cx="3466503" cy="1344984"/>
          </a:xfrm>
          <a:prstGeom prst="rect">
            <a:avLst/>
          </a:prstGeom>
          <a:solidFill>
            <a:srgbClr val="FFFF00">
              <a:alpha val="69804"/>
            </a:srgbClr>
          </a:solidFill>
        </p:spPr>
        <p:txBody>
          <a:bodyPr wrap="square">
            <a:spAutoFit/>
          </a:bodyPr>
          <a:lstStyle/>
          <a:p>
            <a:pPr marL="72000" indent="-72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작성중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미제출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 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제출하지 않은 상태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 완료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입찰서류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제출’만을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완료한 상태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완료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투찰’만을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완료한 상태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 완료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제출’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+ 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투찰’을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모두 완료한 상태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-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단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투찰이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별도 기간인 경우에는 서류만 제출해도 ‘입찰 참여 완료’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포기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포기 시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96452DAE-407B-C78D-0FA2-18A17272C8AB}"/>
              </a:ext>
            </a:extLst>
          </p:cNvPr>
          <p:cNvSpPr/>
          <p:nvPr/>
        </p:nvSpPr>
        <p:spPr>
          <a:xfrm>
            <a:off x="2461156" y="3375745"/>
            <a:ext cx="922542" cy="1673435"/>
          </a:xfrm>
          <a:prstGeom prst="rect">
            <a:avLst/>
          </a:prstGeom>
          <a:noFill/>
          <a:ln w="31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DD14E28E-EB98-9203-4AE8-CCB4D640C749}"/>
              </a:ext>
            </a:extLst>
          </p:cNvPr>
          <p:cNvCxnSpPr>
            <a:cxnSpLocks/>
            <a:stCxn id="188" idx="3"/>
            <a:endCxn id="187" idx="1"/>
          </p:cNvCxnSpPr>
          <p:nvPr/>
        </p:nvCxnSpPr>
        <p:spPr>
          <a:xfrm>
            <a:off x="3383698" y="4212463"/>
            <a:ext cx="263039" cy="988333"/>
          </a:xfrm>
          <a:prstGeom prst="bentConnector3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E1DA06-DDA9-E1E9-11A2-125006A343E6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2164178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02D5-8B1F-2937-E92E-69DE1BF0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CC63C58-2E3C-43AB-5546-48F3FF8324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21BDD6-9885-DFFF-5F5A-AC98DBE83577}"/>
              </a:ext>
            </a:extLst>
          </p:cNvPr>
          <p:cNvSpPr txBox="1"/>
          <p:nvPr/>
        </p:nvSpPr>
        <p:spPr>
          <a:xfrm>
            <a:off x="749224" y="25608"/>
            <a:ext cx="24400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98D44-8012-61FC-421B-A0CA87DE50A5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낙찰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업체 선정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수의시담이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진행되는 경우에만 제공되는 탭 메뉴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A01B33B-6247-8F83-DB4B-39A608ED048E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44D66B3-900A-621F-9913-20D60AF2770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A8B8BE-F204-F929-543C-BDB86193A7C5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7CD91C-064A-F32F-65A5-112058830BE9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111899-E0C8-4A8E-E20F-F871FC9B96B7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95203F-341F-BA29-351F-3505C78B7012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0" name="Picture 1">
            <a:extLst>
              <a:ext uri="{FF2B5EF4-FFF2-40B4-BE49-F238E27FC236}">
                <a16:creationId xmlns:a16="http://schemas.microsoft.com/office/drawing/2014/main" id="{769E8F35-8068-CD75-7FCE-775EC41E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4D8CABB-E469-D607-BC41-1E51706CA63A}"/>
              </a:ext>
            </a:extLst>
          </p:cNvPr>
          <p:cNvCxnSpPr>
            <a:cxnSpLocks/>
          </p:cNvCxnSpPr>
          <p:nvPr/>
        </p:nvCxnSpPr>
        <p:spPr>
          <a:xfrm>
            <a:off x="167468" y="1952499"/>
            <a:ext cx="7737859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E896A1E-BD84-71B9-4843-0261FE1371A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463BE22-F26E-B73D-ACF2-DED0176F88B1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78927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1920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920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4195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880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87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7340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7297A01-D45F-AACD-E5F6-B87160DABE78}"/>
              </a:ext>
            </a:extLst>
          </p:cNvPr>
          <p:cNvSpPr/>
          <p:nvPr/>
        </p:nvSpPr>
        <p:spPr>
          <a:xfrm>
            <a:off x="163502" y="1598038"/>
            <a:ext cx="1250662" cy="354461"/>
          </a:xfrm>
          <a:prstGeom prst="rect">
            <a:avLst/>
          </a:prstGeom>
          <a:solidFill>
            <a:srgbClr val="00B05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BBF03E-F3F2-B2BE-AFE3-F909EE49742B}"/>
              </a:ext>
            </a:extLst>
          </p:cNvPr>
          <p:cNvSpPr/>
          <p:nvPr/>
        </p:nvSpPr>
        <p:spPr>
          <a:xfrm>
            <a:off x="1417037" y="1660057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A8BFCF-7F44-CC49-F197-1FA3B61AF7BD}"/>
              </a:ext>
            </a:extLst>
          </p:cNvPr>
          <p:cNvSpPr/>
          <p:nvPr/>
        </p:nvSpPr>
        <p:spPr>
          <a:xfrm>
            <a:off x="2667699" y="1660057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F61A88-2426-D78F-7765-E6A770544331}"/>
              </a:ext>
            </a:extLst>
          </p:cNvPr>
          <p:cNvSpPr/>
          <p:nvPr/>
        </p:nvSpPr>
        <p:spPr>
          <a:xfrm>
            <a:off x="183392" y="207318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기본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BF05ECE-3E5C-C848-BE21-C7E92C810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968626"/>
              </p:ext>
            </p:extLst>
          </p:nvPr>
        </p:nvGraphicFramePr>
        <p:xfrm>
          <a:off x="164467" y="2345475"/>
          <a:ext cx="7740859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4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습식공사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2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0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습식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석공사업 보유업체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57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778303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52F5D1-CAEF-B410-1FCF-2F63EEBC49D4}"/>
              </a:ext>
            </a:extLst>
          </p:cNvPr>
          <p:cNvSpPr/>
          <p:nvPr/>
        </p:nvSpPr>
        <p:spPr>
          <a:xfrm>
            <a:off x="183392" y="5470267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D643E7-41F2-19A9-11DB-BE5DD006A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514250"/>
              </p:ext>
            </p:extLst>
          </p:nvPr>
        </p:nvGraphicFramePr>
        <p:xfrm>
          <a:off x="164467" y="5764002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 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3D08B022-2A11-271C-BC8C-AA0BE38E41C0}"/>
              </a:ext>
            </a:extLst>
          </p:cNvPr>
          <p:cNvSpPr/>
          <p:nvPr/>
        </p:nvSpPr>
        <p:spPr>
          <a:xfrm>
            <a:off x="3919116" y="1660057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FC9608-7662-EFB7-5F9B-72348072A3C8}"/>
              </a:ext>
            </a:extLst>
          </p:cNvPr>
          <p:cNvSpPr/>
          <p:nvPr/>
        </p:nvSpPr>
        <p:spPr>
          <a:xfrm>
            <a:off x="5170533" y="1660057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7D40936-70D5-4E53-1587-661BD3010036}"/>
              </a:ext>
            </a:extLst>
          </p:cNvPr>
          <p:cNvSpPr/>
          <p:nvPr/>
        </p:nvSpPr>
        <p:spPr>
          <a:xfrm>
            <a:off x="5071147" y="15795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B8AF48-8F71-0539-B6B9-69481CF89C68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961337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BFEA-CEEC-1D85-AE37-757D3016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17684C8-FEF6-BA04-36BD-F09A1FE8A8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6E9F38-FCFA-E837-EF50-018F8E3DF1E0}"/>
              </a:ext>
            </a:extLst>
          </p:cNvPr>
          <p:cNvSpPr txBox="1"/>
          <p:nvPr/>
        </p:nvSpPr>
        <p:spPr>
          <a:xfrm>
            <a:off x="749224" y="25608"/>
            <a:ext cx="24400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413F362-2543-E7AC-731F-D1A20E6432F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2EA76-EF02-F128-EEE9-06DD4834FC27}"/>
              </a:ext>
            </a:extLst>
          </p:cNvPr>
          <p:cNvSpPr txBox="1"/>
          <p:nvPr/>
        </p:nvSpPr>
        <p:spPr>
          <a:xfrm>
            <a:off x="8049344" y="1409903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E4F250-74B5-7C91-2C4C-90125A5ACA5B}"/>
              </a:ext>
            </a:extLst>
          </p:cNvPr>
          <p:cNvSpPr/>
          <p:nvPr/>
        </p:nvSpPr>
        <p:spPr>
          <a:xfrm>
            <a:off x="183392" y="36254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7531026-825A-240A-23E5-4F76BA56B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36360"/>
              </p:ext>
            </p:extLst>
          </p:nvPr>
        </p:nvGraphicFramePr>
        <p:xfrm>
          <a:off x="171333" y="634936"/>
          <a:ext cx="9358510" cy="67584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66062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CB8B5A-8286-929F-3230-855981FABD31}"/>
              </a:ext>
            </a:extLst>
          </p:cNvPr>
          <p:cNvSpPr/>
          <p:nvPr/>
        </p:nvSpPr>
        <p:spPr>
          <a:xfrm>
            <a:off x="183392" y="146509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상세정보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837FAC3-8D2F-9557-89E3-52657515F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921205"/>
              </p:ext>
            </p:extLst>
          </p:nvPr>
        </p:nvGraphicFramePr>
        <p:xfrm>
          <a:off x="164467" y="1763271"/>
          <a:ext cx="774085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시작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마감일시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2026.07.31 09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~ 2026.08.15 18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입찰공고 게시기간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2026.07.28 09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2026.08.15 18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현장설명회 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현장설명회 없음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 2026.08.05 16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 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현장설명회 일시는 사정에 의해 변경될 수 있습니다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시 통보 드립니다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89262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BA85A3C-1D66-C7A4-50E2-FB769D7E0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29976"/>
              </p:ext>
            </p:extLst>
          </p:nvPr>
        </p:nvGraphicFramePr>
        <p:xfrm>
          <a:off x="164467" y="2768405"/>
          <a:ext cx="7776865" cy="27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입찰공고문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입찰참가신청서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35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입찰보증금지급각서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165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시방서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구매견적서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3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기타서류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389591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6A92BC-9DFD-1E78-8514-E18C030D6958}"/>
              </a:ext>
            </a:extLst>
          </p:cNvPr>
          <p:cNvGrpSpPr/>
          <p:nvPr/>
        </p:nvGrpSpPr>
        <p:grpSpPr>
          <a:xfrm>
            <a:off x="2777097" y="2829072"/>
            <a:ext cx="1275802" cy="198885"/>
            <a:chOff x="2576736" y="3905324"/>
            <a:chExt cx="1275802" cy="19888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07E376F-9B3A-E268-F31C-7C6E5A687573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6446139-B4D6-0C3C-ABAD-064454757795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C90BF8A-C696-C158-1667-B9E712BF66B0}"/>
              </a:ext>
            </a:extLst>
          </p:cNvPr>
          <p:cNvGrpSpPr/>
          <p:nvPr/>
        </p:nvGrpSpPr>
        <p:grpSpPr>
          <a:xfrm>
            <a:off x="2777097" y="3779196"/>
            <a:ext cx="1275802" cy="198885"/>
            <a:chOff x="2576736" y="3905324"/>
            <a:chExt cx="1275802" cy="19888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617FD8F-A44F-DF46-1970-1EBB38CD2DDE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9CA2A64-0938-55FB-EACE-60A96735AD61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8B1754A-F29C-7362-F9FA-BFCB73BC93EA}"/>
              </a:ext>
            </a:extLst>
          </p:cNvPr>
          <p:cNvGrpSpPr/>
          <p:nvPr/>
        </p:nvGrpSpPr>
        <p:grpSpPr>
          <a:xfrm>
            <a:off x="2777097" y="4133830"/>
            <a:ext cx="1275802" cy="198885"/>
            <a:chOff x="2576736" y="3905324"/>
            <a:chExt cx="1275802" cy="19888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B3A5AFF-DC33-F92E-82B2-E1808A2FD3D6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C65DCEB-3D33-654F-38B8-7867777910E7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B0203C2-70FA-6626-B6D3-46DC1AA02407}"/>
              </a:ext>
            </a:extLst>
          </p:cNvPr>
          <p:cNvGrpSpPr/>
          <p:nvPr/>
        </p:nvGrpSpPr>
        <p:grpSpPr>
          <a:xfrm>
            <a:off x="2777097" y="4382356"/>
            <a:ext cx="1275802" cy="198885"/>
            <a:chOff x="2576736" y="3905324"/>
            <a:chExt cx="1275802" cy="19888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3312A49-6A86-1703-40FF-14A28160376E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B455E77-679C-855A-DD47-7ABC2CB4AC2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235612C-9DE7-631D-814C-ADD41C789E4A}"/>
              </a:ext>
            </a:extLst>
          </p:cNvPr>
          <p:cNvGrpSpPr/>
          <p:nvPr/>
        </p:nvGrpSpPr>
        <p:grpSpPr>
          <a:xfrm>
            <a:off x="2777097" y="4645526"/>
            <a:ext cx="1275802" cy="198885"/>
            <a:chOff x="2576736" y="3905324"/>
            <a:chExt cx="1275802" cy="19888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21F66D3-5CF6-7F70-121C-09F377A942CB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202F2CD-D7EA-AADC-B02C-132E8C0BAC3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425622C-06A3-856B-C032-2DC2F8A5DFF7}"/>
              </a:ext>
            </a:extLst>
          </p:cNvPr>
          <p:cNvGrpSpPr/>
          <p:nvPr/>
        </p:nvGrpSpPr>
        <p:grpSpPr>
          <a:xfrm>
            <a:off x="2777097" y="4949794"/>
            <a:ext cx="1275802" cy="198885"/>
            <a:chOff x="2576736" y="3905324"/>
            <a:chExt cx="1275802" cy="198885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84B00FF-2FBC-1C82-B39A-C1E086833BCE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41AEDCC-E805-96F3-C289-49F16253D1ED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F47562C-1C12-2896-17EA-78CA97BAF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489911"/>
              </p:ext>
            </p:extLst>
          </p:nvPr>
        </p:nvGraphicFramePr>
        <p:xfrm>
          <a:off x="164466" y="5935396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8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1608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가격투찰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기간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낙찰자 선정방법이 ‘제한적 최저가 입찰’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‘2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)’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 경우 규격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심사 결과에 따라 별도의 가격 </a:t>
                      </a:r>
                      <a:r>
                        <a:rPr lang="ko-KR" altLang="en-US" sz="800" b="0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투찰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기간을 안내해드립니다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202382"/>
                  </a:ext>
                </a:extLst>
              </a:tr>
            </a:tbl>
          </a:graphicData>
        </a:graphic>
      </p:graphicFrame>
      <p:sp>
        <p:nvSpPr>
          <p:cNvPr id="50" name="직사각형 49">
            <a:extLst>
              <a:ext uri="{FF2B5EF4-FFF2-40B4-BE49-F238E27FC236}">
                <a16:creationId xmlns:a16="http://schemas.microsoft.com/office/drawing/2014/main" id="{A2B20BB9-4161-FE48-714C-96ED4B870FFE}"/>
              </a:ext>
            </a:extLst>
          </p:cNvPr>
          <p:cNvSpPr/>
          <p:nvPr/>
        </p:nvSpPr>
        <p:spPr>
          <a:xfrm>
            <a:off x="183392" y="564542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투찰기간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FCAA236-F26A-7F13-29EC-55AB57C76E2A}"/>
              </a:ext>
            </a:extLst>
          </p:cNvPr>
          <p:cNvGrpSpPr/>
          <p:nvPr/>
        </p:nvGrpSpPr>
        <p:grpSpPr>
          <a:xfrm>
            <a:off x="2777097" y="3077260"/>
            <a:ext cx="1275802" cy="198885"/>
            <a:chOff x="2576736" y="3905324"/>
            <a:chExt cx="1275802" cy="198885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0FC47F8-408F-C142-ED80-387E0B772CD5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D8AF13BE-70C4-1B59-F31D-0AC29782DD8F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15740A2-1614-0219-9387-DBAEC7EDCF91}"/>
              </a:ext>
            </a:extLst>
          </p:cNvPr>
          <p:cNvGrpSpPr/>
          <p:nvPr/>
        </p:nvGrpSpPr>
        <p:grpSpPr>
          <a:xfrm>
            <a:off x="2777097" y="3414769"/>
            <a:ext cx="1275802" cy="198885"/>
            <a:chOff x="2576736" y="3905324"/>
            <a:chExt cx="1275802" cy="19888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AB5279E1-C7D4-4141-AE76-65EFA82796A8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71B764F3-6015-7CAE-42FE-0676392FD1DD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83A77A5-1229-35B5-DFAA-E12EDE531243}"/>
              </a:ext>
            </a:extLst>
          </p:cNvPr>
          <p:cNvGrpSpPr/>
          <p:nvPr/>
        </p:nvGrpSpPr>
        <p:grpSpPr>
          <a:xfrm>
            <a:off x="2777097" y="5207441"/>
            <a:ext cx="1275802" cy="198885"/>
            <a:chOff x="2576736" y="3905324"/>
            <a:chExt cx="1275802" cy="198885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7D88C658-D8B5-288A-C8B0-8BE7D78474D2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989F3DC9-D71A-71B3-6B0F-3ECB1C24F24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07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89D2A-F5E6-5314-068A-29FDC07F0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A1B7FE3-7611-3CD4-4DDA-F4BD37C0B9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B68A2E-6920-1A73-5DED-1122A2764969}"/>
              </a:ext>
            </a:extLst>
          </p:cNvPr>
          <p:cNvSpPr txBox="1"/>
          <p:nvPr/>
        </p:nvSpPr>
        <p:spPr>
          <a:xfrm>
            <a:off x="749224" y="25608"/>
            <a:ext cx="24400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56470CA-E1E1-6A15-26EC-D88D8091AE7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9A6CB-31CD-BC65-DB59-CD43DAA42E63}"/>
              </a:ext>
            </a:extLst>
          </p:cNvPr>
          <p:cNvSpPr txBox="1"/>
          <p:nvPr/>
        </p:nvSpPr>
        <p:spPr>
          <a:xfrm>
            <a:off x="8049344" y="576120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F14E788-8F2C-50B9-2C7B-0B00B486B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603012"/>
              </p:ext>
            </p:extLst>
          </p:nvPr>
        </p:nvGraphicFramePr>
        <p:xfrm>
          <a:off x="164467" y="1005089"/>
          <a:ext cx="774085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종합평가 비율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80%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가격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20%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 전달사항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시 등록해야 하는 서류를 꼼꼼히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읽어보시고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빠짐없이 등록해주세요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4D9840-71BF-8464-581F-D50CD0065F58}"/>
              </a:ext>
            </a:extLst>
          </p:cNvPr>
          <p:cNvSpPr/>
          <p:nvPr/>
        </p:nvSpPr>
        <p:spPr>
          <a:xfrm>
            <a:off x="183392" y="380871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544F991-400C-0066-2B0B-18634ED1CFF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74080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동점자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처리기준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73E81D-B216-F14F-D255-73F6A3FCB4A2}"/>
              </a:ext>
            </a:extLst>
          </p:cNvPr>
          <p:cNvSpPr/>
          <p:nvPr/>
        </p:nvSpPr>
        <p:spPr>
          <a:xfrm>
            <a:off x="183392" y="1782895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제안발표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2A4A3EF8-000D-8E58-6D72-BD0E3AD3A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349043"/>
              </p:ext>
            </p:extLst>
          </p:nvPr>
        </p:nvGraphicFramePr>
        <p:xfrm>
          <a:off x="164467" y="2081068"/>
          <a:ext cx="7740859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7270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협상에 의한 계약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협상에 의한 계약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025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제안발표 진행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2026.08.31 16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부터 진행  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제안발표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일시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장소는 사정에 의해 변경될 수 있습니다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시 통보 드립니다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2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전기회관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대회의실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57527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C71207-6B79-237D-125D-87875043A59A}"/>
              </a:ext>
            </a:extLst>
          </p:cNvPr>
          <p:cNvSpPr/>
          <p:nvPr/>
        </p:nvSpPr>
        <p:spPr>
          <a:xfrm>
            <a:off x="183392" y="3520881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F1572BF0-CF14-4641-23BC-EE1EBBF4D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625414"/>
              </p:ext>
            </p:extLst>
          </p:nvPr>
        </p:nvGraphicFramePr>
        <p:xfrm>
          <a:off x="171332" y="3773957"/>
          <a:ext cx="7713521" cy="1013760"/>
        </p:xfrm>
        <a:graphic>
          <a:graphicData uri="http://schemas.openxmlformats.org/drawingml/2006/table">
            <a:tbl>
              <a:tblPr firstRow="1" bandRow="1"/>
              <a:tblGrid>
                <a:gridCol w="61156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05497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241324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807223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항목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배점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자가심사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시공경험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일반공사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3CE204AF-4C1C-DBDD-9D9C-E57D7B7B1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888887"/>
              </p:ext>
            </p:extLst>
          </p:nvPr>
        </p:nvGraphicFramePr>
        <p:xfrm>
          <a:off x="171332" y="4774513"/>
          <a:ext cx="7713521" cy="675840"/>
        </p:xfrm>
        <a:graphic>
          <a:graphicData uri="http://schemas.openxmlformats.org/drawingml/2006/table">
            <a:tbl>
              <a:tblPr firstRow="1" bandRow="1"/>
              <a:tblGrid>
                <a:gridCol w="61156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05497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241324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807223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정성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 평가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배점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65154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DE03D4A6-D703-F6BB-CE25-AF1C6D8B5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35970"/>
              </p:ext>
            </p:extLst>
          </p:nvPr>
        </p:nvGraphicFramePr>
        <p:xfrm>
          <a:off x="164468" y="5561936"/>
          <a:ext cx="7710148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140">
                  <a:extLst>
                    <a:ext uri="{9D8B030D-6E8A-4147-A177-3AD203B41FA5}">
                      <a16:colId xmlns:a16="http://schemas.microsoft.com/office/drawing/2014/main" val="477224945"/>
                    </a:ext>
                  </a:extLst>
                </a:gridCol>
                <a:gridCol w="6112008">
                  <a:extLst>
                    <a:ext uri="{9D8B030D-6E8A-4147-A177-3AD203B41FA5}">
                      <a16:colId xmlns:a16="http://schemas.microsoft.com/office/drawing/2014/main" val="347871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최저점수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적격여부 판단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719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심사기준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배점 및 평가기준 등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533698"/>
                  </a:ext>
                </a:extLst>
              </a:tr>
            </a:tbl>
          </a:graphicData>
        </a:graphic>
      </p:graphicFrame>
      <p:sp>
        <p:nvSpPr>
          <p:cNvPr id="47" name="직사각형 46">
            <a:extLst>
              <a:ext uri="{FF2B5EF4-FFF2-40B4-BE49-F238E27FC236}">
                <a16:creationId xmlns:a16="http://schemas.microsoft.com/office/drawing/2014/main" id="{B57B9B51-FE05-E0C4-F3D8-3528D93E8F51}"/>
              </a:ext>
            </a:extLst>
          </p:cNvPr>
          <p:cNvSpPr/>
          <p:nvPr/>
        </p:nvSpPr>
        <p:spPr>
          <a:xfrm>
            <a:off x="2767183" y="597026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C0729D7-952C-6ADA-92F6-17745D99044E}"/>
              </a:ext>
            </a:extLst>
          </p:cNvPr>
          <p:cNvSpPr/>
          <p:nvPr/>
        </p:nvSpPr>
        <p:spPr>
          <a:xfrm>
            <a:off x="3430020" y="597026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</p:spTree>
    <p:extLst>
      <p:ext uri="{BB962C8B-B14F-4D97-AF65-F5344CB8AC3E}">
        <p14:creationId xmlns:p14="http://schemas.microsoft.com/office/powerpoint/2010/main" val="16752230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38D11-DD4B-6318-FA3F-212BF7BD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82EAFB-C068-4D9B-6295-D29F0DDD48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B60E2B-F50D-AA74-9CFC-CFE174EE7AE3}"/>
              </a:ext>
            </a:extLst>
          </p:cNvPr>
          <p:cNvSpPr txBox="1"/>
          <p:nvPr/>
        </p:nvSpPr>
        <p:spPr>
          <a:xfrm>
            <a:off x="749224" y="25608"/>
            <a:ext cx="24400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1CBF1E4-249D-BF0E-8BAE-E4043F95E91E}"/>
              </a:ext>
            </a:extLst>
          </p:cNvPr>
          <p:cNvGraphicFramePr>
            <a:graphicFrameLocks noGrp="1"/>
          </p:cNvGraphicFramePr>
          <p:nvPr/>
        </p:nvGraphicFramePr>
        <p:xfrm>
          <a:off x="171330" y="1330232"/>
          <a:ext cx="7733995" cy="675840"/>
        </p:xfrm>
        <a:graphic>
          <a:graphicData uri="http://schemas.openxmlformats.org/drawingml/2006/table">
            <a:tbl>
              <a:tblPr firstRow="1" bandRow="1"/>
              <a:tblGrid>
                <a:gridCol w="35445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4454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3498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 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480A5A94-B43D-6211-E8AF-92ADBA5DE1B3}"/>
              </a:ext>
            </a:extLst>
          </p:cNvPr>
          <p:cNvGraphicFramePr>
            <a:graphicFrameLocks noGrp="1"/>
          </p:cNvGraphicFramePr>
          <p:nvPr/>
        </p:nvGraphicFramePr>
        <p:xfrm>
          <a:off x="171331" y="2000102"/>
          <a:ext cx="7733995" cy="675840"/>
        </p:xfrm>
        <a:graphic>
          <a:graphicData uri="http://schemas.openxmlformats.org/drawingml/2006/table">
            <a:tbl>
              <a:tblPr firstRow="1" bandRow="1"/>
              <a:tblGrid>
                <a:gridCol w="35445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4454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3498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제안서를 첨부해주세요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되도록 하나의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파일로 합쳐서 첨부해주세요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44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85494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7CDAB26-7CF6-B54D-6519-0D8FE3AC54E8}"/>
              </a:ext>
            </a:extLst>
          </p:cNvPr>
          <p:cNvSpPr/>
          <p:nvPr/>
        </p:nvSpPr>
        <p:spPr>
          <a:xfrm>
            <a:off x="183392" y="36866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C908AC8-DBF4-7BB7-85A0-AD689A2E939E}"/>
              </a:ext>
            </a:extLst>
          </p:cNvPr>
          <p:cNvGraphicFramePr>
            <a:graphicFrameLocks noGrp="1"/>
          </p:cNvGraphicFramePr>
          <p:nvPr/>
        </p:nvGraphicFramePr>
        <p:xfrm>
          <a:off x="171330" y="670944"/>
          <a:ext cx="7733995" cy="675840"/>
        </p:xfrm>
        <a:graphic>
          <a:graphicData uri="http://schemas.openxmlformats.org/drawingml/2006/table">
            <a:tbl>
              <a:tblPr firstRow="1" bandRow="1"/>
              <a:tblGrid>
                <a:gridCol w="35445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4454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3498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입찰참가신청서는 반드시 날인이 되어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날인이 빠진 경우 미입찰로 처리됩니다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6" name="TextBox 85">
            <a:extLst>
              <a:ext uri="{FF2B5EF4-FFF2-40B4-BE49-F238E27FC236}">
                <a16:creationId xmlns:a16="http://schemas.microsoft.com/office/drawing/2014/main" id="{2D67FBD0-E6BB-D075-11C6-64F39F1A270B}"/>
              </a:ext>
            </a:extLst>
          </p:cNvPr>
          <p:cNvSpPr txBox="1"/>
          <p:nvPr/>
        </p:nvSpPr>
        <p:spPr>
          <a:xfrm>
            <a:off x="8049344" y="584684"/>
            <a:ext cx="185665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화면으로 이동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‘경쟁입찰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지명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인 경우 입찰계획 수립 당시 등록된 협력업체만 입찰이 가능함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위해서는 반드시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 먼저 제출되어야 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가격투찰이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동시에 진행되지 않는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노출되는 팝업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별도로 설정된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기간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에만 접근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87CCE8E-C99B-CD99-EDC2-8F9EE99E8305}"/>
              </a:ext>
            </a:extLst>
          </p:cNvPr>
          <p:cNvSpPr/>
          <p:nvPr/>
        </p:nvSpPr>
        <p:spPr>
          <a:xfrm>
            <a:off x="0" y="6678707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89943E-1599-1E92-A389-8B9A15AC3AE7}"/>
              </a:ext>
            </a:extLst>
          </p:cNvPr>
          <p:cNvSpPr/>
          <p:nvPr/>
        </p:nvSpPr>
        <p:spPr>
          <a:xfrm>
            <a:off x="164467" y="2764257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F130A1B-B1AD-C834-ECE8-2ACEC5E61068}"/>
              </a:ext>
            </a:extLst>
          </p:cNvPr>
          <p:cNvSpPr/>
          <p:nvPr/>
        </p:nvSpPr>
        <p:spPr>
          <a:xfrm>
            <a:off x="6792952" y="2764257"/>
            <a:ext cx="111237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투찰하기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80031BC-0C7A-C9CE-2DA6-9160F7E79C4F}"/>
              </a:ext>
            </a:extLst>
          </p:cNvPr>
          <p:cNvSpPr/>
          <p:nvPr/>
        </p:nvSpPr>
        <p:spPr>
          <a:xfrm>
            <a:off x="5393674" y="2764257"/>
            <a:ext cx="1335895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제출하기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DB7FC07-EEEC-0018-C5D6-EE294C4A362D}"/>
              </a:ext>
            </a:extLst>
          </p:cNvPr>
          <p:cNvSpPr/>
          <p:nvPr/>
        </p:nvSpPr>
        <p:spPr>
          <a:xfrm>
            <a:off x="3864254" y="4473001"/>
            <a:ext cx="4329106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AF9A313-650B-67AE-4E44-768880CD1CD2}"/>
              </a:ext>
            </a:extLst>
          </p:cNvPr>
          <p:cNvSpPr/>
          <p:nvPr/>
        </p:nvSpPr>
        <p:spPr>
          <a:xfrm>
            <a:off x="3864254" y="4745914"/>
            <a:ext cx="4329106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0DC98CB-1C7E-A9A9-F982-30A23FED0D50}"/>
              </a:ext>
            </a:extLst>
          </p:cNvPr>
          <p:cNvSpPr/>
          <p:nvPr/>
        </p:nvSpPr>
        <p:spPr>
          <a:xfrm>
            <a:off x="7923360" y="4473001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C65E6D5-BDE1-2098-2EA7-C65840F8D1F6}"/>
              </a:ext>
            </a:extLst>
          </p:cNvPr>
          <p:cNvSpPr/>
          <p:nvPr/>
        </p:nvSpPr>
        <p:spPr>
          <a:xfrm>
            <a:off x="3972033" y="5159300"/>
            <a:ext cx="4068685" cy="976609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낙찰자 선정방법이 ‘제한적 최저가’, ‘2단계 경쟁입찰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규격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분리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)’, ‘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적격심사’의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경우에는 우선 입찰 서류 제출만으로 입찰 참여가 완료됩니다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서류를 통한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규격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기술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심사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진행됩니다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 후 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시점에 별도 통보 드립니다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95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BE327569-B572-EDC6-882F-9FF65C2AD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155" y="536238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직사각형 95">
            <a:extLst>
              <a:ext uri="{FF2B5EF4-FFF2-40B4-BE49-F238E27FC236}">
                <a16:creationId xmlns:a16="http://schemas.microsoft.com/office/drawing/2014/main" id="{56CA8F5B-CDD2-AD59-A677-A2F4C20AAD5D}"/>
              </a:ext>
            </a:extLst>
          </p:cNvPr>
          <p:cNvSpPr/>
          <p:nvPr/>
        </p:nvSpPr>
        <p:spPr>
          <a:xfrm>
            <a:off x="7341300" y="6209432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EA42D56-B692-C9F9-B532-233BEC214A1A}"/>
              </a:ext>
            </a:extLst>
          </p:cNvPr>
          <p:cNvSpPr/>
          <p:nvPr/>
        </p:nvSpPr>
        <p:spPr>
          <a:xfrm>
            <a:off x="3995474" y="4842302"/>
            <a:ext cx="12583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088D1D56-CCFC-6FF4-FF21-EDF9E84953CA}"/>
              </a:ext>
            </a:extLst>
          </p:cNvPr>
          <p:cNvCxnSpPr>
            <a:cxnSpLocks/>
            <a:stCxn id="89" idx="3"/>
            <a:endCxn id="92" idx="3"/>
          </p:cNvCxnSpPr>
          <p:nvPr/>
        </p:nvCxnSpPr>
        <p:spPr>
          <a:xfrm>
            <a:off x="7905326" y="2908273"/>
            <a:ext cx="288034" cy="2763360"/>
          </a:xfrm>
          <a:prstGeom prst="bentConnector3">
            <a:avLst>
              <a:gd name="adj1" fmla="val 179366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F38791F5-6084-894A-1A2E-C8B8DC1B54B1}"/>
              </a:ext>
            </a:extLst>
          </p:cNvPr>
          <p:cNvSpPr/>
          <p:nvPr/>
        </p:nvSpPr>
        <p:spPr>
          <a:xfrm>
            <a:off x="5285662" y="26766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EA55D274-ECDA-A57E-BE80-7A615AE9F12C}"/>
              </a:ext>
            </a:extLst>
          </p:cNvPr>
          <p:cNvSpPr/>
          <p:nvPr/>
        </p:nvSpPr>
        <p:spPr>
          <a:xfrm>
            <a:off x="3817155" y="437368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8EAF011-1822-FC4B-ECAF-0E24ECB983F8}"/>
              </a:ext>
            </a:extLst>
          </p:cNvPr>
          <p:cNvSpPr/>
          <p:nvPr/>
        </p:nvSpPr>
        <p:spPr>
          <a:xfrm>
            <a:off x="1470251" y="2340663"/>
            <a:ext cx="363617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제한 안내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7C89B15-EFC5-5940-07FD-04961E660E32}"/>
              </a:ext>
            </a:extLst>
          </p:cNvPr>
          <p:cNvSpPr/>
          <p:nvPr/>
        </p:nvSpPr>
        <p:spPr>
          <a:xfrm>
            <a:off x="1470251" y="2613576"/>
            <a:ext cx="3636171" cy="166326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D4FB1E6-6419-CCA2-2FAD-E8F9B637F08D}"/>
              </a:ext>
            </a:extLst>
          </p:cNvPr>
          <p:cNvSpPr/>
          <p:nvPr/>
        </p:nvSpPr>
        <p:spPr>
          <a:xfrm>
            <a:off x="4833044" y="234066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52D65CC8-F0BF-D698-BF12-77A0F84FE2CA}"/>
              </a:ext>
            </a:extLst>
          </p:cNvPr>
          <p:cNvSpPr/>
          <p:nvPr/>
        </p:nvSpPr>
        <p:spPr>
          <a:xfrm>
            <a:off x="1578030" y="3026963"/>
            <a:ext cx="3369267" cy="773524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입찰은 계약방법이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경쟁입찰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지명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)’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건으로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제한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지명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된 업체만 입찰이 가능합니다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참여가 가능한 업체만 참여할 수 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05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B7667E5A-C8C8-C5AC-C05D-3EBBFF6A9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152" y="3128505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EF7CE67-9BEC-99E9-7A5D-70C8475DAA0D}"/>
              </a:ext>
            </a:extLst>
          </p:cNvPr>
          <p:cNvSpPr/>
          <p:nvPr/>
        </p:nvSpPr>
        <p:spPr>
          <a:xfrm>
            <a:off x="4248226" y="388406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F36BA4F-F484-7B6E-8B32-9428096BB052}"/>
              </a:ext>
            </a:extLst>
          </p:cNvPr>
          <p:cNvSpPr/>
          <p:nvPr/>
        </p:nvSpPr>
        <p:spPr>
          <a:xfrm>
            <a:off x="1601471" y="2709964"/>
            <a:ext cx="12583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제한 안내</a:t>
            </a: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EE68E588-1959-782A-4184-C3FCF57821DB}"/>
              </a:ext>
            </a:extLst>
          </p:cNvPr>
          <p:cNvSpPr/>
          <p:nvPr/>
        </p:nvSpPr>
        <p:spPr>
          <a:xfrm>
            <a:off x="1362006" y="22413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BFF39D88-D896-1752-12D7-DA5C5EBA2C69}"/>
              </a:ext>
            </a:extLst>
          </p:cNvPr>
          <p:cNvCxnSpPr>
            <a:cxnSpLocks/>
            <a:stCxn id="90" idx="2"/>
            <a:endCxn id="102" idx="3"/>
          </p:cNvCxnSpPr>
          <p:nvPr/>
        </p:nvCxnSpPr>
        <p:spPr>
          <a:xfrm rot="5400000">
            <a:off x="5387563" y="2771148"/>
            <a:ext cx="392918" cy="955200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타원 109">
            <a:extLst>
              <a:ext uri="{FF2B5EF4-FFF2-40B4-BE49-F238E27FC236}">
                <a16:creationId xmlns:a16="http://schemas.microsoft.com/office/drawing/2014/main" id="{900112F4-BF11-481D-FDC5-5BD53BCE24E1}"/>
              </a:ext>
            </a:extLst>
          </p:cNvPr>
          <p:cNvSpPr/>
          <p:nvPr/>
        </p:nvSpPr>
        <p:spPr>
          <a:xfrm>
            <a:off x="6684940" y="267280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EFBB574-0B55-658F-CBA6-F09794EDC89E}"/>
              </a:ext>
            </a:extLst>
          </p:cNvPr>
          <p:cNvSpPr/>
          <p:nvPr/>
        </p:nvSpPr>
        <p:spPr>
          <a:xfrm>
            <a:off x="127413" y="4660824"/>
            <a:ext cx="363617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18F479C5-BA92-EAE6-C8E7-D6CD597EA6EB}"/>
              </a:ext>
            </a:extLst>
          </p:cNvPr>
          <p:cNvSpPr/>
          <p:nvPr/>
        </p:nvSpPr>
        <p:spPr>
          <a:xfrm>
            <a:off x="127413" y="4933737"/>
            <a:ext cx="3636171" cy="166326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AC561D8-A497-2BB4-BBBD-E7F9F0308F49}"/>
              </a:ext>
            </a:extLst>
          </p:cNvPr>
          <p:cNvSpPr/>
          <p:nvPr/>
        </p:nvSpPr>
        <p:spPr>
          <a:xfrm>
            <a:off x="3490206" y="466082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965FDAF-0E9B-72E4-8FB1-5E222872CF28}"/>
              </a:ext>
            </a:extLst>
          </p:cNvPr>
          <p:cNvSpPr/>
          <p:nvPr/>
        </p:nvSpPr>
        <p:spPr>
          <a:xfrm>
            <a:off x="235192" y="5347124"/>
            <a:ext cx="3369267" cy="773524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위해서는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반드시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 먼저 제출되어야 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서류를 제출하신 후 가격을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15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C3D51A15-94F4-F6E8-EF1C-0452151CC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14" y="5448666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C50BF605-4573-4A76-E52B-265C456EF0C5}"/>
              </a:ext>
            </a:extLst>
          </p:cNvPr>
          <p:cNvSpPr/>
          <p:nvPr/>
        </p:nvSpPr>
        <p:spPr>
          <a:xfrm>
            <a:off x="2905388" y="620422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D7695A9-8320-F16D-C9F8-D06EE01A20AC}"/>
              </a:ext>
            </a:extLst>
          </p:cNvPr>
          <p:cNvSpPr/>
          <p:nvPr/>
        </p:nvSpPr>
        <p:spPr>
          <a:xfrm>
            <a:off x="258633" y="5030125"/>
            <a:ext cx="12583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F7937594-9748-84C1-B5BA-DB897D09FC65}"/>
              </a:ext>
            </a:extLst>
          </p:cNvPr>
          <p:cNvCxnSpPr>
            <a:cxnSpLocks/>
            <a:stCxn id="89" idx="2"/>
            <a:endCxn id="111" idx="0"/>
          </p:cNvCxnSpPr>
          <p:nvPr/>
        </p:nvCxnSpPr>
        <p:spPr>
          <a:xfrm rot="5400000">
            <a:off x="3843052" y="1154736"/>
            <a:ext cx="1608535" cy="5403640"/>
          </a:xfrm>
          <a:prstGeom prst="bentConnector3">
            <a:avLst>
              <a:gd name="adj1" fmla="val 80032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타원 118">
            <a:extLst>
              <a:ext uri="{FF2B5EF4-FFF2-40B4-BE49-F238E27FC236}">
                <a16:creationId xmlns:a16="http://schemas.microsoft.com/office/drawing/2014/main" id="{E14398B7-E613-E8D0-768A-4077D23068E1}"/>
              </a:ext>
            </a:extLst>
          </p:cNvPr>
          <p:cNvSpPr/>
          <p:nvPr/>
        </p:nvSpPr>
        <p:spPr>
          <a:xfrm>
            <a:off x="56456" y="456781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8659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5FA14-1EAE-852A-37CE-66AA2015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B63CFE4-174F-EB22-1A0D-903CC63332A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C3A1E2-2EFE-F42D-0F37-3E1ADFB7C7CB}"/>
              </a:ext>
            </a:extLst>
          </p:cNvPr>
          <p:cNvSpPr txBox="1"/>
          <p:nvPr/>
        </p:nvSpPr>
        <p:spPr>
          <a:xfrm>
            <a:off x="749224" y="25608"/>
            <a:ext cx="2509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29F83-870A-7B2A-3951-24F6B42F3B14}"/>
              </a:ext>
            </a:extLst>
          </p:cNvPr>
          <p:cNvSpPr txBox="1"/>
          <p:nvPr/>
        </p:nvSpPr>
        <p:spPr>
          <a:xfrm>
            <a:off x="8049344" y="584684"/>
            <a:ext cx="185665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입찰에 참여하는 협력업체의 담당자 선택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선택하면 등록된 정보로 아래의 항목 자동 완성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117743-349C-D0C4-D9AA-DBD63943813A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6C405A0-9315-5AAB-7D1A-E0BA8F6A9A5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2E5E18F-01F0-C37A-80E9-4D6B95279F6F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FC998EF-A35D-FA56-9C5D-90A6674713B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0C8721-0FF5-89E2-F57B-73D6EE2D0933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0B97E4-B256-72BB-BB92-1201B719DDDE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D2AA68-D242-17A0-8365-1E9505E546D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5" name="Picture 1">
            <a:extLst>
              <a:ext uri="{FF2B5EF4-FFF2-40B4-BE49-F238E27FC236}">
                <a16:creationId xmlns:a16="http://schemas.microsoft.com/office/drawing/2014/main" id="{97423D12-B3D3-919A-1B32-D0F978E82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AD67019-5D22-B9A7-B72C-AEC4126C7659}"/>
              </a:ext>
            </a:extLst>
          </p:cNvPr>
          <p:cNvCxnSpPr>
            <a:cxnSpLocks/>
          </p:cNvCxnSpPr>
          <p:nvPr/>
        </p:nvCxnSpPr>
        <p:spPr>
          <a:xfrm>
            <a:off x="167468" y="19508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9D3161-A490-224B-118D-080D6CEE119A}"/>
              </a:ext>
            </a:extLst>
          </p:cNvPr>
          <p:cNvSpPr/>
          <p:nvPr/>
        </p:nvSpPr>
        <p:spPr>
          <a:xfrm>
            <a:off x="189384" y="2803054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담당자 정보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입찰 참여의 담당자 정보를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기능을 통해 등록 후 사용하세요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0CD5565-145C-A7FB-3DE7-1DA369FB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940060"/>
              </p:ext>
            </p:extLst>
          </p:nvPr>
        </p:nvGraphicFramePr>
        <p:xfrm>
          <a:off x="190346" y="3092623"/>
          <a:ext cx="7714979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25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8872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선택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      </a:t>
                      </a: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8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E633D77C-9247-B49F-3A28-F4E496B3180B}"/>
              </a:ext>
            </a:extLst>
          </p:cNvPr>
          <p:cNvSpPr/>
          <p:nvPr/>
        </p:nvSpPr>
        <p:spPr>
          <a:xfrm>
            <a:off x="1385217" y="3150723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선택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FDD5097-A574-669B-ED85-E7B423C6A0CE}"/>
              </a:ext>
            </a:extLst>
          </p:cNvPr>
          <p:cNvSpPr/>
          <p:nvPr/>
        </p:nvSpPr>
        <p:spPr>
          <a:xfrm>
            <a:off x="2646606" y="3150725"/>
            <a:ext cx="227054" cy="20800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58FC326-F4D8-AAAA-BBF8-94C8CFB09F06}"/>
              </a:ext>
            </a:extLst>
          </p:cNvPr>
          <p:cNvGrpSpPr/>
          <p:nvPr/>
        </p:nvGrpSpPr>
        <p:grpSpPr>
          <a:xfrm>
            <a:off x="164465" y="2044858"/>
            <a:ext cx="7717013" cy="643315"/>
            <a:chOff x="164466" y="1249917"/>
            <a:chExt cx="6403710" cy="643315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6E504A51-F187-ABC6-7CFD-612BA7088E8B}"/>
                </a:ext>
              </a:extLst>
            </p:cNvPr>
            <p:cNvSpPr/>
            <p:nvPr/>
          </p:nvSpPr>
          <p:spPr>
            <a:xfrm>
              <a:off x="1462336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서류 제출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2C021CD-24F6-D024-A44F-8B4E5282FC7A}"/>
                </a:ext>
              </a:extLst>
            </p:cNvPr>
            <p:cNvSpPr/>
            <p:nvPr/>
          </p:nvSpPr>
          <p:spPr>
            <a:xfrm>
              <a:off x="276020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자가 심사</a:t>
              </a: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52D74E7C-55D4-3781-6C3E-6738D489E4D5}"/>
                </a:ext>
              </a:extLst>
            </p:cNvPr>
            <p:cNvSpPr/>
            <p:nvPr/>
          </p:nvSpPr>
          <p:spPr>
            <a:xfrm>
              <a:off x="405807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80CDE08A-982E-D6B7-BC89-E3A81A0DC2EB}"/>
                </a:ext>
              </a:extLst>
            </p:cNvPr>
            <p:cNvSpPr/>
            <p:nvPr/>
          </p:nvSpPr>
          <p:spPr>
            <a:xfrm>
              <a:off x="535594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DEC13DE2-DB48-E7E4-8128-1520F0DCDDA7}"/>
                </a:ext>
              </a:extLst>
            </p:cNvPr>
            <p:cNvSpPr/>
            <p:nvPr/>
          </p:nvSpPr>
          <p:spPr>
            <a:xfrm>
              <a:off x="164466" y="1249917"/>
              <a:ext cx="1212231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담당자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7362AE7-5268-2BAA-C791-4694DB28DE9F}"/>
              </a:ext>
            </a:extLst>
          </p:cNvPr>
          <p:cNvSpPr/>
          <p:nvPr/>
        </p:nvSpPr>
        <p:spPr>
          <a:xfrm>
            <a:off x="164467" y="5210755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1BC7263-CE67-26AB-3C76-91392A3D5126}"/>
              </a:ext>
            </a:extLst>
          </p:cNvPr>
          <p:cNvSpPr/>
          <p:nvPr/>
        </p:nvSpPr>
        <p:spPr>
          <a:xfrm>
            <a:off x="7185342" y="5210755"/>
            <a:ext cx="7003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1E6ED34-6110-01C3-A230-F83A35388D4E}"/>
              </a:ext>
            </a:extLst>
          </p:cNvPr>
          <p:cNvSpPr/>
          <p:nvPr/>
        </p:nvSpPr>
        <p:spPr>
          <a:xfrm>
            <a:off x="1224404" y="30661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F393EF8-6DC3-0017-8DF4-50A39521E830}"/>
              </a:ext>
            </a:extLst>
          </p:cNvPr>
          <p:cNvGrpSpPr/>
          <p:nvPr/>
        </p:nvGrpSpPr>
        <p:grpSpPr>
          <a:xfrm>
            <a:off x="163502" y="1595680"/>
            <a:ext cx="3700843" cy="350462"/>
            <a:chOff x="163503" y="1595680"/>
            <a:chExt cx="3419709" cy="3504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45B09B9-EBF6-F9E2-2818-21586DBCAEC1}"/>
                </a:ext>
              </a:extLst>
            </p:cNvPr>
            <p:cNvSpPr/>
            <p:nvPr/>
          </p:nvSpPr>
          <p:spPr>
            <a:xfrm>
              <a:off x="163503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입찰공고 정보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94F1FD6-8923-0B91-8752-021650A46116}"/>
                </a:ext>
              </a:extLst>
            </p:cNvPr>
            <p:cNvSpPr/>
            <p:nvPr/>
          </p:nvSpPr>
          <p:spPr>
            <a:xfrm>
              <a:off x="1305150" y="1595680"/>
              <a:ext cx="1139031" cy="350462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5B1C169-55B2-34D4-34B2-6BD563C0A23F}"/>
                </a:ext>
              </a:extLst>
            </p:cNvPr>
            <p:cNvSpPr/>
            <p:nvPr/>
          </p:nvSpPr>
          <p:spPr>
            <a:xfrm>
              <a:off x="2444181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투찰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D76C090-7E0D-4B28-0736-79E3F9720E9E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78927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1920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920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4195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880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87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7340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E047C11-2E43-B6E5-EFA1-FEB3319C0013}"/>
              </a:ext>
            </a:extLst>
          </p:cNvPr>
          <p:cNvSpPr/>
          <p:nvPr/>
        </p:nvSpPr>
        <p:spPr>
          <a:xfrm>
            <a:off x="386426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7A1364-6AFE-4407-09E7-5FA799C94E7A}"/>
              </a:ext>
            </a:extLst>
          </p:cNvPr>
          <p:cNvSpPr/>
          <p:nvPr/>
        </p:nvSpPr>
        <p:spPr>
          <a:xfrm>
            <a:off x="511702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33CBFB-F93D-8491-5118-2C295F8D40F3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1704068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6F317-9318-15BE-BC9A-AB5658A0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DC1280-7B5A-E4E4-0E0F-6FA03F8A78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9B546-26A0-AC22-DFCC-4170DDE6A975}"/>
              </a:ext>
            </a:extLst>
          </p:cNvPr>
          <p:cNvSpPr txBox="1"/>
          <p:nvPr/>
        </p:nvSpPr>
        <p:spPr>
          <a:xfrm>
            <a:off x="749224" y="25608"/>
            <a:ext cx="2509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6254C-65A4-8BF2-AE78-6FC923649540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서류에 등록한 순서대로 나열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8DEBE21-4A02-A633-0FAF-A25516C49D31}"/>
              </a:ext>
            </a:extLst>
          </p:cNvPr>
          <p:cNvSpPr/>
          <p:nvPr/>
        </p:nvSpPr>
        <p:spPr>
          <a:xfrm>
            <a:off x="189384" y="2769302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서류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되도록 각 항목당 하나의 파일로 등록해주세요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40FD217E-305B-A4D1-E03C-28A13C57EE33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3076448"/>
          <a:ext cx="7717976" cy="2842560"/>
        </p:xfrm>
        <a:graphic>
          <a:graphicData uri="http://schemas.openxmlformats.org/drawingml/2006/table">
            <a:tbl>
              <a:tblPr firstRow="1" bandRow="1"/>
              <a:tblGrid>
                <a:gridCol w="26589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30816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143919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 </a:t>
                      </a: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입찰참가신청서는 반드시 날인이 되어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날인이 빠진 경우 미입찰로 처리됩니다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 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증명서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pic>
        <p:nvPicPr>
          <p:cNvPr id="104" name="그림 103">
            <a:extLst>
              <a:ext uri="{FF2B5EF4-FFF2-40B4-BE49-F238E27FC236}">
                <a16:creationId xmlns:a16="http://schemas.microsoft.com/office/drawing/2014/main" id="{8D0FC8DA-A442-1C4D-D619-9F253DA64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344" y="3365337"/>
            <a:ext cx="5958968" cy="626074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DE0700E3-16ED-C4D5-4894-EA01E116B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344" y="4307613"/>
            <a:ext cx="5958968" cy="626074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71870756-B33B-E74F-35DC-5B41F26AC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344" y="5254621"/>
            <a:ext cx="5958968" cy="626074"/>
          </a:xfrm>
          <a:prstGeom prst="rect">
            <a:avLst/>
          </a:prstGeom>
        </p:spPr>
      </p:pic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E0A3D317-0329-9630-6280-137BF5C9DFC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CFB028FD-9828-8E68-2926-A92B94FFC868}"/>
              </a:ext>
            </a:extLst>
          </p:cNvPr>
          <p:cNvSpPr/>
          <p:nvPr/>
        </p:nvSpPr>
        <p:spPr>
          <a:xfrm>
            <a:off x="164467" y="6014207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525C9953-E236-CA7C-93AE-A2BD64332029}"/>
              </a:ext>
            </a:extLst>
          </p:cNvPr>
          <p:cNvSpPr/>
          <p:nvPr/>
        </p:nvSpPr>
        <p:spPr>
          <a:xfrm>
            <a:off x="7185342" y="6014207"/>
            <a:ext cx="7003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32C6BC9-D866-76F4-2441-EAF331AD922E}"/>
              </a:ext>
            </a:extLst>
          </p:cNvPr>
          <p:cNvGrpSpPr/>
          <p:nvPr/>
        </p:nvGrpSpPr>
        <p:grpSpPr>
          <a:xfrm>
            <a:off x="164465" y="2029601"/>
            <a:ext cx="7717013" cy="643315"/>
            <a:chOff x="164466" y="1249917"/>
            <a:chExt cx="6403710" cy="64331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B85990-D5EC-049B-3992-4C10E2D4C7BE}"/>
                </a:ext>
              </a:extLst>
            </p:cNvPr>
            <p:cNvSpPr/>
            <p:nvPr/>
          </p:nvSpPr>
          <p:spPr>
            <a:xfrm>
              <a:off x="1462336" y="1249917"/>
              <a:ext cx="1212231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서류 제출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BD827E4-FC77-790C-C4D4-E2578E31101C}"/>
                </a:ext>
              </a:extLst>
            </p:cNvPr>
            <p:cNvSpPr/>
            <p:nvPr/>
          </p:nvSpPr>
          <p:spPr>
            <a:xfrm>
              <a:off x="276020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자가 심사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E00D3DA-8710-9A9E-BE7B-143F1BBF2E90}"/>
                </a:ext>
              </a:extLst>
            </p:cNvPr>
            <p:cNvSpPr/>
            <p:nvPr/>
          </p:nvSpPr>
          <p:spPr>
            <a:xfrm>
              <a:off x="405807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39E29EB-8505-5841-82BB-5F62D02F5D4E}"/>
                </a:ext>
              </a:extLst>
            </p:cNvPr>
            <p:cNvSpPr/>
            <p:nvPr/>
          </p:nvSpPr>
          <p:spPr>
            <a:xfrm>
              <a:off x="535594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275AFBA-81D8-F965-4228-0DA7CE9748C5}"/>
                </a:ext>
              </a:extLst>
            </p:cNvPr>
            <p:cNvSpPr/>
            <p:nvPr/>
          </p:nvSpPr>
          <p:spPr>
            <a:xfrm>
              <a:off x="164466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담당자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3" name="타원 22">
            <a:extLst>
              <a:ext uri="{FF2B5EF4-FFF2-40B4-BE49-F238E27FC236}">
                <a16:creationId xmlns:a16="http://schemas.microsoft.com/office/drawing/2014/main" id="{4DF050ED-EE24-85D4-F638-E81B99061A79}"/>
              </a:ext>
            </a:extLst>
          </p:cNvPr>
          <p:cNvSpPr/>
          <p:nvPr/>
        </p:nvSpPr>
        <p:spPr>
          <a:xfrm>
            <a:off x="153129" y="302237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87F7CE9-781F-BDFB-1A26-D06EAA766A47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573D0FCB-05F9-BC5B-A51F-46E751900158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14B9D7E-2EF7-8DFF-FA12-8C875EAC915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26CA6B-1FA9-C34B-9B10-7E7CB2BAB074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5B143A0-9EC4-964E-A266-D676EC306289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179B73D-921D-922E-1350-EFE73E43619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5" name="Picture 1">
            <a:extLst>
              <a:ext uri="{FF2B5EF4-FFF2-40B4-BE49-F238E27FC236}">
                <a16:creationId xmlns:a16="http://schemas.microsoft.com/office/drawing/2014/main" id="{45892E83-684A-67C7-EB69-F294C00C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767D44D-EBC1-BD65-7997-88E757EF96ED}"/>
              </a:ext>
            </a:extLst>
          </p:cNvPr>
          <p:cNvCxnSpPr>
            <a:cxnSpLocks/>
          </p:cNvCxnSpPr>
          <p:nvPr/>
        </p:nvCxnSpPr>
        <p:spPr>
          <a:xfrm>
            <a:off x="167468" y="19508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81BF12C3-4AC1-059E-8F6D-D01990941708}"/>
              </a:ext>
            </a:extLst>
          </p:cNvPr>
          <p:cNvGrpSpPr/>
          <p:nvPr/>
        </p:nvGrpSpPr>
        <p:grpSpPr>
          <a:xfrm>
            <a:off x="163502" y="1595680"/>
            <a:ext cx="3727851" cy="350462"/>
            <a:chOff x="163503" y="1595680"/>
            <a:chExt cx="3419709" cy="35046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F831B3E-5060-5210-FB4D-5EE9663B108C}"/>
                </a:ext>
              </a:extLst>
            </p:cNvPr>
            <p:cNvSpPr/>
            <p:nvPr/>
          </p:nvSpPr>
          <p:spPr>
            <a:xfrm>
              <a:off x="163503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입찰공고 정보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B6B31ABC-2C48-20BE-2E66-C740036594F2}"/>
                </a:ext>
              </a:extLst>
            </p:cNvPr>
            <p:cNvSpPr/>
            <p:nvPr/>
          </p:nvSpPr>
          <p:spPr>
            <a:xfrm>
              <a:off x="1305150" y="1595680"/>
              <a:ext cx="1139031" cy="350462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02A5A46-8133-7514-8350-3C42E6765120}"/>
                </a:ext>
              </a:extLst>
            </p:cNvPr>
            <p:cNvSpPr/>
            <p:nvPr/>
          </p:nvSpPr>
          <p:spPr>
            <a:xfrm>
              <a:off x="2444181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투찰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EDE4E6F-CBAD-8D61-F797-07C6EE98D334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78927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1920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920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4195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880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87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7340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5089CED-AC24-B908-F82E-84793388D2DB}"/>
              </a:ext>
            </a:extLst>
          </p:cNvPr>
          <p:cNvSpPr/>
          <p:nvPr/>
        </p:nvSpPr>
        <p:spPr>
          <a:xfrm>
            <a:off x="386426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4447A1-FCDC-0563-1324-DA09EAB3B3E3}"/>
              </a:ext>
            </a:extLst>
          </p:cNvPr>
          <p:cNvSpPr/>
          <p:nvPr/>
        </p:nvSpPr>
        <p:spPr>
          <a:xfrm>
            <a:off x="511702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ADA0E8-FB04-7583-4F58-6930C247A149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825510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996F-1D97-9BB4-F161-85FB03D11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5385AE4-B2D0-7B84-4CDA-BF457DF3C7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CDC6E8-5A57-8A2E-7F37-7475F2E72865}"/>
              </a:ext>
            </a:extLst>
          </p:cNvPr>
          <p:cNvSpPr txBox="1"/>
          <p:nvPr/>
        </p:nvSpPr>
        <p:spPr>
          <a:xfrm>
            <a:off x="749224" y="25608"/>
            <a:ext cx="2509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16D13958-DAA2-1E27-6A6B-B85BC3F79AC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38EFA69-DE09-0B70-D198-62D6966B87D9}"/>
              </a:ext>
            </a:extLst>
          </p:cNvPr>
          <p:cNvSpPr/>
          <p:nvPr/>
        </p:nvSpPr>
        <p:spPr>
          <a:xfrm>
            <a:off x="164467" y="534678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58F0C73-A10C-E22D-CE75-7043FA14AB93}"/>
              </a:ext>
            </a:extLst>
          </p:cNvPr>
          <p:cNvSpPr/>
          <p:nvPr/>
        </p:nvSpPr>
        <p:spPr>
          <a:xfrm>
            <a:off x="7185342" y="5346782"/>
            <a:ext cx="7003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7DEBC5-A997-E5DD-021D-6C110947295E}"/>
              </a:ext>
            </a:extLst>
          </p:cNvPr>
          <p:cNvSpPr/>
          <p:nvPr/>
        </p:nvSpPr>
        <p:spPr>
          <a:xfrm>
            <a:off x="189384" y="2769302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자가 심사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517C935-3045-AB64-06B9-F82635BACB4F}"/>
              </a:ext>
            </a:extLst>
          </p:cNvPr>
          <p:cNvGraphicFramePr>
            <a:graphicFrameLocks noGrp="1"/>
          </p:cNvGraphicFramePr>
          <p:nvPr/>
        </p:nvGraphicFramePr>
        <p:xfrm>
          <a:off x="179898" y="3564390"/>
          <a:ext cx="7701580" cy="1689600"/>
        </p:xfrm>
        <a:graphic>
          <a:graphicData uri="http://schemas.openxmlformats.org/drawingml/2006/table">
            <a:tbl>
              <a:tblPr firstRow="1" bandRow="1"/>
              <a:tblGrid>
                <a:gridCol w="38048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24031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90064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  <a:gridCol w="862471">
                  <a:extLst>
                    <a:ext uri="{9D8B030D-6E8A-4147-A177-3AD203B41FA5}">
                      <a16:colId xmlns:a16="http://schemas.microsoft.com/office/drawing/2014/main" val="2007680974"/>
                    </a:ext>
                  </a:extLst>
                </a:gridCol>
                <a:gridCol w="554408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763252">
                  <a:extLst>
                    <a:ext uri="{9D8B030D-6E8A-4147-A177-3AD203B41FA5}">
                      <a16:colId xmlns:a16="http://schemas.microsoft.com/office/drawing/2014/main" val="1963879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항목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자가심사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배점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평가점수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시공경험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일반공사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15.42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65154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60FBBDED-8402-AA56-D2F5-0B15BC15E525}"/>
              </a:ext>
            </a:extLst>
          </p:cNvPr>
          <p:cNvSpPr/>
          <p:nvPr/>
        </p:nvSpPr>
        <p:spPr>
          <a:xfrm>
            <a:off x="6554428" y="3957524"/>
            <a:ext cx="110442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숫자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소수점 가능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F00122-0B4E-058E-6857-75FFAE860559}"/>
              </a:ext>
            </a:extLst>
          </p:cNvPr>
          <p:cNvSpPr/>
          <p:nvPr/>
        </p:nvSpPr>
        <p:spPr>
          <a:xfrm>
            <a:off x="6554428" y="4291919"/>
            <a:ext cx="110442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lvl="0" algn="l">
              <a:defRPr/>
            </a:pPr>
            <a:r>
              <a:rPr lang="ko-KR" altLang="en-US" sz="800" b="0" dirty="0">
                <a:solidFill>
                  <a:prstClr val="white">
                    <a:lumMod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b="0" dirty="0">
                <a:solidFill>
                  <a:prstClr val="white">
                    <a:lumMod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0" dirty="0">
                <a:solidFill>
                  <a:prstClr val="white">
                    <a:lumMod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소수점 가능</a:t>
            </a:r>
            <a:r>
              <a:rPr lang="en-US" altLang="ko-KR" sz="800" b="0" dirty="0">
                <a:solidFill>
                  <a:prstClr val="white">
                    <a:lumMod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68F770-C3F3-8851-9945-C6C58F20589D}"/>
              </a:ext>
            </a:extLst>
          </p:cNvPr>
          <p:cNvSpPr/>
          <p:nvPr/>
        </p:nvSpPr>
        <p:spPr>
          <a:xfrm>
            <a:off x="6554428" y="4637768"/>
            <a:ext cx="110442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lvl="0" algn="l">
              <a:defRPr/>
            </a:pPr>
            <a:r>
              <a:rPr lang="ko-KR" altLang="en-US" sz="800" b="0" dirty="0">
                <a:solidFill>
                  <a:prstClr val="white">
                    <a:lumMod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b="0" dirty="0">
                <a:solidFill>
                  <a:prstClr val="white">
                    <a:lumMod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0" dirty="0">
                <a:solidFill>
                  <a:prstClr val="white">
                    <a:lumMod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소수점 가능</a:t>
            </a:r>
            <a:r>
              <a:rPr lang="en-US" altLang="ko-KR" sz="800" b="0" dirty="0">
                <a:solidFill>
                  <a:prstClr val="white">
                    <a:lumMod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5CD7821-4B4D-27DC-A70D-3463E57496B0}"/>
              </a:ext>
            </a:extLst>
          </p:cNvPr>
          <p:cNvSpPr/>
          <p:nvPr/>
        </p:nvSpPr>
        <p:spPr>
          <a:xfrm>
            <a:off x="183739" y="3038396"/>
            <a:ext cx="770968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입찰공고는 자가심사를 진행하지 않습니다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24C54D-CE4A-9A29-45CE-D87244675E87}"/>
              </a:ext>
            </a:extLst>
          </p:cNvPr>
          <p:cNvSpPr txBox="1"/>
          <p:nvPr/>
        </p:nvSpPr>
        <p:spPr>
          <a:xfrm>
            <a:off x="8049344" y="584684"/>
            <a:ext cx="1856656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자가 심사 항목이 없는 경우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자가 심사 순서대로 나열하며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자가심사가 필요 없는 경우 보여주지 않음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D1EBA2AA-863A-FD9F-9209-3880C4C20D9C}"/>
              </a:ext>
            </a:extLst>
          </p:cNvPr>
          <p:cNvSpPr/>
          <p:nvPr/>
        </p:nvSpPr>
        <p:spPr>
          <a:xfrm>
            <a:off x="81372" y="300128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50F8993-5820-7A04-D6FF-D16DB17D0168}"/>
              </a:ext>
            </a:extLst>
          </p:cNvPr>
          <p:cNvGrpSpPr/>
          <p:nvPr/>
        </p:nvGrpSpPr>
        <p:grpSpPr>
          <a:xfrm>
            <a:off x="164465" y="2018049"/>
            <a:ext cx="7717013" cy="643315"/>
            <a:chOff x="164466" y="1249917"/>
            <a:chExt cx="6403710" cy="64331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35D5E7A-125C-3109-42B9-DF096BB39A68}"/>
                </a:ext>
              </a:extLst>
            </p:cNvPr>
            <p:cNvSpPr/>
            <p:nvPr/>
          </p:nvSpPr>
          <p:spPr>
            <a:xfrm>
              <a:off x="1462336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서류 제출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AD32C51-9875-AF87-1EA2-0CD665AE8DD5}"/>
                </a:ext>
              </a:extLst>
            </p:cNvPr>
            <p:cNvSpPr/>
            <p:nvPr/>
          </p:nvSpPr>
          <p:spPr>
            <a:xfrm>
              <a:off x="2760205" y="1249917"/>
              <a:ext cx="1212231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자가 심사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0CB767B-CA9C-E675-A2BD-825A573E7DD2}"/>
                </a:ext>
              </a:extLst>
            </p:cNvPr>
            <p:cNvSpPr/>
            <p:nvPr/>
          </p:nvSpPr>
          <p:spPr>
            <a:xfrm>
              <a:off x="405807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47D4472-DE9C-083C-ABC0-0AC12DC7C85A}"/>
                </a:ext>
              </a:extLst>
            </p:cNvPr>
            <p:cNvSpPr/>
            <p:nvPr/>
          </p:nvSpPr>
          <p:spPr>
            <a:xfrm>
              <a:off x="535594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3EF2F5B-14E5-3DEA-62A3-0D4AD3683853}"/>
                </a:ext>
              </a:extLst>
            </p:cNvPr>
            <p:cNvSpPr/>
            <p:nvPr/>
          </p:nvSpPr>
          <p:spPr>
            <a:xfrm>
              <a:off x="164466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담당자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8B9BF5B1-B54A-F8E9-DB93-082DA2759659}"/>
              </a:ext>
            </a:extLst>
          </p:cNvPr>
          <p:cNvSpPr/>
          <p:nvPr/>
        </p:nvSpPr>
        <p:spPr>
          <a:xfrm>
            <a:off x="81372" y="346819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36F9B7-9DCC-C856-F6E9-DAAF9C8B86D3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353336C-AC6D-1906-8333-FA1E500C7C7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BACEC48-AA03-9BB9-0B27-D1C9BEC2F8D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502B44-D7FB-9F66-1756-6EA75CED18C5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327C92-C667-1394-8321-B440633BF87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2F3C75-BA2E-BE78-AF04-21F64732F8A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5" name="Picture 1">
            <a:extLst>
              <a:ext uri="{FF2B5EF4-FFF2-40B4-BE49-F238E27FC236}">
                <a16:creationId xmlns:a16="http://schemas.microsoft.com/office/drawing/2014/main" id="{A604A0C3-65E4-811E-F943-006BA186B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FAA5FAC-0DD1-238B-905B-1274CE436049}"/>
              </a:ext>
            </a:extLst>
          </p:cNvPr>
          <p:cNvCxnSpPr>
            <a:cxnSpLocks/>
          </p:cNvCxnSpPr>
          <p:nvPr/>
        </p:nvCxnSpPr>
        <p:spPr>
          <a:xfrm>
            <a:off x="167468" y="19508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64B2C6D2-0137-382F-FDE6-129DCB4200A9}"/>
              </a:ext>
            </a:extLst>
          </p:cNvPr>
          <p:cNvGrpSpPr/>
          <p:nvPr/>
        </p:nvGrpSpPr>
        <p:grpSpPr>
          <a:xfrm>
            <a:off x="163502" y="1595680"/>
            <a:ext cx="3754859" cy="350462"/>
            <a:chOff x="163503" y="1595680"/>
            <a:chExt cx="3419709" cy="35046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0C77B6A-FAC3-EEB4-FB66-BFB4752FBCEA}"/>
                </a:ext>
              </a:extLst>
            </p:cNvPr>
            <p:cNvSpPr/>
            <p:nvPr/>
          </p:nvSpPr>
          <p:spPr>
            <a:xfrm>
              <a:off x="163503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입찰공고 정보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39F2226-A3CE-937E-AA5D-D85D2069F5B4}"/>
                </a:ext>
              </a:extLst>
            </p:cNvPr>
            <p:cNvSpPr/>
            <p:nvPr/>
          </p:nvSpPr>
          <p:spPr>
            <a:xfrm>
              <a:off x="1305150" y="1595680"/>
              <a:ext cx="1139031" cy="350462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4F2655E-AFF0-A893-6357-DF039F783435}"/>
                </a:ext>
              </a:extLst>
            </p:cNvPr>
            <p:cNvSpPr/>
            <p:nvPr/>
          </p:nvSpPr>
          <p:spPr>
            <a:xfrm>
              <a:off x="2444181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투찰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1935380-802C-E8FC-7C14-F7EDF563B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49515"/>
              </p:ext>
            </p:extLst>
          </p:nvPr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78927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1920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920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4195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880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87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7340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CA3A657-C7E0-D3B4-1760-5F02F0321DA9}"/>
              </a:ext>
            </a:extLst>
          </p:cNvPr>
          <p:cNvSpPr/>
          <p:nvPr/>
        </p:nvSpPr>
        <p:spPr>
          <a:xfrm>
            <a:off x="386426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AE8E55-15C0-8499-712A-699B1B019409}"/>
              </a:ext>
            </a:extLst>
          </p:cNvPr>
          <p:cNvSpPr/>
          <p:nvPr/>
        </p:nvSpPr>
        <p:spPr>
          <a:xfrm>
            <a:off x="511702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8D2C9B-6C51-C870-1608-B9A88CC6B4AE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15706503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20D4-5351-D7E2-E24D-7737EC55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45EA37F-B7BE-01AE-F84D-7251FAD91B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15F710-2559-F601-9783-8FCBDB606D8B}"/>
              </a:ext>
            </a:extLst>
          </p:cNvPr>
          <p:cNvSpPr txBox="1"/>
          <p:nvPr/>
        </p:nvSpPr>
        <p:spPr>
          <a:xfrm>
            <a:off x="749224" y="25608"/>
            <a:ext cx="2509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F0A42-B5D2-B31B-E561-F9424F4558FB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9E2E86-CC6D-9614-B235-981A64B8F7D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1E8A786-7443-D570-C4CA-34E1A3F6BE7A}"/>
              </a:ext>
            </a:extLst>
          </p:cNvPr>
          <p:cNvGrpSpPr/>
          <p:nvPr/>
        </p:nvGrpSpPr>
        <p:grpSpPr>
          <a:xfrm>
            <a:off x="164465" y="2031624"/>
            <a:ext cx="7717013" cy="643315"/>
            <a:chOff x="164466" y="1249917"/>
            <a:chExt cx="6403710" cy="64331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7764B08-6786-DA2B-5577-C671643DA301}"/>
                </a:ext>
              </a:extLst>
            </p:cNvPr>
            <p:cNvSpPr/>
            <p:nvPr/>
          </p:nvSpPr>
          <p:spPr>
            <a:xfrm>
              <a:off x="1462336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서류 제출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2002C72-A970-E21F-5EE5-8C1DA1A9E445}"/>
                </a:ext>
              </a:extLst>
            </p:cNvPr>
            <p:cNvSpPr/>
            <p:nvPr/>
          </p:nvSpPr>
          <p:spPr>
            <a:xfrm>
              <a:off x="276020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자가 심사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89C15D2-0B75-6B86-FFCB-D75EC396DD74}"/>
                </a:ext>
              </a:extLst>
            </p:cNvPr>
            <p:cNvSpPr/>
            <p:nvPr/>
          </p:nvSpPr>
          <p:spPr>
            <a:xfrm>
              <a:off x="4058075" y="1249917"/>
              <a:ext cx="1212231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0E04AEF-DA93-61F5-1794-D24AC123AE39}"/>
                </a:ext>
              </a:extLst>
            </p:cNvPr>
            <p:cNvSpPr/>
            <p:nvPr/>
          </p:nvSpPr>
          <p:spPr>
            <a:xfrm>
              <a:off x="535594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8D8E75B-01F3-0712-E9CC-C376A019FC2D}"/>
                </a:ext>
              </a:extLst>
            </p:cNvPr>
            <p:cNvSpPr/>
            <p:nvPr/>
          </p:nvSpPr>
          <p:spPr>
            <a:xfrm>
              <a:off x="164466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담당자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28E1B9-FC3D-F39F-F5E3-07D55493761F}"/>
              </a:ext>
            </a:extLst>
          </p:cNvPr>
          <p:cNvSpPr/>
          <p:nvPr/>
        </p:nvSpPr>
        <p:spPr>
          <a:xfrm>
            <a:off x="189384" y="2777928"/>
            <a:ext cx="771497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담당자 정보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‘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01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담당자 정보’를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F1EE3E68-BF89-8940-7D2C-427B92D62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328818"/>
              </p:ext>
            </p:extLst>
          </p:nvPr>
        </p:nvGraphicFramePr>
        <p:xfrm>
          <a:off x="163503" y="3067659"/>
          <a:ext cx="7714979" cy="16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25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8872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73444C2-B6ED-005F-678F-366AF912D1CF}"/>
              </a:ext>
            </a:extLst>
          </p:cNvPr>
          <p:cNvSpPr/>
          <p:nvPr/>
        </p:nvSpPr>
        <p:spPr>
          <a:xfrm>
            <a:off x="189384" y="4896432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서류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‘STEP 02 서류 제출’을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467029E-A466-FED4-0621-9253C2A64F23}"/>
              </a:ext>
            </a:extLst>
          </p:cNvPr>
          <p:cNvGraphicFramePr>
            <a:graphicFrameLocks noGrp="1"/>
          </p:cNvGraphicFramePr>
          <p:nvPr/>
        </p:nvGraphicFramePr>
        <p:xfrm>
          <a:off x="163194" y="5185562"/>
          <a:ext cx="7714979" cy="1013760"/>
        </p:xfrm>
        <a:graphic>
          <a:graphicData uri="http://schemas.openxmlformats.org/drawingml/2006/table">
            <a:tbl>
              <a:tblPr firstRow="1" bandRow="1"/>
              <a:tblGrid>
                <a:gridCol w="41376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8795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2162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첨부파일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 날인본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grpSp>
        <p:nvGrpSpPr>
          <p:cNvPr id="57" name="그룹 56">
            <a:extLst>
              <a:ext uri="{FF2B5EF4-FFF2-40B4-BE49-F238E27FC236}">
                <a16:creationId xmlns:a16="http://schemas.microsoft.com/office/drawing/2014/main" id="{3A1E1D83-B963-76E1-4A90-C89D7A11C4C0}"/>
              </a:ext>
            </a:extLst>
          </p:cNvPr>
          <p:cNvGrpSpPr/>
          <p:nvPr/>
        </p:nvGrpSpPr>
        <p:grpSpPr>
          <a:xfrm>
            <a:off x="3514764" y="5584146"/>
            <a:ext cx="1275802" cy="198885"/>
            <a:chOff x="3514764" y="5575520"/>
            <a:chExt cx="1275802" cy="19888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C85FE45-1D7E-B761-0EBF-20AFA31C8508}"/>
                </a:ext>
              </a:extLst>
            </p:cNvPr>
            <p:cNvSpPr/>
            <p:nvPr/>
          </p:nvSpPr>
          <p:spPr>
            <a:xfrm>
              <a:off x="3514764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69F8CFE-1C2F-89ED-41B7-A7849E1083E4}"/>
                </a:ext>
              </a:extLst>
            </p:cNvPr>
            <p:cNvSpPr/>
            <p:nvPr/>
          </p:nvSpPr>
          <p:spPr>
            <a:xfrm>
              <a:off x="4177601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B2830B7-D4FA-CE44-4217-F24148D66CBC}"/>
              </a:ext>
            </a:extLst>
          </p:cNvPr>
          <p:cNvGrpSpPr/>
          <p:nvPr/>
        </p:nvGrpSpPr>
        <p:grpSpPr>
          <a:xfrm>
            <a:off x="3514764" y="5923314"/>
            <a:ext cx="1275802" cy="198885"/>
            <a:chOff x="3545142" y="4085591"/>
            <a:chExt cx="1275802" cy="198885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D1115AB-FD14-AAEB-39C1-1F2F557131BB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D42E79B-3B73-32EB-3B7C-C16B99D1AD9A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57541A-240A-2A1E-CFEA-2521DFE50974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CA40C1B-77C1-614E-2399-2B9505EAD969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FAC941-ED1F-F7E0-0A29-BA52AD3AB05C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12A67B-F068-C164-C415-4C4774B1761F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4727BFA-A2E0-10DC-66F8-761AFFBBD4F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5979D7-677D-35EB-4CDE-FF6CA1E46FF3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9" name="Picture 1">
            <a:extLst>
              <a:ext uri="{FF2B5EF4-FFF2-40B4-BE49-F238E27FC236}">
                <a16:creationId xmlns:a16="http://schemas.microsoft.com/office/drawing/2014/main" id="{9E0D5115-719A-3CFF-6249-9B006422A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B47505E-010B-FADD-1922-C128D34089E7}"/>
              </a:ext>
            </a:extLst>
          </p:cNvPr>
          <p:cNvCxnSpPr>
            <a:cxnSpLocks/>
          </p:cNvCxnSpPr>
          <p:nvPr/>
        </p:nvCxnSpPr>
        <p:spPr>
          <a:xfrm>
            <a:off x="167468" y="19508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7DBDC8-0D5C-4E0F-CB1B-F2C104C11C47}"/>
              </a:ext>
            </a:extLst>
          </p:cNvPr>
          <p:cNvGrpSpPr/>
          <p:nvPr/>
        </p:nvGrpSpPr>
        <p:grpSpPr>
          <a:xfrm>
            <a:off x="163502" y="1595680"/>
            <a:ext cx="3754859" cy="350462"/>
            <a:chOff x="163503" y="1595680"/>
            <a:chExt cx="3419709" cy="3504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33FB3A8-221D-B2C0-3597-345CE791B7F6}"/>
                </a:ext>
              </a:extLst>
            </p:cNvPr>
            <p:cNvSpPr/>
            <p:nvPr/>
          </p:nvSpPr>
          <p:spPr>
            <a:xfrm>
              <a:off x="163503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입찰공고 정보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23E3E15-AA60-FC3D-2B35-F0A3C5F6EA11}"/>
                </a:ext>
              </a:extLst>
            </p:cNvPr>
            <p:cNvSpPr/>
            <p:nvPr/>
          </p:nvSpPr>
          <p:spPr>
            <a:xfrm>
              <a:off x="1305150" y="1595680"/>
              <a:ext cx="1139031" cy="350462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544FC16-3604-D9C8-4294-AA126DB79B8D}"/>
                </a:ext>
              </a:extLst>
            </p:cNvPr>
            <p:cNvSpPr/>
            <p:nvPr/>
          </p:nvSpPr>
          <p:spPr>
            <a:xfrm>
              <a:off x="2444181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투찰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EB1F0EC-EA9F-37A7-D9AA-A80B79789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183769"/>
              </p:ext>
            </p:extLst>
          </p:nvPr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78927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1920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920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4195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880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87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7340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3737E0C-8AA2-FF50-C97A-F9FB4DA6811F}"/>
              </a:ext>
            </a:extLst>
          </p:cNvPr>
          <p:cNvSpPr/>
          <p:nvPr/>
        </p:nvSpPr>
        <p:spPr>
          <a:xfrm>
            <a:off x="386426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7AA2E7-65E5-1809-8C72-ABEA2D824408}"/>
              </a:ext>
            </a:extLst>
          </p:cNvPr>
          <p:cNvSpPr/>
          <p:nvPr/>
        </p:nvSpPr>
        <p:spPr>
          <a:xfrm>
            <a:off x="511702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66B4E2-796F-9B04-C64D-B10C94E5C375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190282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C419C-3D3B-B09B-0C86-D60285757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E3B64A-5FA2-E6DB-3406-E426901C7B26}"/>
              </a:ext>
            </a:extLst>
          </p:cNvPr>
          <p:cNvSpPr txBox="1"/>
          <p:nvPr/>
        </p:nvSpPr>
        <p:spPr>
          <a:xfrm>
            <a:off x="749224" y="25608"/>
            <a:ext cx="2509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7AD0ADB-F380-B8C9-0142-722E7D65A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203157"/>
              </p:ext>
            </p:extLst>
          </p:nvPr>
        </p:nvGraphicFramePr>
        <p:xfrm>
          <a:off x="163194" y="394538"/>
          <a:ext cx="7714979" cy="675840"/>
        </p:xfrm>
        <a:graphic>
          <a:graphicData uri="http://schemas.openxmlformats.org/drawingml/2006/table">
            <a:tbl>
              <a:tblPr firstRow="1" bandRow="1"/>
              <a:tblGrid>
                <a:gridCol w="41376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8795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2162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093012"/>
                  </a:ext>
                </a:extLst>
              </a:tr>
            </a:tbl>
          </a:graphicData>
        </a:graphic>
      </p:graphicFrame>
      <p:grpSp>
        <p:nvGrpSpPr>
          <p:cNvPr id="57" name="그룹 56">
            <a:extLst>
              <a:ext uri="{FF2B5EF4-FFF2-40B4-BE49-F238E27FC236}">
                <a16:creationId xmlns:a16="http://schemas.microsoft.com/office/drawing/2014/main" id="{8BCCF724-93DB-25A8-CA41-907D24F8AAD1}"/>
              </a:ext>
            </a:extLst>
          </p:cNvPr>
          <p:cNvGrpSpPr/>
          <p:nvPr/>
        </p:nvGrpSpPr>
        <p:grpSpPr>
          <a:xfrm>
            <a:off x="3514764" y="461504"/>
            <a:ext cx="1275802" cy="198885"/>
            <a:chOff x="3514764" y="5575520"/>
            <a:chExt cx="1275802" cy="19888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8275FF5-853C-F174-6A69-948DBAC1E8D0}"/>
                </a:ext>
              </a:extLst>
            </p:cNvPr>
            <p:cNvSpPr/>
            <p:nvPr/>
          </p:nvSpPr>
          <p:spPr>
            <a:xfrm>
              <a:off x="3514764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C7FFCB0-184A-DF4F-DCA1-1032D3D96E6F}"/>
                </a:ext>
              </a:extLst>
            </p:cNvPr>
            <p:cNvSpPr/>
            <p:nvPr/>
          </p:nvSpPr>
          <p:spPr>
            <a:xfrm>
              <a:off x="4177601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847E064-7FEC-7C84-F6ED-F8BCFDD93BA3}"/>
              </a:ext>
            </a:extLst>
          </p:cNvPr>
          <p:cNvGrpSpPr/>
          <p:nvPr/>
        </p:nvGrpSpPr>
        <p:grpSpPr>
          <a:xfrm>
            <a:off x="3514764" y="800672"/>
            <a:ext cx="1275802" cy="198885"/>
            <a:chOff x="3545142" y="4085591"/>
            <a:chExt cx="1275802" cy="198885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5D232DC-9B29-B8D3-991D-4746EB4A88DB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E646859-8A0F-4D24-D4D9-2820FF2690E7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F7A240-A12D-5C66-AB87-B1F509A4FB6B}"/>
              </a:ext>
            </a:extLst>
          </p:cNvPr>
          <p:cNvSpPr/>
          <p:nvPr/>
        </p:nvSpPr>
        <p:spPr>
          <a:xfrm>
            <a:off x="189384" y="1176157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자가 심사     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※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해당 정보를 수정하고자 하는 경우 상단의 ‘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03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자가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심사’를 선택하여 수정해주세요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8152899-87A1-E52A-A5B3-FE6EF8FA7FF1}"/>
              </a:ext>
            </a:extLst>
          </p:cNvPr>
          <p:cNvGraphicFramePr>
            <a:graphicFrameLocks noGrp="1"/>
          </p:cNvGraphicFramePr>
          <p:nvPr/>
        </p:nvGraphicFramePr>
        <p:xfrm>
          <a:off x="179897" y="1971245"/>
          <a:ext cx="7713521" cy="1689600"/>
        </p:xfrm>
        <a:graphic>
          <a:graphicData uri="http://schemas.openxmlformats.org/drawingml/2006/table">
            <a:tbl>
              <a:tblPr firstRow="1" bandRow="1"/>
              <a:tblGrid>
                <a:gridCol w="38107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24223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905143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  <a:gridCol w="863808">
                  <a:extLst>
                    <a:ext uri="{9D8B030D-6E8A-4147-A177-3AD203B41FA5}">
                      <a16:colId xmlns:a16="http://schemas.microsoft.com/office/drawing/2014/main" val="2007680974"/>
                    </a:ext>
                  </a:extLst>
                </a:gridCol>
                <a:gridCol w="555268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765986">
                  <a:extLst>
                    <a:ext uri="{9D8B030D-6E8A-4147-A177-3AD203B41FA5}">
                      <a16:colId xmlns:a16="http://schemas.microsoft.com/office/drawing/2014/main" val="1963879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항목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자가심사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배점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평가점수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4.42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시공경험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일반공사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10.00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5.00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15.42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65154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EDAEB927-31E7-956C-4405-DD1B99453EC3}"/>
              </a:ext>
            </a:extLst>
          </p:cNvPr>
          <p:cNvSpPr/>
          <p:nvPr/>
        </p:nvSpPr>
        <p:spPr>
          <a:xfrm>
            <a:off x="183739" y="1445251"/>
            <a:ext cx="770968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입찰공고는 자가심사를 진행하지 않습니다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8B8AB247-A289-640A-E690-9087381431C9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D43A2-A379-CCEA-B00D-040D1DD84B31}"/>
              </a:ext>
            </a:extLst>
          </p:cNvPr>
          <p:cNvSpPr txBox="1"/>
          <p:nvPr/>
        </p:nvSpPr>
        <p:spPr>
          <a:xfrm>
            <a:off x="8049344" y="584684"/>
            <a:ext cx="18566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자가심사 항목이 없는 경우 표시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시 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MSG-012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서류가 제출되면 제출상태는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완료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상태로 변경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기간이 서류 제출 이후인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’, ‘</a:t>
            </a:r>
            <a:r>
              <a:rPr kumimoji="0"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kumimoji="0"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kumimoji="0"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kumimoji="0"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kumimoji="0"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상태로 변경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8E4C06-9DAF-851A-41DE-F42305D4114A}"/>
              </a:ext>
            </a:extLst>
          </p:cNvPr>
          <p:cNvSpPr/>
          <p:nvPr/>
        </p:nvSpPr>
        <p:spPr>
          <a:xfrm>
            <a:off x="164466" y="3772308"/>
            <a:ext cx="769972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참여에 등록한 내역을 모두 확인하였습니다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오른쪽의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버튼을 통해 입찰 서류 제출을 마무리하세요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3E3EE7-AD5C-287C-A6AB-66AC471B57EE}"/>
              </a:ext>
            </a:extLst>
          </p:cNvPr>
          <p:cNvSpPr/>
          <p:nvPr/>
        </p:nvSpPr>
        <p:spPr>
          <a:xfrm>
            <a:off x="6753199" y="3843815"/>
            <a:ext cx="103548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C7405A4B-EF12-49EC-A4B5-865E7C0F76BC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rot="5400000">
            <a:off x="6372602" y="4584453"/>
            <a:ext cx="1350947" cy="445734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710589-1A1C-FE25-D065-74B7B44D3EC7}"/>
              </a:ext>
            </a:extLst>
          </p:cNvPr>
          <p:cNvSpPr/>
          <p:nvPr/>
        </p:nvSpPr>
        <p:spPr>
          <a:xfrm>
            <a:off x="3008783" y="4628505"/>
            <a:ext cx="3816425" cy="17085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7BCC7C-0650-0B9E-9D30-4F8DBB858A89}"/>
              </a:ext>
            </a:extLst>
          </p:cNvPr>
          <p:cNvSpPr/>
          <p:nvPr/>
        </p:nvSpPr>
        <p:spPr>
          <a:xfrm>
            <a:off x="3008783" y="4355592"/>
            <a:ext cx="3816425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83E934-EEE7-E02F-4B6B-8B5C8315A4BD}"/>
              </a:ext>
            </a:extLst>
          </p:cNvPr>
          <p:cNvSpPr/>
          <p:nvPr/>
        </p:nvSpPr>
        <p:spPr>
          <a:xfrm>
            <a:off x="6555208" y="435559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DE3AAF-4D01-F59E-B10D-B1F5A1347FE9}"/>
              </a:ext>
            </a:extLst>
          </p:cNvPr>
          <p:cNvSpPr/>
          <p:nvPr/>
        </p:nvSpPr>
        <p:spPr>
          <a:xfrm>
            <a:off x="3116563" y="5041892"/>
            <a:ext cx="3600634" cy="727061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서류를 제출합니다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 후에는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‘입찰 참여 현황’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메뉴를 통해 내역을 확인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관리하실 수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있습니다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서류를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68A9D462-5684-633F-3658-6ADACE205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684" y="5115976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9370E5-3293-C417-D8CF-86B6831A6A6F}"/>
              </a:ext>
            </a:extLst>
          </p:cNvPr>
          <p:cNvSpPr/>
          <p:nvPr/>
        </p:nvSpPr>
        <p:spPr>
          <a:xfrm>
            <a:off x="6017311" y="586760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08C482-13C2-3B30-6FFC-BCA142682740}"/>
              </a:ext>
            </a:extLst>
          </p:cNvPr>
          <p:cNvSpPr/>
          <p:nvPr/>
        </p:nvSpPr>
        <p:spPr>
          <a:xfrm>
            <a:off x="3140003" y="4724893"/>
            <a:ext cx="1737655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시 유의사항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F0E91FF-77C8-38E7-CF89-B35419826A4C}"/>
              </a:ext>
            </a:extLst>
          </p:cNvPr>
          <p:cNvSpPr/>
          <p:nvPr/>
        </p:nvSpPr>
        <p:spPr>
          <a:xfrm>
            <a:off x="4898112" y="5867609"/>
            <a:ext cx="105242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070FC72-CC40-61CE-F73C-F3F753E35E1D}"/>
              </a:ext>
            </a:extLst>
          </p:cNvPr>
          <p:cNvSpPr/>
          <p:nvPr/>
        </p:nvSpPr>
        <p:spPr>
          <a:xfrm>
            <a:off x="6637490" y="37669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E69AA6-193D-434F-CCEF-D8AC02F84F78}"/>
              </a:ext>
            </a:extLst>
          </p:cNvPr>
          <p:cNvSpPr/>
          <p:nvPr/>
        </p:nvSpPr>
        <p:spPr>
          <a:xfrm>
            <a:off x="4723329" y="575913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5CC76E4-325F-B718-04BA-6ECE13F1063C}"/>
              </a:ext>
            </a:extLst>
          </p:cNvPr>
          <p:cNvSpPr/>
          <p:nvPr/>
        </p:nvSpPr>
        <p:spPr>
          <a:xfrm>
            <a:off x="71885" y="13799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4380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DF87-F33F-4C94-0DCB-619D28EE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236366D-AFAA-D4EE-95B3-287DEA227D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BAE52-E038-6967-C2BE-40F58A00EF46}"/>
              </a:ext>
            </a:extLst>
          </p:cNvPr>
          <p:cNvSpPr txBox="1"/>
          <p:nvPr/>
        </p:nvSpPr>
        <p:spPr>
          <a:xfrm>
            <a:off x="749224" y="25608"/>
            <a:ext cx="2509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E957B-9A2E-58D2-6328-1098B2E285F0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목록으로 이동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B77F97-0909-E4B8-B015-986D8E0A94DB}"/>
              </a:ext>
            </a:extLst>
          </p:cNvPr>
          <p:cNvGrpSpPr/>
          <p:nvPr/>
        </p:nvGrpSpPr>
        <p:grpSpPr>
          <a:xfrm>
            <a:off x="164465" y="2011399"/>
            <a:ext cx="7717013" cy="643315"/>
            <a:chOff x="164466" y="1249917"/>
            <a:chExt cx="6403710" cy="64331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53A3FC5-C62C-F66E-DDCC-8390AE81F563}"/>
                </a:ext>
              </a:extLst>
            </p:cNvPr>
            <p:cNvSpPr/>
            <p:nvPr/>
          </p:nvSpPr>
          <p:spPr>
            <a:xfrm>
              <a:off x="1462336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서류 제출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27CD27F-FA12-495C-141F-BD07B5B270A7}"/>
                </a:ext>
              </a:extLst>
            </p:cNvPr>
            <p:cNvSpPr/>
            <p:nvPr/>
          </p:nvSpPr>
          <p:spPr>
            <a:xfrm>
              <a:off x="276020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자가 심사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E7EB8A9-D9D5-A05C-EDD8-5AA55F3BC076}"/>
                </a:ext>
              </a:extLst>
            </p:cNvPr>
            <p:cNvSpPr/>
            <p:nvPr/>
          </p:nvSpPr>
          <p:spPr>
            <a:xfrm>
              <a:off x="4058075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B9D3830-E050-3284-660F-F001BABAFE51}"/>
                </a:ext>
              </a:extLst>
            </p:cNvPr>
            <p:cNvSpPr/>
            <p:nvPr/>
          </p:nvSpPr>
          <p:spPr>
            <a:xfrm>
              <a:off x="5355945" y="1249917"/>
              <a:ext cx="1212231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8D349AB-B6A2-994E-6824-9603A5D8157E}"/>
                </a:ext>
              </a:extLst>
            </p:cNvPr>
            <p:cNvSpPr/>
            <p:nvPr/>
          </p:nvSpPr>
          <p:spPr>
            <a:xfrm>
              <a:off x="164466" y="1249917"/>
              <a:ext cx="1212231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담당자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383C01-55F9-FF3A-9B98-C1666C8F7CF0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465C95-1C60-5CBD-CDCB-97EF725CE9CB}"/>
              </a:ext>
            </a:extLst>
          </p:cNvPr>
          <p:cNvSpPr/>
          <p:nvPr/>
        </p:nvSpPr>
        <p:spPr>
          <a:xfrm>
            <a:off x="163127" y="2764295"/>
            <a:ext cx="7740859" cy="861978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제출이 완료되었습니다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만약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진행하지 않으셨다면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마감일 이전에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반드시 진행하세요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(‘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누락되면 입찰 참여가 누락됩니다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‘입찰 참여 현황’ 메뉴를 통해 진행현황을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27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476303BF-9A42-1484-F716-605ED34E6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50" y="291006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018F996-7EC4-98DA-5641-41CF6AD97292}"/>
              </a:ext>
            </a:extLst>
          </p:cNvPr>
          <p:cNvSpPr/>
          <p:nvPr/>
        </p:nvSpPr>
        <p:spPr>
          <a:xfrm>
            <a:off x="6317435" y="3732683"/>
            <a:ext cx="158655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바로가기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6A40A6-E535-FDED-A510-04600CAABC67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E59B571-BAC5-A2FD-6429-D1CBD111B9A7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77C5F9-63BE-02F7-BAA2-DAC85D4CC0D8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CC04B5-9764-12EE-638D-9C5C42FE89D5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A4E29ED-02E0-4217-6D86-4C0EB183611D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5C9C1D-FCAF-DBF5-37C7-17D738CBFA0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1" name="Picture 1">
            <a:extLst>
              <a:ext uri="{FF2B5EF4-FFF2-40B4-BE49-F238E27FC236}">
                <a16:creationId xmlns:a16="http://schemas.microsoft.com/office/drawing/2014/main" id="{31A1E759-CBE2-C542-7AB1-440BB18B0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2AA597D-F038-AF4D-8DFE-9C3A96907AC2}"/>
              </a:ext>
            </a:extLst>
          </p:cNvPr>
          <p:cNvCxnSpPr>
            <a:cxnSpLocks/>
          </p:cNvCxnSpPr>
          <p:nvPr/>
        </p:nvCxnSpPr>
        <p:spPr>
          <a:xfrm>
            <a:off x="167468" y="19508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9623309-55B3-6DB0-57C1-2D841623DB33}"/>
              </a:ext>
            </a:extLst>
          </p:cNvPr>
          <p:cNvGrpSpPr/>
          <p:nvPr/>
        </p:nvGrpSpPr>
        <p:grpSpPr>
          <a:xfrm>
            <a:off x="163502" y="1595680"/>
            <a:ext cx="3727851" cy="350462"/>
            <a:chOff x="163503" y="1595680"/>
            <a:chExt cx="3419709" cy="350462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1FB247A-3C93-8559-D8FC-25CED6A88175}"/>
                </a:ext>
              </a:extLst>
            </p:cNvPr>
            <p:cNvSpPr/>
            <p:nvPr/>
          </p:nvSpPr>
          <p:spPr>
            <a:xfrm>
              <a:off x="163503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입찰공고 정보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669FC2D-7DBE-CF2D-0E93-E0615236AE7D}"/>
                </a:ext>
              </a:extLst>
            </p:cNvPr>
            <p:cNvSpPr/>
            <p:nvPr/>
          </p:nvSpPr>
          <p:spPr>
            <a:xfrm>
              <a:off x="1305150" y="1595680"/>
              <a:ext cx="1139031" cy="350462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BB7E94E-8760-47E8-A38F-988AE8D38E8F}"/>
                </a:ext>
              </a:extLst>
            </p:cNvPr>
            <p:cNvSpPr/>
            <p:nvPr/>
          </p:nvSpPr>
          <p:spPr>
            <a:xfrm>
              <a:off x="2444181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투찰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0B7D666-6BAB-8680-B1A0-A576EBD9585F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78927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1920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920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4195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880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87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7340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96711F1-3043-5644-90F6-AC8A75970ED3}"/>
              </a:ext>
            </a:extLst>
          </p:cNvPr>
          <p:cNvSpPr/>
          <p:nvPr/>
        </p:nvSpPr>
        <p:spPr>
          <a:xfrm>
            <a:off x="386426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3EC342-4A7B-5E2B-B232-6EFDBBEEC6E8}"/>
              </a:ext>
            </a:extLst>
          </p:cNvPr>
          <p:cNvSpPr/>
          <p:nvPr/>
        </p:nvSpPr>
        <p:spPr>
          <a:xfrm>
            <a:off x="511702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451173-6A1E-2CF8-98DB-8A6317AA973D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795A925-99C2-FB40-E378-401BFDF8CB00}"/>
              </a:ext>
            </a:extLst>
          </p:cNvPr>
          <p:cNvSpPr/>
          <p:nvPr/>
        </p:nvSpPr>
        <p:spPr>
          <a:xfrm>
            <a:off x="6204828" y="363131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438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AD50-FA68-3697-6E06-42C0A8EB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5381826-843C-3BD9-77CD-CDF80D4385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0C8D61-63E3-1767-F20A-01557832BE9B}"/>
              </a:ext>
            </a:extLst>
          </p:cNvPr>
          <p:cNvSpPr txBox="1"/>
          <p:nvPr/>
        </p:nvSpPr>
        <p:spPr>
          <a:xfrm>
            <a:off x="749224" y="25608"/>
            <a:ext cx="42659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서류가 제출된 경우 제공되는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49C1A-A85A-8FD4-14AE-F85CCB601063}"/>
              </a:ext>
            </a:extLst>
          </p:cNvPr>
          <p:cNvSpPr txBox="1"/>
          <p:nvPr/>
        </p:nvSpPr>
        <p:spPr>
          <a:xfrm>
            <a:off x="8049344" y="584684"/>
            <a:ext cx="1856656" cy="103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서류가 제출된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제출상태가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제공되는 화면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 다르게 입찰마감일시 전까지는 수정/제출할 수 있음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3179D9-C418-F151-4A18-8E9EBC3B0305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7B61403-E71E-A843-D231-FFEF0B9DA690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6404169-AFC6-7B93-9116-569C4BA34521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0AF4865-EA2D-22E2-0DEC-99E46F7890F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F5FF5F-403A-8849-7BAF-75DDE1291FE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357E42-59B1-82F8-8A5C-E0EC96CC5FF9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0E23FA-235B-E469-9A91-119ADBDFD1E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5" name="Picture 1">
            <a:extLst>
              <a:ext uri="{FF2B5EF4-FFF2-40B4-BE49-F238E27FC236}">
                <a16:creationId xmlns:a16="http://schemas.microsoft.com/office/drawing/2014/main" id="{68465E1F-917D-135B-04BC-B0ABF590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D5214FE-99A6-1D7C-9062-9FAAA4B27B81}"/>
              </a:ext>
            </a:extLst>
          </p:cNvPr>
          <p:cNvCxnSpPr>
            <a:cxnSpLocks/>
          </p:cNvCxnSpPr>
          <p:nvPr/>
        </p:nvCxnSpPr>
        <p:spPr>
          <a:xfrm>
            <a:off x="167468" y="19508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FB7EEE-6851-A634-F041-674BEF71FE66}"/>
              </a:ext>
            </a:extLst>
          </p:cNvPr>
          <p:cNvSpPr/>
          <p:nvPr/>
        </p:nvSpPr>
        <p:spPr>
          <a:xfrm>
            <a:off x="189384" y="2056348"/>
            <a:ext cx="771497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담당자 정보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A98DD58-E8FC-866E-F228-4E7EFD791AF2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2346079"/>
          <a:ext cx="7714979" cy="16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25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8872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B7CF46F-F9F1-B0B8-843D-FAFD070240CD}"/>
              </a:ext>
            </a:extLst>
          </p:cNvPr>
          <p:cNvSpPr/>
          <p:nvPr/>
        </p:nvSpPr>
        <p:spPr>
          <a:xfrm>
            <a:off x="189384" y="4174852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서류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21609D9-A198-2FBA-C242-13F735FBFA47}"/>
              </a:ext>
            </a:extLst>
          </p:cNvPr>
          <p:cNvGraphicFramePr>
            <a:graphicFrameLocks noGrp="1"/>
          </p:cNvGraphicFramePr>
          <p:nvPr/>
        </p:nvGraphicFramePr>
        <p:xfrm>
          <a:off x="163194" y="4463982"/>
          <a:ext cx="7714979" cy="1013760"/>
        </p:xfrm>
        <a:graphic>
          <a:graphicData uri="http://schemas.openxmlformats.org/drawingml/2006/table">
            <a:tbl>
              <a:tblPr firstRow="1" bandRow="1"/>
              <a:tblGrid>
                <a:gridCol w="41376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8795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2162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첨부파일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 날인본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1D96EB3A-C524-5283-A5BD-A992D592ED41}"/>
              </a:ext>
            </a:extLst>
          </p:cNvPr>
          <p:cNvGrpSpPr/>
          <p:nvPr/>
        </p:nvGrpSpPr>
        <p:grpSpPr>
          <a:xfrm>
            <a:off x="3514764" y="4862566"/>
            <a:ext cx="1275802" cy="198885"/>
            <a:chOff x="3514764" y="5575520"/>
            <a:chExt cx="1275802" cy="19888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4F5ECC6-F799-52E4-F8B1-90FA6698C726}"/>
                </a:ext>
              </a:extLst>
            </p:cNvPr>
            <p:cNvSpPr/>
            <p:nvPr/>
          </p:nvSpPr>
          <p:spPr>
            <a:xfrm>
              <a:off x="3514764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89A93E1-D3B3-877B-ED52-89856F2BB2C2}"/>
                </a:ext>
              </a:extLst>
            </p:cNvPr>
            <p:cNvSpPr/>
            <p:nvPr/>
          </p:nvSpPr>
          <p:spPr>
            <a:xfrm>
              <a:off x="4177601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9D0D438-1AA9-0390-0B78-89E39E90A980}"/>
              </a:ext>
            </a:extLst>
          </p:cNvPr>
          <p:cNvGrpSpPr/>
          <p:nvPr/>
        </p:nvGrpSpPr>
        <p:grpSpPr>
          <a:xfrm>
            <a:off x="3514764" y="5201734"/>
            <a:ext cx="1275802" cy="198885"/>
            <a:chOff x="3545142" y="4085591"/>
            <a:chExt cx="1275802" cy="19888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99FBD50-9A60-E1FC-9256-FFC359678BB7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54CAC24-3491-361A-B42E-E6F9DA9E3258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A1669C0-C61A-704F-6BE1-27B695697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13134"/>
              </p:ext>
            </p:extLst>
          </p:nvPr>
        </p:nvGraphicFramePr>
        <p:xfrm>
          <a:off x="163194" y="5478982"/>
          <a:ext cx="7714979" cy="675840"/>
        </p:xfrm>
        <a:graphic>
          <a:graphicData uri="http://schemas.openxmlformats.org/drawingml/2006/table">
            <a:tbl>
              <a:tblPr firstRow="1" bandRow="1"/>
              <a:tblGrid>
                <a:gridCol w="41376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8795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2162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093012"/>
                  </a:ext>
                </a:extLst>
              </a:tr>
            </a:tbl>
          </a:graphicData>
        </a:graphic>
      </p:graphicFrame>
      <p:grpSp>
        <p:nvGrpSpPr>
          <p:cNvPr id="37" name="그룹 36">
            <a:extLst>
              <a:ext uri="{FF2B5EF4-FFF2-40B4-BE49-F238E27FC236}">
                <a16:creationId xmlns:a16="http://schemas.microsoft.com/office/drawing/2014/main" id="{4C538329-836C-68FD-8538-8CBAA21A459C}"/>
              </a:ext>
            </a:extLst>
          </p:cNvPr>
          <p:cNvGrpSpPr/>
          <p:nvPr/>
        </p:nvGrpSpPr>
        <p:grpSpPr>
          <a:xfrm>
            <a:off x="3514764" y="5545948"/>
            <a:ext cx="1275802" cy="198885"/>
            <a:chOff x="3514764" y="5575520"/>
            <a:chExt cx="1275802" cy="19888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A1A48CF-39F8-C5DA-967A-71633D31A977}"/>
                </a:ext>
              </a:extLst>
            </p:cNvPr>
            <p:cNvSpPr/>
            <p:nvPr/>
          </p:nvSpPr>
          <p:spPr>
            <a:xfrm>
              <a:off x="3514764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3050346-80EC-C752-260B-925734325B1E}"/>
                </a:ext>
              </a:extLst>
            </p:cNvPr>
            <p:cNvSpPr/>
            <p:nvPr/>
          </p:nvSpPr>
          <p:spPr>
            <a:xfrm>
              <a:off x="4177601" y="55755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CE0D9D3-B1A6-845F-7AE7-3019FF460AF5}"/>
              </a:ext>
            </a:extLst>
          </p:cNvPr>
          <p:cNvGrpSpPr/>
          <p:nvPr/>
        </p:nvGrpSpPr>
        <p:grpSpPr>
          <a:xfrm>
            <a:off x="3514764" y="5885116"/>
            <a:ext cx="1275802" cy="198885"/>
            <a:chOff x="3545142" y="4085591"/>
            <a:chExt cx="1275802" cy="19888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B0ADA0E-741C-26C4-835A-F1EC2435B8F6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D8307C5-DCB1-0D28-B311-6717AB7BBC7C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3011FCF-F70A-1E6A-EFDC-3BEA19703FFF}"/>
              </a:ext>
            </a:extLst>
          </p:cNvPr>
          <p:cNvGrpSpPr/>
          <p:nvPr/>
        </p:nvGrpSpPr>
        <p:grpSpPr>
          <a:xfrm>
            <a:off x="163502" y="1595680"/>
            <a:ext cx="3754859" cy="350462"/>
            <a:chOff x="163503" y="1595680"/>
            <a:chExt cx="3419709" cy="3504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FD59DA6-9332-8A9F-A714-9024D68AD68A}"/>
                </a:ext>
              </a:extLst>
            </p:cNvPr>
            <p:cNvSpPr/>
            <p:nvPr/>
          </p:nvSpPr>
          <p:spPr>
            <a:xfrm>
              <a:off x="163503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입찰공고 정보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C5BC6D-FF0C-9FAE-C9B4-C59A5433DBAB}"/>
                </a:ext>
              </a:extLst>
            </p:cNvPr>
            <p:cNvSpPr/>
            <p:nvPr/>
          </p:nvSpPr>
          <p:spPr>
            <a:xfrm>
              <a:off x="1305150" y="1595680"/>
              <a:ext cx="1139031" cy="350462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입찰 서류 제출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4496FE6-2C7A-A821-0A36-253FC6806333}"/>
                </a:ext>
              </a:extLst>
            </p:cNvPr>
            <p:cNvSpPr/>
            <p:nvPr/>
          </p:nvSpPr>
          <p:spPr>
            <a:xfrm>
              <a:off x="2444181" y="1653700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투찰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1DBB3E0-5E55-C958-709C-5C691E8AF97A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9899" cy="675840"/>
        </p:xfrm>
        <a:graphic>
          <a:graphicData uri="http://schemas.openxmlformats.org/drawingml/2006/table">
            <a:tbl>
              <a:tblPr firstRow="1" bandRow="1"/>
              <a:tblGrid>
                <a:gridCol w="7692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00986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7710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948755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795298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63049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121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45457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48755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서류 제출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4" name="타원 23">
            <a:extLst>
              <a:ext uri="{FF2B5EF4-FFF2-40B4-BE49-F238E27FC236}">
                <a16:creationId xmlns:a16="http://schemas.microsoft.com/office/drawing/2014/main" id="{81D0984B-84FE-3B27-27EB-780D88CAA959}"/>
              </a:ext>
            </a:extLst>
          </p:cNvPr>
          <p:cNvSpPr/>
          <p:nvPr/>
        </p:nvSpPr>
        <p:spPr>
          <a:xfrm>
            <a:off x="75380" y="189129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463C7F-CF39-BB59-81EA-4AACDB205F48}"/>
              </a:ext>
            </a:extLst>
          </p:cNvPr>
          <p:cNvSpPr/>
          <p:nvPr/>
        </p:nvSpPr>
        <p:spPr>
          <a:xfrm>
            <a:off x="386426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2B850D-3E24-985C-B4C6-6128A3DC7DFD}"/>
              </a:ext>
            </a:extLst>
          </p:cNvPr>
          <p:cNvSpPr/>
          <p:nvPr/>
        </p:nvSpPr>
        <p:spPr>
          <a:xfrm>
            <a:off x="511702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4376841-9E0C-73B1-A41C-53AD72FC65D2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58390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6833F-CD13-5416-114E-1CBE4F4F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F4CCC5-4D5F-1B41-6423-E41C32C6DF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4955E-F956-F221-3E09-E68AF4D903E1}"/>
              </a:ext>
            </a:extLst>
          </p:cNvPr>
          <p:cNvSpPr txBox="1"/>
          <p:nvPr/>
        </p:nvSpPr>
        <p:spPr>
          <a:xfrm>
            <a:off x="749224" y="25608"/>
            <a:ext cx="42659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서류가 제출된 경우 제공되는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853915-9AD2-1543-867D-9003E40B7044}"/>
              </a:ext>
            </a:extLst>
          </p:cNvPr>
          <p:cNvSpPr txBox="1"/>
          <p:nvPr/>
        </p:nvSpPr>
        <p:spPr>
          <a:xfrm>
            <a:off x="8049344" y="584684"/>
            <a:ext cx="1856656" cy="3034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 다르게 입찰마감일시 전까지는 수정/제출할 수 있음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입찰마감일시까지는 제출을 취소하고 재등록 가능하게 구현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MSG-013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 시 안내 후 처리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입찰을 포기하면 제출상태는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상태로 변경되며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/SMS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발송됨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입찰을 포기하게 되면 더 이상 본 입찰공고에 입찰 참여를 할 수 없음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MSG-014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17D6009-2FC2-A03F-28B4-3054ADA5EA07}"/>
              </a:ext>
            </a:extLst>
          </p:cNvPr>
          <p:cNvSpPr/>
          <p:nvPr/>
        </p:nvSpPr>
        <p:spPr>
          <a:xfrm>
            <a:off x="189384" y="368660"/>
            <a:ext cx="77509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자가 심사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1C44D4A-4C39-52CC-D6EB-AAB67D1D81E1}"/>
              </a:ext>
            </a:extLst>
          </p:cNvPr>
          <p:cNvSpPr/>
          <p:nvPr/>
        </p:nvSpPr>
        <p:spPr>
          <a:xfrm>
            <a:off x="183739" y="637754"/>
            <a:ext cx="770968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입찰공고는 자가심사를 진행하지 않습니다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A9B145-E509-44D2-DFFD-74F5CF3E6219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D83723-A4CF-0CE3-9CE3-3B6369EA3E66}"/>
              </a:ext>
            </a:extLst>
          </p:cNvPr>
          <p:cNvSpPr/>
          <p:nvPr/>
        </p:nvSpPr>
        <p:spPr>
          <a:xfrm>
            <a:off x="191245" y="294219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230FFAC-002B-F831-3EC3-BD93B1E25A44}"/>
              </a:ext>
            </a:extLst>
          </p:cNvPr>
          <p:cNvSpPr/>
          <p:nvPr/>
        </p:nvSpPr>
        <p:spPr>
          <a:xfrm>
            <a:off x="7077236" y="2942196"/>
            <a:ext cx="808489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6FB402-3EB9-95EF-09BB-4D0F0852814B}"/>
              </a:ext>
            </a:extLst>
          </p:cNvPr>
          <p:cNvGraphicFramePr>
            <a:graphicFrameLocks noGrp="1"/>
          </p:cNvGraphicFramePr>
          <p:nvPr/>
        </p:nvGraphicFramePr>
        <p:xfrm>
          <a:off x="179897" y="1159248"/>
          <a:ext cx="7713521" cy="1689600"/>
        </p:xfrm>
        <a:graphic>
          <a:graphicData uri="http://schemas.openxmlformats.org/drawingml/2006/table">
            <a:tbl>
              <a:tblPr firstRow="1" bandRow="1"/>
              <a:tblGrid>
                <a:gridCol w="38107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24223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905143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  <a:gridCol w="863808">
                  <a:extLst>
                    <a:ext uri="{9D8B030D-6E8A-4147-A177-3AD203B41FA5}">
                      <a16:colId xmlns:a16="http://schemas.microsoft.com/office/drawing/2014/main" val="2007680974"/>
                    </a:ext>
                  </a:extLst>
                </a:gridCol>
                <a:gridCol w="555268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765986">
                  <a:extLst>
                    <a:ext uri="{9D8B030D-6E8A-4147-A177-3AD203B41FA5}">
                      <a16:colId xmlns:a16="http://schemas.microsoft.com/office/drawing/2014/main" val="1963879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항목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자가심사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배점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평가점수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4.42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시공경험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일반공사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10.00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5.00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15.42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6515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B6A079CB-61A2-C19F-9953-D572EFB568A6}"/>
              </a:ext>
            </a:extLst>
          </p:cNvPr>
          <p:cNvSpPr/>
          <p:nvPr/>
        </p:nvSpPr>
        <p:spPr>
          <a:xfrm>
            <a:off x="5804300" y="2942196"/>
            <a:ext cx="1200929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취소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F7ACF50-12A9-A8AF-C76E-B85C63716D6F}"/>
              </a:ext>
            </a:extLst>
          </p:cNvPr>
          <p:cNvSpPr/>
          <p:nvPr/>
        </p:nvSpPr>
        <p:spPr>
          <a:xfrm>
            <a:off x="5696288" y="286641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404657-9796-058B-0C19-9A2ABF7A6F8F}"/>
              </a:ext>
            </a:extLst>
          </p:cNvPr>
          <p:cNvSpPr/>
          <p:nvPr/>
        </p:nvSpPr>
        <p:spPr>
          <a:xfrm>
            <a:off x="164468" y="3573016"/>
            <a:ext cx="389614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취소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E01BE-B02E-B110-A2D2-016EBB8F56C5}"/>
              </a:ext>
            </a:extLst>
          </p:cNvPr>
          <p:cNvSpPr/>
          <p:nvPr/>
        </p:nvSpPr>
        <p:spPr>
          <a:xfrm>
            <a:off x="164468" y="3845929"/>
            <a:ext cx="3896149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C0CF0B-98DF-9E2F-5BBE-10CDD9D34828}"/>
              </a:ext>
            </a:extLst>
          </p:cNvPr>
          <p:cNvSpPr/>
          <p:nvPr/>
        </p:nvSpPr>
        <p:spPr>
          <a:xfrm>
            <a:off x="3795720" y="357301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8A4E8-A84D-118C-ED32-14D69A25ED9A}"/>
              </a:ext>
            </a:extLst>
          </p:cNvPr>
          <p:cNvSpPr/>
          <p:nvPr/>
        </p:nvSpPr>
        <p:spPr>
          <a:xfrm>
            <a:off x="272247" y="4259316"/>
            <a:ext cx="3672641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제출을 취소하면 제출된 서류를 수정할 수 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단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마감 일시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내에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완료해야 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취소하시겠습니까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5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97C50666-71F9-AA9E-FCE3-A489D31F7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69" y="4415937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C78B50-D8F5-A5B0-FD1C-A7043E5FC681}"/>
              </a:ext>
            </a:extLst>
          </p:cNvPr>
          <p:cNvSpPr/>
          <p:nvPr/>
        </p:nvSpPr>
        <p:spPr>
          <a:xfrm>
            <a:off x="3245470" y="5230431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4E0182-9871-8054-0BEF-D76A89A1370E}"/>
              </a:ext>
            </a:extLst>
          </p:cNvPr>
          <p:cNvSpPr/>
          <p:nvPr/>
        </p:nvSpPr>
        <p:spPr>
          <a:xfrm>
            <a:off x="295688" y="3942317"/>
            <a:ext cx="200375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취소 시 유의사항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BC1BB2F-473D-7626-CC93-CECB761DC8BA}"/>
              </a:ext>
            </a:extLst>
          </p:cNvPr>
          <p:cNvSpPr/>
          <p:nvPr/>
        </p:nvSpPr>
        <p:spPr>
          <a:xfrm>
            <a:off x="1986321" y="5230431"/>
            <a:ext cx="119237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취소</a:t>
            </a: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2BC03E77-3512-EB96-67EC-2865E92BB991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5400000">
            <a:off x="4087260" y="1255511"/>
            <a:ext cx="342788" cy="4292222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044AF172-A3BB-D794-C5D1-88D885CB96A1}"/>
              </a:ext>
            </a:extLst>
          </p:cNvPr>
          <p:cNvSpPr/>
          <p:nvPr/>
        </p:nvSpPr>
        <p:spPr>
          <a:xfrm>
            <a:off x="1884258" y="512241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6F31BA-E8C1-0320-2EFB-51F376D50FE2}"/>
              </a:ext>
            </a:extLst>
          </p:cNvPr>
          <p:cNvSpPr/>
          <p:nvPr/>
        </p:nvSpPr>
        <p:spPr>
          <a:xfrm>
            <a:off x="4194430" y="4099727"/>
            <a:ext cx="3681735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7B8325-DC8C-F757-1C34-633BB24A2498}"/>
              </a:ext>
            </a:extLst>
          </p:cNvPr>
          <p:cNvSpPr/>
          <p:nvPr/>
        </p:nvSpPr>
        <p:spPr>
          <a:xfrm>
            <a:off x="4194430" y="4372640"/>
            <a:ext cx="3681735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1DC672-16EE-A081-927E-EF6E14879617}"/>
              </a:ext>
            </a:extLst>
          </p:cNvPr>
          <p:cNvSpPr/>
          <p:nvPr/>
        </p:nvSpPr>
        <p:spPr>
          <a:xfrm>
            <a:off x="7606165" y="409972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1DD48D-550D-BACE-C923-88E296190BB8}"/>
              </a:ext>
            </a:extLst>
          </p:cNvPr>
          <p:cNvSpPr/>
          <p:nvPr/>
        </p:nvSpPr>
        <p:spPr>
          <a:xfrm>
            <a:off x="4302210" y="4786027"/>
            <a:ext cx="3469079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입찰을 포기하면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더 이상 본 입찰공고에 입찰 참여를 할 수 없습니다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포기하시겠습니까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2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5796AFB4-4DAE-AE14-867C-66C23EC9B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332" y="494264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A85CF0DE-FA16-FED7-9BAF-A9F7F22CA491}"/>
              </a:ext>
            </a:extLst>
          </p:cNvPr>
          <p:cNvSpPr/>
          <p:nvPr/>
        </p:nvSpPr>
        <p:spPr>
          <a:xfrm>
            <a:off x="7071871" y="577439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1691DD2-48AD-6D7A-886F-9D4ED3FA937A}"/>
              </a:ext>
            </a:extLst>
          </p:cNvPr>
          <p:cNvSpPr/>
          <p:nvPr/>
        </p:nvSpPr>
        <p:spPr>
          <a:xfrm>
            <a:off x="4325651" y="4469028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 시 유의사항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6EE0A3-71D5-9582-B938-4CAC1508FF15}"/>
              </a:ext>
            </a:extLst>
          </p:cNvPr>
          <p:cNvSpPr/>
          <p:nvPr/>
        </p:nvSpPr>
        <p:spPr>
          <a:xfrm>
            <a:off x="6212194" y="5774394"/>
            <a:ext cx="79290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1CEC2A5-6849-0B3A-F506-BE0E10E69385}"/>
              </a:ext>
            </a:extLst>
          </p:cNvPr>
          <p:cNvSpPr/>
          <p:nvPr/>
        </p:nvSpPr>
        <p:spPr>
          <a:xfrm>
            <a:off x="6923095" y="286456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CFB99E52-3BBE-FC54-B2AD-4D979019E35F}"/>
              </a:ext>
            </a:extLst>
          </p:cNvPr>
          <p:cNvCxnSpPr>
            <a:cxnSpLocks/>
            <a:stCxn id="23" idx="2"/>
            <a:endCxn id="8" idx="0"/>
          </p:cNvCxnSpPr>
          <p:nvPr/>
        </p:nvCxnSpPr>
        <p:spPr>
          <a:xfrm rot="5400000">
            <a:off x="6323641" y="2941886"/>
            <a:ext cx="869499" cy="144618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6480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D91C-1711-4B65-DD36-A7255621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19541782-C728-34A9-6A76-CF8C4199CBDC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207A0-2443-B984-DF6D-0CA5122A77F4}"/>
              </a:ext>
            </a:extLst>
          </p:cNvPr>
          <p:cNvSpPr txBox="1"/>
          <p:nvPr/>
        </p:nvSpPr>
        <p:spPr>
          <a:xfrm>
            <a:off x="749224" y="25608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0E3BAD8-B150-64B8-0CAF-F7F4D8B815B2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73BF556-855E-0485-6CE8-AEF0F3386379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893013F-FAF1-9B9F-1D08-B70FB65BC902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71ED21C-D272-A08B-4404-3313AECBEFDB}"/>
              </a:ext>
            </a:extLst>
          </p:cNvPr>
          <p:cNvCxnSpPr>
            <a:cxnSpLocks/>
          </p:cNvCxnSpPr>
          <p:nvPr/>
        </p:nvCxnSpPr>
        <p:spPr>
          <a:xfrm>
            <a:off x="167468" y="1949444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A652C3-6F5C-6B80-4B2C-14E807BB0C49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6F8748-7F95-06CC-0F0C-6BF31CC316CD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40C8B4-464B-ECD1-EAF3-59AB1A0CBBFE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02F7E815-AA4A-B7A8-2A46-E41E4CCDB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CD196965-DDB9-A516-6096-CEF21D4E2627}"/>
              </a:ext>
            </a:extLst>
          </p:cNvPr>
          <p:cNvSpPr txBox="1"/>
          <p:nvPr/>
        </p:nvSpPr>
        <p:spPr>
          <a:xfrm>
            <a:off x="8049344" y="584684"/>
            <a:ext cx="1856656" cy="487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기간이 별도로 있는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’,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에는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본 화면에 접근할 수 없음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기간에만 접근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협력업체가 적정선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가격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에서 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할 수 있도록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제공하는 정보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예비가 설정 상태에 따라 정보를 제공함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최저가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복수예비 기초금액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적격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복수예비 기초금액</a:t>
            </a:r>
            <a:endParaRPr lang="en-US" altLang="ko-KR" sz="800" dirty="0">
              <a:solidFill>
                <a:srgbClr val="C00000"/>
              </a:solidFill>
              <a:highlight>
                <a:srgbClr val="FFFFFF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예비가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낙찰하한가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)가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설정된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경우에는 반드시 예비가 추첨을 진행함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예비가는 낙찰자 선정방법이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입찰’,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적격심사’에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적용되어 있음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예비가 추첨하기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팝업 호출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FEF7AFE-45CC-4CF0-A10A-73DFE846DF9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7A55ABA-09D5-7FE3-65A3-8237F3B80C00}"/>
              </a:ext>
            </a:extLst>
          </p:cNvPr>
          <p:cNvSpPr/>
          <p:nvPr/>
        </p:nvSpPr>
        <p:spPr>
          <a:xfrm>
            <a:off x="163502" y="1657002"/>
            <a:ext cx="124166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9A8ADDB-7D8E-F699-8E66-FF63ED206C20}"/>
              </a:ext>
            </a:extLst>
          </p:cNvPr>
          <p:cNvSpPr/>
          <p:nvPr/>
        </p:nvSpPr>
        <p:spPr>
          <a:xfrm>
            <a:off x="1408020" y="1657002"/>
            <a:ext cx="124166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현황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173801-BB89-E0FF-AC4C-F0FE7C5872E4}"/>
              </a:ext>
            </a:extLst>
          </p:cNvPr>
          <p:cNvSpPr/>
          <p:nvPr/>
        </p:nvSpPr>
        <p:spPr>
          <a:xfrm>
            <a:off x="2649687" y="1613603"/>
            <a:ext cx="1241666" cy="3358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9309427-785C-EE94-316B-58D7AF1B512E}"/>
              </a:ext>
            </a:extLst>
          </p:cNvPr>
          <p:cNvSpPr/>
          <p:nvPr/>
        </p:nvSpPr>
        <p:spPr>
          <a:xfrm>
            <a:off x="2533629" y="15012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C322624-CBCF-9A5E-D98C-A64D29505589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9899" cy="675840"/>
        </p:xfrm>
        <a:graphic>
          <a:graphicData uri="http://schemas.openxmlformats.org/drawingml/2006/table">
            <a:tbl>
              <a:tblPr firstRow="1" bandRow="1"/>
              <a:tblGrid>
                <a:gridCol w="7692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00986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7710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948755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795298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63049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121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45457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48755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서류 제출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E6DBDE-3FA6-CA2E-9E08-FFB01C0F6A93}"/>
              </a:ext>
            </a:extLst>
          </p:cNvPr>
          <p:cNvSpPr/>
          <p:nvPr/>
        </p:nvSpPr>
        <p:spPr>
          <a:xfrm>
            <a:off x="3888322" y="1657002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6CE4AA-8EBF-10A7-A14D-7BBD04A8946C}"/>
              </a:ext>
            </a:extLst>
          </p:cNvPr>
          <p:cNvSpPr/>
          <p:nvPr/>
        </p:nvSpPr>
        <p:spPr>
          <a:xfrm>
            <a:off x="5117021" y="1657002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D891D7-9750-65F7-48E0-206B5C069DAA}"/>
              </a:ext>
            </a:extLst>
          </p:cNvPr>
          <p:cNvSpPr/>
          <p:nvPr/>
        </p:nvSpPr>
        <p:spPr>
          <a:xfrm>
            <a:off x="189384" y="2056348"/>
            <a:ext cx="771497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가격투찰에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참고하실 수 있도록 낙찰자 선정방식에 따라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복수예비 기초금액을 제공합니다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71D7B48E-000F-3250-138F-EEB834645353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2346079"/>
          <a:ext cx="771497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25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8872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135,000,000  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일억삼천오백만원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복수예비 기초금액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258,000,000  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이억오천팔백만원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2EEAC82-20D1-8150-DA0B-0D70486D2EC9}"/>
              </a:ext>
            </a:extLst>
          </p:cNvPr>
          <p:cNvGraphicFramePr>
            <a:graphicFrameLocks noGrp="1"/>
          </p:cNvGraphicFramePr>
          <p:nvPr/>
        </p:nvGraphicFramePr>
        <p:xfrm>
          <a:off x="161177" y="3130548"/>
          <a:ext cx="7717010" cy="1351680"/>
        </p:xfrm>
        <a:graphic>
          <a:graphicData uri="http://schemas.openxmlformats.org/drawingml/2006/table">
            <a:tbl>
              <a:tblPr firstRow="1" bandRow="1"/>
              <a:tblGrid>
                <a:gridCol w="294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0104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00226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52207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144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61444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810696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874752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803311">
                  <a:extLst>
                    <a:ext uri="{9D8B030D-6E8A-4147-A177-3AD203B41FA5}">
                      <a16:colId xmlns:a16="http://schemas.microsoft.com/office/drawing/2014/main" val="2128366993"/>
                    </a:ext>
                  </a:extLst>
                </a:gridCol>
                <a:gridCol w="885563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부가세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합계금액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0A957307-A316-33FA-7D9F-B3DEAF922A8A}"/>
              </a:ext>
            </a:extLst>
          </p:cNvPr>
          <p:cNvSpPr/>
          <p:nvPr/>
        </p:nvSpPr>
        <p:spPr>
          <a:xfrm>
            <a:off x="4622361" y="3539664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1,000,000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DDDA2AB-0F88-7DBB-5F48-3B85623B2CA5}"/>
              </a:ext>
            </a:extLst>
          </p:cNvPr>
          <p:cNvSpPr/>
          <p:nvPr/>
        </p:nvSpPr>
        <p:spPr>
          <a:xfrm>
            <a:off x="4622361" y="3864572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3,000,000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1EEC1C5-9988-0327-1F70-1C71EDC2C96C}"/>
              </a:ext>
            </a:extLst>
          </p:cNvPr>
          <p:cNvSpPr/>
          <p:nvPr/>
        </p:nvSpPr>
        <p:spPr>
          <a:xfrm>
            <a:off x="6308276" y="3539664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3E4D85E-7A42-86DB-FF68-338AFB1EAE20}"/>
              </a:ext>
            </a:extLst>
          </p:cNvPr>
          <p:cNvSpPr/>
          <p:nvPr/>
        </p:nvSpPr>
        <p:spPr>
          <a:xfrm>
            <a:off x="6308276" y="3864572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00EE518D-0011-BE2B-3581-EA703ED5F8C9}"/>
              </a:ext>
            </a:extLst>
          </p:cNvPr>
          <p:cNvGraphicFramePr>
            <a:graphicFrameLocks noGrp="1"/>
          </p:cNvGraphicFramePr>
          <p:nvPr/>
        </p:nvGraphicFramePr>
        <p:xfrm>
          <a:off x="161177" y="4584870"/>
          <a:ext cx="7708147" cy="825600"/>
        </p:xfrm>
        <a:graphic>
          <a:graphicData uri="http://schemas.openxmlformats.org/drawingml/2006/table">
            <a:tbl>
              <a:tblPr firstRow="1" bandRow="1"/>
              <a:tblGrid>
                <a:gridCol w="130855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399588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상세견적서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pic>
        <p:nvPicPr>
          <p:cNvPr id="47" name="그림 46">
            <a:extLst>
              <a:ext uri="{FF2B5EF4-FFF2-40B4-BE49-F238E27FC236}">
                <a16:creationId xmlns:a16="http://schemas.microsoft.com/office/drawing/2014/main" id="{B6F43F0D-D7BA-42ED-7CBA-B96961D28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620" y="4658368"/>
            <a:ext cx="6301654" cy="662078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728E56DB-49CE-D25A-03F0-13CEBF7F3CFB}"/>
              </a:ext>
            </a:extLst>
          </p:cNvPr>
          <p:cNvSpPr/>
          <p:nvPr/>
        </p:nvSpPr>
        <p:spPr>
          <a:xfrm>
            <a:off x="164467" y="5498480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B13AEA5-4855-62FD-B133-028B28DA1844}"/>
              </a:ext>
            </a:extLst>
          </p:cNvPr>
          <p:cNvSpPr/>
          <p:nvPr/>
        </p:nvSpPr>
        <p:spPr>
          <a:xfrm>
            <a:off x="6861212" y="5498480"/>
            <a:ext cx="102451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투찰하기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BB09F5A5-718E-B212-E0C0-F2E90A31EB27}"/>
              </a:ext>
            </a:extLst>
          </p:cNvPr>
          <p:cNvSpPr/>
          <p:nvPr/>
        </p:nvSpPr>
        <p:spPr>
          <a:xfrm>
            <a:off x="6750112" y="539812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19A2D79F-BAE7-F017-ED73-2B197A1C3A44}"/>
              </a:ext>
            </a:extLst>
          </p:cNvPr>
          <p:cNvSpPr/>
          <p:nvPr/>
        </p:nvSpPr>
        <p:spPr>
          <a:xfrm>
            <a:off x="53165" y="189701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EB2DCFC-7281-8EA0-0F51-A03814ED9924}"/>
              </a:ext>
            </a:extLst>
          </p:cNvPr>
          <p:cNvSpPr/>
          <p:nvPr/>
        </p:nvSpPr>
        <p:spPr>
          <a:xfrm>
            <a:off x="2208070" y="4754745"/>
            <a:ext cx="4329106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EE42F7F-3714-F751-1404-F5048A1B9E22}"/>
              </a:ext>
            </a:extLst>
          </p:cNvPr>
          <p:cNvSpPr/>
          <p:nvPr/>
        </p:nvSpPr>
        <p:spPr>
          <a:xfrm>
            <a:off x="2208070" y="5027658"/>
            <a:ext cx="4329106" cy="172444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501B68E-2655-6D01-C9DE-9C685234A907}"/>
              </a:ext>
            </a:extLst>
          </p:cNvPr>
          <p:cNvSpPr/>
          <p:nvPr/>
        </p:nvSpPr>
        <p:spPr>
          <a:xfrm>
            <a:off x="6267176" y="4754745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BB3DB3B-F107-6FC9-20AE-55715A527F9A}"/>
              </a:ext>
            </a:extLst>
          </p:cNvPr>
          <p:cNvSpPr/>
          <p:nvPr/>
        </p:nvSpPr>
        <p:spPr>
          <a:xfrm>
            <a:off x="2315849" y="5441044"/>
            <a:ext cx="4068685" cy="787895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입찰 건의 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기간이 아닙니다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 후 ‘적격’ 업체에 한해 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기간을 안내해드립니다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입찰 건은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만으로 입찰 참여가 완료됩니다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</p:txBody>
      </p:sp>
      <p:pic>
        <p:nvPicPr>
          <p:cNvPr id="6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49AA4A81-DDDA-7B93-EF6A-604CD37E1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971" y="5539530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46965A55-2B95-2CAF-7D46-7AFFA4DBF03B}"/>
              </a:ext>
            </a:extLst>
          </p:cNvPr>
          <p:cNvSpPr/>
          <p:nvPr/>
        </p:nvSpPr>
        <p:spPr>
          <a:xfrm>
            <a:off x="5685116" y="630107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5C2DA9C-676D-DBA9-2D49-8BF3EAC3174C}"/>
              </a:ext>
            </a:extLst>
          </p:cNvPr>
          <p:cNvSpPr/>
          <p:nvPr/>
        </p:nvSpPr>
        <p:spPr>
          <a:xfrm>
            <a:off x="2339290" y="5124046"/>
            <a:ext cx="12583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제한 안내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C8DD54D-9E3B-707A-8E85-AB49ECE459E7}"/>
              </a:ext>
            </a:extLst>
          </p:cNvPr>
          <p:cNvSpPr/>
          <p:nvPr/>
        </p:nvSpPr>
        <p:spPr>
          <a:xfrm>
            <a:off x="2114640" y="467901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9C5EF4B1-AEF1-5CC5-ABCA-34505D516368}"/>
              </a:ext>
            </a:extLst>
          </p:cNvPr>
          <p:cNvCxnSpPr>
            <a:cxnSpLocks/>
            <a:stCxn id="31" idx="2"/>
            <a:endCxn id="56" idx="0"/>
          </p:cNvCxnSpPr>
          <p:nvPr/>
        </p:nvCxnSpPr>
        <p:spPr>
          <a:xfrm rot="16200000" flipH="1">
            <a:off x="2418921" y="2801042"/>
            <a:ext cx="2805301" cy="110210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CB6A44-DE97-42BA-5F90-DDDBB0E5D393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2551985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FA13-B64F-1CE2-4BA5-8ED369BD1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9CED430D-E28A-FB25-AD42-E7204D5DEE3F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32AC7-5D24-5279-D085-F10C5D0939A0}"/>
              </a:ext>
            </a:extLst>
          </p:cNvPr>
          <p:cNvSpPr txBox="1"/>
          <p:nvPr/>
        </p:nvSpPr>
        <p:spPr>
          <a:xfrm>
            <a:off x="749224" y="25608"/>
            <a:ext cx="43011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예비가 추첨 처리 관련 팝업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D55AFB-5F12-1A73-BDF6-128CC6244935}"/>
              </a:ext>
            </a:extLst>
          </p:cNvPr>
          <p:cNvSpPr txBox="1"/>
          <p:nvPr/>
        </p:nvSpPr>
        <p:spPr>
          <a:xfrm>
            <a:off x="8049344" y="584684"/>
            <a:ext cx="1856656" cy="327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예비가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낙찰하한가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)가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설정된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경우에는 반드시 예비가 추첨을 진행함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예비가는 낙찰자 선정방법이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입찰’,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적격심사’에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적용되어 있음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예비가 추첨하기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팝업 호출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가격투찰이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완료되면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제출상태는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로 변경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만약 입찰서류와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가격투찰이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모두 완료된 경우에는 제출상태가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로 변경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MSG-015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3AC202-467D-217F-4ED4-A4CF4220E36C}"/>
              </a:ext>
            </a:extLst>
          </p:cNvPr>
          <p:cNvSpPr/>
          <p:nvPr/>
        </p:nvSpPr>
        <p:spPr>
          <a:xfrm>
            <a:off x="160012" y="406663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예비가 추첨하기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AD2948A-DA40-10F4-5BD1-5A1A805EFB48}"/>
              </a:ext>
            </a:extLst>
          </p:cNvPr>
          <p:cNvSpPr/>
          <p:nvPr/>
        </p:nvSpPr>
        <p:spPr>
          <a:xfrm>
            <a:off x="160012" y="679575"/>
            <a:ext cx="3780420" cy="378684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6CD1364-1C9B-875C-4E3C-CBEA41CD4A92}"/>
              </a:ext>
            </a:extLst>
          </p:cNvPr>
          <p:cNvSpPr/>
          <p:nvPr/>
        </p:nvSpPr>
        <p:spPr>
          <a:xfrm>
            <a:off x="3667344" y="40666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50C4A0F-AEFC-7E56-7F5C-F9196E882E82}"/>
              </a:ext>
            </a:extLst>
          </p:cNvPr>
          <p:cNvSpPr/>
          <p:nvPr/>
        </p:nvSpPr>
        <p:spPr>
          <a:xfrm>
            <a:off x="267791" y="1092963"/>
            <a:ext cx="3532535" cy="727061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입찰공고는 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예비가 추첨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이 필요합니다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입찰의 공정성을 부여하기 위해 진행되는 업무입니다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예비가 중 하나를 선택해주세요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455865A9-1DDD-4E5C-0152-EFD4995AD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13" y="119478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2D948473-3453-FAED-D87D-E18F7BE3BC17}"/>
              </a:ext>
            </a:extLst>
          </p:cNvPr>
          <p:cNvSpPr/>
          <p:nvPr/>
        </p:nvSpPr>
        <p:spPr>
          <a:xfrm>
            <a:off x="3111349" y="402431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A60C381-9E01-B7B9-E8DA-D9471862C6E0}"/>
              </a:ext>
            </a:extLst>
          </p:cNvPr>
          <p:cNvSpPr/>
          <p:nvPr/>
        </p:nvSpPr>
        <p:spPr>
          <a:xfrm>
            <a:off x="291232" y="775964"/>
            <a:ext cx="10451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예비가 추첨하기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0C76253-3868-5805-34F2-A58D75865ACD}"/>
              </a:ext>
            </a:extLst>
          </p:cNvPr>
          <p:cNvSpPr/>
          <p:nvPr/>
        </p:nvSpPr>
        <p:spPr>
          <a:xfrm>
            <a:off x="2013487" y="4024315"/>
            <a:ext cx="103109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예비가 추첨하기</a:t>
            </a: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868C8B77-B049-96BE-32AA-229634DF6AC7}"/>
              </a:ext>
            </a:extLst>
          </p:cNvPr>
          <p:cNvGraphicFramePr>
            <a:graphicFrameLocks noGrp="1"/>
          </p:cNvGraphicFramePr>
          <p:nvPr/>
        </p:nvGraphicFramePr>
        <p:xfrm>
          <a:off x="262047" y="1916412"/>
          <a:ext cx="3532535" cy="2027520"/>
        </p:xfrm>
        <a:graphic>
          <a:graphicData uri="http://schemas.openxmlformats.org/drawingml/2006/table">
            <a:tbl>
              <a:tblPr firstRow="1" bandRow="1"/>
              <a:tblGrid>
                <a:gridCol w="70650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0650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06507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706507">
                  <a:extLst>
                    <a:ext uri="{9D8B030D-6E8A-4147-A177-3AD203B41FA5}">
                      <a16:colId xmlns:a16="http://schemas.microsoft.com/office/drawing/2014/main" val="2128366993"/>
                    </a:ext>
                  </a:extLst>
                </a:gridCol>
                <a:gridCol w="70650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5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6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11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299803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443530"/>
                  </a:ext>
                </a:extLst>
              </a:tr>
            </a:tbl>
          </a:graphicData>
        </a:graphic>
      </p:graphicFrame>
      <p:sp>
        <p:nvSpPr>
          <p:cNvPr id="48" name="타원 47">
            <a:extLst>
              <a:ext uri="{FF2B5EF4-FFF2-40B4-BE49-F238E27FC236}">
                <a16:creationId xmlns:a16="http://schemas.microsoft.com/office/drawing/2014/main" id="{DC365D7F-44A5-BBE9-683E-C10F10A2F163}"/>
              </a:ext>
            </a:extLst>
          </p:cNvPr>
          <p:cNvSpPr/>
          <p:nvPr/>
        </p:nvSpPr>
        <p:spPr>
          <a:xfrm>
            <a:off x="92460" y="342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6067072-22B0-BC43-7C90-DFA774FE4E36}"/>
              </a:ext>
            </a:extLst>
          </p:cNvPr>
          <p:cNvSpPr/>
          <p:nvPr/>
        </p:nvSpPr>
        <p:spPr>
          <a:xfrm>
            <a:off x="4088904" y="4257092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6F17BDE-D974-7704-09A9-1E99CEFC5C2B}"/>
              </a:ext>
            </a:extLst>
          </p:cNvPr>
          <p:cNvSpPr/>
          <p:nvPr/>
        </p:nvSpPr>
        <p:spPr>
          <a:xfrm>
            <a:off x="4088904" y="4525819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DB9894F-6BFE-53F8-8639-98740E074BBE}"/>
              </a:ext>
            </a:extLst>
          </p:cNvPr>
          <p:cNvSpPr/>
          <p:nvPr/>
        </p:nvSpPr>
        <p:spPr>
          <a:xfrm>
            <a:off x="7596236" y="425709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E896CED-9911-949B-AF86-F2889440388E}"/>
              </a:ext>
            </a:extLst>
          </p:cNvPr>
          <p:cNvSpPr/>
          <p:nvPr/>
        </p:nvSpPr>
        <p:spPr>
          <a:xfrm>
            <a:off x="4196683" y="4943392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투찰하면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더 이상 가격이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정확하게 가격이 입력되었는지 다시 한번 확인 부탁드립니다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5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0DFF356E-DB5E-50DA-5BDB-BC71FEF8C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805" y="5100013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42A4A076-4BDF-EC64-0F88-CEDF2187E167}"/>
              </a:ext>
            </a:extLst>
          </p:cNvPr>
          <p:cNvSpPr/>
          <p:nvPr/>
        </p:nvSpPr>
        <p:spPr>
          <a:xfrm>
            <a:off x="7040241" y="593175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7EB72CC-B30B-9890-5E3B-7CD7E37BCA4F}"/>
              </a:ext>
            </a:extLst>
          </p:cNvPr>
          <p:cNvSpPr/>
          <p:nvPr/>
        </p:nvSpPr>
        <p:spPr>
          <a:xfrm>
            <a:off x="4220124" y="4626393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시 유의사항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953A037-B823-B95F-C777-B568F955B451}"/>
              </a:ext>
            </a:extLst>
          </p:cNvPr>
          <p:cNvSpPr/>
          <p:nvPr/>
        </p:nvSpPr>
        <p:spPr>
          <a:xfrm>
            <a:off x="5909928" y="5931759"/>
            <a:ext cx="1063542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9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투찰하기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4CE89392-6525-2405-0E3D-F56CBD257881}"/>
              </a:ext>
            </a:extLst>
          </p:cNvPr>
          <p:cNvCxnSpPr>
            <a:cxnSpLocks/>
            <a:stCxn id="44" idx="2"/>
            <a:endCxn id="52" idx="1"/>
          </p:cNvCxnSpPr>
          <p:nvPr/>
        </p:nvCxnSpPr>
        <p:spPr>
          <a:xfrm rot="16200000" flipH="1">
            <a:off x="2739373" y="4102006"/>
            <a:ext cx="1139191" cy="1559871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7B3B63AA-0C97-C489-2825-1793F288C2D1}"/>
              </a:ext>
            </a:extLst>
          </p:cNvPr>
          <p:cNvSpPr/>
          <p:nvPr/>
        </p:nvSpPr>
        <p:spPr>
          <a:xfrm>
            <a:off x="5801916" y="585975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40262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275ED-804E-12F9-151F-FD381EC7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9D996028-35DC-5695-98BB-D125440B3579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5D14C-9740-51AA-5DC5-00B62C1966BC}"/>
              </a:ext>
            </a:extLst>
          </p:cNvPr>
          <p:cNvSpPr txBox="1"/>
          <p:nvPr/>
        </p:nvSpPr>
        <p:spPr>
          <a:xfrm>
            <a:off x="749224" y="25608"/>
            <a:ext cx="40815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투찰(가격 투찰이 완료된 경우 제공되는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6EAFB4-362F-819D-89E0-48593E12022A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B2D1C3E-E51A-C729-F8EC-FA6CDC53C53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8CB1AC-E52C-8251-BABA-B543C91B14BC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0351D2-19FD-37FE-E910-1CD63BC34573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3FF9A1-3397-B986-5D7C-2B7276573D22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9C04EE-FC10-647C-B5ED-6F2D695D959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87434D67-7905-9909-DE5B-85306774E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A24985-8EB4-948B-C894-47AE9D739931}"/>
              </a:ext>
            </a:extLst>
          </p:cNvPr>
          <p:cNvSpPr txBox="1"/>
          <p:nvPr/>
        </p:nvSpPr>
        <p:spPr>
          <a:xfrm>
            <a:off x="8049344" y="584684"/>
            <a:ext cx="1856656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투찰이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완료된 경우 제공되는 화면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되돌릴 수 없으며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잘못 등록된 경우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진행할 수밖에 없음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 시 안내 후 처리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입찰을 포기하면 제출상태는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상태로 변경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 시 고객통보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MSG-014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0EBECCC-0908-6AA1-043A-186FE2B319EA}"/>
              </a:ext>
            </a:extLst>
          </p:cNvPr>
          <p:cNvGraphicFramePr>
            <a:graphicFrameLocks noGrp="1"/>
          </p:cNvGraphicFramePr>
          <p:nvPr/>
        </p:nvGraphicFramePr>
        <p:xfrm>
          <a:off x="183739" y="2959983"/>
          <a:ext cx="7721588" cy="1351680"/>
        </p:xfrm>
        <a:graphic>
          <a:graphicData uri="http://schemas.openxmlformats.org/drawingml/2006/table">
            <a:tbl>
              <a:tblPr firstRow="1" bandRow="1"/>
              <a:tblGrid>
                <a:gridCol w="29459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01516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00285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52298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16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6165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811177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875271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803788">
                  <a:extLst>
                    <a:ext uri="{9D8B030D-6E8A-4147-A177-3AD203B41FA5}">
                      <a16:colId xmlns:a16="http://schemas.microsoft.com/office/drawing/2014/main" val="2128366993"/>
                    </a:ext>
                  </a:extLst>
                </a:gridCol>
                <a:gridCol w="88608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부가세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합계금액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863C03-93B1-524C-1ECB-B60E512028FC}"/>
              </a:ext>
            </a:extLst>
          </p:cNvPr>
          <p:cNvGraphicFramePr>
            <a:graphicFrameLocks noGrp="1"/>
          </p:cNvGraphicFramePr>
          <p:nvPr/>
        </p:nvGraphicFramePr>
        <p:xfrm>
          <a:off x="183739" y="4414305"/>
          <a:ext cx="7685585" cy="581760"/>
        </p:xfrm>
        <a:graphic>
          <a:graphicData uri="http://schemas.openxmlformats.org/drawingml/2006/table">
            <a:tbl>
              <a:tblPr firstRow="1" bandRow="1"/>
              <a:tblGrid>
                <a:gridCol w="130472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38085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상세견적서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26C48F6-28AE-AACD-69C8-B6BF82481F9B}"/>
              </a:ext>
            </a:extLst>
          </p:cNvPr>
          <p:cNvSpPr/>
          <p:nvPr/>
        </p:nvSpPr>
        <p:spPr>
          <a:xfrm>
            <a:off x="193067" y="5098707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6ED88C8-381E-EBF3-3509-308EE866F8D2}"/>
              </a:ext>
            </a:extLst>
          </p:cNvPr>
          <p:cNvGrpSpPr/>
          <p:nvPr/>
        </p:nvGrpSpPr>
        <p:grpSpPr>
          <a:xfrm>
            <a:off x="2504773" y="4467698"/>
            <a:ext cx="1275802" cy="198885"/>
            <a:chOff x="3545142" y="4085591"/>
            <a:chExt cx="1275802" cy="19888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29A210C-2C93-859C-2E4D-D081435DC78A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E81C4D9-8594-A63B-3DDD-A6750BBE1498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E43B143-B474-74EC-F84D-0FA32D47E5DD}"/>
              </a:ext>
            </a:extLst>
          </p:cNvPr>
          <p:cNvGrpSpPr/>
          <p:nvPr/>
        </p:nvGrpSpPr>
        <p:grpSpPr>
          <a:xfrm>
            <a:off x="2504773" y="4730676"/>
            <a:ext cx="1275802" cy="198885"/>
            <a:chOff x="3545142" y="4085591"/>
            <a:chExt cx="1275802" cy="198885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DACFBC9-16B4-CE50-62CB-5D06322770DA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B84E016-14AF-11C3-9245-2CC390AC8C77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C06084-18FE-F3E5-4316-779233940970}"/>
              </a:ext>
            </a:extLst>
          </p:cNvPr>
          <p:cNvSpPr/>
          <p:nvPr/>
        </p:nvSpPr>
        <p:spPr>
          <a:xfrm>
            <a:off x="5413885" y="5098707"/>
            <a:ext cx="158283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바로가기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FCB7CF-C4EC-DB40-C283-A268CA268C6D}"/>
              </a:ext>
            </a:extLst>
          </p:cNvPr>
          <p:cNvSpPr/>
          <p:nvPr/>
        </p:nvSpPr>
        <p:spPr>
          <a:xfrm>
            <a:off x="163127" y="2052222"/>
            <a:ext cx="7740859" cy="801997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투찰이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완료되었으며, 입력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하신 가격 </a:t>
            </a:r>
            <a:r>
              <a:rPr lang="ko-KR" altLang="en-US" sz="800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정보는 더 이상 수정되지 않습니다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만약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진행하지 않으셨다면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마감일 이전에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반드시 진행하세요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(‘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누락되면 입찰 참여가 누락됩니다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‘입찰 참여 현황’ 메뉴를 통해 진행현황을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25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6E0B2A8C-E37E-93DF-4B57-04A46F658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50" y="2170576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AADDCE65-EFD1-3080-4504-2F5E37ED15C1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A5058C84-805E-F594-1509-92C0A7C6824B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78927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1920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920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4195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880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87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7340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입찰진행중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6F6EE8-632B-EA28-119D-978C8F860C48}"/>
              </a:ext>
            </a:extLst>
          </p:cNvPr>
          <p:cNvSpPr/>
          <p:nvPr/>
        </p:nvSpPr>
        <p:spPr>
          <a:xfrm>
            <a:off x="7062460" y="5094415"/>
            <a:ext cx="808489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D3849280-797A-4967-A9A6-B68B695B447C}"/>
              </a:ext>
            </a:extLst>
          </p:cNvPr>
          <p:cNvCxnSpPr>
            <a:cxnSpLocks/>
            <a:stCxn id="38" idx="0"/>
            <a:endCxn id="37" idx="1"/>
          </p:cNvCxnSpPr>
          <p:nvPr/>
        </p:nvCxnSpPr>
        <p:spPr>
          <a:xfrm rot="5400000" flipH="1" flipV="1">
            <a:off x="7697102" y="4649264"/>
            <a:ext cx="214755" cy="675548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FBC656F5-9F95-016B-2032-09514A131F78}"/>
              </a:ext>
            </a:extLst>
          </p:cNvPr>
          <p:cNvSpPr/>
          <p:nvPr/>
        </p:nvSpPr>
        <p:spPr>
          <a:xfrm>
            <a:off x="6954448" y="498569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ED5CD81-D18E-FDA5-F6F6-EDE27C4E4FAF}"/>
              </a:ext>
            </a:extLst>
          </p:cNvPr>
          <p:cNvSpPr/>
          <p:nvPr/>
        </p:nvSpPr>
        <p:spPr>
          <a:xfrm>
            <a:off x="8142253" y="3681028"/>
            <a:ext cx="349238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1B8330F-1030-A103-FBDA-A68FE9CFA7B5}"/>
              </a:ext>
            </a:extLst>
          </p:cNvPr>
          <p:cNvSpPr/>
          <p:nvPr/>
        </p:nvSpPr>
        <p:spPr>
          <a:xfrm>
            <a:off x="8142253" y="3953941"/>
            <a:ext cx="3492388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B317BE2-A9DA-950A-F65A-5273F254E7CF}"/>
              </a:ext>
            </a:extLst>
          </p:cNvPr>
          <p:cNvSpPr/>
          <p:nvPr/>
        </p:nvSpPr>
        <p:spPr>
          <a:xfrm>
            <a:off x="11363076" y="368102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49F0F93-3937-1B7D-A802-B8AB836DC848}"/>
              </a:ext>
            </a:extLst>
          </p:cNvPr>
          <p:cNvSpPr/>
          <p:nvPr/>
        </p:nvSpPr>
        <p:spPr>
          <a:xfrm>
            <a:off x="8250032" y="4367328"/>
            <a:ext cx="3272178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입찰을 포기하면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더 이상 본 입찰공고에 입찰 참여를 할 수 없습니다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포기하시겠습니까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4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A0202897-258A-FE1F-026D-C2D5E845F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54" y="4523949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6AB70C-9409-4DB0-359B-1DC6125A3079}"/>
              </a:ext>
            </a:extLst>
          </p:cNvPr>
          <p:cNvSpPr/>
          <p:nvPr/>
        </p:nvSpPr>
        <p:spPr>
          <a:xfrm>
            <a:off x="10828957" y="535569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8A5E4E7-F787-D861-79C0-78EFE1168D99}"/>
              </a:ext>
            </a:extLst>
          </p:cNvPr>
          <p:cNvSpPr/>
          <p:nvPr/>
        </p:nvSpPr>
        <p:spPr>
          <a:xfrm>
            <a:off x="8273473" y="4050329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 시 유의사항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8F5F3F8-EFB2-6B5F-3CB5-78169899C17D}"/>
              </a:ext>
            </a:extLst>
          </p:cNvPr>
          <p:cNvSpPr/>
          <p:nvPr/>
        </p:nvSpPr>
        <p:spPr>
          <a:xfrm>
            <a:off x="9969280" y="5355695"/>
            <a:ext cx="79290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포기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8559347-8673-9194-A00B-9802D66F04EE}"/>
              </a:ext>
            </a:extLst>
          </p:cNvPr>
          <p:cNvCxnSpPr>
            <a:cxnSpLocks/>
          </p:cNvCxnSpPr>
          <p:nvPr/>
        </p:nvCxnSpPr>
        <p:spPr>
          <a:xfrm>
            <a:off x="167468" y="1949444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05C869D-69BD-EE2D-0949-EE306B74564A}"/>
              </a:ext>
            </a:extLst>
          </p:cNvPr>
          <p:cNvSpPr/>
          <p:nvPr/>
        </p:nvSpPr>
        <p:spPr>
          <a:xfrm>
            <a:off x="163502" y="1657002"/>
            <a:ext cx="124166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2E28B15-725A-65A0-DFE8-EC1825033497}"/>
              </a:ext>
            </a:extLst>
          </p:cNvPr>
          <p:cNvSpPr/>
          <p:nvPr/>
        </p:nvSpPr>
        <p:spPr>
          <a:xfrm>
            <a:off x="1408020" y="1657002"/>
            <a:ext cx="124166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현황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2252D64-9A3C-FA49-359F-CCDC239690AA}"/>
              </a:ext>
            </a:extLst>
          </p:cNvPr>
          <p:cNvSpPr/>
          <p:nvPr/>
        </p:nvSpPr>
        <p:spPr>
          <a:xfrm>
            <a:off x="2649687" y="1613603"/>
            <a:ext cx="1241666" cy="3358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851FB81-C841-1E1D-82D0-3328177181F8}"/>
              </a:ext>
            </a:extLst>
          </p:cNvPr>
          <p:cNvSpPr/>
          <p:nvPr/>
        </p:nvSpPr>
        <p:spPr>
          <a:xfrm>
            <a:off x="3888322" y="1657002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A87244E-E070-9715-C063-830AFAC9171C}"/>
              </a:ext>
            </a:extLst>
          </p:cNvPr>
          <p:cNvSpPr/>
          <p:nvPr/>
        </p:nvSpPr>
        <p:spPr>
          <a:xfrm>
            <a:off x="5117021" y="1657002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96DD023-0044-E716-9A2A-23358C62FF54}"/>
              </a:ext>
            </a:extLst>
          </p:cNvPr>
          <p:cNvSpPr/>
          <p:nvPr/>
        </p:nvSpPr>
        <p:spPr>
          <a:xfrm>
            <a:off x="75727" y="190624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4E53026-BDDD-57BE-1A2E-3FCD14F2BF73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3297599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D988-ED92-F64C-C45E-6088869B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C5879CFF-DB50-0544-9801-36EF3D931CB4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2F264-89FD-0323-0C2D-58A46D5363AE}"/>
              </a:ext>
            </a:extLst>
          </p:cNvPr>
          <p:cNvSpPr txBox="1"/>
          <p:nvPr/>
        </p:nvSpPr>
        <p:spPr>
          <a:xfrm>
            <a:off x="749224" y="25608"/>
            <a:ext cx="22878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188920-5905-B4B5-B5FD-E2C1B8A7E1EB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D460459-18D6-3BF8-6D71-B3DC3085F46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A7984A-A012-EC83-C200-1ACB7C6C9A21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408A221-935D-18BA-E70F-17B33733E866}"/>
              </a:ext>
            </a:extLst>
          </p:cNvPr>
          <p:cNvCxnSpPr>
            <a:cxnSpLocks/>
          </p:cNvCxnSpPr>
          <p:nvPr/>
        </p:nvCxnSpPr>
        <p:spPr>
          <a:xfrm>
            <a:off x="167468" y="1949444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B608F5-0F76-4630-AD8E-6B9DEBA156B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8A94FB-E24D-8EE4-02FF-82B4CEE6477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D7DADB-175F-E01E-EBE6-63CC15EBC40F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078B2D1E-C89F-5348-60BA-7332C32A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2A5946-CFBD-C746-5CF9-9AE422409846}"/>
              </a:ext>
            </a:extLst>
          </p:cNvPr>
          <p:cNvSpPr txBox="1"/>
          <p:nvPr/>
        </p:nvSpPr>
        <p:spPr>
          <a:xfrm>
            <a:off x="8049344" y="584684"/>
            <a:ext cx="1856656" cy="871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입찰결과가 도출되지 않았을 때 제공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유찰된 경우 제공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협력업체에게 입찰결과를 어떤 범위까지 제공할 것인지 확인 필요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2E762A-0A3F-9E9B-EDD4-284BBA58C9B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E7BA05-597E-43F1-05F7-A8A4ACABB382}"/>
              </a:ext>
            </a:extLst>
          </p:cNvPr>
          <p:cNvSpPr/>
          <p:nvPr/>
        </p:nvSpPr>
        <p:spPr>
          <a:xfrm>
            <a:off x="163502" y="1652251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2FDA31-9C48-8B45-A510-27BB48137516}"/>
              </a:ext>
            </a:extLst>
          </p:cNvPr>
          <p:cNvSpPr/>
          <p:nvPr/>
        </p:nvSpPr>
        <p:spPr>
          <a:xfrm>
            <a:off x="1426053" y="1652251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현황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F98BB87-E5BB-09B7-C28E-F7B4047A05AF}"/>
              </a:ext>
            </a:extLst>
          </p:cNvPr>
          <p:cNvSpPr/>
          <p:nvPr/>
        </p:nvSpPr>
        <p:spPr>
          <a:xfrm>
            <a:off x="3936373" y="1608852"/>
            <a:ext cx="1259658" cy="3358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EF35210B-F589-A1E0-CCCB-1286AD603112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5" cy="675840"/>
        </p:xfrm>
        <a:graphic>
          <a:graphicData uri="http://schemas.openxmlformats.org/drawingml/2006/table">
            <a:tbl>
              <a:tblPr firstRow="1" bandRow="1"/>
              <a:tblGrid>
                <a:gridCol w="78927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19202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5920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4195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880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87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648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73409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선정완료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8686B5-F805-747C-6289-4B45E38F0B37}"/>
              </a:ext>
            </a:extLst>
          </p:cNvPr>
          <p:cNvSpPr/>
          <p:nvPr/>
        </p:nvSpPr>
        <p:spPr>
          <a:xfrm>
            <a:off x="2685711" y="1652251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A0FF4DD-35ED-FC4E-523D-CC5289E6B9F8}"/>
              </a:ext>
            </a:extLst>
          </p:cNvPr>
          <p:cNvSpPr/>
          <p:nvPr/>
        </p:nvSpPr>
        <p:spPr>
          <a:xfrm>
            <a:off x="183739" y="2043596"/>
            <a:ext cx="7660288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아직 입찰 결과가 도출되지 않았습니다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7591B4D-E9A9-7E25-FE5E-A7440845F8F1}"/>
              </a:ext>
            </a:extLst>
          </p:cNvPr>
          <p:cNvSpPr/>
          <p:nvPr/>
        </p:nvSpPr>
        <p:spPr>
          <a:xfrm>
            <a:off x="183739" y="2557886"/>
            <a:ext cx="7660288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입찰 건은 유찰되었습니다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F31D0B5-B400-9F12-3B45-29A36AB3AD2A}"/>
              </a:ext>
            </a:extLst>
          </p:cNvPr>
          <p:cNvSpPr/>
          <p:nvPr/>
        </p:nvSpPr>
        <p:spPr>
          <a:xfrm>
            <a:off x="75727" y="190624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76551AF6-8FBB-F4F3-5F02-4D1019A95A7B}"/>
              </a:ext>
            </a:extLst>
          </p:cNvPr>
          <p:cNvSpPr/>
          <p:nvPr/>
        </p:nvSpPr>
        <p:spPr>
          <a:xfrm>
            <a:off x="75727" y="246272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FB0DA80A-5F52-D464-9FF7-E0868B922555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3372037"/>
          <a:ext cx="7672694" cy="2703360"/>
        </p:xfrm>
        <a:graphic>
          <a:graphicData uri="http://schemas.openxmlformats.org/drawingml/2006/table">
            <a:tbl>
              <a:tblPr firstRow="1" bandRow="1"/>
              <a:tblGrid>
                <a:gridCol w="56482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336650">
                  <a:extLst>
                    <a:ext uri="{9D8B030D-6E8A-4147-A177-3AD203B41FA5}">
                      <a16:colId xmlns:a16="http://schemas.microsoft.com/office/drawing/2014/main" val="1353104844"/>
                    </a:ext>
                  </a:extLst>
                </a:gridCol>
                <a:gridCol w="578208">
                  <a:extLst>
                    <a:ext uri="{9D8B030D-6E8A-4147-A177-3AD203B41FA5}">
                      <a16:colId xmlns:a16="http://schemas.microsoft.com/office/drawing/2014/main" val="2103438129"/>
                    </a:ext>
                  </a:extLst>
                </a:gridCol>
                <a:gridCol w="1312456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301257">
                  <a:extLst>
                    <a:ext uri="{9D8B030D-6E8A-4147-A177-3AD203B41FA5}">
                      <a16:colId xmlns:a16="http://schemas.microsoft.com/office/drawing/2014/main" val="1516929747"/>
                    </a:ext>
                  </a:extLst>
                </a:gridCol>
                <a:gridCol w="1350157">
                  <a:extLst>
                    <a:ext uri="{9D8B030D-6E8A-4147-A177-3AD203B41FA5}">
                      <a16:colId xmlns:a16="http://schemas.microsoft.com/office/drawing/2014/main" val="2415492609"/>
                    </a:ext>
                  </a:extLst>
                </a:gridCol>
                <a:gridCol w="1229146">
                  <a:extLst>
                    <a:ext uri="{9D8B030D-6E8A-4147-A177-3AD203B41FA5}">
                      <a16:colId xmlns:a16="http://schemas.microsoft.com/office/drawing/2014/main" val="2696889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가격 적합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96,000,000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42863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97,000,000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1087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98,000,000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5311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37822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r>
                        <a:rPr lang="ko-KR" altLang="en-US" sz="800" b="0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초과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14397229-83FA-9345-DCA9-D8D64586735E}"/>
              </a:ext>
            </a:extLst>
          </p:cNvPr>
          <p:cNvSpPr txBox="1"/>
          <p:nvPr/>
        </p:nvSpPr>
        <p:spPr>
          <a:xfrm>
            <a:off x="164468" y="3086212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입찰결과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A93769-53E9-963B-F4B0-2470F3B9451A}"/>
              </a:ext>
            </a:extLst>
          </p:cNvPr>
          <p:cNvSpPr/>
          <p:nvPr/>
        </p:nvSpPr>
        <p:spPr>
          <a:xfrm>
            <a:off x="519603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463B7E7-1B7E-4157-6DDE-552BC4F1C006}"/>
              </a:ext>
            </a:extLst>
          </p:cNvPr>
          <p:cNvSpPr/>
          <p:nvPr/>
        </p:nvSpPr>
        <p:spPr>
          <a:xfrm>
            <a:off x="75727" y="292494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40A195-E83D-5E83-E5C0-549F3D0580E4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40533902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CC14-99F1-24EB-61F1-AFEB7B7A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C339EF46-0F8B-65FE-EA31-54A9BC7263A8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A6FD4B-2EBA-8AB3-8754-3059959D763F}"/>
              </a:ext>
            </a:extLst>
          </p:cNvPr>
          <p:cNvSpPr txBox="1"/>
          <p:nvPr/>
        </p:nvSpPr>
        <p:spPr>
          <a:xfrm>
            <a:off x="749224" y="25608"/>
            <a:ext cx="22878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CD908C-F60F-B5D8-D3EC-A2C6C8D21B94}"/>
              </a:ext>
            </a:extLst>
          </p:cNvPr>
          <p:cNvSpPr txBox="1"/>
          <p:nvPr/>
        </p:nvSpPr>
        <p:spPr>
          <a:xfrm>
            <a:off x="164468" y="376885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입찰결과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5C374E-4357-A73C-1294-B1F2C6466736}"/>
              </a:ext>
            </a:extLst>
          </p:cNvPr>
          <p:cNvSpPr txBox="1"/>
          <p:nvPr/>
        </p:nvSpPr>
        <p:spPr>
          <a:xfrm>
            <a:off x="164468" y="3194720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입찰결과(2단계 경쟁입찰(규격/가격 동시))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E1F957A-C063-3667-BEC4-9840E36E8998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3482886"/>
          <a:ext cx="7980966" cy="2027520"/>
        </p:xfrm>
        <a:graphic>
          <a:graphicData uri="http://schemas.openxmlformats.org/drawingml/2006/table">
            <a:tbl>
              <a:tblPr firstRow="1" bandRow="1"/>
              <a:tblGrid>
                <a:gridCol w="36336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40004">
                  <a:extLst>
                    <a:ext uri="{9D8B030D-6E8A-4147-A177-3AD203B41FA5}">
                      <a16:colId xmlns:a16="http://schemas.microsoft.com/office/drawing/2014/main" val="1353104844"/>
                    </a:ext>
                  </a:extLst>
                </a:gridCol>
                <a:gridCol w="363369">
                  <a:extLst>
                    <a:ext uri="{9D8B030D-6E8A-4147-A177-3AD203B41FA5}">
                      <a16:colId xmlns:a16="http://schemas.microsoft.com/office/drawing/2014/main" val="2103438129"/>
                    </a:ext>
                  </a:extLst>
                </a:gridCol>
                <a:gridCol w="53293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04450">
                  <a:extLst>
                    <a:ext uri="{9D8B030D-6E8A-4147-A177-3AD203B41FA5}">
                      <a16:colId xmlns:a16="http://schemas.microsoft.com/office/drawing/2014/main" val="9657335"/>
                    </a:ext>
                  </a:extLst>
                </a:gridCol>
                <a:gridCol w="1036175">
                  <a:extLst>
                    <a:ext uri="{9D8B030D-6E8A-4147-A177-3AD203B41FA5}">
                      <a16:colId xmlns:a16="http://schemas.microsoft.com/office/drawing/2014/main" val="419882300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516929747"/>
                    </a:ext>
                  </a:extLst>
                </a:gridCol>
                <a:gridCol w="801225">
                  <a:extLst>
                    <a:ext uri="{9D8B030D-6E8A-4147-A177-3AD203B41FA5}">
                      <a16:colId xmlns:a16="http://schemas.microsoft.com/office/drawing/2014/main" val="2415492609"/>
                    </a:ext>
                  </a:extLst>
                </a:gridCol>
                <a:gridCol w="790753">
                  <a:extLst>
                    <a:ext uri="{9D8B030D-6E8A-4147-A177-3AD203B41FA5}">
                      <a16:colId xmlns:a16="http://schemas.microsoft.com/office/drawing/2014/main" val="2696889248"/>
                    </a:ext>
                  </a:extLst>
                </a:gridCol>
                <a:gridCol w="554023">
                  <a:extLst>
                    <a:ext uri="{9D8B030D-6E8A-4147-A177-3AD203B41FA5}">
                      <a16:colId xmlns:a16="http://schemas.microsoft.com/office/drawing/2014/main" val="2470283878"/>
                    </a:ext>
                  </a:extLst>
                </a:gridCol>
                <a:gridCol w="677561">
                  <a:extLst>
                    <a:ext uri="{9D8B030D-6E8A-4147-A177-3AD203B41FA5}">
                      <a16:colId xmlns:a16="http://schemas.microsoft.com/office/drawing/2014/main" val="2259197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평가점수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적격여부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가격 적합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가격점수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총점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75.45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90.45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76.45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91,000,000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90.45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67362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78.45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95,000,000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89.45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15824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70.03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r>
                        <a:rPr lang="ko-KR" altLang="en-US" sz="800" b="0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초과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입력불가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62.28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95,000,000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입력불가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90DF65-09BC-8684-CD29-CAC352E92E0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564EF04-E377-DB43-B939-954F55A64984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677733"/>
          <a:ext cx="8403900" cy="2365440"/>
        </p:xfrm>
        <a:graphic>
          <a:graphicData uri="http://schemas.openxmlformats.org/drawingml/2006/table">
            <a:tbl>
              <a:tblPr firstRow="1" bandRow="1"/>
              <a:tblGrid>
                <a:gridCol w="36307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39325">
                  <a:extLst>
                    <a:ext uri="{9D8B030D-6E8A-4147-A177-3AD203B41FA5}">
                      <a16:colId xmlns:a16="http://schemas.microsoft.com/office/drawing/2014/main" val="1353104844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2103438129"/>
                    </a:ext>
                  </a:extLst>
                </a:gridCol>
                <a:gridCol w="53293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04450">
                  <a:extLst>
                    <a:ext uri="{9D8B030D-6E8A-4147-A177-3AD203B41FA5}">
                      <a16:colId xmlns:a16="http://schemas.microsoft.com/office/drawing/2014/main" val="379925440"/>
                    </a:ext>
                  </a:extLst>
                </a:gridCol>
                <a:gridCol w="1036175">
                  <a:extLst>
                    <a:ext uri="{9D8B030D-6E8A-4147-A177-3AD203B41FA5}">
                      <a16:colId xmlns:a16="http://schemas.microsoft.com/office/drawing/2014/main" val="1696618955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516929747"/>
                    </a:ext>
                  </a:extLst>
                </a:gridCol>
                <a:gridCol w="867900">
                  <a:extLst>
                    <a:ext uri="{9D8B030D-6E8A-4147-A177-3AD203B41FA5}">
                      <a16:colId xmlns:a16="http://schemas.microsoft.com/office/drawing/2014/main" val="2415492609"/>
                    </a:ext>
                  </a:extLst>
                </a:gridCol>
                <a:gridCol w="790113">
                  <a:extLst>
                    <a:ext uri="{9D8B030D-6E8A-4147-A177-3AD203B41FA5}">
                      <a16:colId xmlns:a16="http://schemas.microsoft.com/office/drawing/2014/main" val="2696889248"/>
                    </a:ext>
                  </a:extLst>
                </a:gridCol>
                <a:gridCol w="861550">
                  <a:extLst>
                    <a:ext uri="{9D8B030D-6E8A-4147-A177-3AD203B41FA5}">
                      <a16:colId xmlns:a16="http://schemas.microsoft.com/office/drawing/2014/main" val="2470283878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259197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평가점수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적격여부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가격 적합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하한율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(%)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낙찰하한가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87.745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87,745,000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91,000,000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99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92,000,000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77508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r>
                        <a:rPr lang="ko-KR" altLang="en-US" sz="800" b="0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초과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낙찰하한가</a:t>
                      </a:r>
                      <a:r>
                        <a:rPr lang="ko-KR" altLang="en-US" sz="800" b="0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미만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986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3188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319A-1140-9C33-AD2D-3A1ADE9B5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2362E7B5-CE49-A9B6-EB74-ECA0DC176AC8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1D0E6C-9A3D-FB06-1480-08E84E432526}"/>
              </a:ext>
            </a:extLst>
          </p:cNvPr>
          <p:cNvSpPr txBox="1"/>
          <p:nvPr/>
        </p:nvSpPr>
        <p:spPr>
          <a:xfrm>
            <a:off x="749224" y="25608"/>
            <a:ext cx="22878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A8031D-C267-73EF-F763-E7AAC451B293}"/>
              </a:ext>
            </a:extLst>
          </p:cNvPr>
          <p:cNvSpPr/>
          <p:nvPr/>
        </p:nvSpPr>
        <p:spPr>
          <a:xfrm>
            <a:off x="193067" y="5058214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40A00-1CC5-E17B-45B1-BF2EDEC4AEF5}"/>
              </a:ext>
            </a:extLst>
          </p:cNvPr>
          <p:cNvSpPr txBox="1"/>
          <p:nvPr/>
        </p:nvSpPr>
        <p:spPr>
          <a:xfrm>
            <a:off x="9267295" y="107631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DC545-239D-378D-96DF-E59A971E3172}"/>
              </a:ext>
            </a:extLst>
          </p:cNvPr>
          <p:cNvSpPr txBox="1"/>
          <p:nvPr/>
        </p:nvSpPr>
        <p:spPr>
          <a:xfrm>
            <a:off x="164468" y="353852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입찰결과(2단계 경쟁입찰(규격/가격 분리))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7EC2180-A9A4-3128-7BF0-843DC99942C6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652524"/>
          <a:ext cx="8403900" cy="1689600"/>
        </p:xfrm>
        <a:graphic>
          <a:graphicData uri="http://schemas.openxmlformats.org/drawingml/2006/table">
            <a:tbl>
              <a:tblPr firstRow="1" bandRow="1"/>
              <a:tblGrid>
                <a:gridCol w="36307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39325">
                  <a:extLst>
                    <a:ext uri="{9D8B030D-6E8A-4147-A177-3AD203B41FA5}">
                      <a16:colId xmlns:a16="http://schemas.microsoft.com/office/drawing/2014/main" val="1353104844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2103438129"/>
                    </a:ext>
                  </a:extLst>
                </a:gridCol>
                <a:gridCol w="53293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04450">
                  <a:extLst>
                    <a:ext uri="{9D8B030D-6E8A-4147-A177-3AD203B41FA5}">
                      <a16:colId xmlns:a16="http://schemas.microsoft.com/office/drawing/2014/main" val="379925440"/>
                    </a:ext>
                  </a:extLst>
                </a:gridCol>
                <a:gridCol w="1036175">
                  <a:extLst>
                    <a:ext uri="{9D8B030D-6E8A-4147-A177-3AD203B41FA5}">
                      <a16:colId xmlns:a16="http://schemas.microsoft.com/office/drawing/2014/main" val="1696618955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516929747"/>
                    </a:ext>
                  </a:extLst>
                </a:gridCol>
                <a:gridCol w="867900">
                  <a:extLst>
                    <a:ext uri="{9D8B030D-6E8A-4147-A177-3AD203B41FA5}">
                      <a16:colId xmlns:a16="http://schemas.microsoft.com/office/drawing/2014/main" val="2415492609"/>
                    </a:ext>
                  </a:extLst>
                </a:gridCol>
                <a:gridCol w="790113">
                  <a:extLst>
                    <a:ext uri="{9D8B030D-6E8A-4147-A177-3AD203B41FA5}">
                      <a16:colId xmlns:a16="http://schemas.microsoft.com/office/drawing/2014/main" val="2696889248"/>
                    </a:ext>
                  </a:extLst>
                </a:gridCol>
                <a:gridCol w="861550">
                  <a:extLst>
                    <a:ext uri="{9D8B030D-6E8A-4147-A177-3AD203B41FA5}">
                      <a16:colId xmlns:a16="http://schemas.microsoft.com/office/drawing/2014/main" val="2470283878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259197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평가점수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적격여부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가격 적합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하한율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(%)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낙찰하한가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87.745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87,745,000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95,000,000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9942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r>
                        <a:rPr lang="ko-KR" altLang="en-US" sz="800" b="0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초과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B772CFA-A1E8-0399-4A2E-07200A842753}"/>
              </a:ext>
            </a:extLst>
          </p:cNvPr>
          <p:cNvSpPr txBox="1"/>
          <p:nvPr/>
        </p:nvSpPr>
        <p:spPr>
          <a:xfrm>
            <a:off x="164468" y="2564535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입찰결과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 심사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69335A4-84AE-3B84-E8AD-0824A070D612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2855369"/>
          <a:ext cx="8671725" cy="2027520"/>
        </p:xfrm>
        <a:graphic>
          <a:graphicData uri="http://schemas.openxmlformats.org/drawingml/2006/table">
            <a:tbl>
              <a:tblPr firstRow="1" bandRow="1"/>
              <a:tblGrid>
                <a:gridCol w="267825">
                  <a:extLst>
                    <a:ext uri="{9D8B030D-6E8A-4147-A177-3AD203B41FA5}">
                      <a16:colId xmlns:a16="http://schemas.microsoft.com/office/drawing/2014/main" val="2143910102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39325">
                  <a:extLst>
                    <a:ext uri="{9D8B030D-6E8A-4147-A177-3AD203B41FA5}">
                      <a16:colId xmlns:a16="http://schemas.microsoft.com/office/drawing/2014/main" val="1353104844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2103438129"/>
                    </a:ext>
                  </a:extLst>
                </a:gridCol>
                <a:gridCol w="53293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04450">
                  <a:extLst>
                    <a:ext uri="{9D8B030D-6E8A-4147-A177-3AD203B41FA5}">
                      <a16:colId xmlns:a16="http://schemas.microsoft.com/office/drawing/2014/main" val="3715615107"/>
                    </a:ext>
                  </a:extLst>
                </a:gridCol>
                <a:gridCol w="1036175">
                  <a:extLst>
                    <a:ext uri="{9D8B030D-6E8A-4147-A177-3AD203B41FA5}">
                      <a16:colId xmlns:a16="http://schemas.microsoft.com/office/drawing/2014/main" val="419882300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516929747"/>
                    </a:ext>
                  </a:extLst>
                </a:gridCol>
                <a:gridCol w="867900">
                  <a:extLst>
                    <a:ext uri="{9D8B030D-6E8A-4147-A177-3AD203B41FA5}">
                      <a16:colId xmlns:a16="http://schemas.microsoft.com/office/drawing/2014/main" val="2415492609"/>
                    </a:ext>
                  </a:extLst>
                </a:gridCol>
                <a:gridCol w="790113">
                  <a:extLst>
                    <a:ext uri="{9D8B030D-6E8A-4147-A177-3AD203B41FA5}">
                      <a16:colId xmlns:a16="http://schemas.microsoft.com/office/drawing/2014/main" val="2696889248"/>
                    </a:ext>
                  </a:extLst>
                </a:gridCol>
                <a:gridCol w="861550">
                  <a:extLst>
                    <a:ext uri="{9D8B030D-6E8A-4147-A177-3AD203B41FA5}">
                      <a16:colId xmlns:a16="http://schemas.microsoft.com/office/drawing/2014/main" val="2470283878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259197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평가점수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적격여부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가격 적합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하한율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(%)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낙찰하한가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87.745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87,745,000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87.745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87,745,000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60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95,000,000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r>
                        <a:rPr lang="ko-KR" altLang="en-US" sz="800" b="0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초과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탈락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낙찰하한가</a:t>
                      </a:r>
                      <a:r>
                        <a:rPr lang="ko-KR" altLang="en-US" sz="800" b="0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미만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100,000,000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87.745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87,745,000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98661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0645263-A0A7-CED2-B953-1490602FF4F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80476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9365-6C8A-661D-C5A8-565D836D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F810B5EA-B68C-0394-EEA5-D1224D656DDD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3396B-67DE-7A79-DC76-9C593FBC8EE5}"/>
              </a:ext>
            </a:extLst>
          </p:cNvPr>
          <p:cNvSpPr txBox="1"/>
          <p:nvPr/>
        </p:nvSpPr>
        <p:spPr>
          <a:xfrm>
            <a:off x="749224" y="25608"/>
            <a:ext cx="37561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&gt; 입찰 참여 현황 &gt;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요청 현황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C7EA0C-9B1A-B041-B91E-7E590AC2BCF2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953BA19-710C-5899-C4AA-FAF9310A89A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C52F74-5031-E182-4334-C440E5D507E1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BF25B2E-81CF-4C27-BAD5-26A7D30F0851}"/>
              </a:ext>
            </a:extLst>
          </p:cNvPr>
          <p:cNvCxnSpPr>
            <a:cxnSpLocks/>
          </p:cNvCxnSpPr>
          <p:nvPr/>
        </p:nvCxnSpPr>
        <p:spPr>
          <a:xfrm>
            <a:off x="167468" y="194774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15C6BD-7407-B70D-EED7-9C386F6125D1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6363EF-A0D5-F5E6-E014-6EB222CDD159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18340E-F552-8175-7E39-DCF1355513E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6410EBCE-C82C-A109-0B34-726FD7D14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F2653A-40EC-D3EA-A624-0407831DA4DF}"/>
              </a:ext>
            </a:extLst>
          </p:cNvPr>
          <p:cNvSpPr/>
          <p:nvPr/>
        </p:nvSpPr>
        <p:spPr>
          <a:xfrm>
            <a:off x="163502" y="1655306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3976F1-ED78-46F2-C8BD-7B107B3F7E65}"/>
              </a:ext>
            </a:extLst>
          </p:cNvPr>
          <p:cNvSpPr/>
          <p:nvPr/>
        </p:nvSpPr>
        <p:spPr>
          <a:xfrm>
            <a:off x="1426053" y="1655306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현황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C2B37F13-CEB0-03AD-B059-8D7A5C01313F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7296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12838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94052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34823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038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69977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330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5082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53296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수의시담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E7BC22-A98C-BF6F-6AE8-A3C72E59AC93}"/>
              </a:ext>
            </a:extLst>
          </p:cNvPr>
          <p:cNvSpPr/>
          <p:nvPr/>
        </p:nvSpPr>
        <p:spPr>
          <a:xfrm>
            <a:off x="268571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85E641-4746-E419-207E-F55A0480436D}"/>
              </a:ext>
            </a:extLst>
          </p:cNvPr>
          <p:cNvSpPr/>
          <p:nvPr/>
        </p:nvSpPr>
        <p:spPr>
          <a:xfrm>
            <a:off x="5187405" y="1608852"/>
            <a:ext cx="1250662" cy="338896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044E77-041A-963C-238D-1F5A8245E514}"/>
              </a:ext>
            </a:extLst>
          </p:cNvPr>
          <p:cNvSpPr/>
          <p:nvPr/>
        </p:nvSpPr>
        <p:spPr>
          <a:xfrm>
            <a:off x="392683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4706059-7851-941C-AAE3-80348E1373B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CCE6A60-7CF9-C98C-4BE3-90A3304AF46B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2376259"/>
          <a:ext cx="7733409" cy="1351680"/>
        </p:xfrm>
        <a:graphic>
          <a:graphicData uri="http://schemas.openxmlformats.org/drawingml/2006/table">
            <a:tbl>
              <a:tblPr firstRow="1" bandRow="1"/>
              <a:tblGrid>
                <a:gridCol w="29023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801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997536">
                  <a:extLst>
                    <a:ext uri="{9D8B030D-6E8A-4147-A177-3AD203B41FA5}">
                      <a16:colId xmlns:a16="http://schemas.microsoft.com/office/drawing/2014/main" val="4052911490"/>
                    </a:ext>
                  </a:extLst>
                </a:gridCol>
                <a:gridCol w="103158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1031584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98884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13452">
                  <a:extLst>
                    <a:ext uri="{9D8B030D-6E8A-4147-A177-3AD203B41FA5}">
                      <a16:colId xmlns:a16="http://schemas.microsoft.com/office/drawing/2014/main" val="3291656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차수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요청 시 전달 사항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제출 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수의시담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견적 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제출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견적금액이 적합하지 않습니다. 조정된 금액으로 다시 한번 견적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2026.08.15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견적금액이 적합하지 않습니다. 조정된 금액으로 다시 한번 견적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2026.07.30 15:40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단독 응찰로 진행되는 </a:t>
                      </a:r>
                      <a:r>
                        <a:rPr kumimoji="0" lang="ko-KR" altLang="en-US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수의시담으로서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입찰금액보다 조정된 금액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2026.07.15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2026.07.14 17:20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25" name="타원 24">
            <a:extLst>
              <a:ext uri="{FF2B5EF4-FFF2-40B4-BE49-F238E27FC236}">
                <a16:creationId xmlns:a16="http://schemas.microsoft.com/office/drawing/2014/main" id="{5D157E28-FFDB-3E9E-2C15-B8B54E126611}"/>
              </a:ext>
            </a:extLst>
          </p:cNvPr>
          <p:cNvSpPr/>
          <p:nvPr/>
        </p:nvSpPr>
        <p:spPr>
          <a:xfrm>
            <a:off x="55490" y="22682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C1FDFBB-C752-0EFC-9E0D-93E469BE411D}"/>
              </a:ext>
            </a:extLst>
          </p:cNvPr>
          <p:cNvSpPr/>
          <p:nvPr/>
        </p:nvSpPr>
        <p:spPr>
          <a:xfrm>
            <a:off x="848339" y="22682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FFEEF4-1418-1192-DE72-CC5D6050B371}"/>
              </a:ext>
            </a:extLst>
          </p:cNvPr>
          <p:cNvSpPr/>
          <p:nvPr/>
        </p:nvSpPr>
        <p:spPr>
          <a:xfrm>
            <a:off x="181506" y="2058976"/>
            <a:ext cx="221521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 위한 견적 요청 현황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F1FA4C9-280C-875F-60BE-7285E60916A8}"/>
              </a:ext>
            </a:extLst>
          </p:cNvPr>
          <p:cNvSpPr/>
          <p:nvPr/>
        </p:nvSpPr>
        <p:spPr>
          <a:xfrm>
            <a:off x="7034107" y="2775406"/>
            <a:ext cx="819674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2" charset="-127"/>
                <a:ea typeface="나눔고딕" pitchFamily="2" charset="-127"/>
              </a:rPr>
              <a:t>견적 제출하기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B61A92D2-B773-1500-59B6-8AFB42EE7C95}"/>
              </a:ext>
            </a:extLst>
          </p:cNvPr>
          <p:cNvSpPr/>
          <p:nvPr/>
        </p:nvSpPr>
        <p:spPr>
          <a:xfrm>
            <a:off x="6851372" y="22682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84976C-FB08-2591-87A3-5532BCB02D27}"/>
              </a:ext>
            </a:extLst>
          </p:cNvPr>
          <p:cNvSpPr txBox="1"/>
          <p:nvPr/>
        </p:nvSpPr>
        <p:spPr>
          <a:xfrm>
            <a:off x="8049344" y="584684"/>
            <a:ext cx="1856656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낙찰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업체 선정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견적이 요청된 경우에만 제공되는 탭 메뉴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견적이 다수 회 진행된 경우 차수별로 확인할 수 있음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요청 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화면으로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이동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제출여부에 따라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제출내역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버튼 제공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ABA80E3-D19A-FACC-E989-EB54FE0440FD}"/>
              </a:ext>
            </a:extLst>
          </p:cNvPr>
          <p:cNvSpPr/>
          <p:nvPr/>
        </p:nvSpPr>
        <p:spPr>
          <a:xfrm>
            <a:off x="5079773" y="15795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455D75-EDA9-4905-1C9B-77CEB51BF39C}"/>
              </a:ext>
            </a:extLst>
          </p:cNvPr>
          <p:cNvSpPr/>
          <p:nvPr/>
        </p:nvSpPr>
        <p:spPr>
          <a:xfrm>
            <a:off x="7034107" y="3104382"/>
            <a:ext cx="81967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견적 제출내역</a:t>
            </a:r>
            <a:endParaRPr lang="en-US" altLang="ko-KR" sz="8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985A2C-EDB8-42D0-6FDA-D648DE4FAF55}"/>
              </a:ext>
            </a:extLst>
          </p:cNvPr>
          <p:cNvSpPr/>
          <p:nvPr/>
        </p:nvSpPr>
        <p:spPr>
          <a:xfrm>
            <a:off x="7034107" y="3452468"/>
            <a:ext cx="81967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견적 제출내역</a:t>
            </a:r>
            <a:endParaRPr lang="en-US" altLang="ko-KR" sz="8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FDD5F1-398F-A4F3-CA82-3B7D85C1EB0B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781071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D2237-5491-A339-2ADB-9F319C29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B31E6B79-1514-8DA1-B7BD-69D173A029EE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4CA2D-E946-FA4F-C38B-C4A6EEDF417D}"/>
              </a:ext>
            </a:extLst>
          </p:cNvPr>
          <p:cNvSpPr txBox="1"/>
          <p:nvPr/>
        </p:nvSpPr>
        <p:spPr>
          <a:xfrm>
            <a:off x="749224" y="25608"/>
            <a:ext cx="39116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요청 상세정보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CF1A70-506C-C0F9-7A2F-F4353FA6FA27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90A14E3-1E67-2AA1-7B2E-DD6F74FD91D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11D7F3-4A27-E669-456A-2422E12873E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A20A5DC-661D-1083-3726-7096F2065DC2}"/>
              </a:ext>
            </a:extLst>
          </p:cNvPr>
          <p:cNvCxnSpPr>
            <a:cxnSpLocks/>
          </p:cNvCxnSpPr>
          <p:nvPr/>
        </p:nvCxnSpPr>
        <p:spPr>
          <a:xfrm>
            <a:off x="167468" y="194774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D3952C-DAC1-1B58-C2C4-AD6858E663F9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FDDD59-53EC-6C4B-1F16-A06E508141E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906E0E-97C6-80E5-850C-FEAA991BD14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584AD146-4C93-43D1-A90A-0D40BA23A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233EC5-DE7C-53C0-C7CB-56478AF9A29D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582211-E083-5E99-CD55-EC37D17C2496}"/>
              </a:ext>
            </a:extLst>
          </p:cNvPr>
          <p:cNvSpPr/>
          <p:nvPr/>
        </p:nvSpPr>
        <p:spPr>
          <a:xfrm>
            <a:off x="163502" y="1655306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DB03D5A-239D-8922-FCF9-4A53E0FC09E8}"/>
              </a:ext>
            </a:extLst>
          </p:cNvPr>
          <p:cNvSpPr/>
          <p:nvPr/>
        </p:nvSpPr>
        <p:spPr>
          <a:xfrm>
            <a:off x="1426053" y="1655306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현황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4EA92A-3BC2-4CB6-A228-91068FACFBB1}"/>
              </a:ext>
            </a:extLst>
          </p:cNvPr>
          <p:cNvSpPr/>
          <p:nvPr/>
        </p:nvSpPr>
        <p:spPr>
          <a:xfrm>
            <a:off x="268571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BF2706-5B3A-76DA-9501-4D03EE3EDAC6}"/>
              </a:ext>
            </a:extLst>
          </p:cNvPr>
          <p:cNvSpPr/>
          <p:nvPr/>
        </p:nvSpPr>
        <p:spPr>
          <a:xfrm>
            <a:off x="5187405" y="1608852"/>
            <a:ext cx="1250662" cy="338896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569298-1A00-237A-40A3-F9BDE423B1E6}"/>
              </a:ext>
            </a:extLst>
          </p:cNvPr>
          <p:cNvSpPr/>
          <p:nvPr/>
        </p:nvSpPr>
        <p:spPr>
          <a:xfrm>
            <a:off x="392683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D22DC4-44B5-9DCD-11AD-03975DF0A5AA}"/>
              </a:ext>
            </a:extLst>
          </p:cNvPr>
          <p:cNvSpPr/>
          <p:nvPr/>
        </p:nvSpPr>
        <p:spPr>
          <a:xfrm>
            <a:off x="181506" y="3140968"/>
            <a:ext cx="185665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견적요청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05298A-F211-D452-51DE-08DC0D7BD025}"/>
              </a:ext>
            </a:extLst>
          </p:cNvPr>
          <p:cNvSpPr/>
          <p:nvPr/>
        </p:nvSpPr>
        <p:spPr>
          <a:xfrm>
            <a:off x="181506" y="2041724"/>
            <a:ext cx="1313872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업체 선정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91B8D839-2BCB-67A4-B5D4-62E5D2015045}"/>
              </a:ext>
            </a:extLst>
          </p:cNvPr>
          <p:cNvGraphicFramePr>
            <a:graphicFrameLocks noGrp="1"/>
          </p:cNvGraphicFramePr>
          <p:nvPr/>
        </p:nvGraphicFramePr>
        <p:xfrm>
          <a:off x="171328" y="2338382"/>
          <a:ext cx="7725582" cy="675840"/>
        </p:xfrm>
        <a:graphic>
          <a:graphicData uri="http://schemas.openxmlformats.org/drawingml/2006/table">
            <a:tbl>
              <a:tblPr firstRow="1" bandRow="1"/>
              <a:tblGrid>
                <a:gridCol w="94338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330986">
                  <a:extLst>
                    <a:ext uri="{9D8B030D-6E8A-4147-A177-3AD203B41FA5}">
                      <a16:colId xmlns:a16="http://schemas.microsoft.com/office/drawing/2014/main" val="1353104844"/>
                    </a:ext>
                  </a:extLst>
                </a:gridCol>
                <a:gridCol w="943384">
                  <a:extLst>
                    <a:ext uri="{9D8B030D-6E8A-4147-A177-3AD203B41FA5}">
                      <a16:colId xmlns:a16="http://schemas.microsoft.com/office/drawing/2014/main" val="2103438129"/>
                    </a:ext>
                  </a:extLst>
                </a:gridCol>
                <a:gridCol w="138474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23088">
                  <a:extLst>
                    <a:ext uri="{9D8B030D-6E8A-4147-A177-3AD203B41FA5}">
                      <a16:colId xmlns:a16="http://schemas.microsoft.com/office/drawing/2014/main" val="15169297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우선협상대상자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460DEE0-B755-B480-8603-D1F4AC7E75B7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3427751"/>
          <a:ext cx="7708544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56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3098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마감일시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2026.08.15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요청 시 전달 사항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단독 응찰로 진행되는 수의시담으로서 입찰금액보다 조정된 금액으로 계약하길 희망합니다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요청 시 전달 자료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242041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CBC74B-0C03-7177-A30A-D3C9FD317DCD}"/>
              </a:ext>
            </a:extLst>
          </p:cNvPr>
          <p:cNvSpPr/>
          <p:nvPr/>
        </p:nvSpPr>
        <p:spPr>
          <a:xfrm>
            <a:off x="2696614" y="416612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FB3E43-CA45-C16E-6CF0-EDDE88BF864B}"/>
              </a:ext>
            </a:extLst>
          </p:cNvPr>
          <p:cNvSpPr/>
          <p:nvPr/>
        </p:nvSpPr>
        <p:spPr>
          <a:xfrm>
            <a:off x="3359451" y="416612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810E1EB-3D2F-557B-A0C3-F289A32B2B77}"/>
              </a:ext>
            </a:extLst>
          </p:cNvPr>
          <p:cNvSpPr/>
          <p:nvPr/>
        </p:nvSpPr>
        <p:spPr>
          <a:xfrm>
            <a:off x="163502" y="4554391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A8B0095-4B00-5CC6-C0EC-13F33081207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FF9BE41-5254-2D25-0E74-7442DE7AC407}"/>
              </a:ext>
            </a:extLst>
          </p:cNvPr>
          <p:cNvSpPr/>
          <p:nvPr/>
        </p:nvSpPr>
        <p:spPr>
          <a:xfrm>
            <a:off x="6438067" y="4554391"/>
            <a:ext cx="144765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제출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3398B21-5F66-3D27-6F66-2F17C0167555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7296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12838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94052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34823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038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69977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330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5082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53296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수의시담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A005A4-8BF1-74D8-CE89-2D6A3B2423BA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8688164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A9A7-2A9D-A0D7-819C-C0516836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A5BA95DD-748E-77A0-14D2-E2555081FFE8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B77FAB-BF19-42D9-83E5-A88463757E87}"/>
              </a:ext>
            </a:extLst>
          </p:cNvPr>
          <p:cNvSpPr txBox="1"/>
          <p:nvPr/>
        </p:nvSpPr>
        <p:spPr>
          <a:xfrm>
            <a:off x="749224" y="25608"/>
            <a:ext cx="35349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제출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52C223-8AD1-5661-8195-628C4DCAE4D3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CDDA569-DD74-98B0-4EF9-9A3EF1A4C72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A9BB43-CB8B-40B2-BA81-C6E114F6CC8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03177BC-3996-43FD-2236-69B27FC03387}"/>
              </a:ext>
            </a:extLst>
          </p:cNvPr>
          <p:cNvCxnSpPr>
            <a:cxnSpLocks/>
          </p:cNvCxnSpPr>
          <p:nvPr/>
        </p:nvCxnSpPr>
        <p:spPr>
          <a:xfrm>
            <a:off x="167468" y="194774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A15A99-3A4C-6A15-A08C-BB6C2C48FABA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A04670-2930-DACC-0699-087B0F264DA0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6C439A-5C73-E9A6-01FE-727D49A3812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F59C48B6-E6D2-B1A1-A429-C4D16E1BE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75A877-2CAB-78F7-F6D9-926B3CBD3DF9}"/>
              </a:ext>
            </a:extLst>
          </p:cNvPr>
          <p:cNvSpPr txBox="1"/>
          <p:nvPr/>
        </p:nvSpPr>
        <p:spPr>
          <a:xfrm>
            <a:off x="8049344" y="584684"/>
            <a:ext cx="1856656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협력업체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낙찰 업체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 적정선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가격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할 수 있도록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제공하는 정보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예비가 설정 상태에 따라 정보를 제공함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최저가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복수예비 기초금액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적격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복수예비 기초금액</a:t>
            </a:r>
            <a:endParaRPr lang="en-US" altLang="ko-KR" sz="800" dirty="0">
              <a:solidFill>
                <a:srgbClr val="C00000"/>
              </a:solidFill>
              <a:highlight>
                <a:srgbClr val="FFFFFF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제출하기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 클릭 시 진행상태를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견적제출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로 변경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1B3E9E5-84E9-F3EE-85F9-A742E87FD0C4}"/>
              </a:ext>
            </a:extLst>
          </p:cNvPr>
          <p:cNvSpPr/>
          <p:nvPr/>
        </p:nvSpPr>
        <p:spPr>
          <a:xfrm>
            <a:off x="163502" y="1655306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21C6384-5071-D250-26F0-D2BFDEDCF40F}"/>
              </a:ext>
            </a:extLst>
          </p:cNvPr>
          <p:cNvSpPr/>
          <p:nvPr/>
        </p:nvSpPr>
        <p:spPr>
          <a:xfrm>
            <a:off x="1426053" y="1655306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현황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00EB1B-F11B-D512-64AF-AC6BDB219B03}"/>
              </a:ext>
            </a:extLst>
          </p:cNvPr>
          <p:cNvSpPr/>
          <p:nvPr/>
        </p:nvSpPr>
        <p:spPr>
          <a:xfrm>
            <a:off x="268571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5EBC4C-0176-7E06-7A2D-FB61CF019CAB}"/>
              </a:ext>
            </a:extLst>
          </p:cNvPr>
          <p:cNvSpPr/>
          <p:nvPr/>
        </p:nvSpPr>
        <p:spPr>
          <a:xfrm>
            <a:off x="5187405" y="1608852"/>
            <a:ext cx="1250662" cy="338896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000C7C-0501-D8C0-B8F6-43B8E718AD5F}"/>
              </a:ext>
            </a:extLst>
          </p:cNvPr>
          <p:cNvSpPr/>
          <p:nvPr/>
        </p:nvSpPr>
        <p:spPr>
          <a:xfrm>
            <a:off x="392683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E03654-C50B-2B24-B8B4-BED01831D3CC}"/>
              </a:ext>
            </a:extLst>
          </p:cNvPr>
          <p:cNvSpPr/>
          <p:nvPr/>
        </p:nvSpPr>
        <p:spPr>
          <a:xfrm>
            <a:off x="181506" y="3104964"/>
            <a:ext cx="1313872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제출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CC797B2-CA38-3421-705B-7A47928664D3}"/>
              </a:ext>
            </a:extLst>
          </p:cNvPr>
          <p:cNvGraphicFramePr>
            <a:graphicFrameLocks noGrp="1"/>
          </p:cNvGraphicFramePr>
          <p:nvPr/>
        </p:nvGraphicFramePr>
        <p:xfrm>
          <a:off x="161177" y="3392529"/>
          <a:ext cx="7717010" cy="1351680"/>
        </p:xfrm>
        <a:graphic>
          <a:graphicData uri="http://schemas.openxmlformats.org/drawingml/2006/table">
            <a:tbl>
              <a:tblPr firstRow="1" bandRow="1"/>
              <a:tblGrid>
                <a:gridCol w="294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0104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00226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52207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144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61444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810696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874752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803311">
                  <a:extLst>
                    <a:ext uri="{9D8B030D-6E8A-4147-A177-3AD203B41FA5}">
                      <a16:colId xmlns:a16="http://schemas.microsoft.com/office/drawing/2014/main" val="2128366993"/>
                    </a:ext>
                  </a:extLst>
                </a:gridCol>
                <a:gridCol w="885563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부가세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합계금액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B7F05B-85CB-A870-9B84-6E8FD19D0BB7}"/>
              </a:ext>
            </a:extLst>
          </p:cNvPr>
          <p:cNvSpPr/>
          <p:nvPr/>
        </p:nvSpPr>
        <p:spPr>
          <a:xfrm>
            <a:off x="4622361" y="3801645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1,000,000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40448F-A0D1-05A3-B0C3-1D6D3D0250FB}"/>
              </a:ext>
            </a:extLst>
          </p:cNvPr>
          <p:cNvSpPr/>
          <p:nvPr/>
        </p:nvSpPr>
        <p:spPr>
          <a:xfrm>
            <a:off x="4622361" y="4126553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3,000,000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ADF23C-FCD7-D728-7DC1-D40AEC1CAE5B}"/>
              </a:ext>
            </a:extLst>
          </p:cNvPr>
          <p:cNvSpPr/>
          <p:nvPr/>
        </p:nvSpPr>
        <p:spPr>
          <a:xfrm>
            <a:off x="6308276" y="3801645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173081-F8B6-5DA2-B0A2-0E8BEF0D6498}"/>
              </a:ext>
            </a:extLst>
          </p:cNvPr>
          <p:cNvSpPr/>
          <p:nvPr/>
        </p:nvSpPr>
        <p:spPr>
          <a:xfrm>
            <a:off x="6308276" y="4126553"/>
            <a:ext cx="63931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600,000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7CF5275-051A-6AF8-DE26-C0FD10535D11}"/>
              </a:ext>
            </a:extLst>
          </p:cNvPr>
          <p:cNvGraphicFramePr>
            <a:graphicFrameLocks noGrp="1"/>
          </p:cNvGraphicFramePr>
          <p:nvPr/>
        </p:nvGraphicFramePr>
        <p:xfrm>
          <a:off x="161177" y="4846851"/>
          <a:ext cx="7708147" cy="825600"/>
        </p:xfrm>
        <a:graphic>
          <a:graphicData uri="http://schemas.openxmlformats.org/drawingml/2006/table">
            <a:tbl>
              <a:tblPr firstRow="1" bandRow="1"/>
              <a:tblGrid>
                <a:gridCol w="130855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399588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상세견적서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pic>
        <p:nvPicPr>
          <p:cNvPr id="41" name="그림 40">
            <a:extLst>
              <a:ext uri="{FF2B5EF4-FFF2-40B4-BE49-F238E27FC236}">
                <a16:creationId xmlns:a16="http://schemas.microsoft.com/office/drawing/2014/main" id="{B78F2019-E02C-3BAE-C31B-3458D9AA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620" y="4920349"/>
            <a:ext cx="6301654" cy="662078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07567C6E-2126-4098-0307-9A3BB313973C}"/>
              </a:ext>
            </a:extLst>
          </p:cNvPr>
          <p:cNvSpPr/>
          <p:nvPr/>
        </p:nvSpPr>
        <p:spPr>
          <a:xfrm>
            <a:off x="164467" y="5760461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EC4B06-A9BE-1EE4-33DA-CC2E61D37D51}"/>
              </a:ext>
            </a:extLst>
          </p:cNvPr>
          <p:cNvSpPr/>
          <p:nvPr/>
        </p:nvSpPr>
        <p:spPr>
          <a:xfrm>
            <a:off x="6438067" y="5760461"/>
            <a:ext cx="144765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374D4EB-B37F-DCAB-E3A4-152455E189A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9C08536-D84E-EBE2-C923-FED23DD9E5FD}"/>
              </a:ext>
            </a:extLst>
          </p:cNvPr>
          <p:cNvSpPr/>
          <p:nvPr/>
        </p:nvSpPr>
        <p:spPr>
          <a:xfrm>
            <a:off x="2393956" y="5298650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23AA92E-9471-3F6A-D515-C215C7A7C029}"/>
              </a:ext>
            </a:extLst>
          </p:cNvPr>
          <p:cNvSpPr/>
          <p:nvPr/>
        </p:nvSpPr>
        <p:spPr>
          <a:xfrm>
            <a:off x="2501735" y="5716223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견적을 제출하면 더 이상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정확하게 가격이 입력되었는지 다시 한번 확인 부탁드립니다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제출을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8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CC89B2B0-AC31-C47B-CAAD-1A27A6881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857" y="587284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직사각형 89">
            <a:extLst>
              <a:ext uri="{FF2B5EF4-FFF2-40B4-BE49-F238E27FC236}">
                <a16:creationId xmlns:a16="http://schemas.microsoft.com/office/drawing/2014/main" id="{391C1DB7-86CD-3F47-3870-0117805DB93C}"/>
              </a:ext>
            </a:extLst>
          </p:cNvPr>
          <p:cNvSpPr/>
          <p:nvPr/>
        </p:nvSpPr>
        <p:spPr>
          <a:xfrm>
            <a:off x="5345293" y="6704590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443552D-B1EC-524B-8E9B-449A1109EBEC}"/>
              </a:ext>
            </a:extLst>
          </p:cNvPr>
          <p:cNvSpPr/>
          <p:nvPr/>
        </p:nvSpPr>
        <p:spPr>
          <a:xfrm>
            <a:off x="2525176" y="5399224"/>
            <a:ext cx="240290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제출 시 유의사항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3AE4759-DC04-728F-B50F-228612F3F616}"/>
              </a:ext>
            </a:extLst>
          </p:cNvPr>
          <p:cNvSpPr/>
          <p:nvPr/>
        </p:nvSpPr>
        <p:spPr>
          <a:xfrm>
            <a:off x="4214980" y="6704590"/>
            <a:ext cx="1063542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제출하기</a:t>
            </a:r>
          </a:p>
        </p:txBody>
      </p: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EC152A7F-244A-76BF-E16A-9AF8B2184557}"/>
              </a:ext>
            </a:extLst>
          </p:cNvPr>
          <p:cNvCxnSpPr>
            <a:cxnSpLocks/>
            <a:stCxn id="46" idx="2"/>
            <a:endCxn id="86" idx="3"/>
          </p:cNvCxnSpPr>
          <p:nvPr/>
        </p:nvCxnSpPr>
        <p:spPr>
          <a:xfrm rot="5400000">
            <a:off x="6580198" y="5642671"/>
            <a:ext cx="175876" cy="987520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5738A45-3135-2B47-6C14-B9DC68788852}"/>
              </a:ext>
            </a:extLst>
          </p:cNvPr>
          <p:cNvSpPr/>
          <p:nvPr/>
        </p:nvSpPr>
        <p:spPr>
          <a:xfrm>
            <a:off x="2393956" y="5029923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제출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505DBF50-678F-DFEE-0DEA-6C38574DE8F1}"/>
              </a:ext>
            </a:extLst>
          </p:cNvPr>
          <p:cNvSpPr/>
          <p:nvPr/>
        </p:nvSpPr>
        <p:spPr>
          <a:xfrm>
            <a:off x="5901288" y="502992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8CE3904-C567-B1EE-01CB-6ABD52B20AB8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7296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12838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94052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34823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038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69977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330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5082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53296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수의시담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6" name="타원 15">
            <a:extLst>
              <a:ext uri="{FF2B5EF4-FFF2-40B4-BE49-F238E27FC236}">
                <a16:creationId xmlns:a16="http://schemas.microsoft.com/office/drawing/2014/main" id="{AA086305-9B0A-50DB-2388-8B781FEB0AF1}"/>
              </a:ext>
            </a:extLst>
          </p:cNvPr>
          <p:cNvSpPr/>
          <p:nvPr/>
        </p:nvSpPr>
        <p:spPr>
          <a:xfrm>
            <a:off x="4106494" y="660010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5E6F3B-7A60-582C-D98B-902B9F93B013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6DD6FE-0E01-4D63-CF8C-E95EB22E1C85}"/>
              </a:ext>
            </a:extLst>
          </p:cNvPr>
          <p:cNvSpPr/>
          <p:nvPr/>
        </p:nvSpPr>
        <p:spPr>
          <a:xfrm>
            <a:off x="189384" y="2056348"/>
            <a:ext cx="771497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시 참고하실 수 있도록 낙찰자 선정방식에 따라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복수예비 기초금액을 제공합니다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EE24286E-D8EA-F0BB-BBE2-02EC68C29BAD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2346079"/>
          <a:ext cx="771497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25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8872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135,000,000  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일억삼천오백만원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복수예비 기초금액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258,000,000  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이억오천팔백만원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0ACAD53B-5B2A-7CB9-2F24-236FA19E0888}"/>
              </a:ext>
            </a:extLst>
          </p:cNvPr>
          <p:cNvSpPr/>
          <p:nvPr/>
        </p:nvSpPr>
        <p:spPr>
          <a:xfrm>
            <a:off x="59456" y="187268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11125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AC7AE-5EBC-FBF4-AEB0-E0B91929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B1283936-DB01-88AC-820D-7879EAD25A0D}"/>
              </a:ext>
            </a:extLst>
          </p:cNvPr>
          <p:cNvSpPr txBox="1">
            <a:spLocks/>
          </p:cNvSpPr>
          <p:nvPr/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5pPr>
            <a:lvl6pPr marL="54864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6pPr>
            <a:lvl7pPr marL="109728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7pPr>
            <a:lvl8pPr marL="164592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8pPr>
            <a:lvl9pPr marL="2194560" algn="ctr" rtl="0" fontAlgn="base" latinLnBrk="1">
              <a:spcBef>
                <a:spcPct val="0"/>
              </a:spcBef>
              <a:spcAft>
                <a:spcPct val="0"/>
              </a:spcAft>
              <a:defRPr sz="5300"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r>
              <a:rPr kumimoji="0" lang="en-US" altLang="ko-KR" b="0"/>
              <a:t> </a:t>
            </a:r>
            <a:endParaRPr kumimoji="0"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251BB-954A-14FF-97F6-64F0AD6BD0BA}"/>
              </a:ext>
            </a:extLst>
          </p:cNvPr>
          <p:cNvSpPr txBox="1"/>
          <p:nvPr/>
        </p:nvSpPr>
        <p:spPr>
          <a:xfrm>
            <a:off x="749224" y="25608"/>
            <a:ext cx="29674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제출내역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60D862-1B29-28A9-7DB4-440D87CDB822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BB0A9B0-8FDF-67F8-2DD8-F0488F154AE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F48ACB-D137-4DB0-B71F-39C90F759658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B1FA5D8-0785-7DB7-A516-F6C0B25956D9}"/>
              </a:ext>
            </a:extLst>
          </p:cNvPr>
          <p:cNvCxnSpPr>
            <a:cxnSpLocks/>
          </p:cNvCxnSpPr>
          <p:nvPr/>
        </p:nvCxnSpPr>
        <p:spPr>
          <a:xfrm>
            <a:off x="167468" y="194774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35C189-42E6-ADDB-1C9D-C691EA74A28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859C6D-97B6-59B5-BEFF-404240FA1A52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B037A6-4BED-0C08-40B3-102C227D6A09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B01F9A2B-1B37-9163-45D6-D7A26686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22B2B2-8E82-2C52-77F1-162FE9035956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828909E-0152-B8A3-2578-9F3A7F53EF8B}"/>
              </a:ext>
            </a:extLst>
          </p:cNvPr>
          <p:cNvSpPr/>
          <p:nvPr/>
        </p:nvSpPr>
        <p:spPr>
          <a:xfrm>
            <a:off x="163502" y="1655306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정보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AA88F5-BC53-64A9-87A4-720F2602BEAD}"/>
              </a:ext>
            </a:extLst>
          </p:cNvPr>
          <p:cNvSpPr/>
          <p:nvPr/>
        </p:nvSpPr>
        <p:spPr>
          <a:xfrm>
            <a:off x="1426053" y="1655306"/>
            <a:ext cx="1259658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서류 제출 현황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8AA5F3-D4F7-D368-F0D0-8F9A7C4A9E36}"/>
              </a:ext>
            </a:extLst>
          </p:cNvPr>
          <p:cNvSpPr/>
          <p:nvPr/>
        </p:nvSpPr>
        <p:spPr>
          <a:xfrm>
            <a:off x="2685711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322D17-59D4-FD95-2CD8-9C64D655C103}"/>
              </a:ext>
            </a:extLst>
          </p:cNvPr>
          <p:cNvSpPr/>
          <p:nvPr/>
        </p:nvSpPr>
        <p:spPr>
          <a:xfrm>
            <a:off x="5187405" y="1608852"/>
            <a:ext cx="1250662" cy="338896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7E3B65-C894-E5A5-49E8-F87CD7EF8E90}"/>
              </a:ext>
            </a:extLst>
          </p:cNvPr>
          <p:cNvSpPr/>
          <p:nvPr/>
        </p:nvSpPr>
        <p:spPr>
          <a:xfrm>
            <a:off x="3926837" y="1655306"/>
            <a:ext cx="1250662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결과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7989EDD-769D-028C-27AE-DBD05A3C6FA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A6FC63D-DB0D-8F46-964A-BB9BF7B72B0B}"/>
              </a:ext>
            </a:extLst>
          </p:cNvPr>
          <p:cNvGraphicFramePr>
            <a:graphicFrameLocks noGrp="1"/>
          </p:cNvGraphicFramePr>
          <p:nvPr/>
        </p:nvGraphicFramePr>
        <p:xfrm>
          <a:off x="183739" y="2340254"/>
          <a:ext cx="7721588" cy="1351680"/>
        </p:xfrm>
        <a:graphic>
          <a:graphicData uri="http://schemas.openxmlformats.org/drawingml/2006/table">
            <a:tbl>
              <a:tblPr firstRow="1" bandRow="1"/>
              <a:tblGrid>
                <a:gridCol w="29459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01516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00285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52298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16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6165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811177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875271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803788">
                  <a:extLst>
                    <a:ext uri="{9D8B030D-6E8A-4147-A177-3AD203B41FA5}">
                      <a16:colId xmlns:a16="http://schemas.microsoft.com/office/drawing/2014/main" val="2128366993"/>
                    </a:ext>
                  </a:extLst>
                </a:gridCol>
                <a:gridCol w="88608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부가세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합계금액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3,300,000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6,600,000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9,900,000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F995411-3903-1A64-CE5B-583C55298F35}"/>
              </a:ext>
            </a:extLst>
          </p:cNvPr>
          <p:cNvGraphicFramePr>
            <a:graphicFrameLocks noGrp="1"/>
          </p:cNvGraphicFramePr>
          <p:nvPr/>
        </p:nvGraphicFramePr>
        <p:xfrm>
          <a:off x="183739" y="3794576"/>
          <a:ext cx="7685585" cy="581760"/>
        </p:xfrm>
        <a:graphic>
          <a:graphicData uri="http://schemas.openxmlformats.org/drawingml/2006/table">
            <a:tbl>
              <a:tblPr firstRow="1" bandRow="1"/>
              <a:tblGrid>
                <a:gridCol w="130472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380856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상세견적서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E4A77B-C9D0-675A-4B3B-0ADBB3A39230}"/>
              </a:ext>
            </a:extLst>
          </p:cNvPr>
          <p:cNvSpPr/>
          <p:nvPr/>
        </p:nvSpPr>
        <p:spPr>
          <a:xfrm>
            <a:off x="193067" y="4478978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5E10038-0B09-F92B-2FCF-BFE1E79E7931}"/>
              </a:ext>
            </a:extLst>
          </p:cNvPr>
          <p:cNvGrpSpPr/>
          <p:nvPr/>
        </p:nvGrpSpPr>
        <p:grpSpPr>
          <a:xfrm>
            <a:off x="2504773" y="3847969"/>
            <a:ext cx="1275802" cy="198885"/>
            <a:chOff x="3545142" y="4085591"/>
            <a:chExt cx="1275802" cy="19888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C39B163-4DB3-DBEC-6CF3-F20FCD95D291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38A6F85-1144-FBFC-E623-5F4215414ED4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E46453B-9E9D-6215-AD4F-6E80E71F308D}"/>
              </a:ext>
            </a:extLst>
          </p:cNvPr>
          <p:cNvGrpSpPr/>
          <p:nvPr/>
        </p:nvGrpSpPr>
        <p:grpSpPr>
          <a:xfrm>
            <a:off x="2504773" y="4110947"/>
            <a:ext cx="1275802" cy="198885"/>
            <a:chOff x="3545142" y="4085591"/>
            <a:chExt cx="1275802" cy="19888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31A7398-B748-8073-63F2-23DFED23F1E2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D25AEE9-2878-C2E3-D8B6-F76A199F7C6F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DE9A3E6-9193-D50D-F270-BB3A122EAD39}"/>
              </a:ext>
            </a:extLst>
          </p:cNvPr>
          <p:cNvSpPr/>
          <p:nvPr/>
        </p:nvSpPr>
        <p:spPr>
          <a:xfrm>
            <a:off x="181505" y="2058976"/>
            <a:ext cx="3754867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수의시담을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위한 견적 제출 내역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42F880E-13F6-EBA0-604C-49EBE1A83DA2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81796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7296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12838">
                  <a:extLst>
                    <a:ext uri="{9D8B030D-6E8A-4147-A177-3AD203B41FA5}">
                      <a16:colId xmlns:a16="http://schemas.microsoft.com/office/drawing/2014/main" val="3361743008"/>
                    </a:ext>
                  </a:extLst>
                </a:gridCol>
                <a:gridCol w="94052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34823">
                  <a:extLst>
                    <a:ext uri="{9D8B030D-6E8A-4147-A177-3AD203B41FA5}">
                      <a16:colId xmlns:a16="http://schemas.microsoft.com/office/drawing/2014/main" val="1771765625"/>
                    </a:ext>
                  </a:extLst>
                </a:gridCol>
                <a:gridCol w="18038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969977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330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5082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53296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입찰마감일시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수의시담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55981353-B697-78BC-B977-F64B789E57B4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6484123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4DB5A-A322-67F2-A191-15EA18C3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19B0413-6FD2-144F-3B05-47AA32121F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231BEC-9F95-A23F-B33E-5B406D698773}"/>
              </a:ext>
            </a:extLst>
          </p:cNvPr>
          <p:cNvSpPr txBox="1"/>
          <p:nvPr/>
        </p:nvSpPr>
        <p:spPr>
          <a:xfrm>
            <a:off x="749224" y="25608"/>
            <a:ext cx="20072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3401F23-98FB-A2AC-7A58-8B3E80231444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69E1DE-322D-BEFF-FD59-16FD0B0AB527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586819-4DC9-C011-EE67-E90E31608E4E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617AA6-413D-E195-E234-D1FBC79AB19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661EE2-59B6-ABB1-3844-4A3118C0CE5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B60153-7CAB-2998-A78B-2F4983420E7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65850649-8BCA-BCAD-B820-19E853401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D54548F-018E-396B-E9DC-CF5D717AF4A7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18E45C4-2B69-0F88-24A9-59D2705FE744}"/>
              </a:ext>
            </a:extLst>
          </p:cNvPr>
          <p:cNvSpPr/>
          <p:nvPr/>
        </p:nvSpPr>
        <p:spPr>
          <a:xfrm>
            <a:off x="164468" y="834983"/>
            <a:ext cx="7740859" cy="177926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7F02906-9DCE-AE59-6A9E-4C0F70481DB6}"/>
              </a:ext>
            </a:extLst>
          </p:cNvPr>
          <p:cNvSpPr txBox="1"/>
          <p:nvPr/>
        </p:nvSpPr>
        <p:spPr>
          <a:xfrm>
            <a:off x="235850" y="944243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체결일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C154248-D229-C1B6-000B-62373E2B3676}"/>
              </a:ext>
            </a:extLst>
          </p:cNvPr>
          <p:cNvSpPr/>
          <p:nvPr/>
        </p:nvSpPr>
        <p:spPr>
          <a:xfrm>
            <a:off x="4972054" y="93184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8F2857F-0886-4435-5564-A13A745F306D}"/>
              </a:ext>
            </a:extLst>
          </p:cNvPr>
          <p:cNvSpPr/>
          <p:nvPr/>
        </p:nvSpPr>
        <p:spPr>
          <a:xfrm>
            <a:off x="5782305" y="9318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BAD7D08-1E27-F905-FDD2-3A6C18420C7A}"/>
              </a:ext>
            </a:extLst>
          </p:cNvPr>
          <p:cNvSpPr/>
          <p:nvPr/>
        </p:nvSpPr>
        <p:spPr>
          <a:xfrm>
            <a:off x="6195560" y="93184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5676774-D1BA-82C9-9518-88E051A72DB8}"/>
              </a:ext>
            </a:extLst>
          </p:cNvPr>
          <p:cNvSpPr/>
          <p:nvPr/>
        </p:nvSpPr>
        <p:spPr>
          <a:xfrm>
            <a:off x="7005811" y="9318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DC1FDFE-6104-D187-D60B-948C5D85E301}"/>
              </a:ext>
            </a:extLst>
          </p:cNvPr>
          <p:cNvSpPr/>
          <p:nvPr/>
        </p:nvSpPr>
        <p:spPr>
          <a:xfrm>
            <a:off x="1682278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654BAAF-B251-EA7F-D12C-C0E643A45973}"/>
              </a:ext>
            </a:extLst>
          </p:cNvPr>
          <p:cNvSpPr/>
          <p:nvPr/>
        </p:nvSpPr>
        <p:spPr>
          <a:xfrm>
            <a:off x="2230847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F1D4CBE-2BCB-724B-1E8A-37D28F64C510}"/>
              </a:ext>
            </a:extLst>
          </p:cNvPr>
          <p:cNvSpPr/>
          <p:nvPr/>
        </p:nvSpPr>
        <p:spPr>
          <a:xfrm>
            <a:off x="2779416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B3069C1-DBCE-71B5-E771-79FDC5C29EAA}"/>
              </a:ext>
            </a:extLst>
          </p:cNvPr>
          <p:cNvSpPr/>
          <p:nvPr/>
        </p:nvSpPr>
        <p:spPr>
          <a:xfrm>
            <a:off x="3327985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7BFFAA7-693E-EEA3-542D-75CE8251C67F}"/>
              </a:ext>
            </a:extLst>
          </p:cNvPr>
          <p:cNvSpPr/>
          <p:nvPr/>
        </p:nvSpPr>
        <p:spPr>
          <a:xfrm>
            <a:off x="3876554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877E3FD-1221-56C0-19FB-7345D8D4779A}"/>
              </a:ext>
            </a:extLst>
          </p:cNvPr>
          <p:cNvSpPr/>
          <p:nvPr/>
        </p:nvSpPr>
        <p:spPr>
          <a:xfrm>
            <a:off x="4425122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D73AD1-A5CD-8F12-A3E5-29FF637A14F9}"/>
              </a:ext>
            </a:extLst>
          </p:cNvPr>
          <p:cNvSpPr txBox="1"/>
          <p:nvPr/>
        </p:nvSpPr>
        <p:spPr>
          <a:xfrm>
            <a:off x="235849" y="122413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9037642-F1BF-2951-0FF8-AA98699A034C}"/>
              </a:ext>
            </a:extLst>
          </p:cNvPr>
          <p:cNvSpPr txBox="1"/>
          <p:nvPr/>
        </p:nvSpPr>
        <p:spPr>
          <a:xfrm>
            <a:off x="8049344" y="584684"/>
            <a:ext cx="1856656" cy="12680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협력업체가 계약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검색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별 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당연히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포함됨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정의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노란 부분 참조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계약명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0358AA-94F9-FB14-B466-96112CC0C77C}"/>
              </a:ext>
            </a:extLst>
          </p:cNvPr>
          <p:cNvSpPr txBox="1"/>
          <p:nvPr/>
        </p:nvSpPr>
        <p:spPr>
          <a:xfrm>
            <a:off x="235849" y="1500170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계약방법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낙찰자 선정방법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53FB432-51D6-BC41-C745-AD48CA803B09}"/>
              </a:ext>
            </a:extLst>
          </p:cNvPr>
          <p:cNvSpPr/>
          <p:nvPr/>
        </p:nvSpPr>
        <p:spPr>
          <a:xfrm>
            <a:off x="1666765" y="1500173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 선택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00433E7-867D-D2F7-418B-C3EB4AAEE5BD}"/>
              </a:ext>
            </a:extLst>
          </p:cNvPr>
          <p:cNvSpPr/>
          <p:nvPr/>
        </p:nvSpPr>
        <p:spPr>
          <a:xfrm>
            <a:off x="3062747" y="150017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1906C93-DE62-0BB0-E2F0-CACF3C700F23}"/>
              </a:ext>
            </a:extLst>
          </p:cNvPr>
          <p:cNvSpPr/>
          <p:nvPr/>
        </p:nvSpPr>
        <p:spPr>
          <a:xfrm>
            <a:off x="3349569" y="1500173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선택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2728E49E-BC6D-3AE9-FEBF-1C82DFBDCDA4}"/>
              </a:ext>
            </a:extLst>
          </p:cNvPr>
          <p:cNvSpPr/>
          <p:nvPr/>
        </p:nvSpPr>
        <p:spPr>
          <a:xfrm>
            <a:off x="4745551" y="150017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9985EE4D-8074-1D08-5AD9-0D8F4C357135}"/>
              </a:ext>
            </a:extLst>
          </p:cNvPr>
          <p:cNvSpPr/>
          <p:nvPr/>
        </p:nvSpPr>
        <p:spPr>
          <a:xfrm>
            <a:off x="1552720" y="137201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DB2A46A-F0F3-BAF5-1A25-42043488F439}"/>
              </a:ext>
            </a:extLst>
          </p:cNvPr>
          <p:cNvSpPr/>
          <p:nvPr/>
        </p:nvSpPr>
        <p:spPr>
          <a:xfrm>
            <a:off x="5856272" y="274965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AC3291E8-E066-B620-88D2-6211FF8D7313}"/>
              </a:ext>
            </a:extLst>
          </p:cNvPr>
          <p:cNvSpPr/>
          <p:nvPr/>
        </p:nvSpPr>
        <p:spPr>
          <a:xfrm>
            <a:off x="6677734" y="274965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F1F0038-20B2-3801-D4FA-DFC3B4459C0C}"/>
              </a:ext>
            </a:extLst>
          </p:cNvPr>
          <p:cNvSpPr txBox="1"/>
          <p:nvPr/>
        </p:nvSpPr>
        <p:spPr>
          <a:xfrm>
            <a:off x="181506" y="2736132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FE3F600-9E9C-7B9A-E978-5D892C4CCE6F}"/>
              </a:ext>
            </a:extLst>
          </p:cNvPr>
          <p:cNvSpPr/>
          <p:nvPr/>
        </p:nvSpPr>
        <p:spPr>
          <a:xfrm>
            <a:off x="6982990" y="2749650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01EE03CC-8514-7A36-8007-12BB1A57AB6A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3058198"/>
          <a:ext cx="10277614" cy="1689600"/>
        </p:xfrm>
        <a:graphic>
          <a:graphicData uri="http://schemas.openxmlformats.org/drawingml/2006/table">
            <a:tbl>
              <a:tblPr firstRow="1" bandRow="1"/>
              <a:tblGrid>
                <a:gridCol w="106951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88513">
                  <a:extLst>
                    <a:ext uri="{9D8B030D-6E8A-4147-A177-3AD203B41FA5}">
                      <a16:colId xmlns:a16="http://schemas.microsoft.com/office/drawing/2014/main" val="2112928521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3125994357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346855650"/>
                    </a:ext>
                  </a:extLst>
                </a:gridCol>
                <a:gridCol w="1407650">
                  <a:extLst>
                    <a:ext uri="{9D8B030D-6E8A-4147-A177-3AD203B41FA5}">
                      <a16:colId xmlns:a16="http://schemas.microsoft.com/office/drawing/2014/main" val="2553671467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960918577"/>
                    </a:ext>
                  </a:extLst>
                </a:gridCol>
                <a:gridCol w="1545763">
                  <a:extLst>
                    <a:ext uri="{9D8B030D-6E8A-4147-A177-3AD203B41FA5}">
                      <a16:colId xmlns:a16="http://schemas.microsoft.com/office/drawing/2014/main" val="229719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계약준비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재공고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재공고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2단계 경쟁입찰(규격/가격 동시)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E718BE52-6E53-7D4C-1015-0EC74EA6A674}"/>
              </a:ext>
            </a:extLst>
          </p:cNvPr>
          <p:cNvSpPr txBox="1"/>
          <p:nvPr/>
        </p:nvSpPr>
        <p:spPr>
          <a:xfrm>
            <a:off x="2572617" y="4204312"/>
            <a:ext cx="2293210" cy="415498"/>
          </a:xfrm>
          <a:prstGeom prst="rect">
            <a:avLst/>
          </a:prstGeom>
          <a:solidFill>
            <a:srgbClr val="FFFF00">
              <a:alpha val="69804"/>
            </a:srgbClr>
          </a:solidFill>
        </p:spPr>
        <p:txBody>
          <a:bodyPr wrap="square">
            <a:spAutoFit/>
          </a:bodyPr>
          <a:lstStyle/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계약준비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서류제출 등의 업무 진행 중 상태</a:t>
            </a: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계약완료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완료 처리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90F1BF62-85F6-CC73-DAFD-B584C5F33989}"/>
              </a:ext>
            </a:extLst>
          </p:cNvPr>
          <p:cNvSpPr/>
          <p:nvPr/>
        </p:nvSpPr>
        <p:spPr>
          <a:xfrm>
            <a:off x="1947250" y="3410917"/>
            <a:ext cx="529139" cy="651090"/>
          </a:xfrm>
          <a:prstGeom prst="rect">
            <a:avLst/>
          </a:prstGeom>
          <a:noFill/>
          <a:ln w="31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A1669E3E-EA22-35B9-72F7-BC097D4F59AE}"/>
              </a:ext>
            </a:extLst>
          </p:cNvPr>
          <p:cNvCxnSpPr>
            <a:cxnSpLocks/>
            <a:stCxn id="100" idx="2"/>
            <a:endCxn id="99" idx="1"/>
          </p:cNvCxnSpPr>
          <p:nvPr/>
        </p:nvCxnSpPr>
        <p:spPr>
          <a:xfrm rot="16200000" flipH="1">
            <a:off x="2217191" y="4056635"/>
            <a:ext cx="350054" cy="360797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F6901DD5-D55B-6814-F299-F9E77476A9AD}"/>
              </a:ext>
            </a:extLst>
          </p:cNvPr>
          <p:cNvGrpSpPr/>
          <p:nvPr/>
        </p:nvGrpSpPr>
        <p:grpSpPr>
          <a:xfrm>
            <a:off x="2004219" y="4861252"/>
            <a:ext cx="4025354" cy="216024"/>
            <a:chOff x="2992062" y="4869160"/>
            <a:chExt cx="4025354" cy="216024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49CD27B8-25B6-2B24-2D6B-A7B72FC4EBED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1E143F24-0B81-05C0-06D7-1AFC393B1617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C6248698-BBA0-7C40-0106-2F471DAD5FA3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C669A5A-816D-083C-230D-9BD848FC7EC1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80FA1CF3-2657-AF08-EBB2-C1F3C5D7C1D9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957D4B9C-351D-F9DF-3F6F-9FCAC48A134B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744A5656-FA6B-E989-A3E7-CFD1039C94F9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18D52DD-F883-FB4F-7E1D-A132B7C94683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8CD246B3-9C42-4ACB-B0E8-96C97017FCD1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79D2502D-A65D-3F45-0AAF-D4E35310A6F5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3E926020-4FBE-B417-D1DD-7C2E1C507B67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4C09CFE5-A284-B7A9-5016-800E1C5CD534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DF1113D-4406-E29F-6078-27C928B0C9D7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818822A6-699D-501D-7B83-F4A784644EF5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A6238E5-3DC7-E70A-B253-3DE58DBBD59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434D0AD-168A-5997-3A3B-8A4C7C161B8B}"/>
              </a:ext>
            </a:extLst>
          </p:cNvPr>
          <p:cNvSpPr txBox="1"/>
          <p:nvPr/>
        </p:nvSpPr>
        <p:spPr>
          <a:xfrm>
            <a:off x="235849" y="1772816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구분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본공고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재공고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A9B3E01-B3EA-AA07-0424-ABCCECBC0C70}"/>
              </a:ext>
            </a:extLst>
          </p:cNvPr>
          <p:cNvSpPr txBox="1"/>
          <p:nvPr/>
        </p:nvSpPr>
        <p:spPr>
          <a:xfrm>
            <a:off x="235849" y="2029381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계약준비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계약완료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0F4CF39-1A4A-CD1E-5954-E6CCB64D6231}"/>
              </a:ext>
            </a:extLst>
          </p:cNvPr>
          <p:cNvSpPr txBox="1"/>
          <p:nvPr/>
        </p:nvSpPr>
        <p:spPr>
          <a:xfrm>
            <a:off x="235850" y="2291272"/>
            <a:ext cx="17648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B0294251-2501-08AE-98DD-005AB20454AB}"/>
              </a:ext>
            </a:extLst>
          </p:cNvPr>
          <p:cNvSpPr/>
          <p:nvPr/>
        </p:nvSpPr>
        <p:spPr>
          <a:xfrm>
            <a:off x="1654646" y="228412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EDB08192-BDC2-D1AA-AC52-BF1050000688}"/>
              </a:ext>
            </a:extLst>
          </p:cNvPr>
          <p:cNvSpPr/>
          <p:nvPr/>
        </p:nvSpPr>
        <p:spPr>
          <a:xfrm>
            <a:off x="2464897" y="228412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8D78B542-CD95-5221-3C9D-21F30C0D3AC0}"/>
              </a:ext>
            </a:extLst>
          </p:cNvPr>
          <p:cNvSpPr/>
          <p:nvPr/>
        </p:nvSpPr>
        <p:spPr>
          <a:xfrm>
            <a:off x="2780034" y="2284127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75A793EC-0A5B-7703-2F08-9B001CE1FBBF}"/>
              </a:ext>
            </a:extLst>
          </p:cNvPr>
          <p:cNvSpPr/>
          <p:nvPr/>
        </p:nvSpPr>
        <p:spPr>
          <a:xfrm>
            <a:off x="6488042" y="2284129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D49187E5-0C76-A1E5-80C0-BEA2C1308D1F}"/>
              </a:ext>
            </a:extLst>
          </p:cNvPr>
          <p:cNvSpPr/>
          <p:nvPr/>
        </p:nvSpPr>
        <p:spPr>
          <a:xfrm>
            <a:off x="1552720" y="217553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759EAB39-403F-657D-DBE7-5F784F73BCD6}"/>
              </a:ext>
            </a:extLst>
          </p:cNvPr>
          <p:cNvSpPr/>
          <p:nvPr/>
        </p:nvSpPr>
        <p:spPr>
          <a:xfrm>
            <a:off x="1552720" y="189486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1BCADB31-09E4-D848-194E-FF2F96E5DCCB}"/>
              </a:ext>
            </a:extLst>
          </p:cNvPr>
          <p:cNvSpPr/>
          <p:nvPr/>
        </p:nvSpPr>
        <p:spPr>
          <a:xfrm>
            <a:off x="19825" y="27266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6104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828E-0F60-EE0D-FB23-B6722D93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1F14F10-7FD1-730F-5053-F4D1CE8C2D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88D655-9C5A-60B4-F902-100A3026B791}"/>
              </a:ext>
            </a:extLst>
          </p:cNvPr>
          <p:cNvSpPr txBox="1"/>
          <p:nvPr/>
        </p:nvSpPr>
        <p:spPr>
          <a:xfrm>
            <a:off x="749224" y="25608"/>
            <a:ext cx="2496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173672-2689-1435-1435-11E2EB624A0C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212CA63-BD8B-5568-80BB-260F8700C94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5BCC6E7-2E72-7864-EF3A-F4269A115A4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AE3855-C9D1-F386-B692-16EC6A3944B7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F9B51F-AB71-DAD7-3EE1-D1BB60257B9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2598A2-742A-CE8F-4913-675366DA4DAF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613E3F50-68C8-28D4-1D04-5A24FC5DB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4DAF485-41DA-C418-77D0-07EBDC6C2C11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8CBD5D9-567A-5E25-D5C3-DD1F8861A40D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진행상태를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계약요청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서류제출 완료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변경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DACE1D72-88C0-E4EB-5989-DFF00866C8D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1749192-F20C-AF41-24A1-DB20E0C67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283011"/>
              </p:ext>
            </p:extLst>
          </p:nvPr>
        </p:nvGraphicFramePr>
        <p:xfrm>
          <a:off x="164464" y="81796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127765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3492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605262">
                  <a:extLst>
                    <a:ext uri="{9D8B030D-6E8A-4147-A177-3AD203B41FA5}">
                      <a16:colId xmlns:a16="http://schemas.microsoft.com/office/drawing/2014/main" val="2865363753"/>
                    </a:ext>
                  </a:extLst>
                </a:gridCol>
                <a:gridCol w="2656358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3647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155945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523D3DF9-426C-17F4-707B-4D2723E41579}"/>
              </a:ext>
            </a:extLst>
          </p:cNvPr>
          <p:cNvSpPr/>
          <p:nvPr/>
        </p:nvSpPr>
        <p:spPr>
          <a:xfrm>
            <a:off x="183392" y="207810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기본 정보</a:t>
            </a:r>
            <a:endParaRPr lang="ko-KR" altLang="en-US" sz="9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2050FD1-E345-F170-BE8B-3276D6BF21BD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356079"/>
          <a:ext cx="7740859" cy="16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4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계약명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습식공사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체결일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2026. 07. 31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850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상대자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짙은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172179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F3B4302-88AD-F535-D355-852CB096B442}"/>
              </a:ext>
            </a:extLst>
          </p:cNvPr>
          <p:cNvGraphicFramePr>
            <a:graphicFrameLocks noGrp="1"/>
          </p:cNvGraphicFramePr>
          <p:nvPr/>
        </p:nvGraphicFramePr>
        <p:xfrm>
          <a:off x="163502" y="4021346"/>
          <a:ext cx="7733409" cy="222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1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6429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대상자 필요 면허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종합건설업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건축설계 및 시공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전문건설업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습식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석공 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61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00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9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근거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사유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사유로 입력된 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873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제주도 관내 본사를 두고 있는 사업자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82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추정가격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소요예산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일억원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</a:tbl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D7BB6C2-D95D-8C41-9C12-16BE563750B1}"/>
              </a:ext>
            </a:extLst>
          </p:cNvPr>
          <p:cNvCxnSpPr>
            <a:cxnSpLocks/>
          </p:cNvCxnSpPr>
          <p:nvPr/>
        </p:nvCxnSpPr>
        <p:spPr>
          <a:xfrm>
            <a:off x="167468" y="1950541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376134-1168-1EA3-B2B8-EE10554658CD}"/>
              </a:ext>
            </a:extLst>
          </p:cNvPr>
          <p:cNvSpPr/>
          <p:nvPr/>
        </p:nvSpPr>
        <p:spPr>
          <a:xfrm>
            <a:off x="163502" y="1599955"/>
            <a:ext cx="1125796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5F0BB3E-8817-1EA4-2FBE-30AEECD13995}"/>
              </a:ext>
            </a:extLst>
          </p:cNvPr>
          <p:cNvSpPr/>
          <p:nvPr/>
        </p:nvSpPr>
        <p:spPr>
          <a:xfrm>
            <a:off x="1283257" y="1661974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</p:spTree>
    <p:extLst>
      <p:ext uri="{BB962C8B-B14F-4D97-AF65-F5344CB8AC3E}">
        <p14:creationId xmlns:p14="http://schemas.microsoft.com/office/powerpoint/2010/main" val="12174000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917A8-D7E3-407E-508F-7A12D0823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FF353CF-411F-D5E6-DD18-07CA511ACC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F0FDC4-FB5A-33FB-9E36-45FF9F0466D6}"/>
              </a:ext>
            </a:extLst>
          </p:cNvPr>
          <p:cNvSpPr txBox="1"/>
          <p:nvPr/>
        </p:nvSpPr>
        <p:spPr>
          <a:xfrm>
            <a:off x="749224" y="25608"/>
            <a:ext cx="2496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831C28-0973-2940-F8C3-122332E8BE9E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진행상태를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계약요청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서류제출 완료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변경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7655D074-9DB5-5DDB-B476-BB70EED94180}"/>
              </a:ext>
            </a:extLst>
          </p:cNvPr>
          <p:cNvGraphicFramePr>
            <a:graphicFrameLocks noGrp="1"/>
          </p:cNvGraphicFramePr>
          <p:nvPr/>
        </p:nvGraphicFramePr>
        <p:xfrm>
          <a:off x="163502" y="378786"/>
          <a:ext cx="7741822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1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7270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99,000,000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구천구백만원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6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공급가액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구천만원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0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부가세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구백만원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80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납기일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선금이행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0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보증기간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E0CA8E-2BAB-6D81-F2C6-3BA89D454CEF}"/>
              </a:ext>
            </a:extLst>
          </p:cNvPr>
          <p:cNvSpPr/>
          <p:nvPr/>
        </p:nvSpPr>
        <p:spPr>
          <a:xfrm>
            <a:off x="183392" y="316834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endParaRPr lang="ko-KR" altLang="en-US" sz="9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4E7E42E-89BA-4B3B-F388-B5F83C5C0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29988"/>
              </p:ext>
            </p:extLst>
          </p:nvPr>
        </p:nvGraphicFramePr>
        <p:xfrm>
          <a:off x="163502" y="3451656"/>
          <a:ext cx="7733410" cy="16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1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6429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15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8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60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695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참고서류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763532"/>
                  </a:ext>
                </a:extLst>
              </a:tr>
            </a:tbl>
          </a:graphicData>
        </a:graphic>
      </p:graphicFrame>
      <p:grpSp>
        <p:nvGrpSpPr>
          <p:cNvPr id="35" name="그룹 34">
            <a:extLst>
              <a:ext uri="{FF2B5EF4-FFF2-40B4-BE49-F238E27FC236}">
                <a16:creationId xmlns:a16="http://schemas.microsoft.com/office/drawing/2014/main" id="{1E398BDE-E1E9-F305-88C9-3FD79F4BE048}"/>
              </a:ext>
            </a:extLst>
          </p:cNvPr>
          <p:cNvGrpSpPr/>
          <p:nvPr/>
        </p:nvGrpSpPr>
        <p:grpSpPr>
          <a:xfrm>
            <a:off x="2612740" y="3521976"/>
            <a:ext cx="1275802" cy="198885"/>
            <a:chOff x="2576736" y="3905324"/>
            <a:chExt cx="1275802" cy="198885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4F6A330-0909-2A1A-5A1B-DF16A658363D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F6B7E3A-F0C1-7493-3A11-64768801AEB4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499E310-627C-654D-8ED6-67F9F989B5AE}"/>
              </a:ext>
            </a:extLst>
          </p:cNvPr>
          <p:cNvGrpSpPr/>
          <p:nvPr/>
        </p:nvGrpSpPr>
        <p:grpSpPr>
          <a:xfrm>
            <a:off x="2612740" y="3857457"/>
            <a:ext cx="1275802" cy="198885"/>
            <a:chOff x="2576736" y="3905324"/>
            <a:chExt cx="1275802" cy="198885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E8A0BF6-D89C-DD6E-6B7D-5795061213A5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032644E-7155-C580-4651-F66C96709CCB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267F54B-A580-886A-9430-FCF4BDD4771A}"/>
              </a:ext>
            </a:extLst>
          </p:cNvPr>
          <p:cNvGrpSpPr/>
          <p:nvPr/>
        </p:nvGrpSpPr>
        <p:grpSpPr>
          <a:xfrm>
            <a:off x="2612740" y="4192938"/>
            <a:ext cx="1275802" cy="198885"/>
            <a:chOff x="2576736" y="3905324"/>
            <a:chExt cx="1275802" cy="19888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2F7EC7A-0636-7C4F-7753-0145DAFDC257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F9390DE-88CE-2C11-E462-5F6C9169CE71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4623D31-498C-AC67-12F4-D343054F4566}"/>
              </a:ext>
            </a:extLst>
          </p:cNvPr>
          <p:cNvGrpSpPr/>
          <p:nvPr/>
        </p:nvGrpSpPr>
        <p:grpSpPr>
          <a:xfrm>
            <a:off x="2612740" y="4528419"/>
            <a:ext cx="1275802" cy="198885"/>
            <a:chOff x="2576736" y="3905324"/>
            <a:chExt cx="1275802" cy="198885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FB2CBF2-F7B8-CEFE-5462-46852DA5F7DA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4B284C9-EFC8-E977-0834-F18555F4FD55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8347005-8D61-4327-E356-13A2CA87BE16}"/>
              </a:ext>
            </a:extLst>
          </p:cNvPr>
          <p:cNvGrpSpPr/>
          <p:nvPr/>
        </p:nvGrpSpPr>
        <p:grpSpPr>
          <a:xfrm>
            <a:off x="2612740" y="4863900"/>
            <a:ext cx="1275802" cy="198885"/>
            <a:chOff x="2576736" y="3905324"/>
            <a:chExt cx="1275802" cy="198885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E7E113E-803D-BAC8-99CB-9F9799C53E9B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30DDF81-D741-CA50-29E4-F73CC6818CA2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1C1E6BB-13D2-D69F-28FB-257CFA5895B1}"/>
              </a:ext>
            </a:extLst>
          </p:cNvPr>
          <p:cNvSpPr/>
          <p:nvPr/>
        </p:nvSpPr>
        <p:spPr>
          <a:xfrm>
            <a:off x="164467" y="628071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35CC844-BD1B-2D05-7958-6BF2C6B9F4CC}"/>
              </a:ext>
            </a:extLst>
          </p:cNvPr>
          <p:cNvSpPr/>
          <p:nvPr/>
        </p:nvSpPr>
        <p:spPr>
          <a:xfrm>
            <a:off x="0" y="667798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C5BBA-45D1-E1AA-D030-D452367F2924}"/>
              </a:ext>
            </a:extLst>
          </p:cNvPr>
          <p:cNvSpPr txBox="1"/>
          <p:nvPr/>
        </p:nvSpPr>
        <p:spPr>
          <a:xfrm>
            <a:off x="181506" y="524677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변경계약 진행내역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9D16BD2-12A5-7D1A-C14A-F80EEC35435F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5525706"/>
          <a:ext cx="7729916" cy="675840"/>
        </p:xfrm>
        <a:graphic>
          <a:graphicData uri="http://schemas.openxmlformats.org/drawingml/2006/table">
            <a:tbl>
              <a:tblPr firstRow="1" bandRow="1"/>
              <a:tblGrid>
                <a:gridCol w="140182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438207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504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1095593">
                  <a:extLst>
                    <a:ext uri="{9D8B030D-6E8A-4147-A177-3AD203B41FA5}">
                      <a16:colId xmlns:a16="http://schemas.microsoft.com/office/drawing/2014/main" val="33317621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변경일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변경내용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작성자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변경 처리일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2026.09.01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종이 제외되어 계약금액을 수정하여 변경계약 하였습니다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2026.09.15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2939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7DD7D-C5CB-375C-5DD8-0BFDAB43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5CCD794-27FB-E3E2-8637-DCAB021F2C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1CF11-A571-20C2-16E8-029B4F534C3D}"/>
              </a:ext>
            </a:extLst>
          </p:cNvPr>
          <p:cNvSpPr txBox="1"/>
          <p:nvPr/>
        </p:nvSpPr>
        <p:spPr>
          <a:xfrm>
            <a:off x="749224" y="25608"/>
            <a:ext cx="3345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내역 상세보기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722E2-CAF2-7FE0-4B4C-A08C97EB09EF}"/>
              </a:ext>
            </a:extLst>
          </p:cNvPr>
          <p:cNvSpPr txBox="1"/>
          <p:nvPr/>
        </p:nvSpPr>
        <p:spPr>
          <a:xfrm>
            <a:off x="8049344" y="584684"/>
            <a:ext cx="1856656" cy="871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사유에 따라 아래의 입력 항목이 노출됨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‘계약금액’ 변경 시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‘납기일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공사기간’ 변경 시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5CBEBE-A137-7424-442B-2C650429EC52}"/>
              </a:ext>
            </a:extLst>
          </p:cNvPr>
          <p:cNvSpPr/>
          <p:nvPr/>
        </p:nvSpPr>
        <p:spPr>
          <a:xfrm>
            <a:off x="164468" y="349908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내역 상세보기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FB41C9-48DD-81C7-0A73-EB7AAD454C65}"/>
              </a:ext>
            </a:extLst>
          </p:cNvPr>
          <p:cNvSpPr/>
          <p:nvPr/>
        </p:nvSpPr>
        <p:spPr>
          <a:xfrm>
            <a:off x="164469" y="622818"/>
            <a:ext cx="7391698" cy="40109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F8CC76D-48E1-0262-BD1C-AE5380098909}"/>
              </a:ext>
            </a:extLst>
          </p:cNvPr>
          <p:cNvSpPr/>
          <p:nvPr/>
        </p:nvSpPr>
        <p:spPr>
          <a:xfrm>
            <a:off x="7286167" y="34990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37B5F97-3B4B-66EA-448D-3B4508F9B284}"/>
              </a:ext>
            </a:extLst>
          </p:cNvPr>
          <p:cNvSpPr/>
          <p:nvPr/>
        </p:nvSpPr>
        <p:spPr>
          <a:xfrm>
            <a:off x="7452512" y="623662"/>
            <a:ext cx="108012" cy="401032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BF17D8-7513-2AD2-1B6A-2489F93771A5}"/>
              </a:ext>
            </a:extLst>
          </p:cNvPr>
          <p:cNvSpPr/>
          <p:nvPr/>
        </p:nvSpPr>
        <p:spPr>
          <a:xfrm>
            <a:off x="7452512" y="1005439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570E0F-F8A5-BBCF-8DA1-20C34A2D0819}"/>
              </a:ext>
            </a:extLst>
          </p:cNvPr>
          <p:cNvSpPr/>
          <p:nvPr/>
        </p:nvSpPr>
        <p:spPr>
          <a:xfrm>
            <a:off x="301563" y="727200"/>
            <a:ext cx="1524456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내역 상세보기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191A5D1-A91F-49F5-A75F-4AA1890E0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337857"/>
              </p:ext>
            </p:extLst>
          </p:nvPr>
        </p:nvGraphicFramePr>
        <p:xfrm>
          <a:off x="291232" y="1032484"/>
          <a:ext cx="7038032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2250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계약변경일</a:t>
                      </a:r>
                      <a:endParaRPr lang="en-US" altLang="ko-KR" sz="800" b="1" u="none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2026.09.01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961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변경계약 사유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계약금액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변경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‘납기일/공사기간’ 변경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412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99,000,000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구천구백만원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536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변경된 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92,000,000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구천이백만원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VAT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포함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15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32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변경된 납기일/공사기간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2027.08.30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165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변경내용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종이 제외되어 계약금액을 수정하여 변경계약 하였습니다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계약서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540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시 참고서류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821064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999212E4-1D4A-63B6-D74E-1C8BAF6A995A}"/>
              </a:ext>
            </a:extLst>
          </p:cNvPr>
          <p:cNvSpPr/>
          <p:nvPr/>
        </p:nvSpPr>
        <p:spPr>
          <a:xfrm>
            <a:off x="6668903" y="4185084"/>
            <a:ext cx="660361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4E7FA43-D7A8-1EF0-E25C-CDCE6E462DE3}"/>
              </a:ext>
            </a:extLst>
          </p:cNvPr>
          <p:cNvSpPr/>
          <p:nvPr/>
        </p:nvSpPr>
        <p:spPr>
          <a:xfrm>
            <a:off x="224286" y="129046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8F4BBB79-7142-5D33-9829-C2967DE03B0D}"/>
              </a:ext>
            </a:extLst>
          </p:cNvPr>
          <p:cNvSpPr/>
          <p:nvPr/>
        </p:nvSpPr>
        <p:spPr>
          <a:xfrm>
            <a:off x="224286" y="163157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05AE8F9-4249-2E73-D8A5-330D8B1117FA}"/>
              </a:ext>
            </a:extLst>
          </p:cNvPr>
          <p:cNvSpPr/>
          <p:nvPr/>
        </p:nvSpPr>
        <p:spPr>
          <a:xfrm>
            <a:off x="224286" y="195952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2F813FC3-6563-8280-96DA-8C90DA84B460}"/>
              </a:ext>
            </a:extLst>
          </p:cNvPr>
          <p:cNvSpPr/>
          <p:nvPr/>
        </p:nvSpPr>
        <p:spPr>
          <a:xfrm>
            <a:off x="224286" y="229330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BCF20D48-21B6-3A27-12FD-A53913FF93D9}"/>
              </a:ext>
            </a:extLst>
          </p:cNvPr>
          <p:cNvSpPr/>
          <p:nvPr/>
        </p:nvSpPr>
        <p:spPr>
          <a:xfrm>
            <a:off x="224286" y="262125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1044B5C-2355-7CD0-CCB6-C685943EFB10}"/>
              </a:ext>
            </a:extLst>
          </p:cNvPr>
          <p:cNvGrpSpPr/>
          <p:nvPr/>
        </p:nvGrpSpPr>
        <p:grpSpPr>
          <a:xfrm>
            <a:off x="2945402" y="3461054"/>
            <a:ext cx="1275802" cy="198885"/>
            <a:chOff x="2576736" y="3905324"/>
            <a:chExt cx="1275802" cy="19888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76AFB142-A06E-F335-E841-3E0BCCFFEDA4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E4E57ECF-0A98-688C-43EE-94951969C06D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6741149-7BF9-8A48-F336-D1A7165295EB}"/>
              </a:ext>
            </a:extLst>
          </p:cNvPr>
          <p:cNvGrpSpPr/>
          <p:nvPr/>
        </p:nvGrpSpPr>
        <p:grpSpPr>
          <a:xfrm>
            <a:off x="2945402" y="3801269"/>
            <a:ext cx="1275802" cy="198885"/>
            <a:chOff x="2576736" y="3905324"/>
            <a:chExt cx="1275802" cy="19888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2D614DF-48C8-2D97-452C-630AC3343B78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E2692AF-B175-7F46-ECAC-9026AF32D489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8315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C277-6011-F743-7848-B99277A9D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33D43FD-5BEF-0907-65FF-5D8AE3180E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F79FCC-21A1-EA98-1649-5F277600A391}"/>
              </a:ext>
            </a:extLst>
          </p:cNvPr>
          <p:cNvSpPr txBox="1"/>
          <p:nvPr/>
        </p:nvSpPr>
        <p:spPr>
          <a:xfrm>
            <a:off x="749224" y="25608"/>
            <a:ext cx="27174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8E8A06F-E85D-D562-E3FA-31EB7918D8BD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FD09AD8-7F66-BB19-1871-9613700ECFFA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2852AA5-7D92-A6D0-E81A-7CEE66CE39F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4575C2-3A9A-D668-AD9E-40B53FE34AD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7E5E61-20BA-DC74-320D-522D682AA2E3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BE0909-9BC7-7367-B3A7-B1932DF20899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A7A6C239-0F89-DEE1-0740-D74E01BB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341D441-8EC2-2AF2-C2CB-02A280FD8568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8DC9D2-463B-D715-1393-DE6EDE9B4D23}"/>
              </a:ext>
            </a:extLst>
          </p:cNvPr>
          <p:cNvSpPr txBox="1"/>
          <p:nvPr/>
        </p:nvSpPr>
        <p:spPr>
          <a:xfrm>
            <a:off x="8049344" y="584684"/>
            <a:ext cx="1856656" cy="22283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제출 후 관리자에 의해 확정되기 전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해당 공고에 설정된 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‘계약이행 보증금률’, ‘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선금이행 </a:t>
            </a:r>
            <a:r>
              <a:rPr lang="ko-KR" altLang="en-US" sz="800" dirty="0" err="1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보증금률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’, ‘하자이행 보증금률’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을 보여줌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만약 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발급 필요 없음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으로 설정된 경우 제출대상이 아니라는 메시지를 제공함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제출 후 관리자에 의해 확정된 경우 이와 같이 표시함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사업이 진행되는 경과에 따라서 단계적으로 해당되는 보증보험 증권을 제출할 수 있음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66861F7-B8A6-8155-49BE-546A15033FC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91B7F88-923C-146B-414D-BBAE5F32D464}"/>
              </a:ext>
            </a:extLst>
          </p:cNvPr>
          <p:cNvCxnSpPr>
            <a:cxnSpLocks/>
          </p:cNvCxnSpPr>
          <p:nvPr/>
        </p:nvCxnSpPr>
        <p:spPr>
          <a:xfrm>
            <a:off x="167468" y="1950541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E74FFA-FA2B-0B11-A7F1-D43FEC4184B2}"/>
              </a:ext>
            </a:extLst>
          </p:cNvPr>
          <p:cNvSpPr/>
          <p:nvPr/>
        </p:nvSpPr>
        <p:spPr>
          <a:xfrm>
            <a:off x="1283257" y="1608581"/>
            <a:ext cx="1125796" cy="345835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41D629-B246-48D4-BA3B-DF3CF1A22618}"/>
              </a:ext>
            </a:extLst>
          </p:cNvPr>
          <p:cNvSpPr/>
          <p:nvPr/>
        </p:nvSpPr>
        <p:spPr>
          <a:xfrm>
            <a:off x="183392" y="2069197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 제출</a:t>
            </a:r>
            <a:endParaRPr lang="ko-KR" altLang="en-US" sz="9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A5EB4F2-E7E4-D5F5-76AB-907907DC425F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2352507"/>
          <a:ext cx="7713520" cy="254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계약서로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72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보증보험 증권 </a:t>
                      </a:r>
                      <a:r>
                        <a:rPr lang="ko-KR" altLang="en-US" sz="800" b="1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제출이 완료되었습니다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계약서로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8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보증보험 증권 </a:t>
                      </a:r>
                      <a:r>
                        <a:rPr lang="ko-KR" altLang="en-US" sz="800" b="1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</a:t>
                      </a:r>
                      <a:r>
                        <a:rPr lang="ko-KR" altLang="en-US" sz="800" b="0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보증금률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발급해주세요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60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 증권 </a:t>
                      </a:r>
                      <a:r>
                        <a:rPr lang="ko-KR" altLang="en-US" sz="800" b="1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보증보험은 제출 대상이 아닙니다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28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참고서류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02353"/>
                  </a:ext>
                </a:extLst>
              </a:tr>
            </a:tbl>
          </a:graphicData>
        </a:graphic>
      </p:graphicFrame>
      <p:pic>
        <p:nvPicPr>
          <p:cNvPr id="40" name="그림 39">
            <a:extLst>
              <a:ext uri="{FF2B5EF4-FFF2-40B4-BE49-F238E27FC236}">
                <a16:creationId xmlns:a16="http://schemas.microsoft.com/office/drawing/2014/main" id="{B795CF95-EB9A-BFA9-C9A5-CC4551679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576" y="4253608"/>
            <a:ext cx="5575676" cy="585805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C1DDC2DB-596B-9205-E651-D20246F66E18}"/>
              </a:ext>
            </a:extLst>
          </p:cNvPr>
          <p:cNvSpPr/>
          <p:nvPr/>
        </p:nvSpPr>
        <p:spPr>
          <a:xfrm>
            <a:off x="183392" y="4992559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FFDF91A-A954-7A68-9F8A-1CCCC6B72AD9}"/>
              </a:ext>
            </a:extLst>
          </p:cNvPr>
          <p:cNvSpPr/>
          <p:nvPr/>
        </p:nvSpPr>
        <p:spPr>
          <a:xfrm>
            <a:off x="6392092" y="4992559"/>
            <a:ext cx="1489522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 제출하기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FF432CF-CD53-56FD-D7FB-0135A7231FFC}"/>
              </a:ext>
            </a:extLst>
          </p:cNvPr>
          <p:cNvSpPr/>
          <p:nvPr/>
        </p:nvSpPr>
        <p:spPr>
          <a:xfrm>
            <a:off x="6284079" y="486916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22BFEB7-1E3D-FA87-C0F8-23D3535D76EA}"/>
              </a:ext>
            </a:extLst>
          </p:cNvPr>
          <p:cNvGrpSpPr/>
          <p:nvPr/>
        </p:nvGrpSpPr>
        <p:grpSpPr>
          <a:xfrm>
            <a:off x="3026036" y="2418318"/>
            <a:ext cx="1275802" cy="198885"/>
            <a:chOff x="2576736" y="3905324"/>
            <a:chExt cx="1275802" cy="198885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E8B4C25-610D-5EA0-7725-E469B2898ED5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F588A5C-CCD8-787C-2725-46B8ABC8DFF9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630A446-FFFB-E3B3-38AC-F7922DD9853F}"/>
              </a:ext>
            </a:extLst>
          </p:cNvPr>
          <p:cNvSpPr/>
          <p:nvPr/>
        </p:nvSpPr>
        <p:spPr>
          <a:xfrm>
            <a:off x="1653680" y="3572755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C1FEED3-C275-A495-4DCD-D7D446DC0394}"/>
              </a:ext>
            </a:extLst>
          </p:cNvPr>
          <p:cNvSpPr/>
          <p:nvPr/>
        </p:nvSpPr>
        <p:spPr>
          <a:xfrm>
            <a:off x="4011192" y="3571002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658C97E-E05B-349F-8662-8882342387D9}"/>
              </a:ext>
            </a:extLst>
          </p:cNvPr>
          <p:cNvSpPr/>
          <p:nvPr/>
        </p:nvSpPr>
        <p:spPr>
          <a:xfrm>
            <a:off x="2540732" y="4519951"/>
            <a:ext cx="363640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 제출 시 유의사항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EABB1EE-70C4-5986-995B-AD156F1D5D62}"/>
              </a:ext>
            </a:extLst>
          </p:cNvPr>
          <p:cNvSpPr/>
          <p:nvPr/>
        </p:nvSpPr>
        <p:spPr>
          <a:xfrm>
            <a:off x="2540732" y="4792864"/>
            <a:ext cx="3636404" cy="176848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6A6F2BB-7FF6-6629-7F14-0E9280F5260C}"/>
              </a:ext>
            </a:extLst>
          </p:cNvPr>
          <p:cNvSpPr/>
          <p:nvPr/>
        </p:nvSpPr>
        <p:spPr>
          <a:xfrm>
            <a:off x="5907136" y="4519951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1FE114F-5361-69A8-0D62-802D5A222F25}"/>
              </a:ext>
            </a:extLst>
          </p:cNvPr>
          <p:cNvSpPr/>
          <p:nvPr/>
        </p:nvSpPr>
        <p:spPr>
          <a:xfrm>
            <a:off x="2648512" y="5206251"/>
            <a:ext cx="3420612" cy="771237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 후 관리자의 검토 후 확정 처리됩니다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 전에는 수정하고 다시 제출할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서류를 제출하시겠습니까?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6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9A75097C-E2FE-7AF7-A2C1-319E63AA3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633" y="5291172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직사각형 68">
            <a:extLst>
              <a:ext uri="{FF2B5EF4-FFF2-40B4-BE49-F238E27FC236}">
                <a16:creationId xmlns:a16="http://schemas.microsoft.com/office/drawing/2014/main" id="{2B1812B8-B711-7105-5F1F-3FFBCE84B1DA}"/>
              </a:ext>
            </a:extLst>
          </p:cNvPr>
          <p:cNvSpPr/>
          <p:nvPr/>
        </p:nvSpPr>
        <p:spPr>
          <a:xfrm>
            <a:off x="5371696" y="6084548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0E12FD2-7327-700B-7A58-1D562812D01F}"/>
              </a:ext>
            </a:extLst>
          </p:cNvPr>
          <p:cNvSpPr/>
          <p:nvPr/>
        </p:nvSpPr>
        <p:spPr>
          <a:xfrm>
            <a:off x="2671952" y="4889252"/>
            <a:ext cx="200375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 제출 시 유의사항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78F2879-2C91-9D66-E09C-14B5E7F73304}"/>
              </a:ext>
            </a:extLst>
          </p:cNvPr>
          <p:cNvSpPr/>
          <p:nvPr/>
        </p:nvSpPr>
        <p:spPr>
          <a:xfrm>
            <a:off x="3964166" y="6084548"/>
            <a:ext cx="135440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 제출하기</a:t>
            </a:r>
            <a:endParaRPr lang="en-US" altLang="ko-KR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B56C7277-465D-8757-C76D-7E046B7F5D91}"/>
              </a:ext>
            </a:extLst>
          </p:cNvPr>
          <p:cNvCxnSpPr>
            <a:cxnSpLocks/>
            <a:stCxn id="44" idx="2"/>
            <a:endCxn id="65" idx="3"/>
          </p:cNvCxnSpPr>
          <p:nvPr/>
        </p:nvCxnSpPr>
        <p:spPr>
          <a:xfrm rot="5400000">
            <a:off x="6458738" y="4998990"/>
            <a:ext cx="396515" cy="959717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타원 119">
            <a:extLst>
              <a:ext uri="{FF2B5EF4-FFF2-40B4-BE49-F238E27FC236}">
                <a16:creationId xmlns:a16="http://schemas.microsoft.com/office/drawing/2014/main" id="{372DFFA1-821B-6D06-5A2C-4DCAC22D964A}"/>
              </a:ext>
            </a:extLst>
          </p:cNvPr>
          <p:cNvSpPr/>
          <p:nvPr/>
        </p:nvSpPr>
        <p:spPr>
          <a:xfrm>
            <a:off x="3833944" y="59873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B642101-3AC5-6F63-D54C-466AD4451968}"/>
              </a:ext>
            </a:extLst>
          </p:cNvPr>
          <p:cNvSpPr/>
          <p:nvPr/>
        </p:nvSpPr>
        <p:spPr>
          <a:xfrm>
            <a:off x="1490136" y="261079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D5466FC-617A-D342-7329-ADE96A4CE3F6}"/>
              </a:ext>
            </a:extLst>
          </p:cNvPr>
          <p:cNvSpPr/>
          <p:nvPr/>
        </p:nvSpPr>
        <p:spPr>
          <a:xfrm>
            <a:off x="1490136" y="319635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D0CD032-5E41-EF80-9D41-20A963DA6E2C}"/>
              </a:ext>
            </a:extLst>
          </p:cNvPr>
          <p:cNvSpPr/>
          <p:nvPr/>
        </p:nvSpPr>
        <p:spPr>
          <a:xfrm>
            <a:off x="1490136" y="377554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BE7F73B-0DE5-9AD4-888C-1939EF9711F1}"/>
              </a:ext>
            </a:extLst>
          </p:cNvPr>
          <p:cNvGrpSpPr/>
          <p:nvPr/>
        </p:nvGrpSpPr>
        <p:grpSpPr>
          <a:xfrm>
            <a:off x="3026036" y="3004634"/>
            <a:ext cx="1275802" cy="198885"/>
            <a:chOff x="2576736" y="3905324"/>
            <a:chExt cx="1275802" cy="19888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3AB1433-74FA-2F06-0C31-4BA9E3FD910D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059A09D-BD19-EC29-4F64-948B857E5D26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6A61B35-C8C2-08D1-1DF9-0720A2383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96416"/>
              </p:ext>
            </p:extLst>
          </p:nvPr>
        </p:nvGraphicFramePr>
        <p:xfrm>
          <a:off x="164464" y="81796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127765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3492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605262">
                  <a:extLst>
                    <a:ext uri="{9D8B030D-6E8A-4147-A177-3AD203B41FA5}">
                      <a16:colId xmlns:a16="http://schemas.microsoft.com/office/drawing/2014/main" val="2865363753"/>
                    </a:ext>
                  </a:extLst>
                </a:gridCol>
                <a:gridCol w="2656358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3647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155945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계약준비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5E6F70-B4B0-FAFD-E79B-FB06061E4B1B}"/>
              </a:ext>
            </a:extLst>
          </p:cNvPr>
          <p:cNvSpPr/>
          <p:nvPr/>
        </p:nvSpPr>
        <p:spPr>
          <a:xfrm>
            <a:off x="155478" y="1661974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</p:spTree>
    <p:extLst>
      <p:ext uri="{BB962C8B-B14F-4D97-AF65-F5344CB8AC3E}">
        <p14:creationId xmlns:p14="http://schemas.microsoft.com/office/powerpoint/2010/main" val="20444473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1EEE-6A53-6D36-AEB4-6060172D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DB66200-C5F5-25B8-5041-E4F3B80D963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0B49E-E1CD-D36B-AF5F-CECDA2281313}"/>
              </a:ext>
            </a:extLst>
          </p:cNvPr>
          <p:cNvSpPr txBox="1"/>
          <p:nvPr/>
        </p:nvSpPr>
        <p:spPr>
          <a:xfrm>
            <a:off x="749224" y="25608"/>
            <a:ext cx="27959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7EB13-50EB-DAF5-435B-79892742455E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2F2CD7-A42D-C8F4-FB58-A918DFD9EB7A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A337AC2-CB4D-4950-C809-E50A1062F1C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B44EC22-23C2-5195-5C2C-27A7C2EE229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D9A31A7-0E1D-403A-EE8C-25446FCA7694}"/>
              </a:ext>
            </a:extLst>
          </p:cNvPr>
          <p:cNvCxnSpPr>
            <a:cxnSpLocks/>
          </p:cNvCxnSpPr>
          <p:nvPr/>
        </p:nvCxnSpPr>
        <p:spPr>
          <a:xfrm>
            <a:off x="167468" y="1192096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640984-4B65-765F-F218-D569A18F0E6B}"/>
              </a:ext>
            </a:extLst>
          </p:cNvPr>
          <p:cNvSpPr/>
          <p:nvPr/>
        </p:nvSpPr>
        <p:spPr>
          <a:xfrm>
            <a:off x="163503" y="832884"/>
            <a:ext cx="1139031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9943BC-0903-33F2-F22B-683836F481CE}"/>
              </a:ext>
            </a:extLst>
          </p:cNvPr>
          <p:cNvSpPr/>
          <p:nvPr/>
        </p:nvSpPr>
        <p:spPr>
          <a:xfrm>
            <a:off x="2444236" y="894903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4EC070-D5F4-1C30-8E72-398E6E64AA3F}"/>
              </a:ext>
            </a:extLst>
          </p:cNvPr>
          <p:cNvSpPr/>
          <p:nvPr/>
        </p:nvSpPr>
        <p:spPr>
          <a:xfrm>
            <a:off x="3587232" y="894903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E5E6F947-DC98-4CE3-D090-964471DF84E9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42A631-B783-F9AD-6917-2CC3F03C65F0}"/>
              </a:ext>
            </a:extLst>
          </p:cNvPr>
          <p:cNvSpPr/>
          <p:nvPr/>
        </p:nvSpPr>
        <p:spPr>
          <a:xfrm>
            <a:off x="1304060" y="894903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수정 요청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9145F4-8F14-4EBB-F8B7-6900BF6563D5}"/>
              </a:ext>
            </a:extLst>
          </p:cNvPr>
          <p:cNvSpPr/>
          <p:nvPr/>
        </p:nvSpPr>
        <p:spPr>
          <a:xfrm>
            <a:off x="183392" y="2394522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기본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4124027-218A-99BC-DA4E-C6F0D6AF5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995815"/>
              </p:ext>
            </p:extLst>
          </p:nvPr>
        </p:nvGraphicFramePr>
        <p:xfrm>
          <a:off x="184392" y="2692981"/>
          <a:ext cx="7720936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286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 번호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135-81-77202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7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대표자명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이홍태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윤지병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76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02-833-1650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6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인프라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06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소프트웨어개발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418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주소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(12654)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경기도 고양시 일산서구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강선로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118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강선마을아파트 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208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3764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6D747997-E514-A447-9A90-A0F46A2CA5F0}"/>
              </a:ext>
            </a:extLst>
          </p:cNvPr>
          <p:cNvSpPr/>
          <p:nvPr/>
        </p:nvSpPr>
        <p:spPr>
          <a:xfrm>
            <a:off x="183392" y="1313390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처리 상태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402E481-71ED-5F9C-3488-1EEE5ED28858}"/>
              </a:ext>
            </a:extLst>
          </p:cNvPr>
          <p:cNvGraphicFramePr>
            <a:graphicFrameLocks noGrp="1"/>
          </p:cNvGraphicFramePr>
          <p:nvPr/>
        </p:nvGraphicFramePr>
        <p:xfrm>
          <a:off x="184392" y="1611849"/>
          <a:ext cx="7720936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286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502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2026.06.10 15:56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129592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77662A-343B-03F3-5E21-745C9C366E8B}"/>
              </a:ext>
            </a:extLst>
          </p:cNvPr>
          <p:cNvSpPr/>
          <p:nvPr/>
        </p:nvSpPr>
        <p:spPr>
          <a:xfrm>
            <a:off x="163194" y="5185747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관련 증빙서류 제출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E7010CC-00E5-1E2E-4D47-8CD935BC5BA6}"/>
              </a:ext>
            </a:extLst>
          </p:cNvPr>
          <p:cNvGraphicFramePr>
            <a:graphicFrameLocks noGrp="1"/>
          </p:cNvGraphicFramePr>
          <p:nvPr/>
        </p:nvGraphicFramePr>
        <p:xfrm>
          <a:off x="164194" y="5484206"/>
          <a:ext cx="7741134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0306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 등록된 파일명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55C24DE0-AE33-7AC1-76D4-6EF88EB4DBDA}"/>
              </a:ext>
            </a:extLst>
          </p:cNvPr>
          <p:cNvGrpSpPr/>
          <p:nvPr/>
        </p:nvGrpSpPr>
        <p:grpSpPr>
          <a:xfrm>
            <a:off x="2753758" y="5555921"/>
            <a:ext cx="1278892" cy="198885"/>
            <a:chOff x="2753758" y="4620338"/>
            <a:chExt cx="1278892" cy="19888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EDA025A-1885-2CD3-EDFC-1FE93A7B2DE5}"/>
                </a:ext>
              </a:extLst>
            </p:cNvPr>
            <p:cNvSpPr/>
            <p:nvPr/>
          </p:nvSpPr>
          <p:spPr>
            <a:xfrm>
              <a:off x="2753758" y="462033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293FCA0-D98B-1312-7B1E-8A4B32E34768}"/>
                </a:ext>
              </a:extLst>
            </p:cNvPr>
            <p:cNvSpPr/>
            <p:nvPr/>
          </p:nvSpPr>
          <p:spPr>
            <a:xfrm>
              <a:off x="3419685" y="462033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B486D5B-361C-56E3-58BA-0AD776710438}"/>
              </a:ext>
            </a:extLst>
          </p:cNvPr>
          <p:cNvGrpSpPr/>
          <p:nvPr/>
        </p:nvGrpSpPr>
        <p:grpSpPr>
          <a:xfrm>
            <a:off x="2753758" y="5891050"/>
            <a:ext cx="1278892" cy="198885"/>
            <a:chOff x="2753758" y="4959335"/>
            <a:chExt cx="1278892" cy="19888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A92EABD-BA7A-399A-7CED-DA6BBC19B46F}"/>
                </a:ext>
              </a:extLst>
            </p:cNvPr>
            <p:cNvSpPr/>
            <p:nvPr/>
          </p:nvSpPr>
          <p:spPr>
            <a:xfrm>
              <a:off x="2753758" y="4959335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99DE077-9ECB-D98F-850A-2A17058DC276}"/>
                </a:ext>
              </a:extLst>
            </p:cNvPr>
            <p:cNvSpPr/>
            <p:nvPr/>
          </p:nvSpPr>
          <p:spPr>
            <a:xfrm>
              <a:off x="3419685" y="4959335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97862F-61B3-5D38-334C-C7FF995E7C6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E79616-26F4-2915-8FE1-5011FA37A63E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BABA12-4DA7-2EDF-20FE-4A473125178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0" name="Picture 1">
            <a:extLst>
              <a:ext uri="{FF2B5EF4-FFF2-40B4-BE49-F238E27FC236}">
                <a16:creationId xmlns:a16="http://schemas.microsoft.com/office/drawing/2014/main" id="{713DBCD8-7C66-1E65-446D-69A9B587B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D2FA3E-69BB-51A5-AC6F-50E32A7F97AD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13625704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FB23-0F05-C285-48A4-B2650CB9A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47EF26F-4B8C-68F3-A317-37326A1F33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34A5E-C1A8-90F7-9960-B83D9C2EE645}"/>
              </a:ext>
            </a:extLst>
          </p:cNvPr>
          <p:cNvSpPr txBox="1"/>
          <p:nvPr/>
        </p:nvSpPr>
        <p:spPr>
          <a:xfrm>
            <a:off x="749224" y="25608"/>
            <a:ext cx="28248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386DE-0F56-5AA7-DA5E-89E5995FC2E6}"/>
              </a:ext>
            </a:extLst>
          </p:cNvPr>
          <p:cNvSpPr txBox="1"/>
          <p:nvPr/>
        </p:nvSpPr>
        <p:spPr>
          <a:xfrm>
            <a:off x="8049344" y="584684"/>
            <a:ext cx="185665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협력업체는 담당자를 여러 명 등록할 수 있음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협력업체 신청 시 입력한 담당자임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2E5D1C-9565-255C-A76E-0877B4B36528}"/>
              </a:ext>
            </a:extLst>
          </p:cNvPr>
          <p:cNvSpPr/>
          <p:nvPr/>
        </p:nvSpPr>
        <p:spPr>
          <a:xfrm>
            <a:off x="163194" y="853964"/>
            <a:ext cx="317527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관련 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시점 기준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24D86B4-32F0-60A3-1C0E-8946D5364517}"/>
              </a:ext>
            </a:extLst>
          </p:cNvPr>
          <p:cNvGraphicFramePr>
            <a:graphicFrameLocks noGrp="1"/>
          </p:cNvGraphicFramePr>
          <p:nvPr/>
        </p:nvGraphicFramePr>
        <p:xfrm>
          <a:off x="164194" y="1154569"/>
          <a:ext cx="7741134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0306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BB0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신용평가등급 확인서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096971B7-1F96-F69B-841B-3B5207DA279F}"/>
              </a:ext>
            </a:extLst>
          </p:cNvPr>
          <p:cNvGrpSpPr/>
          <p:nvPr/>
        </p:nvGrpSpPr>
        <p:grpSpPr>
          <a:xfrm>
            <a:off x="2753758" y="1563488"/>
            <a:ext cx="1278892" cy="198885"/>
            <a:chOff x="2753758" y="5299222"/>
            <a:chExt cx="1278892" cy="19888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DAB3FEF-63BF-6158-9A01-0B48BCB0C7C7}"/>
                </a:ext>
              </a:extLst>
            </p:cNvPr>
            <p:cNvSpPr/>
            <p:nvPr/>
          </p:nvSpPr>
          <p:spPr>
            <a:xfrm>
              <a:off x="2753758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CCB49AD-56D6-70BA-A98B-B6E6CEDD7314}"/>
                </a:ext>
              </a:extLst>
            </p:cNvPr>
            <p:cNvSpPr/>
            <p:nvPr/>
          </p:nvSpPr>
          <p:spPr>
            <a:xfrm>
              <a:off x="3419685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6F2837-E8D6-45F3-D971-7C04854DE872}"/>
              </a:ext>
            </a:extLst>
          </p:cNvPr>
          <p:cNvSpPr/>
          <p:nvPr/>
        </p:nvSpPr>
        <p:spPr>
          <a:xfrm>
            <a:off x="163194" y="1940460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A21EA16-7AB2-E64A-DE2D-7D45F135F988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2229109"/>
          <a:ext cx="7723822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5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09672">
                  <a:extLst>
                    <a:ext uri="{9D8B030D-6E8A-4147-A177-3AD203B41FA5}">
                      <a16:colId xmlns:a16="http://schemas.microsoft.com/office/drawing/2014/main" val="1183147798"/>
                    </a:ext>
                  </a:extLst>
                </a:gridCol>
                <a:gridCol w="547820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433971">
                  <a:extLst>
                    <a:ext uri="{9D8B030D-6E8A-4147-A177-3AD203B41FA5}">
                      <a16:colId xmlns:a16="http://schemas.microsoft.com/office/drawing/2014/main" val="2761937130"/>
                    </a:ext>
                  </a:extLst>
                </a:gridCol>
                <a:gridCol w="1416867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110757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033575">
                  <a:extLst>
                    <a:ext uri="{9D8B030D-6E8A-4147-A177-3AD203B41FA5}">
                      <a16:colId xmlns:a16="http://schemas.microsoft.com/office/drawing/2014/main" val="3329224653"/>
                    </a:ext>
                  </a:extLst>
                </a:gridCol>
                <a:gridCol w="2004884">
                  <a:extLst>
                    <a:ext uri="{9D8B030D-6E8A-4147-A177-3AD203B41FA5}">
                      <a16:colId xmlns:a16="http://schemas.microsoft.com/office/drawing/2014/main" val="2705196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담당업무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02-6959-9856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사내 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박일용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 업무 관련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47" name="직사각형 46">
            <a:extLst>
              <a:ext uri="{FF2B5EF4-FFF2-40B4-BE49-F238E27FC236}">
                <a16:creationId xmlns:a16="http://schemas.microsoft.com/office/drawing/2014/main" id="{D787C20E-CE05-C283-EC1D-37954305560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0FCC41-FCE0-1136-2613-FA848933D71C}"/>
              </a:ext>
            </a:extLst>
          </p:cNvPr>
          <p:cNvSpPr/>
          <p:nvPr/>
        </p:nvSpPr>
        <p:spPr>
          <a:xfrm>
            <a:off x="164467" y="335145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428A8FB-60CC-F29E-2FD0-674A847D5614}"/>
              </a:ext>
            </a:extLst>
          </p:cNvPr>
          <p:cNvSpPr/>
          <p:nvPr/>
        </p:nvSpPr>
        <p:spPr>
          <a:xfrm>
            <a:off x="73494" y="187135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294B967-466A-1BC8-3876-B9C48DC51B09}"/>
              </a:ext>
            </a:extLst>
          </p:cNvPr>
          <p:cNvGraphicFramePr>
            <a:graphicFrameLocks noGrp="1"/>
          </p:cNvGraphicFramePr>
          <p:nvPr/>
        </p:nvGraphicFramePr>
        <p:xfrm>
          <a:off x="164194" y="396477"/>
          <a:ext cx="7741134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0306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면허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701863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D057DB95-646A-0081-9FA9-6C0154422EE3}"/>
              </a:ext>
            </a:extLst>
          </p:cNvPr>
          <p:cNvGrpSpPr/>
          <p:nvPr/>
        </p:nvGrpSpPr>
        <p:grpSpPr>
          <a:xfrm>
            <a:off x="2753758" y="468192"/>
            <a:ext cx="1278892" cy="198885"/>
            <a:chOff x="2753758" y="4620338"/>
            <a:chExt cx="1278892" cy="19888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D5A4C5D-E9D4-DDB2-A799-52006B5C2515}"/>
                </a:ext>
              </a:extLst>
            </p:cNvPr>
            <p:cNvSpPr/>
            <p:nvPr/>
          </p:nvSpPr>
          <p:spPr>
            <a:xfrm>
              <a:off x="2753758" y="462033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A0D2FC3-A87F-DA11-902E-4F10882CA05A}"/>
                </a:ext>
              </a:extLst>
            </p:cNvPr>
            <p:cNvSpPr/>
            <p:nvPr/>
          </p:nvSpPr>
          <p:spPr>
            <a:xfrm>
              <a:off x="3419685" y="462033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9907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29BA-4C8D-3A8E-4985-039A3BE4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BBCEB35-8FF1-2448-DC08-F1513CA7EF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23B07-F9A7-0784-9D49-E298FD077A36}"/>
              </a:ext>
            </a:extLst>
          </p:cNvPr>
          <p:cNvSpPr txBox="1"/>
          <p:nvPr/>
        </p:nvSpPr>
        <p:spPr>
          <a:xfrm>
            <a:off x="749224" y="25608"/>
            <a:ext cx="28248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수정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BB722-DD16-8D11-BF67-4F389E7A1311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61A407C-FFC8-A814-648D-366AE3B4959F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8629B3E-9C41-ECC0-BA61-187DE03904B8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48DE1C1-B6F9-B5AB-536C-D60A5438ADC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1685C0-E2D1-8161-9BE3-0FE8782CAE0C}"/>
              </a:ext>
            </a:extLst>
          </p:cNvPr>
          <p:cNvSpPr/>
          <p:nvPr/>
        </p:nvSpPr>
        <p:spPr>
          <a:xfrm>
            <a:off x="183736" y="1296168"/>
            <a:ext cx="7649584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 등록된 회사기본정보를 수정하기 위해서는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켑코이에스의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관리자 승인이 필요합니다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정보를 수정하시고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버튼을 클릭하세요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 요청 후 승인 기간 동안 본 시스템 접속이 제한됩니다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승인에 걸리는 시간은 약 영업일 기준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일이며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22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FF99F18C-EF95-5ADC-9CAA-831ABDB89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58" y="139966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직사각형 68">
            <a:extLst>
              <a:ext uri="{FF2B5EF4-FFF2-40B4-BE49-F238E27FC236}">
                <a16:creationId xmlns:a16="http://schemas.microsoft.com/office/drawing/2014/main" id="{02DE3E6B-A50D-BF33-7E26-316E96C47BBA}"/>
              </a:ext>
            </a:extLst>
          </p:cNvPr>
          <p:cNvSpPr/>
          <p:nvPr/>
        </p:nvSpPr>
        <p:spPr>
          <a:xfrm>
            <a:off x="198972" y="2185811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기본 정보 입력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960ABB8C-E9B5-BFEF-672C-CD64629651D9}"/>
              </a:ext>
            </a:extLst>
          </p:cNvPr>
          <p:cNvGraphicFramePr>
            <a:graphicFrameLocks noGrp="1"/>
          </p:cNvGraphicFramePr>
          <p:nvPr/>
        </p:nvGraphicFramePr>
        <p:xfrm>
          <a:off x="199972" y="2484270"/>
          <a:ext cx="7652100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1403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 번호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135-81-88285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※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 번호는 로그인 시 아이디이며 수정할 수 없습니다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대표자명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-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주소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59764"/>
                  </a:ext>
                </a:extLst>
              </a:tr>
            </a:tbl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67A1BE65-809E-687B-D052-B1222577A9B0}"/>
              </a:ext>
            </a:extLst>
          </p:cNvPr>
          <p:cNvSpPr/>
          <p:nvPr/>
        </p:nvSpPr>
        <p:spPr>
          <a:xfrm>
            <a:off x="1612386" y="2887841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99D6820-75B1-FF18-3CA3-132C2986A2C7}"/>
              </a:ext>
            </a:extLst>
          </p:cNvPr>
          <p:cNvSpPr/>
          <p:nvPr/>
        </p:nvSpPr>
        <p:spPr>
          <a:xfrm>
            <a:off x="1612386" y="3223330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D56B11D-2ADB-2C0E-39B0-55035ECCEDF8}"/>
              </a:ext>
            </a:extLst>
          </p:cNvPr>
          <p:cNvSpPr/>
          <p:nvPr/>
        </p:nvSpPr>
        <p:spPr>
          <a:xfrm>
            <a:off x="1600063" y="3566790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8B7DA22-D7E3-6656-9C9D-DF4D16074A2D}"/>
              </a:ext>
            </a:extLst>
          </p:cNvPr>
          <p:cNvSpPr/>
          <p:nvPr/>
        </p:nvSpPr>
        <p:spPr>
          <a:xfrm>
            <a:off x="2084717" y="356679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E3476D5-A833-4C07-BA1C-CC0DF3CD3E8A}"/>
              </a:ext>
            </a:extLst>
          </p:cNvPr>
          <p:cNvSpPr/>
          <p:nvPr/>
        </p:nvSpPr>
        <p:spPr>
          <a:xfrm>
            <a:off x="2454126" y="3566790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90D41E3-6D08-C15A-50D0-801535368696}"/>
              </a:ext>
            </a:extLst>
          </p:cNvPr>
          <p:cNvSpPr/>
          <p:nvPr/>
        </p:nvSpPr>
        <p:spPr>
          <a:xfrm>
            <a:off x="3073738" y="3566790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4CDB38A-60E5-4F05-6EEC-39C954FEFD84}"/>
              </a:ext>
            </a:extLst>
          </p:cNvPr>
          <p:cNvSpPr/>
          <p:nvPr/>
        </p:nvSpPr>
        <p:spPr>
          <a:xfrm>
            <a:off x="1612386" y="3900674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7BAFA2C-FD84-AF7C-B207-55D1C4857A81}"/>
              </a:ext>
            </a:extLst>
          </p:cNvPr>
          <p:cNvSpPr/>
          <p:nvPr/>
        </p:nvSpPr>
        <p:spPr>
          <a:xfrm>
            <a:off x="1612386" y="4236735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0303D16-38BB-BE74-77FA-78C341041DB9}"/>
              </a:ext>
            </a:extLst>
          </p:cNvPr>
          <p:cNvSpPr/>
          <p:nvPr/>
        </p:nvSpPr>
        <p:spPr>
          <a:xfrm>
            <a:off x="1612387" y="4589824"/>
            <a:ext cx="729808" cy="20800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우편번호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4A410B1-F9B1-91F3-6BAB-6BC2D32CE0CB}"/>
              </a:ext>
            </a:extLst>
          </p:cNvPr>
          <p:cNvSpPr/>
          <p:nvPr/>
        </p:nvSpPr>
        <p:spPr>
          <a:xfrm>
            <a:off x="3093571" y="4589824"/>
            <a:ext cx="3233003" cy="20800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95054D2-6938-51BC-8C66-F4512F37B623}"/>
              </a:ext>
            </a:extLst>
          </p:cNvPr>
          <p:cNvSpPr/>
          <p:nvPr/>
        </p:nvSpPr>
        <p:spPr>
          <a:xfrm>
            <a:off x="2401356" y="4589824"/>
            <a:ext cx="63305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주소 검색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67D670E-D63F-9445-0CC2-CB1D532E823E}"/>
              </a:ext>
            </a:extLst>
          </p:cNvPr>
          <p:cNvSpPr/>
          <p:nvPr/>
        </p:nvSpPr>
        <p:spPr>
          <a:xfrm>
            <a:off x="1612386" y="4920523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7830F33-13E3-ABAB-017E-176E4BBCE477}"/>
              </a:ext>
            </a:extLst>
          </p:cNvPr>
          <p:cNvSpPr/>
          <p:nvPr/>
        </p:nvSpPr>
        <p:spPr>
          <a:xfrm>
            <a:off x="198972" y="5308107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관련 증빙서류 제출</a:t>
            </a:r>
          </a:p>
        </p:txBody>
      </p: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BE3C75C3-5A93-DB35-4DF1-0ABF48226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207342"/>
              </p:ext>
            </p:extLst>
          </p:nvPr>
        </p:nvGraphicFramePr>
        <p:xfrm>
          <a:off x="199972" y="5606566"/>
          <a:ext cx="7652100" cy="53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1403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 등록된 파일명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되도록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</a:tbl>
          </a:graphicData>
        </a:graphic>
      </p:graphicFrame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6CC1536-0378-05CE-619F-4CB83397E000}"/>
              </a:ext>
            </a:extLst>
          </p:cNvPr>
          <p:cNvSpPr/>
          <p:nvPr/>
        </p:nvSpPr>
        <p:spPr>
          <a:xfrm>
            <a:off x="1620176" y="5879559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2092241-62C1-973C-C4F3-64B037FAD757}"/>
              </a:ext>
            </a:extLst>
          </p:cNvPr>
          <p:cNvSpPr/>
          <p:nvPr/>
        </p:nvSpPr>
        <p:spPr>
          <a:xfrm>
            <a:off x="3986314" y="5877806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3632A68B-2E1A-10FA-F5C1-6B34567CEFB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ABDF464-0B14-447B-F35D-A37B3519CF23}"/>
              </a:ext>
            </a:extLst>
          </p:cNvPr>
          <p:cNvCxnSpPr>
            <a:cxnSpLocks/>
          </p:cNvCxnSpPr>
          <p:nvPr/>
        </p:nvCxnSpPr>
        <p:spPr>
          <a:xfrm>
            <a:off x="167468" y="1192096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3E8F0E-E5DE-6C70-A143-8CAF136F8C9C}"/>
              </a:ext>
            </a:extLst>
          </p:cNvPr>
          <p:cNvSpPr/>
          <p:nvPr/>
        </p:nvSpPr>
        <p:spPr>
          <a:xfrm>
            <a:off x="163503" y="885506"/>
            <a:ext cx="1139031" cy="30183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5EE768-8828-D0DB-19A1-051C124183A2}"/>
              </a:ext>
            </a:extLst>
          </p:cNvPr>
          <p:cNvSpPr/>
          <p:nvPr/>
        </p:nvSpPr>
        <p:spPr>
          <a:xfrm>
            <a:off x="2444236" y="894903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948135-FA87-F44F-59E5-6A7FE956F497}"/>
              </a:ext>
            </a:extLst>
          </p:cNvPr>
          <p:cNvSpPr/>
          <p:nvPr/>
        </p:nvSpPr>
        <p:spPr>
          <a:xfrm>
            <a:off x="3578606" y="894903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53534A-5D81-F68F-E670-AD6930A6C0F2}"/>
              </a:ext>
            </a:extLst>
          </p:cNvPr>
          <p:cNvSpPr/>
          <p:nvPr/>
        </p:nvSpPr>
        <p:spPr>
          <a:xfrm>
            <a:off x="1304060" y="847259"/>
            <a:ext cx="1139031" cy="340086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수정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F4A2E0-9F3E-A007-03FE-59ACA83AC841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EE03EB-4403-5286-0AC6-7E1C7902F30D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2A7C98-FD33-B892-AFBF-5BAF6F07AA7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Picture 1">
            <a:extLst>
              <a:ext uri="{FF2B5EF4-FFF2-40B4-BE49-F238E27FC236}">
                <a16:creationId xmlns:a16="http://schemas.microsoft.com/office/drawing/2014/main" id="{0D79A17D-66A4-E9B1-00E5-60FA265EF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C0E96E9-12E6-3805-AF8F-D0150BCA63F9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6308072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2ED5-E9E0-7D0E-0E67-0695914D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E1E536B-B758-2848-91F5-AE6F0AD338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F3202-ADB1-4DA5-45A5-4D97564D596B}"/>
              </a:ext>
            </a:extLst>
          </p:cNvPr>
          <p:cNvSpPr txBox="1"/>
          <p:nvPr/>
        </p:nvSpPr>
        <p:spPr>
          <a:xfrm>
            <a:off x="749224" y="25608"/>
            <a:ext cx="28536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수정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A9960-9196-EF9C-A700-1D1FBAB9F8E0}"/>
              </a:ext>
            </a:extLst>
          </p:cNvPr>
          <p:cNvSpPr txBox="1"/>
          <p:nvPr/>
        </p:nvSpPr>
        <p:spPr>
          <a:xfrm>
            <a:off x="8049344" y="584684"/>
            <a:ext cx="1856656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 수정되지 않고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관리자의 내용과 서류검토 후 승인을 통해 수정됨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관리자의 거절 시 이전 승인되었을 때의 상태로 되돌아와야 한다는 것을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염두에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둘 것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개발자 대상 주요 전달사항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임시테이블에 저장한 후 관리자에 의해 승인되면 반영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또한 거절되면 원복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롤백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해야 함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MSG-007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0FC738-6100-6D37-BB5B-6FCE3419FDC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44EA4FCA-D13D-6C9B-71B6-BF6A74065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7409"/>
              </p:ext>
            </p:extLst>
          </p:nvPr>
        </p:nvGraphicFramePr>
        <p:xfrm>
          <a:off x="199972" y="423416"/>
          <a:ext cx="7652100" cy="10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1403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되도록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면허 등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되도록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</a:tbl>
          </a:graphicData>
        </a:graphic>
      </p:graphicFrame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CF4B55E-547F-2E92-BC5C-45E7B69AEBCE}"/>
              </a:ext>
            </a:extLst>
          </p:cNvPr>
          <p:cNvSpPr/>
          <p:nvPr/>
        </p:nvSpPr>
        <p:spPr>
          <a:xfrm>
            <a:off x="1620176" y="696409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5A83DC5E-C8AA-43F1-CBF6-B7EBBDF3BDB8}"/>
              </a:ext>
            </a:extLst>
          </p:cNvPr>
          <p:cNvSpPr/>
          <p:nvPr/>
        </p:nvSpPr>
        <p:spPr>
          <a:xfrm>
            <a:off x="3986314" y="694656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253A4BB-4470-001D-7B6B-A23323C3A2FE}"/>
              </a:ext>
            </a:extLst>
          </p:cNvPr>
          <p:cNvSpPr/>
          <p:nvPr/>
        </p:nvSpPr>
        <p:spPr>
          <a:xfrm>
            <a:off x="1620176" y="1229964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D4FF50F-963D-39E6-552C-205B4E7AA679}"/>
              </a:ext>
            </a:extLst>
          </p:cNvPr>
          <p:cNvSpPr/>
          <p:nvPr/>
        </p:nvSpPr>
        <p:spPr>
          <a:xfrm>
            <a:off x="3986314" y="1228211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E23662-A621-5DFD-D13E-4270B4632100}"/>
              </a:ext>
            </a:extLst>
          </p:cNvPr>
          <p:cNvSpPr/>
          <p:nvPr/>
        </p:nvSpPr>
        <p:spPr>
          <a:xfrm>
            <a:off x="6018900" y="2895802"/>
            <a:ext cx="11406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기본정보 수정 요청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A04E38-0B59-CE73-B305-802544F483FF}"/>
              </a:ext>
            </a:extLst>
          </p:cNvPr>
          <p:cNvSpPr/>
          <p:nvPr/>
        </p:nvSpPr>
        <p:spPr>
          <a:xfrm>
            <a:off x="7221251" y="2895802"/>
            <a:ext cx="661045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취소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5DA6ED-FEBE-218E-2AD7-A22C68CE0D40}"/>
              </a:ext>
            </a:extLst>
          </p:cNvPr>
          <p:cNvSpPr/>
          <p:nvPr/>
        </p:nvSpPr>
        <p:spPr>
          <a:xfrm>
            <a:off x="199972" y="3495382"/>
            <a:ext cx="439248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수정 요청 시 유의사항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617CCA4-2550-0704-D16F-78B5D49AA1C4}"/>
              </a:ext>
            </a:extLst>
          </p:cNvPr>
          <p:cNvSpPr/>
          <p:nvPr/>
        </p:nvSpPr>
        <p:spPr>
          <a:xfrm>
            <a:off x="199972" y="3768294"/>
            <a:ext cx="439248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B008BC-D5D0-9EE5-5E3E-7F51107E588D}"/>
              </a:ext>
            </a:extLst>
          </p:cNvPr>
          <p:cNvSpPr/>
          <p:nvPr/>
        </p:nvSpPr>
        <p:spPr>
          <a:xfrm>
            <a:off x="4322460" y="349538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942BF8-8639-3287-24D2-D3EA67280D16}"/>
              </a:ext>
            </a:extLst>
          </p:cNvPr>
          <p:cNvSpPr/>
          <p:nvPr/>
        </p:nvSpPr>
        <p:spPr>
          <a:xfrm>
            <a:off x="307751" y="4181682"/>
            <a:ext cx="4176697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 요청 후 승인 기간 동안 본 시스템 접속이 제한됩니다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승인에 걸리는 시간은 약 영업일 기준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일이며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1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D0B8D698-E5CD-3E79-138E-85DBB8DDD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73" y="4338303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28DFF2F2-A458-02F1-BF04-A461394C558D}"/>
              </a:ext>
            </a:extLst>
          </p:cNvPr>
          <p:cNvSpPr/>
          <p:nvPr/>
        </p:nvSpPr>
        <p:spPr>
          <a:xfrm>
            <a:off x="331192" y="3864683"/>
            <a:ext cx="200375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수정 요청 시 유의사항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EDD3AB24-D928-9EBB-8B1B-76C9A2016F3D}"/>
              </a:ext>
            </a:extLst>
          </p:cNvPr>
          <p:cNvCxnSpPr>
            <a:cxnSpLocks/>
            <a:stCxn id="15" idx="2"/>
            <a:endCxn id="25" idx="3"/>
          </p:cNvCxnSpPr>
          <p:nvPr/>
        </p:nvCxnSpPr>
        <p:spPr>
          <a:xfrm rot="5400000">
            <a:off x="4830772" y="2945523"/>
            <a:ext cx="1520123" cy="1996745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B9BF1840-E3EC-D6B8-0624-EF7522635EA8}"/>
              </a:ext>
            </a:extLst>
          </p:cNvPr>
          <p:cNvGrpSpPr/>
          <p:nvPr/>
        </p:nvGrpSpPr>
        <p:grpSpPr>
          <a:xfrm>
            <a:off x="2690057" y="5172681"/>
            <a:ext cx="1775438" cy="288032"/>
            <a:chOff x="3653751" y="5172681"/>
            <a:chExt cx="2246596" cy="288032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D61AF3D-5625-4351-2AFF-AD5577D97EEF}"/>
                </a:ext>
              </a:extLst>
            </p:cNvPr>
            <p:cNvSpPr/>
            <p:nvPr/>
          </p:nvSpPr>
          <p:spPr>
            <a:xfrm>
              <a:off x="3653751" y="5172681"/>
              <a:ext cx="1442927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기본정보 수정 요청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F3A788B-E628-33D3-4AB2-BF3542B43D19}"/>
                </a:ext>
              </a:extLst>
            </p:cNvPr>
            <p:cNvSpPr/>
            <p:nvPr/>
          </p:nvSpPr>
          <p:spPr>
            <a:xfrm>
              <a:off x="5157181" y="5172681"/>
              <a:ext cx="743166" cy="2880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  <a:sym typeface="Wingdings" panose="05000000000000000000" pitchFamily="2" charset="2"/>
                </a:rPr>
                <a:t>취소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1FCC8FA-2A4C-BD12-6DB5-FA0439D92481}"/>
              </a:ext>
            </a:extLst>
          </p:cNvPr>
          <p:cNvSpPr/>
          <p:nvPr/>
        </p:nvSpPr>
        <p:spPr>
          <a:xfrm>
            <a:off x="206598" y="1629454"/>
            <a:ext cx="317527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관련 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시점 기준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9236C2A0-61D8-22B2-664A-B119132B3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19811"/>
              </p:ext>
            </p:extLst>
          </p:nvPr>
        </p:nvGraphicFramePr>
        <p:xfrm>
          <a:off x="207598" y="1930059"/>
          <a:ext cx="7689104" cy="8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510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신용평가등급 확인서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되도록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sp>
        <p:nvSpPr>
          <p:cNvPr id="52" name="직사각형 51">
            <a:extLst>
              <a:ext uri="{FF2B5EF4-FFF2-40B4-BE49-F238E27FC236}">
                <a16:creationId xmlns:a16="http://schemas.microsoft.com/office/drawing/2014/main" id="{C484A298-8897-6727-1F7A-513C1EB23600}"/>
              </a:ext>
            </a:extLst>
          </p:cNvPr>
          <p:cNvSpPr/>
          <p:nvPr/>
        </p:nvSpPr>
        <p:spPr>
          <a:xfrm>
            <a:off x="1607689" y="1993272"/>
            <a:ext cx="1522155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 등급을 선택해주세요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531DDF3-F0A4-7B32-300F-3BCF63FB326F}"/>
              </a:ext>
            </a:extLst>
          </p:cNvPr>
          <p:cNvSpPr/>
          <p:nvPr/>
        </p:nvSpPr>
        <p:spPr>
          <a:xfrm>
            <a:off x="3121218" y="199327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4811C88-4CFC-7DC2-959C-5701BED0D15A}"/>
              </a:ext>
            </a:extLst>
          </p:cNvPr>
          <p:cNvSpPr/>
          <p:nvPr/>
        </p:nvSpPr>
        <p:spPr>
          <a:xfrm>
            <a:off x="1627802" y="2541808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2C36A99-0AFF-89F0-37DE-0D4B999CE629}"/>
              </a:ext>
            </a:extLst>
          </p:cNvPr>
          <p:cNvSpPr/>
          <p:nvPr/>
        </p:nvSpPr>
        <p:spPr>
          <a:xfrm>
            <a:off x="3993940" y="2540055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483A1FA-9F44-33C6-0D2A-4680AE67E04A}"/>
              </a:ext>
            </a:extLst>
          </p:cNvPr>
          <p:cNvSpPr/>
          <p:nvPr/>
        </p:nvSpPr>
        <p:spPr>
          <a:xfrm>
            <a:off x="37954" y="341256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F549FBD-8E19-EF5F-05F5-1EACB58CC8E3}"/>
              </a:ext>
            </a:extLst>
          </p:cNvPr>
          <p:cNvSpPr/>
          <p:nvPr/>
        </p:nvSpPr>
        <p:spPr>
          <a:xfrm>
            <a:off x="2571221" y="510067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44344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7E4FF-DE3F-807C-0672-18585584F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F4DC8B7-F21A-7CF8-3F40-3CDEA502CA5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E8F0B8-DE4B-28E4-A67C-AA2973B8B64F}"/>
              </a:ext>
            </a:extLst>
          </p:cNvPr>
          <p:cNvSpPr txBox="1"/>
          <p:nvPr/>
        </p:nvSpPr>
        <p:spPr>
          <a:xfrm>
            <a:off x="749224" y="25608"/>
            <a:ext cx="29306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C2775-7E72-0018-6004-6E991E1F156C}"/>
              </a:ext>
            </a:extLst>
          </p:cNvPr>
          <p:cNvSpPr txBox="1"/>
          <p:nvPr/>
        </p:nvSpPr>
        <p:spPr>
          <a:xfrm>
            <a:off x="8049344" y="584684"/>
            <a:ext cx="1856656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시 등록한 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삭제할 수 없음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 수정은 가능함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협력업체에 기본 담당자는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명만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존재할 수 있음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Alert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담당자가 이미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설정되어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담당자는 반드시 한 명이어야 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.’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담당자로 선택한 경우 교체되어야 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D4C24C-9AD5-D0FD-EA66-AC12F3FDE9A3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9CF7486-04DE-31A7-5592-B5B8ACBAF45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709C6C-CAAC-4E22-6729-858AA44F4C6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517BCD-7B5A-017B-C24A-FE222D52F590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19B2F-89ED-2BCD-D28B-CC275C97F393}"/>
              </a:ext>
            </a:extLst>
          </p:cNvPr>
          <p:cNvSpPr txBox="1"/>
          <p:nvPr/>
        </p:nvSpPr>
        <p:spPr>
          <a:xfrm>
            <a:off x="181506" y="1303673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5C0BDB9-57AC-F87F-F24D-FCDC9F45A5D6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1620350"/>
          <a:ext cx="7723820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3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35765">
                  <a:extLst>
                    <a:ext uri="{9D8B030D-6E8A-4147-A177-3AD203B41FA5}">
                      <a16:colId xmlns:a16="http://schemas.microsoft.com/office/drawing/2014/main" val="1183147798"/>
                    </a:ext>
                  </a:extLst>
                </a:gridCol>
                <a:gridCol w="497815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394358">
                  <a:extLst>
                    <a:ext uri="{9D8B030D-6E8A-4147-A177-3AD203B41FA5}">
                      <a16:colId xmlns:a16="http://schemas.microsoft.com/office/drawing/2014/main" val="2761937130"/>
                    </a:ext>
                  </a:extLst>
                </a:gridCol>
                <a:gridCol w="1287535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100647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939230">
                  <a:extLst>
                    <a:ext uri="{9D8B030D-6E8A-4147-A177-3AD203B41FA5}">
                      <a16:colId xmlns:a16="http://schemas.microsoft.com/office/drawing/2014/main" val="3329224653"/>
                    </a:ext>
                  </a:extLst>
                </a:gridCol>
                <a:gridCol w="1821878">
                  <a:extLst>
                    <a:ext uri="{9D8B030D-6E8A-4147-A177-3AD203B41FA5}">
                      <a16:colId xmlns:a16="http://schemas.microsoft.com/office/drawing/2014/main" val="2705196257"/>
                    </a:ext>
                  </a:extLst>
                </a:gridCol>
                <a:gridCol w="705030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담당업무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02-6959-9856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사내 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박일용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 업무 관련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sp>
        <p:nvSpPr>
          <p:cNvPr id="58" name="직사각형 57">
            <a:extLst>
              <a:ext uri="{FF2B5EF4-FFF2-40B4-BE49-F238E27FC236}">
                <a16:creationId xmlns:a16="http://schemas.microsoft.com/office/drawing/2014/main" id="{17390D50-5876-5E6A-EBDB-F358ADEC5145}"/>
              </a:ext>
            </a:extLst>
          </p:cNvPr>
          <p:cNvSpPr/>
          <p:nvPr/>
        </p:nvSpPr>
        <p:spPr>
          <a:xfrm>
            <a:off x="7301886" y="2010173"/>
            <a:ext cx="528040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CDDADBF-2655-870F-15D8-077F178CEBD4}"/>
              </a:ext>
            </a:extLst>
          </p:cNvPr>
          <p:cNvSpPr/>
          <p:nvPr/>
        </p:nvSpPr>
        <p:spPr>
          <a:xfrm>
            <a:off x="7301886" y="2353544"/>
            <a:ext cx="528040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420F2D-E830-1041-B4AA-86A532485000}"/>
              </a:ext>
            </a:extLst>
          </p:cNvPr>
          <p:cNvSpPr/>
          <p:nvPr/>
        </p:nvSpPr>
        <p:spPr>
          <a:xfrm>
            <a:off x="7301886" y="2696915"/>
            <a:ext cx="528040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1521379-CFB2-C26A-1680-F21F8BC452B4}"/>
              </a:ext>
            </a:extLst>
          </p:cNvPr>
          <p:cNvSpPr/>
          <p:nvPr/>
        </p:nvSpPr>
        <p:spPr>
          <a:xfrm>
            <a:off x="7301886" y="3040286"/>
            <a:ext cx="528040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618EAE5-EABD-EA4C-4269-4B7575B9523C}"/>
              </a:ext>
            </a:extLst>
          </p:cNvPr>
          <p:cNvSpPr/>
          <p:nvPr/>
        </p:nvSpPr>
        <p:spPr>
          <a:xfrm>
            <a:off x="7301886" y="3383657"/>
            <a:ext cx="528040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8150028-9B04-4110-4E2A-77CF81A55DE2}"/>
              </a:ext>
            </a:extLst>
          </p:cNvPr>
          <p:cNvSpPr/>
          <p:nvPr/>
        </p:nvSpPr>
        <p:spPr>
          <a:xfrm>
            <a:off x="345989" y="2935061"/>
            <a:ext cx="6191187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2EFACE1-B1F6-B889-C46A-22E8CF08FDDF}"/>
              </a:ext>
            </a:extLst>
          </p:cNvPr>
          <p:cNvSpPr/>
          <p:nvPr/>
        </p:nvSpPr>
        <p:spPr>
          <a:xfrm>
            <a:off x="345989" y="3207974"/>
            <a:ext cx="6191187" cy="33587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89E1E4D-83BB-C846-3D5B-2DDFD935C521}"/>
              </a:ext>
            </a:extLst>
          </p:cNvPr>
          <p:cNvSpPr/>
          <p:nvPr/>
        </p:nvSpPr>
        <p:spPr>
          <a:xfrm>
            <a:off x="6267176" y="2935061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09A59EF-A2A4-9FE0-A28B-114C96DC2546}"/>
              </a:ext>
            </a:extLst>
          </p:cNvPr>
          <p:cNvSpPr/>
          <p:nvPr/>
        </p:nvSpPr>
        <p:spPr>
          <a:xfrm>
            <a:off x="477210" y="3304362"/>
            <a:ext cx="140423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5C334A6-7263-1C72-A199-15BE17416CB6}"/>
              </a:ext>
            </a:extLst>
          </p:cNvPr>
          <p:cNvSpPr/>
          <p:nvPr/>
        </p:nvSpPr>
        <p:spPr>
          <a:xfrm>
            <a:off x="6958050" y="3733715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담당자 추가</a:t>
            </a: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994672D6-0D47-CEB1-841B-0F2653276A09}"/>
              </a:ext>
            </a:extLst>
          </p:cNvPr>
          <p:cNvGraphicFramePr>
            <a:graphicFrameLocks noGrp="1"/>
          </p:cNvGraphicFramePr>
          <p:nvPr/>
        </p:nvGraphicFramePr>
        <p:xfrm>
          <a:off x="477210" y="3637898"/>
          <a:ext cx="5915953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41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82453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기본 담당자      ○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48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@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- 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담당업무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-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92" name="직사각형 91">
            <a:extLst>
              <a:ext uri="{FF2B5EF4-FFF2-40B4-BE49-F238E27FC236}">
                <a16:creationId xmlns:a16="http://schemas.microsoft.com/office/drawing/2014/main" id="{EE8E6E0D-56BC-7442-5378-FD763F630781}"/>
              </a:ext>
            </a:extLst>
          </p:cNvPr>
          <p:cNvSpPr/>
          <p:nvPr/>
        </p:nvSpPr>
        <p:spPr>
          <a:xfrm>
            <a:off x="3190764" y="4379368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 선택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209DDFA-350B-5041-CB7F-873169ECF55F}"/>
              </a:ext>
            </a:extLst>
          </p:cNvPr>
          <p:cNvSpPr/>
          <p:nvPr/>
        </p:nvSpPr>
        <p:spPr>
          <a:xfrm>
            <a:off x="4452153" y="4379370"/>
            <a:ext cx="227054" cy="20800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72418FDE-8564-AEA0-ABD0-2D5B8BEA94A3}"/>
              </a:ext>
            </a:extLst>
          </p:cNvPr>
          <p:cNvSpPr/>
          <p:nvPr/>
        </p:nvSpPr>
        <p:spPr>
          <a:xfrm>
            <a:off x="1654457" y="4040066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입력된 내용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CE8C336-B5C5-76E5-F005-F5188CE9AC3A}"/>
              </a:ext>
            </a:extLst>
          </p:cNvPr>
          <p:cNvSpPr/>
          <p:nvPr/>
        </p:nvSpPr>
        <p:spPr>
          <a:xfrm>
            <a:off x="1654457" y="4379369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입력된 내용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D337826-4AAF-A839-72CA-8968633A15BC}"/>
              </a:ext>
            </a:extLst>
          </p:cNvPr>
          <p:cNvSpPr/>
          <p:nvPr/>
        </p:nvSpPr>
        <p:spPr>
          <a:xfrm>
            <a:off x="4760661" y="4379368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 입력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9CBA990-B0E9-3289-7840-67A2B03AE039}"/>
              </a:ext>
            </a:extLst>
          </p:cNvPr>
          <p:cNvSpPr/>
          <p:nvPr/>
        </p:nvSpPr>
        <p:spPr>
          <a:xfrm>
            <a:off x="1642133" y="4716809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CBAD6AB-75C2-C67A-B76E-9FBF3DC3C8FD}"/>
              </a:ext>
            </a:extLst>
          </p:cNvPr>
          <p:cNvSpPr/>
          <p:nvPr/>
        </p:nvSpPr>
        <p:spPr>
          <a:xfrm>
            <a:off x="2126787" y="471681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58A3B1C-0931-3F10-0614-BAFD91A79717}"/>
              </a:ext>
            </a:extLst>
          </p:cNvPr>
          <p:cNvSpPr/>
          <p:nvPr/>
        </p:nvSpPr>
        <p:spPr>
          <a:xfrm>
            <a:off x="2496196" y="4716809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F533811E-4D2B-0BB0-632D-D4E9C086B7C6}"/>
              </a:ext>
            </a:extLst>
          </p:cNvPr>
          <p:cNvSpPr/>
          <p:nvPr/>
        </p:nvSpPr>
        <p:spPr>
          <a:xfrm>
            <a:off x="3115808" y="4716809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7DCC965-C726-E697-586A-94E565D81C32}"/>
              </a:ext>
            </a:extLst>
          </p:cNvPr>
          <p:cNvSpPr/>
          <p:nvPr/>
        </p:nvSpPr>
        <p:spPr>
          <a:xfrm>
            <a:off x="1654457" y="5073364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입력된 내용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88CAE16-3D6B-0EB9-EA20-5117DFE73E5B}"/>
              </a:ext>
            </a:extLst>
          </p:cNvPr>
          <p:cNvSpPr/>
          <p:nvPr/>
        </p:nvSpPr>
        <p:spPr>
          <a:xfrm>
            <a:off x="1654457" y="5409613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입력된 내용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39D4E2E5-7913-5551-0EBF-CAAB0D876F47}"/>
              </a:ext>
            </a:extLst>
          </p:cNvPr>
          <p:cNvSpPr/>
          <p:nvPr/>
        </p:nvSpPr>
        <p:spPr>
          <a:xfrm>
            <a:off x="1642133" y="5728059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C82B862-39F0-DC0C-A97A-FF1A0822F232}"/>
              </a:ext>
            </a:extLst>
          </p:cNvPr>
          <p:cNvSpPr/>
          <p:nvPr/>
        </p:nvSpPr>
        <p:spPr>
          <a:xfrm>
            <a:off x="2126787" y="572806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7DC711E-2895-C0C1-770A-88479B1E0A58}"/>
              </a:ext>
            </a:extLst>
          </p:cNvPr>
          <p:cNvSpPr/>
          <p:nvPr/>
        </p:nvSpPr>
        <p:spPr>
          <a:xfrm>
            <a:off x="2496196" y="5728059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4FA6260-CEF1-0608-32F6-07C5BF45841A}"/>
              </a:ext>
            </a:extLst>
          </p:cNvPr>
          <p:cNvSpPr/>
          <p:nvPr/>
        </p:nvSpPr>
        <p:spPr>
          <a:xfrm>
            <a:off x="3115808" y="5728059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04E0730E-A652-9E41-6E0F-E9DF719ED56D}"/>
              </a:ext>
            </a:extLst>
          </p:cNvPr>
          <p:cNvGrpSpPr/>
          <p:nvPr/>
        </p:nvGrpSpPr>
        <p:grpSpPr>
          <a:xfrm>
            <a:off x="4196917" y="6094796"/>
            <a:ext cx="2181068" cy="288032"/>
            <a:chOff x="3623198" y="5608583"/>
            <a:chExt cx="2790790" cy="288032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3DA259E5-317C-896E-F606-F898D040BD8F}"/>
                </a:ext>
              </a:extLst>
            </p:cNvPr>
            <p:cNvSpPr/>
            <p:nvPr/>
          </p:nvSpPr>
          <p:spPr>
            <a:xfrm>
              <a:off x="4569716" y="5608583"/>
              <a:ext cx="897754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수정</a:t>
              </a: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2FE25617-8FF3-AB59-CF32-28E2551965DE}"/>
                </a:ext>
              </a:extLst>
            </p:cNvPr>
            <p:cNvSpPr/>
            <p:nvPr/>
          </p:nvSpPr>
          <p:spPr>
            <a:xfrm>
              <a:off x="5516234" y="5608583"/>
              <a:ext cx="897754" cy="288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  <a:sym typeface="Wingdings" panose="05000000000000000000" pitchFamily="2" charset="2"/>
                </a:rPr>
                <a:t>삭제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70BEBFD0-382F-8695-3511-2B8B553DCFA0}"/>
                </a:ext>
              </a:extLst>
            </p:cNvPr>
            <p:cNvSpPr/>
            <p:nvPr/>
          </p:nvSpPr>
          <p:spPr>
            <a:xfrm>
              <a:off x="3623198" y="5608583"/>
              <a:ext cx="897754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추가</a:t>
              </a:r>
            </a:p>
          </p:txBody>
        </p: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FC1D334-0B4E-924B-BE6C-1278AE52A476}"/>
              </a:ext>
            </a:extLst>
          </p:cNvPr>
          <p:cNvCxnSpPr>
            <a:cxnSpLocks/>
          </p:cNvCxnSpPr>
          <p:nvPr/>
        </p:nvCxnSpPr>
        <p:spPr>
          <a:xfrm>
            <a:off x="167468" y="1192096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7086F6A9-BA2B-4C02-EB16-BFC321EB92D2}"/>
              </a:ext>
            </a:extLst>
          </p:cNvPr>
          <p:cNvSpPr/>
          <p:nvPr/>
        </p:nvSpPr>
        <p:spPr>
          <a:xfrm>
            <a:off x="163503" y="885506"/>
            <a:ext cx="1139031" cy="30183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확인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48C0E84D-A271-21B4-30C6-FF9BEA0203A7}"/>
              </a:ext>
            </a:extLst>
          </p:cNvPr>
          <p:cNvSpPr/>
          <p:nvPr/>
        </p:nvSpPr>
        <p:spPr>
          <a:xfrm>
            <a:off x="2444236" y="847259"/>
            <a:ext cx="1139031" cy="340086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763BA37F-0766-6848-3492-956E1E599AC1}"/>
              </a:ext>
            </a:extLst>
          </p:cNvPr>
          <p:cNvSpPr/>
          <p:nvPr/>
        </p:nvSpPr>
        <p:spPr>
          <a:xfrm>
            <a:off x="3578606" y="894903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236A360-2F15-42A5-283E-D12301B8E405}"/>
              </a:ext>
            </a:extLst>
          </p:cNvPr>
          <p:cNvSpPr/>
          <p:nvPr/>
        </p:nvSpPr>
        <p:spPr>
          <a:xfrm>
            <a:off x="1304060" y="885505"/>
            <a:ext cx="1139031" cy="30183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수정 요청</a:t>
            </a: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AD17F229-A4A5-1A56-9A94-95207E983787}"/>
              </a:ext>
            </a:extLst>
          </p:cNvPr>
          <p:cNvSpPr/>
          <p:nvPr/>
        </p:nvSpPr>
        <p:spPr>
          <a:xfrm>
            <a:off x="369198" y="183649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D34D6DA2-3439-CD70-20FA-1939759474C7}"/>
              </a:ext>
            </a:extLst>
          </p:cNvPr>
          <p:cNvCxnSpPr>
            <a:cxnSpLocks/>
            <a:stCxn id="88" idx="2"/>
            <a:endCxn id="74" idx="3"/>
          </p:cNvCxnSpPr>
          <p:nvPr/>
        </p:nvCxnSpPr>
        <p:spPr>
          <a:xfrm rot="5400000">
            <a:off x="6539245" y="4019679"/>
            <a:ext cx="865614" cy="869751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F88999-DB87-CC93-D4A4-6E47529DA95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8054A0-0BB2-1210-FB97-0872BA2BBB8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2A7A33-9319-DD33-B987-BD3BC0262D3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06BF6030-68D1-74C2-23DA-EE44AA75C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F5D7AD83-3BB6-2F9D-7A18-2B284A8EA861}"/>
              </a:ext>
            </a:extLst>
          </p:cNvPr>
          <p:cNvCxnSpPr>
            <a:cxnSpLocks/>
            <a:stCxn id="62" idx="1"/>
            <a:endCxn id="72" idx="0"/>
          </p:cNvCxnSpPr>
          <p:nvPr/>
        </p:nvCxnSpPr>
        <p:spPr>
          <a:xfrm rot="10800000" flipV="1">
            <a:off x="3441584" y="2461265"/>
            <a:ext cx="3860303" cy="473796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FD4F3865-ED32-67D0-6FBB-0F29A38418B1}"/>
              </a:ext>
            </a:extLst>
          </p:cNvPr>
          <p:cNvSpPr/>
          <p:nvPr/>
        </p:nvSpPr>
        <p:spPr>
          <a:xfrm>
            <a:off x="369198" y="355327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9A15C0-0166-DDC6-D2BF-0A24045B67DC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30598153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32CE-B34B-1FB9-5BDE-0B1F47EC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2199DAB-DBE3-B990-F026-8EE27B9DD0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C5368C-E2D7-1E29-6767-E2D98A72051E}"/>
              </a:ext>
            </a:extLst>
          </p:cNvPr>
          <p:cNvSpPr txBox="1"/>
          <p:nvPr/>
        </p:nvSpPr>
        <p:spPr>
          <a:xfrm>
            <a:off x="749224" y="25608"/>
            <a:ext cx="25747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ABAEE-D2F7-010B-63C6-9E80D66E01F7}"/>
              </a:ext>
            </a:extLst>
          </p:cNvPr>
          <p:cNvSpPr txBox="1"/>
          <p:nvPr/>
        </p:nvSpPr>
        <p:spPr>
          <a:xfrm>
            <a:off x="8049344" y="584684"/>
            <a:ext cx="1856656" cy="103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 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Alert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제공 후 다시 로그인 유도할 것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Alert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비밀번호가 변경되었습니다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다시 로그인해주세요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EA927AC-9E9B-7DEB-BAC1-183EEC3766D9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DFB8FE7-584B-4B89-7DCC-3599C52328B0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2DDCD51-A279-DB8B-B83F-6253303BF73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1EF77C-6C69-3B94-74DB-3A0094FDEF7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FDA39DA-66D4-70D2-73AC-87F416DEC3E1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1308424"/>
          <a:ext cx="7705821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6775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현재 비밀번호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새 비밀번호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새 비밀번호 확인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084A6BDF-D161-204E-65C2-024F1A2526E8}"/>
              </a:ext>
            </a:extLst>
          </p:cNvPr>
          <p:cNvSpPr/>
          <p:nvPr/>
        </p:nvSpPr>
        <p:spPr>
          <a:xfrm>
            <a:off x="1575917" y="1713304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영문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특수기호 조합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8~20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2769310-2A83-768C-1DC4-92F75E51C098}"/>
              </a:ext>
            </a:extLst>
          </p:cNvPr>
          <p:cNvSpPr/>
          <p:nvPr/>
        </p:nvSpPr>
        <p:spPr>
          <a:xfrm>
            <a:off x="1575917" y="2049035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입력하신 비밀번호를 확인해주세요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2F25204-9863-7F72-AC14-E91582E23071}"/>
              </a:ext>
            </a:extLst>
          </p:cNvPr>
          <p:cNvSpPr/>
          <p:nvPr/>
        </p:nvSpPr>
        <p:spPr>
          <a:xfrm>
            <a:off x="1567291" y="1375749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영문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특수기호 조합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8~20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6B7ECBC-FBF2-B652-1CDB-7784A94B0A7E}"/>
              </a:ext>
            </a:extLst>
          </p:cNvPr>
          <p:cNvSpPr/>
          <p:nvPr/>
        </p:nvSpPr>
        <p:spPr>
          <a:xfrm>
            <a:off x="6000166" y="2429943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AA0E4E9-67AA-7E78-A3B8-29872D68EFEA}"/>
              </a:ext>
            </a:extLst>
          </p:cNvPr>
          <p:cNvSpPr/>
          <p:nvPr/>
        </p:nvSpPr>
        <p:spPr>
          <a:xfrm>
            <a:off x="6984543" y="2429943"/>
            <a:ext cx="89775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취소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DCEE0E0-D0D8-1B41-8B92-391007A32FCE}"/>
              </a:ext>
            </a:extLst>
          </p:cNvPr>
          <p:cNvCxnSpPr>
            <a:cxnSpLocks/>
          </p:cNvCxnSpPr>
          <p:nvPr/>
        </p:nvCxnSpPr>
        <p:spPr>
          <a:xfrm>
            <a:off x="167468" y="1192096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6F653D-F9AB-22BE-A648-9FEF04495E67}"/>
              </a:ext>
            </a:extLst>
          </p:cNvPr>
          <p:cNvSpPr/>
          <p:nvPr/>
        </p:nvSpPr>
        <p:spPr>
          <a:xfrm>
            <a:off x="163503" y="885506"/>
            <a:ext cx="1139031" cy="30183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091315-FF82-D0EC-BC31-983947275024}"/>
              </a:ext>
            </a:extLst>
          </p:cNvPr>
          <p:cNvSpPr/>
          <p:nvPr/>
        </p:nvSpPr>
        <p:spPr>
          <a:xfrm>
            <a:off x="2444236" y="885505"/>
            <a:ext cx="1139031" cy="3018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ADF0EA-2137-E220-7721-FF37A61C19E4}"/>
              </a:ext>
            </a:extLst>
          </p:cNvPr>
          <p:cNvSpPr/>
          <p:nvPr/>
        </p:nvSpPr>
        <p:spPr>
          <a:xfrm>
            <a:off x="3578606" y="847259"/>
            <a:ext cx="1139031" cy="340086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변경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14EB48-4517-5C77-7FD2-ADE8D181CF56}"/>
              </a:ext>
            </a:extLst>
          </p:cNvPr>
          <p:cNvSpPr/>
          <p:nvPr/>
        </p:nvSpPr>
        <p:spPr>
          <a:xfrm>
            <a:off x="1304060" y="885505"/>
            <a:ext cx="1139031" cy="30183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수정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0555F4-B073-EE96-99F2-DEB0DF38F3A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6B2151-9B7D-0A1C-5418-E908DCE8A003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21D217-4177-7A3B-4D86-8AA57D88907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입찰정보시스템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1" name="Picture 1">
            <a:extLst>
              <a:ext uri="{FF2B5EF4-FFF2-40B4-BE49-F238E27FC236}">
                <a16:creationId xmlns:a16="http://schemas.microsoft.com/office/drawing/2014/main" id="{CC057A7C-69EE-7957-5A05-5834754F1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0433425E-5D49-B5E0-FFA2-2D8D79015DDC}"/>
              </a:ext>
            </a:extLst>
          </p:cNvPr>
          <p:cNvSpPr/>
          <p:nvPr/>
        </p:nvSpPr>
        <p:spPr>
          <a:xfrm>
            <a:off x="37954" y="122271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A373C8-267F-49D6-E1E9-EF3F9C2BCE3F}"/>
              </a:ext>
            </a:extLst>
          </p:cNvPr>
          <p:cNvSpPr/>
          <p:nvPr/>
        </p:nvSpPr>
        <p:spPr>
          <a:xfrm>
            <a:off x="-1690381" y="1097693"/>
            <a:ext cx="1467136" cy="2331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</a:p>
        </p:txBody>
      </p:sp>
    </p:spTree>
    <p:extLst>
      <p:ext uri="{BB962C8B-B14F-4D97-AF65-F5344CB8AC3E}">
        <p14:creationId xmlns:p14="http://schemas.microsoft.com/office/powerpoint/2010/main" val="2595654287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9C753CB-5F96-4908-B151-971634E54B8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89c769d-48dc-4a14-bce9-ada6df666238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1E00A2A-48E8-4057-8BD8-778208229C94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4de1de94-1c43-475a-9ba6-f08d9267f79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244215</TotalTime>
  <Words>12474</Words>
  <Application>Microsoft Office PowerPoint</Application>
  <PresentationFormat>A4 용지(210x297mm)</PresentationFormat>
  <Paragraphs>4295</Paragraphs>
  <Slides>65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0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프레젠테이션</vt:lpstr>
      <vt:lpstr> </vt:lpstr>
      <vt:lpstr> </vt:lpstr>
      <vt:lpstr>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8309</cp:revision>
  <cp:lastPrinted>2019-06-18T05:05:25Z</cp:lastPrinted>
  <dcterms:created xsi:type="dcterms:W3CDTF">2006-06-07T02:37:19Z</dcterms:created>
  <dcterms:modified xsi:type="dcterms:W3CDTF">2026-09-15T23:37:55Z</dcterms:modified>
</cp:coreProperties>
</file>