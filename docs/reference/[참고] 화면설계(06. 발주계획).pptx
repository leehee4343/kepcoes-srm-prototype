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>
  <p:sldMasterIdLst>
    <p:sldMasterId id="2147484698" r:id="rId1"/>
  </p:sldMasterIdLst>
  <p:notesMasterIdLst>
    <p:notesMasterId r:id="rId29"/>
  </p:notesMasterIdLst>
  <p:handoutMasterIdLst>
    <p:handoutMasterId r:id="rId30"/>
  </p:handoutMasterIdLst>
  <p:sldIdLst>
    <p:sldId id="3218" r:id="rId2"/>
    <p:sldId id="3779" r:id="rId3"/>
    <p:sldId id="3780" r:id="rId4"/>
    <p:sldId id="3801" r:id="rId5"/>
    <p:sldId id="3782" r:id="rId6"/>
    <p:sldId id="3802" r:id="rId7"/>
    <p:sldId id="3582" r:id="rId8"/>
    <p:sldId id="3794" r:id="rId9"/>
    <p:sldId id="3783" r:id="rId10"/>
    <p:sldId id="3769" r:id="rId11"/>
    <p:sldId id="3795" r:id="rId12"/>
    <p:sldId id="3800" r:id="rId13"/>
    <p:sldId id="3785" r:id="rId14"/>
    <p:sldId id="3773" r:id="rId15"/>
    <p:sldId id="3749" r:id="rId16"/>
    <p:sldId id="3796" r:id="rId17"/>
    <p:sldId id="3520" r:id="rId18"/>
    <p:sldId id="3787" r:id="rId19"/>
    <p:sldId id="3788" r:id="rId20"/>
    <p:sldId id="3797" r:id="rId21"/>
    <p:sldId id="3790" r:id="rId22"/>
    <p:sldId id="3754" r:id="rId23"/>
    <p:sldId id="3803" r:id="rId24"/>
    <p:sldId id="3791" r:id="rId25"/>
    <p:sldId id="3792" r:id="rId26"/>
    <p:sldId id="3804" r:id="rId27"/>
    <p:sldId id="3799" r:id="rId28"/>
  </p:sldIdLst>
  <p:sldSz cx="9906000" cy="6858000" type="A4"/>
  <p:notesSz cx="9926638" cy="6797675"/>
  <p:embeddedFontLst>
    <p:embeddedFont>
      <p:font typeface="나눔고딕" panose="020D0604000000000000" pitchFamily="50" charset="-127"/>
      <p:regular r:id="rId31"/>
      <p:bold r:id="rId32"/>
    </p:embeddedFont>
    <p:embeddedFont>
      <p:font typeface="맑은 고딕" panose="020B0503020000020004" pitchFamily="50" charset="-127"/>
      <p:regular r:id="rId33"/>
      <p:bold r:id="rId34"/>
    </p:embeddedFont>
  </p:embeddedFontLst>
  <p:defaultTextStyle>
    <a:defPPr>
      <a:defRPr lang="en-US"/>
    </a:defPPr>
    <a:lvl1pPr algn="ctr" rtl="0" fontAlgn="base" latinLnBrk="1">
      <a:spcBef>
        <a:spcPct val="0"/>
      </a:spcBef>
      <a:spcAft>
        <a:spcPct val="0"/>
      </a:spcAft>
      <a:defRPr kumimoji="1" sz="1000" b="1" kern="1200">
        <a:solidFill>
          <a:schemeClr val="bg1"/>
        </a:solidFill>
        <a:latin typeface="맑은 고딕" pitchFamily="50" charset="-127"/>
        <a:ea typeface="맑은 고딕" pitchFamily="50" charset="-127"/>
        <a:cs typeface="+mn-cs"/>
      </a:defRPr>
    </a:lvl1pPr>
    <a:lvl2pPr marL="548640" algn="ctr" rtl="0" fontAlgn="base" latinLnBrk="1">
      <a:spcBef>
        <a:spcPct val="0"/>
      </a:spcBef>
      <a:spcAft>
        <a:spcPct val="0"/>
      </a:spcAft>
      <a:defRPr kumimoji="1" sz="1000" b="1" kern="1200">
        <a:solidFill>
          <a:schemeClr val="bg1"/>
        </a:solidFill>
        <a:latin typeface="맑은 고딕" pitchFamily="50" charset="-127"/>
        <a:ea typeface="맑은 고딕" pitchFamily="50" charset="-127"/>
        <a:cs typeface="+mn-cs"/>
      </a:defRPr>
    </a:lvl2pPr>
    <a:lvl3pPr marL="1097280" algn="ctr" rtl="0" fontAlgn="base" latinLnBrk="1">
      <a:spcBef>
        <a:spcPct val="0"/>
      </a:spcBef>
      <a:spcAft>
        <a:spcPct val="0"/>
      </a:spcAft>
      <a:defRPr kumimoji="1" sz="1000" b="1" kern="1200">
        <a:solidFill>
          <a:schemeClr val="bg1"/>
        </a:solidFill>
        <a:latin typeface="맑은 고딕" pitchFamily="50" charset="-127"/>
        <a:ea typeface="맑은 고딕" pitchFamily="50" charset="-127"/>
        <a:cs typeface="+mn-cs"/>
      </a:defRPr>
    </a:lvl3pPr>
    <a:lvl4pPr marL="1645920" algn="ctr" rtl="0" fontAlgn="base" latinLnBrk="1">
      <a:spcBef>
        <a:spcPct val="0"/>
      </a:spcBef>
      <a:spcAft>
        <a:spcPct val="0"/>
      </a:spcAft>
      <a:defRPr kumimoji="1" sz="1000" b="1" kern="1200">
        <a:solidFill>
          <a:schemeClr val="bg1"/>
        </a:solidFill>
        <a:latin typeface="맑은 고딕" pitchFamily="50" charset="-127"/>
        <a:ea typeface="맑은 고딕" pitchFamily="50" charset="-127"/>
        <a:cs typeface="+mn-cs"/>
      </a:defRPr>
    </a:lvl4pPr>
    <a:lvl5pPr marL="2194560" algn="ctr" rtl="0" fontAlgn="base" latinLnBrk="1">
      <a:spcBef>
        <a:spcPct val="0"/>
      </a:spcBef>
      <a:spcAft>
        <a:spcPct val="0"/>
      </a:spcAft>
      <a:defRPr kumimoji="1" sz="1000" b="1" kern="1200">
        <a:solidFill>
          <a:schemeClr val="bg1"/>
        </a:solidFill>
        <a:latin typeface="맑은 고딕" pitchFamily="50" charset="-127"/>
        <a:ea typeface="맑은 고딕" pitchFamily="50" charset="-127"/>
        <a:cs typeface="+mn-cs"/>
      </a:defRPr>
    </a:lvl5pPr>
    <a:lvl6pPr marL="2743200" algn="l" defTabSz="1097280" rtl="0" eaLnBrk="1" latinLnBrk="1" hangingPunct="1">
      <a:defRPr kumimoji="1" sz="1000" b="1" kern="1200">
        <a:solidFill>
          <a:schemeClr val="bg1"/>
        </a:solidFill>
        <a:latin typeface="맑은 고딕" pitchFamily="50" charset="-127"/>
        <a:ea typeface="맑은 고딕" pitchFamily="50" charset="-127"/>
        <a:cs typeface="+mn-cs"/>
      </a:defRPr>
    </a:lvl6pPr>
    <a:lvl7pPr marL="3291840" algn="l" defTabSz="1097280" rtl="0" eaLnBrk="1" latinLnBrk="1" hangingPunct="1">
      <a:defRPr kumimoji="1" sz="1000" b="1" kern="1200">
        <a:solidFill>
          <a:schemeClr val="bg1"/>
        </a:solidFill>
        <a:latin typeface="맑은 고딕" pitchFamily="50" charset="-127"/>
        <a:ea typeface="맑은 고딕" pitchFamily="50" charset="-127"/>
        <a:cs typeface="+mn-cs"/>
      </a:defRPr>
    </a:lvl7pPr>
    <a:lvl8pPr marL="3840480" algn="l" defTabSz="1097280" rtl="0" eaLnBrk="1" latinLnBrk="1" hangingPunct="1">
      <a:defRPr kumimoji="1" sz="1000" b="1" kern="1200">
        <a:solidFill>
          <a:schemeClr val="bg1"/>
        </a:solidFill>
        <a:latin typeface="맑은 고딕" pitchFamily="50" charset="-127"/>
        <a:ea typeface="맑은 고딕" pitchFamily="50" charset="-127"/>
        <a:cs typeface="+mn-cs"/>
      </a:defRPr>
    </a:lvl8pPr>
    <a:lvl9pPr marL="4389120" algn="l" defTabSz="1097280" rtl="0" eaLnBrk="1" latinLnBrk="1" hangingPunct="1">
      <a:defRPr kumimoji="1" sz="1000" b="1" kern="1200">
        <a:solidFill>
          <a:schemeClr val="bg1"/>
        </a:solidFill>
        <a:latin typeface="맑은 고딕" pitchFamily="50" charset="-127"/>
        <a:ea typeface="맑은 고딕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81">
          <p15:clr>
            <a:srgbClr val="A4A3A4"/>
          </p15:clr>
        </p15:guide>
        <p15:guide id="2" orient="horz" pos="1830">
          <p15:clr>
            <a:srgbClr val="A4A3A4"/>
          </p15:clr>
        </p15:guide>
        <p15:guide id="3" orient="horz" pos="2616">
          <p15:clr>
            <a:srgbClr val="A4A3A4"/>
          </p15:clr>
        </p15:guide>
        <p15:guide id="4" pos="3511">
          <p15:clr>
            <a:srgbClr val="A4A3A4"/>
          </p15:clr>
        </p15:guide>
        <p15:guide id="5" pos="335">
          <p15:clr>
            <a:srgbClr val="A4A3A4"/>
          </p15:clr>
        </p15:guide>
        <p15:guide id="6" pos="4447">
          <p15:clr>
            <a:srgbClr val="A4A3A4"/>
          </p15:clr>
        </p15:guide>
        <p15:guide id="7" pos="6067">
          <p15:clr>
            <a:srgbClr val="A4A3A4"/>
          </p15:clr>
        </p15:guide>
        <p15:guide id="8" pos="2269">
          <p15:clr>
            <a:srgbClr val="A4A3A4"/>
          </p15:clr>
        </p15:guide>
        <p15:guide id="9" pos="5805">
          <p15:clr>
            <a:srgbClr val="A4A3A4"/>
          </p15:clr>
        </p15:guide>
        <p15:guide id="10" pos="4069">
          <p15:clr>
            <a:srgbClr val="A4A3A4"/>
          </p15:clr>
        </p15:guide>
        <p15:guide id="11" pos="344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ulydA" initials="C" lastIdx="1" clrIdx="0">
    <p:extLst>
      <p:ext uri="{19B8F6BF-5375-455C-9EA6-DF929625EA0E}">
        <p15:presenceInfo xmlns:p15="http://schemas.microsoft.com/office/powerpoint/2012/main" userId="ChulydA" providerId="None"/>
      </p:ext>
    </p:extLst>
  </p:cmAuthor>
  <p:cmAuthor id="2" name="heesung lee" initials="hl" lastIdx="16" clrIdx="1">
    <p:extLst>
      <p:ext uri="{19B8F6BF-5375-455C-9EA6-DF929625EA0E}">
        <p15:presenceInfo xmlns:p15="http://schemas.microsoft.com/office/powerpoint/2012/main" userId="106ef8bdd38f3c94" providerId="Windows Live"/>
      </p:ext>
    </p:extLst>
  </p:cmAuthor>
  <p:cmAuthor id="3" name="10249 10249" initials="11" lastIdx="2" clrIdx="2">
    <p:extLst>
      <p:ext uri="{19B8F6BF-5375-455C-9EA6-DF929625EA0E}">
        <p15:presenceInfo xmlns:p15="http://schemas.microsoft.com/office/powerpoint/2012/main" userId="S::M10249@365e.me::2244da32-1411-4fa9-ae10-0967a5e09c9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0000"/>
    <a:srgbClr val="FFFF00"/>
    <a:srgbClr val="FFC000"/>
    <a:srgbClr val="F2F2F2"/>
    <a:srgbClr val="404040"/>
    <a:srgbClr val="00B050"/>
    <a:srgbClr val="DCE6F2"/>
    <a:srgbClr val="596F8A"/>
    <a:srgbClr val="003965"/>
    <a:srgbClr val="C050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660B408-B3CF-4A94-85FC-2B1E0A45F4A2}" styleName="어두운 스타일 2 - 강조 1/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0A1B5D5-9B99-4C35-A422-299274C87663}" styleName="보통 스타일 1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어두운 스타일 2 - 강조 3/강조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505E3EF-67EA-436B-97B2-0124C06EBD24}" styleName="보통 스타일 4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010" autoAdjust="0"/>
    <p:restoredTop sz="96391" autoAdjust="0"/>
  </p:normalViewPr>
  <p:slideViewPr>
    <p:cSldViewPr>
      <p:cViewPr varScale="1">
        <p:scale>
          <a:sx n="111" d="100"/>
          <a:sy n="111" d="100"/>
        </p:scale>
        <p:origin x="1962" y="114"/>
      </p:cViewPr>
      <p:guideLst>
        <p:guide orient="horz" pos="1281"/>
        <p:guide orient="horz" pos="1830"/>
        <p:guide orient="horz" pos="2616"/>
        <p:guide pos="3511"/>
        <p:guide pos="335"/>
        <p:guide pos="4447"/>
        <p:guide pos="6067"/>
        <p:guide pos="2269"/>
        <p:guide pos="5805"/>
        <p:guide pos="4069"/>
        <p:guide pos="344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35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2"/>
            <a:ext cx="4301086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7" rIns="91436" bIns="45717" numCol="1" anchor="t" anchorCtr="0" compatLnSpc="1">
            <a:prstTxWarp prst="textNoShape">
              <a:avLst/>
            </a:prstTxWarp>
          </a:bodyPr>
          <a:lstStyle>
            <a:lvl1pPr algn="l" defTabSz="904158" latinLnBrk="0">
              <a:defRPr kumimoji="0" sz="1200" b="0" smtClean="0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>
              <a:latin typeface="나눔고딕" panose="020D0604000000000000" pitchFamily="50" charset="-127"/>
            </a:endParaRPr>
          </a:p>
        </p:txBody>
      </p:sp>
      <p:sp>
        <p:nvSpPr>
          <p:cNvPr id="3686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23262" y="2"/>
            <a:ext cx="4301086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7" rIns="91436" bIns="45717" numCol="1" anchor="t" anchorCtr="0" compatLnSpc="1">
            <a:prstTxWarp prst="textNoShape">
              <a:avLst/>
            </a:prstTxWarp>
          </a:bodyPr>
          <a:lstStyle>
            <a:lvl1pPr algn="r" defTabSz="904158" latinLnBrk="0">
              <a:defRPr kumimoji="0" sz="1200" b="0" smtClean="0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>
              <a:latin typeface="나눔고딕" panose="020D0604000000000000" pitchFamily="50" charset="-127"/>
            </a:endParaRPr>
          </a:p>
        </p:txBody>
      </p:sp>
      <p:sp>
        <p:nvSpPr>
          <p:cNvPr id="3686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6456714"/>
            <a:ext cx="4301086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7" rIns="91436" bIns="45717" numCol="1" anchor="b" anchorCtr="0" compatLnSpc="1">
            <a:prstTxWarp prst="textNoShape">
              <a:avLst/>
            </a:prstTxWarp>
          </a:bodyPr>
          <a:lstStyle>
            <a:lvl1pPr algn="l" defTabSz="904158" latinLnBrk="0">
              <a:defRPr kumimoji="0" sz="1200" b="0" smtClean="0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>
              <a:latin typeface="나눔고딕" panose="020D0604000000000000" pitchFamily="50" charset="-127"/>
            </a:endParaRPr>
          </a:p>
        </p:txBody>
      </p:sp>
      <p:sp>
        <p:nvSpPr>
          <p:cNvPr id="3686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23262" y="6456714"/>
            <a:ext cx="4301086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7" rIns="91436" bIns="45717" numCol="1" anchor="b" anchorCtr="0" compatLnSpc="1">
            <a:prstTxWarp prst="textNoShape">
              <a:avLst/>
            </a:prstTxWarp>
          </a:bodyPr>
          <a:lstStyle>
            <a:lvl1pPr algn="r" defTabSz="904158" latinLnBrk="0">
              <a:defRPr kumimoji="0" sz="1200" b="0" smtClean="0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1pPr>
          </a:lstStyle>
          <a:p>
            <a:pPr>
              <a:defRPr/>
            </a:pPr>
            <a:fld id="{958A078C-E9DF-4D7D-AA65-6B185DB752DA}" type="slidenum">
              <a:rPr lang="ko-KR" altLang="en-US">
                <a:latin typeface="나눔고딕" panose="020D0604000000000000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768710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2"/>
            <a:ext cx="4301086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7" rIns="91436" bIns="45717" numCol="1" anchor="t" anchorCtr="0" compatLnSpc="1">
            <a:prstTxWarp prst="textNoShape">
              <a:avLst/>
            </a:prstTxWarp>
          </a:bodyPr>
          <a:lstStyle>
            <a:lvl1pPr algn="l" defTabSz="904158" latinLnBrk="0">
              <a:defRPr kumimoji="0" sz="1200" b="0" smtClean="0">
                <a:solidFill>
                  <a:schemeClr val="tx1"/>
                </a:solidFill>
                <a:latin typeface="나눔고딕" panose="020D0604000000000000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23262" y="2"/>
            <a:ext cx="4301086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7" rIns="91436" bIns="45717" numCol="1" anchor="t" anchorCtr="0" compatLnSpc="1">
            <a:prstTxWarp prst="textNoShape">
              <a:avLst/>
            </a:prstTxWarp>
          </a:bodyPr>
          <a:lstStyle>
            <a:lvl1pPr algn="r" defTabSz="904158" latinLnBrk="0">
              <a:defRPr kumimoji="0" sz="1200" b="0" smtClean="0">
                <a:solidFill>
                  <a:schemeClr val="tx1"/>
                </a:solidFill>
                <a:latin typeface="나눔고딕" panose="020D0604000000000000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792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124200" y="509588"/>
            <a:ext cx="3679825" cy="254793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75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4499" y="3228357"/>
            <a:ext cx="7937644" cy="3060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7" rIns="91436" bIns="4571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 dirty="0"/>
              <a:t>Click to edit Master text styles</a:t>
            </a:r>
          </a:p>
          <a:p>
            <a:pPr lvl="1"/>
            <a:r>
              <a:rPr lang="en-US" altLang="ko-KR" noProof="0" dirty="0"/>
              <a:t>Second level</a:t>
            </a:r>
          </a:p>
          <a:p>
            <a:pPr lvl="2"/>
            <a:r>
              <a:rPr lang="en-US" altLang="ko-KR" noProof="0" dirty="0"/>
              <a:t>Third level</a:t>
            </a:r>
          </a:p>
          <a:p>
            <a:pPr lvl="3"/>
            <a:r>
              <a:rPr lang="en-US" altLang="ko-KR" noProof="0" dirty="0"/>
              <a:t>Fourth level</a:t>
            </a:r>
          </a:p>
          <a:p>
            <a:pPr lvl="4"/>
            <a:r>
              <a:rPr lang="en-US" altLang="ko-KR" noProof="0" dirty="0"/>
              <a:t>Fifth level</a:t>
            </a:r>
          </a:p>
        </p:txBody>
      </p:sp>
      <p:sp>
        <p:nvSpPr>
          <p:cNvPr id="675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6456714"/>
            <a:ext cx="4301086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7" rIns="91436" bIns="45717" numCol="1" anchor="b" anchorCtr="0" compatLnSpc="1">
            <a:prstTxWarp prst="textNoShape">
              <a:avLst/>
            </a:prstTxWarp>
          </a:bodyPr>
          <a:lstStyle>
            <a:lvl1pPr algn="l" defTabSz="904158" latinLnBrk="0">
              <a:defRPr kumimoji="0" sz="1200" b="0" smtClean="0">
                <a:solidFill>
                  <a:schemeClr val="tx1"/>
                </a:solidFill>
                <a:latin typeface="나눔고딕" panose="020D0604000000000000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75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3262" y="6456714"/>
            <a:ext cx="4301086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7" rIns="91436" bIns="45717" numCol="1" anchor="b" anchorCtr="0" compatLnSpc="1">
            <a:prstTxWarp prst="textNoShape">
              <a:avLst/>
            </a:prstTxWarp>
          </a:bodyPr>
          <a:lstStyle>
            <a:lvl1pPr algn="r" defTabSz="904158" latinLnBrk="0">
              <a:defRPr kumimoji="0" sz="1200" b="0" smtClean="0">
                <a:solidFill>
                  <a:schemeClr val="tx1"/>
                </a:solidFill>
                <a:latin typeface="나눔고딕" panose="020D0604000000000000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E1EB2694-E1AF-4855-92FC-08368CF64987}" type="slidenum">
              <a:rPr lang="ko-KR" altLang="en-US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20955697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1pPr>
    <a:lvl2pPr marL="548640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2pPr>
    <a:lvl3pPr marL="1097280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3pPr>
    <a:lvl4pPr marL="1645920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4pPr>
    <a:lvl5pPr marL="2194560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5pPr>
    <a:lvl6pPr marL="2743200" algn="l" defTabSz="1097280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291840" algn="l" defTabSz="1097280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840480" algn="l" defTabSz="1097280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389120" algn="l" defTabSz="1097280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124200" y="509588"/>
            <a:ext cx="3679825" cy="254793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1EB2694-E1AF-4855-92FC-08368CF64987}" type="slidenum">
              <a:rPr lang="ko-KR" altLang="en-US" smtClean="0"/>
              <a:pPr>
                <a:defRPr/>
              </a:pPr>
              <a:t>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517814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1099">
            <a:extLst>
              <a:ext uri="{FF2B5EF4-FFF2-40B4-BE49-F238E27FC236}">
                <a16:creationId xmlns:a16="http://schemas.microsoft.com/office/drawing/2014/main" id="{6F6EA833-4CCB-DDB7-25E2-F1E4EF28D16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636" y="6644475"/>
            <a:ext cx="9892732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fld id="{3BD61D90-F798-4BAC-AFEE-3BFFDAD41B14}" type="slidenum">
              <a:rPr lang="en-US" altLang="ko-KR" sz="9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pPr algn="ctr" eaLnBrk="1" hangingPunct="1">
                <a:spcBef>
                  <a:spcPct val="50000"/>
                </a:spcBef>
                <a:defRPr/>
              </a:pPr>
              <a:t>‹#›</a:t>
            </a:fld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-</a:t>
            </a:r>
          </a:p>
        </p:txBody>
      </p:sp>
      <p:pic>
        <p:nvPicPr>
          <p:cNvPr id="4" name="table">
            <a:extLst>
              <a:ext uri="{FF2B5EF4-FFF2-40B4-BE49-F238E27FC236}">
                <a16:creationId xmlns:a16="http://schemas.microsoft.com/office/drawing/2014/main" id="{795D1FFF-603E-488F-38AE-89B81130BE2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3" y="-10086"/>
            <a:ext cx="9905433" cy="664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616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07328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842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99" r:id="rId1"/>
    <p:sldLayoutId id="2147484703" r:id="rId2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53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5300">
          <a:solidFill>
            <a:schemeClr val="tx1"/>
          </a:solidFill>
          <a:latin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5300">
          <a:solidFill>
            <a:schemeClr val="tx1"/>
          </a:solidFill>
          <a:latin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5300">
          <a:solidFill>
            <a:schemeClr val="tx1"/>
          </a:solidFill>
          <a:latin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5300">
          <a:solidFill>
            <a:schemeClr val="tx1"/>
          </a:solidFill>
          <a:latin typeface="맑은 고딕" pitchFamily="50" charset="-127"/>
        </a:defRPr>
      </a:lvl5pPr>
      <a:lvl6pPr marL="548640" algn="ctr" rtl="0" fontAlgn="base" latinLnBrk="1">
        <a:spcBef>
          <a:spcPct val="0"/>
        </a:spcBef>
        <a:spcAft>
          <a:spcPct val="0"/>
        </a:spcAft>
        <a:defRPr sz="5300">
          <a:solidFill>
            <a:schemeClr val="tx1"/>
          </a:solidFill>
          <a:latin typeface="맑은 고딕" pitchFamily="50" charset="-127"/>
        </a:defRPr>
      </a:lvl6pPr>
      <a:lvl7pPr marL="1097280" algn="ctr" rtl="0" fontAlgn="base" latinLnBrk="1">
        <a:spcBef>
          <a:spcPct val="0"/>
        </a:spcBef>
        <a:spcAft>
          <a:spcPct val="0"/>
        </a:spcAft>
        <a:defRPr sz="5300">
          <a:solidFill>
            <a:schemeClr val="tx1"/>
          </a:solidFill>
          <a:latin typeface="맑은 고딕" pitchFamily="50" charset="-127"/>
        </a:defRPr>
      </a:lvl7pPr>
      <a:lvl8pPr marL="1645920" algn="ctr" rtl="0" fontAlgn="base" latinLnBrk="1">
        <a:spcBef>
          <a:spcPct val="0"/>
        </a:spcBef>
        <a:spcAft>
          <a:spcPct val="0"/>
        </a:spcAft>
        <a:defRPr sz="5300">
          <a:solidFill>
            <a:schemeClr val="tx1"/>
          </a:solidFill>
          <a:latin typeface="맑은 고딕" pitchFamily="50" charset="-127"/>
        </a:defRPr>
      </a:lvl8pPr>
      <a:lvl9pPr marL="2194560" algn="ctr" rtl="0" fontAlgn="base" latinLnBrk="1">
        <a:spcBef>
          <a:spcPct val="0"/>
        </a:spcBef>
        <a:spcAft>
          <a:spcPct val="0"/>
        </a:spcAft>
        <a:defRPr sz="5300">
          <a:solidFill>
            <a:schemeClr val="tx1"/>
          </a:solidFill>
          <a:latin typeface="맑은 고딕" pitchFamily="50" charset="-127"/>
        </a:defRPr>
      </a:lvl9pPr>
    </p:titleStyle>
    <p:bodyStyle>
      <a:lvl1pPr marL="411480" indent="-41148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800" kern="1200">
          <a:solidFill>
            <a:schemeClr val="tx1"/>
          </a:solidFill>
          <a:latin typeface="+mn-lt"/>
          <a:ea typeface="+mn-ea"/>
          <a:cs typeface="+mn-cs"/>
        </a:defRPr>
      </a:lvl1pPr>
      <a:lvl2pPr marL="89154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34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097280" rtl="0" eaLnBrk="1" latinLnBrk="1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1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1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1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1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1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1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1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1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oup 135">
            <a:extLst>
              <a:ext uri="{FF2B5EF4-FFF2-40B4-BE49-F238E27FC236}">
                <a16:creationId xmlns:a16="http://schemas.microsoft.com/office/drawing/2014/main" id="{D0EE3C01-C659-42AF-B0F2-154A453489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6593908"/>
              </p:ext>
            </p:extLst>
          </p:nvPr>
        </p:nvGraphicFramePr>
        <p:xfrm>
          <a:off x="896550" y="5060591"/>
          <a:ext cx="8071982" cy="1068709"/>
        </p:xfrm>
        <a:graphic>
          <a:graphicData uri="http://schemas.openxmlformats.org/drawingml/2006/table">
            <a:tbl>
              <a:tblPr/>
              <a:tblGrid>
                <a:gridCol w="17521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32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51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513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7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 성 자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  희  성</a:t>
                      </a:r>
                      <a:endParaRPr kumimoji="0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 자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2026. 6. 10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6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검 토 자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 자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23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승 인 자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 자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제목 6">
            <a:extLst>
              <a:ext uri="{FF2B5EF4-FFF2-40B4-BE49-F238E27FC236}">
                <a16:creationId xmlns:a16="http://schemas.microsoft.com/office/drawing/2014/main" id="{5586BA84-0607-EFC8-2890-2A14340D8C01}"/>
              </a:ext>
            </a:extLst>
          </p:cNvPr>
          <p:cNvSpPr>
            <a:spLocks noGrp="1"/>
          </p:cNvSpPr>
          <p:nvPr/>
        </p:nvSpPr>
        <p:spPr bwMode="auto">
          <a:xfrm>
            <a:off x="2576736" y="1198979"/>
            <a:ext cx="6401707" cy="7088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 eaLnBrk="1" fontAlgn="auto" hangingPunct="1">
              <a:spcAft>
                <a:spcPts val="0"/>
              </a:spcAft>
              <a:defRPr/>
            </a:pPr>
            <a:r>
              <a:rPr lang="ko-KR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화면설계서</a:t>
            </a:r>
            <a:r>
              <a:rPr lang="en-US" altLang="ko-KR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sz="2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제목 6">
            <a:extLst>
              <a:ext uri="{FF2B5EF4-FFF2-40B4-BE49-F238E27FC236}">
                <a16:creationId xmlns:a16="http://schemas.microsoft.com/office/drawing/2014/main" id="{EA83B9F2-E3C0-B884-4551-ECFDC8AD04B1}"/>
              </a:ext>
            </a:extLst>
          </p:cNvPr>
          <p:cNvSpPr txBox="1">
            <a:spLocks/>
          </p:cNvSpPr>
          <p:nvPr/>
        </p:nvSpPr>
        <p:spPr bwMode="auto">
          <a:xfrm>
            <a:off x="3120491" y="1914815"/>
            <a:ext cx="5857953" cy="5158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lvl="0" algn="r" fontAlgn="auto" latinLnBrk="0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pP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06. 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</a:t>
            </a:r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5" name="Group 134">
            <a:extLst>
              <a:ext uri="{FF2B5EF4-FFF2-40B4-BE49-F238E27FC236}">
                <a16:creationId xmlns:a16="http://schemas.microsoft.com/office/drawing/2014/main" id="{21DC28CE-9A0A-8D52-E0A2-BBFE4CAB1F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2653431"/>
              </p:ext>
            </p:extLst>
          </p:nvPr>
        </p:nvGraphicFramePr>
        <p:xfrm>
          <a:off x="884548" y="4196495"/>
          <a:ext cx="8083984" cy="623413"/>
        </p:xfrm>
        <a:graphic>
          <a:graphicData uri="http://schemas.openxmlformats.org/drawingml/2006/table">
            <a:tbl>
              <a:tblPr/>
              <a:tblGrid>
                <a:gridCol w="17678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161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4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문서번호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KEPCOES-DE-004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프로젝트명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켑코이에스</a:t>
                      </a: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전산시스템</a:t>
                      </a: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(PMS·SRM) </a:t>
                      </a: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재구축 용역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텍스트 개체 틀 7">
            <a:extLst>
              <a:ext uri="{FF2B5EF4-FFF2-40B4-BE49-F238E27FC236}">
                <a16:creationId xmlns:a16="http://schemas.microsoft.com/office/drawing/2014/main" id="{487365A5-672A-A325-330C-5A5147263190}"/>
              </a:ext>
            </a:extLst>
          </p:cNvPr>
          <p:cNvSpPr>
            <a:spLocks noGrp="1"/>
          </p:cNvSpPr>
          <p:nvPr/>
        </p:nvSpPr>
        <p:spPr bwMode="auto">
          <a:xfrm>
            <a:off x="2590081" y="768744"/>
            <a:ext cx="6388363" cy="2472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 eaLnBrk="1" fontAlgn="auto" hangingPunct="1">
              <a:spcAft>
                <a:spcPts val="0"/>
              </a:spcAft>
              <a:defRPr/>
            </a:pPr>
            <a:endParaRPr lang="ko-KR" altLang="en-US" sz="15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7" name="Picture 1">
            <a:extLst>
              <a:ext uri="{FF2B5EF4-FFF2-40B4-BE49-F238E27FC236}">
                <a16:creationId xmlns:a16="http://schemas.microsoft.com/office/drawing/2014/main" id="{D8D9BF40-3AAA-996A-98C9-15586676FD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468" y="116632"/>
            <a:ext cx="1843484" cy="432048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58381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64B9AB45-3769-E1A9-6FDE-3F74DDE83B0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749224" y="25608"/>
            <a:ext cx="95410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메뉴구조도(SRM)</a:t>
            </a:r>
          </a:p>
        </p:txBody>
      </p:sp>
      <p:sp>
        <p:nvSpPr>
          <p:cNvPr id="3" name="Rectangle 32">
            <a:extLst>
              <a:ext uri="{FF2B5EF4-FFF2-40B4-BE49-F238E27FC236}">
                <a16:creationId xmlns:a16="http://schemas.microsoft.com/office/drawing/2014/main" id="{A88DECC5-3C2E-3094-A449-440B9AD797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6711"/>
            <a:ext cx="9906000" cy="6383897"/>
          </a:xfrm>
          <a:prstGeom prst="rect">
            <a:avLst/>
          </a:prstGeom>
          <a:solidFill>
            <a:schemeClr val="bg1"/>
          </a:solidFill>
          <a:ln w="3175" algn="ctr">
            <a:noFill/>
            <a:prstDash val="sysDash"/>
            <a:miter lim="800000"/>
            <a:headEnd/>
            <a:tailEnd/>
          </a:ln>
        </p:spPr>
        <p:txBody>
          <a:bodyPr wrap="none" tIns="108000" bIns="108000" anchor="b" anchorCtr="0"/>
          <a:lstStyle/>
          <a:p>
            <a:pPr algn="ctr"/>
            <a:endParaRPr lang="ko-KR" altLang="en-US" sz="1000" b="1" dirty="0">
              <a:solidFill>
                <a:prstClr val="black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" name="사각형: 둥근 모서리 107">
            <a:extLst>
              <a:ext uri="{FF2B5EF4-FFF2-40B4-BE49-F238E27FC236}">
                <a16:creationId xmlns:a16="http://schemas.microsoft.com/office/drawing/2014/main" id="{2756106C-5B0B-DBE9-7C86-3247285D0191}"/>
              </a:ext>
            </a:extLst>
          </p:cNvPr>
          <p:cNvSpPr/>
          <p:nvPr/>
        </p:nvSpPr>
        <p:spPr bwMode="auto">
          <a:xfrm>
            <a:off x="3992766" y="492348"/>
            <a:ext cx="1920468" cy="345789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36000" rIns="9144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b="1" i="0" u="none" strike="noStrike" kern="1200" cap="none" spc="-5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전자입찰시스템</a:t>
            </a:r>
            <a:r>
              <a:rPr kumimoji="1" lang="en-US" altLang="ko-KR" sz="1000" b="1" i="0" u="none" strike="noStrike" kern="1200" cap="none" spc="-5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(SRM)</a:t>
            </a:r>
            <a:endParaRPr kumimoji="1" lang="ko-KR" altLang="en-US" sz="1000" b="1" i="0" u="none" strike="noStrike" kern="1200" cap="none" spc="-5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cxnSp>
        <p:nvCxnSpPr>
          <p:cNvPr id="7" name="연결선: 꺾임 145">
            <a:extLst>
              <a:ext uri="{FF2B5EF4-FFF2-40B4-BE49-F238E27FC236}">
                <a16:creationId xmlns:a16="http://schemas.microsoft.com/office/drawing/2014/main" id="{055B4038-FB00-BB2D-29E7-CB39AA30581E}"/>
              </a:ext>
            </a:extLst>
          </p:cNvPr>
          <p:cNvCxnSpPr>
            <a:cxnSpLocks/>
            <a:stCxn id="5" idx="2"/>
            <a:endCxn id="95" idx="0"/>
          </p:cNvCxnSpPr>
          <p:nvPr/>
        </p:nvCxnSpPr>
        <p:spPr bwMode="auto">
          <a:xfrm rot="5400000">
            <a:off x="4409069" y="575186"/>
            <a:ext cx="280981" cy="806883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연결선: 꺾임 55">
            <a:extLst>
              <a:ext uri="{FF2B5EF4-FFF2-40B4-BE49-F238E27FC236}">
                <a16:creationId xmlns:a16="http://schemas.microsoft.com/office/drawing/2014/main" id="{61E1272A-265F-F840-4E25-03555EF7D500}"/>
              </a:ext>
            </a:extLst>
          </p:cNvPr>
          <p:cNvCxnSpPr>
            <a:cxnSpLocks/>
            <a:stCxn id="5" idx="2"/>
            <a:endCxn id="120" idx="0"/>
          </p:cNvCxnSpPr>
          <p:nvPr/>
        </p:nvCxnSpPr>
        <p:spPr bwMode="auto">
          <a:xfrm rot="16200000" flipH="1">
            <a:off x="6034311" y="-243175"/>
            <a:ext cx="280981" cy="2443603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" name="연결선: 꺾임 64">
            <a:extLst>
              <a:ext uri="{FF2B5EF4-FFF2-40B4-BE49-F238E27FC236}">
                <a16:creationId xmlns:a16="http://schemas.microsoft.com/office/drawing/2014/main" id="{9575E0FF-0D0C-8123-2CA2-67305D09EFE1}"/>
              </a:ext>
            </a:extLst>
          </p:cNvPr>
          <p:cNvCxnSpPr>
            <a:cxnSpLocks/>
            <a:stCxn id="5" idx="2"/>
            <a:endCxn id="146" idx="0"/>
          </p:cNvCxnSpPr>
          <p:nvPr/>
        </p:nvCxnSpPr>
        <p:spPr bwMode="auto">
          <a:xfrm rot="16200000" flipH="1">
            <a:off x="6846933" y="-1055797"/>
            <a:ext cx="280981" cy="4068847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연결선: 꺾임 145">
            <a:extLst>
              <a:ext uri="{FF2B5EF4-FFF2-40B4-BE49-F238E27FC236}">
                <a16:creationId xmlns:a16="http://schemas.microsoft.com/office/drawing/2014/main" id="{68A3D591-143A-A287-49A2-D247E0FC4B9A}"/>
              </a:ext>
            </a:extLst>
          </p:cNvPr>
          <p:cNvCxnSpPr>
            <a:cxnSpLocks/>
            <a:stCxn id="5" idx="2"/>
            <a:endCxn id="87" idx="0"/>
          </p:cNvCxnSpPr>
          <p:nvPr/>
        </p:nvCxnSpPr>
        <p:spPr bwMode="auto">
          <a:xfrm rot="5400000">
            <a:off x="3596447" y="-237436"/>
            <a:ext cx="280981" cy="2432126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" name="연결선: 꺾임 145">
            <a:extLst>
              <a:ext uri="{FF2B5EF4-FFF2-40B4-BE49-F238E27FC236}">
                <a16:creationId xmlns:a16="http://schemas.microsoft.com/office/drawing/2014/main" id="{A034744A-7FB4-89EA-9A03-77A446DA239E}"/>
              </a:ext>
            </a:extLst>
          </p:cNvPr>
          <p:cNvCxnSpPr>
            <a:cxnSpLocks/>
            <a:stCxn id="5" idx="2"/>
            <a:endCxn id="19" idx="0"/>
          </p:cNvCxnSpPr>
          <p:nvPr/>
        </p:nvCxnSpPr>
        <p:spPr bwMode="auto">
          <a:xfrm rot="5400000">
            <a:off x="2783826" y="-1050057"/>
            <a:ext cx="280981" cy="4057369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연결선: 꺾임 145">
            <a:extLst>
              <a:ext uri="{FF2B5EF4-FFF2-40B4-BE49-F238E27FC236}">
                <a16:creationId xmlns:a16="http://schemas.microsoft.com/office/drawing/2014/main" id="{5CE08FB6-4C52-2234-18BB-7BBE70621FC4}"/>
              </a:ext>
            </a:extLst>
          </p:cNvPr>
          <p:cNvCxnSpPr>
            <a:cxnSpLocks/>
            <a:stCxn id="5" idx="2"/>
            <a:endCxn id="103" idx="0"/>
          </p:cNvCxnSpPr>
          <p:nvPr/>
        </p:nvCxnSpPr>
        <p:spPr bwMode="auto">
          <a:xfrm rot="16200000" flipH="1">
            <a:off x="5221690" y="569447"/>
            <a:ext cx="280981" cy="818360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5031B6B-3138-9606-4556-72B8D9A3EFD9}"/>
              </a:ext>
            </a:extLst>
          </p:cNvPr>
          <p:cNvSpPr/>
          <p:nvPr/>
        </p:nvSpPr>
        <p:spPr>
          <a:xfrm>
            <a:off x="131466" y="1119118"/>
            <a:ext cx="1528329" cy="307303"/>
          </a:xfrm>
          <a:prstGeom prst="rect">
            <a:avLst/>
          </a:prstGeom>
          <a:solidFill>
            <a:srgbClr val="00B05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</a:t>
            </a:r>
            <a:r>
              <a:rPr kumimoji="0" lang="en-US" altLang="ko-KR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로그인 전</a:t>
            </a:r>
            <a:r>
              <a:rPr kumimoji="0" lang="en-US" altLang="ko-KR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355CEA5E-44EC-9B4C-CBF2-F282986821A5}"/>
              </a:ext>
            </a:extLst>
          </p:cNvPr>
          <p:cNvSpPr/>
          <p:nvPr/>
        </p:nvSpPr>
        <p:spPr>
          <a:xfrm>
            <a:off x="127630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신청 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ECE74225-2ADC-D85A-D8EC-DE91BDDB1B8A}"/>
              </a:ext>
            </a:extLst>
          </p:cNvPr>
          <p:cNvSpPr/>
          <p:nvPr/>
        </p:nvSpPr>
        <p:spPr>
          <a:xfrm>
            <a:off x="127630" y="1752720"/>
            <a:ext cx="1529252" cy="135728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72000" rIns="72000" rtlCol="0" anchor="ctr"/>
          <a:lstStyle/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Step#1 </a:t>
            </a: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약관 및 개인정보 수집 동의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Step#2 </a:t>
            </a: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기본 정보 입력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Step#3 </a:t>
            </a: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담당자 정보 입력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Step#4 </a:t>
            </a: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신청 정보 확인 및 제출 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Step#5 </a:t>
            </a: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협력업체 신청 완료</a:t>
            </a: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014F6B96-E775-D9A7-EA91-08EC3A32EC6E}"/>
              </a:ext>
            </a:extLst>
          </p:cNvPr>
          <p:cNvSpPr/>
          <p:nvPr/>
        </p:nvSpPr>
        <p:spPr>
          <a:xfrm>
            <a:off x="127630" y="3172738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아이디 찾기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A9921989-4B1D-CEEB-F694-E3DBDC758B0E}"/>
              </a:ext>
            </a:extLst>
          </p:cNvPr>
          <p:cNvSpPr/>
          <p:nvPr/>
        </p:nvSpPr>
        <p:spPr>
          <a:xfrm>
            <a:off x="127630" y="3483409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비밀번호 찾기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D7A3A18D-BBC4-326F-4F31-9B5CD06D0993}"/>
              </a:ext>
            </a:extLst>
          </p:cNvPr>
          <p:cNvSpPr/>
          <p:nvPr/>
        </p:nvSpPr>
        <p:spPr>
          <a:xfrm>
            <a:off x="127630" y="3794080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입찰공고 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3A9A84AB-E38C-E88E-BD5D-FA4B7A6AA513}"/>
              </a:ext>
            </a:extLst>
          </p:cNvPr>
          <p:cNvSpPr/>
          <p:nvPr/>
        </p:nvSpPr>
        <p:spPr>
          <a:xfrm>
            <a:off x="127630" y="4104751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이용 매뉴얼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739AC54A-4603-1A06-B470-F5CE35B93081}"/>
              </a:ext>
            </a:extLst>
          </p:cNvPr>
          <p:cNvSpPr/>
          <p:nvPr/>
        </p:nvSpPr>
        <p:spPr>
          <a:xfrm>
            <a:off x="1756709" y="1119118"/>
            <a:ext cx="1528329" cy="307303"/>
          </a:xfrm>
          <a:prstGeom prst="rect">
            <a:avLst/>
          </a:prstGeom>
          <a:solidFill>
            <a:srgbClr val="00B05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</a:t>
            </a:r>
            <a:r>
              <a:rPr kumimoji="0" lang="en-US" altLang="ko-KR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로그인 후</a:t>
            </a:r>
            <a:r>
              <a:rPr kumimoji="0" lang="en-US" altLang="ko-KR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1D1F3630-EED3-9948-BDC0-83051E91F895}"/>
              </a:ext>
            </a:extLst>
          </p:cNvPr>
          <p:cNvSpPr/>
          <p:nvPr/>
        </p:nvSpPr>
        <p:spPr>
          <a:xfrm>
            <a:off x="1752873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대시보드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1A725966-D3AC-ED98-1744-D5B07887B1F1}"/>
              </a:ext>
            </a:extLst>
          </p:cNvPr>
          <p:cNvSpPr/>
          <p:nvPr/>
        </p:nvSpPr>
        <p:spPr>
          <a:xfrm>
            <a:off x="1752873" y="3047375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요청 현황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3417B091-2877-C651-F82B-9AB10534A006}"/>
              </a:ext>
            </a:extLst>
          </p:cNvPr>
          <p:cNvSpPr/>
          <p:nvPr/>
        </p:nvSpPr>
        <p:spPr>
          <a:xfrm>
            <a:off x="1752873" y="5226932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정보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11C47DCA-0266-33B0-A559-21AA9E3FDAA2}"/>
              </a:ext>
            </a:extLst>
          </p:cNvPr>
          <p:cNvSpPr/>
          <p:nvPr/>
        </p:nvSpPr>
        <p:spPr>
          <a:xfrm>
            <a:off x="3381952" y="1119118"/>
            <a:ext cx="1528329" cy="307303"/>
          </a:xfrm>
          <a:prstGeom prst="rect">
            <a:avLst/>
          </a:prstGeom>
          <a:solidFill>
            <a:srgbClr val="0070C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대시보드 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E4A7083E-BF4B-F446-EBE7-B899895ECDB9}"/>
              </a:ext>
            </a:extLst>
          </p:cNvPr>
          <p:cNvSpPr/>
          <p:nvPr/>
        </p:nvSpPr>
        <p:spPr>
          <a:xfrm>
            <a:off x="3378116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대시보드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1D228922-9D76-9C43-A75D-90F2B3ED8E45}"/>
              </a:ext>
            </a:extLst>
          </p:cNvPr>
          <p:cNvSpPr/>
          <p:nvPr/>
        </p:nvSpPr>
        <p:spPr>
          <a:xfrm>
            <a:off x="5007195" y="1119118"/>
            <a:ext cx="1528329" cy="307303"/>
          </a:xfrm>
          <a:prstGeom prst="rect">
            <a:avLst/>
          </a:prstGeom>
          <a:solidFill>
            <a:srgbClr val="0070C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관리 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CF2EA9CB-6E24-E53F-E5A6-C94809CB3D2C}"/>
              </a:ext>
            </a:extLst>
          </p:cNvPr>
          <p:cNvSpPr/>
          <p:nvPr/>
        </p:nvSpPr>
        <p:spPr>
          <a:xfrm>
            <a:off x="5003359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요청 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DE8FBC8F-623F-FFE5-65E3-A25E8E96ED59}"/>
              </a:ext>
            </a:extLst>
          </p:cNvPr>
          <p:cNvSpPr/>
          <p:nvPr/>
        </p:nvSpPr>
        <p:spPr>
          <a:xfrm>
            <a:off x="5003359" y="1803279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요청 현황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441233F4-F260-522C-0AA4-9C626EAEB198}"/>
              </a:ext>
            </a:extLst>
          </p:cNvPr>
          <p:cNvSpPr/>
          <p:nvPr/>
        </p:nvSpPr>
        <p:spPr>
          <a:xfrm>
            <a:off x="6632438" y="1119118"/>
            <a:ext cx="1528329" cy="307303"/>
          </a:xfrm>
          <a:prstGeom prst="rect">
            <a:avLst/>
          </a:prstGeom>
          <a:solidFill>
            <a:srgbClr val="0070C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52691882-9F04-AAF6-027E-2875611F6CD3}"/>
              </a:ext>
            </a:extLst>
          </p:cNvPr>
          <p:cNvSpPr/>
          <p:nvPr/>
        </p:nvSpPr>
        <p:spPr>
          <a:xfrm>
            <a:off x="8257682" y="1119118"/>
            <a:ext cx="1528329" cy="307303"/>
          </a:xfrm>
          <a:prstGeom prst="rect">
            <a:avLst/>
          </a:prstGeom>
          <a:solidFill>
            <a:srgbClr val="0070C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112DC2C2-E43C-3766-CB42-FA1259397C91}"/>
              </a:ext>
            </a:extLst>
          </p:cNvPr>
          <p:cNvSpPr/>
          <p:nvPr/>
        </p:nvSpPr>
        <p:spPr>
          <a:xfrm>
            <a:off x="1752873" y="180539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공지사항 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5" name="직사각형 164">
            <a:extLst>
              <a:ext uri="{FF2B5EF4-FFF2-40B4-BE49-F238E27FC236}">
                <a16:creationId xmlns:a16="http://schemas.microsoft.com/office/drawing/2014/main" id="{830CFC53-CFBF-4247-9FDC-CDDBDE6092A6}"/>
              </a:ext>
            </a:extLst>
          </p:cNvPr>
          <p:cNvSpPr/>
          <p:nvPr/>
        </p:nvSpPr>
        <p:spPr>
          <a:xfrm>
            <a:off x="1752873" y="2116065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질문과 답변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6" name="직사각형 165">
            <a:extLst>
              <a:ext uri="{FF2B5EF4-FFF2-40B4-BE49-F238E27FC236}">
                <a16:creationId xmlns:a16="http://schemas.microsoft.com/office/drawing/2014/main" id="{17D7D566-4D8F-3660-682E-B2E27CA62F20}"/>
              </a:ext>
            </a:extLst>
          </p:cNvPr>
          <p:cNvSpPr/>
          <p:nvPr/>
        </p:nvSpPr>
        <p:spPr>
          <a:xfrm>
            <a:off x="1752873" y="2426736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7" name="직사각형 166">
            <a:extLst>
              <a:ext uri="{FF2B5EF4-FFF2-40B4-BE49-F238E27FC236}">
                <a16:creationId xmlns:a16="http://schemas.microsoft.com/office/drawing/2014/main" id="{D5365FA3-56EC-7C58-22E2-1979348C1B97}"/>
              </a:ext>
            </a:extLst>
          </p:cNvPr>
          <p:cNvSpPr/>
          <p:nvPr/>
        </p:nvSpPr>
        <p:spPr>
          <a:xfrm>
            <a:off x="1752873" y="2737407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8" name="직사각형 167">
            <a:extLst>
              <a:ext uri="{FF2B5EF4-FFF2-40B4-BE49-F238E27FC236}">
                <a16:creationId xmlns:a16="http://schemas.microsoft.com/office/drawing/2014/main" id="{E860D680-4B09-482D-4A6E-1C803CFA44A5}"/>
              </a:ext>
            </a:extLst>
          </p:cNvPr>
          <p:cNvSpPr/>
          <p:nvPr/>
        </p:nvSpPr>
        <p:spPr>
          <a:xfrm>
            <a:off x="1748146" y="3298876"/>
            <a:ext cx="1529252" cy="47946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72000" rIns="72000" rtlCol="0" anchor="ctr"/>
          <a:lstStyle/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공고 정보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견적 제출 현황</a:t>
            </a:r>
          </a:p>
        </p:txBody>
      </p:sp>
      <p:sp>
        <p:nvSpPr>
          <p:cNvPr id="170" name="직사각형 169">
            <a:extLst>
              <a:ext uri="{FF2B5EF4-FFF2-40B4-BE49-F238E27FC236}">
                <a16:creationId xmlns:a16="http://schemas.microsoft.com/office/drawing/2014/main" id="{D2D1ED4E-E5E8-961F-16DB-A0639EBB2950}"/>
              </a:ext>
            </a:extLst>
          </p:cNvPr>
          <p:cNvSpPr/>
          <p:nvPr/>
        </p:nvSpPr>
        <p:spPr>
          <a:xfrm>
            <a:off x="1752873" y="3835263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 현황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1" name="직사각형 170">
            <a:extLst>
              <a:ext uri="{FF2B5EF4-FFF2-40B4-BE49-F238E27FC236}">
                <a16:creationId xmlns:a16="http://schemas.microsoft.com/office/drawing/2014/main" id="{4245DF07-F90F-F9AE-165D-E01F074E18A7}"/>
              </a:ext>
            </a:extLst>
          </p:cNvPr>
          <p:cNvSpPr/>
          <p:nvPr/>
        </p:nvSpPr>
        <p:spPr>
          <a:xfrm>
            <a:off x="1748146" y="4087538"/>
            <a:ext cx="1529252" cy="108247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72000" rIns="72000" rtlCol="0" anchor="ctr"/>
          <a:lstStyle/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입찰공고 정보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입찰 서류 제출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가격 </a:t>
            </a:r>
            <a:r>
              <a:rPr kumimoji="0" lang="ko-KR" altLang="en-US" sz="900" b="0" i="0" u="none" strike="noStrike" kern="0" cap="none" spc="-50" normalizeH="0" noProof="0" dirty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투찰</a:t>
            </a:r>
            <a:endParaRPr kumimoji="0" lang="ko-KR" altLang="en-US" sz="900" b="0" i="0" u="none" strike="noStrike" kern="0" cap="none" spc="-50" normalizeH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입찰 결과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수의시담</a:t>
            </a:r>
            <a:endParaRPr kumimoji="0" lang="ko-KR" altLang="en-US" sz="900" b="0" i="0" u="none" strike="noStrike" kern="0" cap="none" spc="-50" normalizeH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174" name="직사각형 173">
            <a:extLst>
              <a:ext uri="{FF2B5EF4-FFF2-40B4-BE49-F238E27FC236}">
                <a16:creationId xmlns:a16="http://schemas.microsoft.com/office/drawing/2014/main" id="{6B371C43-7645-8F36-DB9B-858941ECB04D}"/>
              </a:ext>
            </a:extLst>
          </p:cNvPr>
          <p:cNvSpPr/>
          <p:nvPr/>
        </p:nvSpPr>
        <p:spPr>
          <a:xfrm>
            <a:off x="1748146" y="5478634"/>
            <a:ext cx="1529252" cy="89706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72000" rIns="72000" rtlCol="0" anchor="ctr"/>
          <a:lstStyle/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협력업체 정보 확인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기본 정보 수정 요청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담당자 정보 추가</a:t>
            </a:r>
            <a:r>
              <a:rPr kumimoji="0" lang="en-US" altLang="ko-KR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/</a:t>
            </a: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수정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비밀번호 변경 </a:t>
            </a:r>
          </a:p>
        </p:txBody>
      </p:sp>
      <p:sp>
        <p:nvSpPr>
          <p:cNvPr id="177" name="직사각형 176">
            <a:extLst>
              <a:ext uri="{FF2B5EF4-FFF2-40B4-BE49-F238E27FC236}">
                <a16:creationId xmlns:a16="http://schemas.microsoft.com/office/drawing/2014/main" id="{3F95A057-C9BA-CA97-1281-8B6D7A02DB0F}"/>
              </a:ext>
            </a:extLst>
          </p:cNvPr>
          <p:cNvSpPr/>
          <p:nvPr/>
        </p:nvSpPr>
        <p:spPr>
          <a:xfrm>
            <a:off x="3378116" y="1803279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공지사항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8" name="직사각형 177">
            <a:extLst>
              <a:ext uri="{FF2B5EF4-FFF2-40B4-BE49-F238E27FC236}">
                <a16:creationId xmlns:a16="http://schemas.microsoft.com/office/drawing/2014/main" id="{D4C62549-217A-BAC2-E336-61018857F975}"/>
              </a:ext>
            </a:extLst>
          </p:cNvPr>
          <p:cNvSpPr/>
          <p:nvPr/>
        </p:nvSpPr>
        <p:spPr>
          <a:xfrm>
            <a:off x="3378116" y="2113950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1" name="직사각형 180">
            <a:extLst>
              <a:ext uri="{FF2B5EF4-FFF2-40B4-BE49-F238E27FC236}">
                <a16:creationId xmlns:a16="http://schemas.microsoft.com/office/drawing/2014/main" id="{9B25D357-AF3A-B49F-C5A2-C2FACBFBEA76}"/>
              </a:ext>
            </a:extLst>
          </p:cNvPr>
          <p:cNvSpPr/>
          <p:nvPr/>
        </p:nvSpPr>
        <p:spPr>
          <a:xfrm>
            <a:off x="5007258" y="2051768"/>
            <a:ext cx="1529252" cy="47946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72000" rIns="72000" rtlCol="0" anchor="ctr"/>
          <a:lstStyle/>
          <a:p>
            <a:pPr marL="72000" lvl="0" indent="-72000" algn="l" fontAlgn="auto" latinLnBrk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/>
            </a:pPr>
            <a:r>
              <a:rPr kumimoji="0" lang="ko-KR" altLang="en-US" sz="900" b="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요청 내역</a:t>
            </a:r>
            <a:endParaRPr kumimoji="0" lang="en-US" altLang="ko-KR" sz="900" b="0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lvl="0" indent="-72000" algn="l" fontAlgn="auto" latinLnBrk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/>
            </a:pPr>
            <a:r>
              <a:rPr kumimoji="0" lang="ko-KR" altLang="en-US" sz="900" b="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제출 현황</a:t>
            </a:r>
            <a:endParaRPr kumimoji="0" lang="ko-KR" altLang="en-US" sz="900" b="0" i="0" u="none" strike="noStrike" kern="0" cap="none" spc="-50" normalizeH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182" name="직사각형 181">
            <a:extLst>
              <a:ext uri="{FF2B5EF4-FFF2-40B4-BE49-F238E27FC236}">
                <a16:creationId xmlns:a16="http://schemas.microsoft.com/office/drawing/2014/main" id="{A62B9392-E5D6-E416-8709-B2166C5E1489}"/>
              </a:ext>
            </a:extLst>
          </p:cNvPr>
          <p:cNvSpPr/>
          <p:nvPr/>
        </p:nvSpPr>
        <p:spPr>
          <a:xfrm>
            <a:off x="6634000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3" name="직사각형 182">
            <a:extLst>
              <a:ext uri="{FF2B5EF4-FFF2-40B4-BE49-F238E27FC236}">
                <a16:creationId xmlns:a16="http://schemas.microsoft.com/office/drawing/2014/main" id="{E9EDD3AC-F2A8-4B60-25A4-3F90A97B4728}"/>
              </a:ext>
            </a:extLst>
          </p:cNvPr>
          <p:cNvSpPr/>
          <p:nvPr/>
        </p:nvSpPr>
        <p:spPr>
          <a:xfrm>
            <a:off x="6634000" y="1803279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 현황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4" name="직사각형 183">
            <a:extLst>
              <a:ext uri="{FF2B5EF4-FFF2-40B4-BE49-F238E27FC236}">
                <a16:creationId xmlns:a16="http://schemas.microsoft.com/office/drawing/2014/main" id="{99096261-758C-262E-CB8F-39B4ED0BDDEC}"/>
              </a:ext>
            </a:extLst>
          </p:cNvPr>
          <p:cNvSpPr/>
          <p:nvPr/>
        </p:nvSpPr>
        <p:spPr>
          <a:xfrm>
            <a:off x="8257682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요청접수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5" name="직사각형 184">
            <a:extLst>
              <a:ext uri="{FF2B5EF4-FFF2-40B4-BE49-F238E27FC236}">
                <a16:creationId xmlns:a16="http://schemas.microsoft.com/office/drawing/2014/main" id="{6F3A8D0B-D007-7D31-A6AD-FF7401B42457}"/>
              </a:ext>
            </a:extLst>
          </p:cNvPr>
          <p:cNvSpPr/>
          <p:nvPr/>
        </p:nvSpPr>
        <p:spPr>
          <a:xfrm>
            <a:off x="8257682" y="1803279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 등록 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4880787-F92F-6C22-7E17-81595B771FDC}"/>
              </a:ext>
            </a:extLst>
          </p:cNvPr>
          <p:cNvSpPr/>
          <p:nvPr/>
        </p:nvSpPr>
        <p:spPr>
          <a:xfrm>
            <a:off x="8252285" y="1119117"/>
            <a:ext cx="1530610" cy="932651"/>
          </a:xfrm>
          <a:prstGeom prst="rect">
            <a:avLst/>
          </a:prstGeom>
          <a:solidFill>
            <a:srgbClr val="FFFF00">
              <a:alpha val="10196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5482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91B9B-3627-4660-FD69-DDDF952EC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42DF35F6-D7C4-26BA-8F05-0B9D9F02A3C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89922C1-7B88-800B-3F9E-D702306A7BB8}"/>
              </a:ext>
            </a:extLst>
          </p:cNvPr>
          <p:cNvSpPr txBox="1"/>
          <p:nvPr/>
        </p:nvSpPr>
        <p:spPr>
          <a:xfrm>
            <a:off x="749224" y="25608"/>
            <a:ext cx="95410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메뉴구조도(SRM)</a:t>
            </a:r>
          </a:p>
        </p:txBody>
      </p:sp>
      <p:sp>
        <p:nvSpPr>
          <p:cNvPr id="3" name="Rectangle 32">
            <a:extLst>
              <a:ext uri="{FF2B5EF4-FFF2-40B4-BE49-F238E27FC236}">
                <a16:creationId xmlns:a16="http://schemas.microsoft.com/office/drawing/2014/main" id="{908743FB-77BF-B659-D73D-DE3273D988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6711"/>
            <a:ext cx="9906000" cy="6383897"/>
          </a:xfrm>
          <a:prstGeom prst="rect">
            <a:avLst/>
          </a:prstGeom>
          <a:solidFill>
            <a:schemeClr val="bg1"/>
          </a:solidFill>
          <a:ln w="3175" algn="ctr">
            <a:noFill/>
            <a:prstDash val="sysDash"/>
            <a:miter lim="800000"/>
            <a:headEnd/>
            <a:tailEnd/>
          </a:ln>
        </p:spPr>
        <p:txBody>
          <a:bodyPr wrap="none" tIns="108000" bIns="108000" anchor="b" anchorCtr="0"/>
          <a:lstStyle/>
          <a:p>
            <a:pPr algn="ctr"/>
            <a:endParaRPr lang="ko-KR" altLang="en-US" sz="1000" b="1" dirty="0">
              <a:solidFill>
                <a:prstClr val="black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" name="사각형: 둥근 모서리 107">
            <a:extLst>
              <a:ext uri="{FF2B5EF4-FFF2-40B4-BE49-F238E27FC236}">
                <a16:creationId xmlns:a16="http://schemas.microsoft.com/office/drawing/2014/main" id="{9C2DEE79-B178-032F-08AE-6E8A55918EBC}"/>
              </a:ext>
            </a:extLst>
          </p:cNvPr>
          <p:cNvSpPr/>
          <p:nvPr/>
        </p:nvSpPr>
        <p:spPr bwMode="auto">
          <a:xfrm>
            <a:off x="3992766" y="492348"/>
            <a:ext cx="1920468" cy="345789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36000" rIns="9144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b="1" i="0" u="none" strike="noStrike" kern="1200" cap="none" spc="-5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전자입찰시스템</a:t>
            </a:r>
            <a:r>
              <a:rPr kumimoji="1" lang="en-US" altLang="ko-KR" sz="1000" b="1" i="0" u="none" strike="noStrike" kern="1200" cap="none" spc="-5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(SRM)</a:t>
            </a:r>
            <a:endParaRPr kumimoji="1" lang="ko-KR" altLang="en-US" sz="1000" b="1" i="0" u="none" strike="noStrike" kern="1200" cap="none" spc="-5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cxnSp>
        <p:nvCxnSpPr>
          <p:cNvPr id="7" name="연결선: 꺾임 145">
            <a:extLst>
              <a:ext uri="{FF2B5EF4-FFF2-40B4-BE49-F238E27FC236}">
                <a16:creationId xmlns:a16="http://schemas.microsoft.com/office/drawing/2014/main" id="{BC877F39-7E19-0FA3-CCE6-CE146D79456D}"/>
              </a:ext>
            </a:extLst>
          </p:cNvPr>
          <p:cNvCxnSpPr>
            <a:cxnSpLocks/>
            <a:stCxn id="5" idx="2"/>
            <a:endCxn id="95" idx="0"/>
          </p:cNvCxnSpPr>
          <p:nvPr/>
        </p:nvCxnSpPr>
        <p:spPr bwMode="auto">
          <a:xfrm rot="16200000" flipH="1">
            <a:off x="5221690" y="569446"/>
            <a:ext cx="280981" cy="818361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연결선: 꺾임 55">
            <a:extLst>
              <a:ext uri="{FF2B5EF4-FFF2-40B4-BE49-F238E27FC236}">
                <a16:creationId xmlns:a16="http://schemas.microsoft.com/office/drawing/2014/main" id="{0C0A0657-D42F-87FC-DBD8-11DC547D8997}"/>
              </a:ext>
            </a:extLst>
          </p:cNvPr>
          <p:cNvCxnSpPr>
            <a:cxnSpLocks/>
            <a:stCxn id="5" idx="2"/>
            <a:endCxn id="120" idx="0"/>
          </p:cNvCxnSpPr>
          <p:nvPr/>
        </p:nvCxnSpPr>
        <p:spPr bwMode="auto">
          <a:xfrm rot="16200000" flipH="1">
            <a:off x="6846933" y="-1055797"/>
            <a:ext cx="280981" cy="4068847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" name="연결선: 꺾임 64">
            <a:extLst>
              <a:ext uri="{FF2B5EF4-FFF2-40B4-BE49-F238E27FC236}">
                <a16:creationId xmlns:a16="http://schemas.microsoft.com/office/drawing/2014/main" id="{83972492-5F8A-5CCF-7FE5-916E7ADF0F33}"/>
              </a:ext>
            </a:extLst>
          </p:cNvPr>
          <p:cNvCxnSpPr>
            <a:cxnSpLocks/>
            <a:stCxn id="5" idx="2"/>
          </p:cNvCxnSpPr>
          <p:nvPr/>
        </p:nvCxnSpPr>
        <p:spPr bwMode="auto">
          <a:xfrm rot="16200000" flipH="1">
            <a:off x="6846933" y="-1055797"/>
            <a:ext cx="280981" cy="4068847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연결선: 꺾임 145">
            <a:extLst>
              <a:ext uri="{FF2B5EF4-FFF2-40B4-BE49-F238E27FC236}">
                <a16:creationId xmlns:a16="http://schemas.microsoft.com/office/drawing/2014/main" id="{BF5E2CF1-F999-28CD-A7EF-155CC5267895}"/>
              </a:ext>
            </a:extLst>
          </p:cNvPr>
          <p:cNvCxnSpPr>
            <a:cxnSpLocks/>
            <a:stCxn id="5" idx="2"/>
            <a:endCxn id="87" idx="0"/>
          </p:cNvCxnSpPr>
          <p:nvPr/>
        </p:nvCxnSpPr>
        <p:spPr bwMode="auto">
          <a:xfrm rot="5400000">
            <a:off x="4409069" y="575186"/>
            <a:ext cx="280981" cy="806882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" name="연결선: 꺾임 145">
            <a:extLst>
              <a:ext uri="{FF2B5EF4-FFF2-40B4-BE49-F238E27FC236}">
                <a16:creationId xmlns:a16="http://schemas.microsoft.com/office/drawing/2014/main" id="{94B53BDD-C2D3-BEB6-A792-688AC056B9B3}"/>
              </a:ext>
            </a:extLst>
          </p:cNvPr>
          <p:cNvCxnSpPr>
            <a:cxnSpLocks/>
            <a:stCxn id="5" idx="2"/>
            <a:endCxn id="19" idx="0"/>
          </p:cNvCxnSpPr>
          <p:nvPr/>
        </p:nvCxnSpPr>
        <p:spPr bwMode="auto">
          <a:xfrm rot="5400000">
            <a:off x="3596448" y="-237435"/>
            <a:ext cx="280981" cy="2432125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연결선: 꺾임 145">
            <a:extLst>
              <a:ext uri="{FF2B5EF4-FFF2-40B4-BE49-F238E27FC236}">
                <a16:creationId xmlns:a16="http://schemas.microsoft.com/office/drawing/2014/main" id="{A34176ED-DA58-3416-CDF4-6784E404A8A1}"/>
              </a:ext>
            </a:extLst>
          </p:cNvPr>
          <p:cNvCxnSpPr>
            <a:cxnSpLocks/>
            <a:stCxn id="5" idx="2"/>
            <a:endCxn id="103" idx="0"/>
          </p:cNvCxnSpPr>
          <p:nvPr/>
        </p:nvCxnSpPr>
        <p:spPr bwMode="auto">
          <a:xfrm rot="16200000" flipH="1">
            <a:off x="6034312" y="-243175"/>
            <a:ext cx="280981" cy="2443604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0E9D2ED-CC67-D056-DCF9-97303DEB50B0}"/>
              </a:ext>
            </a:extLst>
          </p:cNvPr>
          <p:cNvSpPr/>
          <p:nvPr/>
        </p:nvSpPr>
        <p:spPr>
          <a:xfrm>
            <a:off x="1756710" y="1119118"/>
            <a:ext cx="1528329" cy="307303"/>
          </a:xfrm>
          <a:prstGeom prst="rect">
            <a:avLst/>
          </a:prstGeom>
          <a:solidFill>
            <a:srgbClr val="0070C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입찰관리 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CFED5BDF-1CA6-A1ED-480A-6DE8F9AC2586}"/>
              </a:ext>
            </a:extLst>
          </p:cNvPr>
          <p:cNvSpPr/>
          <p:nvPr/>
        </p:nvSpPr>
        <p:spPr>
          <a:xfrm>
            <a:off x="1752874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입찰계획 현황 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B2F96BB8-AF77-1518-D341-D94009650B98}"/>
              </a:ext>
            </a:extLst>
          </p:cNvPr>
          <p:cNvSpPr/>
          <p:nvPr/>
        </p:nvSpPr>
        <p:spPr>
          <a:xfrm>
            <a:off x="1752874" y="1802125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입찰공고</a:t>
            </a:r>
            <a:r>
              <a:rPr lang="en-US" altLang="ko-KR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현황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738BBF3F-CEF4-9113-67AD-859D7AFD446E}"/>
              </a:ext>
            </a:extLst>
          </p:cNvPr>
          <p:cNvSpPr/>
          <p:nvPr/>
        </p:nvSpPr>
        <p:spPr>
          <a:xfrm>
            <a:off x="3381953" y="1119118"/>
            <a:ext cx="1528329" cy="307303"/>
          </a:xfrm>
          <a:prstGeom prst="rect">
            <a:avLst/>
          </a:prstGeom>
          <a:solidFill>
            <a:srgbClr val="0070C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계약관리 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2FDB5EA6-CA45-13A1-2C2F-9DBB401AE004}"/>
              </a:ext>
            </a:extLst>
          </p:cNvPr>
          <p:cNvSpPr/>
          <p:nvPr/>
        </p:nvSpPr>
        <p:spPr>
          <a:xfrm>
            <a:off x="3378117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현황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86561C08-A936-2408-8EB7-68ABF9902C58}"/>
              </a:ext>
            </a:extLst>
          </p:cNvPr>
          <p:cNvSpPr/>
          <p:nvPr/>
        </p:nvSpPr>
        <p:spPr>
          <a:xfrm>
            <a:off x="5007196" y="1119118"/>
            <a:ext cx="1528329" cy="307303"/>
          </a:xfrm>
          <a:prstGeom prst="rect">
            <a:avLst/>
          </a:prstGeom>
          <a:solidFill>
            <a:srgbClr val="0070C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관리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B333CA17-0085-AD13-4685-8DD256F57090}"/>
              </a:ext>
            </a:extLst>
          </p:cNvPr>
          <p:cNvSpPr/>
          <p:nvPr/>
        </p:nvSpPr>
        <p:spPr>
          <a:xfrm>
            <a:off x="5003360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신청</a:t>
            </a:r>
            <a:r>
              <a:rPr lang="en-US" altLang="ko-KR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변경 요청 처리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7185E328-C7DE-E28D-BB30-A20978BE43C9}"/>
              </a:ext>
            </a:extLst>
          </p:cNvPr>
          <p:cNvSpPr/>
          <p:nvPr/>
        </p:nvSpPr>
        <p:spPr>
          <a:xfrm>
            <a:off x="6632439" y="1119118"/>
            <a:ext cx="1528329" cy="307303"/>
          </a:xfrm>
          <a:prstGeom prst="rect">
            <a:avLst/>
          </a:prstGeom>
          <a:solidFill>
            <a:srgbClr val="0070C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기준 정보 관리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C627C1E7-FE4C-AA74-60CF-AF7C9647C81A}"/>
              </a:ext>
            </a:extLst>
          </p:cNvPr>
          <p:cNvSpPr/>
          <p:nvPr/>
        </p:nvSpPr>
        <p:spPr>
          <a:xfrm>
            <a:off x="8257682" y="1119118"/>
            <a:ext cx="1528329" cy="307303"/>
          </a:xfrm>
          <a:prstGeom prst="rect">
            <a:avLst/>
          </a:prstGeom>
          <a:solidFill>
            <a:srgbClr val="0070C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공통관리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8" name="직사각형 167">
            <a:extLst>
              <a:ext uri="{FF2B5EF4-FFF2-40B4-BE49-F238E27FC236}">
                <a16:creationId xmlns:a16="http://schemas.microsoft.com/office/drawing/2014/main" id="{A8F2748B-474D-C57C-9C11-A5FC63F7B247}"/>
              </a:ext>
            </a:extLst>
          </p:cNvPr>
          <p:cNvSpPr/>
          <p:nvPr/>
        </p:nvSpPr>
        <p:spPr>
          <a:xfrm>
            <a:off x="3373390" y="1750318"/>
            <a:ext cx="1529252" cy="108247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72000" rIns="72000" rtlCol="0" anchor="ctr"/>
          <a:lstStyle/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계약 관련 서류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계약 정보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발주계약 요청 정보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발주계획 정보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입찰계획 정보</a:t>
            </a:r>
          </a:p>
        </p:txBody>
      </p:sp>
      <p:sp>
        <p:nvSpPr>
          <p:cNvPr id="177" name="직사각형 176">
            <a:extLst>
              <a:ext uri="{FF2B5EF4-FFF2-40B4-BE49-F238E27FC236}">
                <a16:creationId xmlns:a16="http://schemas.microsoft.com/office/drawing/2014/main" id="{13BD4A2E-5817-A213-A41A-B1691C6BB497}"/>
              </a:ext>
            </a:extLst>
          </p:cNvPr>
          <p:cNvSpPr/>
          <p:nvPr/>
        </p:nvSpPr>
        <p:spPr>
          <a:xfrm>
            <a:off x="5003360" y="1803279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8" name="직사각형 177">
            <a:extLst>
              <a:ext uri="{FF2B5EF4-FFF2-40B4-BE49-F238E27FC236}">
                <a16:creationId xmlns:a16="http://schemas.microsoft.com/office/drawing/2014/main" id="{3E0B09CB-67F5-D08E-512E-F82836F702E3}"/>
              </a:ext>
            </a:extLst>
          </p:cNvPr>
          <p:cNvSpPr/>
          <p:nvPr/>
        </p:nvSpPr>
        <p:spPr>
          <a:xfrm>
            <a:off x="5003360" y="2113950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2" name="직사각형 181">
            <a:extLst>
              <a:ext uri="{FF2B5EF4-FFF2-40B4-BE49-F238E27FC236}">
                <a16:creationId xmlns:a16="http://schemas.microsoft.com/office/drawing/2014/main" id="{4B46B900-2336-6E72-624D-5811556726C5}"/>
              </a:ext>
            </a:extLst>
          </p:cNvPr>
          <p:cNvSpPr/>
          <p:nvPr/>
        </p:nvSpPr>
        <p:spPr>
          <a:xfrm>
            <a:off x="8259244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관리자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3" name="직사각형 182">
            <a:extLst>
              <a:ext uri="{FF2B5EF4-FFF2-40B4-BE49-F238E27FC236}">
                <a16:creationId xmlns:a16="http://schemas.microsoft.com/office/drawing/2014/main" id="{3609E92F-DCBC-A112-BF4F-82565D80584E}"/>
              </a:ext>
            </a:extLst>
          </p:cNvPr>
          <p:cNvSpPr/>
          <p:nvPr/>
        </p:nvSpPr>
        <p:spPr>
          <a:xfrm>
            <a:off x="8259244" y="1803279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권한 그룹 및 메뉴별 권한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8A3BEAB-D241-F034-5691-2CF12180D83A}"/>
              </a:ext>
            </a:extLst>
          </p:cNvPr>
          <p:cNvSpPr/>
          <p:nvPr/>
        </p:nvSpPr>
        <p:spPr>
          <a:xfrm>
            <a:off x="1747476" y="2049414"/>
            <a:ext cx="1529252" cy="1667617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72000" rIns="72000" rtlCol="0" anchor="ctr"/>
          <a:lstStyle/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발주계획 정보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입찰계획 정보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입찰 참여 현황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심사</a:t>
            </a:r>
            <a:r>
              <a:rPr kumimoji="0" lang="en-US" altLang="ko-KR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/</a:t>
            </a: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평가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개찰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낙찰</a:t>
            </a:r>
            <a:r>
              <a:rPr kumimoji="0" lang="en-US" altLang="ko-KR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(</a:t>
            </a: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업체선정</a:t>
            </a:r>
            <a:r>
              <a:rPr kumimoji="0" lang="en-US" altLang="ko-KR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)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수의시담</a:t>
            </a:r>
            <a:endParaRPr kumimoji="0" lang="ko-KR" altLang="en-US" sz="900" b="0" i="0" u="none" strike="noStrike" kern="0" cap="none" spc="-50" normalizeH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계약 요청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703EBA4-956D-5AE3-A6B9-85747EBC6D9F}"/>
              </a:ext>
            </a:extLst>
          </p:cNvPr>
          <p:cNvSpPr/>
          <p:nvPr/>
        </p:nvSpPr>
        <p:spPr>
          <a:xfrm>
            <a:off x="5010319" y="2366224"/>
            <a:ext cx="1529252" cy="47946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72000" rIns="72000" rtlCol="0" anchor="ctr"/>
          <a:lstStyle/>
          <a:p>
            <a:pPr marL="72000" lvl="0" indent="-72000" algn="l" fontAlgn="auto" latinLnBrk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/>
            </a:pPr>
            <a:r>
              <a:rPr kumimoji="0" lang="ko-KR" altLang="en-US" sz="900" b="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조회</a:t>
            </a:r>
            <a:r>
              <a:rPr kumimoji="0" lang="en-US" altLang="ko-KR" sz="900" b="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kumimoji="0" lang="ko-KR" altLang="en-US" sz="900" b="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상세정보</a:t>
            </a:r>
          </a:p>
          <a:p>
            <a:pPr marL="72000" lvl="0" indent="-72000" algn="l" fontAlgn="auto" latinLnBrk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/>
            </a:pPr>
            <a:r>
              <a:rPr kumimoji="0" lang="ko-KR" altLang="en-US" sz="900" b="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체결 현황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19549DB-D877-F7EF-5818-5862E3E581F1}"/>
              </a:ext>
            </a:extLst>
          </p:cNvPr>
          <p:cNvSpPr/>
          <p:nvPr/>
        </p:nvSpPr>
        <p:spPr>
          <a:xfrm>
            <a:off x="5003360" y="2904087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질문과 답변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EE37C29-BED2-2EA4-7B51-5E88FE454FEB}"/>
              </a:ext>
            </a:extLst>
          </p:cNvPr>
          <p:cNvSpPr/>
          <p:nvPr/>
        </p:nvSpPr>
        <p:spPr>
          <a:xfrm>
            <a:off x="6631302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품목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396F577-1681-F0B3-CB76-DF1713368F19}"/>
              </a:ext>
            </a:extLst>
          </p:cNvPr>
          <p:cNvSpPr/>
          <p:nvPr/>
        </p:nvSpPr>
        <p:spPr>
          <a:xfrm>
            <a:off x="6631302" y="3047375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메일</a:t>
            </a:r>
            <a:r>
              <a:rPr lang="en-US" altLang="ko-KR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메시지 발송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678AB96-F467-AD64-EA4C-59B911194A49}"/>
              </a:ext>
            </a:extLst>
          </p:cNvPr>
          <p:cNvSpPr/>
          <p:nvPr/>
        </p:nvSpPr>
        <p:spPr>
          <a:xfrm>
            <a:off x="6631302" y="180539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 err="1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소싱 그룹</a:t>
            </a: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4D8FD29-559D-0A9B-4EFE-026617880984}"/>
              </a:ext>
            </a:extLst>
          </p:cNvPr>
          <p:cNvSpPr/>
          <p:nvPr/>
        </p:nvSpPr>
        <p:spPr>
          <a:xfrm>
            <a:off x="6631302" y="2116065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심사</a:t>
            </a:r>
            <a:r>
              <a:rPr lang="en-US" altLang="ko-KR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평가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DBCA7E2-3882-2D3A-FEEC-C304D99BA9BC}"/>
              </a:ext>
            </a:extLst>
          </p:cNvPr>
          <p:cNvSpPr/>
          <p:nvPr/>
        </p:nvSpPr>
        <p:spPr>
          <a:xfrm>
            <a:off x="6631302" y="2426736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서류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19CC2FB-AE39-6D60-F7E4-AEBBC597415B}"/>
              </a:ext>
            </a:extLst>
          </p:cNvPr>
          <p:cNvSpPr/>
          <p:nvPr/>
        </p:nvSpPr>
        <p:spPr>
          <a:xfrm>
            <a:off x="6631302" y="2737407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메일</a:t>
            </a:r>
            <a:r>
              <a:rPr lang="en-US" altLang="ko-KR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메시지 발송 내용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3337320-9826-598A-0F6D-32ADBE602623}"/>
              </a:ext>
            </a:extLst>
          </p:cNvPr>
          <p:cNvSpPr/>
          <p:nvPr/>
        </p:nvSpPr>
        <p:spPr>
          <a:xfrm>
            <a:off x="6631302" y="3365062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메일</a:t>
            </a:r>
            <a:r>
              <a:rPr lang="en-US" altLang="ko-KR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메시지 발송현황 조회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37AA1ADE-C580-E067-B7E1-ABFFF171E01E}"/>
              </a:ext>
            </a:extLst>
          </p:cNvPr>
          <p:cNvSpPr/>
          <p:nvPr/>
        </p:nvSpPr>
        <p:spPr>
          <a:xfrm>
            <a:off x="8252285" y="3047375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로그인 현황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F1DAD779-8964-380C-BD9F-8DD2E89C4F9A}"/>
              </a:ext>
            </a:extLst>
          </p:cNvPr>
          <p:cNvSpPr/>
          <p:nvPr/>
        </p:nvSpPr>
        <p:spPr>
          <a:xfrm>
            <a:off x="8252285" y="2116065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시스템 권한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AF3BD33F-97D0-2BFC-26FB-D5828EDC0617}"/>
              </a:ext>
            </a:extLst>
          </p:cNvPr>
          <p:cNvSpPr/>
          <p:nvPr/>
        </p:nvSpPr>
        <p:spPr>
          <a:xfrm>
            <a:off x="8252285" y="2426736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접속 아이피</a:t>
            </a:r>
            <a:r>
              <a:rPr lang="en-US" altLang="ko-KR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(IP) </a:t>
            </a: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F32ED533-BF77-4DAF-4DC3-E9FD28FFD06D}"/>
              </a:ext>
            </a:extLst>
          </p:cNvPr>
          <p:cNvSpPr/>
          <p:nvPr/>
        </p:nvSpPr>
        <p:spPr>
          <a:xfrm>
            <a:off x="8252285" y="2737407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코드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12243C15-4788-8CD9-CC49-D5D72F05DDCF}"/>
              </a:ext>
            </a:extLst>
          </p:cNvPr>
          <p:cNvSpPr/>
          <p:nvPr/>
        </p:nvSpPr>
        <p:spPr>
          <a:xfrm>
            <a:off x="8252285" y="3365062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메뉴별 접속 현황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433953B6-38E0-A387-EA33-439E00EAA897}"/>
              </a:ext>
            </a:extLst>
          </p:cNvPr>
          <p:cNvSpPr/>
          <p:nvPr/>
        </p:nvSpPr>
        <p:spPr>
          <a:xfrm>
            <a:off x="8252285" y="3671963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공지사항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8FC70D5C-FD5D-B309-C4DE-CD5FFF93CA1C}"/>
              </a:ext>
            </a:extLst>
          </p:cNvPr>
          <p:cNvSpPr/>
          <p:nvPr/>
        </p:nvSpPr>
        <p:spPr>
          <a:xfrm>
            <a:off x="8252285" y="3986952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1894832-68A6-29D9-E4B4-D88353EA8D0C}"/>
              </a:ext>
            </a:extLst>
          </p:cNvPr>
          <p:cNvSpPr/>
          <p:nvPr/>
        </p:nvSpPr>
        <p:spPr>
          <a:xfrm>
            <a:off x="123105" y="1119118"/>
            <a:ext cx="1528329" cy="307303"/>
          </a:xfrm>
          <a:prstGeom prst="rect">
            <a:avLst/>
          </a:prstGeom>
          <a:solidFill>
            <a:srgbClr val="0070C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관리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324642E-6B86-90B7-9DA7-4B2C9DAFCF23}"/>
              </a:ext>
            </a:extLst>
          </p:cNvPr>
          <p:cNvSpPr/>
          <p:nvPr/>
        </p:nvSpPr>
        <p:spPr>
          <a:xfrm>
            <a:off x="123105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계획 현황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6F15425-E273-5AD9-BDF3-9EAD2167EA9F}"/>
              </a:ext>
            </a:extLst>
          </p:cNvPr>
          <p:cNvSpPr/>
          <p:nvPr/>
        </p:nvSpPr>
        <p:spPr>
          <a:xfrm>
            <a:off x="123105" y="1803279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현황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808F26F8-C189-623B-12A5-E2A3CE7A5482}"/>
              </a:ext>
            </a:extLst>
          </p:cNvPr>
          <p:cNvSpPr/>
          <p:nvPr/>
        </p:nvSpPr>
        <p:spPr>
          <a:xfrm>
            <a:off x="130064" y="2051768"/>
            <a:ext cx="1529252" cy="87317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72000" rIns="72000" rtlCol="0" anchor="ctr"/>
          <a:lstStyle/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발주계획 정보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수의계약 계획 정보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견적 요청 및 확인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계약 요청</a:t>
            </a:r>
          </a:p>
        </p:txBody>
      </p:sp>
    </p:spTree>
    <p:extLst>
      <p:ext uri="{BB962C8B-B14F-4D97-AF65-F5344CB8AC3E}">
        <p14:creationId xmlns:p14="http://schemas.microsoft.com/office/powerpoint/2010/main" val="11287650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72941-9479-237F-FB48-09D5EFA7F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7B493C7D-1068-7F11-B51E-EFA13AF05FF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7AB8C23-1688-7781-1BF4-87466894C8ED}"/>
              </a:ext>
            </a:extLst>
          </p:cNvPr>
          <p:cNvSpPr txBox="1"/>
          <p:nvPr/>
        </p:nvSpPr>
        <p:spPr>
          <a:xfrm>
            <a:off x="749224" y="25608"/>
            <a:ext cx="18854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[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참고자료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] 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계약방법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낙찰자 선정방법 정리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09A0CB-E7D3-FFCE-7F94-F8AF4F431FFD}"/>
              </a:ext>
            </a:extLst>
          </p:cNvPr>
          <p:cNvSpPr txBox="1"/>
          <p:nvPr/>
        </p:nvSpPr>
        <p:spPr>
          <a:xfrm>
            <a:off x="8049344" y="584684"/>
            <a:ext cx="1856656" cy="4782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수의계약이 선택되는 경우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낙찰자 선정방법은 ‘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최저가’만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선택 가능</a:t>
            </a:r>
            <a:b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다른 선택 항목은 비활성화 처리할 것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경쟁입찰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일반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 선택되는 경우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낙찰자 선정방법은 모두 선택 가능</a:t>
            </a:r>
            <a:b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최저가</a:t>
            </a:r>
            <a:b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제한적 최저가 입찰</a:t>
            </a:r>
            <a:b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- 2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단계 경쟁입찰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규격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 동시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- 2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단계 경쟁입찰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규격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 분리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적격심사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경쟁입찰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제한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 선택되는 경우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낙찰자 선정방법은 모두 선택 가능</a:t>
            </a:r>
            <a:b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최저가</a:t>
            </a:r>
            <a:b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제한적 최저가 입찰</a:t>
            </a:r>
            <a:b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- 2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단계 경쟁입찰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규격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 동시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- 2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단계 경쟁입찰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규격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 분리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적격심사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경쟁입찰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지명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 선택되는 경우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낙찰자 선정방법은 모두 선택 가능</a:t>
            </a:r>
            <a:b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최저가</a:t>
            </a:r>
            <a:b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제한적 최저가 입찰</a:t>
            </a:r>
            <a:b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- 2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단계 경쟁입찰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규격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 동시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- 2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단계 경쟁입찰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규격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 분리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적격심사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2FAEE14-C97E-1FA9-1205-7D63D11E57F8}"/>
              </a:ext>
            </a:extLst>
          </p:cNvPr>
          <p:cNvSpPr/>
          <p:nvPr/>
        </p:nvSpPr>
        <p:spPr>
          <a:xfrm>
            <a:off x="56456" y="332656"/>
            <a:ext cx="7884876" cy="63007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A631107E-9505-6314-D1F3-E9C305838D58}"/>
              </a:ext>
            </a:extLst>
          </p:cNvPr>
          <p:cNvGraphicFramePr>
            <a:graphicFrameLocks noGrp="1"/>
          </p:cNvGraphicFramePr>
          <p:nvPr/>
        </p:nvGraphicFramePr>
        <p:xfrm>
          <a:off x="164467" y="628924"/>
          <a:ext cx="7668853" cy="67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7482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111371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계약방법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○ 수의계약     ○ 경쟁입찰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일반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     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○ 경쟁입찰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제한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     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○ 경쟁입찰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지명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3071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낙찰자 선정방법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○ 최저가     ○ 제한적 최저가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입찰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○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단계 경쟁입찰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규격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가격 동시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     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○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단계 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경쟁입찰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규격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가격 분리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○ 적격심사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187115"/>
                  </a:ext>
                </a:extLst>
              </a:tr>
            </a:tbl>
          </a:graphicData>
        </a:graphic>
      </p:graphicFrame>
      <p:sp>
        <p:nvSpPr>
          <p:cNvPr id="20" name="타원 19">
            <a:extLst>
              <a:ext uri="{FF2B5EF4-FFF2-40B4-BE49-F238E27FC236}">
                <a16:creationId xmlns:a16="http://schemas.microsoft.com/office/drawing/2014/main" id="{93E6C0BF-4034-0E7F-6D75-9E784D1A7790}"/>
              </a:ext>
            </a:extLst>
          </p:cNvPr>
          <p:cNvSpPr/>
          <p:nvPr/>
        </p:nvSpPr>
        <p:spPr>
          <a:xfrm>
            <a:off x="1604628" y="573443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A25DF6B0-00D5-1512-FDB5-FC4498321864}"/>
              </a:ext>
            </a:extLst>
          </p:cNvPr>
          <p:cNvSpPr/>
          <p:nvPr/>
        </p:nvSpPr>
        <p:spPr>
          <a:xfrm>
            <a:off x="2396716" y="573443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0F0C5EF0-17C5-3F9B-7D34-8F7151A268F9}"/>
              </a:ext>
            </a:extLst>
          </p:cNvPr>
          <p:cNvSpPr/>
          <p:nvPr/>
        </p:nvSpPr>
        <p:spPr>
          <a:xfrm>
            <a:off x="3294255" y="573443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DE9146C9-0AE8-CD8D-B9D2-050A54CD25E9}"/>
              </a:ext>
            </a:extLst>
          </p:cNvPr>
          <p:cNvSpPr/>
          <p:nvPr/>
        </p:nvSpPr>
        <p:spPr>
          <a:xfrm>
            <a:off x="4208375" y="573443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35" name="표 34">
            <a:extLst>
              <a:ext uri="{FF2B5EF4-FFF2-40B4-BE49-F238E27FC236}">
                <a16:creationId xmlns:a16="http://schemas.microsoft.com/office/drawing/2014/main" id="{1AA7CF10-688B-B274-DA6D-8F929F03EF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840937"/>
              </p:ext>
            </p:extLst>
          </p:nvPr>
        </p:nvGraphicFramePr>
        <p:xfrm>
          <a:off x="164467" y="1788178"/>
          <a:ext cx="7668853" cy="4661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7482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111371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최저가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최저가로 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투찰한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업체가 우선협상자로 선정됨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입찰기간 중에 서류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가격을 동시에 제출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평가는 없으며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우선협상자 선정 후 자격 확인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‘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예정가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’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설정 필요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3071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제한적 최저가 입찰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점수가 적격인 업체 중 복수예비가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낙찰하한가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이상의 가격에 가장 가까운 업체가 우선협상자로 선정됨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입찰기간 중에 서류 제출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투찰 기간에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가격 제출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평가가 있으며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점수에 따라 적격 여부 확인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‘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복수예비가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낙찰하한가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)’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설정 필요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1871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단계 경쟁입찰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규격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가격 동시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규격과 가격을 동시에 비율에 의해 산정하여 최고점수 업체가 우선협상자로 선정됨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입찰기간 중에 서류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가격을 동시에 제출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평가가 있으며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가격과 합산함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‘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예정가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’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설정 필요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89933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단계 경쟁입찰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규격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가격 분리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점수가 적격인 업체 중 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예정가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이하의 제일 낮은 가격의 업체가 우선협상자로 선정됨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입찰기간 중에 서류 제출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투찰 기간에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가격 제출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평가가 있으며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점수에 따라 적격 여부 확인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‘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예정가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’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설정 필요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9344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적격심사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점수가 적격인 업체 중 복수예비가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낙찰하한가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이상의 가격에 가장 가까운 업체가 우선협상자로 선정됨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입찰기간 중에 서류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가격을 동시에 제출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가격을 먼저 확인하여 적합한 업체의 적격 여부 확인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‘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복수예비가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낙찰하한가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)’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설정 필요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9070123"/>
                  </a:ext>
                </a:extLst>
              </a:tr>
            </a:tbl>
          </a:graphicData>
        </a:graphic>
      </p:graphicFrame>
      <p:sp>
        <p:nvSpPr>
          <p:cNvPr id="38" name="직사각형 37">
            <a:extLst>
              <a:ext uri="{FF2B5EF4-FFF2-40B4-BE49-F238E27FC236}">
                <a16:creationId xmlns:a16="http://schemas.microsoft.com/office/drawing/2014/main" id="{034742A7-08B1-0B47-1E2A-22F8186F7B0E}"/>
              </a:ext>
            </a:extLst>
          </p:cNvPr>
          <p:cNvSpPr/>
          <p:nvPr/>
        </p:nvSpPr>
        <p:spPr>
          <a:xfrm>
            <a:off x="183392" y="1484108"/>
            <a:ext cx="574171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낙찰자 선정방법에 대한 이해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574340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EB641-D17C-6983-DD4A-1E831659D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4CCB4A31-5629-A711-0B82-7C9BDC22F51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E65008-32F3-E859-FA23-162610C3C866}"/>
              </a:ext>
            </a:extLst>
          </p:cNvPr>
          <p:cNvSpPr txBox="1"/>
          <p:nvPr/>
        </p:nvSpPr>
        <p:spPr>
          <a:xfrm>
            <a:off x="749224" y="25608"/>
            <a:ext cx="18854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[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참고자료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] 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계약방법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낙찰자 선정방법 정리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082E5D-9329-2E39-0AED-AEF609DECCA9}"/>
              </a:ext>
            </a:extLst>
          </p:cNvPr>
          <p:cNvSpPr txBox="1"/>
          <p:nvPr/>
        </p:nvSpPr>
        <p:spPr>
          <a:xfrm>
            <a:off x="8049344" y="584684"/>
            <a:ext cx="1856656" cy="4782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수의계약이 선택되는 경우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낙찰자 선정방법은 ‘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최저가’만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선택 가능</a:t>
            </a:r>
            <a:b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다른 선택 항목은 비활성화 처리할 것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경쟁입찰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일반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 선택되는 경우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낙찰자 선정방법은 모두 선택 가능</a:t>
            </a:r>
            <a:b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최저가</a:t>
            </a:r>
            <a:b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제한적 최저가 입찰</a:t>
            </a:r>
            <a:b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- 2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단계 경쟁입찰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규격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 동시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- 2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단계 경쟁입찰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규격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 분리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적격심사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경쟁입찰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제한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 선택되는 경우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낙찰자 선정방법은 모두 선택 가능</a:t>
            </a:r>
            <a:b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최저가</a:t>
            </a:r>
            <a:b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제한적 최저가 입찰</a:t>
            </a:r>
            <a:b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- 2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단계 경쟁입찰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규격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 동시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- 2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단계 경쟁입찰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규격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 분리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적격심사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경쟁입찰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지명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 선택되는 경우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낙찰자 선정방법은 모두 선택 가능</a:t>
            </a:r>
            <a:b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최저가</a:t>
            </a:r>
            <a:b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제한적 최저가 입찰</a:t>
            </a:r>
            <a:b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- 2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단계 경쟁입찰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규격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 동시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- 2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단계 경쟁입찰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규격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 분리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적격심사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6B6D03E-A93C-3508-B21D-D2F404CFE318}"/>
              </a:ext>
            </a:extLst>
          </p:cNvPr>
          <p:cNvSpPr/>
          <p:nvPr/>
        </p:nvSpPr>
        <p:spPr>
          <a:xfrm>
            <a:off x="56456" y="332656"/>
            <a:ext cx="7884876" cy="63007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BD10E14B-E2F9-B486-75BD-30B9C935B1C0}"/>
              </a:ext>
            </a:extLst>
          </p:cNvPr>
          <p:cNvGraphicFramePr>
            <a:graphicFrameLocks noGrp="1"/>
          </p:cNvGraphicFramePr>
          <p:nvPr/>
        </p:nvGraphicFramePr>
        <p:xfrm>
          <a:off x="164467" y="628924"/>
          <a:ext cx="7668853" cy="67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7482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111371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계약방법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○ 수의계약     ○ 경쟁입찰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일반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     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○ 경쟁입찰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제한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     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○ 경쟁입찰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지명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3071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낙찰자 선정방법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○ 최저가     ○ 제한적 최저가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입찰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○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단계 경쟁입찰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규격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가격 동시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     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○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단계 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경쟁입찰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규격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가격 분리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○ 적격심사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187115"/>
                  </a:ext>
                </a:extLst>
              </a:tr>
            </a:tbl>
          </a:graphicData>
        </a:graphic>
      </p:graphicFrame>
      <p:sp>
        <p:nvSpPr>
          <p:cNvPr id="20" name="타원 19">
            <a:extLst>
              <a:ext uri="{FF2B5EF4-FFF2-40B4-BE49-F238E27FC236}">
                <a16:creationId xmlns:a16="http://schemas.microsoft.com/office/drawing/2014/main" id="{4756C88F-F59A-B062-9205-3BCAD36A7971}"/>
              </a:ext>
            </a:extLst>
          </p:cNvPr>
          <p:cNvSpPr/>
          <p:nvPr/>
        </p:nvSpPr>
        <p:spPr>
          <a:xfrm>
            <a:off x="1604628" y="573443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50E8720A-BEE3-271F-5B06-E3A5B2FB2FBF}"/>
              </a:ext>
            </a:extLst>
          </p:cNvPr>
          <p:cNvSpPr/>
          <p:nvPr/>
        </p:nvSpPr>
        <p:spPr>
          <a:xfrm>
            <a:off x="2396716" y="573443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8297E2B7-EF15-81F7-A182-E3D9D8CD88F8}"/>
              </a:ext>
            </a:extLst>
          </p:cNvPr>
          <p:cNvSpPr/>
          <p:nvPr/>
        </p:nvSpPr>
        <p:spPr>
          <a:xfrm>
            <a:off x="3294255" y="573443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73FDD4BB-588F-36FC-133A-AEEEECB9186A}"/>
              </a:ext>
            </a:extLst>
          </p:cNvPr>
          <p:cNvSpPr/>
          <p:nvPr/>
        </p:nvSpPr>
        <p:spPr>
          <a:xfrm>
            <a:off x="4208375" y="573443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35" name="표 34">
            <a:extLst>
              <a:ext uri="{FF2B5EF4-FFF2-40B4-BE49-F238E27FC236}">
                <a16:creationId xmlns:a16="http://schemas.microsoft.com/office/drawing/2014/main" id="{357DED47-CD8A-35E0-6405-841A14773EDF}"/>
              </a:ext>
            </a:extLst>
          </p:cNvPr>
          <p:cNvGraphicFramePr>
            <a:graphicFrameLocks noGrp="1"/>
          </p:cNvGraphicFramePr>
          <p:nvPr/>
        </p:nvGraphicFramePr>
        <p:xfrm>
          <a:off x="164466" y="1788178"/>
          <a:ext cx="7687776" cy="202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3816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1534398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  <a:gridCol w="1149156">
                  <a:extLst>
                    <a:ext uri="{9D8B030D-6E8A-4147-A177-3AD203B41FA5}">
                      <a16:colId xmlns:a16="http://schemas.microsoft.com/office/drawing/2014/main" val="1062149080"/>
                    </a:ext>
                  </a:extLst>
                </a:gridCol>
                <a:gridCol w="576283">
                  <a:extLst>
                    <a:ext uri="{9D8B030D-6E8A-4147-A177-3AD203B41FA5}">
                      <a16:colId xmlns:a16="http://schemas.microsoft.com/office/drawing/2014/main" val="1514525174"/>
                    </a:ext>
                  </a:extLst>
                </a:gridCol>
                <a:gridCol w="1266924">
                  <a:extLst>
                    <a:ext uri="{9D8B030D-6E8A-4147-A177-3AD203B41FA5}">
                      <a16:colId xmlns:a16="http://schemas.microsoft.com/office/drawing/2014/main" val="2785311682"/>
                    </a:ext>
                  </a:extLst>
                </a:gridCol>
                <a:gridCol w="1127199">
                  <a:extLst>
                    <a:ext uri="{9D8B030D-6E8A-4147-A177-3AD203B41FA5}">
                      <a16:colId xmlns:a16="http://schemas.microsoft.com/office/drawing/2014/main" val="9635570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낙찰자 선정방법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서류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가격 동시제출 여부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평가여부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예정가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예비가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낙찰하한율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동점자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처리 기준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52131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최저가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○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X(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적격 여부 확인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○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X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추첨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랜덤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3071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제한적 최저가 입찰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X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○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X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○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규격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기술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1871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단계 경쟁입찰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규격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가격 동시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○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○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○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X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설정 사항에 따름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89933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단계 경쟁입찰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규격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가격 분리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X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○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○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X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규격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기술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9344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적격심사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○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X(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적격 여부 확인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X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○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규격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기술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9070123"/>
                  </a:ext>
                </a:extLst>
              </a:tr>
            </a:tbl>
          </a:graphicData>
        </a:graphic>
      </p:graphicFrame>
      <p:sp>
        <p:nvSpPr>
          <p:cNvPr id="38" name="직사각형 37">
            <a:extLst>
              <a:ext uri="{FF2B5EF4-FFF2-40B4-BE49-F238E27FC236}">
                <a16:creationId xmlns:a16="http://schemas.microsoft.com/office/drawing/2014/main" id="{5E76F6EB-D7FD-37EB-A1FC-9EFC71AA84A0}"/>
              </a:ext>
            </a:extLst>
          </p:cNvPr>
          <p:cNvSpPr/>
          <p:nvPr/>
        </p:nvSpPr>
        <p:spPr>
          <a:xfrm>
            <a:off x="183392" y="1484108"/>
            <a:ext cx="574171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낙찰자 선정방법에 대한 이해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ACE416D9-BB0A-E59F-8E50-F340AC6C9E01}"/>
              </a:ext>
            </a:extLst>
          </p:cNvPr>
          <p:cNvGraphicFramePr>
            <a:graphicFrameLocks noGrp="1"/>
          </p:cNvGraphicFramePr>
          <p:nvPr/>
        </p:nvGraphicFramePr>
        <p:xfrm>
          <a:off x="164468" y="3915153"/>
          <a:ext cx="7687778" cy="229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8192">
                  <a:extLst>
                    <a:ext uri="{9D8B030D-6E8A-4147-A177-3AD203B41FA5}">
                      <a16:colId xmlns:a16="http://schemas.microsoft.com/office/drawing/2014/main" val="4156553755"/>
                    </a:ext>
                  </a:extLst>
                </a:gridCol>
                <a:gridCol w="5959586">
                  <a:extLst>
                    <a:ext uri="{9D8B030D-6E8A-4147-A177-3AD203B41FA5}">
                      <a16:colId xmlns:a16="http://schemas.microsoft.com/office/drawing/2014/main" val="5570845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최저가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동일한 조건에서 가장 낮은 가격을 제시한 업체를 선정하여 예산을 절감하기 위해서입니다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품질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기술보다 가격 경쟁이 가능한 단순한 물품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공사에 적합합니다.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8702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제한적 최저가 입찰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지나치게 낮은 가격으로 인한 부실 이행을 방지하면서 가격 경쟁을 유도하기 위해서입니다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일정한 가격 하한선 등 기준을 충족한 업체 중 최저가 업체를 선정합니다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051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단계 경쟁입찰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규격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가격 동시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단순히 가격만 보지 않고 요구되는 규격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성능을 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충족하는지 여부와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가격을 함께 평가하기 위해서입니다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규격과 가격을 동시에 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제출받아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기술적 적합성과 가격 경쟁력을 함께 고려합니다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4925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단계 경쟁입찰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규격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가격 분리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먼저 규격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기술적 적합성을 검증한 뒤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적격 업체끼리 가격 경쟁을 시키기 위해서입니다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가격보다 요구조건을 제대로 충족하는 업체를 우선적으로 걸러내는 것이 목적입니다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41417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적격심사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가격만 낮은 업체가 아니라 실제로 계약을 수행할 능력이 있는 업체를 선정하기 위해서입니다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입찰가격과 함께 실적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경영상태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수행능력 등을 종합적으로 심사합니다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161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69590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33114-AA40-CA5F-CCB9-3876C6D7C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6D7852F3-64FB-B924-472A-47725F1B899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BC73F9-D9C5-7174-5FD1-B85239DA1073}"/>
              </a:ext>
            </a:extLst>
          </p:cNvPr>
          <p:cNvSpPr txBox="1"/>
          <p:nvPr/>
        </p:nvSpPr>
        <p:spPr>
          <a:xfrm>
            <a:off x="749224" y="25608"/>
            <a:ext cx="198163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요청접수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조회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DB2203-1707-625B-CFB5-D2E14A3F0B1A}"/>
              </a:ext>
            </a:extLst>
          </p:cNvPr>
          <p:cNvSpPr txBox="1"/>
          <p:nvPr/>
        </p:nvSpPr>
        <p:spPr>
          <a:xfrm>
            <a:off x="8049344" y="584684"/>
            <a:ext cx="1856656" cy="2791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 + 전자결재가 완료(승인)되면, ‘발주계약 요청접수’ 검색/조회 화면에 진행상태 ‘요청’으로 올라옴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 메뉴에는 요청 당시의 정보가 그대로 남음</a:t>
            </a:r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b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 단계로 넘어올 때 복사해서 </a:t>
            </a:r>
            <a:r>
              <a:rPr lang="ko-KR" altLang="en-US" sz="800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넘어오는</a:t>
            </a: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것임</a:t>
            </a:r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중요한 개념임</a:t>
            </a:r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b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 메뉴에서 제공하는 기능 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1)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계약담당자 매핑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2) 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접수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처리</a:t>
            </a:r>
            <a:endParaRPr lang="en-US" altLang="ko-KR" sz="800" u="sng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클릭 시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요청서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호출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뒤 페이지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요청번호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건명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C01D8C86-C8D7-1578-B23E-9ED15B931135}"/>
              </a:ext>
            </a:extLst>
          </p:cNvPr>
          <p:cNvSpPr/>
          <p:nvPr/>
        </p:nvSpPr>
        <p:spPr>
          <a:xfrm>
            <a:off x="164468" y="403565"/>
            <a:ext cx="997068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요청접수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B88439E6-17E0-EDCB-BF91-26E2A06B7115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04B2C7B9-6778-1B59-D545-E3124A250AFD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45E62D0-5A85-0663-9D4D-63DA812D9738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5B2BC33-C016-7F83-105D-F8BF4076A2BA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전자입찰시스템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2" name="Picture 1">
            <a:extLst>
              <a:ext uri="{FF2B5EF4-FFF2-40B4-BE49-F238E27FC236}">
                <a16:creationId xmlns:a16="http://schemas.microsoft.com/office/drawing/2014/main" id="{82408B0B-FFA2-F282-0FB1-BD657383EC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C43FE96F-1BF4-01A1-16AB-522AF88AA9C3}"/>
              </a:ext>
            </a:extLst>
          </p:cNvPr>
          <p:cNvSpPr/>
          <p:nvPr/>
        </p:nvSpPr>
        <p:spPr>
          <a:xfrm>
            <a:off x="164468" y="834983"/>
            <a:ext cx="7740859" cy="122837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l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E6808F6-9FF2-68E2-B22D-720CB3B226F0}"/>
              </a:ext>
            </a:extLst>
          </p:cNvPr>
          <p:cNvSpPr txBox="1"/>
          <p:nvPr/>
        </p:nvSpPr>
        <p:spPr>
          <a:xfrm>
            <a:off x="235850" y="941488"/>
            <a:ext cx="680538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marR="0" lvl="0" indent="-7200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조회기간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(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요청일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)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                                                                                                                                                                 ~    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43544BE-13EF-9224-2F99-D49025B07079}"/>
              </a:ext>
            </a:extLst>
          </p:cNvPr>
          <p:cNvSpPr txBox="1"/>
          <p:nvPr/>
        </p:nvSpPr>
        <p:spPr>
          <a:xfrm>
            <a:off x="235849" y="1204748"/>
            <a:ext cx="669701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lvl="0" indent="-72000" algn="l">
              <a:buFont typeface="Arial" panose="020B0604020202020204" pitchFamily="34" charset="0"/>
              <a:buChar char="•"/>
              <a:defRPr/>
            </a:pPr>
            <a:r>
              <a:rPr lang="ko-KR" altLang="en-US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진행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상태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                     </a:t>
            </a:r>
            <a:r>
              <a:rPr lang="ko-KR" altLang="en-US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● 전체      ○ 요청     </a:t>
            </a:r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○ </a:t>
            </a:r>
            <a:r>
              <a:rPr lang="ko-KR" altLang="en-US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접수</a:t>
            </a:r>
            <a:endParaRPr lang="en-US" altLang="ko-KR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D1B55F5-B9BC-7D20-C07F-43B9DEBE475C}"/>
              </a:ext>
            </a:extLst>
          </p:cNvPr>
          <p:cNvSpPr txBox="1"/>
          <p:nvPr/>
        </p:nvSpPr>
        <p:spPr>
          <a:xfrm>
            <a:off x="235849" y="1742466"/>
            <a:ext cx="75617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lvl="0" indent="-72000" algn="l">
              <a:buFont typeface="Arial" panose="020B0604020202020204" pitchFamily="34" charset="0"/>
              <a:buChar char="•"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키워드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검색 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</a:t>
            </a:r>
            <a:endParaRPr lang="ko-KR" altLang="en-US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D6E0864-329A-41A7-87C7-A31FD06AA448}"/>
              </a:ext>
            </a:extLst>
          </p:cNvPr>
          <p:cNvSpPr/>
          <p:nvPr/>
        </p:nvSpPr>
        <p:spPr>
          <a:xfrm>
            <a:off x="4683665" y="929087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시작일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77E86F8-0D36-6A37-9CE9-8F88B270FF86}"/>
              </a:ext>
            </a:extLst>
          </p:cNvPr>
          <p:cNvSpPr/>
          <p:nvPr/>
        </p:nvSpPr>
        <p:spPr>
          <a:xfrm>
            <a:off x="5493916" y="929089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1714F0B-891B-BAA0-2BF7-AC23603CCECA}"/>
              </a:ext>
            </a:extLst>
          </p:cNvPr>
          <p:cNvSpPr/>
          <p:nvPr/>
        </p:nvSpPr>
        <p:spPr>
          <a:xfrm>
            <a:off x="5907171" y="929087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종료일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160C20D-19CB-315D-FC6E-3C00CC56489F}"/>
              </a:ext>
            </a:extLst>
          </p:cNvPr>
          <p:cNvSpPr/>
          <p:nvPr/>
        </p:nvSpPr>
        <p:spPr>
          <a:xfrm>
            <a:off x="6717422" y="929089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51E98534-EF88-7BFA-C303-8BF6AD5CC464}"/>
              </a:ext>
            </a:extLst>
          </p:cNvPr>
          <p:cNvSpPr/>
          <p:nvPr/>
        </p:nvSpPr>
        <p:spPr>
          <a:xfrm>
            <a:off x="1393889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ko-KR" altLang="en-US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하루 전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683038BB-3897-BB2C-FF43-F302B1DDD517}"/>
              </a:ext>
            </a:extLst>
          </p:cNvPr>
          <p:cNvSpPr/>
          <p:nvPr/>
        </p:nvSpPr>
        <p:spPr>
          <a:xfrm>
            <a:off x="1942458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주일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A15EEF5F-A99C-5CEF-06E7-8F2CA6007C1B}"/>
              </a:ext>
            </a:extLst>
          </p:cNvPr>
          <p:cNvSpPr/>
          <p:nvPr/>
        </p:nvSpPr>
        <p:spPr>
          <a:xfrm>
            <a:off x="2491027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BB87E687-A09A-310C-14CB-076949BB0B3B}"/>
              </a:ext>
            </a:extLst>
          </p:cNvPr>
          <p:cNvSpPr/>
          <p:nvPr/>
        </p:nvSpPr>
        <p:spPr>
          <a:xfrm>
            <a:off x="3039596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41BD1FD3-9887-BEBA-8449-8A0065C6E966}"/>
              </a:ext>
            </a:extLst>
          </p:cNvPr>
          <p:cNvSpPr/>
          <p:nvPr/>
        </p:nvSpPr>
        <p:spPr>
          <a:xfrm>
            <a:off x="3588165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44E3FA31-0A6C-3559-A12B-D3E075DD7CBE}"/>
              </a:ext>
            </a:extLst>
          </p:cNvPr>
          <p:cNvSpPr/>
          <p:nvPr/>
        </p:nvSpPr>
        <p:spPr>
          <a:xfrm>
            <a:off x="4136733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년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5874F70-7661-4EB8-24C6-5D8CD8A44C79}"/>
              </a:ext>
            </a:extLst>
          </p:cNvPr>
          <p:cNvSpPr txBox="1"/>
          <p:nvPr/>
        </p:nvSpPr>
        <p:spPr>
          <a:xfrm>
            <a:off x="235849" y="1454449"/>
            <a:ext cx="669701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indent="-72000" algn="l">
              <a:buFont typeface="Arial" panose="020B0604020202020204" pitchFamily="34" charset="0"/>
              <a:buChar char="•"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구분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                            </a:t>
            </a:r>
            <a:r>
              <a:rPr lang="ko-KR" altLang="en-US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● 전체      ○ 공사     </a:t>
            </a:r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○ </a:t>
            </a:r>
            <a:r>
              <a:rPr lang="ko-KR" altLang="en-US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용역     </a:t>
            </a:r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○ </a:t>
            </a:r>
            <a:r>
              <a:rPr lang="ko-KR" altLang="en-US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물품</a:t>
            </a:r>
            <a:endParaRPr lang="en-US" altLang="ko-KR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32D5C54C-B926-9F3F-1AC7-EEE8807587A9}"/>
              </a:ext>
            </a:extLst>
          </p:cNvPr>
          <p:cNvSpPr/>
          <p:nvPr/>
        </p:nvSpPr>
        <p:spPr>
          <a:xfrm>
            <a:off x="1408523" y="1735321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구분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AE708071-3235-910F-0D38-0053F19EDFDE}"/>
              </a:ext>
            </a:extLst>
          </p:cNvPr>
          <p:cNvSpPr/>
          <p:nvPr/>
        </p:nvSpPr>
        <p:spPr>
          <a:xfrm>
            <a:off x="2218774" y="1735323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1086D7CE-8FAA-9690-B97F-555228AC36CC}"/>
              </a:ext>
            </a:extLst>
          </p:cNvPr>
          <p:cNvSpPr/>
          <p:nvPr/>
        </p:nvSpPr>
        <p:spPr>
          <a:xfrm>
            <a:off x="2533911" y="1735321"/>
            <a:ext cx="3619804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검색어를 입력하세요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38536DAE-733B-8709-7455-B991A4972538}"/>
              </a:ext>
            </a:extLst>
          </p:cNvPr>
          <p:cNvSpPr/>
          <p:nvPr/>
        </p:nvSpPr>
        <p:spPr>
          <a:xfrm>
            <a:off x="6241919" y="1735323"/>
            <a:ext cx="625198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DF87CC37-5A2E-B4CA-1D2C-F6F018E67CBD}"/>
              </a:ext>
            </a:extLst>
          </p:cNvPr>
          <p:cNvSpPr/>
          <p:nvPr/>
        </p:nvSpPr>
        <p:spPr>
          <a:xfrm>
            <a:off x="5856272" y="2163958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개씩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93B0076D-EB77-1F24-D71F-C44B8822220A}"/>
              </a:ext>
            </a:extLst>
          </p:cNvPr>
          <p:cNvSpPr/>
          <p:nvPr/>
        </p:nvSpPr>
        <p:spPr>
          <a:xfrm>
            <a:off x="6677734" y="2163958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801E946-77F1-AA73-C69C-35BAB497890E}"/>
              </a:ext>
            </a:extLst>
          </p:cNvPr>
          <p:cNvSpPr txBox="1"/>
          <p:nvPr/>
        </p:nvSpPr>
        <p:spPr>
          <a:xfrm>
            <a:off x="181506" y="2150440"/>
            <a:ext cx="2975920" cy="2308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전체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1,523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건 현재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/4</a:t>
            </a:r>
            <a:endParaRPr lang="ko-KR" altLang="en-US" sz="900" b="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71BF8133-D43E-DDB2-7B98-21077C3421CE}"/>
              </a:ext>
            </a:extLst>
          </p:cNvPr>
          <p:cNvSpPr/>
          <p:nvPr/>
        </p:nvSpPr>
        <p:spPr>
          <a:xfrm>
            <a:off x="6982990" y="2163958"/>
            <a:ext cx="913712" cy="215441"/>
          </a:xfrm>
          <a:prstGeom prst="rect">
            <a:avLst/>
          </a:prstGeom>
          <a:solidFill>
            <a:srgbClr val="00B05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다운로드</a:t>
            </a:r>
            <a:r>
              <a:rPr lang="en-US" altLang="ko-KR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(Excel)</a:t>
            </a:r>
            <a:endParaRPr lang="ko-KR" altLang="en-US" sz="8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51" name="표 50">
            <a:extLst>
              <a:ext uri="{FF2B5EF4-FFF2-40B4-BE49-F238E27FC236}">
                <a16:creationId xmlns:a16="http://schemas.microsoft.com/office/drawing/2014/main" id="{0C478DE0-DFA6-1C76-37E4-3C8163CC43F3}"/>
              </a:ext>
            </a:extLst>
          </p:cNvPr>
          <p:cNvGraphicFramePr>
            <a:graphicFrameLocks noGrp="1"/>
          </p:cNvGraphicFramePr>
          <p:nvPr/>
        </p:nvGraphicFramePr>
        <p:xfrm>
          <a:off x="179901" y="2459406"/>
          <a:ext cx="7716801" cy="2027520"/>
        </p:xfrm>
        <a:graphic>
          <a:graphicData uri="http://schemas.openxmlformats.org/drawingml/2006/table">
            <a:tbl>
              <a:tblPr firstRow="1" bandRow="1"/>
              <a:tblGrid>
                <a:gridCol w="210293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956991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517155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2269679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771168">
                  <a:extLst>
                    <a:ext uri="{9D8B030D-6E8A-4147-A177-3AD203B41FA5}">
                      <a16:colId xmlns:a16="http://schemas.microsoft.com/office/drawing/2014/main" val="3053194834"/>
                    </a:ext>
                  </a:extLst>
                </a:gridCol>
                <a:gridCol w="704681">
                  <a:extLst>
                    <a:ext uri="{9D8B030D-6E8A-4147-A177-3AD203B41FA5}">
                      <a16:colId xmlns:a16="http://schemas.microsoft.com/office/drawing/2014/main" val="419952432"/>
                    </a:ext>
                  </a:extLst>
                </a:gridCol>
                <a:gridCol w="312581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704681">
                  <a:extLst>
                    <a:ext uri="{9D8B030D-6E8A-4147-A177-3AD203B41FA5}">
                      <a16:colId xmlns:a16="http://schemas.microsoft.com/office/drawing/2014/main" val="2523826374"/>
                    </a:ext>
                  </a:extLst>
                </a:gridCol>
                <a:gridCol w="619443">
                  <a:extLst>
                    <a:ext uri="{9D8B030D-6E8A-4147-A177-3AD203B41FA5}">
                      <a16:colId xmlns:a16="http://schemas.microsoft.com/office/drawing/2014/main" val="858523054"/>
                    </a:ext>
                  </a:extLst>
                </a:gridCol>
                <a:gridCol w="650129">
                  <a:extLst>
                    <a:ext uri="{9D8B030D-6E8A-4147-A177-3AD203B41FA5}">
                      <a16:colId xmlns:a16="http://schemas.microsoft.com/office/drawing/2014/main" val="20518093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□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발주계약 요청번호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진행상태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건명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요청일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계약예정일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구분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등록일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사업담당자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계약담당자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□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PR2026-0003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요청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서초동 </a:t>
                      </a:r>
                      <a:r>
                        <a:rPr kumimoji="0" lang="en-US" altLang="ko-KR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1601-9 </a:t>
                      </a:r>
                      <a:r>
                        <a:rPr kumimoji="0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오피스텔 신축공사 중 도장공사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2026.07.22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2026.07.31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공사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2026.06.10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홍길동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-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□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PR2026-0004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접수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금호동 </a:t>
                      </a:r>
                      <a:r>
                        <a:rPr kumimoji="0" lang="en-US" altLang="ko-KR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1601-9 </a:t>
                      </a:r>
                      <a:r>
                        <a:rPr kumimoji="0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오피스텔 신축공사 중 도장공사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용역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-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□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PR2026-0005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접수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금호동 </a:t>
                      </a:r>
                      <a:r>
                        <a:rPr kumimoji="0" lang="en-US" altLang="ko-KR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1601-9 </a:t>
                      </a:r>
                      <a:r>
                        <a:rPr kumimoji="0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오피스텔 신축공사 중 도장공사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물품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임꺽정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076827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□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sng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3946446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□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sng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8773569"/>
                  </a:ext>
                </a:extLst>
              </a:tr>
            </a:tbl>
          </a:graphicData>
        </a:graphic>
      </p:graphicFrame>
      <p:grpSp>
        <p:nvGrpSpPr>
          <p:cNvPr id="52" name="그룹 51">
            <a:extLst>
              <a:ext uri="{FF2B5EF4-FFF2-40B4-BE49-F238E27FC236}">
                <a16:creationId xmlns:a16="http://schemas.microsoft.com/office/drawing/2014/main" id="{881424C4-D587-341C-E21D-0CD974ACB0BE}"/>
              </a:ext>
            </a:extLst>
          </p:cNvPr>
          <p:cNvGrpSpPr/>
          <p:nvPr/>
        </p:nvGrpSpPr>
        <p:grpSpPr>
          <a:xfrm>
            <a:off x="2004219" y="4616816"/>
            <a:ext cx="4025354" cy="216024"/>
            <a:chOff x="2992062" y="4869160"/>
            <a:chExt cx="4025354" cy="216024"/>
          </a:xfrm>
        </p:grpSpPr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A3C878D7-3599-D6A7-CB7B-88A2E4D59430}"/>
                </a:ext>
              </a:extLst>
            </p:cNvPr>
            <p:cNvSpPr/>
            <p:nvPr/>
          </p:nvSpPr>
          <p:spPr>
            <a:xfrm>
              <a:off x="2992062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◀</a:t>
              </a:r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AF8229F4-D82E-3281-D4CC-4842FE609CDE}"/>
                </a:ext>
              </a:extLst>
            </p:cNvPr>
            <p:cNvSpPr/>
            <p:nvPr/>
          </p:nvSpPr>
          <p:spPr>
            <a:xfrm>
              <a:off x="3285089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&lt;</a:t>
              </a:r>
              <a:endPara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BCC07C0D-3D9A-8C2E-651C-115FC24FE67F}"/>
                </a:ext>
              </a:extLst>
            </p:cNvPr>
            <p:cNvSpPr/>
            <p:nvPr/>
          </p:nvSpPr>
          <p:spPr>
            <a:xfrm>
              <a:off x="3578116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854977AA-1217-F558-CF7E-D7A134FE22F5}"/>
                </a:ext>
              </a:extLst>
            </p:cNvPr>
            <p:cNvSpPr/>
            <p:nvPr/>
          </p:nvSpPr>
          <p:spPr>
            <a:xfrm>
              <a:off x="3871143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331425C2-7D81-5793-A32C-840DDCFA780B}"/>
                </a:ext>
              </a:extLst>
            </p:cNvPr>
            <p:cNvSpPr/>
            <p:nvPr/>
          </p:nvSpPr>
          <p:spPr>
            <a:xfrm>
              <a:off x="4164170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8ED71551-5036-B1E6-CA4D-5335EC423F6D}"/>
                </a:ext>
              </a:extLst>
            </p:cNvPr>
            <p:cNvSpPr/>
            <p:nvPr/>
          </p:nvSpPr>
          <p:spPr>
            <a:xfrm>
              <a:off x="4457197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4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EA3DE23A-6608-912E-EC6C-3EFCC51B32C0}"/>
                </a:ext>
              </a:extLst>
            </p:cNvPr>
            <p:cNvSpPr/>
            <p:nvPr/>
          </p:nvSpPr>
          <p:spPr>
            <a:xfrm>
              <a:off x="4750224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5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2CC9702C-57F7-823F-B99A-BA50AD7FCF2F}"/>
                </a:ext>
              </a:extLst>
            </p:cNvPr>
            <p:cNvSpPr/>
            <p:nvPr/>
          </p:nvSpPr>
          <p:spPr>
            <a:xfrm>
              <a:off x="5043251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6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48E96496-18E3-FE1A-06AD-20B9AC0E1BA5}"/>
                </a:ext>
              </a:extLst>
            </p:cNvPr>
            <p:cNvSpPr/>
            <p:nvPr/>
          </p:nvSpPr>
          <p:spPr>
            <a:xfrm>
              <a:off x="5336278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7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18426110-020A-1046-9A5C-88335E1AE8DC}"/>
                </a:ext>
              </a:extLst>
            </p:cNvPr>
            <p:cNvSpPr/>
            <p:nvPr/>
          </p:nvSpPr>
          <p:spPr>
            <a:xfrm>
              <a:off x="5629305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8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7B164C49-B47B-8019-68D5-F070195FFDF4}"/>
                </a:ext>
              </a:extLst>
            </p:cNvPr>
            <p:cNvSpPr/>
            <p:nvPr/>
          </p:nvSpPr>
          <p:spPr>
            <a:xfrm>
              <a:off x="5922332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9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5A6C71F0-1F0E-C6F4-4834-CC55B0D3A02D}"/>
                </a:ext>
              </a:extLst>
            </p:cNvPr>
            <p:cNvSpPr/>
            <p:nvPr/>
          </p:nvSpPr>
          <p:spPr>
            <a:xfrm>
              <a:off x="6215359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10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A76DF6CA-9370-10D5-C9C5-C07027D45579}"/>
                </a:ext>
              </a:extLst>
            </p:cNvPr>
            <p:cNvSpPr/>
            <p:nvPr/>
          </p:nvSpPr>
          <p:spPr>
            <a:xfrm>
              <a:off x="6508386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&gt;</a:t>
              </a:r>
              <a:endPara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8D3CCCD1-1FE1-11F8-1C6B-6EB39402D079}"/>
                </a:ext>
              </a:extLst>
            </p:cNvPr>
            <p:cNvSpPr/>
            <p:nvPr/>
          </p:nvSpPr>
          <p:spPr>
            <a:xfrm>
              <a:off x="6801416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▶</a:t>
              </a:r>
            </a:p>
          </p:txBody>
        </p:sp>
      </p:grpSp>
      <p:sp>
        <p:nvSpPr>
          <p:cNvPr id="5" name="직사각형 4">
            <a:extLst>
              <a:ext uri="{FF2B5EF4-FFF2-40B4-BE49-F238E27FC236}">
                <a16:creationId xmlns:a16="http://schemas.microsoft.com/office/drawing/2014/main" id="{3188453F-A160-1ABA-EAE3-85F8A8BF8162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</a:t>
            </a:r>
            <a:endParaRPr lang="ko-KR" altLang="en-US" sz="800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992A961-E3D1-A4CB-8F94-88ED40371002}"/>
              </a:ext>
            </a:extLst>
          </p:cNvPr>
          <p:cNvSpPr/>
          <p:nvPr/>
        </p:nvSpPr>
        <p:spPr>
          <a:xfrm>
            <a:off x="-529236" y="798199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kumimoji="1"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6D51FF1-BB2B-B96A-532A-EEBD32FF49F1}"/>
              </a:ext>
            </a:extLst>
          </p:cNvPr>
          <p:cNvSpPr/>
          <p:nvPr/>
        </p:nvSpPr>
        <p:spPr>
          <a:xfrm>
            <a:off x="-1690381" y="1098519"/>
            <a:ext cx="1467136" cy="56628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요청접수</a:t>
            </a:r>
            <a:endParaRPr lang="en-US" altLang="ko-KR" sz="800" u="sng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 등록 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1AFE5D58-1CC8-81F4-5FB6-6FDA4ADB34DF}"/>
              </a:ext>
            </a:extLst>
          </p:cNvPr>
          <p:cNvSpPr/>
          <p:nvPr/>
        </p:nvSpPr>
        <p:spPr>
          <a:xfrm>
            <a:off x="1161536" y="2392800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32CF4B9B-BFAE-65F1-77EA-13623AFC2A98}"/>
              </a:ext>
            </a:extLst>
          </p:cNvPr>
          <p:cNvSpPr/>
          <p:nvPr/>
        </p:nvSpPr>
        <p:spPr>
          <a:xfrm>
            <a:off x="235849" y="2718016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AC89FFF2-56C6-99FF-DC59-DE3B847238A5}"/>
              </a:ext>
            </a:extLst>
          </p:cNvPr>
          <p:cNvSpPr/>
          <p:nvPr/>
        </p:nvSpPr>
        <p:spPr>
          <a:xfrm>
            <a:off x="1264506" y="1582276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437120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35DF3-2DA1-35FD-BC9C-2650FEA4A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62E85633-0AB4-7F9A-A717-2AE3BAB3716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6E8495D-32ED-F02B-F173-A4DBD16FBA31}"/>
              </a:ext>
            </a:extLst>
          </p:cNvPr>
          <p:cNvSpPr txBox="1"/>
          <p:nvPr/>
        </p:nvSpPr>
        <p:spPr>
          <a:xfrm>
            <a:off x="749224" y="25608"/>
            <a:ext cx="284244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요청접수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조회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&gt; 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요청서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97679C-281F-4011-86E5-8BDED76010FF}"/>
              </a:ext>
            </a:extLst>
          </p:cNvPr>
          <p:cNvSpPr/>
          <p:nvPr/>
        </p:nvSpPr>
        <p:spPr>
          <a:xfrm>
            <a:off x="164468" y="414790"/>
            <a:ext cx="7391699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DA45C0E-F3CA-92BD-2A1E-797BE4E521F4}"/>
              </a:ext>
            </a:extLst>
          </p:cNvPr>
          <p:cNvSpPr/>
          <p:nvPr/>
        </p:nvSpPr>
        <p:spPr>
          <a:xfrm>
            <a:off x="164469" y="687700"/>
            <a:ext cx="7391698" cy="532494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943A342-C565-8CE2-1AC5-5B7A19F88D73}"/>
              </a:ext>
            </a:extLst>
          </p:cNvPr>
          <p:cNvSpPr/>
          <p:nvPr/>
        </p:nvSpPr>
        <p:spPr>
          <a:xfrm>
            <a:off x="7286167" y="414790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B9D5508-861C-20D3-095D-00C1438B7C7D}"/>
              </a:ext>
            </a:extLst>
          </p:cNvPr>
          <p:cNvSpPr/>
          <p:nvPr/>
        </p:nvSpPr>
        <p:spPr>
          <a:xfrm>
            <a:off x="7452512" y="688543"/>
            <a:ext cx="108012" cy="532416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69CD200-F289-36CF-BE98-856BCFDFA43B}"/>
              </a:ext>
            </a:extLst>
          </p:cNvPr>
          <p:cNvSpPr/>
          <p:nvPr/>
        </p:nvSpPr>
        <p:spPr>
          <a:xfrm>
            <a:off x="7452512" y="1070321"/>
            <a:ext cx="108012" cy="1800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BD43097-58E7-4F3E-16E5-E2F8B2E7F6CC}"/>
              </a:ext>
            </a:extLst>
          </p:cNvPr>
          <p:cNvSpPr/>
          <p:nvPr/>
        </p:nvSpPr>
        <p:spPr>
          <a:xfrm>
            <a:off x="301563" y="792082"/>
            <a:ext cx="1045158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2DB732C-8DEC-B1D3-C525-5A9FE5B1524B}"/>
              </a:ext>
            </a:extLst>
          </p:cNvPr>
          <p:cNvSpPr/>
          <p:nvPr/>
        </p:nvSpPr>
        <p:spPr>
          <a:xfrm>
            <a:off x="301563" y="1103162"/>
            <a:ext cx="574171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계약요청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14" name="Table 0">
            <a:extLst>
              <a:ext uri="{FF2B5EF4-FFF2-40B4-BE49-F238E27FC236}">
                <a16:creationId xmlns:a16="http://schemas.microsoft.com/office/drawing/2014/main" id="{E5F69C96-6ED3-3C1A-3154-17DFCE45D733}"/>
              </a:ext>
            </a:extLst>
          </p:cNvPr>
          <p:cNvGraphicFramePr>
            <a:graphicFrameLocks noGrp="1"/>
          </p:cNvGraphicFramePr>
          <p:nvPr/>
        </p:nvGraphicFramePr>
        <p:xfrm>
          <a:off x="301562" y="1380761"/>
          <a:ext cx="6990776" cy="877824"/>
        </p:xfrm>
        <a:graphic>
          <a:graphicData uri="http://schemas.openxmlformats.org/drawingml/2006/table">
            <a:tbl>
              <a:tblPr/>
              <a:tblGrid>
                <a:gridCol w="11802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62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29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13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계약요청일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2026-06-30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요청자 / 부서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노두윤 / 시공관리팀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계약예정일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2026-07-20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발주계약 구분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공사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결재문서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직사각형 14">
            <a:extLst>
              <a:ext uri="{FF2B5EF4-FFF2-40B4-BE49-F238E27FC236}">
                <a16:creationId xmlns:a16="http://schemas.microsoft.com/office/drawing/2014/main" id="{98AF9825-8CA5-4634-9B29-A80EEC73CE08}"/>
              </a:ext>
            </a:extLst>
          </p:cNvPr>
          <p:cNvSpPr/>
          <p:nvPr/>
        </p:nvSpPr>
        <p:spPr>
          <a:xfrm>
            <a:off x="301563" y="2352119"/>
            <a:ext cx="574171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수주계약 정보</a:t>
            </a:r>
          </a:p>
        </p:txBody>
      </p:sp>
      <p:graphicFrame>
        <p:nvGraphicFramePr>
          <p:cNvPr id="21" name="Table 1">
            <a:extLst>
              <a:ext uri="{FF2B5EF4-FFF2-40B4-BE49-F238E27FC236}">
                <a16:creationId xmlns:a16="http://schemas.microsoft.com/office/drawing/2014/main" id="{05156656-CC0C-B892-E94A-E022432F7514}"/>
              </a:ext>
            </a:extLst>
          </p:cNvPr>
          <p:cNvGraphicFramePr>
            <a:graphicFrameLocks noGrp="1"/>
          </p:cNvGraphicFramePr>
          <p:nvPr/>
        </p:nvGraphicFramePr>
        <p:xfrm>
          <a:off x="301562" y="2619411"/>
          <a:ext cx="6984605" cy="877824"/>
        </p:xfrm>
        <a:graphic>
          <a:graphicData uri="http://schemas.openxmlformats.org/drawingml/2006/table">
            <a:tbl>
              <a:tblPr/>
              <a:tblGrid>
                <a:gridCol w="11792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43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18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91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계약체결일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2025-06-25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에너지사용자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가람디에프씨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계약명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서초 가람디에프씨 LH 매입임대주택 에너지효율화사업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수주금액</a:t>
                      </a: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(</a:t>
                      </a:r>
                      <a:r>
                        <a:rPr lang="en-US" sz="8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공사금액</a:t>
                      </a: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)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15,000,000,000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KRW / VAT </a:t>
                      </a:r>
                      <a:r>
                        <a:rPr lang="en-US" sz="8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제외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" name="직사각형 21">
            <a:extLst>
              <a:ext uri="{FF2B5EF4-FFF2-40B4-BE49-F238E27FC236}">
                <a16:creationId xmlns:a16="http://schemas.microsoft.com/office/drawing/2014/main" id="{C2E319C3-388F-60A7-CA54-90DBA8946E37}"/>
              </a:ext>
            </a:extLst>
          </p:cNvPr>
          <p:cNvSpPr/>
          <p:nvPr/>
        </p:nvSpPr>
        <p:spPr>
          <a:xfrm>
            <a:off x="301563" y="3614445"/>
            <a:ext cx="574171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체크리스트</a:t>
            </a:r>
          </a:p>
        </p:txBody>
      </p:sp>
      <p:graphicFrame>
        <p:nvGraphicFramePr>
          <p:cNvPr id="24" name="Table 2">
            <a:extLst>
              <a:ext uri="{FF2B5EF4-FFF2-40B4-BE49-F238E27FC236}">
                <a16:creationId xmlns:a16="http://schemas.microsoft.com/office/drawing/2014/main" id="{EFA30779-4457-AFE3-A837-C66C222A18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9628498"/>
              </p:ext>
            </p:extLst>
          </p:nvPr>
        </p:nvGraphicFramePr>
        <p:xfrm>
          <a:off x="301562" y="3916716"/>
          <a:ext cx="6984605" cy="1463040"/>
        </p:xfrm>
        <a:graphic>
          <a:graphicData uri="http://schemas.openxmlformats.org/drawingml/2006/table">
            <a:tbl>
              <a:tblPr/>
              <a:tblGrid>
                <a:gridCol w="11792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43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18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91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계약명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서초동 1601-9 오피스텔 신축공사 중 도장공사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추정금액(소요예산)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94,490,000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KRW / VAT 포함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공사기간(납기일)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2026-07-20 ~ 2027-06-30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현장 내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계약방법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경쟁입찰(일반)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낙찰자 선정방법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제한적 최저가 입찰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수의계약사유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5" name="직사각형 34">
            <a:extLst>
              <a:ext uri="{FF2B5EF4-FFF2-40B4-BE49-F238E27FC236}">
                <a16:creationId xmlns:a16="http://schemas.microsoft.com/office/drawing/2014/main" id="{B9B17179-6AC4-D925-32F3-48BEB0E4C517}"/>
              </a:ext>
            </a:extLst>
          </p:cNvPr>
          <p:cNvSpPr/>
          <p:nvPr/>
        </p:nvSpPr>
        <p:spPr>
          <a:xfrm>
            <a:off x="168335" y="5832620"/>
            <a:ext cx="7279820" cy="18002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계속</a:t>
            </a: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7F167554-A789-1659-FB86-D4E7E15D9898}"/>
              </a:ext>
            </a:extLst>
          </p:cNvPr>
          <p:cNvGrpSpPr/>
          <p:nvPr/>
        </p:nvGrpSpPr>
        <p:grpSpPr>
          <a:xfrm>
            <a:off x="5781091" y="835105"/>
            <a:ext cx="1505075" cy="215441"/>
            <a:chOff x="5383899" y="1059428"/>
            <a:chExt cx="1902268" cy="215441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8AC22F87-0EB8-564B-215D-D4383AB6B7E5}"/>
                </a:ext>
              </a:extLst>
            </p:cNvPr>
            <p:cNvSpPr/>
            <p:nvPr/>
          </p:nvSpPr>
          <p:spPr>
            <a:xfrm>
              <a:off x="6372455" y="1059428"/>
              <a:ext cx="913712" cy="215441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CFD20443-C6C1-3523-9568-ED0DA6ECCBAB}"/>
                </a:ext>
              </a:extLst>
            </p:cNvPr>
            <p:cNvSpPr/>
            <p:nvPr/>
          </p:nvSpPr>
          <p:spPr>
            <a:xfrm>
              <a:off x="5383899" y="1059428"/>
              <a:ext cx="913712" cy="215441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인쇄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295453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7B315-F4AD-68A1-39DF-DF4A83DF5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B3632785-2CCD-68AA-562D-307942EAEC4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E0553FC-48F0-F451-7EF5-F2A8CB18E763}"/>
              </a:ext>
            </a:extLst>
          </p:cNvPr>
          <p:cNvSpPr txBox="1"/>
          <p:nvPr/>
        </p:nvSpPr>
        <p:spPr>
          <a:xfrm>
            <a:off x="749224" y="25608"/>
            <a:ext cx="284244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요청접수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조회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&gt; 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요청서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06B5814-5F30-2EB4-A803-A38A8876C815}"/>
              </a:ext>
            </a:extLst>
          </p:cNvPr>
          <p:cNvSpPr/>
          <p:nvPr/>
        </p:nvSpPr>
        <p:spPr>
          <a:xfrm>
            <a:off x="164469" y="368660"/>
            <a:ext cx="7391698" cy="439248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8A20E5D-39EB-4B4A-06C4-55FAD6C8C115}"/>
              </a:ext>
            </a:extLst>
          </p:cNvPr>
          <p:cNvSpPr/>
          <p:nvPr/>
        </p:nvSpPr>
        <p:spPr>
          <a:xfrm>
            <a:off x="7452512" y="369504"/>
            <a:ext cx="108012" cy="439184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736E6FD-0438-DCC9-934E-629F7EDBD24F}"/>
              </a:ext>
            </a:extLst>
          </p:cNvPr>
          <p:cNvSpPr/>
          <p:nvPr/>
        </p:nvSpPr>
        <p:spPr>
          <a:xfrm>
            <a:off x="7452512" y="751281"/>
            <a:ext cx="108012" cy="1800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26" name="Table 3">
            <a:extLst>
              <a:ext uri="{FF2B5EF4-FFF2-40B4-BE49-F238E27FC236}">
                <a16:creationId xmlns:a16="http://schemas.microsoft.com/office/drawing/2014/main" id="{8247A746-1981-2EDA-E18A-BF3DCA1040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4551928"/>
              </p:ext>
            </p:extLst>
          </p:nvPr>
        </p:nvGraphicFramePr>
        <p:xfrm>
          <a:off x="308724" y="503390"/>
          <a:ext cx="6977444" cy="1371600"/>
        </p:xfrm>
        <a:graphic>
          <a:graphicData uri="http://schemas.openxmlformats.org/drawingml/2006/table">
            <a:tbl>
              <a:tblPr/>
              <a:tblGrid>
                <a:gridCol w="4757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2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4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369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 rowSpan="5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자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격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면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허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종합건설업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N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전문건설업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Y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도장/습식/방수/석공사업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개별공사업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N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용역업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N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기타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N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8F0E02D7-1EEE-9C35-5FA8-FC8B76CFA9F7}"/>
              </a:ext>
            </a:extLst>
          </p:cNvPr>
          <p:cNvGraphicFramePr>
            <a:graphicFrameLocks noGrp="1"/>
          </p:cNvGraphicFramePr>
          <p:nvPr/>
        </p:nvGraphicFramePr>
        <p:xfrm>
          <a:off x="301562" y="1960242"/>
          <a:ext cx="6984605" cy="292608"/>
        </p:xfrm>
        <a:graphic>
          <a:graphicData uri="http://schemas.openxmlformats.org/drawingml/2006/table">
            <a:tbl>
              <a:tblPr/>
              <a:tblGrid>
                <a:gridCol w="1179219">
                  <a:extLst>
                    <a:ext uri="{9D8B030D-6E8A-4147-A177-3AD203B41FA5}">
                      <a16:colId xmlns:a16="http://schemas.microsoft.com/office/drawing/2014/main" val="893408027"/>
                    </a:ext>
                  </a:extLst>
                </a:gridCol>
                <a:gridCol w="2154342">
                  <a:extLst>
                    <a:ext uri="{9D8B030D-6E8A-4147-A177-3AD203B41FA5}">
                      <a16:colId xmlns:a16="http://schemas.microsoft.com/office/drawing/2014/main" val="952411172"/>
                    </a:ext>
                  </a:extLst>
                </a:gridCol>
                <a:gridCol w="1201896">
                  <a:extLst>
                    <a:ext uri="{9D8B030D-6E8A-4147-A177-3AD203B41FA5}">
                      <a16:colId xmlns:a16="http://schemas.microsoft.com/office/drawing/2014/main" val="3259021618"/>
                    </a:ext>
                  </a:extLst>
                </a:gridCol>
                <a:gridCol w="2449148">
                  <a:extLst>
                    <a:ext uri="{9D8B030D-6E8A-4147-A177-3AD203B41FA5}">
                      <a16:colId xmlns:a16="http://schemas.microsoft.com/office/drawing/2014/main" val="2474256078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계약이행 보증금률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10%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하자이행 보증금률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3% (준공일로부터 2년)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7222931"/>
                  </a:ext>
                </a:extLst>
              </a:tr>
            </a:tbl>
          </a:graphicData>
        </a:graphic>
      </p:graphicFrame>
      <p:graphicFrame>
        <p:nvGraphicFramePr>
          <p:cNvPr id="29" name="Table 5">
            <a:extLst>
              <a:ext uri="{FF2B5EF4-FFF2-40B4-BE49-F238E27FC236}">
                <a16:creationId xmlns:a16="http://schemas.microsoft.com/office/drawing/2014/main" id="{F294438D-B950-3E9B-D196-D895F2999673}"/>
              </a:ext>
            </a:extLst>
          </p:cNvPr>
          <p:cNvGraphicFramePr>
            <a:graphicFrameLocks noGrp="1"/>
          </p:cNvGraphicFramePr>
          <p:nvPr/>
        </p:nvGraphicFramePr>
        <p:xfrm>
          <a:off x="301562" y="2321638"/>
          <a:ext cx="6984605" cy="877824"/>
        </p:xfrm>
        <a:graphic>
          <a:graphicData uri="http://schemas.openxmlformats.org/drawingml/2006/table">
            <a:tbl>
              <a:tblPr/>
              <a:tblGrid>
                <a:gridCol w="4762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2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24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529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 row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첨</a:t>
                      </a:r>
                      <a:endParaRPr lang="en-US" sz="800" dirty="0"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부</a:t>
                      </a:r>
                      <a:endParaRPr lang="en-US" sz="800" dirty="0"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공사</a:t>
                      </a:r>
                      <a:endParaRPr lang="en-US" sz="800" dirty="0"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첨부완료(1건)</a:t>
                      </a:r>
                      <a:endParaRPr lang="en-US" sz="800" dirty="0"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시방서, 원가계산서, 설계서(도면, 공정표 등)</a:t>
                      </a:r>
                      <a:endParaRPr lang="en-US" sz="800" dirty="0"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용역</a:t>
                      </a:r>
                      <a:endParaRPr lang="en-US" sz="800" dirty="0"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원가계산서(or 산출내역서), 과업지시서</a:t>
                      </a:r>
                      <a:endParaRPr lang="en-US" sz="800" dirty="0"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물품</a:t>
                      </a:r>
                      <a:endParaRPr lang="en-US" sz="800" dirty="0"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산출내역서(or 원가계산서), 사양서(or 구매규격서)</a:t>
                      </a:r>
                      <a:endParaRPr lang="en-US" sz="800" dirty="0"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9551499D-ADD1-BFEA-BD9C-9106E6CD0FD2}"/>
              </a:ext>
            </a:extLst>
          </p:cNvPr>
          <p:cNvGraphicFramePr>
            <a:graphicFrameLocks noGrp="1"/>
          </p:cNvGraphicFramePr>
          <p:nvPr/>
        </p:nvGraphicFramePr>
        <p:xfrm>
          <a:off x="301562" y="3275373"/>
          <a:ext cx="6984605" cy="585216"/>
        </p:xfrm>
        <a:graphic>
          <a:graphicData uri="http://schemas.openxmlformats.org/drawingml/2006/table">
            <a:tbl>
              <a:tblPr/>
              <a:tblGrid>
                <a:gridCol w="11792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529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기타 첨부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발주처 규격(규격에 의한 수의계약 요청 시)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공동수주협약서(공동수주업체와 수의계약 요청 시)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" name="Table 7">
            <a:extLst>
              <a:ext uri="{FF2B5EF4-FFF2-40B4-BE49-F238E27FC236}">
                <a16:creationId xmlns:a16="http://schemas.microsoft.com/office/drawing/2014/main" id="{CEF82730-7784-36F6-EE97-663BB31C1C89}"/>
              </a:ext>
            </a:extLst>
          </p:cNvPr>
          <p:cNvGraphicFramePr>
            <a:graphicFrameLocks noGrp="1"/>
          </p:cNvGraphicFramePr>
          <p:nvPr/>
        </p:nvGraphicFramePr>
        <p:xfrm>
          <a:off x="301562" y="3927926"/>
          <a:ext cx="6977444" cy="292608"/>
        </p:xfrm>
        <a:graphic>
          <a:graphicData uri="http://schemas.openxmlformats.org/drawingml/2006/table">
            <a:tbl>
              <a:tblPr/>
              <a:tblGrid>
                <a:gridCol w="1178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14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79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 pitchFamily="34" charset="-120"/>
                        </a:rPr>
                        <a:t>추가 전달자료</a:t>
                      </a: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 charset="0"/>
                      </a:endParaRPr>
                    </a:p>
                  </a:txBody>
                  <a:tcPr marL="50800" marR="50800" marT="12700" marB="127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" name="직사각형 19">
            <a:extLst>
              <a:ext uri="{FF2B5EF4-FFF2-40B4-BE49-F238E27FC236}">
                <a16:creationId xmlns:a16="http://schemas.microsoft.com/office/drawing/2014/main" id="{930A8EBD-DB86-0FF5-ADB2-AC7CACF79A5D}"/>
              </a:ext>
            </a:extLst>
          </p:cNvPr>
          <p:cNvSpPr/>
          <p:nvPr/>
        </p:nvSpPr>
        <p:spPr>
          <a:xfrm>
            <a:off x="6591183" y="4298134"/>
            <a:ext cx="699418" cy="2880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닫기</a:t>
            </a:r>
          </a:p>
        </p:txBody>
      </p:sp>
    </p:spTree>
    <p:extLst>
      <p:ext uri="{BB962C8B-B14F-4D97-AF65-F5344CB8AC3E}">
        <p14:creationId xmlns:p14="http://schemas.microsoft.com/office/powerpoint/2010/main" val="25821942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2F49F-7D5F-EF16-42C0-821622D4D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AD9DC1F3-10D0-A324-F4EF-040A66795DE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554B5DF3-B132-5243-1E3B-748A86E5AAFB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0737A714-F720-2FDA-4479-031C799A56A2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A829B97-A3B3-8BDF-1EAF-73D762F8A384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전자입찰시스템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2" name="Picture 1">
            <a:extLst>
              <a:ext uri="{FF2B5EF4-FFF2-40B4-BE49-F238E27FC236}">
                <a16:creationId xmlns:a16="http://schemas.microsoft.com/office/drawing/2014/main" id="{34F2BF62-CB2A-FF8F-0B78-5ABCAE73D2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graphicFrame>
        <p:nvGraphicFramePr>
          <p:cNvPr id="36" name="표 35">
            <a:extLst>
              <a:ext uri="{FF2B5EF4-FFF2-40B4-BE49-F238E27FC236}">
                <a16:creationId xmlns:a16="http://schemas.microsoft.com/office/drawing/2014/main" id="{3AA0B4B2-FC5B-86BE-1265-9B1AB7FCC7C1}"/>
              </a:ext>
            </a:extLst>
          </p:cNvPr>
          <p:cNvGraphicFramePr>
            <a:graphicFrameLocks noGrp="1"/>
          </p:cNvGraphicFramePr>
          <p:nvPr/>
        </p:nvGraphicFramePr>
        <p:xfrm>
          <a:off x="164467" y="1887010"/>
          <a:ext cx="7740859" cy="3973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3591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387268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292486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발주계약 요청번호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PR2026-0003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2444"/>
                  </a:ext>
                </a:extLst>
              </a:tr>
              <a:tr h="292486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처리상태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요청 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| 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접수</a:t>
                      </a:r>
                      <a:endParaRPr lang="ko-KR" altLang="en-US" sz="800" b="0" spc="-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6995847"/>
                  </a:ext>
                </a:extLst>
              </a:tr>
              <a:tr h="292486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건명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서초동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1601-9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오피스텔 신축공사 중 도장공사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065799"/>
                  </a:ext>
                </a:extLst>
              </a:tr>
              <a:tr h="292486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요청일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2026.06.30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357048"/>
                  </a:ext>
                </a:extLst>
              </a:tr>
              <a:tr h="292486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계약예정일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2026.07.20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0027310"/>
                  </a:ext>
                </a:extLst>
              </a:tr>
              <a:tr h="292486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구분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공사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5394118"/>
                  </a:ext>
                </a:extLst>
              </a:tr>
              <a:tr h="806932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수주계약 정보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수주계약번호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160011612-01-31-C</a:t>
                      </a: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수주계약명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: GE-4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에너지효율화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(ID Fan VVVF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설치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사업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수주계약일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2026.12.23</a:t>
                      </a: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수주계약업체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군장에너지주식회사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5777443"/>
                  </a:ext>
                </a:extLst>
              </a:tr>
              <a:tr h="292486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등록일시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2026.06.10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15:42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5100570"/>
                  </a:ext>
                </a:extLst>
              </a:tr>
              <a:tr h="292486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사업담당자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홍길동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9364413"/>
                  </a:ext>
                </a:extLst>
              </a:tr>
              <a:tr h="292486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계약담당자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임꺽정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2817599"/>
                  </a:ext>
                </a:extLst>
              </a:tr>
            </a:tbl>
          </a:graphicData>
        </a:graphic>
      </p:graphicFrame>
      <p:graphicFrame>
        <p:nvGraphicFramePr>
          <p:cNvPr id="63" name="표 62">
            <a:extLst>
              <a:ext uri="{FF2B5EF4-FFF2-40B4-BE49-F238E27FC236}">
                <a16:creationId xmlns:a16="http://schemas.microsoft.com/office/drawing/2014/main" id="{C1263E8F-F3E9-10FE-BB49-623856B65424}"/>
              </a:ext>
            </a:extLst>
          </p:cNvPr>
          <p:cNvGraphicFramePr>
            <a:graphicFrameLocks noGrp="1"/>
          </p:cNvGraphicFramePr>
          <p:nvPr/>
        </p:nvGraphicFramePr>
        <p:xfrm>
          <a:off x="179901" y="809500"/>
          <a:ext cx="7713520" cy="675840"/>
        </p:xfrm>
        <a:graphic>
          <a:graphicData uri="http://schemas.openxmlformats.org/drawingml/2006/table">
            <a:tbl>
              <a:tblPr firstRow="1" bandRow="1"/>
              <a:tblGrid>
                <a:gridCol w="793960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506677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2223692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755544">
                  <a:extLst>
                    <a:ext uri="{9D8B030D-6E8A-4147-A177-3AD203B41FA5}">
                      <a16:colId xmlns:a16="http://schemas.microsoft.com/office/drawing/2014/main" val="3053194834"/>
                    </a:ext>
                  </a:extLst>
                </a:gridCol>
                <a:gridCol w="690404">
                  <a:extLst>
                    <a:ext uri="{9D8B030D-6E8A-4147-A177-3AD203B41FA5}">
                      <a16:colId xmlns:a16="http://schemas.microsoft.com/office/drawing/2014/main" val="419952432"/>
                    </a:ext>
                  </a:extLst>
                </a:gridCol>
                <a:gridCol w="306247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1139700">
                  <a:extLst>
                    <a:ext uri="{9D8B030D-6E8A-4147-A177-3AD203B41FA5}">
                      <a16:colId xmlns:a16="http://schemas.microsoft.com/office/drawing/2014/main" val="883633877"/>
                    </a:ext>
                  </a:extLst>
                </a:gridCol>
                <a:gridCol w="690404">
                  <a:extLst>
                    <a:ext uri="{9D8B030D-6E8A-4147-A177-3AD203B41FA5}">
                      <a16:colId xmlns:a16="http://schemas.microsoft.com/office/drawing/2014/main" val="2523826374"/>
                    </a:ext>
                  </a:extLst>
                </a:gridCol>
                <a:gridCol w="606892">
                  <a:extLst>
                    <a:ext uri="{9D8B030D-6E8A-4147-A177-3AD203B41FA5}">
                      <a16:colId xmlns:a16="http://schemas.microsoft.com/office/drawing/2014/main" val="8585230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요청번호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진행상태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건명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요청일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계약예정일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구분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수주계약번호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등록일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사업담당자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PR2026-0003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요청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서초동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1601-9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오피스텔 신축공사 중 도장공사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2026.07.22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2026.07.31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공사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160011612-01-31-C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2026.06.10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홍길동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</a:tbl>
          </a:graphicData>
        </a:graphic>
      </p:graphicFrame>
      <p:sp>
        <p:nvSpPr>
          <p:cNvPr id="67" name="직사각형 66">
            <a:extLst>
              <a:ext uri="{FF2B5EF4-FFF2-40B4-BE49-F238E27FC236}">
                <a16:creationId xmlns:a16="http://schemas.microsoft.com/office/drawing/2014/main" id="{A7E87071-9BC1-C556-B599-EEC7C37C75E9}"/>
              </a:ext>
            </a:extLst>
          </p:cNvPr>
          <p:cNvSpPr/>
          <p:nvPr/>
        </p:nvSpPr>
        <p:spPr>
          <a:xfrm>
            <a:off x="183392" y="1592796"/>
            <a:ext cx="7713520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 기본정보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22E205E-AD5F-37D2-1854-D278C02B54C0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</a:t>
            </a:r>
            <a:endParaRPr lang="ko-KR" altLang="en-US" sz="800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50F271E-2F64-C17E-AF8E-8CAAB7811D37}"/>
              </a:ext>
            </a:extLst>
          </p:cNvPr>
          <p:cNvSpPr/>
          <p:nvPr/>
        </p:nvSpPr>
        <p:spPr>
          <a:xfrm>
            <a:off x="-529236" y="798199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kumimoji="1"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C580C5D-21A0-195F-C1E9-3ED23AE9423F}"/>
              </a:ext>
            </a:extLst>
          </p:cNvPr>
          <p:cNvSpPr/>
          <p:nvPr/>
        </p:nvSpPr>
        <p:spPr>
          <a:xfrm>
            <a:off x="-1690381" y="1098519"/>
            <a:ext cx="1467136" cy="56628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요청접수</a:t>
            </a:r>
            <a:endParaRPr lang="en-US" altLang="ko-KR" sz="800" u="sng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 등록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5E6922-9534-ED6F-6746-1B683DCA4704}"/>
              </a:ext>
            </a:extLst>
          </p:cNvPr>
          <p:cNvSpPr txBox="1"/>
          <p:nvPr/>
        </p:nvSpPr>
        <p:spPr>
          <a:xfrm>
            <a:off x="749224" y="25608"/>
            <a:ext cx="191430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요청접수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상세정보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0A79F1F-E9CF-C89B-5F36-1F7B275FB208}"/>
              </a:ext>
            </a:extLst>
          </p:cNvPr>
          <p:cNvSpPr/>
          <p:nvPr/>
        </p:nvSpPr>
        <p:spPr>
          <a:xfrm>
            <a:off x="164468" y="403565"/>
            <a:ext cx="997068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요청접수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D3FCBD5C-99B5-4260-F644-9E73DE88A5DF}"/>
              </a:ext>
            </a:extLst>
          </p:cNvPr>
          <p:cNvSpPr/>
          <p:nvPr/>
        </p:nvSpPr>
        <p:spPr>
          <a:xfrm>
            <a:off x="0" y="6676486"/>
            <a:ext cx="8049344" cy="18002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계속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9DD64EF-AF28-EA52-F9DE-035558D873F2}"/>
              </a:ext>
            </a:extLst>
          </p:cNvPr>
          <p:cNvSpPr/>
          <p:nvPr/>
        </p:nvSpPr>
        <p:spPr>
          <a:xfrm>
            <a:off x="1948918" y="5579242"/>
            <a:ext cx="913712" cy="215441"/>
          </a:xfrm>
          <a:prstGeom prst="rect">
            <a:avLst/>
          </a:prstGeom>
          <a:solidFill>
            <a:srgbClr val="00B05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계약담당자 매핑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35C15E3-02C0-6409-686E-A4E9622FF3E9}"/>
              </a:ext>
            </a:extLst>
          </p:cNvPr>
          <p:cNvSpPr/>
          <p:nvPr/>
        </p:nvSpPr>
        <p:spPr>
          <a:xfrm>
            <a:off x="4196916" y="2032784"/>
            <a:ext cx="5597391" cy="354645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60998B0-8E3E-7B70-D810-4280EE0322E3}"/>
              </a:ext>
            </a:extLst>
          </p:cNvPr>
          <p:cNvSpPr/>
          <p:nvPr/>
        </p:nvSpPr>
        <p:spPr>
          <a:xfrm>
            <a:off x="4356634" y="2431131"/>
            <a:ext cx="1045158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계약담당자 매핑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613D4B1-7741-350F-BDEA-0BEB14163787}"/>
              </a:ext>
            </a:extLst>
          </p:cNvPr>
          <p:cNvSpPr/>
          <p:nvPr/>
        </p:nvSpPr>
        <p:spPr>
          <a:xfrm>
            <a:off x="4350556" y="2785302"/>
            <a:ext cx="5199686" cy="47359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l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13DA173-03B5-C364-6ABF-A16C3BCD87DB}"/>
              </a:ext>
            </a:extLst>
          </p:cNvPr>
          <p:cNvSpPr/>
          <p:nvPr/>
        </p:nvSpPr>
        <p:spPr>
          <a:xfrm>
            <a:off x="5296075" y="2914970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구분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EC1A8C0-0A84-50CA-4A1F-B9D9193BAA24}"/>
              </a:ext>
            </a:extLst>
          </p:cNvPr>
          <p:cNvSpPr/>
          <p:nvPr/>
        </p:nvSpPr>
        <p:spPr>
          <a:xfrm>
            <a:off x="6106326" y="2914972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AD09D6D-2DB9-CFCE-93CE-67B72AC807B3}"/>
              </a:ext>
            </a:extLst>
          </p:cNvPr>
          <p:cNvSpPr/>
          <p:nvPr/>
        </p:nvSpPr>
        <p:spPr>
          <a:xfrm>
            <a:off x="6421463" y="2914970"/>
            <a:ext cx="1716735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검색어를 입력하세요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7DCFA96-ABB7-AACB-3F61-CF8EB62E3B58}"/>
              </a:ext>
            </a:extLst>
          </p:cNvPr>
          <p:cNvSpPr/>
          <p:nvPr/>
        </p:nvSpPr>
        <p:spPr>
          <a:xfrm>
            <a:off x="8202084" y="2914972"/>
            <a:ext cx="625198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D31881F-EA8D-880A-CD23-52E3A15AB4EF}"/>
              </a:ext>
            </a:extLst>
          </p:cNvPr>
          <p:cNvSpPr txBox="1"/>
          <p:nvPr/>
        </p:nvSpPr>
        <p:spPr>
          <a:xfrm>
            <a:off x="4421937" y="2922115"/>
            <a:ext cx="259548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lvl="0" indent="-72000" algn="l">
              <a:buFont typeface="Arial" panose="020B0604020202020204" pitchFamily="34" charset="0"/>
              <a:buChar char="•"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키워드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검색 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</a:t>
            </a:r>
            <a:endParaRPr lang="ko-KR" altLang="en-US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8CA6491C-44D5-2F69-0528-301D2D76FF48}"/>
              </a:ext>
            </a:extLst>
          </p:cNvPr>
          <p:cNvGraphicFramePr>
            <a:graphicFrameLocks noGrp="1"/>
          </p:cNvGraphicFramePr>
          <p:nvPr/>
        </p:nvGraphicFramePr>
        <p:xfrm>
          <a:off x="4348410" y="3657411"/>
          <a:ext cx="5201832" cy="135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465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553249">
                  <a:extLst>
                    <a:ext uri="{9D8B030D-6E8A-4147-A177-3AD203B41FA5}">
                      <a16:colId xmlns:a16="http://schemas.microsoft.com/office/drawing/2014/main" val="2264476566"/>
                    </a:ext>
                  </a:extLst>
                </a:gridCol>
                <a:gridCol w="553249">
                  <a:extLst>
                    <a:ext uri="{9D8B030D-6E8A-4147-A177-3AD203B41FA5}">
                      <a16:colId xmlns:a16="http://schemas.microsoft.com/office/drawing/2014/main" val="1900745260"/>
                    </a:ext>
                  </a:extLst>
                </a:gridCol>
                <a:gridCol w="783204">
                  <a:extLst>
                    <a:ext uri="{9D8B030D-6E8A-4147-A177-3AD203B41FA5}">
                      <a16:colId xmlns:a16="http://schemas.microsoft.com/office/drawing/2014/main" val="1854595363"/>
                    </a:ext>
                  </a:extLst>
                </a:gridCol>
                <a:gridCol w="438273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  <a:gridCol w="1428995">
                  <a:extLst>
                    <a:ext uri="{9D8B030D-6E8A-4147-A177-3AD203B41FA5}">
                      <a16:colId xmlns:a16="http://schemas.microsoft.com/office/drawing/2014/main" val="2048789610"/>
                    </a:ext>
                  </a:extLst>
                </a:gridCol>
                <a:gridCol w="713397">
                  <a:extLst>
                    <a:ext uri="{9D8B030D-6E8A-4147-A177-3AD203B41FA5}">
                      <a16:colId xmlns:a16="http://schemas.microsoft.com/office/drawing/2014/main" val="7009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사원번호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아이디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사원명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부서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직급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이메일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선택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2110004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simon</a:t>
                      </a: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홍길동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기획지원팀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과장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simon@kepcoes.co.kr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076827"/>
                  </a:ext>
                </a:extLst>
              </a:tr>
            </a:tbl>
          </a:graphicData>
        </a:graphic>
      </p:graphicFrame>
      <p:grpSp>
        <p:nvGrpSpPr>
          <p:cNvPr id="24" name="그룹 23">
            <a:extLst>
              <a:ext uri="{FF2B5EF4-FFF2-40B4-BE49-F238E27FC236}">
                <a16:creationId xmlns:a16="http://schemas.microsoft.com/office/drawing/2014/main" id="{E052C81E-3090-6F96-53E4-2AF28179DED0}"/>
              </a:ext>
            </a:extLst>
          </p:cNvPr>
          <p:cNvGrpSpPr/>
          <p:nvPr/>
        </p:nvGrpSpPr>
        <p:grpSpPr>
          <a:xfrm>
            <a:off x="4920409" y="5128459"/>
            <a:ext cx="4025354" cy="216024"/>
            <a:chOff x="2992062" y="4869160"/>
            <a:chExt cx="4025354" cy="216024"/>
          </a:xfrm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7D02F895-EE25-BE1A-6DD6-98E8532F5A15}"/>
                </a:ext>
              </a:extLst>
            </p:cNvPr>
            <p:cNvSpPr/>
            <p:nvPr/>
          </p:nvSpPr>
          <p:spPr>
            <a:xfrm>
              <a:off x="2992062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◀</a:t>
              </a: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3C3AE2F0-0913-8AAE-F0CF-7E2796B77361}"/>
                </a:ext>
              </a:extLst>
            </p:cNvPr>
            <p:cNvSpPr/>
            <p:nvPr/>
          </p:nvSpPr>
          <p:spPr>
            <a:xfrm>
              <a:off x="3285089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&lt;</a:t>
              </a:r>
              <a:endPara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AFA8C883-83D6-656F-636A-747A62A9A02C}"/>
                </a:ext>
              </a:extLst>
            </p:cNvPr>
            <p:cNvSpPr/>
            <p:nvPr/>
          </p:nvSpPr>
          <p:spPr>
            <a:xfrm>
              <a:off x="3578116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2DA38489-8A27-E320-6851-847E49E0688A}"/>
                </a:ext>
              </a:extLst>
            </p:cNvPr>
            <p:cNvSpPr/>
            <p:nvPr/>
          </p:nvSpPr>
          <p:spPr>
            <a:xfrm>
              <a:off x="3871143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294AEAE9-4EBA-4920-B852-3166FF0A7128}"/>
                </a:ext>
              </a:extLst>
            </p:cNvPr>
            <p:cNvSpPr/>
            <p:nvPr/>
          </p:nvSpPr>
          <p:spPr>
            <a:xfrm>
              <a:off x="4164170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FE6C0A86-64F4-4A96-92DE-335358D108A3}"/>
                </a:ext>
              </a:extLst>
            </p:cNvPr>
            <p:cNvSpPr/>
            <p:nvPr/>
          </p:nvSpPr>
          <p:spPr>
            <a:xfrm>
              <a:off x="4457197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4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BCE441B1-E5FD-3EF5-5B84-8DC91613E9F7}"/>
                </a:ext>
              </a:extLst>
            </p:cNvPr>
            <p:cNvSpPr/>
            <p:nvPr/>
          </p:nvSpPr>
          <p:spPr>
            <a:xfrm>
              <a:off x="4750224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5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F0D138F9-0EEE-FD92-A482-52FD083DFA35}"/>
                </a:ext>
              </a:extLst>
            </p:cNvPr>
            <p:cNvSpPr/>
            <p:nvPr/>
          </p:nvSpPr>
          <p:spPr>
            <a:xfrm>
              <a:off x="5043251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6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69501623-2695-9CE0-1EFD-8F2CE188D3F4}"/>
                </a:ext>
              </a:extLst>
            </p:cNvPr>
            <p:cNvSpPr/>
            <p:nvPr/>
          </p:nvSpPr>
          <p:spPr>
            <a:xfrm>
              <a:off x="5336278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7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4D5E41E1-326D-F52F-30FC-24CF143F9BFF}"/>
                </a:ext>
              </a:extLst>
            </p:cNvPr>
            <p:cNvSpPr/>
            <p:nvPr/>
          </p:nvSpPr>
          <p:spPr>
            <a:xfrm>
              <a:off x="5629305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8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08F28E37-6429-2174-3385-18DED2CF6462}"/>
                </a:ext>
              </a:extLst>
            </p:cNvPr>
            <p:cNvSpPr/>
            <p:nvPr/>
          </p:nvSpPr>
          <p:spPr>
            <a:xfrm>
              <a:off x="5922332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9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3210AD38-9177-F9D0-2CC0-4455629F4817}"/>
                </a:ext>
              </a:extLst>
            </p:cNvPr>
            <p:cNvSpPr/>
            <p:nvPr/>
          </p:nvSpPr>
          <p:spPr>
            <a:xfrm>
              <a:off x="6215359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10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E11EF765-02E5-6A59-4A62-507C8811C4C0}"/>
                </a:ext>
              </a:extLst>
            </p:cNvPr>
            <p:cNvSpPr/>
            <p:nvPr/>
          </p:nvSpPr>
          <p:spPr>
            <a:xfrm>
              <a:off x="6508386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&gt;</a:t>
              </a:r>
              <a:endPara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D3372C95-C751-4BD4-FBAF-65A688A98C7A}"/>
                </a:ext>
              </a:extLst>
            </p:cNvPr>
            <p:cNvSpPr/>
            <p:nvPr/>
          </p:nvSpPr>
          <p:spPr>
            <a:xfrm>
              <a:off x="6801416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▶</a:t>
              </a:r>
            </a:p>
          </p:txBody>
        </p:sp>
      </p:grp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6C080A73-072B-E032-9A4E-B412F92A3D18}"/>
              </a:ext>
            </a:extLst>
          </p:cNvPr>
          <p:cNvSpPr/>
          <p:nvPr/>
        </p:nvSpPr>
        <p:spPr>
          <a:xfrm>
            <a:off x="8514511" y="3368873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개씩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E715E214-224E-84B3-BADC-5387B21A9E47}"/>
              </a:ext>
            </a:extLst>
          </p:cNvPr>
          <p:cNvSpPr/>
          <p:nvPr/>
        </p:nvSpPr>
        <p:spPr>
          <a:xfrm>
            <a:off x="9335973" y="3368873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343A4CB-B109-C0D8-3FE3-2CF0B4DA1C1A}"/>
              </a:ext>
            </a:extLst>
          </p:cNvPr>
          <p:cNvSpPr txBox="1"/>
          <p:nvPr/>
        </p:nvSpPr>
        <p:spPr>
          <a:xfrm>
            <a:off x="4374599" y="3355355"/>
            <a:ext cx="2975920" cy="2308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전체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55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건 현재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/4</a:t>
            </a:r>
            <a:endParaRPr lang="ko-KR" altLang="en-US" sz="900" b="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C0944A86-1F88-ED5F-E025-B866A2CB2B7C}"/>
              </a:ext>
            </a:extLst>
          </p:cNvPr>
          <p:cNvSpPr/>
          <p:nvPr/>
        </p:nvSpPr>
        <p:spPr>
          <a:xfrm>
            <a:off x="8934448" y="4050739"/>
            <a:ext cx="555412" cy="215441"/>
          </a:xfrm>
          <a:prstGeom prst="rect">
            <a:avLst/>
          </a:prstGeom>
          <a:solidFill>
            <a:srgbClr val="00B05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매핑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06A7F517-5C44-B9AD-C9FC-F60D13AB5DCF}"/>
              </a:ext>
            </a:extLst>
          </p:cNvPr>
          <p:cNvSpPr/>
          <p:nvPr/>
        </p:nvSpPr>
        <p:spPr>
          <a:xfrm>
            <a:off x="8934448" y="4391588"/>
            <a:ext cx="555412" cy="215441"/>
          </a:xfrm>
          <a:prstGeom prst="rect">
            <a:avLst/>
          </a:prstGeom>
          <a:solidFill>
            <a:srgbClr val="00B05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매핑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148B5F25-8B6D-A4D8-61C5-3AA29A721FBE}"/>
              </a:ext>
            </a:extLst>
          </p:cNvPr>
          <p:cNvSpPr/>
          <p:nvPr/>
        </p:nvSpPr>
        <p:spPr>
          <a:xfrm>
            <a:off x="8934448" y="4732437"/>
            <a:ext cx="555412" cy="215441"/>
          </a:xfrm>
          <a:prstGeom prst="rect">
            <a:avLst/>
          </a:prstGeom>
          <a:solidFill>
            <a:srgbClr val="00B05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매핑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A1D60394-F6B2-FB3D-92E3-BB5F4B93B75B}"/>
              </a:ext>
            </a:extLst>
          </p:cNvPr>
          <p:cNvSpPr/>
          <p:nvPr/>
        </p:nvSpPr>
        <p:spPr>
          <a:xfrm>
            <a:off x="9688762" y="2033520"/>
            <a:ext cx="108012" cy="354593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CD29FC6E-E478-CF66-079E-43657CB798F1}"/>
              </a:ext>
            </a:extLst>
          </p:cNvPr>
          <p:cNvSpPr/>
          <p:nvPr/>
        </p:nvSpPr>
        <p:spPr>
          <a:xfrm>
            <a:off x="9688762" y="2619358"/>
            <a:ext cx="108012" cy="1800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19F9EA8A-CCF1-E58B-FE82-AFAA3C3790E5}"/>
              </a:ext>
            </a:extLst>
          </p:cNvPr>
          <p:cNvSpPr/>
          <p:nvPr/>
        </p:nvSpPr>
        <p:spPr>
          <a:xfrm>
            <a:off x="4196916" y="2042558"/>
            <a:ext cx="5597391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계약담당자 매핑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AFE07F03-42D5-FFF4-D978-A7D8EB3F3855}"/>
              </a:ext>
            </a:extLst>
          </p:cNvPr>
          <p:cNvSpPr/>
          <p:nvPr/>
        </p:nvSpPr>
        <p:spPr>
          <a:xfrm>
            <a:off x="9524903" y="2044857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60" name="연결선: 꺾임 59">
            <a:extLst>
              <a:ext uri="{FF2B5EF4-FFF2-40B4-BE49-F238E27FC236}">
                <a16:creationId xmlns:a16="http://schemas.microsoft.com/office/drawing/2014/main" id="{0D9EDA97-9154-471C-262C-44383FAF53F6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 flipV="1">
            <a:off x="2862630" y="3806010"/>
            <a:ext cx="1334286" cy="1880953"/>
          </a:xfrm>
          <a:prstGeom prst="bentConnector3">
            <a:avLst>
              <a:gd name="adj1" fmla="val 50000"/>
            </a:avLst>
          </a:prstGeom>
          <a:ln>
            <a:solidFill>
              <a:srgbClr val="C00000"/>
            </a:solidFill>
            <a:prstDash val="sys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F85E7E62-3889-07B8-4334-1568187CEC63}"/>
              </a:ext>
            </a:extLst>
          </p:cNvPr>
          <p:cNvSpPr txBox="1"/>
          <p:nvPr/>
        </p:nvSpPr>
        <p:spPr>
          <a:xfrm>
            <a:off x="8049344" y="584684"/>
            <a:ext cx="1856656" cy="119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요청이 승인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전자결재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되면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해당 건에 대한 계약담당자를 반드시 매핑해야 함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사원번호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아이디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사원명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부서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직급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이메일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endParaRPr lang="ko-KR" altLang="en-US" sz="80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10FB8F8E-C0A1-3882-F319-168D660312A0}"/>
              </a:ext>
            </a:extLst>
          </p:cNvPr>
          <p:cNvSpPr/>
          <p:nvPr/>
        </p:nvSpPr>
        <p:spPr>
          <a:xfrm>
            <a:off x="5176180" y="2809949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D451BCE1-9EDB-8BED-C215-71DDB1CF130F}"/>
              </a:ext>
            </a:extLst>
          </p:cNvPr>
          <p:cNvSpPr/>
          <p:nvPr/>
        </p:nvSpPr>
        <p:spPr>
          <a:xfrm>
            <a:off x="1840906" y="5446449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542878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555A3-A453-251A-6928-42107CF84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639AF78E-DA8F-ACE4-92F6-4EBFD637AC5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8B1107C-D23E-C468-7789-699D1C53CD4B}"/>
              </a:ext>
            </a:extLst>
          </p:cNvPr>
          <p:cNvSpPr txBox="1"/>
          <p:nvPr/>
        </p:nvSpPr>
        <p:spPr>
          <a:xfrm>
            <a:off x="749224" y="25608"/>
            <a:ext cx="194316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요청접수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상세정보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6DA53B3B-D6D4-C3A5-FB1E-0D5F5F0070EC}"/>
              </a:ext>
            </a:extLst>
          </p:cNvPr>
          <p:cNvGraphicFramePr>
            <a:graphicFrameLocks noGrp="1"/>
          </p:cNvGraphicFramePr>
          <p:nvPr/>
        </p:nvGraphicFramePr>
        <p:xfrm>
          <a:off x="179901" y="927132"/>
          <a:ext cx="7717011" cy="116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8743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148268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결재문서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추진안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일상감사의견서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065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결재문서 등록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등록된 파일명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#1.pdf  </a:t>
                      </a:r>
                      <a:b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b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등록된 파일명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#2.pdf  </a:t>
                      </a:r>
                      <a:b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b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등록된 파일명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#3.pdf  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357048"/>
                  </a:ext>
                </a:extLst>
              </a:tr>
            </a:tbl>
          </a:graphicData>
        </a:graphic>
      </p:graphicFrame>
      <p:sp>
        <p:nvSpPr>
          <p:cNvPr id="15" name="직사각형 14">
            <a:extLst>
              <a:ext uri="{FF2B5EF4-FFF2-40B4-BE49-F238E27FC236}">
                <a16:creationId xmlns:a16="http://schemas.microsoft.com/office/drawing/2014/main" id="{896D6BDE-D84A-C3E3-A6B2-2AE29EFD16B5}"/>
              </a:ext>
            </a:extLst>
          </p:cNvPr>
          <p:cNvSpPr/>
          <p:nvPr/>
        </p:nvSpPr>
        <p:spPr>
          <a:xfrm>
            <a:off x="183392" y="641236"/>
            <a:ext cx="574171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결재 관련 정보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14B254F-258F-AA88-CFE1-F1D2C2BFFCD5}"/>
              </a:ext>
            </a:extLst>
          </p:cNvPr>
          <p:cNvSpPr/>
          <p:nvPr/>
        </p:nvSpPr>
        <p:spPr>
          <a:xfrm>
            <a:off x="183392" y="2185585"/>
            <a:ext cx="574171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 세부정보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A5FA87DA-107A-1C4B-14C8-1B7C54FD394D}"/>
              </a:ext>
            </a:extLst>
          </p:cNvPr>
          <p:cNvGraphicFramePr>
            <a:graphicFrameLocks noGrp="1"/>
          </p:cNvGraphicFramePr>
          <p:nvPr/>
        </p:nvGraphicFramePr>
        <p:xfrm>
          <a:off x="164467" y="2462068"/>
          <a:ext cx="7776865" cy="337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9418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197447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추정금액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94,490,000 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구천사백사십구만원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 VAT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포함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2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계약기간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pc="-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2026.07.20 ~ 2027.07.30</a:t>
                      </a:r>
                      <a:endParaRPr lang="ko-KR" altLang="en-US" sz="800" b="0" spc="-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69958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납품장소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현장 내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065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계약이행 </a:t>
                      </a:r>
                      <a:r>
                        <a:rPr kumimoji="0" lang="ko-KR" altLang="en-US" sz="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보증금률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10%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357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하자이행 </a:t>
                      </a:r>
                      <a:r>
                        <a:rPr kumimoji="0" lang="ko-KR" altLang="en-US" sz="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보증금률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3%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00273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하자이행 기간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년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5394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계약방법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경쟁입찰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일반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3071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낙찰자 선정방법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제한적 최저가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입찰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11073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근거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 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수의계약 사유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근거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수의계약 사유로 입력된 내용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96818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계약상대자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수의계약의 경우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매핑된 협력업체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주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큐비트엑스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(135-81-77202)</a:t>
                      </a:r>
                      <a:endParaRPr lang="en-US" altLang="ko-KR" sz="800" b="1" u="sng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0593969"/>
                  </a:ext>
                </a:extLst>
              </a:tr>
            </a:tbl>
          </a:graphicData>
        </a:graphic>
      </p:graphicFrame>
      <p:grpSp>
        <p:nvGrpSpPr>
          <p:cNvPr id="14" name="그룹 13">
            <a:extLst>
              <a:ext uri="{FF2B5EF4-FFF2-40B4-BE49-F238E27FC236}">
                <a16:creationId xmlns:a16="http://schemas.microsoft.com/office/drawing/2014/main" id="{76892AB0-90CA-06AD-5209-44EF538D9CD4}"/>
              </a:ext>
            </a:extLst>
          </p:cNvPr>
          <p:cNvGrpSpPr/>
          <p:nvPr/>
        </p:nvGrpSpPr>
        <p:grpSpPr>
          <a:xfrm>
            <a:off x="2909398" y="1329482"/>
            <a:ext cx="1275802" cy="198885"/>
            <a:chOff x="2909398" y="1312230"/>
            <a:chExt cx="1275802" cy="198885"/>
          </a:xfrm>
        </p:grpSpPr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E9B8EA4A-1229-76AE-3BE3-A4532D8D5D7C}"/>
                </a:ext>
              </a:extLst>
            </p:cNvPr>
            <p:cNvSpPr/>
            <p:nvPr/>
          </p:nvSpPr>
          <p:spPr>
            <a:xfrm>
              <a:off x="2909398" y="1312230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6FB9B846-FC1B-2BC8-D284-164D75097F05}"/>
                </a:ext>
              </a:extLst>
            </p:cNvPr>
            <p:cNvSpPr/>
            <p:nvPr/>
          </p:nvSpPr>
          <p:spPr>
            <a:xfrm>
              <a:off x="3572235" y="1312230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6735A94E-D266-9426-C60E-F7447D7AEB5A}"/>
              </a:ext>
            </a:extLst>
          </p:cNvPr>
          <p:cNvGrpSpPr/>
          <p:nvPr/>
        </p:nvGrpSpPr>
        <p:grpSpPr>
          <a:xfrm>
            <a:off x="2909398" y="1580281"/>
            <a:ext cx="1275802" cy="198885"/>
            <a:chOff x="2909398" y="1579570"/>
            <a:chExt cx="1275802" cy="198885"/>
          </a:xfrm>
        </p:grpSpPr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A3849825-4769-927C-0F27-630793836854}"/>
                </a:ext>
              </a:extLst>
            </p:cNvPr>
            <p:cNvSpPr/>
            <p:nvPr/>
          </p:nvSpPr>
          <p:spPr>
            <a:xfrm>
              <a:off x="2909398" y="1579570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C2A520D3-9EAF-3E1E-EF3E-F31F21F9C0CF}"/>
                </a:ext>
              </a:extLst>
            </p:cNvPr>
            <p:cNvSpPr/>
            <p:nvPr/>
          </p:nvSpPr>
          <p:spPr>
            <a:xfrm>
              <a:off x="3572235" y="1579570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sp>
        <p:nvSpPr>
          <p:cNvPr id="7" name="직사각형 6">
            <a:extLst>
              <a:ext uri="{FF2B5EF4-FFF2-40B4-BE49-F238E27FC236}">
                <a16:creationId xmlns:a16="http://schemas.microsoft.com/office/drawing/2014/main" id="{BF204C8B-E2B1-60AA-77B3-95D2507022D9}"/>
              </a:ext>
            </a:extLst>
          </p:cNvPr>
          <p:cNvSpPr/>
          <p:nvPr/>
        </p:nvSpPr>
        <p:spPr>
          <a:xfrm>
            <a:off x="183392" y="370160"/>
            <a:ext cx="7713520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 체크리스트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2717641-16E6-4B0B-EA95-96917E03084B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계속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584B07-A40E-B277-93C0-ED8E6E33D99B}"/>
              </a:ext>
            </a:extLst>
          </p:cNvPr>
          <p:cNvSpPr txBox="1"/>
          <p:nvPr/>
        </p:nvSpPr>
        <p:spPr>
          <a:xfrm>
            <a:off x="8049344" y="584684"/>
            <a:ext cx="1856656" cy="634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계약방법이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인 경우에만 노출됨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38FE07DE-737C-618B-B4F6-6CEA3013F769}"/>
              </a:ext>
            </a:extLst>
          </p:cNvPr>
          <p:cNvSpPr/>
          <p:nvPr/>
        </p:nvSpPr>
        <p:spPr>
          <a:xfrm>
            <a:off x="124854" y="4411873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2A2BF288-C1F3-7D59-1D3F-C77451846CE7}"/>
              </a:ext>
            </a:extLst>
          </p:cNvPr>
          <p:cNvSpPr/>
          <p:nvPr/>
        </p:nvSpPr>
        <p:spPr>
          <a:xfrm>
            <a:off x="124854" y="5098595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1’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9FEF0CD4-2646-7C9F-531B-2F10FEF4D00B}"/>
              </a:ext>
            </a:extLst>
          </p:cNvPr>
          <p:cNvSpPr/>
          <p:nvPr/>
        </p:nvSpPr>
        <p:spPr>
          <a:xfrm>
            <a:off x="124854" y="5459320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1’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A5C03A29-8089-9C7F-B316-4744DE178565}"/>
              </a:ext>
            </a:extLst>
          </p:cNvPr>
          <p:cNvGrpSpPr/>
          <p:nvPr/>
        </p:nvGrpSpPr>
        <p:grpSpPr>
          <a:xfrm>
            <a:off x="2909398" y="1831079"/>
            <a:ext cx="1275802" cy="198885"/>
            <a:chOff x="2909398" y="1831079"/>
            <a:chExt cx="1275802" cy="198885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B721B4A7-F448-B069-8DE9-97D42CBCCE4F}"/>
                </a:ext>
              </a:extLst>
            </p:cNvPr>
            <p:cNvSpPr/>
            <p:nvPr/>
          </p:nvSpPr>
          <p:spPr>
            <a:xfrm>
              <a:off x="2909398" y="1831079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345A48CA-EACF-D81E-8684-272EC626ED37}"/>
                </a:ext>
              </a:extLst>
            </p:cNvPr>
            <p:cNvSpPr/>
            <p:nvPr/>
          </p:nvSpPr>
          <p:spPr>
            <a:xfrm>
              <a:off x="3572235" y="1831079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128909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FF7F7-48AA-2E59-EE34-1ECD1ED89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446748C4-6A28-BE61-B406-0C4F937BC9E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8BBCE6D-9FB6-F504-1B12-27BFBE4DA3D2}"/>
              </a:ext>
            </a:extLst>
          </p:cNvPr>
          <p:cNvSpPr txBox="1"/>
          <p:nvPr/>
        </p:nvSpPr>
        <p:spPr>
          <a:xfrm>
            <a:off x="749224" y="25608"/>
            <a:ext cx="194316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요청접수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상세정보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4F263E-934F-B083-2F40-B129C501BFC4}"/>
              </a:ext>
            </a:extLst>
          </p:cNvPr>
          <p:cNvSpPr txBox="1"/>
          <p:nvPr/>
        </p:nvSpPr>
        <p:spPr>
          <a:xfrm>
            <a:off x="8049344" y="584684"/>
            <a:ext cx="1856656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접수 처리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 등록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메뉴로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넘어감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 등록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단계로 넘어가면서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품의번호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자동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발번</a:t>
            </a:r>
            <a:endParaRPr lang="en-US" altLang="ko-KR" sz="80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7666C032-B269-BA3D-52B8-5C1433AB68E0}"/>
              </a:ext>
            </a:extLst>
          </p:cNvPr>
          <p:cNvSpPr/>
          <p:nvPr/>
        </p:nvSpPr>
        <p:spPr>
          <a:xfrm>
            <a:off x="164467" y="1491461"/>
            <a:ext cx="574171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첨부 서류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39" name="표 38">
            <a:extLst>
              <a:ext uri="{FF2B5EF4-FFF2-40B4-BE49-F238E27FC236}">
                <a16:creationId xmlns:a16="http://schemas.microsoft.com/office/drawing/2014/main" id="{FB2E7E2C-127D-37E8-9AA3-D98415BAC4BC}"/>
              </a:ext>
            </a:extLst>
          </p:cNvPr>
          <p:cNvGraphicFramePr>
            <a:graphicFrameLocks noGrp="1"/>
          </p:cNvGraphicFramePr>
          <p:nvPr/>
        </p:nvGraphicFramePr>
        <p:xfrm>
          <a:off x="164467" y="1794305"/>
          <a:ext cx="7776865" cy="140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9418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197447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용역</a:t>
                      </a:r>
                      <a:endParaRPr kumimoji="0" lang="en-US" altLang="ko-KR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  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원가계산서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(or 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산출내역서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), </a:t>
                      </a:r>
                      <a:b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  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과업지시서 등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#1.pdf  </a:t>
                      </a:r>
                      <a:b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b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#2.pdf </a:t>
                      </a:r>
                      <a:b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b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#3.pdf  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2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기타 서류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#1.pdf  </a:t>
                      </a:r>
                      <a:b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b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#2.pdf  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6995847"/>
                  </a:ext>
                </a:extLst>
              </a:tr>
            </a:tbl>
          </a:graphicData>
        </a:graphic>
      </p:graphicFrame>
      <p:sp>
        <p:nvSpPr>
          <p:cNvPr id="44" name="직사각형 43">
            <a:extLst>
              <a:ext uri="{FF2B5EF4-FFF2-40B4-BE49-F238E27FC236}">
                <a16:creationId xmlns:a16="http://schemas.microsoft.com/office/drawing/2014/main" id="{F166206F-B631-C374-0DBE-4168FE718E52}"/>
              </a:ext>
            </a:extLst>
          </p:cNvPr>
          <p:cNvSpPr/>
          <p:nvPr/>
        </p:nvSpPr>
        <p:spPr>
          <a:xfrm>
            <a:off x="2909398" y="1851612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바로보기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7AC03219-0338-F3EF-CCC8-D854AA003947}"/>
              </a:ext>
            </a:extLst>
          </p:cNvPr>
          <p:cNvSpPr/>
          <p:nvPr/>
        </p:nvSpPr>
        <p:spPr>
          <a:xfrm>
            <a:off x="3572235" y="1851612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다운로드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D921E92D-6FB8-4176-150C-09B2E557448D}"/>
              </a:ext>
            </a:extLst>
          </p:cNvPr>
          <p:cNvSpPr/>
          <p:nvPr/>
        </p:nvSpPr>
        <p:spPr>
          <a:xfrm>
            <a:off x="2909398" y="2101700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바로보기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C8B0C7ED-5AA6-6B07-5232-BC6875AF5931}"/>
              </a:ext>
            </a:extLst>
          </p:cNvPr>
          <p:cNvSpPr/>
          <p:nvPr/>
        </p:nvSpPr>
        <p:spPr>
          <a:xfrm>
            <a:off x="3572235" y="2101700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다운로드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8D83C8C5-BA36-5683-C9B7-C7703594E3CD}"/>
              </a:ext>
            </a:extLst>
          </p:cNvPr>
          <p:cNvSpPr/>
          <p:nvPr/>
        </p:nvSpPr>
        <p:spPr>
          <a:xfrm>
            <a:off x="2909398" y="2351788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바로보기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BD1FF70A-C107-C152-A7CC-A48D308D40E2}"/>
              </a:ext>
            </a:extLst>
          </p:cNvPr>
          <p:cNvSpPr/>
          <p:nvPr/>
        </p:nvSpPr>
        <p:spPr>
          <a:xfrm>
            <a:off x="3572235" y="2351788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다운로드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475544DC-947B-A14F-7DA7-CD73B2EF4FD0}"/>
              </a:ext>
            </a:extLst>
          </p:cNvPr>
          <p:cNvSpPr/>
          <p:nvPr/>
        </p:nvSpPr>
        <p:spPr>
          <a:xfrm>
            <a:off x="2909398" y="2679225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바로보기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BF498290-2A47-DDFE-A7F6-C9B3ACB4E1D7}"/>
              </a:ext>
            </a:extLst>
          </p:cNvPr>
          <p:cNvSpPr/>
          <p:nvPr/>
        </p:nvSpPr>
        <p:spPr>
          <a:xfrm>
            <a:off x="3572235" y="2679225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다운로드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9E5C4CFD-C0FC-814A-A6AD-0C8944CEB6B9}"/>
              </a:ext>
            </a:extLst>
          </p:cNvPr>
          <p:cNvSpPr/>
          <p:nvPr/>
        </p:nvSpPr>
        <p:spPr>
          <a:xfrm>
            <a:off x="2909398" y="2946565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바로보기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5897A9CB-9E87-F8CD-3C19-10A1F8CB5D36}"/>
              </a:ext>
            </a:extLst>
          </p:cNvPr>
          <p:cNvSpPr/>
          <p:nvPr/>
        </p:nvSpPr>
        <p:spPr>
          <a:xfrm>
            <a:off x="3572235" y="2946565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다운로드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96FC5DE7-2EEC-E51A-92D2-C8DC974B102A}"/>
              </a:ext>
            </a:extLst>
          </p:cNvPr>
          <p:cNvSpPr/>
          <p:nvPr/>
        </p:nvSpPr>
        <p:spPr>
          <a:xfrm>
            <a:off x="183392" y="3340930"/>
            <a:ext cx="7713520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품목 정보   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※ 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해당 정보를 수정하고자 하는 경우 상단의 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‘STEP 03 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품목 정보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를 선택하여 수정해주세요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61" name="표 60">
            <a:extLst>
              <a:ext uri="{FF2B5EF4-FFF2-40B4-BE49-F238E27FC236}">
                <a16:creationId xmlns:a16="http://schemas.microsoft.com/office/drawing/2014/main" id="{2494DDDB-8B7D-29CA-CCEE-2D6C8BDED46A}"/>
              </a:ext>
            </a:extLst>
          </p:cNvPr>
          <p:cNvGraphicFramePr>
            <a:graphicFrameLocks noGrp="1"/>
          </p:cNvGraphicFramePr>
          <p:nvPr/>
        </p:nvGraphicFramePr>
        <p:xfrm>
          <a:off x="171333" y="3643827"/>
          <a:ext cx="8941023" cy="1013760"/>
        </p:xfrm>
        <a:graphic>
          <a:graphicData uri="http://schemas.openxmlformats.org/drawingml/2006/table">
            <a:tbl>
              <a:tblPr firstRow="1" bandRow="1"/>
              <a:tblGrid>
                <a:gridCol w="258001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97482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2113525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2317117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316734">
                  <a:extLst>
                    <a:ext uri="{9D8B030D-6E8A-4147-A177-3AD203B41FA5}">
                      <a16:colId xmlns:a16="http://schemas.microsoft.com/office/drawing/2014/main" val="3053194834"/>
                    </a:ext>
                  </a:extLst>
                </a:gridCol>
                <a:gridCol w="302079">
                  <a:extLst>
                    <a:ext uri="{9D8B030D-6E8A-4147-A177-3AD203B41FA5}">
                      <a16:colId xmlns:a16="http://schemas.microsoft.com/office/drawing/2014/main" val="419952432"/>
                    </a:ext>
                  </a:extLst>
                </a:gridCol>
                <a:gridCol w="714047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481575">
                  <a:extLst>
                    <a:ext uri="{9D8B030D-6E8A-4147-A177-3AD203B41FA5}">
                      <a16:colId xmlns:a16="http://schemas.microsoft.com/office/drawing/2014/main" val="3408856969"/>
                    </a:ext>
                  </a:extLst>
                </a:gridCol>
                <a:gridCol w="1740463">
                  <a:extLst>
                    <a:ext uri="{9D8B030D-6E8A-4147-A177-3AD203B41FA5}">
                      <a16:colId xmlns:a16="http://schemas.microsoft.com/office/drawing/2014/main" val="8836338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No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품목코드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품목명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규격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단위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수량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납기요청일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입고장소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비고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A0106-001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고효율 인버터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품목 구성 방법이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‘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지정 항목 작성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’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인 경우에 등록됨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EA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3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2026.07.31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현장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품목 등록의 비고에 들어간 내용입니다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서초동 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1601-9 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오피스텔 신축공사 중 도장공사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-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EA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3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2026.07.31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현장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품목 등록의 비고에 들어간 내용입니다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311677"/>
                  </a:ext>
                </a:extLst>
              </a:tr>
            </a:tbl>
          </a:graphicData>
        </a:graphic>
      </p:graphicFrame>
      <p:sp>
        <p:nvSpPr>
          <p:cNvPr id="90" name="직사각형 89">
            <a:extLst>
              <a:ext uri="{FF2B5EF4-FFF2-40B4-BE49-F238E27FC236}">
                <a16:creationId xmlns:a16="http://schemas.microsoft.com/office/drawing/2014/main" id="{99DAFB5B-F736-7BBF-4B02-22E96D85E891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0BAC153-8765-6476-3D54-4E923A4811BB}"/>
              </a:ext>
            </a:extLst>
          </p:cNvPr>
          <p:cNvSpPr/>
          <p:nvPr/>
        </p:nvSpPr>
        <p:spPr>
          <a:xfrm>
            <a:off x="164467" y="4745386"/>
            <a:ext cx="699418" cy="28803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목록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C894228A-8CBA-AAF7-5EF3-C21E4FE1AC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7932977"/>
              </p:ext>
            </p:extLst>
          </p:nvPr>
        </p:nvGraphicFramePr>
        <p:xfrm>
          <a:off x="164467" y="1009287"/>
          <a:ext cx="7776865" cy="33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9418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197447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전문건설업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■ 도장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습식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방수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석공사업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6995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0C61BAF1-0053-88EC-D018-7AB5FEBB9803}"/>
              </a:ext>
            </a:extLst>
          </p:cNvPr>
          <p:cNvSpPr/>
          <p:nvPr/>
        </p:nvSpPr>
        <p:spPr>
          <a:xfrm>
            <a:off x="183392" y="381401"/>
            <a:ext cx="574171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계약업체 면허 설정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5441FDF1-B095-99A9-2820-3FCAD16F3A2D}"/>
              </a:ext>
            </a:extLst>
          </p:cNvPr>
          <p:cNvGraphicFramePr>
            <a:graphicFrameLocks noGrp="1"/>
          </p:cNvGraphicFramePr>
          <p:nvPr/>
        </p:nvGraphicFramePr>
        <p:xfrm>
          <a:off x="164467" y="675136"/>
          <a:ext cx="7776865" cy="33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9418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197447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종합건설업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■ 건축설계 및 시공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2444"/>
                  </a:ext>
                </a:extLst>
              </a:tr>
            </a:tbl>
          </a:graphicData>
        </a:graphic>
      </p:graphicFrame>
      <p:sp>
        <p:nvSpPr>
          <p:cNvPr id="11" name="직사각형 10">
            <a:extLst>
              <a:ext uri="{FF2B5EF4-FFF2-40B4-BE49-F238E27FC236}">
                <a16:creationId xmlns:a16="http://schemas.microsoft.com/office/drawing/2014/main" id="{FC2CC6CA-E503-0EAB-80B1-F82CC440F429}"/>
              </a:ext>
            </a:extLst>
          </p:cNvPr>
          <p:cNvSpPr/>
          <p:nvPr/>
        </p:nvSpPr>
        <p:spPr>
          <a:xfrm>
            <a:off x="7077236" y="4745386"/>
            <a:ext cx="828090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>
                <a:latin typeface="나눔고딕" panose="020D0604000000000000" pitchFamily="50" charset="-127"/>
                <a:ea typeface="나눔고딕" panose="020D0604000000000000" pitchFamily="50" charset="-127"/>
              </a:rPr>
              <a:t>접수 처리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4843714C-F2C3-91DC-7609-FEE2E7B46D1A}"/>
              </a:ext>
            </a:extLst>
          </p:cNvPr>
          <p:cNvSpPr/>
          <p:nvPr/>
        </p:nvSpPr>
        <p:spPr>
          <a:xfrm>
            <a:off x="6969224" y="4654474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B70195C-B828-92DF-063E-AA8CFA345BCB}"/>
              </a:ext>
            </a:extLst>
          </p:cNvPr>
          <p:cNvSpPr/>
          <p:nvPr/>
        </p:nvSpPr>
        <p:spPr>
          <a:xfrm>
            <a:off x="2828765" y="4763637"/>
            <a:ext cx="378042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접수 처리 시 유의사항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5F857E8-9FF3-6D7A-077A-9B8D2D5E0563}"/>
              </a:ext>
            </a:extLst>
          </p:cNvPr>
          <p:cNvSpPr/>
          <p:nvPr/>
        </p:nvSpPr>
        <p:spPr>
          <a:xfrm>
            <a:off x="2828765" y="5036550"/>
            <a:ext cx="3780420" cy="185143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FA70073-D0E8-7A5F-78BE-E386377FA6DD}"/>
              </a:ext>
            </a:extLst>
          </p:cNvPr>
          <p:cNvSpPr/>
          <p:nvPr/>
        </p:nvSpPr>
        <p:spPr>
          <a:xfrm>
            <a:off x="6336097" y="4763637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CCFA7D9-A4BA-2C7A-511B-EFEBC0A6C393}"/>
              </a:ext>
            </a:extLst>
          </p:cNvPr>
          <p:cNvSpPr/>
          <p:nvPr/>
        </p:nvSpPr>
        <p:spPr>
          <a:xfrm>
            <a:off x="2936544" y="5449937"/>
            <a:ext cx="3532535" cy="879892"/>
          </a:xfrm>
          <a:prstGeom prst="rect">
            <a:avLst/>
          </a:prstGeom>
          <a:solidFill>
            <a:srgbClr val="FFFF00">
              <a:alpha val="20000"/>
            </a:srgb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108000" bIns="108000" rtlCol="0" anchor="ctr" anchorCtr="0"/>
          <a:lstStyle/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발주계약 요청에 대한 접수 처리 시 해당 건은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‘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발주계획 등록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’ 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메뉴를 통해 관리됩니다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접수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처리하시겠습니까</a:t>
            </a:r>
            <a:r>
              <a:rPr kumimoji="1" lang="en-US" altLang="ko-KR" sz="8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?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pic>
        <p:nvPicPr>
          <p:cNvPr id="13" name="Picture 8" descr="Announcement, hailer, loudspeaker, megaphone, speaker icon - Download on Iconfinder">
            <a:extLst>
              <a:ext uri="{FF2B5EF4-FFF2-40B4-BE49-F238E27FC236}">
                <a16:creationId xmlns:a16="http://schemas.microsoft.com/office/drawing/2014/main" id="{F4CB2500-BBAB-8A34-77E2-4429570068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2666" y="5606558"/>
            <a:ext cx="570440" cy="57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38C2A36D-0EB2-6552-E027-DD591AE6592B}"/>
              </a:ext>
            </a:extLst>
          </p:cNvPr>
          <p:cNvSpPr/>
          <p:nvPr/>
        </p:nvSpPr>
        <p:spPr>
          <a:xfrm>
            <a:off x="5780102" y="6438304"/>
            <a:ext cx="699418" cy="2880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취소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917230C-4272-52A2-8651-DCC6BD4301F0}"/>
              </a:ext>
            </a:extLst>
          </p:cNvPr>
          <p:cNvSpPr/>
          <p:nvPr/>
        </p:nvSpPr>
        <p:spPr>
          <a:xfrm>
            <a:off x="2959985" y="5132938"/>
            <a:ext cx="1391407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접수 처리 시 유의사항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BF96DD9-7AFF-03C8-F861-3F0F25911154}"/>
              </a:ext>
            </a:extLst>
          </p:cNvPr>
          <p:cNvSpPr/>
          <p:nvPr/>
        </p:nvSpPr>
        <p:spPr>
          <a:xfrm>
            <a:off x="5013913" y="6438304"/>
            <a:ext cx="699418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접수 처리</a:t>
            </a:r>
          </a:p>
        </p:txBody>
      </p:sp>
      <p:cxnSp>
        <p:nvCxnSpPr>
          <p:cNvPr id="19" name="연결선: 꺾임 18">
            <a:extLst>
              <a:ext uri="{FF2B5EF4-FFF2-40B4-BE49-F238E27FC236}">
                <a16:creationId xmlns:a16="http://schemas.microsoft.com/office/drawing/2014/main" id="{121779BD-645B-9600-1655-AEABF930060E}"/>
              </a:ext>
            </a:extLst>
          </p:cNvPr>
          <p:cNvCxnSpPr>
            <a:cxnSpLocks/>
            <a:stCxn id="11" idx="1"/>
            <a:endCxn id="7" idx="3"/>
          </p:cNvCxnSpPr>
          <p:nvPr/>
        </p:nvCxnSpPr>
        <p:spPr>
          <a:xfrm rot="10800000" flipV="1">
            <a:off x="6609186" y="4889401"/>
            <a:ext cx="468051" cy="1072867"/>
          </a:xfrm>
          <a:prstGeom prst="bentConnector3">
            <a:avLst>
              <a:gd name="adj1" fmla="val 50000"/>
            </a:avLst>
          </a:prstGeom>
          <a:ln>
            <a:solidFill>
              <a:srgbClr val="C00000"/>
            </a:solidFill>
            <a:prstDash val="sys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34476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54E44-8092-BE30-546E-4CDED2948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780F62A3-0D9E-45E1-F280-F5B097A9A19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282172F-2BF0-8BEC-4D28-E7DD45FAEF1F}"/>
              </a:ext>
            </a:extLst>
          </p:cNvPr>
          <p:cNvSpPr txBox="1"/>
          <p:nvPr/>
        </p:nvSpPr>
        <p:spPr>
          <a:xfrm>
            <a:off x="749224" y="25608"/>
            <a:ext cx="178927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 등록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조회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F2E095-C92C-B6EE-4E0B-ABD7DFAF3E2F}"/>
              </a:ext>
            </a:extLst>
          </p:cNvPr>
          <p:cNvSpPr txBox="1"/>
          <p:nvPr/>
        </p:nvSpPr>
        <p:spPr>
          <a:xfrm>
            <a:off x="8049344" y="584684"/>
            <a:ext cx="1856656" cy="60693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품의번호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품의 건명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요청접수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에서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으로 넘어오면서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품의번호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는 자동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발번</a:t>
            </a:r>
            <a:endParaRPr lang="en-US" altLang="ko-KR" sz="80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 등록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의 진행상태 정의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작성중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작성중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최초상태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결재요청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전자결재 진행중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결재완료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 결재 완료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입찰계획 단계로 넘어간 상태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진행상태가 ‘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작성중’인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상태에서는 단계별로 정보를 입력하는 화면으로 이동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결재요청’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결재완료’ 상태에서는 수정이 불가한 상세정보 제공화면으로 이동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02389E5-5E40-8793-91B5-5FA400FAAF7F}"/>
              </a:ext>
            </a:extLst>
          </p:cNvPr>
          <p:cNvSpPr/>
          <p:nvPr/>
        </p:nvSpPr>
        <p:spPr>
          <a:xfrm>
            <a:off x="164468" y="403565"/>
            <a:ext cx="791883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 등록 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37579E08-0FDA-C553-C3BE-0C20FD9D86A0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EF6A155-627C-AA8C-6D0E-9BAE1215281A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666EBE8-655C-30E4-8284-842B6AADCF6E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C415B02-67D2-585C-D542-A0989A640E10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전자입찰시스템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2" name="Picture 1">
            <a:extLst>
              <a:ext uri="{FF2B5EF4-FFF2-40B4-BE49-F238E27FC236}">
                <a16:creationId xmlns:a16="http://schemas.microsoft.com/office/drawing/2014/main" id="{1984DC77-9A3D-C52F-FF89-AFB56EFB0D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FE4219F3-F0E3-A082-92CA-FB1E2C57E820}"/>
              </a:ext>
            </a:extLst>
          </p:cNvPr>
          <p:cNvSpPr/>
          <p:nvPr/>
        </p:nvSpPr>
        <p:spPr>
          <a:xfrm>
            <a:off x="164468" y="834983"/>
            <a:ext cx="7740859" cy="122837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l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744C0D-C5FF-15A7-82C4-F1503EF32E92}"/>
              </a:ext>
            </a:extLst>
          </p:cNvPr>
          <p:cNvSpPr txBox="1"/>
          <p:nvPr/>
        </p:nvSpPr>
        <p:spPr>
          <a:xfrm>
            <a:off x="235850" y="941488"/>
            <a:ext cx="680538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marR="0" lvl="0" indent="-7200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조회기간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(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요청일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)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                                                                                                                                                                 ~    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03AF02C-FCF6-8DEE-C280-1B7B7EB14D87}"/>
              </a:ext>
            </a:extLst>
          </p:cNvPr>
          <p:cNvSpPr txBox="1"/>
          <p:nvPr/>
        </p:nvSpPr>
        <p:spPr>
          <a:xfrm>
            <a:off x="235849" y="1213374"/>
            <a:ext cx="669701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lvl="0" indent="-72000" algn="l">
              <a:buFont typeface="Arial" panose="020B0604020202020204" pitchFamily="34" charset="0"/>
              <a:buChar char="•"/>
              <a:defRPr/>
            </a:pPr>
            <a:r>
              <a:rPr lang="ko-KR" altLang="en-US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진행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상태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                     </a:t>
            </a:r>
            <a:r>
              <a:rPr lang="ko-KR" altLang="en-US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● 전체      ○ </a:t>
            </a:r>
            <a:r>
              <a:rPr lang="ko-KR" altLang="en-US" sz="800" b="0" dirty="0" err="1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작성중</a:t>
            </a:r>
            <a:r>
              <a:rPr lang="ko-KR" altLang="en-US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</a:t>
            </a:r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○ </a:t>
            </a:r>
            <a:r>
              <a:rPr lang="ko-KR" altLang="en-US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결재요청     </a:t>
            </a:r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○ </a:t>
            </a:r>
            <a:r>
              <a:rPr lang="ko-KR" altLang="en-US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결재완료</a:t>
            </a:r>
            <a:endParaRPr lang="en-US" altLang="ko-KR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3CDCC7C-31E7-1537-4F11-CA9CA6D47427}"/>
              </a:ext>
            </a:extLst>
          </p:cNvPr>
          <p:cNvSpPr txBox="1"/>
          <p:nvPr/>
        </p:nvSpPr>
        <p:spPr>
          <a:xfrm>
            <a:off x="235849" y="1742466"/>
            <a:ext cx="75617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lvl="0" indent="-72000" algn="l">
              <a:buFont typeface="Arial" panose="020B0604020202020204" pitchFamily="34" charset="0"/>
              <a:buChar char="•"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키워드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검색 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</a:t>
            </a:r>
            <a:endParaRPr lang="ko-KR" altLang="en-US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2E93D47-78DC-D859-FF2B-31EDAF3F10CE}"/>
              </a:ext>
            </a:extLst>
          </p:cNvPr>
          <p:cNvSpPr/>
          <p:nvPr/>
        </p:nvSpPr>
        <p:spPr>
          <a:xfrm>
            <a:off x="4683665" y="929087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시작일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CBFABE5-EC2B-428A-7002-D875697C3E9D}"/>
              </a:ext>
            </a:extLst>
          </p:cNvPr>
          <p:cNvSpPr/>
          <p:nvPr/>
        </p:nvSpPr>
        <p:spPr>
          <a:xfrm>
            <a:off x="5493916" y="929089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A3E8CDD-E63D-F165-90A3-A3F93473FA23}"/>
              </a:ext>
            </a:extLst>
          </p:cNvPr>
          <p:cNvSpPr/>
          <p:nvPr/>
        </p:nvSpPr>
        <p:spPr>
          <a:xfrm>
            <a:off x="5907171" y="929087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종료일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C85E2EDF-1E69-2DF9-D529-4E4C4C48EDA1}"/>
              </a:ext>
            </a:extLst>
          </p:cNvPr>
          <p:cNvSpPr/>
          <p:nvPr/>
        </p:nvSpPr>
        <p:spPr>
          <a:xfrm>
            <a:off x="6717422" y="929089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C3934D5E-2A77-53F5-D637-D7ACFBE52233}"/>
              </a:ext>
            </a:extLst>
          </p:cNvPr>
          <p:cNvSpPr/>
          <p:nvPr/>
        </p:nvSpPr>
        <p:spPr>
          <a:xfrm>
            <a:off x="1393889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ko-KR" altLang="en-US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하루 전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F5CD3ADB-2162-9430-8D03-FD4E5C35AE3B}"/>
              </a:ext>
            </a:extLst>
          </p:cNvPr>
          <p:cNvSpPr/>
          <p:nvPr/>
        </p:nvSpPr>
        <p:spPr>
          <a:xfrm>
            <a:off x="1942458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주일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5827772A-7FD2-39C9-ECCB-596EC38D1625}"/>
              </a:ext>
            </a:extLst>
          </p:cNvPr>
          <p:cNvSpPr/>
          <p:nvPr/>
        </p:nvSpPr>
        <p:spPr>
          <a:xfrm>
            <a:off x="2491027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F39EA444-B498-7DE3-89E8-620B4919C477}"/>
              </a:ext>
            </a:extLst>
          </p:cNvPr>
          <p:cNvSpPr/>
          <p:nvPr/>
        </p:nvSpPr>
        <p:spPr>
          <a:xfrm>
            <a:off x="3039596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7EC0FC62-6FB0-F392-78CE-8BEFE4112C2E}"/>
              </a:ext>
            </a:extLst>
          </p:cNvPr>
          <p:cNvSpPr/>
          <p:nvPr/>
        </p:nvSpPr>
        <p:spPr>
          <a:xfrm>
            <a:off x="3588165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FCE13165-124D-57B6-40B8-D487B9A6D73E}"/>
              </a:ext>
            </a:extLst>
          </p:cNvPr>
          <p:cNvSpPr/>
          <p:nvPr/>
        </p:nvSpPr>
        <p:spPr>
          <a:xfrm>
            <a:off x="4136733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년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D53B4E3-51C9-BADB-7E89-60FBFDAF3CB6}"/>
              </a:ext>
            </a:extLst>
          </p:cNvPr>
          <p:cNvSpPr txBox="1"/>
          <p:nvPr/>
        </p:nvSpPr>
        <p:spPr>
          <a:xfrm>
            <a:off x="235849" y="1454449"/>
            <a:ext cx="669701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indent="-72000" algn="l">
              <a:buFont typeface="Arial" panose="020B0604020202020204" pitchFamily="34" charset="0"/>
              <a:buChar char="•"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구분      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                     </a:t>
            </a:r>
            <a:r>
              <a:rPr lang="ko-KR" altLang="en-US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● 전체      ○ 공사     </a:t>
            </a:r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○ </a:t>
            </a:r>
            <a:r>
              <a:rPr lang="ko-KR" altLang="en-US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용역     </a:t>
            </a:r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○ </a:t>
            </a:r>
            <a:r>
              <a:rPr lang="ko-KR" altLang="en-US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물품</a:t>
            </a:r>
            <a:endParaRPr lang="en-US" altLang="ko-KR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0FDCF1E0-73A1-22D1-2A0C-82EB9D73B171}"/>
              </a:ext>
            </a:extLst>
          </p:cNvPr>
          <p:cNvSpPr/>
          <p:nvPr/>
        </p:nvSpPr>
        <p:spPr>
          <a:xfrm>
            <a:off x="1408523" y="1735321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구분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BFB5C242-B0DA-CDDB-DF3A-B46A1290E92C}"/>
              </a:ext>
            </a:extLst>
          </p:cNvPr>
          <p:cNvSpPr/>
          <p:nvPr/>
        </p:nvSpPr>
        <p:spPr>
          <a:xfrm>
            <a:off x="2218774" y="1735323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F281DFA6-41A5-91AF-1E47-64B5385EDD12}"/>
              </a:ext>
            </a:extLst>
          </p:cNvPr>
          <p:cNvSpPr/>
          <p:nvPr/>
        </p:nvSpPr>
        <p:spPr>
          <a:xfrm>
            <a:off x="2533911" y="1735321"/>
            <a:ext cx="3619804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검색어를 입력하세요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ACD3F50-8C57-96C8-25E3-144E4A97C5A5}"/>
              </a:ext>
            </a:extLst>
          </p:cNvPr>
          <p:cNvSpPr/>
          <p:nvPr/>
        </p:nvSpPr>
        <p:spPr>
          <a:xfrm>
            <a:off x="6241919" y="1735323"/>
            <a:ext cx="625198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0C010C00-6D66-A319-F97D-5F8C1B343310}"/>
              </a:ext>
            </a:extLst>
          </p:cNvPr>
          <p:cNvSpPr/>
          <p:nvPr/>
        </p:nvSpPr>
        <p:spPr>
          <a:xfrm>
            <a:off x="5856272" y="2163958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개씩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5AC71405-8F6D-A557-8A64-4847C85C86F7}"/>
              </a:ext>
            </a:extLst>
          </p:cNvPr>
          <p:cNvSpPr/>
          <p:nvPr/>
        </p:nvSpPr>
        <p:spPr>
          <a:xfrm>
            <a:off x="6677734" y="2163958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6719506-179E-D591-5BB9-6F4018BB5CB2}"/>
              </a:ext>
            </a:extLst>
          </p:cNvPr>
          <p:cNvSpPr txBox="1"/>
          <p:nvPr/>
        </p:nvSpPr>
        <p:spPr>
          <a:xfrm>
            <a:off x="181506" y="2150440"/>
            <a:ext cx="2975920" cy="2308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전체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1,523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건 현재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/4</a:t>
            </a:r>
            <a:endParaRPr lang="ko-KR" altLang="en-US" sz="900" b="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B9BC6CB3-8004-CFA8-F53F-1E5BF826B5F5}"/>
              </a:ext>
            </a:extLst>
          </p:cNvPr>
          <p:cNvSpPr/>
          <p:nvPr/>
        </p:nvSpPr>
        <p:spPr>
          <a:xfrm>
            <a:off x="6982990" y="2163958"/>
            <a:ext cx="913712" cy="215441"/>
          </a:xfrm>
          <a:prstGeom prst="rect">
            <a:avLst/>
          </a:prstGeom>
          <a:solidFill>
            <a:srgbClr val="00B05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다운로드</a:t>
            </a:r>
            <a:r>
              <a:rPr lang="en-US" altLang="ko-KR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(Excel)</a:t>
            </a:r>
            <a:endParaRPr lang="ko-KR" altLang="en-US" sz="8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51" name="표 50">
            <a:extLst>
              <a:ext uri="{FF2B5EF4-FFF2-40B4-BE49-F238E27FC236}">
                <a16:creationId xmlns:a16="http://schemas.microsoft.com/office/drawing/2014/main" id="{06D720C3-E638-EEE3-EF57-743D65C9588F}"/>
              </a:ext>
            </a:extLst>
          </p:cNvPr>
          <p:cNvGraphicFramePr>
            <a:graphicFrameLocks noGrp="1"/>
          </p:cNvGraphicFramePr>
          <p:nvPr/>
        </p:nvGraphicFramePr>
        <p:xfrm>
          <a:off x="179901" y="2459406"/>
          <a:ext cx="9182238" cy="2703360"/>
        </p:xfrm>
        <a:graphic>
          <a:graphicData uri="http://schemas.openxmlformats.org/drawingml/2006/table">
            <a:tbl>
              <a:tblPr firstRow="1" bandRow="1"/>
              <a:tblGrid>
                <a:gridCol w="963150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553575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2185525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728200">
                  <a:extLst>
                    <a:ext uri="{9D8B030D-6E8A-4147-A177-3AD203B41FA5}">
                      <a16:colId xmlns:a16="http://schemas.microsoft.com/office/drawing/2014/main" val="3053194834"/>
                    </a:ext>
                  </a:extLst>
                </a:gridCol>
                <a:gridCol w="363075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817100">
                  <a:extLst>
                    <a:ext uri="{9D8B030D-6E8A-4147-A177-3AD203B41FA5}">
                      <a16:colId xmlns:a16="http://schemas.microsoft.com/office/drawing/2014/main" val="1960918577"/>
                    </a:ext>
                  </a:extLst>
                </a:gridCol>
                <a:gridCol w="1545763">
                  <a:extLst>
                    <a:ext uri="{9D8B030D-6E8A-4147-A177-3AD203B41FA5}">
                      <a16:colId xmlns:a16="http://schemas.microsoft.com/office/drawing/2014/main" val="2297195669"/>
                    </a:ext>
                  </a:extLst>
                </a:gridCol>
                <a:gridCol w="728200">
                  <a:extLst>
                    <a:ext uri="{9D8B030D-6E8A-4147-A177-3AD203B41FA5}">
                      <a16:colId xmlns:a16="http://schemas.microsoft.com/office/drawing/2014/main" val="2523826374"/>
                    </a:ext>
                  </a:extLst>
                </a:gridCol>
                <a:gridCol w="648825">
                  <a:extLst>
                    <a:ext uri="{9D8B030D-6E8A-4147-A177-3AD203B41FA5}">
                      <a16:colId xmlns:a16="http://schemas.microsoft.com/office/drawing/2014/main" val="858523054"/>
                    </a:ext>
                  </a:extLst>
                </a:gridCol>
                <a:gridCol w="648825">
                  <a:extLst>
                    <a:ext uri="{9D8B030D-6E8A-4147-A177-3AD203B41FA5}">
                      <a16:colId xmlns:a16="http://schemas.microsoft.com/office/drawing/2014/main" val="20518093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발주계약 품의번호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진행상태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품의 건명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품의일자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구분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계약방법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낙찰방법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등록일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사업담당자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계약담당자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PPW2026-0029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작성중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서초동 </a:t>
                      </a:r>
                      <a:r>
                        <a:rPr kumimoji="0" lang="en-US" altLang="ko-KR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1601-9 </a:t>
                      </a:r>
                      <a:r>
                        <a:rPr kumimoji="0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오피스텔 신축공사 중 도장공사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-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공사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수의계약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최저가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2026.06.10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홍길동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임꺽정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PPW2026-0029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결재요청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금호동 </a:t>
                      </a:r>
                      <a:r>
                        <a:rPr kumimoji="0" lang="en-US" altLang="ko-KR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1601-9 </a:t>
                      </a:r>
                      <a:r>
                        <a:rPr kumimoji="0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오피스텔 신축공사 중 도장공사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2026.07.22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용역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경쟁입찰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일반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제한적 최저가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입찰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PPW2026-0029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결재완료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금호동 </a:t>
                      </a:r>
                      <a:r>
                        <a:rPr kumimoji="0" lang="en-US" altLang="ko-KR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1601-9 </a:t>
                      </a:r>
                      <a:r>
                        <a:rPr kumimoji="0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오피스텔 신축공사 중 도장공사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2026.07.21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물품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경쟁입찰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제한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단계 경쟁입찰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규격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가격 동시)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0768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경쟁입찰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지명)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단계 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경쟁입찰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규격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가격 분리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39464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적격심사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8773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13736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570808"/>
                  </a:ext>
                </a:extLst>
              </a:tr>
            </a:tbl>
          </a:graphicData>
        </a:graphic>
      </p:graphicFrame>
      <p:grpSp>
        <p:nvGrpSpPr>
          <p:cNvPr id="52" name="그룹 51">
            <a:extLst>
              <a:ext uri="{FF2B5EF4-FFF2-40B4-BE49-F238E27FC236}">
                <a16:creationId xmlns:a16="http://schemas.microsoft.com/office/drawing/2014/main" id="{55DEA7DF-2A39-C424-6B53-4BC43BF21ED4}"/>
              </a:ext>
            </a:extLst>
          </p:cNvPr>
          <p:cNvGrpSpPr/>
          <p:nvPr/>
        </p:nvGrpSpPr>
        <p:grpSpPr>
          <a:xfrm>
            <a:off x="2004219" y="5300560"/>
            <a:ext cx="4025354" cy="216024"/>
            <a:chOff x="2992062" y="4869160"/>
            <a:chExt cx="4025354" cy="216024"/>
          </a:xfrm>
        </p:grpSpPr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DA7415BF-F579-F8F5-43CA-D4D9EBF3C01A}"/>
                </a:ext>
              </a:extLst>
            </p:cNvPr>
            <p:cNvSpPr/>
            <p:nvPr/>
          </p:nvSpPr>
          <p:spPr>
            <a:xfrm>
              <a:off x="2992062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◀</a:t>
              </a:r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8EC40184-C05D-591C-4C78-A46C4C7F53AC}"/>
                </a:ext>
              </a:extLst>
            </p:cNvPr>
            <p:cNvSpPr/>
            <p:nvPr/>
          </p:nvSpPr>
          <p:spPr>
            <a:xfrm>
              <a:off x="3285089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&lt;</a:t>
              </a:r>
              <a:endPara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5839BC5C-30BB-0E9F-176E-013B6DFA06FD}"/>
                </a:ext>
              </a:extLst>
            </p:cNvPr>
            <p:cNvSpPr/>
            <p:nvPr/>
          </p:nvSpPr>
          <p:spPr>
            <a:xfrm>
              <a:off x="3578116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E59E9E50-B284-C759-F644-ADB2E7934AC0}"/>
                </a:ext>
              </a:extLst>
            </p:cNvPr>
            <p:cNvSpPr/>
            <p:nvPr/>
          </p:nvSpPr>
          <p:spPr>
            <a:xfrm>
              <a:off x="3871143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2A33FFD3-A47A-A55E-20C9-158B38DFF5C0}"/>
                </a:ext>
              </a:extLst>
            </p:cNvPr>
            <p:cNvSpPr/>
            <p:nvPr/>
          </p:nvSpPr>
          <p:spPr>
            <a:xfrm>
              <a:off x="4164170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7789AED7-859C-0EF1-21ED-AFE5CA157784}"/>
                </a:ext>
              </a:extLst>
            </p:cNvPr>
            <p:cNvSpPr/>
            <p:nvPr/>
          </p:nvSpPr>
          <p:spPr>
            <a:xfrm>
              <a:off x="4457197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4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1EB1C8B6-BC91-9BDB-7647-3CB760F10E58}"/>
                </a:ext>
              </a:extLst>
            </p:cNvPr>
            <p:cNvSpPr/>
            <p:nvPr/>
          </p:nvSpPr>
          <p:spPr>
            <a:xfrm>
              <a:off x="4750224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5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A8468F0F-4662-945C-016A-55A48FBB4832}"/>
                </a:ext>
              </a:extLst>
            </p:cNvPr>
            <p:cNvSpPr/>
            <p:nvPr/>
          </p:nvSpPr>
          <p:spPr>
            <a:xfrm>
              <a:off x="5043251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6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E1F6BC54-CDA4-1543-D78C-82DCAEB6FC8E}"/>
                </a:ext>
              </a:extLst>
            </p:cNvPr>
            <p:cNvSpPr/>
            <p:nvPr/>
          </p:nvSpPr>
          <p:spPr>
            <a:xfrm>
              <a:off x="5336278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7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39240A1D-AF3E-4A3B-346F-1A23ABC1714F}"/>
                </a:ext>
              </a:extLst>
            </p:cNvPr>
            <p:cNvSpPr/>
            <p:nvPr/>
          </p:nvSpPr>
          <p:spPr>
            <a:xfrm>
              <a:off x="5629305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8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C978DE19-3FEF-0CEA-1460-2B6BD9443CA1}"/>
                </a:ext>
              </a:extLst>
            </p:cNvPr>
            <p:cNvSpPr/>
            <p:nvPr/>
          </p:nvSpPr>
          <p:spPr>
            <a:xfrm>
              <a:off x="5922332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9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37C5E1DF-BD6A-DE6A-5F5A-A28B41D3C134}"/>
                </a:ext>
              </a:extLst>
            </p:cNvPr>
            <p:cNvSpPr/>
            <p:nvPr/>
          </p:nvSpPr>
          <p:spPr>
            <a:xfrm>
              <a:off x="6215359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10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F2EA7BCC-AE1D-91A0-5A4A-3AADF0EF15A9}"/>
                </a:ext>
              </a:extLst>
            </p:cNvPr>
            <p:cNvSpPr/>
            <p:nvPr/>
          </p:nvSpPr>
          <p:spPr>
            <a:xfrm>
              <a:off x="6508386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&gt;</a:t>
              </a:r>
              <a:endPara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715602B3-D6FB-8C3C-4F9B-6A293C0BF1A1}"/>
                </a:ext>
              </a:extLst>
            </p:cNvPr>
            <p:cNvSpPr/>
            <p:nvPr/>
          </p:nvSpPr>
          <p:spPr>
            <a:xfrm>
              <a:off x="6801416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▶</a:t>
              </a:r>
            </a:p>
          </p:txBody>
        </p:sp>
      </p:grpSp>
      <p:sp>
        <p:nvSpPr>
          <p:cNvPr id="5" name="직사각형 4">
            <a:extLst>
              <a:ext uri="{FF2B5EF4-FFF2-40B4-BE49-F238E27FC236}">
                <a16:creationId xmlns:a16="http://schemas.microsoft.com/office/drawing/2014/main" id="{9D4DBA77-3A00-8FC4-16B2-37EDF1D10BD5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</a:t>
            </a:r>
            <a:endParaRPr lang="ko-KR" altLang="en-US" sz="800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927894D-1FC8-C9F8-5629-D6371B4DAA44}"/>
              </a:ext>
            </a:extLst>
          </p:cNvPr>
          <p:cNvSpPr/>
          <p:nvPr/>
        </p:nvSpPr>
        <p:spPr>
          <a:xfrm>
            <a:off x="-529236" y="798199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kumimoji="1"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4502FC1-93E2-609A-1933-CB19F0334368}"/>
              </a:ext>
            </a:extLst>
          </p:cNvPr>
          <p:cNvSpPr/>
          <p:nvPr/>
        </p:nvSpPr>
        <p:spPr>
          <a:xfrm>
            <a:off x="-1690381" y="1098519"/>
            <a:ext cx="1467136" cy="56628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요청접수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 등록 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AE2B8482-D9FA-DC81-4695-E4EA27A1FE16}"/>
              </a:ext>
            </a:extLst>
          </p:cNvPr>
          <p:cNvSpPr/>
          <p:nvPr/>
        </p:nvSpPr>
        <p:spPr>
          <a:xfrm>
            <a:off x="1011031" y="2360215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5" name="타원 74">
            <a:extLst>
              <a:ext uri="{FF2B5EF4-FFF2-40B4-BE49-F238E27FC236}">
                <a16:creationId xmlns:a16="http://schemas.microsoft.com/office/drawing/2014/main" id="{B012565D-79D3-E217-030C-C0BF94F13946}"/>
              </a:ext>
            </a:extLst>
          </p:cNvPr>
          <p:cNvSpPr/>
          <p:nvPr/>
        </p:nvSpPr>
        <p:spPr>
          <a:xfrm>
            <a:off x="1227055" y="1599322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161D1312-0C5D-A33C-E1F8-863CC89F121A}"/>
              </a:ext>
            </a:extLst>
          </p:cNvPr>
          <p:cNvSpPr/>
          <p:nvPr/>
        </p:nvSpPr>
        <p:spPr>
          <a:xfrm>
            <a:off x="91691" y="2353963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BAEC36D0-728E-5E80-D899-6C79FB4F9DBF}"/>
              </a:ext>
            </a:extLst>
          </p:cNvPr>
          <p:cNvSpPr/>
          <p:nvPr/>
        </p:nvSpPr>
        <p:spPr>
          <a:xfrm>
            <a:off x="1643275" y="2360215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421563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75E08-DEE0-785A-E258-2C9F40BE3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3B442044-33D1-3F0D-A4C0-9B8068A1B2C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3BFB0D9-DDE7-2A25-CD7F-D53463877D5E}"/>
              </a:ext>
            </a:extLst>
          </p:cNvPr>
          <p:cNvSpPr txBox="1"/>
          <p:nvPr/>
        </p:nvSpPr>
        <p:spPr>
          <a:xfrm>
            <a:off x="749224" y="25608"/>
            <a:ext cx="216437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 등록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 기본정보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DA370E-6CF4-2EE7-E02B-484E6BE20FE0}"/>
              </a:ext>
            </a:extLst>
          </p:cNvPr>
          <p:cNvSpPr txBox="1"/>
          <p:nvPr/>
        </p:nvSpPr>
        <p:spPr>
          <a:xfrm>
            <a:off x="8049344" y="584684"/>
            <a:ext cx="1856656" cy="13511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각 단계로 안내되어 있긴 하지만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각 영역에 접근해서 정보 입력 가능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건명은 발주계약 요청 시 작성된 내용을 불러옴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수정할 수 있음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수주계약 정보가 매핑되어 있는 경우에만 보임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22DCB02-71F9-D811-60DE-5BBC0393B9EE}"/>
              </a:ext>
            </a:extLst>
          </p:cNvPr>
          <p:cNvSpPr/>
          <p:nvPr/>
        </p:nvSpPr>
        <p:spPr>
          <a:xfrm>
            <a:off x="164468" y="403565"/>
            <a:ext cx="791883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 등록 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8B37FF4B-EAF7-C7FE-08D2-4077856A9F4B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48EBEB1-4B78-07F5-847A-80B693E6D473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7D1E0C6A-ABFF-285C-6F5C-8C9D5F57F4AA}"/>
              </a:ext>
            </a:extLst>
          </p:cNvPr>
          <p:cNvGraphicFramePr>
            <a:graphicFrameLocks noGrp="1"/>
          </p:cNvGraphicFramePr>
          <p:nvPr/>
        </p:nvGraphicFramePr>
        <p:xfrm>
          <a:off x="164467" y="2597157"/>
          <a:ext cx="7740859" cy="3635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3591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387268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발주계약 요청번호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PR2026-0003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2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발주계획 품의번호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PPW2026-0029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64422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진행상태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작성중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| 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결재요청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| 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결재완료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69958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건명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065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품의일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4718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요청일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2026.06.01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357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계약예정일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2026.07.31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00273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구분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공사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5394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수주계약 정보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수주계약번호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160011612-01-31-C</a:t>
                      </a: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수주계약명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: GE-4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에너지효율화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(ID Fan VVVF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설치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사업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수주계약일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2026.12.23</a:t>
                      </a: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수주계약업체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군장에너지주식회사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5777443"/>
                  </a:ext>
                </a:extLst>
              </a:tr>
            </a:tbl>
          </a:graphicData>
        </a:graphic>
      </p:graphicFrame>
      <p:sp>
        <p:nvSpPr>
          <p:cNvPr id="68" name="직사각형 67">
            <a:extLst>
              <a:ext uri="{FF2B5EF4-FFF2-40B4-BE49-F238E27FC236}">
                <a16:creationId xmlns:a16="http://schemas.microsoft.com/office/drawing/2014/main" id="{52CB28CF-31A2-9C8E-8A56-E6783C774702}"/>
              </a:ext>
            </a:extLst>
          </p:cNvPr>
          <p:cNvSpPr/>
          <p:nvPr/>
        </p:nvSpPr>
        <p:spPr>
          <a:xfrm>
            <a:off x="1586508" y="3672778"/>
            <a:ext cx="4714188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 시 작성된 내용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227CB91-EC9A-9A6E-1EFA-6E1AF9B9D402}"/>
              </a:ext>
            </a:extLst>
          </p:cNvPr>
          <p:cNvSpPr/>
          <p:nvPr/>
        </p:nvSpPr>
        <p:spPr>
          <a:xfrm>
            <a:off x="1589802" y="4007939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날짜 선택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305DA81-112B-41D7-F6D2-0A778BB5B505}"/>
              </a:ext>
            </a:extLst>
          </p:cNvPr>
          <p:cNvSpPr/>
          <p:nvPr/>
        </p:nvSpPr>
        <p:spPr>
          <a:xfrm>
            <a:off x="2400053" y="4007941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9BE3298A-F107-D33C-AA53-D4D435A526EF}"/>
              </a:ext>
            </a:extLst>
          </p:cNvPr>
          <p:cNvGrpSpPr/>
          <p:nvPr/>
        </p:nvGrpSpPr>
        <p:grpSpPr>
          <a:xfrm>
            <a:off x="164468" y="826923"/>
            <a:ext cx="7732444" cy="643315"/>
            <a:chOff x="164468" y="826923"/>
            <a:chExt cx="6455884" cy="643315"/>
          </a:xfrm>
        </p:grpSpPr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860BDBAF-F0B2-9DE7-302E-0B36FBC25738}"/>
                </a:ext>
              </a:extLst>
            </p:cNvPr>
            <p:cNvSpPr/>
            <p:nvPr/>
          </p:nvSpPr>
          <p:spPr>
            <a:xfrm>
              <a:off x="164468" y="826923"/>
              <a:ext cx="1226118" cy="643315"/>
            </a:xfrm>
            <a:prstGeom prst="rect">
              <a:avLst/>
            </a:prstGeom>
            <a:solidFill>
              <a:srgbClr val="FFC000">
                <a:alpha val="69804"/>
              </a:srgb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01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발주계획 기본정보</a:t>
              </a:r>
              <a:endPara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98201953-886F-48B3-92CF-53C6CE9402D1}"/>
                </a:ext>
              </a:extLst>
            </p:cNvPr>
            <p:cNvSpPr/>
            <p:nvPr/>
          </p:nvSpPr>
          <p:spPr>
            <a:xfrm>
              <a:off x="1471910" y="826923"/>
              <a:ext cx="1226118" cy="6433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02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b="1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발주계획 체크리스트</a:t>
              </a:r>
              <a:endPara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3C935EED-FFBE-D5BB-562D-577283CDF665}"/>
                </a:ext>
              </a:extLst>
            </p:cNvPr>
            <p:cNvSpPr/>
            <p:nvPr/>
          </p:nvSpPr>
          <p:spPr>
            <a:xfrm>
              <a:off x="2779352" y="826923"/>
              <a:ext cx="1226118" cy="6433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03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b="1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품목 정보</a:t>
              </a:r>
              <a:endPara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B3F18FA8-0391-73CD-A01B-267599AB4451}"/>
                </a:ext>
              </a:extLst>
            </p:cNvPr>
            <p:cNvSpPr/>
            <p:nvPr/>
          </p:nvSpPr>
          <p:spPr>
            <a:xfrm>
              <a:off x="4086793" y="826923"/>
              <a:ext cx="1226118" cy="6433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04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최종 점검 및 전자결재</a:t>
              </a:r>
              <a:endPara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472F80B7-124F-1B96-8399-0920B9615B1F}"/>
                </a:ext>
              </a:extLst>
            </p:cNvPr>
            <p:cNvSpPr/>
            <p:nvPr/>
          </p:nvSpPr>
          <p:spPr>
            <a:xfrm>
              <a:off x="5394234" y="826923"/>
              <a:ext cx="1226118" cy="6433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05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발주계획 등록 완료</a:t>
              </a:r>
              <a:endPara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52" name="타원 51">
            <a:extLst>
              <a:ext uri="{FF2B5EF4-FFF2-40B4-BE49-F238E27FC236}">
                <a16:creationId xmlns:a16="http://schemas.microsoft.com/office/drawing/2014/main" id="{DC0C227B-4FDC-3712-0845-255F1F3FA9E7}"/>
              </a:ext>
            </a:extLst>
          </p:cNvPr>
          <p:cNvSpPr/>
          <p:nvPr/>
        </p:nvSpPr>
        <p:spPr>
          <a:xfrm>
            <a:off x="60738" y="760950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580F63E-21E1-50C3-0FA4-E11B2CC11423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전자입찰시스템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8" name="Picture 1">
            <a:extLst>
              <a:ext uri="{FF2B5EF4-FFF2-40B4-BE49-F238E27FC236}">
                <a16:creationId xmlns:a16="http://schemas.microsoft.com/office/drawing/2014/main" id="{E6C95EC2-70A3-1116-AEE8-762DB506E8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9CBA97A0-3003-4FC6-8620-D49C85F60820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</a:t>
            </a:r>
            <a:endParaRPr lang="ko-KR" altLang="en-US" sz="800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9EF867B-D5B1-42DD-197C-4B7989E4846B}"/>
              </a:ext>
            </a:extLst>
          </p:cNvPr>
          <p:cNvSpPr/>
          <p:nvPr/>
        </p:nvSpPr>
        <p:spPr>
          <a:xfrm>
            <a:off x="-529236" y="798199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kumimoji="1"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13B6819-0C7B-F28A-6703-B1A36EAA627C}"/>
              </a:ext>
            </a:extLst>
          </p:cNvPr>
          <p:cNvSpPr/>
          <p:nvPr/>
        </p:nvSpPr>
        <p:spPr>
          <a:xfrm>
            <a:off x="-1690381" y="1098519"/>
            <a:ext cx="1467136" cy="56628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요청접수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 등록 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B557190-7448-F2FA-23FC-22321B8EC586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계속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EDDC466-A00F-E26E-57A8-2A83E7570630}"/>
              </a:ext>
            </a:extLst>
          </p:cNvPr>
          <p:cNvSpPr/>
          <p:nvPr/>
        </p:nvSpPr>
        <p:spPr>
          <a:xfrm>
            <a:off x="183392" y="2316820"/>
            <a:ext cx="574171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 기본정보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DE085349-901B-A96A-4786-8F055742C2E6}"/>
              </a:ext>
            </a:extLst>
          </p:cNvPr>
          <p:cNvGraphicFramePr>
            <a:graphicFrameLocks noGrp="1"/>
          </p:cNvGraphicFramePr>
          <p:nvPr/>
        </p:nvGraphicFramePr>
        <p:xfrm>
          <a:off x="179900" y="1548660"/>
          <a:ext cx="7717012" cy="675840"/>
        </p:xfrm>
        <a:graphic>
          <a:graphicData uri="http://schemas.openxmlformats.org/drawingml/2006/table">
            <a:tbl>
              <a:tblPr firstRow="1" bandRow="1"/>
              <a:tblGrid>
                <a:gridCol w="1089930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626442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2473207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824053">
                  <a:extLst>
                    <a:ext uri="{9D8B030D-6E8A-4147-A177-3AD203B41FA5}">
                      <a16:colId xmlns:a16="http://schemas.microsoft.com/office/drawing/2014/main" val="3053194834"/>
                    </a:ext>
                  </a:extLst>
                </a:gridCol>
                <a:gridCol w="824053">
                  <a:extLst>
                    <a:ext uri="{9D8B030D-6E8A-4147-A177-3AD203B41FA5}">
                      <a16:colId xmlns:a16="http://schemas.microsoft.com/office/drawing/2014/main" val="419952432"/>
                    </a:ext>
                  </a:extLst>
                </a:gridCol>
                <a:gridCol w="410867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734230">
                  <a:extLst>
                    <a:ext uri="{9D8B030D-6E8A-4147-A177-3AD203B41FA5}">
                      <a16:colId xmlns:a16="http://schemas.microsoft.com/office/drawing/2014/main" val="858523054"/>
                    </a:ext>
                  </a:extLst>
                </a:gridCol>
                <a:gridCol w="734230">
                  <a:extLst>
                    <a:ext uri="{9D8B030D-6E8A-4147-A177-3AD203B41FA5}">
                      <a16:colId xmlns:a16="http://schemas.microsoft.com/office/drawing/2014/main" val="32833227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발주계약 품의번호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진행상태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건명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요청일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계약예정일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구분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사업담당자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계약담당자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PPW2026-0029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작성중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서초동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1601-9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오피스텔 신축공사 중 도장공사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2026.07.22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2026.07.31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공사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홍길동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임꺽정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</a:tbl>
          </a:graphicData>
        </a:graphic>
      </p:graphicFrame>
      <p:sp>
        <p:nvSpPr>
          <p:cNvPr id="5" name="타원 4">
            <a:extLst>
              <a:ext uri="{FF2B5EF4-FFF2-40B4-BE49-F238E27FC236}">
                <a16:creationId xmlns:a16="http://schemas.microsoft.com/office/drawing/2014/main" id="{319D1AFC-B519-A3D8-2710-F27CE6296E4A}"/>
              </a:ext>
            </a:extLst>
          </p:cNvPr>
          <p:cNvSpPr/>
          <p:nvPr/>
        </p:nvSpPr>
        <p:spPr>
          <a:xfrm>
            <a:off x="60738" y="5204619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7A19F914-8205-A803-2497-CFDBF3A2C691}"/>
              </a:ext>
            </a:extLst>
          </p:cNvPr>
          <p:cNvSpPr/>
          <p:nvPr/>
        </p:nvSpPr>
        <p:spPr>
          <a:xfrm>
            <a:off x="60738" y="3517133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250385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04014-AF2C-D42E-4CCF-FF010BADF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444DC498-D655-7004-9C73-596232ABF62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05B986-AAA5-35A3-5860-2F450DCDCC68}"/>
              </a:ext>
            </a:extLst>
          </p:cNvPr>
          <p:cNvSpPr txBox="1"/>
          <p:nvPr/>
        </p:nvSpPr>
        <p:spPr>
          <a:xfrm>
            <a:off x="749224" y="25608"/>
            <a:ext cx="216437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 등록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 기본정보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126334-B655-83FE-CDA4-A70F7CE48CF6}"/>
              </a:ext>
            </a:extLst>
          </p:cNvPr>
          <p:cNvSpPr txBox="1"/>
          <p:nvPr/>
        </p:nvSpPr>
        <p:spPr>
          <a:xfrm>
            <a:off x="8049344" y="584684"/>
            <a:ext cx="1856656" cy="23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FB5D9C49-3064-2656-03B5-952111F69E4E}"/>
              </a:ext>
            </a:extLst>
          </p:cNvPr>
          <p:cNvGraphicFramePr>
            <a:graphicFrameLocks noGrp="1"/>
          </p:cNvGraphicFramePr>
          <p:nvPr/>
        </p:nvGraphicFramePr>
        <p:xfrm>
          <a:off x="164467" y="415724"/>
          <a:ext cx="7740859" cy="67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3591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387268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사업담당자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홍길동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544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계약담당자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임꺽정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1548445"/>
                  </a:ext>
                </a:extLst>
              </a:tr>
            </a:tbl>
          </a:graphicData>
        </a:graphic>
      </p:graphicFrame>
      <p:sp>
        <p:nvSpPr>
          <p:cNvPr id="39" name="직사각형 38">
            <a:extLst>
              <a:ext uri="{FF2B5EF4-FFF2-40B4-BE49-F238E27FC236}">
                <a16:creationId xmlns:a16="http://schemas.microsoft.com/office/drawing/2014/main" id="{3A93AB28-7E80-16B1-0379-F6EC0C58EC36}"/>
              </a:ext>
            </a:extLst>
          </p:cNvPr>
          <p:cNvSpPr/>
          <p:nvPr/>
        </p:nvSpPr>
        <p:spPr>
          <a:xfrm>
            <a:off x="7205908" y="1202036"/>
            <a:ext cx="699418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>
                <a:latin typeface="나눔고딕" panose="020D0604000000000000" pitchFamily="50" charset="-127"/>
                <a:ea typeface="나눔고딕" panose="020D0604000000000000" pitchFamily="50" charset="-127"/>
              </a:rPr>
              <a:t>저장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4DE098A9-6B34-C68D-19AE-06F03D8C69B3}"/>
              </a:ext>
            </a:extLst>
          </p:cNvPr>
          <p:cNvSpPr/>
          <p:nvPr/>
        </p:nvSpPr>
        <p:spPr>
          <a:xfrm>
            <a:off x="164467" y="1202036"/>
            <a:ext cx="699418" cy="28803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목록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BDF992A-0CA2-866D-C909-1A027F20B38B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089079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836B5-D250-2083-D90C-E8A995996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A0A516C0-1B4B-5C7F-1882-09BB64E3808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BBCE277-ED37-6E06-37CF-431A9E853F63}"/>
              </a:ext>
            </a:extLst>
          </p:cNvPr>
          <p:cNvSpPr txBox="1"/>
          <p:nvPr/>
        </p:nvSpPr>
        <p:spPr>
          <a:xfrm>
            <a:off x="749224" y="25608"/>
            <a:ext cx="223170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 등록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 체크리스트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88EDB0-AB32-936C-4DAC-7E9710E76030}"/>
              </a:ext>
            </a:extLst>
          </p:cNvPr>
          <p:cNvSpPr txBox="1"/>
          <p:nvPr/>
        </p:nvSpPr>
        <p:spPr>
          <a:xfrm>
            <a:off x="8049344" y="584684"/>
            <a:ext cx="1856656" cy="397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계약방법이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인 경우 낙찰자 선정방법은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최저가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만 선택 가능</a:t>
            </a:r>
            <a:endParaRPr lang="en-US" altLang="ko-KR" sz="80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EC2F567-C080-B312-0D21-79AF80317059}"/>
              </a:ext>
            </a:extLst>
          </p:cNvPr>
          <p:cNvSpPr/>
          <p:nvPr/>
        </p:nvSpPr>
        <p:spPr>
          <a:xfrm>
            <a:off x="164468" y="403565"/>
            <a:ext cx="791883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 등록 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D9E2F4D3-F98C-6E9F-4F1B-7D814E9E1D56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9F018F39-65F4-6825-D826-7CD1BFA39096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E2DAB760-AA8F-436B-C4EA-EE86C28EEBF0}"/>
              </a:ext>
            </a:extLst>
          </p:cNvPr>
          <p:cNvGraphicFramePr>
            <a:graphicFrameLocks noGrp="1"/>
          </p:cNvGraphicFramePr>
          <p:nvPr/>
        </p:nvGraphicFramePr>
        <p:xfrm>
          <a:off x="179901" y="2602716"/>
          <a:ext cx="7717011" cy="919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8743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148268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결재문서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추진안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일상감사의견서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065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결재문서 등록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등록된 파일명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#1.pdf  </a:t>
                      </a:r>
                      <a:b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b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등록된 파일명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#2.pdf  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357048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id="{CE23FB5A-0246-A14A-7849-37D21016B437}"/>
              </a:ext>
            </a:extLst>
          </p:cNvPr>
          <p:cNvSpPr/>
          <p:nvPr/>
        </p:nvSpPr>
        <p:spPr>
          <a:xfrm>
            <a:off x="183392" y="2316820"/>
            <a:ext cx="574171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결재 관련 정보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86A58C1-A4B5-3C54-EC58-E5CC02DB3D98}"/>
              </a:ext>
            </a:extLst>
          </p:cNvPr>
          <p:cNvSpPr/>
          <p:nvPr/>
        </p:nvSpPr>
        <p:spPr>
          <a:xfrm>
            <a:off x="183392" y="3626272"/>
            <a:ext cx="574171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l"/>
            <a:r>
              <a:rPr lang="ko-KR" altLang="en-US" sz="9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세부정보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BE53FFBB-313C-E279-435E-C980E3B12BA3}"/>
              </a:ext>
            </a:extLst>
          </p:cNvPr>
          <p:cNvGraphicFramePr>
            <a:graphicFrameLocks noGrp="1"/>
          </p:cNvGraphicFramePr>
          <p:nvPr/>
        </p:nvGraphicFramePr>
        <p:xfrm>
          <a:off x="164467" y="3920007"/>
          <a:ext cx="7776865" cy="2365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9418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197447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추정금액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                                               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구천사백사십구만원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 VAT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포함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2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계약기간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pc="-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                                         ~</a:t>
                      </a:r>
                      <a:endParaRPr lang="ko-KR" altLang="en-US" sz="800" b="0" spc="-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69958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납품장소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065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계약이행 보증금률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                         %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357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하자이행 보증금률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                         %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00273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하자이행 기간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                 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년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5394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계약방법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○ 수의계약     ○ 경쟁입찰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일반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     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○ 경쟁입찰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제한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     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○ 경쟁입찰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지명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307130"/>
                  </a:ext>
                </a:extLst>
              </a:tr>
            </a:tbl>
          </a:graphicData>
        </a:graphic>
      </p:graphicFrame>
      <p:sp>
        <p:nvSpPr>
          <p:cNvPr id="36" name="직사각형 35">
            <a:extLst>
              <a:ext uri="{FF2B5EF4-FFF2-40B4-BE49-F238E27FC236}">
                <a16:creationId xmlns:a16="http://schemas.microsoft.com/office/drawing/2014/main" id="{B9290062-FF3D-19CC-DDC9-F4C84A2E2649}"/>
              </a:ext>
            </a:extLst>
          </p:cNvPr>
          <p:cNvSpPr/>
          <p:nvPr/>
        </p:nvSpPr>
        <p:spPr>
          <a:xfrm>
            <a:off x="1822026" y="3983617"/>
            <a:ext cx="1481185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 시 작성된 내용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6830F78D-93B8-5B79-0812-478B73540FBC}"/>
              </a:ext>
            </a:extLst>
          </p:cNvPr>
          <p:cNvSpPr/>
          <p:nvPr/>
        </p:nvSpPr>
        <p:spPr>
          <a:xfrm>
            <a:off x="1822026" y="4310546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시작일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DD63D367-9385-6971-7197-3D834AC372EE}"/>
              </a:ext>
            </a:extLst>
          </p:cNvPr>
          <p:cNvSpPr/>
          <p:nvPr/>
        </p:nvSpPr>
        <p:spPr>
          <a:xfrm>
            <a:off x="2632277" y="4310548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FB4338BB-6BC4-D79D-4430-FA5B1E9B7982}"/>
              </a:ext>
            </a:extLst>
          </p:cNvPr>
          <p:cNvSpPr/>
          <p:nvPr/>
        </p:nvSpPr>
        <p:spPr>
          <a:xfrm>
            <a:off x="3035996" y="4310546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종료일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35F4CB7E-2D2A-65BF-A243-303A351EBA77}"/>
              </a:ext>
            </a:extLst>
          </p:cNvPr>
          <p:cNvSpPr/>
          <p:nvPr/>
        </p:nvSpPr>
        <p:spPr>
          <a:xfrm>
            <a:off x="3846247" y="4310548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5338A89E-7135-9B45-7684-FACF1AA07E17}"/>
              </a:ext>
            </a:extLst>
          </p:cNvPr>
          <p:cNvSpPr/>
          <p:nvPr/>
        </p:nvSpPr>
        <p:spPr>
          <a:xfrm>
            <a:off x="1822026" y="4661386"/>
            <a:ext cx="4823162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50</a:t>
            </a:r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 이내로 입력해주세요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00877C6D-0F8E-AE0D-D223-18E2EBEE294E}"/>
              </a:ext>
            </a:extLst>
          </p:cNvPr>
          <p:cNvSpPr/>
          <p:nvPr/>
        </p:nvSpPr>
        <p:spPr>
          <a:xfrm>
            <a:off x="1822027" y="5004789"/>
            <a:ext cx="682702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숫자로 입력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6F8094BD-3A89-0864-2DE1-CAE2352A0192}"/>
              </a:ext>
            </a:extLst>
          </p:cNvPr>
          <p:cNvSpPr/>
          <p:nvPr/>
        </p:nvSpPr>
        <p:spPr>
          <a:xfrm>
            <a:off x="1822027" y="5333578"/>
            <a:ext cx="682702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숫자로 입력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9CD91BE8-104C-BD08-CA97-8C12D8EEC702}"/>
              </a:ext>
            </a:extLst>
          </p:cNvPr>
          <p:cNvSpPr/>
          <p:nvPr/>
        </p:nvSpPr>
        <p:spPr>
          <a:xfrm>
            <a:off x="1822027" y="5677690"/>
            <a:ext cx="682702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숫자로 입력</a:t>
            </a:r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299E3243-937E-20A1-32DC-D7CE6CC88C9B}"/>
              </a:ext>
            </a:extLst>
          </p:cNvPr>
          <p:cNvGrpSpPr/>
          <p:nvPr/>
        </p:nvGrpSpPr>
        <p:grpSpPr>
          <a:xfrm>
            <a:off x="164468" y="826923"/>
            <a:ext cx="7732444" cy="643315"/>
            <a:chOff x="164468" y="826923"/>
            <a:chExt cx="6455884" cy="643315"/>
          </a:xfrm>
        </p:grpSpPr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4995356E-3E4F-1C6C-0FD6-6883FFECAEE0}"/>
                </a:ext>
              </a:extLst>
            </p:cNvPr>
            <p:cNvSpPr/>
            <p:nvPr/>
          </p:nvSpPr>
          <p:spPr>
            <a:xfrm>
              <a:off x="164468" y="826923"/>
              <a:ext cx="1226118" cy="643315"/>
            </a:xfrm>
            <a:prstGeom prst="rect">
              <a:avLst/>
            </a:prstGeom>
            <a:solidFill>
              <a:srgbClr val="F2F2F2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01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발주계획 기본정보</a:t>
              </a:r>
              <a:endPara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0A1E3C9E-C917-769A-8847-87CBD37434E6}"/>
                </a:ext>
              </a:extLst>
            </p:cNvPr>
            <p:cNvSpPr/>
            <p:nvPr/>
          </p:nvSpPr>
          <p:spPr>
            <a:xfrm>
              <a:off x="1471910" y="826923"/>
              <a:ext cx="1226118" cy="643315"/>
            </a:xfrm>
            <a:prstGeom prst="rect">
              <a:avLst/>
            </a:prstGeom>
            <a:solidFill>
              <a:srgbClr val="FFC000">
                <a:alpha val="69804"/>
              </a:srgb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02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발주계획 체크리스트</a:t>
              </a:r>
              <a:endPara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7AAA28A9-7502-B3B7-8042-FC909E69F448}"/>
                </a:ext>
              </a:extLst>
            </p:cNvPr>
            <p:cNvSpPr/>
            <p:nvPr/>
          </p:nvSpPr>
          <p:spPr>
            <a:xfrm>
              <a:off x="2779352" y="826923"/>
              <a:ext cx="1226118" cy="6433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03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b="1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품목 정보</a:t>
              </a:r>
              <a:endPara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6930D558-8915-AE98-921D-F3ED1B28FD08}"/>
                </a:ext>
              </a:extLst>
            </p:cNvPr>
            <p:cNvSpPr/>
            <p:nvPr/>
          </p:nvSpPr>
          <p:spPr>
            <a:xfrm>
              <a:off x="4086793" y="826923"/>
              <a:ext cx="1226118" cy="6433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04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최종 점검 및 전자결재</a:t>
              </a:r>
              <a:endPara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F17FF9E8-F1D3-341C-B4F2-DFEF1718BB2A}"/>
                </a:ext>
              </a:extLst>
            </p:cNvPr>
            <p:cNvSpPr/>
            <p:nvPr/>
          </p:nvSpPr>
          <p:spPr>
            <a:xfrm>
              <a:off x="5394234" y="826923"/>
              <a:ext cx="1226118" cy="6433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05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발주계획 등록 완료</a:t>
              </a:r>
              <a:endPara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98226E39-ED9C-19BA-0CAF-A04FE4404E48}"/>
              </a:ext>
            </a:extLst>
          </p:cNvPr>
          <p:cNvSpPr/>
          <p:nvPr/>
        </p:nvSpPr>
        <p:spPr>
          <a:xfrm>
            <a:off x="2909398" y="3004405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바로보기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8690217-9CB8-E126-64F0-51FD595285ED}"/>
              </a:ext>
            </a:extLst>
          </p:cNvPr>
          <p:cNvSpPr/>
          <p:nvPr/>
        </p:nvSpPr>
        <p:spPr>
          <a:xfrm>
            <a:off x="3572235" y="3004405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다운로드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5563D5B-0F36-B808-801A-1769763A02E3}"/>
              </a:ext>
            </a:extLst>
          </p:cNvPr>
          <p:cNvSpPr/>
          <p:nvPr/>
        </p:nvSpPr>
        <p:spPr>
          <a:xfrm>
            <a:off x="2909398" y="3271745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바로보기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D53B1FA-7293-40A8-2137-EFC816B78C1E}"/>
              </a:ext>
            </a:extLst>
          </p:cNvPr>
          <p:cNvSpPr/>
          <p:nvPr/>
        </p:nvSpPr>
        <p:spPr>
          <a:xfrm>
            <a:off x="3572235" y="3271745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다운로드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447E702-03ED-64F6-8B79-A1F3EB92C7A4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계속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BD9D73C-542A-64B7-FECB-1A17C65CDC27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전자입찰시스템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30" name="Picture 1">
            <a:extLst>
              <a:ext uri="{FF2B5EF4-FFF2-40B4-BE49-F238E27FC236}">
                <a16:creationId xmlns:a16="http://schemas.microsoft.com/office/drawing/2014/main" id="{AF41B234-1D8D-D4EF-C972-AFD2FBCA8B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7" name="직사각형 36">
            <a:extLst>
              <a:ext uri="{FF2B5EF4-FFF2-40B4-BE49-F238E27FC236}">
                <a16:creationId xmlns:a16="http://schemas.microsoft.com/office/drawing/2014/main" id="{E3DB7A00-6812-F2B3-F500-99E24D50BAFD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</a:t>
            </a:r>
            <a:endParaRPr lang="ko-KR" altLang="en-US" sz="800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4AFE1429-13A4-5909-1A93-431AD3133DFB}"/>
              </a:ext>
            </a:extLst>
          </p:cNvPr>
          <p:cNvSpPr/>
          <p:nvPr/>
        </p:nvSpPr>
        <p:spPr>
          <a:xfrm>
            <a:off x="-529236" y="798199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kumimoji="1"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E44135BD-1AF6-E9B5-4A60-F23F62E27830}"/>
              </a:ext>
            </a:extLst>
          </p:cNvPr>
          <p:cNvSpPr/>
          <p:nvPr/>
        </p:nvSpPr>
        <p:spPr>
          <a:xfrm>
            <a:off x="-1690381" y="1098519"/>
            <a:ext cx="1467136" cy="56628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요청접수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 등록 </a:t>
            </a: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73D2149D-15DD-9F1A-43DD-62DDECEFBB77}"/>
              </a:ext>
            </a:extLst>
          </p:cNvPr>
          <p:cNvSpPr/>
          <p:nvPr/>
        </p:nvSpPr>
        <p:spPr>
          <a:xfrm>
            <a:off x="60738" y="5833262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9E587CD8-4644-E2C6-673E-9178C4B87F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1733900"/>
              </p:ext>
            </p:extLst>
          </p:nvPr>
        </p:nvGraphicFramePr>
        <p:xfrm>
          <a:off x="179900" y="1548660"/>
          <a:ext cx="7717012" cy="675840"/>
        </p:xfrm>
        <a:graphic>
          <a:graphicData uri="http://schemas.openxmlformats.org/drawingml/2006/table">
            <a:tbl>
              <a:tblPr firstRow="1" bandRow="1"/>
              <a:tblGrid>
                <a:gridCol w="1089930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626442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2473207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824053">
                  <a:extLst>
                    <a:ext uri="{9D8B030D-6E8A-4147-A177-3AD203B41FA5}">
                      <a16:colId xmlns:a16="http://schemas.microsoft.com/office/drawing/2014/main" val="3053194834"/>
                    </a:ext>
                  </a:extLst>
                </a:gridCol>
                <a:gridCol w="824053">
                  <a:extLst>
                    <a:ext uri="{9D8B030D-6E8A-4147-A177-3AD203B41FA5}">
                      <a16:colId xmlns:a16="http://schemas.microsoft.com/office/drawing/2014/main" val="419952432"/>
                    </a:ext>
                  </a:extLst>
                </a:gridCol>
                <a:gridCol w="410867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734230">
                  <a:extLst>
                    <a:ext uri="{9D8B030D-6E8A-4147-A177-3AD203B41FA5}">
                      <a16:colId xmlns:a16="http://schemas.microsoft.com/office/drawing/2014/main" val="858523054"/>
                    </a:ext>
                  </a:extLst>
                </a:gridCol>
                <a:gridCol w="734230">
                  <a:extLst>
                    <a:ext uri="{9D8B030D-6E8A-4147-A177-3AD203B41FA5}">
                      <a16:colId xmlns:a16="http://schemas.microsoft.com/office/drawing/2014/main" val="32833227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발주계약 품의번호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진행상태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건명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요청일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계약예정일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구분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사업담당자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계약담당자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PPW2026-0029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작성중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서초동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1601-9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오피스텔 신축공사 중 도장공사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2026.07.22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2026.07.31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공사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홍길동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임꺽정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03524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EAC99-CB1E-0909-3907-17595BA8E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0BA0C6C3-DC25-FB01-03E4-64A9982ABFB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EFD6BA1-FF43-D2D3-D615-789D10933C8E}"/>
              </a:ext>
            </a:extLst>
          </p:cNvPr>
          <p:cNvSpPr txBox="1"/>
          <p:nvPr/>
        </p:nvSpPr>
        <p:spPr>
          <a:xfrm>
            <a:off x="749224" y="25608"/>
            <a:ext cx="223170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 등록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 체크리스트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C7E267-F5E8-83AE-D81F-60057F4A0751}"/>
              </a:ext>
            </a:extLst>
          </p:cNvPr>
          <p:cNvSpPr txBox="1"/>
          <p:nvPr/>
        </p:nvSpPr>
        <p:spPr>
          <a:xfrm>
            <a:off x="8049344" y="584684"/>
            <a:ext cx="1856656" cy="6057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계약방법이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인 경우에만 노출됨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</a:t>
            </a:r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인 경우 </a:t>
            </a:r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근거 </a:t>
            </a:r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 </a:t>
            </a: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사유</a:t>
            </a:r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’, ‘</a:t>
            </a: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계약상대자</a:t>
            </a:r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수의계약의 경우</a:t>
            </a:r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)’</a:t>
            </a: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는 필수 </a:t>
            </a:r>
            <a:r>
              <a:rPr lang="ko-KR" altLang="en-US" sz="800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입력값임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highlight>
                <a:srgbClr val="FFFF00"/>
              </a:highlight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계약방법이 </a:t>
            </a:r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경쟁입찰</a:t>
            </a:r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제한</a:t>
            </a:r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)’</a:t>
            </a: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일 경우에는 반드시 입력되어야 하는 항목임</a:t>
            </a:r>
            <a:endParaRPr lang="en-US" altLang="ko-KR" sz="800" u="sng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낙찰자 선정방법에 따라서 선택할 수 있는 항목이 달라짐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아래의 내용에 따라 활성화 처리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최저가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예정가만 선택 가능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제한적 최저가 입찰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예비가만 선택 가능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- 2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단계 경쟁입찰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규격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 동시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: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예정가만 선택 가능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- 2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단계 경쟁입찰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규격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가격 분리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: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예정가만 선택 가능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적격심사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예비가만 선택 가능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계약방법이 </a:t>
            </a:r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</a:t>
            </a:r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인 경우 </a:t>
            </a:r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예정가</a:t>
            </a:r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와 </a:t>
            </a:r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추정금액</a:t>
            </a:r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전용</a:t>
            </a:r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)’ </a:t>
            </a: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선택 가능</a:t>
            </a:r>
            <a:endParaRPr lang="en-US" altLang="ko-KR" sz="800" u="sng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추정금액</a:t>
            </a:r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전용</a:t>
            </a:r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)’ </a:t>
            </a: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선택 시 </a:t>
            </a:r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예정</a:t>
            </a:r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예비가격 결정자</a:t>
            </a:r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는 필수 입력값이 아님</a:t>
            </a:r>
            <a:endParaRPr lang="en-US" altLang="ko-KR" sz="800" u="sng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계약방법이 </a:t>
            </a:r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</a:t>
            </a:r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인 경우 </a:t>
            </a:r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</a:t>
            </a:r>
            <a:r>
              <a:rPr lang="ko-KR" altLang="en-US" sz="800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보증금률</a:t>
            </a:r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은 필수 입력항목이 아님</a:t>
            </a: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에서 사업담당자에 의해 등록된 서류 삭제 및 추가 등록 가능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9B7EBAA6-E263-7552-4FC9-2BE0190248E2}"/>
              </a:ext>
            </a:extLst>
          </p:cNvPr>
          <p:cNvGraphicFramePr>
            <a:graphicFrameLocks noGrp="1"/>
          </p:cNvGraphicFramePr>
          <p:nvPr/>
        </p:nvGraphicFramePr>
        <p:xfrm>
          <a:off x="164467" y="417071"/>
          <a:ext cx="7776865" cy="2365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9418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197447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낙찰자 선정방법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○ 최저가     ○ 제한적 최저가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입찰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○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단계 경쟁입찰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규격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가격 동시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     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○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단계 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경쟁입찰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규격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가격 분리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○ 적격심사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1472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근거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 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수의계약 사유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27612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계약상대자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수의계약의 경우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매핑된 협력업체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주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큐비트엑스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(135-81-77202)</a:t>
                      </a:r>
                      <a:endParaRPr lang="en-US" altLang="ko-KR" sz="800" b="1" u="sng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2705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참가자격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u="sng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79032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예정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예비가격 결정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○ 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예정가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    ○ 예비가     ○ 추정금액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수의계약 전용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4071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예정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예비가격 결정자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○ 사장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    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○ 본부장      ○ 실장      ○ 사업지원팀장     ○ 견적에 의한 가격결정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81122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입찰 보증금률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                 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%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4608715"/>
                  </a:ext>
                </a:extLst>
              </a:tr>
            </a:tbl>
          </a:graphicData>
        </a:graphic>
      </p:graphicFrame>
      <p:sp>
        <p:nvSpPr>
          <p:cNvPr id="51" name="직사각형 50">
            <a:extLst>
              <a:ext uri="{FF2B5EF4-FFF2-40B4-BE49-F238E27FC236}">
                <a16:creationId xmlns:a16="http://schemas.microsoft.com/office/drawing/2014/main" id="{048B2155-5710-A4C2-5DEE-0350C504B227}"/>
              </a:ext>
            </a:extLst>
          </p:cNvPr>
          <p:cNvSpPr/>
          <p:nvPr/>
        </p:nvSpPr>
        <p:spPr>
          <a:xfrm>
            <a:off x="1822026" y="823834"/>
            <a:ext cx="4823162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50</a:t>
            </a:r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 이내로 입력해주세요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EED2E2C-8E1A-1457-F49D-989AE67BED04}"/>
              </a:ext>
            </a:extLst>
          </p:cNvPr>
          <p:cNvSpPr/>
          <p:nvPr/>
        </p:nvSpPr>
        <p:spPr>
          <a:xfrm>
            <a:off x="1822026" y="1497744"/>
            <a:ext cx="4823162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100</a:t>
            </a:r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 이내로 입력해주세요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E0242E8-5FCB-2F38-619D-473E87BB78A4}"/>
              </a:ext>
            </a:extLst>
          </p:cNvPr>
          <p:cNvSpPr/>
          <p:nvPr/>
        </p:nvSpPr>
        <p:spPr>
          <a:xfrm>
            <a:off x="1822027" y="2510580"/>
            <a:ext cx="682702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숫자로 입력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8F91F167-240C-3021-501B-BFD636924E64}"/>
              </a:ext>
            </a:extLst>
          </p:cNvPr>
          <p:cNvSpPr/>
          <p:nvPr/>
        </p:nvSpPr>
        <p:spPr>
          <a:xfrm>
            <a:off x="183392" y="2888940"/>
            <a:ext cx="574171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계약업체 면허 설정 정보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41" name="표 40">
            <a:extLst>
              <a:ext uri="{FF2B5EF4-FFF2-40B4-BE49-F238E27FC236}">
                <a16:creationId xmlns:a16="http://schemas.microsoft.com/office/drawing/2014/main" id="{F7C05523-0AC7-480E-9DDB-479C002988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9547527"/>
              </p:ext>
            </p:extLst>
          </p:nvPr>
        </p:nvGraphicFramePr>
        <p:xfrm>
          <a:off x="164467" y="3166391"/>
          <a:ext cx="7776865" cy="67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9418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197447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종합건설업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■ 건축설계 및 시공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2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전문건설업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■ 도장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습식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방수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석공사업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6995847"/>
                  </a:ext>
                </a:extLst>
              </a:tr>
            </a:tbl>
          </a:graphicData>
        </a:graphic>
      </p:graphicFrame>
      <p:sp>
        <p:nvSpPr>
          <p:cNvPr id="43" name="직사각형 42">
            <a:extLst>
              <a:ext uri="{FF2B5EF4-FFF2-40B4-BE49-F238E27FC236}">
                <a16:creationId xmlns:a16="http://schemas.microsoft.com/office/drawing/2014/main" id="{443CCBAA-FF0E-B9EF-50B6-FC7DB0E2A282}"/>
              </a:ext>
            </a:extLst>
          </p:cNvPr>
          <p:cNvSpPr/>
          <p:nvPr/>
        </p:nvSpPr>
        <p:spPr>
          <a:xfrm>
            <a:off x="183392" y="3936997"/>
            <a:ext cx="574171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첨부 서류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45" name="표 44">
            <a:extLst>
              <a:ext uri="{FF2B5EF4-FFF2-40B4-BE49-F238E27FC236}">
                <a16:creationId xmlns:a16="http://schemas.microsoft.com/office/drawing/2014/main" id="{B5545077-3A8C-C3D1-7CE0-ACBE0C469B73}"/>
              </a:ext>
            </a:extLst>
          </p:cNvPr>
          <p:cNvGraphicFramePr>
            <a:graphicFrameLocks noGrp="1"/>
          </p:cNvGraphicFramePr>
          <p:nvPr/>
        </p:nvGraphicFramePr>
        <p:xfrm>
          <a:off x="164467" y="4233821"/>
          <a:ext cx="7776865" cy="204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9418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197447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용역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  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원가계산서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(or 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산출내역서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), </a:t>
                      </a:r>
                      <a:b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  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과업지시서 등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#1.pdf  </a:t>
                      </a:r>
                      <a:b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b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#2.pdf </a:t>
                      </a:r>
                      <a:b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b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#3.pdf </a:t>
                      </a:r>
                      <a:b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b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#4.pdf </a:t>
                      </a:r>
                      <a:b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b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#5.pdf </a:t>
                      </a:r>
                      <a:b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b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b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b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b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b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2444"/>
                  </a:ext>
                </a:extLst>
              </a:tr>
            </a:tbl>
          </a:graphicData>
        </a:graphic>
      </p:graphicFrame>
      <p:pic>
        <p:nvPicPr>
          <p:cNvPr id="47" name="그림 46">
            <a:extLst>
              <a:ext uri="{FF2B5EF4-FFF2-40B4-BE49-F238E27FC236}">
                <a16:creationId xmlns:a16="http://schemas.microsoft.com/office/drawing/2014/main" id="{7430B36B-2E60-AA95-B586-3DBDE529A7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3288" y="5527616"/>
            <a:ext cx="6120000" cy="642993"/>
          </a:xfrm>
          <a:prstGeom prst="rect">
            <a:avLst/>
          </a:prstGeom>
        </p:spPr>
      </p:pic>
      <p:sp>
        <p:nvSpPr>
          <p:cNvPr id="91" name="직사각형 90">
            <a:extLst>
              <a:ext uri="{FF2B5EF4-FFF2-40B4-BE49-F238E27FC236}">
                <a16:creationId xmlns:a16="http://schemas.microsoft.com/office/drawing/2014/main" id="{5BF8D620-F882-9CE5-E032-964BCA00B4EA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계속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3379B73E-3D28-236F-141A-23786CE073A1}"/>
              </a:ext>
            </a:extLst>
          </p:cNvPr>
          <p:cNvSpPr/>
          <p:nvPr/>
        </p:nvSpPr>
        <p:spPr>
          <a:xfrm>
            <a:off x="60738" y="677384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C37A8C98-6D58-EAAC-E7C9-6A7B9A616D74}"/>
              </a:ext>
            </a:extLst>
          </p:cNvPr>
          <p:cNvSpPr/>
          <p:nvPr/>
        </p:nvSpPr>
        <p:spPr>
          <a:xfrm>
            <a:off x="60738" y="1022574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1’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74388FD8-2936-C75E-3482-BF757B5978C5}"/>
              </a:ext>
            </a:extLst>
          </p:cNvPr>
          <p:cNvSpPr/>
          <p:nvPr/>
        </p:nvSpPr>
        <p:spPr>
          <a:xfrm>
            <a:off x="60738" y="1690217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CEA77F70-A449-7D07-2FE5-81099DBEAA59}"/>
              </a:ext>
            </a:extLst>
          </p:cNvPr>
          <p:cNvSpPr/>
          <p:nvPr/>
        </p:nvSpPr>
        <p:spPr>
          <a:xfrm>
            <a:off x="60738" y="2012670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0C406D02-685F-A305-3C94-D92DBF5DB1C4}"/>
              </a:ext>
            </a:extLst>
          </p:cNvPr>
          <p:cNvGrpSpPr/>
          <p:nvPr/>
        </p:nvGrpSpPr>
        <p:grpSpPr>
          <a:xfrm>
            <a:off x="2909398" y="4285732"/>
            <a:ext cx="1935659" cy="198885"/>
            <a:chOff x="2909398" y="4294358"/>
            <a:chExt cx="1935659" cy="198885"/>
          </a:xfrm>
        </p:grpSpPr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4DFAF6FE-78BA-B71D-2CA1-E64FCBC3A92B}"/>
                </a:ext>
              </a:extLst>
            </p:cNvPr>
            <p:cNvSpPr/>
            <p:nvPr/>
          </p:nvSpPr>
          <p:spPr>
            <a:xfrm>
              <a:off x="2909398" y="4294358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5DBA01FB-7467-761D-B729-FC8A444E68C4}"/>
                </a:ext>
              </a:extLst>
            </p:cNvPr>
            <p:cNvSpPr/>
            <p:nvPr/>
          </p:nvSpPr>
          <p:spPr>
            <a:xfrm>
              <a:off x="3572235" y="4294358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65DF5730-82FB-7CE9-C0A1-95135AE138DE}"/>
                </a:ext>
              </a:extLst>
            </p:cNvPr>
            <p:cNvSpPr/>
            <p:nvPr/>
          </p:nvSpPr>
          <p:spPr>
            <a:xfrm>
              <a:off x="4232092" y="4294358"/>
              <a:ext cx="612965" cy="198885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삭제</a:t>
              </a: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A36A54CF-CFAA-A583-7E5B-962B82D27215}"/>
              </a:ext>
            </a:extLst>
          </p:cNvPr>
          <p:cNvGrpSpPr/>
          <p:nvPr/>
        </p:nvGrpSpPr>
        <p:grpSpPr>
          <a:xfrm>
            <a:off x="2909398" y="4530405"/>
            <a:ext cx="1935659" cy="198885"/>
            <a:chOff x="2909398" y="4294358"/>
            <a:chExt cx="1935659" cy="198885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F535C35C-F023-B073-E7E7-740836A87C36}"/>
                </a:ext>
              </a:extLst>
            </p:cNvPr>
            <p:cNvSpPr/>
            <p:nvPr/>
          </p:nvSpPr>
          <p:spPr>
            <a:xfrm>
              <a:off x="2909398" y="4294358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447C2588-FFF2-69A0-BDE1-496E452C028D}"/>
                </a:ext>
              </a:extLst>
            </p:cNvPr>
            <p:cNvSpPr/>
            <p:nvPr/>
          </p:nvSpPr>
          <p:spPr>
            <a:xfrm>
              <a:off x="3572235" y="4294358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A048CF9A-E4B6-E991-1244-77771F0B447B}"/>
                </a:ext>
              </a:extLst>
            </p:cNvPr>
            <p:cNvSpPr/>
            <p:nvPr/>
          </p:nvSpPr>
          <p:spPr>
            <a:xfrm>
              <a:off x="4232092" y="4294358"/>
              <a:ext cx="612965" cy="198885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삭제</a:t>
              </a: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5883935F-8D69-EFE3-AB96-805DAFDCEEC2}"/>
              </a:ext>
            </a:extLst>
          </p:cNvPr>
          <p:cNvGrpSpPr/>
          <p:nvPr/>
        </p:nvGrpSpPr>
        <p:grpSpPr>
          <a:xfrm>
            <a:off x="2909398" y="4775078"/>
            <a:ext cx="1935659" cy="198885"/>
            <a:chOff x="2909398" y="4294358"/>
            <a:chExt cx="1935659" cy="198885"/>
          </a:xfrm>
        </p:grpSpPr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366DAF4B-3B6A-0CB4-C2E6-2BB14A342480}"/>
                </a:ext>
              </a:extLst>
            </p:cNvPr>
            <p:cNvSpPr/>
            <p:nvPr/>
          </p:nvSpPr>
          <p:spPr>
            <a:xfrm>
              <a:off x="2909398" y="4294358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BA082117-9AB2-A258-B61C-125FD4B34023}"/>
                </a:ext>
              </a:extLst>
            </p:cNvPr>
            <p:cNvSpPr/>
            <p:nvPr/>
          </p:nvSpPr>
          <p:spPr>
            <a:xfrm>
              <a:off x="3572235" y="4294358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6BA70D01-12BB-38E9-86E7-9C1307C17D47}"/>
                </a:ext>
              </a:extLst>
            </p:cNvPr>
            <p:cNvSpPr/>
            <p:nvPr/>
          </p:nvSpPr>
          <p:spPr>
            <a:xfrm>
              <a:off x="4232092" y="4294358"/>
              <a:ext cx="612965" cy="198885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삭제</a:t>
              </a: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20039624-A2FE-4062-BFED-B1BE2965A9A8}"/>
              </a:ext>
            </a:extLst>
          </p:cNvPr>
          <p:cNvGrpSpPr/>
          <p:nvPr/>
        </p:nvGrpSpPr>
        <p:grpSpPr>
          <a:xfrm>
            <a:off x="2909398" y="5019751"/>
            <a:ext cx="1935659" cy="198885"/>
            <a:chOff x="2909398" y="4294358"/>
            <a:chExt cx="1935659" cy="198885"/>
          </a:xfrm>
        </p:grpSpPr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C200A9D8-AF42-A092-73FA-8DF44986F130}"/>
                </a:ext>
              </a:extLst>
            </p:cNvPr>
            <p:cNvSpPr/>
            <p:nvPr/>
          </p:nvSpPr>
          <p:spPr>
            <a:xfrm>
              <a:off x="2909398" y="4294358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6E52AFA1-55A2-065D-08EA-2AA3B322D9BD}"/>
                </a:ext>
              </a:extLst>
            </p:cNvPr>
            <p:cNvSpPr/>
            <p:nvPr/>
          </p:nvSpPr>
          <p:spPr>
            <a:xfrm>
              <a:off x="3572235" y="4294358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FF545EF8-8B4B-42F7-1427-A8B3CA736435}"/>
                </a:ext>
              </a:extLst>
            </p:cNvPr>
            <p:cNvSpPr/>
            <p:nvPr/>
          </p:nvSpPr>
          <p:spPr>
            <a:xfrm>
              <a:off x="4232092" y="4294358"/>
              <a:ext cx="612965" cy="198885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삭제</a:t>
              </a: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342D36FA-B767-E656-CE59-6475C8678D71}"/>
              </a:ext>
            </a:extLst>
          </p:cNvPr>
          <p:cNvGrpSpPr/>
          <p:nvPr/>
        </p:nvGrpSpPr>
        <p:grpSpPr>
          <a:xfrm>
            <a:off x="2909398" y="5264424"/>
            <a:ext cx="1935659" cy="198885"/>
            <a:chOff x="2909398" y="4294358"/>
            <a:chExt cx="1935659" cy="198885"/>
          </a:xfrm>
        </p:grpSpPr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C38C6713-54AF-0037-3846-29FA590419C0}"/>
                </a:ext>
              </a:extLst>
            </p:cNvPr>
            <p:cNvSpPr/>
            <p:nvPr/>
          </p:nvSpPr>
          <p:spPr>
            <a:xfrm>
              <a:off x="2909398" y="4294358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775C1BB9-7A60-4AAB-C35A-9764A5232B8A}"/>
                </a:ext>
              </a:extLst>
            </p:cNvPr>
            <p:cNvSpPr/>
            <p:nvPr/>
          </p:nvSpPr>
          <p:spPr>
            <a:xfrm>
              <a:off x="3572235" y="4294358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EAD51B4D-EBE2-F6AA-413E-67DA1D3E67EE}"/>
                </a:ext>
              </a:extLst>
            </p:cNvPr>
            <p:cNvSpPr/>
            <p:nvPr/>
          </p:nvSpPr>
          <p:spPr>
            <a:xfrm>
              <a:off x="4232092" y="4294358"/>
              <a:ext cx="612965" cy="198885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삭제</a:t>
              </a:r>
            </a:p>
          </p:txBody>
        </p:sp>
      </p:grpSp>
      <p:sp>
        <p:nvSpPr>
          <p:cNvPr id="37" name="타원 36">
            <a:extLst>
              <a:ext uri="{FF2B5EF4-FFF2-40B4-BE49-F238E27FC236}">
                <a16:creationId xmlns:a16="http://schemas.microsoft.com/office/drawing/2014/main" id="{26B09349-4FD2-B719-8FEF-B3365A67B09C}"/>
              </a:ext>
            </a:extLst>
          </p:cNvPr>
          <p:cNvSpPr/>
          <p:nvPr/>
        </p:nvSpPr>
        <p:spPr>
          <a:xfrm>
            <a:off x="60738" y="4177720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1EF0B5CD-93D5-87C8-617B-7A91BAD7A63D}"/>
              </a:ext>
            </a:extLst>
          </p:cNvPr>
          <p:cNvSpPr/>
          <p:nvPr/>
        </p:nvSpPr>
        <p:spPr>
          <a:xfrm>
            <a:off x="60738" y="2398934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4A4D5CC3-F876-D18D-0EB9-1EA9A295C230}"/>
              </a:ext>
            </a:extLst>
          </p:cNvPr>
          <p:cNvSpPr/>
          <p:nvPr/>
        </p:nvSpPr>
        <p:spPr>
          <a:xfrm>
            <a:off x="60738" y="1377294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352634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D8C86-3084-C428-3C94-F2929C9D7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B926D536-C0FB-44FF-F61C-1679B379E0D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398BF4B-2FAF-6E14-C755-F53DF7717BB2}"/>
              </a:ext>
            </a:extLst>
          </p:cNvPr>
          <p:cNvSpPr txBox="1"/>
          <p:nvPr/>
        </p:nvSpPr>
        <p:spPr>
          <a:xfrm>
            <a:off x="749224" y="25608"/>
            <a:ext cx="223170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 등록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 체크리스트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490D92-106E-2C5B-F33A-7C8C07186D31}"/>
              </a:ext>
            </a:extLst>
          </p:cNvPr>
          <p:cNvSpPr txBox="1"/>
          <p:nvPr/>
        </p:nvSpPr>
        <p:spPr>
          <a:xfrm>
            <a:off x="8049344" y="584684"/>
            <a:ext cx="1856656" cy="557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에서 사업담당자에 의해 등록된 서류 삭제 및 추가 등록 가능</a:t>
            </a:r>
            <a:endParaRPr lang="en-US" altLang="ko-KR" sz="80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65" name="표 64">
            <a:extLst>
              <a:ext uri="{FF2B5EF4-FFF2-40B4-BE49-F238E27FC236}">
                <a16:creationId xmlns:a16="http://schemas.microsoft.com/office/drawing/2014/main" id="{5FE10B80-86BF-1B28-8693-DBAD30F854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5187942"/>
              </p:ext>
            </p:extLst>
          </p:nvPr>
        </p:nvGraphicFramePr>
        <p:xfrm>
          <a:off x="164467" y="389053"/>
          <a:ext cx="7776865" cy="126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9418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197447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기타 서류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#1.pdf  </a:t>
                      </a:r>
                      <a:b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b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#2.pdf </a:t>
                      </a:r>
                      <a:b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b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b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b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2444"/>
                  </a:ext>
                </a:extLst>
              </a:tr>
            </a:tbl>
          </a:graphicData>
        </a:graphic>
      </p:graphicFrame>
      <p:pic>
        <p:nvPicPr>
          <p:cNvPr id="78" name="그림 77">
            <a:extLst>
              <a:ext uri="{FF2B5EF4-FFF2-40B4-BE49-F238E27FC236}">
                <a16:creationId xmlns:a16="http://schemas.microsoft.com/office/drawing/2014/main" id="{86A84C73-A333-183A-8EF1-F44BF7F837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3288" y="952104"/>
            <a:ext cx="6120000" cy="642993"/>
          </a:xfrm>
          <a:prstGeom prst="rect">
            <a:avLst/>
          </a:prstGeom>
        </p:spPr>
      </p:pic>
      <p:sp>
        <p:nvSpPr>
          <p:cNvPr id="80" name="직사각형 79">
            <a:extLst>
              <a:ext uri="{FF2B5EF4-FFF2-40B4-BE49-F238E27FC236}">
                <a16:creationId xmlns:a16="http://schemas.microsoft.com/office/drawing/2014/main" id="{2F8ED90E-9C55-C520-7B6C-AE99F66DFD1B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BD35DD71-D4F6-4A89-7C2C-C1B8546150C1}"/>
              </a:ext>
            </a:extLst>
          </p:cNvPr>
          <p:cNvSpPr/>
          <p:nvPr/>
        </p:nvSpPr>
        <p:spPr>
          <a:xfrm>
            <a:off x="164467" y="1787362"/>
            <a:ext cx="699418" cy="28803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목록</a:t>
            </a: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DB1B9318-9CE8-14C9-F02E-85434EF0D1C7}"/>
              </a:ext>
            </a:extLst>
          </p:cNvPr>
          <p:cNvSpPr/>
          <p:nvPr/>
        </p:nvSpPr>
        <p:spPr>
          <a:xfrm>
            <a:off x="7099612" y="1787362"/>
            <a:ext cx="823676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저장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1B0D0D43-B509-7072-7E16-939181AD4A77}"/>
              </a:ext>
            </a:extLst>
          </p:cNvPr>
          <p:cNvGrpSpPr/>
          <p:nvPr/>
        </p:nvGrpSpPr>
        <p:grpSpPr>
          <a:xfrm>
            <a:off x="2909398" y="450128"/>
            <a:ext cx="1935659" cy="198885"/>
            <a:chOff x="2909398" y="4294358"/>
            <a:chExt cx="1935659" cy="198885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C5C847ED-A095-D21E-61D0-0C934FFA4B92}"/>
                </a:ext>
              </a:extLst>
            </p:cNvPr>
            <p:cNvSpPr/>
            <p:nvPr/>
          </p:nvSpPr>
          <p:spPr>
            <a:xfrm>
              <a:off x="2909398" y="4294358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3E56AC88-A05F-E81B-1C86-68B47CB032F0}"/>
                </a:ext>
              </a:extLst>
            </p:cNvPr>
            <p:cNvSpPr/>
            <p:nvPr/>
          </p:nvSpPr>
          <p:spPr>
            <a:xfrm>
              <a:off x="3572235" y="4294358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37165EA9-36F0-D248-3755-A8F245D13B26}"/>
                </a:ext>
              </a:extLst>
            </p:cNvPr>
            <p:cNvSpPr/>
            <p:nvPr/>
          </p:nvSpPr>
          <p:spPr>
            <a:xfrm>
              <a:off x="4232092" y="4294358"/>
              <a:ext cx="612965" cy="198885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삭제</a:t>
              </a: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315DBCA3-2C14-25E9-FACA-04A87CCC1B70}"/>
              </a:ext>
            </a:extLst>
          </p:cNvPr>
          <p:cNvGrpSpPr/>
          <p:nvPr/>
        </p:nvGrpSpPr>
        <p:grpSpPr>
          <a:xfrm>
            <a:off x="2909398" y="703814"/>
            <a:ext cx="1935659" cy="198885"/>
            <a:chOff x="2909398" y="4294358"/>
            <a:chExt cx="1935659" cy="198885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374A27BD-6A2F-EBE9-EFFA-A93D9486BF93}"/>
                </a:ext>
              </a:extLst>
            </p:cNvPr>
            <p:cNvSpPr/>
            <p:nvPr/>
          </p:nvSpPr>
          <p:spPr>
            <a:xfrm>
              <a:off x="2909398" y="4294358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CBC42048-E998-A1DF-E912-0665ED00DEF7}"/>
                </a:ext>
              </a:extLst>
            </p:cNvPr>
            <p:cNvSpPr/>
            <p:nvPr/>
          </p:nvSpPr>
          <p:spPr>
            <a:xfrm>
              <a:off x="3572235" y="4294358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6D61C28B-625E-5FDD-4F93-638E3AD69DBD}"/>
                </a:ext>
              </a:extLst>
            </p:cNvPr>
            <p:cNvSpPr/>
            <p:nvPr/>
          </p:nvSpPr>
          <p:spPr>
            <a:xfrm>
              <a:off x="4232092" y="4294358"/>
              <a:ext cx="612965" cy="198885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삭제</a:t>
              </a:r>
            </a:p>
          </p:txBody>
        </p:sp>
      </p:grpSp>
      <p:sp>
        <p:nvSpPr>
          <p:cNvPr id="13" name="타원 12">
            <a:extLst>
              <a:ext uri="{FF2B5EF4-FFF2-40B4-BE49-F238E27FC236}">
                <a16:creationId xmlns:a16="http://schemas.microsoft.com/office/drawing/2014/main" id="{C951F98C-DA6B-AF44-B9B4-7299A376A047}"/>
              </a:ext>
            </a:extLst>
          </p:cNvPr>
          <p:cNvSpPr/>
          <p:nvPr/>
        </p:nvSpPr>
        <p:spPr>
          <a:xfrm>
            <a:off x="60738" y="319064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176894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5803E-1A8E-4F5D-ED40-2ADA05749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B346E89B-67CA-1C2F-7CD3-705A5B970E4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F16C099-E169-35B2-E764-71C8D17B0738}"/>
              </a:ext>
            </a:extLst>
          </p:cNvPr>
          <p:cNvSpPr txBox="1"/>
          <p:nvPr/>
        </p:nvSpPr>
        <p:spPr>
          <a:xfrm>
            <a:off x="749224" y="25608"/>
            <a:ext cx="178766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 등록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품목 정보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870C842-8427-751D-2A5E-A80B518F2BAD}"/>
              </a:ext>
            </a:extLst>
          </p:cNvPr>
          <p:cNvSpPr/>
          <p:nvPr/>
        </p:nvSpPr>
        <p:spPr>
          <a:xfrm>
            <a:off x="164468" y="403565"/>
            <a:ext cx="791883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 등록 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07E08D5A-4D20-B4A4-5271-1F4F0C94D720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32F0B86-964A-FF77-E04F-C3E626229FDB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F3BC3DB-8608-F546-0AAD-FB5C88ACB2BF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0B2B0C-388F-B27E-CCD4-03CAEBEBFFA7}"/>
              </a:ext>
            </a:extLst>
          </p:cNvPr>
          <p:cNvSpPr txBox="1"/>
          <p:nvPr/>
        </p:nvSpPr>
        <p:spPr>
          <a:xfrm>
            <a:off x="164468" y="2308861"/>
            <a:ext cx="3053340" cy="2308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등록된 품목 </a:t>
            </a:r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총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건</a:t>
            </a:r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D2AEED8C-D1B6-B616-E3A0-2FC6B5F1F661}"/>
              </a:ext>
            </a:extLst>
          </p:cNvPr>
          <p:cNvGrpSpPr/>
          <p:nvPr/>
        </p:nvGrpSpPr>
        <p:grpSpPr>
          <a:xfrm>
            <a:off x="164468" y="826923"/>
            <a:ext cx="7732444" cy="643315"/>
            <a:chOff x="164468" y="826923"/>
            <a:chExt cx="6455884" cy="643315"/>
          </a:xfrm>
        </p:grpSpPr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AB1A19EB-BC7B-CC55-939C-141C61201E84}"/>
                </a:ext>
              </a:extLst>
            </p:cNvPr>
            <p:cNvSpPr/>
            <p:nvPr/>
          </p:nvSpPr>
          <p:spPr>
            <a:xfrm>
              <a:off x="164468" y="826923"/>
              <a:ext cx="1226118" cy="643315"/>
            </a:xfrm>
            <a:prstGeom prst="rect">
              <a:avLst/>
            </a:prstGeom>
            <a:solidFill>
              <a:srgbClr val="F2F2F2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01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발주계획 기본정보</a:t>
              </a:r>
              <a:endPara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2C8A1886-F5BC-ADED-E546-4A26E761F2CC}"/>
                </a:ext>
              </a:extLst>
            </p:cNvPr>
            <p:cNvSpPr/>
            <p:nvPr/>
          </p:nvSpPr>
          <p:spPr>
            <a:xfrm>
              <a:off x="1471910" y="826923"/>
              <a:ext cx="1226118" cy="6433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02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발주계획 체크리스트</a:t>
              </a:r>
              <a:endPara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4107C3F4-E00F-3CC0-894A-C10742A17499}"/>
                </a:ext>
              </a:extLst>
            </p:cNvPr>
            <p:cNvSpPr/>
            <p:nvPr/>
          </p:nvSpPr>
          <p:spPr>
            <a:xfrm>
              <a:off x="2779352" y="826923"/>
              <a:ext cx="1226118" cy="643315"/>
            </a:xfrm>
            <a:prstGeom prst="rect">
              <a:avLst/>
            </a:prstGeom>
            <a:solidFill>
              <a:srgbClr val="FFC000">
                <a:alpha val="69804"/>
              </a:srgb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03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b="1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품목 정보</a:t>
              </a:r>
              <a:endPara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3DD18116-7616-4D5D-83BF-E9628F803895}"/>
                </a:ext>
              </a:extLst>
            </p:cNvPr>
            <p:cNvSpPr/>
            <p:nvPr/>
          </p:nvSpPr>
          <p:spPr>
            <a:xfrm>
              <a:off x="4086793" y="826923"/>
              <a:ext cx="1226118" cy="6433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04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최종 점검 및 전자결재</a:t>
              </a:r>
              <a:endPara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78958CDB-D5A8-F812-60AC-826851114EB9}"/>
                </a:ext>
              </a:extLst>
            </p:cNvPr>
            <p:cNvSpPr/>
            <p:nvPr/>
          </p:nvSpPr>
          <p:spPr>
            <a:xfrm>
              <a:off x="5394234" y="826923"/>
              <a:ext cx="1226118" cy="6433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05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발주계획 등록 완료</a:t>
              </a:r>
              <a:endPara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64502F1-7FF3-2360-60FC-FF576A3AF79F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전자입찰시스템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25" name="Picture 1">
            <a:extLst>
              <a:ext uri="{FF2B5EF4-FFF2-40B4-BE49-F238E27FC236}">
                <a16:creationId xmlns:a16="http://schemas.microsoft.com/office/drawing/2014/main" id="{3B9657CB-02FC-8042-D0A8-38A555EED0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8" name="직사각형 27">
            <a:extLst>
              <a:ext uri="{FF2B5EF4-FFF2-40B4-BE49-F238E27FC236}">
                <a16:creationId xmlns:a16="http://schemas.microsoft.com/office/drawing/2014/main" id="{091D7E9C-3F21-A0E9-50AF-735FF69A7D46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</a:t>
            </a:r>
            <a:endParaRPr lang="ko-KR" altLang="en-US" sz="800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1C87FF5F-147F-65F5-89A2-C650530A657A}"/>
              </a:ext>
            </a:extLst>
          </p:cNvPr>
          <p:cNvSpPr/>
          <p:nvPr/>
        </p:nvSpPr>
        <p:spPr>
          <a:xfrm>
            <a:off x="-529236" y="798199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kumimoji="1"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588FF74B-033F-45E7-60CD-07C8A450EB38}"/>
              </a:ext>
            </a:extLst>
          </p:cNvPr>
          <p:cNvSpPr/>
          <p:nvPr/>
        </p:nvSpPr>
        <p:spPr>
          <a:xfrm>
            <a:off x="-1690381" y="1098519"/>
            <a:ext cx="1467136" cy="56628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요청접수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 등록 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3F0AF26-3725-AA07-9CAE-F2DAFA1A257F}"/>
              </a:ext>
            </a:extLst>
          </p:cNvPr>
          <p:cNvSpPr txBox="1"/>
          <p:nvPr/>
        </p:nvSpPr>
        <p:spPr>
          <a:xfrm>
            <a:off x="8049344" y="584684"/>
            <a:ext cx="1856656" cy="56661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[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별첨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2]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품목 정보 추가를 위한 엑셀 다운로드 양식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.xlsx 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품목 구성 방법이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품목단가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일 경우 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품목 추가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품목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)’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버튼 노출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품목 추가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품목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: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품목에서 불러와서 품목 정보를 등록하는 기능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화면설계 다음 페이지의 팝업 호출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품목 정보를 개별로 직접 등록하는 경우 사용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뒷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페이지 팝업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품목 정보 추가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수정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호출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품목은 하나라도 반드시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등록되어 있어야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함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Alert 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품목은 최소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 이상 등록되어야 합니다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.’</a:t>
            </a: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품목 정보를 수정하는 경우 사용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뒷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페이지 팝업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품목 정보 추가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수정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호출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30BFB5B4-EEA4-A1F6-C3D0-49E6EF7F1037}"/>
              </a:ext>
            </a:extLst>
          </p:cNvPr>
          <p:cNvGraphicFramePr>
            <a:graphicFrameLocks noGrp="1"/>
          </p:cNvGraphicFramePr>
          <p:nvPr/>
        </p:nvGraphicFramePr>
        <p:xfrm>
          <a:off x="179900" y="1548660"/>
          <a:ext cx="7717012" cy="675840"/>
        </p:xfrm>
        <a:graphic>
          <a:graphicData uri="http://schemas.openxmlformats.org/drawingml/2006/table">
            <a:tbl>
              <a:tblPr firstRow="1" bandRow="1"/>
              <a:tblGrid>
                <a:gridCol w="1089930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626442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2473207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824053">
                  <a:extLst>
                    <a:ext uri="{9D8B030D-6E8A-4147-A177-3AD203B41FA5}">
                      <a16:colId xmlns:a16="http://schemas.microsoft.com/office/drawing/2014/main" val="3053194834"/>
                    </a:ext>
                  </a:extLst>
                </a:gridCol>
                <a:gridCol w="824053">
                  <a:extLst>
                    <a:ext uri="{9D8B030D-6E8A-4147-A177-3AD203B41FA5}">
                      <a16:colId xmlns:a16="http://schemas.microsoft.com/office/drawing/2014/main" val="419952432"/>
                    </a:ext>
                  </a:extLst>
                </a:gridCol>
                <a:gridCol w="410867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734230">
                  <a:extLst>
                    <a:ext uri="{9D8B030D-6E8A-4147-A177-3AD203B41FA5}">
                      <a16:colId xmlns:a16="http://schemas.microsoft.com/office/drawing/2014/main" val="858523054"/>
                    </a:ext>
                  </a:extLst>
                </a:gridCol>
                <a:gridCol w="734230">
                  <a:extLst>
                    <a:ext uri="{9D8B030D-6E8A-4147-A177-3AD203B41FA5}">
                      <a16:colId xmlns:a16="http://schemas.microsoft.com/office/drawing/2014/main" val="32833227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발주계약 품의번호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진행상태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건명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요청일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계약예정일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구분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사업담당자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계약담당자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PPW2026-0029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작성중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서초동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1601-9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오피스텔 신축공사 중 도장공사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2026.07.22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2026.07.31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공사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홍길동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임꺽정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B6493CB2-AB12-58E8-2ABE-BB8DBCAC49F0}"/>
              </a:ext>
            </a:extLst>
          </p:cNvPr>
          <p:cNvGraphicFramePr>
            <a:graphicFrameLocks noGrp="1"/>
          </p:cNvGraphicFramePr>
          <p:nvPr/>
        </p:nvGraphicFramePr>
        <p:xfrm>
          <a:off x="171333" y="2591949"/>
          <a:ext cx="8886123" cy="1351680"/>
        </p:xfrm>
        <a:graphic>
          <a:graphicData uri="http://schemas.openxmlformats.org/drawingml/2006/table">
            <a:tbl>
              <a:tblPr firstRow="1" bandRow="1"/>
              <a:tblGrid>
                <a:gridCol w="237100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45087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919725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2129400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291075">
                  <a:extLst>
                    <a:ext uri="{9D8B030D-6E8A-4147-A177-3AD203B41FA5}">
                      <a16:colId xmlns:a16="http://schemas.microsoft.com/office/drawing/2014/main" val="3053194834"/>
                    </a:ext>
                  </a:extLst>
                </a:gridCol>
                <a:gridCol w="291075">
                  <a:extLst>
                    <a:ext uri="{9D8B030D-6E8A-4147-A177-3AD203B41FA5}">
                      <a16:colId xmlns:a16="http://schemas.microsoft.com/office/drawing/2014/main" val="419952432"/>
                    </a:ext>
                  </a:extLst>
                </a:gridCol>
                <a:gridCol w="656200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795900">
                  <a:extLst>
                    <a:ext uri="{9D8B030D-6E8A-4147-A177-3AD203B41FA5}">
                      <a16:colId xmlns:a16="http://schemas.microsoft.com/office/drawing/2014/main" val="3408856969"/>
                    </a:ext>
                  </a:extLst>
                </a:gridCol>
                <a:gridCol w="1740463">
                  <a:extLst>
                    <a:ext uri="{9D8B030D-6E8A-4147-A177-3AD203B41FA5}">
                      <a16:colId xmlns:a16="http://schemas.microsoft.com/office/drawing/2014/main" val="883633877"/>
                    </a:ext>
                  </a:extLst>
                </a:gridCol>
                <a:gridCol w="604034">
                  <a:extLst>
                    <a:ext uri="{9D8B030D-6E8A-4147-A177-3AD203B41FA5}">
                      <a16:colId xmlns:a16="http://schemas.microsoft.com/office/drawing/2014/main" val="2051809351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18747266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No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품목코드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품목명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규격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단위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수량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납기요청일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입고장소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비고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수정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삭제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A0106-001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고효율 인버터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품목 구성 방법이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‘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지정 항목 작성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’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인 경우에 등록됨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EA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3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2026.07.31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현장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품목 등록의 비고에 들어간 내용입니다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A0103-001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고효율 공기 압축기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EA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2026.07.31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켑코이에스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본사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3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076827"/>
                  </a:ext>
                </a:extLst>
              </a:tr>
            </a:tbl>
          </a:graphicData>
        </a:graphic>
      </p:graphicFrame>
      <p:sp>
        <p:nvSpPr>
          <p:cNvPr id="13" name="직사각형 12">
            <a:extLst>
              <a:ext uri="{FF2B5EF4-FFF2-40B4-BE49-F238E27FC236}">
                <a16:creationId xmlns:a16="http://schemas.microsoft.com/office/drawing/2014/main" id="{A7875AAE-F18F-CE33-7F46-DC1BEED96D19}"/>
              </a:ext>
            </a:extLst>
          </p:cNvPr>
          <p:cNvSpPr/>
          <p:nvPr/>
        </p:nvSpPr>
        <p:spPr>
          <a:xfrm>
            <a:off x="7965709" y="2995289"/>
            <a:ext cx="458854" cy="215441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수정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FD03402-BA80-9141-5465-3DBC4C8F6D8D}"/>
              </a:ext>
            </a:extLst>
          </p:cNvPr>
          <p:cNvSpPr/>
          <p:nvPr/>
        </p:nvSpPr>
        <p:spPr>
          <a:xfrm>
            <a:off x="8558306" y="2995289"/>
            <a:ext cx="458854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삭제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1DDAB17-6EA7-2377-8615-0B431AF16E35}"/>
              </a:ext>
            </a:extLst>
          </p:cNvPr>
          <p:cNvSpPr/>
          <p:nvPr/>
        </p:nvSpPr>
        <p:spPr>
          <a:xfrm>
            <a:off x="7965709" y="3334487"/>
            <a:ext cx="458854" cy="215441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수정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A72FDB1-5E74-3067-E3ED-60A4B8C65E22}"/>
              </a:ext>
            </a:extLst>
          </p:cNvPr>
          <p:cNvSpPr/>
          <p:nvPr/>
        </p:nvSpPr>
        <p:spPr>
          <a:xfrm>
            <a:off x="8558306" y="3334487"/>
            <a:ext cx="458854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삭제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BC5204B-A054-3274-CF00-2E332735D953}"/>
              </a:ext>
            </a:extLst>
          </p:cNvPr>
          <p:cNvSpPr/>
          <p:nvPr/>
        </p:nvSpPr>
        <p:spPr>
          <a:xfrm>
            <a:off x="7965709" y="3673685"/>
            <a:ext cx="458854" cy="215441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수정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6E91427-DBAE-999E-7890-1C3973B804EB}"/>
              </a:ext>
            </a:extLst>
          </p:cNvPr>
          <p:cNvSpPr/>
          <p:nvPr/>
        </p:nvSpPr>
        <p:spPr>
          <a:xfrm>
            <a:off x="8558306" y="3673685"/>
            <a:ext cx="458854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삭제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5735FB3-7578-EF93-5587-E891EEA87187}"/>
              </a:ext>
            </a:extLst>
          </p:cNvPr>
          <p:cNvSpPr/>
          <p:nvPr/>
        </p:nvSpPr>
        <p:spPr>
          <a:xfrm>
            <a:off x="6789204" y="4044256"/>
            <a:ext cx="1444693" cy="2880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품목 정보 추가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개별 등록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E29ABB75-C9AC-B2FF-65C3-34DEE9019280}"/>
              </a:ext>
            </a:extLst>
          </p:cNvPr>
          <p:cNvSpPr/>
          <p:nvPr/>
        </p:nvSpPr>
        <p:spPr>
          <a:xfrm>
            <a:off x="2681074" y="4044256"/>
            <a:ext cx="1444693" cy="288032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엑셀 업로드 양식 다운로드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6C64BB8-6594-AF67-F5CA-0D7AC25917BD}"/>
              </a:ext>
            </a:extLst>
          </p:cNvPr>
          <p:cNvSpPr/>
          <p:nvPr/>
        </p:nvSpPr>
        <p:spPr>
          <a:xfrm>
            <a:off x="4179253" y="4044256"/>
            <a:ext cx="1363908" cy="28803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품목 정보 추가</a:t>
            </a:r>
            <a:r>
              <a:rPr lang="en-US" altLang="ko-KR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업로드</a:t>
            </a:r>
            <a:r>
              <a:rPr lang="en-US" altLang="ko-KR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9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2343F28F-317A-923A-474B-4831DA18F4CB}"/>
              </a:ext>
            </a:extLst>
          </p:cNvPr>
          <p:cNvSpPr/>
          <p:nvPr/>
        </p:nvSpPr>
        <p:spPr>
          <a:xfrm>
            <a:off x="8290265" y="4044256"/>
            <a:ext cx="762141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저장</a:t>
            </a: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1FCE5D0C-FC13-CAFB-ED71-C2803C54D1AB}"/>
              </a:ext>
            </a:extLst>
          </p:cNvPr>
          <p:cNvSpPr/>
          <p:nvPr/>
        </p:nvSpPr>
        <p:spPr>
          <a:xfrm>
            <a:off x="2553082" y="3914304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0F7C7A6-7AFB-881F-AB32-47A904698DCF}"/>
              </a:ext>
            </a:extLst>
          </p:cNvPr>
          <p:cNvSpPr txBox="1"/>
          <p:nvPr/>
        </p:nvSpPr>
        <p:spPr>
          <a:xfrm>
            <a:off x="854984" y="4973266"/>
            <a:ext cx="1856656" cy="397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[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별첨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1]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품목 정보 추가를 위한 엑셀 다운로드 양식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.xlsx 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608A8A48-13F6-4171-EDDC-77083E93CFC1}"/>
              </a:ext>
            </a:extLst>
          </p:cNvPr>
          <p:cNvSpPr/>
          <p:nvPr/>
        </p:nvSpPr>
        <p:spPr>
          <a:xfrm>
            <a:off x="126917" y="4691733"/>
            <a:ext cx="5002057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품목 정보 추가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업로드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3603926E-657E-443A-839B-D13A469CEDEB}"/>
              </a:ext>
            </a:extLst>
          </p:cNvPr>
          <p:cNvSpPr/>
          <p:nvPr/>
        </p:nvSpPr>
        <p:spPr>
          <a:xfrm>
            <a:off x="126917" y="4964645"/>
            <a:ext cx="5002057" cy="127266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F413AA5C-0B7A-6111-B80F-6F34DAAA703D}"/>
              </a:ext>
            </a:extLst>
          </p:cNvPr>
          <p:cNvSpPr/>
          <p:nvPr/>
        </p:nvSpPr>
        <p:spPr>
          <a:xfrm>
            <a:off x="4858974" y="4691733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6F3B2F9F-C787-F2D9-0EE5-663117581B5E}"/>
              </a:ext>
            </a:extLst>
          </p:cNvPr>
          <p:cNvSpPr/>
          <p:nvPr/>
        </p:nvSpPr>
        <p:spPr>
          <a:xfrm>
            <a:off x="2900772" y="5798617"/>
            <a:ext cx="1368157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품목 정보 추가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업로드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185E0BFE-0082-3098-4D6C-AA373C88DC46}"/>
              </a:ext>
            </a:extLst>
          </p:cNvPr>
          <p:cNvSpPr/>
          <p:nvPr/>
        </p:nvSpPr>
        <p:spPr>
          <a:xfrm>
            <a:off x="4328670" y="5798617"/>
            <a:ext cx="699418" cy="28803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취소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FE7D0E92-A1F7-9209-3BC3-A2E77F010C4A}"/>
              </a:ext>
            </a:extLst>
          </p:cNvPr>
          <p:cNvSpPr/>
          <p:nvPr/>
        </p:nvSpPr>
        <p:spPr>
          <a:xfrm>
            <a:off x="258137" y="5061034"/>
            <a:ext cx="1453924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품목 정보 추가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업로드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graphicFrame>
        <p:nvGraphicFramePr>
          <p:cNvPr id="53" name="표 52">
            <a:extLst>
              <a:ext uri="{FF2B5EF4-FFF2-40B4-BE49-F238E27FC236}">
                <a16:creationId xmlns:a16="http://schemas.microsoft.com/office/drawing/2014/main" id="{E3C885E2-0154-A844-40A3-73BE5DE61B1B}"/>
              </a:ext>
            </a:extLst>
          </p:cNvPr>
          <p:cNvGraphicFramePr>
            <a:graphicFrameLocks noGrp="1"/>
          </p:cNvGraphicFramePr>
          <p:nvPr/>
        </p:nvGraphicFramePr>
        <p:xfrm>
          <a:off x="257100" y="5369892"/>
          <a:ext cx="4767908" cy="33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1318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3226590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품목 정보 추가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엑셀 업로드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6039517"/>
                  </a:ext>
                </a:extLst>
              </a:tr>
            </a:tbl>
          </a:graphicData>
        </a:graphic>
      </p:graphicFrame>
      <p:sp>
        <p:nvSpPr>
          <p:cNvPr id="54" name="직사각형 53">
            <a:extLst>
              <a:ext uri="{FF2B5EF4-FFF2-40B4-BE49-F238E27FC236}">
                <a16:creationId xmlns:a16="http://schemas.microsoft.com/office/drawing/2014/main" id="{E2F5153C-581A-175C-D92E-E6BD45DE4ED1}"/>
              </a:ext>
            </a:extLst>
          </p:cNvPr>
          <p:cNvSpPr/>
          <p:nvPr/>
        </p:nvSpPr>
        <p:spPr>
          <a:xfrm>
            <a:off x="1879040" y="5439379"/>
            <a:ext cx="2361869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파일을 첨부해주세요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F1CE2C69-EAE5-4D5A-0AE3-2EF296D5F9CB}"/>
              </a:ext>
            </a:extLst>
          </p:cNvPr>
          <p:cNvSpPr/>
          <p:nvPr/>
        </p:nvSpPr>
        <p:spPr>
          <a:xfrm>
            <a:off x="4236552" y="5440915"/>
            <a:ext cx="692070" cy="20647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찾아보기</a:t>
            </a:r>
          </a:p>
        </p:txBody>
      </p:sp>
      <p:cxnSp>
        <p:nvCxnSpPr>
          <p:cNvPr id="57" name="연결선: 꺾임 56">
            <a:extLst>
              <a:ext uri="{FF2B5EF4-FFF2-40B4-BE49-F238E27FC236}">
                <a16:creationId xmlns:a16="http://schemas.microsoft.com/office/drawing/2014/main" id="{14D7091F-631A-BE05-2386-7DC51ECA8063}"/>
              </a:ext>
            </a:extLst>
          </p:cNvPr>
          <p:cNvCxnSpPr>
            <a:cxnSpLocks/>
            <a:stCxn id="29" idx="2"/>
            <a:endCxn id="39" idx="0"/>
          </p:cNvCxnSpPr>
          <p:nvPr/>
        </p:nvCxnSpPr>
        <p:spPr>
          <a:xfrm rot="5400000">
            <a:off x="3564855" y="3395380"/>
            <a:ext cx="359445" cy="2233261"/>
          </a:xfrm>
          <a:prstGeom prst="bentConnector3">
            <a:avLst>
              <a:gd name="adj1" fmla="val 50000"/>
            </a:avLst>
          </a:prstGeom>
          <a:ln>
            <a:solidFill>
              <a:srgbClr val="C00000"/>
            </a:solidFill>
            <a:prstDash val="sys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타원 57">
            <a:extLst>
              <a:ext uri="{FF2B5EF4-FFF2-40B4-BE49-F238E27FC236}">
                <a16:creationId xmlns:a16="http://schemas.microsoft.com/office/drawing/2014/main" id="{B1CACAFA-5825-64E3-6C9B-53CA46F92A89}"/>
              </a:ext>
            </a:extLst>
          </p:cNvPr>
          <p:cNvSpPr/>
          <p:nvPr/>
        </p:nvSpPr>
        <p:spPr>
          <a:xfrm>
            <a:off x="7817401" y="2895071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764EDB55-2A70-A85B-0C39-EEECCDD379A7}"/>
              </a:ext>
            </a:extLst>
          </p:cNvPr>
          <p:cNvSpPr/>
          <p:nvPr/>
        </p:nvSpPr>
        <p:spPr>
          <a:xfrm>
            <a:off x="5585441" y="4044256"/>
            <a:ext cx="1147395" cy="2880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품목 추가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품목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6" name="타원 75">
            <a:extLst>
              <a:ext uri="{FF2B5EF4-FFF2-40B4-BE49-F238E27FC236}">
                <a16:creationId xmlns:a16="http://schemas.microsoft.com/office/drawing/2014/main" id="{FF3F50F1-C3E2-5833-CD66-08E5AA7B4B35}"/>
              </a:ext>
            </a:extLst>
          </p:cNvPr>
          <p:cNvSpPr/>
          <p:nvPr/>
        </p:nvSpPr>
        <p:spPr>
          <a:xfrm>
            <a:off x="5488635" y="3914304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7" name="타원 76">
            <a:extLst>
              <a:ext uri="{FF2B5EF4-FFF2-40B4-BE49-F238E27FC236}">
                <a16:creationId xmlns:a16="http://schemas.microsoft.com/office/drawing/2014/main" id="{75FBFB2B-5CD2-DD23-012E-02C4A6DD3CCB}"/>
              </a:ext>
            </a:extLst>
          </p:cNvPr>
          <p:cNvSpPr/>
          <p:nvPr/>
        </p:nvSpPr>
        <p:spPr>
          <a:xfrm>
            <a:off x="6690005" y="3914304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8" name="타원 77">
            <a:extLst>
              <a:ext uri="{FF2B5EF4-FFF2-40B4-BE49-F238E27FC236}">
                <a16:creationId xmlns:a16="http://schemas.microsoft.com/office/drawing/2014/main" id="{180972B5-966E-7934-43B1-1FD03CF28E52}"/>
              </a:ext>
            </a:extLst>
          </p:cNvPr>
          <p:cNvSpPr/>
          <p:nvPr/>
        </p:nvSpPr>
        <p:spPr>
          <a:xfrm>
            <a:off x="8182253" y="3914304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440219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E4E38-48AE-7E6F-3BDC-42ADF3D50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7C1434C5-A88D-58E1-1D5D-2DC4B838B7C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C178402-7F32-41BB-1DB8-3EC15C01030F}"/>
              </a:ext>
            </a:extLst>
          </p:cNvPr>
          <p:cNvSpPr txBox="1"/>
          <p:nvPr/>
        </p:nvSpPr>
        <p:spPr>
          <a:xfrm>
            <a:off x="749224" y="25608"/>
            <a:ext cx="283923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 등록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품목 정보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품목 추가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품목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))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E6833AC-A55C-7604-61FF-BCB56F0E2C9E}"/>
              </a:ext>
            </a:extLst>
          </p:cNvPr>
          <p:cNvSpPr/>
          <p:nvPr/>
        </p:nvSpPr>
        <p:spPr>
          <a:xfrm>
            <a:off x="164468" y="414790"/>
            <a:ext cx="7391699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품목 추가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공통 품목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642F32B-6FCA-81B2-0803-6B400BD5849B}"/>
              </a:ext>
            </a:extLst>
          </p:cNvPr>
          <p:cNvSpPr/>
          <p:nvPr/>
        </p:nvSpPr>
        <p:spPr>
          <a:xfrm>
            <a:off x="164469" y="687700"/>
            <a:ext cx="7391698" cy="515356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EEBD863-8006-C2D4-E04C-4EA37667F173}"/>
              </a:ext>
            </a:extLst>
          </p:cNvPr>
          <p:cNvSpPr/>
          <p:nvPr/>
        </p:nvSpPr>
        <p:spPr>
          <a:xfrm>
            <a:off x="7286167" y="414790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2450FC3-D884-D5FB-03ED-8204DC052876}"/>
              </a:ext>
            </a:extLst>
          </p:cNvPr>
          <p:cNvSpPr/>
          <p:nvPr/>
        </p:nvSpPr>
        <p:spPr>
          <a:xfrm>
            <a:off x="7452512" y="688544"/>
            <a:ext cx="108012" cy="515281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5F93F64-4C59-6FF2-90B1-64D2755D8BC1}"/>
              </a:ext>
            </a:extLst>
          </p:cNvPr>
          <p:cNvSpPr/>
          <p:nvPr/>
        </p:nvSpPr>
        <p:spPr>
          <a:xfrm>
            <a:off x="7452512" y="1070321"/>
            <a:ext cx="108012" cy="1800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74945FD-D5DD-6893-B367-487DED90781B}"/>
              </a:ext>
            </a:extLst>
          </p:cNvPr>
          <p:cNvSpPr/>
          <p:nvPr/>
        </p:nvSpPr>
        <p:spPr>
          <a:xfrm>
            <a:off x="301563" y="792082"/>
            <a:ext cx="1320874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품목 추가</a:t>
            </a:r>
            <a:r>
              <a:rPr lang="en-US" altLang="ko-KR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품목</a:t>
            </a:r>
            <a:r>
              <a:rPr lang="en-US" altLang="ko-KR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3C1DD96A-E7CB-55AE-DF17-258BA4FAFAD4}"/>
              </a:ext>
            </a:extLst>
          </p:cNvPr>
          <p:cNvSpPr/>
          <p:nvPr/>
        </p:nvSpPr>
        <p:spPr>
          <a:xfrm>
            <a:off x="6469347" y="5350086"/>
            <a:ext cx="813083" cy="28803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취소</a:t>
            </a: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FFDA98F6-538A-4F45-5CBE-229FC14C452B}"/>
              </a:ext>
            </a:extLst>
          </p:cNvPr>
          <p:cNvSpPr/>
          <p:nvPr/>
        </p:nvSpPr>
        <p:spPr>
          <a:xfrm>
            <a:off x="5605582" y="5350086"/>
            <a:ext cx="813083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선택 추가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BAC3BD1A-8B0B-2823-4869-5DE3390675D5}"/>
              </a:ext>
            </a:extLst>
          </p:cNvPr>
          <p:cNvSpPr/>
          <p:nvPr/>
        </p:nvSpPr>
        <p:spPr>
          <a:xfrm>
            <a:off x="306217" y="1125017"/>
            <a:ext cx="6976213" cy="129234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l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BDF370F4-29D5-EBD9-A8EB-D829494AD9BA}"/>
              </a:ext>
            </a:extLst>
          </p:cNvPr>
          <p:cNvSpPr/>
          <p:nvPr/>
        </p:nvSpPr>
        <p:spPr>
          <a:xfrm>
            <a:off x="1550272" y="2062348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구분</a:t>
            </a: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8FE1C8D0-1B6C-F7D6-A5CF-0886C75AF6A0}"/>
              </a:ext>
            </a:extLst>
          </p:cNvPr>
          <p:cNvSpPr/>
          <p:nvPr/>
        </p:nvSpPr>
        <p:spPr>
          <a:xfrm>
            <a:off x="2360523" y="2062350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4B671F98-861A-F4BD-270E-ADBFA00E95E9}"/>
              </a:ext>
            </a:extLst>
          </p:cNvPr>
          <p:cNvSpPr/>
          <p:nvPr/>
        </p:nvSpPr>
        <p:spPr>
          <a:xfrm>
            <a:off x="2675660" y="2062348"/>
            <a:ext cx="3619804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검색어를 입력하세요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C3AE09D9-E5FF-5118-38A2-F70454D6E671}"/>
              </a:ext>
            </a:extLst>
          </p:cNvPr>
          <p:cNvSpPr/>
          <p:nvPr/>
        </p:nvSpPr>
        <p:spPr>
          <a:xfrm>
            <a:off x="6383668" y="2062350"/>
            <a:ext cx="625198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E3C1AE4-DD60-610E-0CEC-508E85E8C6F6}"/>
              </a:ext>
            </a:extLst>
          </p:cNvPr>
          <p:cNvSpPr txBox="1"/>
          <p:nvPr/>
        </p:nvSpPr>
        <p:spPr>
          <a:xfrm>
            <a:off x="377599" y="1231522"/>
            <a:ext cx="680538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marR="0" lvl="0" indent="-7200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조회기간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(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등록일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)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                                                                                                                                                                 ~    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EEB28AC-8569-3D42-FF17-982035079502}"/>
              </a:ext>
            </a:extLst>
          </p:cNvPr>
          <p:cNvSpPr txBox="1"/>
          <p:nvPr/>
        </p:nvSpPr>
        <p:spPr>
          <a:xfrm>
            <a:off x="377598" y="2069493"/>
            <a:ext cx="511319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lvl="0" indent="-72000" algn="l">
              <a:buFont typeface="Arial" panose="020B0604020202020204" pitchFamily="34" charset="0"/>
              <a:buChar char="•"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키워드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검색 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</a:t>
            </a:r>
            <a:endParaRPr lang="ko-KR" altLang="en-US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73C26156-E86D-9E5C-C05E-6F1EA41F2F3A}"/>
              </a:ext>
            </a:extLst>
          </p:cNvPr>
          <p:cNvSpPr/>
          <p:nvPr/>
        </p:nvSpPr>
        <p:spPr>
          <a:xfrm>
            <a:off x="4825414" y="1219121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시작일</a:t>
            </a: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B0AFCCB1-60D8-DFD5-0E1E-FFAF19776164}"/>
              </a:ext>
            </a:extLst>
          </p:cNvPr>
          <p:cNvSpPr/>
          <p:nvPr/>
        </p:nvSpPr>
        <p:spPr>
          <a:xfrm>
            <a:off x="5635665" y="1219123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2539439E-7E7B-87E9-29EB-16E698A9F487}"/>
              </a:ext>
            </a:extLst>
          </p:cNvPr>
          <p:cNvSpPr/>
          <p:nvPr/>
        </p:nvSpPr>
        <p:spPr>
          <a:xfrm>
            <a:off x="6048920" y="1219121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종료일</a:t>
            </a: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C595B76D-5571-2FBD-DFF0-A06F49BC90C1}"/>
              </a:ext>
            </a:extLst>
          </p:cNvPr>
          <p:cNvSpPr/>
          <p:nvPr/>
        </p:nvSpPr>
        <p:spPr>
          <a:xfrm>
            <a:off x="6859171" y="1219123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9F2A97E3-FAF7-CCEB-2C22-784305147E30}"/>
              </a:ext>
            </a:extLst>
          </p:cNvPr>
          <p:cNvSpPr/>
          <p:nvPr/>
        </p:nvSpPr>
        <p:spPr>
          <a:xfrm>
            <a:off x="1535638" y="1219121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ko-KR" altLang="en-US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하루 전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40DA7793-3510-EED8-8979-083BFD1CAB24}"/>
              </a:ext>
            </a:extLst>
          </p:cNvPr>
          <p:cNvSpPr/>
          <p:nvPr/>
        </p:nvSpPr>
        <p:spPr>
          <a:xfrm>
            <a:off x="2084207" y="1219121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주일</a:t>
            </a: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C84C8371-BF03-A5ED-5C41-557436C12A73}"/>
              </a:ext>
            </a:extLst>
          </p:cNvPr>
          <p:cNvSpPr/>
          <p:nvPr/>
        </p:nvSpPr>
        <p:spPr>
          <a:xfrm>
            <a:off x="2632776" y="1219121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961E24E7-E311-CD11-74EC-CA50A6B204CA}"/>
              </a:ext>
            </a:extLst>
          </p:cNvPr>
          <p:cNvSpPr/>
          <p:nvPr/>
        </p:nvSpPr>
        <p:spPr>
          <a:xfrm>
            <a:off x="3181345" y="1219121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6DF705C3-8A26-9843-9245-BEA13A0F0FBC}"/>
              </a:ext>
            </a:extLst>
          </p:cNvPr>
          <p:cNvSpPr/>
          <p:nvPr/>
        </p:nvSpPr>
        <p:spPr>
          <a:xfrm>
            <a:off x="3729914" y="1219121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5C28A457-93E4-DEB8-14D5-397FAF403467}"/>
              </a:ext>
            </a:extLst>
          </p:cNvPr>
          <p:cNvSpPr/>
          <p:nvPr/>
        </p:nvSpPr>
        <p:spPr>
          <a:xfrm>
            <a:off x="4278482" y="1219121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년</a:t>
            </a: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14B1B0BB-7523-9968-8D93-060C0E08688D}"/>
              </a:ext>
            </a:extLst>
          </p:cNvPr>
          <p:cNvSpPr/>
          <p:nvPr/>
        </p:nvSpPr>
        <p:spPr>
          <a:xfrm>
            <a:off x="6241644" y="2489162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개씩</a:t>
            </a: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B2001749-F03A-0D1C-53FD-835F51207E81}"/>
              </a:ext>
            </a:extLst>
          </p:cNvPr>
          <p:cNvSpPr/>
          <p:nvPr/>
        </p:nvSpPr>
        <p:spPr>
          <a:xfrm>
            <a:off x="7063106" y="2489162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0691BE8-90BE-C871-0D48-0FEE2E20E9E5}"/>
              </a:ext>
            </a:extLst>
          </p:cNvPr>
          <p:cNvSpPr txBox="1"/>
          <p:nvPr/>
        </p:nvSpPr>
        <p:spPr>
          <a:xfrm>
            <a:off x="323255" y="2475644"/>
            <a:ext cx="2975920" cy="2308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전체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55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건 현재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/4</a:t>
            </a:r>
            <a:endParaRPr lang="ko-KR" altLang="en-US" sz="900" b="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86" name="표 85">
            <a:extLst>
              <a:ext uri="{FF2B5EF4-FFF2-40B4-BE49-F238E27FC236}">
                <a16:creationId xmlns:a16="http://schemas.microsoft.com/office/drawing/2014/main" id="{EEE7E47A-1730-0527-4620-5E31BA483466}"/>
              </a:ext>
            </a:extLst>
          </p:cNvPr>
          <p:cNvGraphicFramePr>
            <a:graphicFrameLocks noGrp="1"/>
          </p:cNvGraphicFramePr>
          <p:nvPr/>
        </p:nvGraphicFramePr>
        <p:xfrm>
          <a:off x="323253" y="2782477"/>
          <a:ext cx="6955294" cy="202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279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1181394">
                  <a:extLst>
                    <a:ext uri="{9D8B030D-6E8A-4147-A177-3AD203B41FA5}">
                      <a16:colId xmlns:a16="http://schemas.microsoft.com/office/drawing/2014/main" val="2652436465"/>
                    </a:ext>
                  </a:extLst>
                </a:gridCol>
                <a:gridCol w="2563711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641562">
                  <a:extLst>
                    <a:ext uri="{9D8B030D-6E8A-4147-A177-3AD203B41FA5}">
                      <a16:colId xmlns:a16="http://schemas.microsoft.com/office/drawing/2014/main" val="2264476566"/>
                    </a:ext>
                  </a:extLst>
                </a:gridCol>
                <a:gridCol w="641562">
                  <a:extLst>
                    <a:ext uri="{9D8B030D-6E8A-4147-A177-3AD203B41FA5}">
                      <a16:colId xmlns:a16="http://schemas.microsoft.com/office/drawing/2014/main" val="2466386541"/>
                    </a:ext>
                  </a:extLst>
                </a:gridCol>
                <a:gridCol w="734893">
                  <a:extLst>
                    <a:ext uri="{9D8B030D-6E8A-4147-A177-3AD203B41FA5}">
                      <a16:colId xmlns:a16="http://schemas.microsoft.com/office/drawing/2014/main" val="3354468507"/>
                    </a:ext>
                  </a:extLst>
                </a:gridCol>
                <a:gridCol w="774893">
                  <a:extLst>
                    <a:ext uri="{9D8B030D-6E8A-4147-A177-3AD203B41FA5}">
                      <a16:colId xmlns:a16="http://schemas.microsoft.com/office/drawing/2014/main" val="26099233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선택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품목코드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품목명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대분류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중분류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소분류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발주단위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□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A0102-0001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건축공사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제조사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고효율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ESSPCS</a:t>
                      </a: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EA</a:t>
                      </a: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□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고효율 공기 압축기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□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0768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□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39464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□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8773569"/>
                  </a:ext>
                </a:extLst>
              </a:tr>
            </a:tbl>
          </a:graphicData>
        </a:graphic>
      </p:graphicFrame>
      <p:grpSp>
        <p:nvGrpSpPr>
          <p:cNvPr id="87" name="그룹 86">
            <a:extLst>
              <a:ext uri="{FF2B5EF4-FFF2-40B4-BE49-F238E27FC236}">
                <a16:creationId xmlns:a16="http://schemas.microsoft.com/office/drawing/2014/main" id="{B7EDE1DF-7F94-E05D-EE7A-A4F4E669C3CD}"/>
              </a:ext>
            </a:extLst>
          </p:cNvPr>
          <p:cNvGrpSpPr/>
          <p:nvPr/>
        </p:nvGrpSpPr>
        <p:grpSpPr>
          <a:xfrm>
            <a:off x="1841468" y="4917964"/>
            <a:ext cx="4025354" cy="216024"/>
            <a:chOff x="2992062" y="4869160"/>
            <a:chExt cx="4025354" cy="216024"/>
          </a:xfrm>
        </p:grpSpPr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0340C5D7-B831-B359-CA25-F6221EA67CCC}"/>
                </a:ext>
              </a:extLst>
            </p:cNvPr>
            <p:cNvSpPr/>
            <p:nvPr/>
          </p:nvSpPr>
          <p:spPr>
            <a:xfrm>
              <a:off x="2992062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◀</a:t>
              </a:r>
            </a:p>
          </p:txBody>
        </p:sp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2BD2228B-0A06-0762-921E-2A6199E15ED7}"/>
                </a:ext>
              </a:extLst>
            </p:cNvPr>
            <p:cNvSpPr/>
            <p:nvPr/>
          </p:nvSpPr>
          <p:spPr>
            <a:xfrm>
              <a:off x="3285089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&lt;</a:t>
              </a:r>
              <a:endPara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94BA28D0-F9D5-3FCC-BA3F-E1AACB617ED9}"/>
                </a:ext>
              </a:extLst>
            </p:cNvPr>
            <p:cNvSpPr/>
            <p:nvPr/>
          </p:nvSpPr>
          <p:spPr>
            <a:xfrm>
              <a:off x="3578116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3C6E91F1-7A97-5511-70CF-08751E528069}"/>
                </a:ext>
              </a:extLst>
            </p:cNvPr>
            <p:cNvSpPr/>
            <p:nvPr/>
          </p:nvSpPr>
          <p:spPr>
            <a:xfrm>
              <a:off x="3871143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3D61711C-E205-C64F-E4F9-27A532BDEEB7}"/>
                </a:ext>
              </a:extLst>
            </p:cNvPr>
            <p:cNvSpPr/>
            <p:nvPr/>
          </p:nvSpPr>
          <p:spPr>
            <a:xfrm>
              <a:off x="4164170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1E3142B3-3F46-894B-EBC1-872F658F88C6}"/>
                </a:ext>
              </a:extLst>
            </p:cNvPr>
            <p:cNvSpPr/>
            <p:nvPr/>
          </p:nvSpPr>
          <p:spPr>
            <a:xfrm>
              <a:off x="4457197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4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4" name="직사각형 93">
              <a:extLst>
                <a:ext uri="{FF2B5EF4-FFF2-40B4-BE49-F238E27FC236}">
                  <a16:creationId xmlns:a16="http://schemas.microsoft.com/office/drawing/2014/main" id="{EFBED5D9-2943-DF58-55F4-C9318836F539}"/>
                </a:ext>
              </a:extLst>
            </p:cNvPr>
            <p:cNvSpPr/>
            <p:nvPr/>
          </p:nvSpPr>
          <p:spPr>
            <a:xfrm>
              <a:off x="4750224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5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5" name="직사각형 94">
              <a:extLst>
                <a:ext uri="{FF2B5EF4-FFF2-40B4-BE49-F238E27FC236}">
                  <a16:creationId xmlns:a16="http://schemas.microsoft.com/office/drawing/2014/main" id="{E5FF7A58-9F0C-EDBC-D55E-8ACE23F693B3}"/>
                </a:ext>
              </a:extLst>
            </p:cNvPr>
            <p:cNvSpPr/>
            <p:nvPr/>
          </p:nvSpPr>
          <p:spPr>
            <a:xfrm>
              <a:off x="5043251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6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6" name="직사각형 95">
              <a:extLst>
                <a:ext uri="{FF2B5EF4-FFF2-40B4-BE49-F238E27FC236}">
                  <a16:creationId xmlns:a16="http://schemas.microsoft.com/office/drawing/2014/main" id="{47DE2CC4-DF9B-633F-A0DD-4F0D4348631D}"/>
                </a:ext>
              </a:extLst>
            </p:cNvPr>
            <p:cNvSpPr/>
            <p:nvPr/>
          </p:nvSpPr>
          <p:spPr>
            <a:xfrm>
              <a:off x="5336278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7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7" name="직사각형 96">
              <a:extLst>
                <a:ext uri="{FF2B5EF4-FFF2-40B4-BE49-F238E27FC236}">
                  <a16:creationId xmlns:a16="http://schemas.microsoft.com/office/drawing/2014/main" id="{63DDC52A-DD98-385D-6DFB-71AAF6F369C3}"/>
                </a:ext>
              </a:extLst>
            </p:cNvPr>
            <p:cNvSpPr/>
            <p:nvPr/>
          </p:nvSpPr>
          <p:spPr>
            <a:xfrm>
              <a:off x="5629305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8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8" name="직사각형 97">
              <a:extLst>
                <a:ext uri="{FF2B5EF4-FFF2-40B4-BE49-F238E27FC236}">
                  <a16:creationId xmlns:a16="http://schemas.microsoft.com/office/drawing/2014/main" id="{B4051EB2-433B-E3C0-D36C-30D678638DE9}"/>
                </a:ext>
              </a:extLst>
            </p:cNvPr>
            <p:cNvSpPr/>
            <p:nvPr/>
          </p:nvSpPr>
          <p:spPr>
            <a:xfrm>
              <a:off x="5922332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9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9" name="직사각형 98">
              <a:extLst>
                <a:ext uri="{FF2B5EF4-FFF2-40B4-BE49-F238E27FC236}">
                  <a16:creationId xmlns:a16="http://schemas.microsoft.com/office/drawing/2014/main" id="{9FFA3D5C-288A-F0AA-E11C-88778B834359}"/>
                </a:ext>
              </a:extLst>
            </p:cNvPr>
            <p:cNvSpPr/>
            <p:nvPr/>
          </p:nvSpPr>
          <p:spPr>
            <a:xfrm>
              <a:off x="6215359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10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00" name="직사각형 99">
              <a:extLst>
                <a:ext uri="{FF2B5EF4-FFF2-40B4-BE49-F238E27FC236}">
                  <a16:creationId xmlns:a16="http://schemas.microsoft.com/office/drawing/2014/main" id="{77D374AB-56E3-A19C-FEE8-87315DCA2ED6}"/>
                </a:ext>
              </a:extLst>
            </p:cNvPr>
            <p:cNvSpPr/>
            <p:nvPr/>
          </p:nvSpPr>
          <p:spPr>
            <a:xfrm>
              <a:off x="6508386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&gt;</a:t>
              </a:r>
              <a:endPara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01" name="직사각형 100">
              <a:extLst>
                <a:ext uri="{FF2B5EF4-FFF2-40B4-BE49-F238E27FC236}">
                  <a16:creationId xmlns:a16="http://schemas.microsoft.com/office/drawing/2014/main" id="{B4B07B87-C0C9-8BAE-83ED-3065A99A2144}"/>
                </a:ext>
              </a:extLst>
            </p:cNvPr>
            <p:cNvSpPr/>
            <p:nvPr/>
          </p:nvSpPr>
          <p:spPr>
            <a:xfrm>
              <a:off x="6801416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▶</a:t>
              </a:r>
            </a:p>
          </p:txBody>
        </p:sp>
      </p:grpSp>
      <p:sp>
        <p:nvSpPr>
          <p:cNvPr id="102" name="TextBox 101">
            <a:extLst>
              <a:ext uri="{FF2B5EF4-FFF2-40B4-BE49-F238E27FC236}">
                <a16:creationId xmlns:a16="http://schemas.microsoft.com/office/drawing/2014/main" id="{4AF3B06F-8355-C1F4-35FF-40DB36B9E041}"/>
              </a:ext>
            </a:extLst>
          </p:cNvPr>
          <p:cNvSpPr txBox="1"/>
          <p:nvPr/>
        </p:nvSpPr>
        <p:spPr>
          <a:xfrm>
            <a:off x="377598" y="1504581"/>
            <a:ext cx="511319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lvl="0" indent="-72000" algn="l">
              <a:buFont typeface="Arial" panose="020B0604020202020204" pitchFamily="34" charset="0"/>
              <a:buChar char="•"/>
              <a:defRPr/>
            </a:pPr>
            <a:r>
              <a:rPr kumimoji="1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분류 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</a:t>
            </a:r>
            <a:endParaRPr lang="ko-KR" altLang="en-US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AF682B00-4743-F128-F980-DD5270C3BB5F}"/>
              </a:ext>
            </a:extLst>
          </p:cNvPr>
          <p:cNvSpPr/>
          <p:nvPr/>
        </p:nvSpPr>
        <p:spPr>
          <a:xfrm>
            <a:off x="1541646" y="1497436"/>
            <a:ext cx="1374461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전체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대분류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776F7C19-BE76-9241-D520-2E9714FA0B0A}"/>
              </a:ext>
            </a:extLst>
          </p:cNvPr>
          <p:cNvSpPr/>
          <p:nvPr/>
        </p:nvSpPr>
        <p:spPr>
          <a:xfrm>
            <a:off x="2916107" y="1497438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AB0560E9-2934-6B6C-3667-A90BA4A5274F}"/>
              </a:ext>
            </a:extLst>
          </p:cNvPr>
          <p:cNvSpPr/>
          <p:nvPr/>
        </p:nvSpPr>
        <p:spPr>
          <a:xfrm>
            <a:off x="3180803" y="1497436"/>
            <a:ext cx="1374461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전체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중분류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0FA195E0-EAFD-80F1-BC22-80E7400741EB}"/>
              </a:ext>
            </a:extLst>
          </p:cNvPr>
          <p:cNvSpPr/>
          <p:nvPr/>
        </p:nvSpPr>
        <p:spPr>
          <a:xfrm>
            <a:off x="4555264" y="1497438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7B0C7F79-3609-6265-14CD-FAFE55BBCF0F}"/>
              </a:ext>
            </a:extLst>
          </p:cNvPr>
          <p:cNvSpPr/>
          <p:nvPr/>
        </p:nvSpPr>
        <p:spPr>
          <a:xfrm>
            <a:off x="4819960" y="1497436"/>
            <a:ext cx="1374461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전체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소분류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87C3EE77-B3EA-1E90-D949-A81EEC9AAF6F}"/>
              </a:ext>
            </a:extLst>
          </p:cNvPr>
          <p:cNvSpPr/>
          <p:nvPr/>
        </p:nvSpPr>
        <p:spPr>
          <a:xfrm>
            <a:off x="6194421" y="1497438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24C81E81-45B3-1BA9-8909-6C02163CEB1B}"/>
              </a:ext>
            </a:extLst>
          </p:cNvPr>
          <p:cNvSpPr txBox="1"/>
          <p:nvPr/>
        </p:nvSpPr>
        <p:spPr>
          <a:xfrm>
            <a:off x="377598" y="1781894"/>
            <a:ext cx="511319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lvl="0" indent="-72000" algn="l">
              <a:buFont typeface="Arial" panose="020B0604020202020204" pitchFamily="34" charset="0"/>
              <a:buChar char="•"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발주단위 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</a:t>
            </a:r>
            <a:endParaRPr lang="ko-KR" altLang="en-US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59D53985-42DA-044A-0D8C-37331F386729}"/>
              </a:ext>
            </a:extLst>
          </p:cNvPr>
          <p:cNvSpPr/>
          <p:nvPr/>
        </p:nvSpPr>
        <p:spPr>
          <a:xfrm>
            <a:off x="1541646" y="1774749"/>
            <a:ext cx="1034317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전체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발주단위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0E487470-47E3-A33B-E6C8-5E69076C8DB0}"/>
              </a:ext>
            </a:extLst>
          </p:cNvPr>
          <p:cNvSpPr/>
          <p:nvPr/>
        </p:nvSpPr>
        <p:spPr>
          <a:xfrm>
            <a:off x="2582979" y="1774751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112" name="타원 111">
            <a:extLst>
              <a:ext uri="{FF2B5EF4-FFF2-40B4-BE49-F238E27FC236}">
                <a16:creationId xmlns:a16="http://schemas.microsoft.com/office/drawing/2014/main" id="{29EC55E4-D392-2EF7-AE3F-F9551E3D8C73}"/>
              </a:ext>
            </a:extLst>
          </p:cNvPr>
          <p:cNvSpPr/>
          <p:nvPr/>
        </p:nvSpPr>
        <p:spPr>
          <a:xfrm>
            <a:off x="56457" y="332656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44A2FF04-9E00-8715-015B-7109C1E27C81}"/>
              </a:ext>
            </a:extLst>
          </p:cNvPr>
          <p:cNvSpPr txBox="1"/>
          <p:nvPr/>
        </p:nvSpPr>
        <p:spPr>
          <a:xfrm>
            <a:off x="8049344" y="584684"/>
            <a:ext cx="1856656" cy="397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기준 정보 관리의 공통 품목에 등록된 내용을 호출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477882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8F0C0-D430-2318-B58C-475C1BBA1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8E3B10FE-8473-4B29-39C8-BC904A6DBC9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F5E71E-89E7-4855-B833-385486C62F10}"/>
              </a:ext>
            </a:extLst>
          </p:cNvPr>
          <p:cNvSpPr txBox="1"/>
          <p:nvPr/>
        </p:nvSpPr>
        <p:spPr>
          <a:xfrm>
            <a:off x="749224" y="25608"/>
            <a:ext cx="28039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 등록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품목 정보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품목 정보 추가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수정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D6B16DD-7644-A900-D26A-46B92AEEEE8F}"/>
              </a:ext>
            </a:extLst>
          </p:cNvPr>
          <p:cNvSpPr/>
          <p:nvPr/>
        </p:nvSpPr>
        <p:spPr>
          <a:xfrm>
            <a:off x="164469" y="443797"/>
            <a:ext cx="4464496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품목 정보 추가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수정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FCDA9BA-6063-9489-3CB1-9EC599E67A25}"/>
              </a:ext>
            </a:extLst>
          </p:cNvPr>
          <p:cNvSpPr/>
          <p:nvPr/>
        </p:nvSpPr>
        <p:spPr>
          <a:xfrm>
            <a:off x="164469" y="716707"/>
            <a:ext cx="4464495" cy="425346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F8CC10C-C35E-F953-6772-0A2FFF414D74}"/>
              </a:ext>
            </a:extLst>
          </p:cNvPr>
          <p:cNvSpPr/>
          <p:nvPr/>
        </p:nvSpPr>
        <p:spPr>
          <a:xfrm>
            <a:off x="4358965" y="443797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5E73F98-A117-E301-6EA6-81923D3CA89B}"/>
              </a:ext>
            </a:extLst>
          </p:cNvPr>
          <p:cNvSpPr/>
          <p:nvPr/>
        </p:nvSpPr>
        <p:spPr>
          <a:xfrm>
            <a:off x="301563" y="821089"/>
            <a:ext cx="1271182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품목 정보 추가</a:t>
            </a:r>
            <a:r>
              <a:rPr lang="en-US" altLang="ko-KR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수정</a:t>
            </a:r>
            <a:endParaRPr lang="en-US" altLang="ko-KR" sz="11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326285CB-7E70-0718-2222-FBBFB1DB3F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2503363"/>
              </p:ext>
            </p:extLst>
          </p:nvPr>
        </p:nvGraphicFramePr>
        <p:xfrm>
          <a:off x="311903" y="1121956"/>
          <a:ext cx="4137041" cy="270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2705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3024336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품목코드</a:t>
                      </a:r>
                      <a:endParaRPr lang="en-US" altLang="ko-KR" sz="800" b="1" dirty="0">
                        <a:solidFill>
                          <a:srgbClr val="C0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※ </a:t>
                      </a:r>
                      <a:r>
                        <a:rPr lang="ko-KR" altLang="en-US" sz="800" b="0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품목을 개별 등록하거나 지정 항목의 경우 품목코드는 없습니다</a:t>
                      </a:r>
                      <a:r>
                        <a:rPr lang="en-US" altLang="ko-KR" sz="800" b="0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6039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품목명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규격</a:t>
                      </a:r>
                      <a:endParaRPr kumimoji="0" lang="en-US" altLang="ko-KR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65356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단위</a:t>
                      </a:r>
                      <a:endParaRPr kumimoji="0" lang="en-US" altLang="ko-KR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58676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수량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31879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납기요청일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81832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입고장소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○ 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켑코이에스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본사     ○ 현장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02719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비고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239989"/>
                  </a:ext>
                </a:extLst>
              </a:tr>
            </a:tbl>
          </a:graphicData>
        </a:graphic>
      </p:graphicFrame>
      <p:sp>
        <p:nvSpPr>
          <p:cNvPr id="17" name="직사각형 16">
            <a:extLst>
              <a:ext uri="{FF2B5EF4-FFF2-40B4-BE49-F238E27FC236}">
                <a16:creationId xmlns:a16="http://schemas.microsoft.com/office/drawing/2014/main" id="{B8FCFC08-1506-0C89-82C9-E9FA4BED633A}"/>
              </a:ext>
            </a:extLst>
          </p:cNvPr>
          <p:cNvSpPr/>
          <p:nvPr/>
        </p:nvSpPr>
        <p:spPr>
          <a:xfrm>
            <a:off x="1500285" y="1849408"/>
            <a:ext cx="1971978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392FEBE-CD26-323B-A83D-FECD48031B2A}"/>
              </a:ext>
            </a:extLst>
          </p:cNvPr>
          <p:cNvSpPr/>
          <p:nvPr/>
        </p:nvSpPr>
        <p:spPr>
          <a:xfrm>
            <a:off x="1496616" y="3547022"/>
            <a:ext cx="292800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50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 이내로 간략히 작성해주세요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45CF5CF-C8EB-97E9-7C43-6D8A637F8745}"/>
              </a:ext>
            </a:extLst>
          </p:cNvPr>
          <p:cNvSpPr/>
          <p:nvPr/>
        </p:nvSpPr>
        <p:spPr>
          <a:xfrm>
            <a:off x="1500285" y="2537036"/>
            <a:ext cx="115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숫자로만 입력해주세요.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EC7DF5B-B132-F32D-45C7-6BF5D7D1A3D8}"/>
              </a:ext>
            </a:extLst>
          </p:cNvPr>
          <p:cNvSpPr/>
          <p:nvPr/>
        </p:nvSpPr>
        <p:spPr>
          <a:xfrm>
            <a:off x="1496616" y="2869094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날짜 선택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CFB754F-5F7B-5EA1-2C73-E90E233B4A1B}"/>
              </a:ext>
            </a:extLst>
          </p:cNvPr>
          <p:cNvSpPr/>
          <p:nvPr/>
        </p:nvSpPr>
        <p:spPr>
          <a:xfrm>
            <a:off x="2306867" y="2869096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7D84CAC-52C8-9697-FCE9-399B311415E9}"/>
              </a:ext>
            </a:extLst>
          </p:cNvPr>
          <p:cNvSpPr/>
          <p:nvPr/>
        </p:nvSpPr>
        <p:spPr>
          <a:xfrm>
            <a:off x="1496616" y="1524682"/>
            <a:ext cx="292800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30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 이내로 간략히 작성해주세요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AC0A7A19-B20E-B5F4-3310-45C74129949F}"/>
              </a:ext>
            </a:extLst>
          </p:cNvPr>
          <p:cNvSpPr/>
          <p:nvPr/>
        </p:nvSpPr>
        <p:spPr>
          <a:xfrm>
            <a:off x="1500285" y="2191166"/>
            <a:ext cx="115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86DC3FBD-33F9-E70F-64C0-6165DB77BE78}"/>
              </a:ext>
            </a:extLst>
          </p:cNvPr>
          <p:cNvSpPr/>
          <p:nvPr/>
        </p:nvSpPr>
        <p:spPr>
          <a:xfrm>
            <a:off x="3002620" y="4479725"/>
            <a:ext cx="699418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수정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2D21EF30-6F1D-A217-0C90-B3E1F1168699}"/>
              </a:ext>
            </a:extLst>
          </p:cNvPr>
          <p:cNvSpPr/>
          <p:nvPr/>
        </p:nvSpPr>
        <p:spPr>
          <a:xfrm>
            <a:off x="3761779" y="4479725"/>
            <a:ext cx="699418" cy="2880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취소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8F626AF2-91A5-6ADD-E071-C0A09C661E54}"/>
              </a:ext>
            </a:extLst>
          </p:cNvPr>
          <p:cNvSpPr/>
          <p:nvPr/>
        </p:nvSpPr>
        <p:spPr>
          <a:xfrm>
            <a:off x="311904" y="3920025"/>
            <a:ext cx="4137040" cy="44502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□ 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본 품목에 입력된 값으로 납기요청일과 입고장소를 일괄적으로 적용합니다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F572F6AA-40CA-3B33-53F0-A5A54087E29A}"/>
              </a:ext>
            </a:extLst>
          </p:cNvPr>
          <p:cNvSpPr/>
          <p:nvPr/>
        </p:nvSpPr>
        <p:spPr>
          <a:xfrm>
            <a:off x="2243461" y="4479725"/>
            <a:ext cx="699418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등록</a:t>
            </a:r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83433146-AA7B-32BD-24B9-C4D4C6AE49A8}"/>
              </a:ext>
            </a:extLst>
          </p:cNvPr>
          <p:cNvSpPr/>
          <p:nvPr/>
        </p:nvSpPr>
        <p:spPr>
          <a:xfrm>
            <a:off x="56457" y="332656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7315D83-04D1-D2A7-8CEE-44C3556443D7}"/>
              </a:ext>
            </a:extLst>
          </p:cNvPr>
          <p:cNvSpPr txBox="1"/>
          <p:nvPr/>
        </p:nvSpPr>
        <p:spPr>
          <a:xfrm>
            <a:off x="8049344" y="584684"/>
            <a:ext cx="1856656" cy="397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품목 정보를 개별로 직접 등록하거나 내역을 수정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보완할 때 사용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889526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BBFAE-8980-726E-5E09-43DC1442B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C1E613FA-16C4-DCA7-1987-E5E62A40115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A12971-181F-0510-163F-4B6E07189F15}"/>
              </a:ext>
            </a:extLst>
          </p:cNvPr>
          <p:cNvSpPr txBox="1"/>
          <p:nvPr/>
        </p:nvSpPr>
        <p:spPr>
          <a:xfrm>
            <a:off x="749224" y="25608"/>
            <a:ext cx="228940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 등록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최종 점검 및 전자결재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132048-1650-E1C9-1B25-F09EE9993A05}"/>
              </a:ext>
            </a:extLst>
          </p:cNvPr>
          <p:cNvSpPr txBox="1"/>
          <p:nvPr/>
        </p:nvSpPr>
        <p:spPr>
          <a:xfrm>
            <a:off x="8049344" y="584684"/>
            <a:ext cx="1856656" cy="397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수주계약 정보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매핑된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경우에만 보여줌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CA3F579-38FB-19E1-C36D-CA0574DE1714}"/>
              </a:ext>
            </a:extLst>
          </p:cNvPr>
          <p:cNvSpPr/>
          <p:nvPr/>
        </p:nvSpPr>
        <p:spPr>
          <a:xfrm>
            <a:off x="164468" y="403565"/>
            <a:ext cx="791883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 등록 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4705BD5F-98BE-ACBC-14C7-4C6B00055CE4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BEB5C9E-5816-07E8-84ED-22DA3BC53211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86F85F9-74CF-72B5-6EC2-D97AF4AF5488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계속</a:t>
            </a:r>
          </a:p>
        </p:txBody>
      </p: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2D68CFB0-777A-5397-D553-FC0E2A862861}"/>
              </a:ext>
            </a:extLst>
          </p:cNvPr>
          <p:cNvGrpSpPr/>
          <p:nvPr/>
        </p:nvGrpSpPr>
        <p:grpSpPr>
          <a:xfrm>
            <a:off x="164468" y="826923"/>
            <a:ext cx="7732444" cy="643315"/>
            <a:chOff x="164468" y="826923"/>
            <a:chExt cx="6455884" cy="643315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DB68A2C6-3ED9-5208-F779-A09F7D085AE5}"/>
                </a:ext>
              </a:extLst>
            </p:cNvPr>
            <p:cNvSpPr/>
            <p:nvPr/>
          </p:nvSpPr>
          <p:spPr>
            <a:xfrm>
              <a:off x="164468" y="826923"/>
              <a:ext cx="1226118" cy="643315"/>
            </a:xfrm>
            <a:prstGeom prst="rect">
              <a:avLst/>
            </a:prstGeom>
            <a:solidFill>
              <a:srgbClr val="F2F2F2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01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발주계획 기본정보</a:t>
              </a:r>
              <a:endPara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DACEA279-3771-A67C-FB20-F8E34A72DE5B}"/>
                </a:ext>
              </a:extLst>
            </p:cNvPr>
            <p:cNvSpPr/>
            <p:nvPr/>
          </p:nvSpPr>
          <p:spPr>
            <a:xfrm>
              <a:off x="1471910" y="826923"/>
              <a:ext cx="1226118" cy="6433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02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발주계획 체크리스트</a:t>
              </a:r>
              <a:endPara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A39D7DBF-892E-95E4-4D0C-274EAC37EAA2}"/>
                </a:ext>
              </a:extLst>
            </p:cNvPr>
            <p:cNvSpPr/>
            <p:nvPr/>
          </p:nvSpPr>
          <p:spPr>
            <a:xfrm>
              <a:off x="2779352" y="826923"/>
              <a:ext cx="1226118" cy="6433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03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b="1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품목 정보</a:t>
              </a:r>
              <a:endPara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0572CB35-5CE0-6725-29DB-BBBDA3476B88}"/>
                </a:ext>
              </a:extLst>
            </p:cNvPr>
            <p:cNvSpPr/>
            <p:nvPr/>
          </p:nvSpPr>
          <p:spPr>
            <a:xfrm>
              <a:off x="4086793" y="826923"/>
              <a:ext cx="1226118" cy="643315"/>
            </a:xfrm>
            <a:prstGeom prst="rect">
              <a:avLst/>
            </a:prstGeom>
            <a:solidFill>
              <a:srgbClr val="FFC000">
                <a:alpha val="69804"/>
              </a:srgb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04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최종 점검 및 전자결재</a:t>
              </a:r>
              <a:endPara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57B4E541-9203-00B6-19EB-E90D43CF4876}"/>
                </a:ext>
              </a:extLst>
            </p:cNvPr>
            <p:cNvSpPr/>
            <p:nvPr/>
          </p:nvSpPr>
          <p:spPr>
            <a:xfrm>
              <a:off x="5394234" y="826923"/>
              <a:ext cx="1226118" cy="6433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05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발주계획 등록 완료</a:t>
              </a:r>
              <a:endPara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10480777-4765-BDEC-6DF3-3BF9BCF58932}"/>
              </a:ext>
            </a:extLst>
          </p:cNvPr>
          <p:cNvSpPr/>
          <p:nvPr/>
        </p:nvSpPr>
        <p:spPr>
          <a:xfrm>
            <a:off x="183392" y="2351324"/>
            <a:ext cx="7713520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 기본정보   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※ 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해당 정보를 수정하고자 하는 경우 상단의 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‘STEP 01 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 기본정보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를 선택하여 수정해주세요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74A9B48-03B4-D9A1-B734-680A53C62858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전자입찰시스템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5" name="Picture 1">
            <a:extLst>
              <a:ext uri="{FF2B5EF4-FFF2-40B4-BE49-F238E27FC236}">
                <a16:creationId xmlns:a16="http://schemas.microsoft.com/office/drawing/2014/main" id="{3D7E8916-48D4-DAF1-1430-91DC92B66B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E064F8BE-DE96-940C-28E8-8A768535C557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</a:t>
            </a:r>
            <a:endParaRPr lang="ko-KR" altLang="en-US" sz="800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3D23F0F-CA42-0F1A-83DB-66FC66DFBC48}"/>
              </a:ext>
            </a:extLst>
          </p:cNvPr>
          <p:cNvSpPr/>
          <p:nvPr/>
        </p:nvSpPr>
        <p:spPr>
          <a:xfrm>
            <a:off x="-529236" y="798199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kumimoji="1"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84BD609-75A4-62CA-35A2-C28B206E5E6B}"/>
              </a:ext>
            </a:extLst>
          </p:cNvPr>
          <p:cNvSpPr/>
          <p:nvPr/>
        </p:nvSpPr>
        <p:spPr>
          <a:xfrm>
            <a:off x="-1690381" y="1098519"/>
            <a:ext cx="1467136" cy="56628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요청접수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 등록 </a:t>
            </a:r>
          </a:p>
        </p:txBody>
      </p:sp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4FCD52FB-8B7D-D9A6-4EF4-186B0DFFF2FE}"/>
              </a:ext>
            </a:extLst>
          </p:cNvPr>
          <p:cNvGraphicFramePr>
            <a:graphicFrameLocks noGrp="1"/>
          </p:cNvGraphicFramePr>
          <p:nvPr/>
        </p:nvGraphicFramePr>
        <p:xfrm>
          <a:off x="164467" y="2639972"/>
          <a:ext cx="7740859" cy="3635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3591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387268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발주계약 요청번호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PR2026-0003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2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발주계획 품의번호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PPW2026-0029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64422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진행상태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작성중</a:t>
                      </a:r>
                      <a:endParaRPr lang="ko-KR" altLang="en-US" sz="800" b="0" spc="-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69958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건명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서초동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1601-9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오피스텔 신축공사 중 습식공사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065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품의일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2026.06.05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4718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요청일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2026.06.01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357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계약예정일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2026.07.31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00273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구분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공사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5394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수주계약 정보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수주계약번호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160011612-01-31-C</a:t>
                      </a: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수주계약명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: GE-4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에너지효율화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(ID Fan VVVF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설치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사업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수주계약일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2026.12.23</a:t>
                      </a: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수주계약업체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군장에너지주식회사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5777443"/>
                  </a:ext>
                </a:extLst>
              </a:tr>
            </a:tbl>
          </a:graphicData>
        </a:graphic>
      </p:graphicFrame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3F1F6F37-1FA3-C989-8803-CFB74828CF87}"/>
              </a:ext>
            </a:extLst>
          </p:cNvPr>
          <p:cNvGraphicFramePr>
            <a:graphicFrameLocks noGrp="1"/>
          </p:cNvGraphicFramePr>
          <p:nvPr/>
        </p:nvGraphicFramePr>
        <p:xfrm>
          <a:off x="179900" y="1548660"/>
          <a:ext cx="7717012" cy="675840"/>
        </p:xfrm>
        <a:graphic>
          <a:graphicData uri="http://schemas.openxmlformats.org/drawingml/2006/table">
            <a:tbl>
              <a:tblPr firstRow="1" bandRow="1"/>
              <a:tblGrid>
                <a:gridCol w="1089930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626442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2473207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824053">
                  <a:extLst>
                    <a:ext uri="{9D8B030D-6E8A-4147-A177-3AD203B41FA5}">
                      <a16:colId xmlns:a16="http://schemas.microsoft.com/office/drawing/2014/main" val="3053194834"/>
                    </a:ext>
                  </a:extLst>
                </a:gridCol>
                <a:gridCol w="824053">
                  <a:extLst>
                    <a:ext uri="{9D8B030D-6E8A-4147-A177-3AD203B41FA5}">
                      <a16:colId xmlns:a16="http://schemas.microsoft.com/office/drawing/2014/main" val="419952432"/>
                    </a:ext>
                  </a:extLst>
                </a:gridCol>
                <a:gridCol w="410867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734230">
                  <a:extLst>
                    <a:ext uri="{9D8B030D-6E8A-4147-A177-3AD203B41FA5}">
                      <a16:colId xmlns:a16="http://schemas.microsoft.com/office/drawing/2014/main" val="858523054"/>
                    </a:ext>
                  </a:extLst>
                </a:gridCol>
                <a:gridCol w="734230">
                  <a:extLst>
                    <a:ext uri="{9D8B030D-6E8A-4147-A177-3AD203B41FA5}">
                      <a16:colId xmlns:a16="http://schemas.microsoft.com/office/drawing/2014/main" val="32833227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발주계약 품의번호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진행상태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건명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요청일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계약예정일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구분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사업담당자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계약담당자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PPW2026-0029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작성중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서초동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1601-9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오피스텔 신축공사 중 도장공사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2026.07.22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2026.07.31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공사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홍길동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임꺽정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</a:tbl>
          </a:graphicData>
        </a:graphic>
      </p:graphicFrame>
      <p:sp>
        <p:nvSpPr>
          <p:cNvPr id="11" name="타원 10">
            <a:extLst>
              <a:ext uri="{FF2B5EF4-FFF2-40B4-BE49-F238E27FC236}">
                <a16:creationId xmlns:a16="http://schemas.microsoft.com/office/drawing/2014/main" id="{0444F98A-D7E0-6858-AE77-8CB64A998328}"/>
              </a:ext>
            </a:extLst>
          </p:cNvPr>
          <p:cNvSpPr/>
          <p:nvPr/>
        </p:nvSpPr>
        <p:spPr>
          <a:xfrm>
            <a:off x="124854" y="5201328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702640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359BA-D948-2E63-E4B1-3CC07461B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93B49AE7-ACF2-3E0F-8B75-5D221EDB235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F5FCA93-9673-3491-51F1-28E6C7359CBF}"/>
              </a:ext>
            </a:extLst>
          </p:cNvPr>
          <p:cNvSpPr txBox="1"/>
          <p:nvPr/>
        </p:nvSpPr>
        <p:spPr>
          <a:xfrm>
            <a:off x="749224" y="25608"/>
            <a:ext cx="228940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 등록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최종 점검 및 전자결재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4C2CB0-7BD1-2687-249E-254C56C32555}"/>
              </a:ext>
            </a:extLst>
          </p:cNvPr>
          <p:cNvSpPr txBox="1"/>
          <p:nvPr/>
        </p:nvSpPr>
        <p:spPr>
          <a:xfrm>
            <a:off x="8049344" y="584684"/>
            <a:ext cx="1856656" cy="397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계약방법이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인 경우에만 노출됨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E3CAF8E-2B06-C72E-A6A7-37937816744C}"/>
              </a:ext>
            </a:extLst>
          </p:cNvPr>
          <p:cNvSpPr/>
          <p:nvPr/>
        </p:nvSpPr>
        <p:spPr>
          <a:xfrm>
            <a:off x="0" y="6607478"/>
            <a:ext cx="8049344" cy="18002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계속</a:t>
            </a:r>
          </a:p>
        </p:txBody>
      </p:sp>
      <p:graphicFrame>
        <p:nvGraphicFramePr>
          <p:cNvPr id="36" name="표 35">
            <a:extLst>
              <a:ext uri="{FF2B5EF4-FFF2-40B4-BE49-F238E27FC236}">
                <a16:creationId xmlns:a16="http://schemas.microsoft.com/office/drawing/2014/main" id="{2B599A4F-DC93-81A8-A344-F211209AFF18}"/>
              </a:ext>
            </a:extLst>
          </p:cNvPr>
          <p:cNvGraphicFramePr>
            <a:graphicFrameLocks noGrp="1"/>
          </p:cNvGraphicFramePr>
          <p:nvPr/>
        </p:nvGraphicFramePr>
        <p:xfrm>
          <a:off x="164467" y="391136"/>
          <a:ext cx="7740859" cy="67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3591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387268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사업담당자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홍길동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2521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계약담당자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임꺽정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4933786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id="{479346F2-B4F6-241B-BF67-8324E8A46ECA}"/>
              </a:ext>
            </a:extLst>
          </p:cNvPr>
          <p:cNvSpPr/>
          <p:nvPr/>
        </p:nvSpPr>
        <p:spPr>
          <a:xfrm>
            <a:off x="183392" y="1190967"/>
            <a:ext cx="7713520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l"/>
            <a:r>
              <a:rPr lang="ko-KR" altLang="en-US" sz="9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 체크리스트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※ 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해당 정보를 수정하고자 하는 경우 상단의 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‘STEP 02 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 체크리스트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를 선택하여 수정해주세요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EE56B6B-EAAE-ED13-C428-7A46D07BAF49}"/>
              </a:ext>
            </a:extLst>
          </p:cNvPr>
          <p:cNvSpPr/>
          <p:nvPr/>
        </p:nvSpPr>
        <p:spPr>
          <a:xfrm>
            <a:off x="183392" y="1470373"/>
            <a:ext cx="574171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결재 관련 정보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4F993E6-470D-EC03-3996-C7D5B23D285A}"/>
              </a:ext>
            </a:extLst>
          </p:cNvPr>
          <p:cNvSpPr/>
          <p:nvPr/>
        </p:nvSpPr>
        <p:spPr>
          <a:xfrm>
            <a:off x="183392" y="2742139"/>
            <a:ext cx="574171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l"/>
            <a:r>
              <a:rPr lang="ko-KR" altLang="en-US" sz="9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세부정보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0A7AC81D-F7AE-0E1E-2127-C8980F35297B}"/>
              </a:ext>
            </a:extLst>
          </p:cNvPr>
          <p:cNvGraphicFramePr>
            <a:graphicFrameLocks noGrp="1"/>
          </p:cNvGraphicFramePr>
          <p:nvPr/>
        </p:nvGraphicFramePr>
        <p:xfrm>
          <a:off x="179901" y="1726686"/>
          <a:ext cx="7717011" cy="919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8743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148268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결재문서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추진안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일상감사의견서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065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결재문서 등록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등록된 파일명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#1.pdf  </a:t>
                      </a:r>
                      <a:b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b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등록된 파일명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#2.pdf  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357048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DAD32B51-ECC4-FA7C-468C-6781874F99D0}"/>
              </a:ext>
            </a:extLst>
          </p:cNvPr>
          <p:cNvGraphicFramePr>
            <a:graphicFrameLocks noGrp="1"/>
          </p:cNvGraphicFramePr>
          <p:nvPr/>
        </p:nvGraphicFramePr>
        <p:xfrm>
          <a:off x="164467" y="3018099"/>
          <a:ext cx="7776865" cy="2365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9418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197447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추정금액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94,490,000 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구천사백사십구만원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 VAT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포함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2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계약기간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pc="-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2026.07.20 ~ 2027.07.30</a:t>
                      </a:r>
                      <a:endParaRPr lang="ko-KR" altLang="en-US" sz="800" b="0" spc="-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69958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납품장소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현장 내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065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계약이행 보증금률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10%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357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하자이행 보증금률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3%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00273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하자이행 기간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년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5394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계약방법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경쟁입찰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일반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307130"/>
                  </a:ext>
                </a:extLst>
              </a:tr>
            </a:tbl>
          </a:graphicData>
        </a:graphic>
      </p:graphicFrame>
      <p:sp>
        <p:nvSpPr>
          <p:cNvPr id="34" name="직사각형 33">
            <a:extLst>
              <a:ext uri="{FF2B5EF4-FFF2-40B4-BE49-F238E27FC236}">
                <a16:creationId xmlns:a16="http://schemas.microsoft.com/office/drawing/2014/main" id="{DF2CEA56-CB7F-6C11-763F-CA12828DBECD}"/>
              </a:ext>
            </a:extLst>
          </p:cNvPr>
          <p:cNvSpPr/>
          <p:nvPr/>
        </p:nvSpPr>
        <p:spPr>
          <a:xfrm>
            <a:off x="2909398" y="2128375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바로보기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A271CCCA-4F51-EB75-04F1-72F9078BE197}"/>
              </a:ext>
            </a:extLst>
          </p:cNvPr>
          <p:cNvSpPr/>
          <p:nvPr/>
        </p:nvSpPr>
        <p:spPr>
          <a:xfrm>
            <a:off x="3572235" y="2128375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다운로드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F9412D43-2848-6E66-56C9-C29AC2D40DD2}"/>
              </a:ext>
            </a:extLst>
          </p:cNvPr>
          <p:cNvSpPr/>
          <p:nvPr/>
        </p:nvSpPr>
        <p:spPr>
          <a:xfrm>
            <a:off x="2909398" y="2395715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바로보기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E03A9AB7-85A1-F568-4358-3440A6C58D27}"/>
              </a:ext>
            </a:extLst>
          </p:cNvPr>
          <p:cNvSpPr/>
          <p:nvPr/>
        </p:nvSpPr>
        <p:spPr>
          <a:xfrm>
            <a:off x="3572235" y="2395715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다운로드</a:t>
            </a:r>
          </a:p>
        </p:txBody>
      </p:sp>
      <p:graphicFrame>
        <p:nvGraphicFramePr>
          <p:cNvPr id="43" name="표 42">
            <a:extLst>
              <a:ext uri="{FF2B5EF4-FFF2-40B4-BE49-F238E27FC236}">
                <a16:creationId xmlns:a16="http://schemas.microsoft.com/office/drawing/2014/main" id="{53BD1B50-2504-6C48-0341-4672ED3DB287}"/>
              </a:ext>
            </a:extLst>
          </p:cNvPr>
          <p:cNvGraphicFramePr>
            <a:graphicFrameLocks noGrp="1"/>
          </p:cNvGraphicFramePr>
          <p:nvPr/>
        </p:nvGraphicFramePr>
        <p:xfrm>
          <a:off x="164467" y="5379856"/>
          <a:ext cx="7776865" cy="67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9418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197447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낙찰자 선정방법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제한적 최저가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입찰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1472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근거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 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수의계약 사유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근거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수의계약 사유로 입력된 내용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2761252"/>
                  </a:ext>
                </a:extLst>
              </a:tr>
            </a:tbl>
          </a:graphicData>
        </a:graphic>
      </p:graphicFrame>
      <p:sp>
        <p:nvSpPr>
          <p:cNvPr id="11" name="타원 10">
            <a:extLst>
              <a:ext uri="{FF2B5EF4-FFF2-40B4-BE49-F238E27FC236}">
                <a16:creationId xmlns:a16="http://schemas.microsoft.com/office/drawing/2014/main" id="{C70A7EFC-1569-274D-B6DB-29B69756EE9C}"/>
              </a:ext>
            </a:extLst>
          </p:cNvPr>
          <p:cNvSpPr/>
          <p:nvPr/>
        </p:nvSpPr>
        <p:spPr>
          <a:xfrm>
            <a:off x="124854" y="5610816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F2695088-2AF9-BFC7-4C7A-2E58353AA2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3321833"/>
              </p:ext>
            </p:extLst>
          </p:nvPr>
        </p:nvGraphicFramePr>
        <p:xfrm>
          <a:off x="160770" y="6032955"/>
          <a:ext cx="7776865" cy="33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9418">
                  <a:extLst>
                    <a:ext uri="{9D8B030D-6E8A-4147-A177-3AD203B41FA5}">
                      <a16:colId xmlns:a16="http://schemas.microsoft.com/office/drawing/2014/main" val="598210431"/>
                    </a:ext>
                  </a:extLst>
                </a:gridCol>
                <a:gridCol w="6197447">
                  <a:extLst>
                    <a:ext uri="{9D8B030D-6E8A-4147-A177-3AD203B41FA5}">
                      <a16:colId xmlns:a16="http://schemas.microsoft.com/office/drawing/2014/main" val="3916889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계약상대자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수의계약의 경우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매핑된 협력업체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주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큐비트엑스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(135-81-77202)</a:t>
                      </a:r>
                      <a:endParaRPr lang="en-US" altLang="ko-KR" sz="800" b="1" u="sng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6770404"/>
                  </a:ext>
                </a:extLst>
              </a:tr>
            </a:tbl>
          </a:graphicData>
        </a:graphic>
      </p:graphicFrame>
      <p:sp>
        <p:nvSpPr>
          <p:cNvPr id="9" name="타원 8">
            <a:extLst>
              <a:ext uri="{FF2B5EF4-FFF2-40B4-BE49-F238E27FC236}">
                <a16:creationId xmlns:a16="http://schemas.microsoft.com/office/drawing/2014/main" id="{2070E04C-DDBD-2C0B-5003-AF1F30442EC3}"/>
              </a:ext>
            </a:extLst>
          </p:cNvPr>
          <p:cNvSpPr/>
          <p:nvPr/>
        </p:nvSpPr>
        <p:spPr>
          <a:xfrm>
            <a:off x="124854" y="5984354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1’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385364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C4B89-0A9E-E0FB-C67A-69C5A516E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BC3BB052-3E64-2F6D-3DAB-3154F1672D3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912D00F-88B5-C9CC-DE00-D4D4F58F2DF7}"/>
              </a:ext>
            </a:extLst>
          </p:cNvPr>
          <p:cNvSpPr txBox="1"/>
          <p:nvPr/>
        </p:nvSpPr>
        <p:spPr>
          <a:xfrm>
            <a:off x="749224" y="25608"/>
            <a:ext cx="228940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 등록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최종 점검 및 전자결재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69CCE5-660E-1663-5C85-9A7BC6BF20DE}"/>
              </a:ext>
            </a:extLst>
          </p:cNvPr>
          <p:cNvSpPr txBox="1"/>
          <p:nvPr/>
        </p:nvSpPr>
        <p:spPr>
          <a:xfrm>
            <a:off x="8049344" y="584684"/>
            <a:ext cx="1856656" cy="11972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전자결재 요청 시 그룹웨어에 정보를 전송해야 함</a:t>
            </a:r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b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참고 </a:t>
            </a:r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02. </a:t>
            </a: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 품의</a:t>
            </a:r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.pdf</a:t>
            </a:r>
            <a:b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전자결재 요청 시 진행상태가 </a:t>
            </a:r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결재요청</a:t>
            </a:r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으로 변경</a:t>
            </a:r>
            <a:endParaRPr lang="en-US" altLang="ko-KR" sz="800" u="sng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7D65BAA4-7AF5-D7E0-682D-2906BCC044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4705449"/>
              </p:ext>
            </p:extLst>
          </p:nvPr>
        </p:nvGraphicFramePr>
        <p:xfrm>
          <a:off x="173935" y="371772"/>
          <a:ext cx="7776865" cy="135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9418">
                  <a:extLst>
                    <a:ext uri="{9D8B030D-6E8A-4147-A177-3AD203B41FA5}">
                      <a16:colId xmlns:a16="http://schemas.microsoft.com/office/drawing/2014/main" val="2245626066"/>
                    </a:ext>
                  </a:extLst>
                </a:gridCol>
                <a:gridCol w="6197447">
                  <a:extLst>
                    <a:ext uri="{9D8B030D-6E8A-4147-A177-3AD203B41FA5}">
                      <a16:colId xmlns:a16="http://schemas.microsoft.com/office/drawing/2014/main" val="35705632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참가자격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등기부등본상 본사의 위치가 제주도에 있는 업체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98427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예정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예비가격 결정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예비가  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3249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예정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예비가격 결정자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사장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58458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입찰 보증금률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5%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8668122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4131FAA1-3819-4E19-FA66-17531E5AE09D}"/>
              </a:ext>
            </a:extLst>
          </p:cNvPr>
          <p:cNvSpPr/>
          <p:nvPr/>
        </p:nvSpPr>
        <p:spPr>
          <a:xfrm>
            <a:off x="183392" y="1817446"/>
            <a:ext cx="574171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계약업체 면허 설정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C1973C2F-FAAE-6676-95E1-7C2ECA92139E}"/>
              </a:ext>
            </a:extLst>
          </p:cNvPr>
          <p:cNvGraphicFramePr>
            <a:graphicFrameLocks noGrp="1"/>
          </p:cNvGraphicFramePr>
          <p:nvPr/>
        </p:nvGraphicFramePr>
        <p:xfrm>
          <a:off x="164467" y="2111181"/>
          <a:ext cx="7776865" cy="67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9418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197447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종합건설업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■ 건축설계 및 시공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2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전문건설업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■ 도장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습식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방수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석공사업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6995847"/>
                  </a:ext>
                </a:extLst>
              </a:tr>
            </a:tbl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46B059BC-E9E0-B15C-15F0-A54D7E72DBF3}"/>
              </a:ext>
            </a:extLst>
          </p:cNvPr>
          <p:cNvSpPr/>
          <p:nvPr/>
        </p:nvSpPr>
        <p:spPr>
          <a:xfrm>
            <a:off x="164467" y="2881609"/>
            <a:ext cx="574171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첨부 서류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C5D99D76-EB8A-09B2-1F6B-81DB5D0748D0}"/>
              </a:ext>
            </a:extLst>
          </p:cNvPr>
          <p:cNvGraphicFramePr>
            <a:graphicFrameLocks noGrp="1"/>
          </p:cNvGraphicFramePr>
          <p:nvPr/>
        </p:nvGraphicFramePr>
        <p:xfrm>
          <a:off x="164467" y="3167201"/>
          <a:ext cx="7776865" cy="116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9418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197447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용역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  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원가계산서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(or 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산출내역서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), </a:t>
                      </a:r>
                      <a:b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  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과업지시서 등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#1.pdf  </a:t>
                      </a:r>
                      <a:b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b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#2.pdf </a:t>
                      </a:r>
                      <a:b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b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#3.pdf  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2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기타 서류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#1.pdf  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6995847"/>
                  </a:ext>
                </a:extLst>
              </a:tr>
            </a:tbl>
          </a:graphicData>
        </a:graphic>
      </p:graphicFrame>
      <p:sp>
        <p:nvSpPr>
          <p:cNvPr id="19" name="직사각형 18">
            <a:extLst>
              <a:ext uri="{FF2B5EF4-FFF2-40B4-BE49-F238E27FC236}">
                <a16:creationId xmlns:a16="http://schemas.microsoft.com/office/drawing/2014/main" id="{CA099AC1-685A-6F23-81C2-7C35FB0C6575}"/>
              </a:ext>
            </a:extLst>
          </p:cNvPr>
          <p:cNvSpPr/>
          <p:nvPr/>
        </p:nvSpPr>
        <p:spPr>
          <a:xfrm>
            <a:off x="2909398" y="3224508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바로보기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BFEF745-FCD3-21C1-1C5F-FFE97D47F938}"/>
              </a:ext>
            </a:extLst>
          </p:cNvPr>
          <p:cNvSpPr/>
          <p:nvPr/>
        </p:nvSpPr>
        <p:spPr>
          <a:xfrm>
            <a:off x="3572235" y="3224508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다운로드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4F98D6E-6B75-57F0-2553-A59C99593BCE}"/>
              </a:ext>
            </a:extLst>
          </p:cNvPr>
          <p:cNvSpPr/>
          <p:nvPr/>
        </p:nvSpPr>
        <p:spPr>
          <a:xfrm>
            <a:off x="2909398" y="3474596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바로보기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29FFD2B3-2549-B36F-3419-AAB7C48A83A5}"/>
              </a:ext>
            </a:extLst>
          </p:cNvPr>
          <p:cNvSpPr/>
          <p:nvPr/>
        </p:nvSpPr>
        <p:spPr>
          <a:xfrm>
            <a:off x="3572235" y="3474596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다운로드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AC915699-318B-ECF4-9FE4-D062EBD147C4}"/>
              </a:ext>
            </a:extLst>
          </p:cNvPr>
          <p:cNvSpPr/>
          <p:nvPr/>
        </p:nvSpPr>
        <p:spPr>
          <a:xfrm>
            <a:off x="2909398" y="3724684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바로보기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4B6D10A4-76F6-22EA-D759-31B69D18C034}"/>
              </a:ext>
            </a:extLst>
          </p:cNvPr>
          <p:cNvSpPr/>
          <p:nvPr/>
        </p:nvSpPr>
        <p:spPr>
          <a:xfrm>
            <a:off x="3572235" y="3724684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다운로드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ABDEEE7-84D9-C143-5D50-EB0AD92EF192}"/>
              </a:ext>
            </a:extLst>
          </p:cNvPr>
          <p:cNvSpPr/>
          <p:nvPr/>
        </p:nvSpPr>
        <p:spPr>
          <a:xfrm>
            <a:off x="2909398" y="4052121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바로보기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EFE4548A-BC19-081E-A770-41598ACFE754}"/>
              </a:ext>
            </a:extLst>
          </p:cNvPr>
          <p:cNvSpPr/>
          <p:nvPr/>
        </p:nvSpPr>
        <p:spPr>
          <a:xfrm>
            <a:off x="3572235" y="4052121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다운로드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BE454DB5-56EC-67B2-4AE1-07330A8CF9D6}"/>
              </a:ext>
            </a:extLst>
          </p:cNvPr>
          <p:cNvSpPr/>
          <p:nvPr/>
        </p:nvSpPr>
        <p:spPr>
          <a:xfrm>
            <a:off x="183392" y="4458643"/>
            <a:ext cx="7713520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품목 정보   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※ 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해당 정보를 수정하고자 하는 경우 상단의 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‘STEP 03 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품목 정보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를 선택하여 수정해주세요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42" name="표 41">
            <a:extLst>
              <a:ext uri="{FF2B5EF4-FFF2-40B4-BE49-F238E27FC236}">
                <a16:creationId xmlns:a16="http://schemas.microsoft.com/office/drawing/2014/main" id="{846B2707-ACF7-5961-8515-A0ADE19BD1D7}"/>
              </a:ext>
            </a:extLst>
          </p:cNvPr>
          <p:cNvGraphicFramePr>
            <a:graphicFrameLocks noGrp="1"/>
          </p:cNvGraphicFramePr>
          <p:nvPr/>
        </p:nvGraphicFramePr>
        <p:xfrm>
          <a:off x="171333" y="4761540"/>
          <a:ext cx="8974023" cy="675840"/>
        </p:xfrm>
        <a:graphic>
          <a:graphicData uri="http://schemas.openxmlformats.org/drawingml/2006/table">
            <a:tbl>
              <a:tblPr firstRow="1" bandRow="1"/>
              <a:tblGrid>
                <a:gridCol w="258001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97482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2113525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2317117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316734">
                  <a:extLst>
                    <a:ext uri="{9D8B030D-6E8A-4147-A177-3AD203B41FA5}">
                      <a16:colId xmlns:a16="http://schemas.microsoft.com/office/drawing/2014/main" val="3053194834"/>
                    </a:ext>
                  </a:extLst>
                </a:gridCol>
                <a:gridCol w="302079">
                  <a:extLst>
                    <a:ext uri="{9D8B030D-6E8A-4147-A177-3AD203B41FA5}">
                      <a16:colId xmlns:a16="http://schemas.microsoft.com/office/drawing/2014/main" val="419952432"/>
                    </a:ext>
                  </a:extLst>
                </a:gridCol>
                <a:gridCol w="714047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481575">
                  <a:extLst>
                    <a:ext uri="{9D8B030D-6E8A-4147-A177-3AD203B41FA5}">
                      <a16:colId xmlns:a16="http://schemas.microsoft.com/office/drawing/2014/main" val="3408856969"/>
                    </a:ext>
                  </a:extLst>
                </a:gridCol>
                <a:gridCol w="1773463">
                  <a:extLst>
                    <a:ext uri="{9D8B030D-6E8A-4147-A177-3AD203B41FA5}">
                      <a16:colId xmlns:a16="http://schemas.microsoft.com/office/drawing/2014/main" val="8836338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No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품목코드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품목명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규격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단위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수량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납기요청일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입고장소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비고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서초동 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1601-9 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오피스텔 신축공사 중 도장공사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품목 구성 방법이 ‘지정 항목 작성’인 경우에 등록됨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2026.07.31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현장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품목 등록의 비고에 들어간 내용입니다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</a:tbl>
          </a:graphicData>
        </a:graphic>
      </p:graphicFrame>
      <p:sp>
        <p:nvSpPr>
          <p:cNvPr id="43" name="직사각형 42">
            <a:extLst>
              <a:ext uri="{FF2B5EF4-FFF2-40B4-BE49-F238E27FC236}">
                <a16:creationId xmlns:a16="http://schemas.microsoft.com/office/drawing/2014/main" id="{825C749A-A929-7CD4-968A-5DA203E160B1}"/>
              </a:ext>
            </a:extLst>
          </p:cNvPr>
          <p:cNvSpPr/>
          <p:nvPr/>
        </p:nvSpPr>
        <p:spPr>
          <a:xfrm>
            <a:off x="164466" y="5540263"/>
            <a:ext cx="7699720" cy="44502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 내역을 모두 확인하였습니다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6E6ECAEC-61CA-6BD0-D07A-F1DBBABB1666}"/>
              </a:ext>
            </a:extLst>
          </p:cNvPr>
          <p:cNvSpPr/>
          <p:nvPr/>
        </p:nvSpPr>
        <p:spPr>
          <a:xfrm>
            <a:off x="6537176" y="5611770"/>
            <a:ext cx="1251509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전자결재</a:t>
            </a:r>
            <a:r>
              <a:rPr lang="en-US" altLang="ko-KR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요청</a:t>
            </a:r>
            <a:r>
              <a:rPr lang="en-US" altLang="ko-KR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 </a:t>
            </a:r>
            <a:endParaRPr lang="ko-KR" altLang="en-US" sz="9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99C9D891-4156-2892-AFE2-7C63AD8C33B5}"/>
              </a:ext>
            </a:extLst>
          </p:cNvPr>
          <p:cNvSpPr/>
          <p:nvPr/>
        </p:nvSpPr>
        <p:spPr>
          <a:xfrm>
            <a:off x="5530169" y="7889340"/>
            <a:ext cx="699418" cy="2880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취소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FC1AA9A6-8676-A937-61BA-19E9DAE1F9E2}"/>
              </a:ext>
            </a:extLst>
          </p:cNvPr>
          <p:cNvSpPr/>
          <p:nvPr/>
        </p:nvSpPr>
        <p:spPr>
          <a:xfrm>
            <a:off x="4211889" y="7889340"/>
            <a:ext cx="1251509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전자결재</a:t>
            </a:r>
            <a:r>
              <a:rPr lang="en-US" altLang="ko-KR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요청</a:t>
            </a:r>
            <a:r>
              <a:rPr lang="en-US" altLang="ko-KR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 </a:t>
            </a:r>
            <a:endParaRPr lang="ko-KR" altLang="en-US" sz="9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3CCA858F-8198-A28E-22C0-38A44DE5EECE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4FB906BD-5A59-DC0E-A9E5-C4A632D95798}"/>
              </a:ext>
            </a:extLst>
          </p:cNvPr>
          <p:cNvSpPr/>
          <p:nvPr/>
        </p:nvSpPr>
        <p:spPr>
          <a:xfrm>
            <a:off x="5961112" y="2269752"/>
            <a:ext cx="378042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전자결재 요청 시 유의사항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B2AE2EE4-F384-F4F0-250B-1E15FE1A2AB5}"/>
              </a:ext>
            </a:extLst>
          </p:cNvPr>
          <p:cNvSpPr/>
          <p:nvPr/>
        </p:nvSpPr>
        <p:spPr>
          <a:xfrm>
            <a:off x="5961112" y="2542665"/>
            <a:ext cx="3780420" cy="185143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4CE4276B-4A3C-7936-8BE6-5210611DAB1B}"/>
              </a:ext>
            </a:extLst>
          </p:cNvPr>
          <p:cNvSpPr/>
          <p:nvPr/>
        </p:nvSpPr>
        <p:spPr>
          <a:xfrm>
            <a:off x="9468444" y="2269752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2A5F6E98-DF65-81E1-1CEC-1D52A16F2A5E}"/>
              </a:ext>
            </a:extLst>
          </p:cNvPr>
          <p:cNvSpPr/>
          <p:nvPr/>
        </p:nvSpPr>
        <p:spPr>
          <a:xfrm>
            <a:off x="6068891" y="2956052"/>
            <a:ext cx="3532535" cy="879892"/>
          </a:xfrm>
          <a:prstGeom prst="rect">
            <a:avLst/>
          </a:prstGeom>
          <a:solidFill>
            <a:srgbClr val="FFFF00">
              <a:alpha val="20000"/>
            </a:srgb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108000" bIns="108000" rtlCol="0" anchor="ctr" anchorCtr="0"/>
          <a:lstStyle/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전자결재 요청을 하면 더 이상 입력하신 발주계획 내역이 수정되지 않습니다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전자결재 요청하시겠습니까</a:t>
            </a:r>
            <a:r>
              <a:rPr kumimoji="1" lang="en-US" altLang="ko-KR" sz="8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?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pic>
        <p:nvPicPr>
          <p:cNvPr id="68" name="Picture 8" descr="Announcement, hailer, loudspeaker, megaphone, speaker icon - Download on Iconfinder">
            <a:extLst>
              <a:ext uri="{FF2B5EF4-FFF2-40B4-BE49-F238E27FC236}">
                <a16:creationId xmlns:a16="http://schemas.microsoft.com/office/drawing/2014/main" id="{8625986F-CE98-B7C0-145F-1BD4E6D1AA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5013" y="3112673"/>
            <a:ext cx="570440" cy="57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0" name="직사각형 69">
            <a:extLst>
              <a:ext uri="{FF2B5EF4-FFF2-40B4-BE49-F238E27FC236}">
                <a16:creationId xmlns:a16="http://schemas.microsoft.com/office/drawing/2014/main" id="{0B167E12-C511-4214-DD4E-7BF7ACFA72C5}"/>
              </a:ext>
            </a:extLst>
          </p:cNvPr>
          <p:cNvSpPr/>
          <p:nvPr/>
        </p:nvSpPr>
        <p:spPr>
          <a:xfrm>
            <a:off x="8912449" y="3944419"/>
            <a:ext cx="699418" cy="2880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취소</a:t>
            </a: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0DCCA7A1-FE54-95BF-BC90-400C1C601FD6}"/>
              </a:ext>
            </a:extLst>
          </p:cNvPr>
          <p:cNvSpPr/>
          <p:nvPr/>
        </p:nvSpPr>
        <p:spPr>
          <a:xfrm>
            <a:off x="6092332" y="2639053"/>
            <a:ext cx="1657505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전자결재 요청 시 유의사항</a:t>
            </a: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AB50BAAD-1C66-4DA6-D97C-2559EBEE47AF}"/>
              </a:ext>
            </a:extLst>
          </p:cNvPr>
          <p:cNvSpPr/>
          <p:nvPr/>
        </p:nvSpPr>
        <p:spPr>
          <a:xfrm>
            <a:off x="7594169" y="3944419"/>
            <a:ext cx="1251509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전자결재</a:t>
            </a:r>
            <a:r>
              <a:rPr lang="en-US" altLang="ko-KR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요청</a:t>
            </a:r>
            <a:r>
              <a:rPr lang="en-US" altLang="ko-KR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 </a:t>
            </a:r>
            <a:endParaRPr lang="ko-KR" altLang="en-US" sz="9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75" name="연결선: 꺾임 74">
            <a:extLst>
              <a:ext uri="{FF2B5EF4-FFF2-40B4-BE49-F238E27FC236}">
                <a16:creationId xmlns:a16="http://schemas.microsoft.com/office/drawing/2014/main" id="{B170E77D-AE55-49D7-DB3C-6FC344E959C5}"/>
              </a:ext>
            </a:extLst>
          </p:cNvPr>
          <p:cNvCxnSpPr>
            <a:cxnSpLocks/>
            <a:stCxn id="44" idx="0"/>
          </p:cNvCxnSpPr>
          <p:nvPr/>
        </p:nvCxnSpPr>
        <p:spPr>
          <a:xfrm rot="5400000" flipH="1" flipV="1">
            <a:off x="6931313" y="4691762"/>
            <a:ext cx="1151627" cy="688391"/>
          </a:xfrm>
          <a:prstGeom prst="bentConnector3">
            <a:avLst>
              <a:gd name="adj1" fmla="val 50000"/>
            </a:avLst>
          </a:prstGeom>
          <a:ln>
            <a:solidFill>
              <a:srgbClr val="C00000"/>
            </a:solidFill>
            <a:prstDash val="sys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타원 4">
            <a:extLst>
              <a:ext uri="{FF2B5EF4-FFF2-40B4-BE49-F238E27FC236}">
                <a16:creationId xmlns:a16="http://schemas.microsoft.com/office/drawing/2014/main" id="{C9223A6D-C5B3-EC55-D477-C978F8051958}"/>
              </a:ext>
            </a:extLst>
          </p:cNvPr>
          <p:cNvSpPr/>
          <p:nvPr/>
        </p:nvSpPr>
        <p:spPr>
          <a:xfrm>
            <a:off x="6429164" y="5529030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723000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BF933-E5D9-0B0E-4705-544F400CA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E72996CD-C1D5-D0FF-D05F-245524D94B2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AA8E8C8-FD31-9C71-D764-5F44D476D0B5}"/>
              </a:ext>
            </a:extLst>
          </p:cNvPr>
          <p:cNvSpPr txBox="1"/>
          <p:nvPr/>
        </p:nvSpPr>
        <p:spPr>
          <a:xfrm>
            <a:off x="749224" y="25608"/>
            <a:ext cx="216437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 등록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 등록 완료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6D2CA8-FF08-D603-5FE4-A1F932261B3D}"/>
              </a:ext>
            </a:extLst>
          </p:cNvPr>
          <p:cNvSpPr txBox="1"/>
          <p:nvPr/>
        </p:nvSpPr>
        <p:spPr>
          <a:xfrm>
            <a:off x="8049344" y="584684"/>
            <a:ext cx="1856656" cy="23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CF7FC7FB-4D3C-FBC7-6551-2761D4B7B359}"/>
              </a:ext>
            </a:extLst>
          </p:cNvPr>
          <p:cNvSpPr/>
          <p:nvPr/>
        </p:nvSpPr>
        <p:spPr>
          <a:xfrm>
            <a:off x="164468" y="403565"/>
            <a:ext cx="791883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 등록 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E9BDFDF1-542B-C363-50BF-9C788351D23C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7284452D-FCAF-B03E-DE20-C7A73633C0E0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891AC70A-9467-AA7A-D870-8C8C86647861}"/>
              </a:ext>
            </a:extLst>
          </p:cNvPr>
          <p:cNvGrpSpPr/>
          <p:nvPr/>
        </p:nvGrpSpPr>
        <p:grpSpPr>
          <a:xfrm>
            <a:off x="164468" y="826923"/>
            <a:ext cx="7732444" cy="643315"/>
            <a:chOff x="164468" y="826923"/>
            <a:chExt cx="6455884" cy="643315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949CD92D-C299-5E4C-C9C5-F052C87EA0EF}"/>
                </a:ext>
              </a:extLst>
            </p:cNvPr>
            <p:cNvSpPr/>
            <p:nvPr/>
          </p:nvSpPr>
          <p:spPr>
            <a:xfrm>
              <a:off x="164468" y="826923"/>
              <a:ext cx="1226118" cy="643315"/>
            </a:xfrm>
            <a:prstGeom prst="rect">
              <a:avLst/>
            </a:prstGeom>
            <a:solidFill>
              <a:srgbClr val="F2F2F2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01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발주계획 기본정보</a:t>
              </a:r>
              <a:endPara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B2DCE2B3-565A-E620-4C0B-02867B37D67C}"/>
                </a:ext>
              </a:extLst>
            </p:cNvPr>
            <p:cNvSpPr/>
            <p:nvPr/>
          </p:nvSpPr>
          <p:spPr>
            <a:xfrm>
              <a:off x="1471910" y="826923"/>
              <a:ext cx="1226118" cy="6433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02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발주계획 체크리스트</a:t>
              </a:r>
              <a:endPara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46B86AD3-2039-0C67-8DEF-4C64DA7DFEA7}"/>
                </a:ext>
              </a:extLst>
            </p:cNvPr>
            <p:cNvSpPr/>
            <p:nvPr/>
          </p:nvSpPr>
          <p:spPr>
            <a:xfrm>
              <a:off x="2779352" y="826923"/>
              <a:ext cx="1226118" cy="6433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03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b="1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품목 정보</a:t>
              </a:r>
              <a:endPara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E09A1668-CFEC-5462-6EEA-D931205F0585}"/>
                </a:ext>
              </a:extLst>
            </p:cNvPr>
            <p:cNvSpPr/>
            <p:nvPr/>
          </p:nvSpPr>
          <p:spPr>
            <a:xfrm>
              <a:off x="4086793" y="826923"/>
              <a:ext cx="1226118" cy="6433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04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최종 점검 및 전자결재</a:t>
              </a:r>
              <a:endPara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15C1E1A5-9D3E-1529-BCB5-A59D5D8EC3EF}"/>
                </a:ext>
              </a:extLst>
            </p:cNvPr>
            <p:cNvSpPr/>
            <p:nvPr/>
          </p:nvSpPr>
          <p:spPr>
            <a:xfrm>
              <a:off x="5394234" y="826923"/>
              <a:ext cx="1226118" cy="643315"/>
            </a:xfrm>
            <a:prstGeom prst="rect">
              <a:avLst/>
            </a:prstGeom>
            <a:solidFill>
              <a:srgbClr val="FFC000">
                <a:alpha val="69804"/>
              </a:srgb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05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발주계획 등록 완료</a:t>
              </a:r>
              <a:endPara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B80D018-23B5-F3A1-3511-4094125D80D6}"/>
              </a:ext>
            </a:extLst>
          </p:cNvPr>
          <p:cNvSpPr/>
          <p:nvPr/>
        </p:nvSpPr>
        <p:spPr>
          <a:xfrm>
            <a:off x="163127" y="2315225"/>
            <a:ext cx="7740859" cy="777440"/>
          </a:xfrm>
          <a:prstGeom prst="rect">
            <a:avLst/>
          </a:prstGeom>
          <a:solidFill>
            <a:srgbClr val="FFFF00">
              <a:alpha val="20000"/>
            </a:srgb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108000" bIns="108000" rtlCol="0" anchor="ctr" anchorCtr="0"/>
          <a:lstStyle/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발주계획 등록이 완료되고 전자결재가 시작되었습니다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.</a:t>
            </a:r>
          </a:p>
          <a:p>
            <a:pPr lvl="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 등록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조회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메뉴에서 진행 현황을 확인하실 수 있습니다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전자결재가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완료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승인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되면 진행상태가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결재완료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 변경됩니다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또한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입찰계획 현황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메뉴를 통해 이후 단계를 진행하실 수 있습니다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pic>
        <p:nvPicPr>
          <p:cNvPr id="13" name="Picture 8" descr="Announcement, hailer, loudspeaker, megaphone, speaker icon - Download on Iconfinder">
            <a:extLst>
              <a:ext uri="{FF2B5EF4-FFF2-40B4-BE49-F238E27FC236}">
                <a16:creationId xmlns:a16="http://schemas.microsoft.com/office/drawing/2014/main" id="{D1440CE8-87E2-512F-22E5-4A08F6F97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250" y="2418725"/>
            <a:ext cx="570440" cy="57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CF9665E7-DBD6-753D-C6F2-8737685CDE0A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전자입찰시스템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7" name="Picture 1">
            <a:extLst>
              <a:ext uri="{FF2B5EF4-FFF2-40B4-BE49-F238E27FC236}">
                <a16:creationId xmlns:a16="http://schemas.microsoft.com/office/drawing/2014/main" id="{940D4BA7-B8FA-3A4D-1BCD-C0D00252D2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633E99F5-D638-6A67-CF8E-09E7D2DC7DE5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</a:t>
            </a:r>
            <a:endParaRPr lang="ko-KR" altLang="en-US" sz="800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CDFF805-B9DF-2522-38BF-CFD08BC0A6A7}"/>
              </a:ext>
            </a:extLst>
          </p:cNvPr>
          <p:cNvSpPr/>
          <p:nvPr/>
        </p:nvSpPr>
        <p:spPr>
          <a:xfrm>
            <a:off x="-529236" y="798199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kumimoji="1"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25E0ED7-A327-861B-FB4E-1A37A4D070D9}"/>
              </a:ext>
            </a:extLst>
          </p:cNvPr>
          <p:cNvSpPr/>
          <p:nvPr/>
        </p:nvSpPr>
        <p:spPr>
          <a:xfrm>
            <a:off x="-1690381" y="1098519"/>
            <a:ext cx="1467136" cy="56628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요청접수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 등록 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D90F558-DC82-6CA5-7036-AF59B507A009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C95736E-8CFC-5204-CFAA-14A0277A7874}"/>
              </a:ext>
            </a:extLst>
          </p:cNvPr>
          <p:cNvSpPr/>
          <p:nvPr/>
        </p:nvSpPr>
        <p:spPr>
          <a:xfrm>
            <a:off x="5853315" y="3171570"/>
            <a:ext cx="2050671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 등록</a:t>
            </a:r>
            <a:r>
              <a:rPr lang="en-US" altLang="ko-KR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</a:t>
            </a:r>
            <a:r>
              <a:rPr lang="en-US" altLang="ko-KR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조회</a:t>
            </a:r>
            <a:r>
              <a:rPr lang="en-US" altLang="ko-KR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바로가기 </a:t>
            </a:r>
            <a:r>
              <a:rPr lang="en-US" altLang="ko-KR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 </a:t>
            </a:r>
            <a:endParaRPr lang="ko-KR" altLang="en-US" sz="9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6A74767E-B632-452C-8967-7903D2D4EE3C}"/>
              </a:ext>
            </a:extLst>
          </p:cNvPr>
          <p:cNvGraphicFramePr>
            <a:graphicFrameLocks noGrp="1"/>
          </p:cNvGraphicFramePr>
          <p:nvPr/>
        </p:nvGraphicFramePr>
        <p:xfrm>
          <a:off x="179900" y="1548660"/>
          <a:ext cx="7717012" cy="675840"/>
        </p:xfrm>
        <a:graphic>
          <a:graphicData uri="http://schemas.openxmlformats.org/drawingml/2006/table">
            <a:tbl>
              <a:tblPr firstRow="1" bandRow="1"/>
              <a:tblGrid>
                <a:gridCol w="1089930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626442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2473207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824053">
                  <a:extLst>
                    <a:ext uri="{9D8B030D-6E8A-4147-A177-3AD203B41FA5}">
                      <a16:colId xmlns:a16="http://schemas.microsoft.com/office/drawing/2014/main" val="3053194834"/>
                    </a:ext>
                  </a:extLst>
                </a:gridCol>
                <a:gridCol w="824053">
                  <a:extLst>
                    <a:ext uri="{9D8B030D-6E8A-4147-A177-3AD203B41FA5}">
                      <a16:colId xmlns:a16="http://schemas.microsoft.com/office/drawing/2014/main" val="419952432"/>
                    </a:ext>
                  </a:extLst>
                </a:gridCol>
                <a:gridCol w="410867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734230">
                  <a:extLst>
                    <a:ext uri="{9D8B030D-6E8A-4147-A177-3AD203B41FA5}">
                      <a16:colId xmlns:a16="http://schemas.microsoft.com/office/drawing/2014/main" val="858523054"/>
                    </a:ext>
                  </a:extLst>
                </a:gridCol>
                <a:gridCol w="734230">
                  <a:extLst>
                    <a:ext uri="{9D8B030D-6E8A-4147-A177-3AD203B41FA5}">
                      <a16:colId xmlns:a16="http://schemas.microsoft.com/office/drawing/2014/main" val="32833227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발주계약 품의번호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진행상태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건명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요청일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계약예정일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구분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사업담당자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계약담당자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PPW2026-0029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결재요청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서초동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1601-9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오피스텔 신축공사 중 도장공사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2026.07.22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2026.07.31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공사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홍길동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임꺽정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72862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654E6-6272-2C97-7003-F38EFF2A1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6AE7892C-3895-9A64-2AA0-8FE45EF32C5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8EA022B-500E-AAF1-3B8B-1B9E241C552A}"/>
              </a:ext>
            </a:extLst>
          </p:cNvPr>
          <p:cNvSpPr txBox="1"/>
          <p:nvPr/>
        </p:nvSpPr>
        <p:spPr>
          <a:xfrm>
            <a:off x="749224" y="25608"/>
            <a:ext cx="17219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 등록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상세정보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4A8C19D-5EBC-EDE7-BFBD-1EBE2EC2125D}"/>
              </a:ext>
            </a:extLst>
          </p:cNvPr>
          <p:cNvSpPr/>
          <p:nvPr/>
        </p:nvSpPr>
        <p:spPr>
          <a:xfrm>
            <a:off x="164468" y="403565"/>
            <a:ext cx="791883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 등록 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A24A5769-2490-4459-1F85-BE8B58B9A60F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91416026-47CC-AC53-8C66-5403EA49E2F5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50A524B-0C43-6F31-4A60-3C27B74A73DC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계속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E6690BD-8261-D772-665F-D61E4A890DFA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전자입찰시스템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3" name="Picture 1">
            <a:extLst>
              <a:ext uri="{FF2B5EF4-FFF2-40B4-BE49-F238E27FC236}">
                <a16:creationId xmlns:a16="http://schemas.microsoft.com/office/drawing/2014/main" id="{18B0F202-C709-F9ED-FA3A-C06457D4EA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4F4DD3CA-22B7-DD7A-D0D1-70116DCE4830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</a:t>
            </a:r>
            <a:endParaRPr lang="ko-KR" altLang="en-US" sz="800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3060C04-3535-AB83-E20A-F1FF866F8B8A}"/>
              </a:ext>
            </a:extLst>
          </p:cNvPr>
          <p:cNvSpPr/>
          <p:nvPr/>
        </p:nvSpPr>
        <p:spPr>
          <a:xfrm>
            <a:off x="-529236" y="798199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kumimoji="1"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5A7EB83-D1AE-E6A0-8460-640F9D259FDA}"/>
              </a:ext>
            </a:extLst>
          </p:cNvPr>
          <p:cNvSpPr/>
          <p:nvPr/>
        </p:nvSpPr>
        <p:spPr>
          <a:xfrm>
            <a:off x="-1690381" y="1098519"/>
            <a:ext cx="1467136" cy="56628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요청접수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 등록 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D3FDAFE-405F-23A0-90EE-595B21490A69}"/>
              </a:ext>
            </a:extLst>
          </p:cNvPr>
          <p:cNvSpPr/>
          <p:nvPr/>
        </p:nvSpPr>
        <p:spPr>
          <a:xfrm>
            <a:off x="183392" y="1628800"/>
            <a:ext cx="7713520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 기본정보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1F772D7C-E643-FC72-9078-96423C14AFFC}"/>
              </a:ext>
            </a:extLst>
          </p:cNvPr>
          <p:cNvGraphicFramePr>
            <a:graphicFrameLocks noGrp="1"/>
          </p:cNvGraphicFramePr>
          <p:nvPr/>
        </p:nvGraphicFramePr>
        <p:xfrm>
          <a:off x="164467" y="1926973"/>
          <a:ext cx="7740859" cy="3635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3591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387268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발주계약 요청번호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PR2026-0003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2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발주계획 품의번호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PPW2026-0029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64422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처리상태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결재요청 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| 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결재완료</a:t>
                      </a:r>
                      <a:endParaRPr lang="ko-KR" altLang="en-US" sz="800" b="0" spc="-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69958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건명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서초동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1601-9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오피스텔 신축공사 중 습식공사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065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품의일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2026.06.05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4718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요청일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2026.06.01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357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계약예정일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2026.07.31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00273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구분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공사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5394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수주계약 정보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수주계약번호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160011612-01-31-C</a:t>
                      </a: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수주계약명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: GE-4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에너지효율화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(ID Fan VVVF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설치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사업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수주계약일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2026.12.23</a:t>
                      </a: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수주계약업체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군장에너지주식회사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5777443"/>
                  </a:ext>
                </a:extLst>
              </a:tr>
            </a:tbl>
          </a:graphicData>
        </a:graphic>
      </p:graphicFrame>
      <p:graphicFrame>
        <p:nvGraphicFramePr>
          <p:cNvPr id="30" name="표 29">
            <a:extLst>
              <a:ext uri="{FF2B5EF4-FFF2-40B4-BE49-F238E27FC236}">
                <a16:creationId xmlns:a16="http://schemas.microsoft.com/office/drawing/2014/main" id="{B299BB73-5C27-96C4-51A2-1AF143CF2E03}"/>
              </a:ext>
            </a:extLst>
          </p:cNvPr>
          <p:cNvGraphicFramePr>
            <a:graphicFrameLocks noGrp="1"/>
          </p:cNvGraphicFramePr>
          <p:nvPr/>
        </p:nvGraphicFramePr>
        <p:xfrm>
          <a:off x="164467" y="5534186"/>
          <a:ext cx="7740859" cy="67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3591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387268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사업담당자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홍길동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2521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계약담당자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임꺽정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4933786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5A034365-123E-0C87-821F-DA4E812D94B7}"/>
              </a:ext>
            </a:extLst>
          </p:cNvPr>
          <p:cNvGraphicFramePr>
            <a:graphicFrameLocks noGrp="1"/>
          </p:cNvGraphicFramePr>
          <p:nvPr/>
        </p:nvGraphicFramePr>
        <p:xfrm>
          <a:off x="179900" y="836712"/>
          <a:ext cx="7713520" cy="675840"/>
        </p:xfrm>
        <a:graphic>
          <a:graphicData uri="http://schemas.openxmlformats.org/drawingml/2006/table">
            <a:tbl>
              <a:tblPr firstRow="1" bandRow="1"/>
              <a:tblGrid>
                <a:gridCol w="1020318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1075814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2315247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771422">
                  <a:extLst>
                    <a:ext uri="{9D8B030D-6E8A-4147-A177-3AD203B41FA5}">
                      <a16:colId xmlns:a16="http://schemas.microsoft.com/office/drawing/2014/main" val="3053194834"/>
                    </a:ext>
                  </a:extLst>
                </a:gridCol>
                <a:gridCol w="771422">
                  <a:extLst>
                    <a:ext uri="{9D8B030D-6E8A-4147-A177-3AD203B41FA5}">
                      <a16:colId xmlns:a16="http://schemas.microsoft.com/office/drawing/2014/main" val="419952432"/>
                    </a:ext>
                  </a:extLst>
                </a:gridCol>
                <a:gridCol w="384625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687336">
                  <a:extLst>
                    <a:ext uri="{9D8B030D-6E8A-4147-A177-3AD203B41FA5}">
                      <a16:colId xmlns:a16="http://schemas.microsoft.com/office/drawing/2014/main" val="858523054"/>
                    </a:ext>
                  </a:extLst>
                </a:gridCol>
                <a:gridCol w="687336">
                  <a:extLst>
                    <a:ext uri="{9D8B030D-6E8A-4147-A177-3AD203B41FA5}">
                      <a16:colId xmlns:a16="http://schemas.microsoft.com/office/drawing/2014/main" val="32833227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발주계약 품의번호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진행상태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건명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요청일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계약예정일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구분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사업담당자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계약담당자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PPW2026-0029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결재요청 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| 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결재완료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서초동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1601-9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오피스텔 신축공사 중 도장공사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2026.07.22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2026.07.31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공사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홍길동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임꺽정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119DB16-E457-1560-697C-B6154699CB37}"/>
              </a:ext>
            </a:extLst>
          </p:cNvPr>
          <p:cNvSpPr txBox="1"/>
          <p:nvPr/>
        </p:nvSpPr>
        <p:spPr>
          <a:xfrm>
            <a:off x="8049344" y="584684"/>
            <a:ext cx="1856656" cy="634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전자결재가 완료</a:t>
            </a:r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승인</a:t>
            </a:r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되면 진행상태를 </a:t>
            </a:r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결재완료</a:t>
            </a:r>
            <a:r>
              <a:rPr lang="en-US" altLang="ko-KR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 변경</a:t>
            </a:r>
            <a:endParaRPr lang="en-US" altLang="ko-KR" sz="800" u="sng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endParaRPr lang="en-US" altLang="ko-KR" sz="800" u="sng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C3A9ED76-BD5A-4DFD-B0ED-B0BC29C464C1}"/>
              </a:ext>
            </a:extLst>
          </p:cNvPr>
          <p:cNvSpPr/>
          <p:nvPr/>
        </p:nvSpPr>
        <p:spPr>
          <a:xfrm>
            <a:off x="1136576" y="1082396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139716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0162D-A68C-C9D6-E4B5-544F4E560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FD9E0F31-0CA5-5BC0-7B89-78B44492E3E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9B9268-1588-41DA-7E0F-4C191FD717BC}"/>
              </a:ext>
            </a:extLst>
          </p:cNvPr>
          <p:cNvSpPr txBox="1"/>
          <p:nvPr/>
        </p:nvSpPr>
        <p:spPr>
          <a:xfrm>
            <a:off x="749224" y="25608"/>
            <a:ext cx="17219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 등록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상세정보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CAC556-FCBC-AD95-88E7-795839A1F780}"/>
              </a:ext>
            </a:extLst>
          </p:cNvPr>
          <p:cNvSpPr txBox="1"/>
          <p:nvPr/>
        </p:nvSpPr>
        <p:spPr>
          <a:xfrm>
            <a:off x="8049344" y="584684"/>
            <a:ext cx="1856656" cy="23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DDC6224-6E5A-9989-25C4-44228AB85192}"/>
              </a:ext>
            </a:extLst>
          </p:cNvPr>
          <p:cNvSpPr/>
          <p:nvPr/>
        </p:nvSpPr>
        <p:spPr>
          <a:xfrm>
            <a:off x="183392" y="378185"/>
            <a:ext cx="7713520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l"/>
            <a:r>
              <a:rPr lang="ko-KR" altLang="en-US" sz="9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 체크리스트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16C1300-A454-861E-94A8-98A50B1F1666}"/>
              </a:ext>
            </a:extLst>
          </p:cNvPr>
          <p:cNvSpPr/>
          <p:nvPr/>
        </p:nvSpPr>
        <p:spPr>
          <a:xfrm>
            <a:off x="183392" y="657591"/>
            <a:ext cx="574171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결재 관련 정보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CBF7EB7-1FB4-B69B-B39B-4355297605BC}"/>
              </a:ext>
            </a:extLst>
          </p:cNvPr>
          <p:cNvSpPr/>
          <p:nvPr/>
        </p:nvSpPr>
        <p:spPr>
          <a:xfrm>
            <a:off x="183392" y="1929357"/>
            <a:ext cx="574171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l"/>
            <a:r>
              <a:rPr lang="ko-KR" altLang="en-US" sz="9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세부정보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86A64C38-D8CF-909C-D484-B2A1A684A301}"/>
              </a:ext>
            </a:extLst>
          </p:cNvPr>
          <p:cNvGraphicFramePr>
            <a:graphicFrameLocks noGrp="1"/>
          </p:cNvGraphicFramePr>
          <p:nvPr/>
        </p:nvGraphicFramePr>
        <p:xfrm>
          <a:off x="179901" y="913904"/>
          <a:ext cx="7717011" cy="919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8743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148268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결재문서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추진안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일상감사의견서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065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결재문서 등록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등록된 파일명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#1.pdf  </a:t>
                      </a:r>
                      <a:b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b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등록된 파일명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#2.pdf  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357048"/>
                  </a:ext>
                </a:extLst>
              </a:tr>
            </a:tbl>
          </a:graphicData>
        </a:graphic>
      </p:graphicFrame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A839CE5F-9A25-4577-306F-1EFB4D46395C}"/>
              </a:ext>
            </a:extLst>
          </p:cNvPr>
          <p:cNvGraphicFramePr>
            <a:graphicFrameLocks noGrp="1"/>
          </p:cNvGraphicFramePr>
          <p:nvPr/>
        </p:nvGraphicFramePr>
        <p:xfrm>
          <a:off x="164467" y="2205317"/>
          <a:ext cx="7776865" cy="2365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9418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197447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추정금액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94,490,000 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구천사백사십구만원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 VAT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포함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2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계약기간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pc="-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2026.07.20 ~ 2027.07.30</a:t>
                      </a:r>
                      <a:endParaRPr lang="ko-KR" altLang="en-US" sz="800" b="0" spc="-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69958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납품장소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현장 내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065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계약이행 </a:t>
                      </a:r>
                      <a:r>
                        <a:rPr kumimoji="0" lang="ko-KR" altLang="en-US" sz="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보증금률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10%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357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하자이행 </a:t>
                      </a:r>
                      <a:r>
                        <a:rPr kumimoji="0" lang="ko-KR" altLang="en-US" sz="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보증금률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3%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00273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하자이행 기간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년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5394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계약방법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경쟁입찰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일반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307130"/>
                  </a:ext>
                </a:extLst>
              </a:tr>
            </a:tbl>
          </a:graphicData>
        </a:graphic>
      </p:graphicFrame>
      <p:sp>
        <p:nvSpPr>
          <p:cNvPr id="21" name="직사각형 20">
            <a:extLst>
              <a:ext uri="{FF2B5EF4-FFF2-40B4-BE49-F238E27FC236}">
                <a16:creationId xmlns:a16="http://schemas.microsoft.com/office/drawing/2014/main" id="{0EFAB88E-2702-B2E4-D09B-263CE8E60DAE}"/>
              </a:ext>
            </a:extLst>
          </p:cNvPr>
          <p:cNvSpPr/>
          <p:nvPr/>
        </p:nvSpPr>
        <p:spPr>
          <a:xfrm>
            <a:off x="2909398" y="1315593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바로보기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7EFD175-115E-8BA4-4A46-3517E022ED4C}"/>
              </a:ext>
            </a:extLst>
          </p:cNvPr>
          <p:cNvSpPr/>
          <p:nvPr/>
        </p:nvSpPr>
        <p:spPr>
          <a:xfrm>
            <a:off x="3572235" y="1315593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다운로드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2B91700-579E-3B61-1710-4BF54F118872}"/>
              </a:ext>
            </a:extLst>
          </p:cNvPr>
          <p:cNvSpPr/>
          <p:nvPr/>
        </p:nvSpPr>
        <p:spPr>
          <a:xfrm>
            <a:off x="2909398" y="1582933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바로보기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1246B14B-3304-D2D2-CD1C-3889B835BBB8}"/>
              </a:ext>
            </a:extLst>
          </p:cNvPr>
          <p:cNvSpPr/>
          <p:nvPr/>
        </p:nvSpPr>
        <p:spPr>
          <a:xfrm>
            <a:off x="3572235" y="1582933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다운로드</a:t>
            </a:r>
          </a:p>
        </p:txBody>
      </p:sp>
      <p:graphicFrame>
        <p:nvGraphicFramePr>
          <p:cNvPr id="31" name="표 30">
            <a:extLst>
              <a:ext uri="{FF2B5EF4-FFF2-40B4-BE49-F238E27FC236}">
                <a16:creationId xmlns:a16="http://schemas.microsoft.com/office/drawing/2014/main" id="{1ECFD5D8-FD13-C185-1088-4FE0CA86A9F9}"/>
              </a:ext>
            </a:extLst>
          </p:cNvPr>
          <p:cNvGraphicFramePr>
            <a:graphicFrameLocks noGrp="1"/>
          </p:cNvGraphicFramePr>
          <p:nvPr/>
        </p:nvGraphicFramePr>
        <p:xfrm>
          <a:off x="164467" y="4567074"/>
          <a:ext cx="7776865" cy="67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9418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197447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낙찰자 선정방법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제한적 최저가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입찰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1472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근거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 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수의계약 사유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근거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수의계약 사유로 입력된 내용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2761252"/>
                  </a:ext>
                </a:extLst>
              </a:tr>
            </a:tbl>
          </a:graphicData>
        </a:graphic>
      </p:graphicFrame>
      <p:graphicFrame>
        <p:nvGraphicFramePr>
          <p:cNvPr id="33" name="표 32">
            <a:extLst>
              <a:ext uri="{FF2B5EF4-FFF2-40B4-BE49-F238E27FC236}">
                <a16:creationId xmlns:a16="http://schemas.microsoft.com/office/drawing/2014/main" id="{3EF3485A-1E72-80E3-3D4B-B4CC8C4C40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8787964"/>
              </p:ext>
            </p:extLst>
          </p:nvPr>
        </p:nvGraphicFramePr>
        <p:xfrm>
          <a:off x="164410" y="5220574"/>
          <a:ext cx="7776865" cy="67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9418">
                  <a:extLst>
                    <a:ext uri="{9D8B030D-6E8A-4147-A177-3AD203B41FA5}">
                      <a16:colId xmlns:a16="http://schemas.microsoft.com/office/drawing/2014/main" val="2245626066"/>
                    </a:ext>
                  </a:extLst>
                </a:gridCol>
                <a:gridCol w="6197447">
                  <a:extLst>
                    <a:ext uri="{9D8B030D-6E8A-4147-A177-3AD203B41FA5}">
                      <a16:colId xmlns:a16="http://schemas.microsoft.com/office/drawing/2014/main" val="35705632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계약상대자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수의계약의 경우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매핑된 협력업체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주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큐비트엑스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(135-81-77202)</a:t>
                      </a:r>
                      <a:endParaRPr lang="en-US" altLang="ko-KR" sz="800" b="1" u="sng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76840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참가자격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등기부등본상 본사의 위치가 제주도에 있는 업체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984276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108B994-3A08-A9BB-0947-25561BA2E486}"/>
              </a:ext>
            </a:extLst>
          </p:cNvPr>
          <p:cNvSpPr txBox="1"/>
          <p:nvPr/>
        </p:nvSpPr>
        <p:spPr>
          <a:xfrm>
            <a:off x="8049344" y="584684"/>
            <a:ext cx="1856656" cy="397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계약방법이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인 경우에만 노출됨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9069690-6175-A3B2-3566-BE758A44A2A2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계속</a:t>
            </a:r>
          </a:p>
        </p:txBody>
      </p:sp>
    </p:spTree>
    <p:extLst>
      <p:ext uri="{BB962C8B-B14F-4D97-AF65-F5344CB8AC3E}">
        <p14:creationId xmlns:p14="http://schemas.microsoft.com/office/powerpoint/2010/main" val="24657982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E6B39-AF10-D885-9B8B-EADF5DA53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E30DDE73-E4E3-F9D8-4496-436F0E85943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B0E38AC-53DB-2A45-B51F-E0832303EA47}"/>
              </a:ext>
            </a:extLst>
          </p:cNvPr>
          <p:cNvSpPr txBox="1"/>
          <p:nvPr/>
        </p:nvSpPr>
        <p:spPr>
          <a:xfrm>
            <a:off x="749224" y="25608"/>
            <a:ext cx="17219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 등록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상세정보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0CBA77-6CB3-2344-B114-C3C934469F7E}"/>
              </a:ext>
            </a:extLst>
          </p:cNvPr>
          <p:cNvSpPr txBox="1"/>
          <p:nvPr/>
        </p:nvSpPr>
        <p:spPr>
          <a:xfrm>
            <a:off x="8049344" y="584684"/>
            <a:ext cx="1856656" cy="23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graphicFrame>
        <p:nvGraphicFramePr>
          <p:cNvPr id="33" name="표 32">
            <a:extLst>
              <a:ext uri="{FF2B5EF4-FFF2-40B4-BE49-F238E27FC236}">
                <a16:creationId xmlns:a16="http://schemas.microsoft.com/office/drawing/2014/main" id="{919FB349-D2F8-AEF8-92F6-DFFAA1AD3170}"/>
              </a:ext>
            </a:extLst>
          </p:cNvPr>
          <p:cNvGraphicFramePr>
            <a:graphicFrameLocks noGrp="1"/>
          </p:cNvGraphicFramePr>
          <p:nvPr/>
        </p:nvGraphicFramePr>
        <p:xfrm>
          <a:off x="164410" y="384308"/>
          <a:ext cx="7776865" cy="1013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9418">
                  <a:extLst>
                    <a:ext uri="{9D8B030D-6E8A-4147-A177-3AD203B41FA5}">
                      <a16:colId xmlns:a16="http://schemas.microsoft.com/office/drawing/2014/main" val="2245626066"/>
                    </a:ext>
                  </a:extLst>
                </a:gridCol>
                <a:gridCol w="6197447">
                  <a:extLst>
                    <a:ext uri="{9D8B030D-6E8A-4147-A177-3AD203B41FA5}">
                      <a16:colId xmlns:a16="http://schemas.microsoft.com/office/drawing/2014/main" val="35705632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예정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예비가격 결정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예비가  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1687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예정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예비가격 결정자 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본부장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58458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입찰 </a:t>
                      </a:r>
                      <a:r>
                        <a:rPr kumimoji="0" lang="ko-KR" altLang="en-US" sz="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보증금률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5%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8668122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39840CE8-AD06-F4E5-B491-EF6E21B806D7}"/>
              </a:ext>
            </a:extLst>
          </p:cNvPr>
          <p:cNvSpPr/>
          <p:nvPr/>
        </p:nvSpPr>
        <p:spPr>
          <a:xfrm>
            <a:off x="183392" y="1504831"/>
            <a:ext cx="574171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계약업체 면허 설정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2C1EBE8B-FACE-8B2C-9C65-F6A0308D59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0285554"/>
              </p:ext>
            </p:extLst>
          </p:nvPr>
        </p:nvGraphicFramePr>
        <p:xfrm>
          <a:off x="164467" y="1798566"/>
          <a:ext cx="7776865" cy="67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9418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197447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종합건설업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■ 건축설계 및 시공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2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전문건설업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■ 도장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습식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방수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석공사업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6995847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71A7B58F-E19A-608D-1318-816CCFDFE01D}"/>
              </a:ext>
            </a:extLst>
          </p:cNvPr>
          <p:cNvSpPr/>
          <p:nvPr/>
        </p:nvSpPr>
        <p:spPr>
          <a:xfrm>
            <a:off x="164467" y="2568994"/>
            <a:ext cx="574171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첨부 서류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A91B3344-36F3-8683-4FD2-3F5341F36017}"/>
              </a:ext>
            </a:extLst>
          </p:cNvPr>
          <p:cNvGraphicFramePr>
            <a:graphicFrameLocks noGrp="1"/>
          </p:cNvGraphicFramePr>
          <p:nvPr/>
        </p:nvGraphicFramePr>
        <p:xfrm>
          <a:off x="164467" y="2871838"/>
          <a:ext cx="7776865" cy="140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9418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197447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용역</a:t>
                      </a:r>
                      <a:endParaRPr kumimoji="0" lang="en-US" altLang="ko-KR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  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원가계산서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(or 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산출내역서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), </a:t>
                      </a:r>
                      <a:b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  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과업지시서 등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#1.pdf  </a:t>
                      </a:r>
                      <a:b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b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#2.pdf </a:t>
                      </a:r>
                      <a:b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b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#3.pdf  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2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기타 서류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#1.pdf  </a:t>
                      </a:r>
                      <a:b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b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등록된 파일명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#2.pdf  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6995847"/>
                  </a:ext>
                </a:extLst>
              </a:tr>
            </a:tbl>
          </a:graphicData>
        </a:graphic>
      </p:graphicFrame>
      <p:sp>
        <p:nvSpPr>
          <p:cNvPr id="11" name="직사각형 10">
            <a:extLst>
              <a:ext uri="{FF2B5EF4-FFF2-40B4-BE49-F238E27FC236}">
                <a16:creationId xmlns:a16="http://schemas.microsoft.com/office/drawing/2014/main" id="{928DDF44-8D1D-EF5E-D6C1-B816AEFA7EAC}"/>
              </a:ext>
            </a:extLst>
          </p:cNvPr>
          <p:cNvSpPr/>
          <p:nvPr/>
        </p:nvSpPr>
        <p:spPr>
          <a:xfrm>
            <a:off x="2909398" y="2929145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바로보기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200F4F8-55AE-4FF4-E19E-86CBB295D725}"/>
              </a:ext>
            </a:extLst>
          </p:cNvPr>
          <p:cNvSpPr/>
          <p:nvPr/>
        </p:nvSpPr>
        <p:spPr>
          <a:xfrm>
            <a:off x="3572235" y="2929145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다운로드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8E5EECC-4561-C661-3359-D4C34D32FA58}"/>
              </a:ext>
            </a:extLst>
          </p:cNvPr>
          <p:cNvSpPr/>
          <p:nvPr/>
        </p:nvSpPr>
        <p:spPr>
          <a:xfrm>
            <a:off x="2909398" y="3179233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바로보기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B6F0F60-D4D0-BB68-1A05-324E54E422C2}"/>
              </a:ext>
            </a:extLst>
          </p:cNvPr>
          <p:cNvSpPr/>
          <p:nvPr/>
        </p:nvSpPr>
        <p:spPr>
          <a:xfrm>
            <a:off x="3572235" y="3179233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다운로드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8B42D36-86AA-C283-9483-1C9DC9F343F3}"/>
              </a:ext>
            </a:extLst>
          </p:cNvPr>
          <p:cNvSpPr/>
          <p:nvPr/>
        </p:nvSpPr>
        <p:spPr>
          <a:xfrm>
            <a:off x="2909398" y="3429321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바로보기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6E73A91-B263-A18F-5E8A-92C9BADEFF69}"/>
              </a:ext>
            </a:extLst>
          </p:cNvPr>
          <p:cNvSpPr/>
          <p:nvPr/>
        </p:nvSpPr>
        <p:spPr>
          <a:xfrm>
            <a:off x="3572235" y="3429321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다운로드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656F646-D6CD-9E01-820A-174FB749239E}"/>
              </a:ext>
            </a:extLst>
          </p:cNvPr>
          <p:cNvSpPr/>
          <p:nvPr/>
        </p:nvSpPr>
        <p:spPr>
          <a:xfrm>
            <a:off x="2909398" y="3756758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바로보기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9688C87-7F0F-F965-B6D3-3B2DEFF6A9D4}"/>
              </a:ext>
            </a:extLst>
          </p:cNvPr>
          <p:cNvSpPr/>
          <p:nvPr/>
        </p:nvSpPr>
        <p:spPr>
          <a:xfrm>
            <a:off x="3572235" y="3756758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다운로드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F72D917-1C82-0EEC-5539-FB359D5A191B}"/>
              </a:ext>
            </a:extLst>
          </p:cNvPr>
          <p:cNvSpPr/>
          <p:nvPr/>
        </p:nvSpPr>
        <p:spPr>
          <a:xfrm>
            <a:off x="2909398" y="4024098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바로보기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703897C-E115-6FCC-E27F-1DFE775A4772}"/>
              </a:ext>
            </a:extLst>
          </p:cNvPr>
          <p:cNvSpPr/>
          <p:nvPr/>
        </p:nvSpPr>
        <p:spPr>
          <a:xfrm>
            <a:off x="3572235" y="4024098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다운로드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A4CE325-8C9E-096E-E047-773D2021B02C}"/>
              </a:ext>
            </a:extLst>
          </p:cNvPr>
          <p:cNvSpPr/>
          <p:nvPr/>
        </p:nvSpPr>
        <p:spPr>
          <a:xfrm>
            <a:off x="183392" y="4374477"/>
            <a:ext cx="7713520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품목 정보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30" name="표 29">
            <a:extLst>
              <a:ext uri="{FF2B5EF4-FFF2-40B4-BE49-F238E27FC236}">
                <a16:creationId xmlns:a16="http://schemas.microsoft.com/office/drawing/2014/main" id="{6E8C6E13-778E-DC33-E0A2-D0F57CE8303D}"/>
              </a:ext>
            </a:extLst>
          </p:cNvPr>
          <p:cNvGraphicFramePr>
            <a:graphicFrameLocks noGrp="1"/>
          </p:cNvGraphicFramePr>
          <p:nvPr/>
        </p:nvGraphicFramePr>
        <p:xfrm>
          <a:off x="171333" y="4677374"/>
          <a:ext cx="8974023" cy="675840"/>
        </p:xfrm>
        <a:graphic>
          <a:graphicData uri="http://schemas.openxmlformats.org/drawingml/2006/table">
            <a:tbl>
              <a:tblPr firstRow="1" bandRow="1"/>
              <a:tblGrid>
                <a:gridCol w="258001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97482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2113525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2317117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316734">
                  <a:extLst>
                    <a:ext uri="{9D8B030D-6E8A-4147-A177-3AD203B41FA5}">
                      <a16:colId xmlns:a16="http://schemas.microsoft.com/office/drawing/2014/main" val="3053194834"/>
                    </a:ext>
                  </a:extLst>
                </a:gridCol>
                <a:gridCol w="302079">
                  <a:extLst>
                    <a:ext uri="{9D8B030D-6E8A-4147-A177-3AD203B41FA5}">
                      <a16:colId xmlns:a16="http://schemas.microsoft.com/office/drawing/2014/main" val="419952432"/>
                    </a:ext>
                  </a:extLst>
                </a:gridCol>
                <a:gridCol w="714047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481575">
                  <a:extLst>
                    <a:ext uri="{9D8B030D-6E8A-4147-A177-3AD203B41FA5}">
                      <a16:colId xmlns:a16="http://schemas.microsoft.com/office/drawing/2014/main" val="3408856969"/>
                    </a:ext>
                  </a:extLst>
                </a:gridCol>
                <a:gridCol w="1773463">
                  <a:extLst>
                    <a:ext uri="{9D8B030D-6E8A-4147-A177-3AD203B41FA5}">
                      <a16:colId xmlns:a16="http://schemas.microsoft.com/office/drawing/2014/main" val="8836338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No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품목코드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품목명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규격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단위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수량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납기요청일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입고장소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비고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서초동 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1601-9 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오피스텔 신축공사 중 도장공사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품목 구성 방법이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‘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지정 항목 작성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’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인 경우에 등록됨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2026.07.31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현장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품목 등록의 비고에 들어간 내용입니다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FB090E0A-E50E-8634-5223-D987F46896F8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2A55793B-4AC7-6B2C-A78D-00DEC8D63E78}"/>
              </a:ext>
            </a:extLst>
          </p:cNvPr>
          <p:cNvSpPr/>
          <p:nvPr/>
        </p:nvSpPr>
        <p:spPr>
          <a:xfrm>
            <a:off x="164467" y="5481228"/>
            <a:ext cx="699418" cy="28803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목록</a:t>
            </a:r>
          </a:p>
        </p:txBody>
      </p:sp>
    </p:spTree>
    <p:extLst>
      <p:ext uri="{BB962C8B-B14F-4D97-AF65-F5344CB8AC3E}">
        <p14:creationId xmlns:p14="http://schemas.microsoft.com/office/powerpoint/2010/main" val="3204676366"/>
      </p:ext>
    </p:extLst>
  </p:cSld>
  <p:clrMapOvr>
    <a:masterClrMapping/>
  </p:clrMapOvr>
</p:sld>
</file>

<file path=ppt/theme/theme1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F4990359-2EBE-4229-BE87-8412C61BC5E9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070e4777-5de2-4d5b-87a7-abfc2f61d6a0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4F2FCBD6-DD9C-4C65-BA7D-CE3A06E39805}">
  <we:reference id="wa200010215" version="2.0.0.0" store="ko-KR" storeType="OMEX"/>
  <we:alternateReferences>
    <we:reference id="WA200010215" version="2.0.0.0" store="WA200010215" storeType="OMEX"/>
  </we:alternateReferences>
  <we:properties>
    <we:property name="bps.codex_control.document_id" value="&quot;5082de44-7376-4f91-a6bf-ece6b6b90b95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243447</TotalTime>
  <Words>4962</Words>
  <Application>Microsoft Office PowerPoint</Application>
  <PresentationFormat>A4 용지(210x297mm)</PresentationFormat>
  <Paragraphs>1425</Paragraphs>
  <Slides>27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2" baseType="lpstr">
      <vt:lpstr>맑은 고딕</vt:lpstr>
      <vt:lpstr>Arial</vt:lpstr>
      <vt:lpstr>나눔고딕</vt:lpstr>
      <vt:lpstr>Wingdings</vt:lpstr>
      <vt:lpstr>3_디자인 사용자 지정</vt:lpstr>
      <vt:lpstr>PowerPoint 프레젠테이션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</vt:vector>
  </TitlesOfParts>
  <Company>HIST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사회보장위원회_사회보장통계</dc:title>
  <dc:creator>조헌진</dc:creator>
  <cp:lastModifiedBy>10249 10249</cp:lastModifiedBy>
  <cp:revision>8136</cp:revision>
  <cp:lastPrinted>2019-06-18T05:05:25Z</cp:lastPrinted>
  <dcterms:created xsi:type="dcterms:W3CDTF">2006-06-07T02:37:19Z</dcterms:created>
  <dcterms:modified xsi:type="dcterms:W3CDTF">2026-09-15T23:33:24Z</dcterms:modified>
</cp:coreProperties>
</file>