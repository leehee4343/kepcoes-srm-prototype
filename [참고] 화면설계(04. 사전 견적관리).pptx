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>
  <p:sldMasterIdLst>
    <p:sldMasterId id="2147484698" r:id="rId1"/>
  </p:sldMasterIdLst>
  <p:notesMasterIdLst>
    <p:notesMasterId r:id="rId23"/>
  </p:notesMasterIdLst>
  <p:handoutMasterIdLst>
    <p:handoutMasterId r:id="rId24"/>
  </p:handoutMasterIdLst>
  <p:sldIdLst>
    <p:sldId id="3218" r:id="rId2"/>
    <p:sldId id="3563" r:id="rId3"/>
    <p:sldId id="3564" r:id="rId4"/>
    <p:sldId id="3573" r:id="rId5"/>
    <p:sldId id="3550" r:id="rId6"/>
    <p:sldId id="3574" r:id="rId7"/>
    <p:sldId id="3575" r:id="rId8"/>
    <p:sldId id="3567" r:id="rId9"/>
    <p:sldId id="3587" r:id="rId10"/>
    <p:sldId id="3577" r:id="rId11"/>
    <p:sldId id="3578" r:id="rId12"/>
    <p:sldId id="3503" r:id="rId13"/>
    <p:sldId id="3579" r:id="rId14"/>
    <p:sldId id="3588" r:id="rId15"/>
    <p:sldId id="3581" r:id="rId16"/>
    <p:sldId id="3589" r:id="rId17"/>
    <p:sldId id="3590" r:id="rId18"/>
    <p:sldId id="3584" r:id="rId19"/>
    <p:sldId id="3591" r:id="rId20"/>
    <p:sldId id="3592" r:id="rId21"/>
    <p:sldId id="3572" r:id="rId22"/>
  </p:sldIdLst>
  <p:sldSz cx="9906000" cy="6858000" type="A4"/>
  <p:notesSz cx="9926638" cy="6797675"/>
  <p:embeddedFontLst>
    <p:embeddedFont>
      <p:font typeface="나눔고딕" panose="020D0604000000000000" pitchFamily="50" charset="-127"/>
      <p:regular r:id="rId25"/>
      <p:bold r:id="rId26"/>
    </p:embeddedFont>
    <p:embeddedFont>
      <p:font typeface="맑은 고딕" panose="020B0503020000020004" pitchFamily="50" charset="-127"/>
      <p:regular r:id="rId27"/>
      <p:bold r:id="rId28"/>
    </p:embeddedFont>
  </p:embeddedFontLst>
  <p:defaultTextStyle>
    <a:defPPr>
      <a:defRPr lang="en-US"/>
    </a:defPPr>
    <a:lvl1pPr algn="ctr" rtl="0" fontAlgn="base" latinLnBrk="1">
      <a:spcBef>
        <a:spcPct val="0"/>
      </a:spcBef>
      <a:spcAft>
        <a:spcPct val="0"/>
      </a:spcAft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1pPr>
    <a:lvl2pPr marL="548640" algn="ctr" rtl="0" fontAlgn="base" latinLnBrk="1">
      <a:spcBef>
        <a:spcPct val="0"/>
      </a:spcBef>
      <a:spcAft>
        <a:spcPct val="0"/>
      </a:spcAft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2pPr>
    <a:lvl3pPr marL="1097280" algn="ctr" rtl="0" fontAlgn="base" latinLnBrk="1">
      <a:spcBef>
        <a:spcPct val="0"/>
      </a:spcBef>
      <a:spcAft>
        <a:spcPct val="0"/>
      </a:spcAft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3pPr>
    <a:lvl4pPr marL="1645920" algn="ctr" rtl="0" fontAlgn="base" latinLnBrk="1">
      <a:spcBef>
        <a:spcPct val="0"/>
      </a:spcBef>
      <a:spcAft>
        <a:spcPct val="0"/>
      </a:spcAft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4pPr>
    <a:lvl5pPr marL="2194560" algn="ctr" rtl="0" fontAlgn="base" latinLnBrk="1">
      <a:spcBef>
        <a:spcPct val="0"/>
      </a:spcBef>
      <a:spcAft>
        <a:spcPct val="0"/>
      </a:spcAft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5pPr>
    <a:lvl6pPr marL="2743200" algn="l" defTabSz="1097280" rtl="0" eaLnBrk="1" latinLnBrk="1" hangingPunct="1"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6pPr>
    <a:lvl7pPr marL="3291840" algn="l" defTabSz="1097280" rtl="0" eaLnBrk="1" latinLnBrk="1" hangingPunct="1"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7pPr>
    <a:lvl8pPr marL="3840480" algn="l" defTabSz="1097280" rtl="0" eaLnBrk="1" latinLnBrk="1" hangingPunct="1"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8pPr>
    <a:lvl9pPr marL="4389120" algn="l" defTabSz="1097280" rtl="0" eaLnBrk="1" latinLnBrk="1" hangingPunct="1"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81">
          <p15:clr>
            <a:srgbClr val="A4A3A4"/>
          </p15:clr>
        </p15:guide>
        <p15:guide id="2" orient="horz" pos="1830">
          <p15:clr>
            <a:srgbClr val="A4A3A4"/>
          </p15:clr>
        </p15:guide>
        <p15:guide id="3" orient="horz" pos="2616">
          <p15:clr>
            <a:srgbClr val="A4A3A4"/>
          </p15:clr>
        </p15:guide>
        <p15:guide id="4" pos="3511">
          <p15:clr>
            <a:srgbClr val="A4A3A4"/>
          </p15:clr>
        </p15:guide>
        <p15:guide id="5" pos="335">
          <p15:clr>
            <a:srgbClr val="A4A3A4"/>
          </p15:clr>
        </p15:guide>
        <p15:guide id="6" pos="4447">
          <p15:clr>
            <a:srgbClr val="A4A3A4"/>
          </p15:clr>
        </p15:guide>
        <p15:guide id="7" pos="6067">
          <p15:clr>
            <a:srgbClr val="A4A3A4"/>
          </p15:clr>
        </p15:guide>
        <p15:guide id="8" pos="2269">
          <p15:clr>
            <a:srgbClr val="A4A3A4"/>
          </p15:clr>
        </p15:guide>
        <p15:guide id="9" pos="5805">
          <p15:clr>
            <a:srgbClr val="A4A3A4"/>
          </p15:clr>
        </p15:guide>
        <p15:guide id="10" pos="4069">
          <p15:clr>
            <a:srgbClr val="A4A3A4"/>
          </p15:clr>
        </p15:guide>
        <p15:guide id="11" pos="344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ulydA" initials="C" lastIdx="1" clrIdx="0">
    <p:extLst>
      <p:ext uri="{19B8F6BF-5375-455C-9EA6-DF929625EA0E}">
        <p15:presenceInfo xmlns:p15="http://schemas.microsoft.com/office/powerpoint/2012/main" userId="ChulydA" providerId="None"/>
      </p:ext>
    </p:extLst>
  </p:cmAuthor>
  <p:cmAuthor id="2" name="heesung lee" initials="hl" lastIdx="16" clrIdx="1">
    <p:extLst>
      <p:ext uri="{19B8F6BF-5375-455C-9EA6-DF929625EA0E}">
        <p15:presenceInfo xmlns:p15="http://schemas.microsoft.com/office/powerpoint/2012/main" userId="106ef8bdd38f3c94" providerId="Windows Live"/>
      </p:ext>
    </p:extLst>
  </p:cmAuthor>
  <p:cmAuthor id="3" name="10249 10249" initials="11" lastIdx="2" clrIdx="2">
    <p:extLst>
      <p:ext uri="{19B8F6BF-5375-455C-9EA6-DF929625EA0E}">
        <p15:presenceInfo xmlns:p15="http://schemas.microsoft.com/office/powerpoint/2012/main" userId="S::M10249@365e.me::2244da32-1411-4fa9-ae10-0967a5e09c9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404040"/>
    <a:srgbClr val="00B050"/>
    <a:srgbClr val="FFFF00"/>
    <a:srgbClr val="C00000"/>
    <a:srgbClr val="DCE6F2"/>
    <a:srgbClr val="596F8A"/>
    <a:srgbClr val="003965"/>
    <a:srgbClr val="C0504D"/>
    <a:srgbClr val="97A8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어두운 스타일 2 - 강조 3/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010" autoAdjust="0"/>
    <p:restoredTop sz="96391" autoAdjust="0"/>
  </p:normalViewPr>
  <p:slideViewPr>
    <p:cSldViewPr>
      <p:cViewPr varScale="1">
        <p:scale>
          <a:sx n="111" d="100"/>
          <a:sy n="111" d="100"/>
        </p:scale>
        <p:origin x="1962" y="114"/>
      </p:cViewPr>
      <p:guideLst>
        <p:guide orient="horz" pos="1281"/>
        <p:guide orient="horz" pos="1830"/>
        <p:guide orient="horz" pos="2616"/>
        <p:guide pos="3511"/>
        <p:guide pos="335"/>
        <p:guide pos="4447"/>
        <p:guide pos="6067"/>
        <p:guide pos="2269"/>
        <p:guide pos="5805"/>
        <p:guide pos="4069"/>
        <p:guide pos="34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2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t" anchorCtr="0" compatLnSpc="1">
            <a:prstTxWarp prst="textNoShape">
              <a:avLst/>
            </a:prstTxWarp>
          </a:bodyPr>
          <a:lstStyle>
            <a:lvl1pPr algn="l" defTabSz="904158" latinLnBrk="0">
              <a:defRPr kumimoji="0" sz="1200" b="0" smtClean="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나눔고딕" panose="020D0604000000000000" pitchFamily="50" charset="-127"/>
            </a:endParaRPr>
          </a:p>
        </p:txBody>
      </p:sp>
      <p:sp>
        <p:nvSpPr>
          <p:cNvPr id="3686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3262" y="2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t" anchorCtr="0" compatLnSpc="1">
            <a:prstTxWarp prst="textNoShape">
              <a:avLst/>
            </a:prstTxWarp>
          </a:bodyPr>
          <a:lstStyle>
            <a:lvl1pPr algn="r" defTabSz="904158" latinLnBrk="0">
              <a:defRPr kumimoji="0" sz="1200" b="0" smtClean="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나눔고딕" panose="020D0604000000000000" pitchFamily="50" charset="-127"/>
            </a:endParaRPr>
          </a:p>
        </p:txBody>
      </p:sp>
      <p:sp>
        <p:nvSpPr>
          <p:cNvPr id="3686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6456714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b" anchorCtr="0" compatLnSpc="1">
            <a:prstTxWarp prst="textNoShape">
              <a:avLst/>
            </a:prstTxWarp>
          </a:bodyPr>
          <a:lstStyle>
            <a:lvl1pPr algn="l" defTabSz="904158" latinLnBrk="0">
              <a:defRPr kumimoji="0" sz="1200" b="0" smtClean="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나눔고딕" panose="020D0604000000000000" pitchFamily="50" charset="-127"/>
            </a:endParaRPr>
          </a:p>
        </p:txBody>
      </p:sp>
      <p:sp>
        <p:nvSpPr>
          <p:cNvPr id="3686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3262" y="6456714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b" anchorCtr="0" compatLnSpc="1">
            <a:prstTxWarp prst="textNoShape">
              <a:avLst/>
            </a:prstTxWarp>
          </a:bodyPr>
          <a:lstStyle>
            <a:lvl1pPr algn="r" defTabSz="904158" latinLnBrk="0">
              <a:defRPr kumimoji="0" sz="1200" b="0" smtClean="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fld id="{958A078C-E9DF-4D7D-AA65-6B185DB752DA}" type="slidenum">
              <a:rPr lang="ko-KR" altLang="en-US">
                <a:latin typeface="나눔고딕" panose="020D0604000000000000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68710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2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t" anchorCtr="0" compatLnSpc="1">
            <a:prstTxWarp prst="textNoShape">
              <a:avLst/>
            </a:prstTxWarp>
          </a:bodyPr>
          <a:lstStyle>
            <a:lvl1pPr algn="l" defTabSz="904158" latinLnBrk="0">
              <a:defRPr kumimoji="0" sz="1200" b="0" smtClean="0">
                <a:solidFill>
                  <a:schemeClr val="tx1"/>
                </a:solidFill>
                <a:latin typeface="나눔고딕" panose="020D0604000000000000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3262" y="2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t" anchorCtr="0" compatLnSpc="1">
            <a:prstTxWarp prst="textNoShape">
              <a:avLst/>
            </a:prstTxWarp>
          </a:bodyPr>
          <a:lstStyle>
            <a:lvl1pPr algn="r" defTabSz="904158" latinLnBrk="0">
              <a:defRPr kumimoji="0" sz="1200" b="0" smtClean="0">
                <a:solidFill>
                  <a:schemeClr val="tx1"/>
                </a:solidFill>
                <a:latin typeface="나눔고딕" panose="020D0604000000000000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792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124200" y="509588"/>
            <a:ext cx="3679825" cy="25479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499" y="3228357"/>
            <a:ext cx="7937644" cy="3060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 dirty="0"/>
              <a:t>Click to edit Master text styles</a:t>
            </a:r>
          </a:p>
          <a:p>
            <a:pPr lvl="1"/>
            <a:r>
              <a:rPr lang="en-US" altLang="ko-KR" noProof="0" dirty="0"/>
              <a:t>Second level</a:t>
            </a:r>
          </a:p>
          <a:p>
            <a:pPr lvl="2"/>
            <a:r>
              <a:rPr lang="en-US" altLang="ko-KR" noProof="0" dirty="0"/>
              <a:t>Third level</a:t>
            </a:r>
          </a:p>
          <a:p>
            <a:pPr lvl="3"/>
            <a:r>
              <a:rPr lang="en-US" altLang="ko-KR" noProof="0" dirty="0"/>
              <a:t>Fourth level</a:t>
            </a:r>
          </a:p>
          <a:p>
            <a:pPr lvl="4"/>
            <a:r>
              <a:rPr lang="en-US" altLang="ko-KR" noProof="0" dirty="0"/>
              <a:t>Fifth level</a:t>
            </a:r>
          </a:p>
        </p:txBody>
      </p:sp>
      <p:sp>
        <p:nvSpPr>
          <p:cNvPr id="675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6456714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b" anchorCtr="0" compatLnSpc="1">
            <a:prstTxWarp prst="textNoShape">
              <a:avLst/>
            </a:prstTxWarp>
          </a:bodyPr>
          <a:lstStyle>
            <a:lvl1pPr algn="l" defTabSz="904158" latinLnBrk="0">
              <a:defRPr kumimoji="0" sz="1200" b="0" smtClean="0">
                <a:solidFill>
                  <a:schemeClr val="tx1"/>
                </a:solidFill>
                <a:latin typeface="나눔고딕" panose="020D0604000000000000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75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3262" y="6456714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b" anchorCtr="0" compatLnSpc="1">
            <a:prstTxWarp prst="textNoShape">
              <a:avLst/>
            </a:prstTxWarp>
          </a:bodyPr>
          <a:lstStyle>
            <a:lvl1pPr algn="r" defTabSz="904158" latinLnBrk="0">
              <a:defRPr kumimoji="0" sz="1200" b="0" smtClean="0">
                <a:solidFill>
                  <a:schemeClr val="tx1"/>
                </a:solidFill>
                <a:latin typeface="나눔고딕" panose="020D0604000000000000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E1EB2694-E1AF-4855-92FC-08368CF64987}" type="slidenum">
              <a:rPr lang="ko-KR" altLang="en-US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095569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1pPr>
    <a:lvl2pPr marL="54864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2pPr>
    <a:lvl3pPr marL="109728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3pPr>
    <a:lvl4pPr marL="164592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4pPr>
    <a:lvl5pPr marL="219456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5pPr>
    <a:lvl6pPr marL="2743200" algn="l" defTabSz="1097280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124200" y="509588"/>
            <a:ext cx="3679825" cy="254793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1EB2694-E1AF-4855-92FC-08368CF64987}" type="slidenum">
              <a:rPr lang="ko-KR" altLang="en-US" smtClean="0"/>
              <a:pPr>
                <a:defRPr/>
              </a:pPr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51781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099">
            <a:extLst>
              <a:ext uri="{FF2B5EF4-FFF2-40B4-BE49-F238E27FC236}">
                <a16:creationId xmlns:a16="http://schemas.microsoft.com/office/drawing/2014/main" id="{6F6EA833-4CCB-DDB7-25E2-F1E4EF28D16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36" y="6644475"/>
            <a:ext cx="989273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fld id="{3BD61D90-F798-4BAC-AFEE-3BFFDAD41B14}" type="slidenum">
              <a:rPr lang="en-US" altLang="ko-KR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 algn="ctr" eaLnBrk="1" hangingPunct="1">
                <a:spcBef>
                  <a:spcPct val="50000"/>
                </a:spcBef>
                <a:defRPr/>
              </a:pPr>
              <a:t>‹#›</a:t>
            </a:fld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-</a:t>
            </a:r>
          </a:p>
        </p:txBody>
      </p:sp>
      <p:pic>
        <p:nvPicPr>
          <p:cNvPr id="4" name="table">
            <a:extLst>
              <a:ext uri="{FF2B5EF4-FFF2-40B4-BE49-F238E27FC236}">
                <a16:creationId xmlns:a16="http://schemas.microsoft.com/office/drawing/2014/main" id="{795D1FFF-603E-488F-38AE-89B81130BE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3" y="-10086"/>
            <a:ext cx="9905433" cy="664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616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0732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842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99" r:id="rId1"/>
    <p:sldLayoutId id="2147484703" r:id="rId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53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5pPr>
      <a:lvl6pPr marL="548640" algn="ctr" rtl="0" fontAlgn="base" latinLnBrk="1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6pPr>
      <a:lvl7pPr marL="1097280" algn="ctr" rtl="0" fontAlgn="base" latinLnBrk="1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7pPr>
      <a:lvl8pPr marL="1645920" algn="ctr" rtl="0" fontAlgn="base" latinLnBrk="1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8pPr>
      <a:lvl9pPr marL="2194560" algn="ctr" rtl="0" fontAlgn="base" latinLnBrk="1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9pPr>
    </p:titleStyle>
    <p:bodyStyle>
      <a:lvl1pPr marL="411480" indent="-41148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1pPr>
      <a:lvl2pPr marL="89154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34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135">
            <a:extLst>
              <a:ext uri="{FF2B5EF4-FFF2-40B4-BE49-F238E27FC236}">
                <a16:creationId xmlns:a16="http://schemas.microsoft.com/office/drawing/2014/main" id="{D0EE3C01-C659-42AF-B0F2-154A453489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6593908"/>
              </p:ext>
            </p:extLst>
          </p:nvPr>
        </p:nvGraphicFramePr>
        <p:xfrm>
          <a:off x="896550" y="5060591"/>
          <a:ext cx="8071982" cy="1068709"/>
        </p:xfrm>
        <a:graphic>
          <a:graphicData uri="http://schemas.openxmlformats.org/drawingml/2006/table">
            <a:tbl>
              <a:tblPr/>
              <a:tblGrid>
                <a:gridCol w="17521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3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5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13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 성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  희  성</a:t>
                      </a: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2026. 6. 10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6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검 토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2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승 인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제목 6">
            <a:extLst>
              <a:ext uri="{FF2B5EF4-FFF2-40B4-BE49-F238E27FC236}">
                <a16:creationId xmlns:a16="http://schemas.microsoft.com/office/drawing/2014/main" id="{5586BA84-0607-EFC8-2890-2A14340D8C01}"/>
              </a:ext>
            </a:extLst>
          </p:cNvPr>
          <p:cNvSpPr>
            <a:spLocks noGrp="1"/>
          </p:cNvSpPr>
          <p:nvPr/>
        </p:nvSpPr>
        <p:spPr bwMode="auto">
          <a:xfrm>
            <a:off x="2576736" y="1198979"/>
            <a:ext cx="6401707" cy="7088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 eaLnBrk="1" fontAlgn="auto" hangingPunct="1">
              <a:spcAft>
                <a:spcPts val="0"/>
              </a:spcAft>
              <a:defRPr/>
            </a:pPr>
            <a:r>
              <a:rPr lang="ko-KR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화면설계서</a:t>
            </a:r>
            <a:r>
              <a:rPr lang="en-US" altLang="ko-KR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제목 6">
            <a:extLst>
              <a:ext uri="{FF2B5EF4-FFF2-40B4-BE49-F238E27FC236}">
                <a16:creationId xmlns:a16="http://schemas.microsoft.com/office/drawing/2014/main" id="{EA83B9F2-E3C0-B884-4551-ECFDC8AD04B1}"/>
              </a:ext>
            </a:extLst>
          </p:cNvPr>
          <p:cNvSpPr txBox="1">
            <a:spLocks/>
          </p:cNvSpPr>
          <p:nvPr/>
        </p:nvSpPr>
        <p:spPr bwMode="auto">
          <a:xfrm>
            <a:off x="3120491" y="1914815"/>
            <a:ext cx="5857953" cy="5158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lvl="0" algn="r" fontAlgn="auto" latinLnBrk="0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04. 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견적관리 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5" name="Group 134">
            <a:extLst>
              <a:ext uri="{FF2B5EF4-FFF2-40B4-BE49-F238E27FC236}">
                <a16:creationId xmlns:a16="http://schemas.microsoft.com/office/drawing/2014/main" id="{21DC28CE-9A0A-8D52-E0A2-BBFE4CAB1F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2653431"/>
              </p:ext>
            </p:extLst>
          </p:nvPr>
        </p:nvGraphicFramePr>
        <p:xfrm>
          <a:off x="884548" y="4196495"/>
          <a:ext cx="8083984" cy="623413"/>
        </p:xfrm>
        <a:graphic>
          <a:graphicData uri="http://schemas.openxmlformats.org/drawingml/2006/table">
            <a:tbl>
              <a:tblPr/>
              <a:tblGrid>
                <a:gridCol w="1767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16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문서번호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KEPCOES-DE-004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프로젝트명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켑코이에스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전산시스템</a:t>
                      </a: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(PMS·SRM) 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재구축 용역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487365A5-672A-A325-330C-5A5147263190}"/>
              </a:ext>
            </a:extLst>
          </p:cNvPr>
          <p:cNvSpPr>
            <a:spLocks noGrp="1"/>
          </p:cNvSpPr>
          <p:nvPr/>
        </p:nvSpPr>
        <p:spPr bwMode="auto">
          <a:xfrm>
            <a:off x="2590081" y="768744"/>
            <a:ext cx="6388363" cy="247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 eaLnBrk="1" fontAlgn="auto" hangingPunct="1">
              <a:spcAft>
                <a:spcPts val="0"/>
              </a:spcAft>
              <a:defRPr/>
            </a:pPr>
            <a:endParaRPr lang="ko-KR" altLang="en-US" sz="15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D8D9BF40-3AAA-996A-98C9-15586676F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468" y="116632"/>
            <a:ext cx="1843484" cy="432048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58381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4B9AB45-3769-E1A9-6FDE-3F74DDE83B0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49224" y="25608"/>
            <a:ext cx="95410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메뉴구조도(SRM)</a:t>
            </a:r>
          </a:p>
        </p:txBody>
      </p:sp>
      <p:sp>
        <p:nvSpPr>
          <p:cNvPr id="3" name="Rectangle 32">
            <a:extLst>
              <a:ext uri="{FF2B5EF4-FFF2-40B4-BE49-F238E27FC236}">
                <a16:creationId xmlns:a16="http://schemas.microsoft.com/office/drawing/2014/main" id="{A88DECC5-3C2E-3094-A449-440B9AD79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6711"/>
            <a:ext cx="9906000" cy="6383897"/>
          </a:xfrm>
          <a:prstGeom prst="rect">
            <a:avLst/>
          </a:prstGeom>
          <a:solidFill>
            <a:schemeClr val="bg1"/>
          </a:solidFill>
          <a:ln w="3175" algn="ctr">
            <a:noFill/>
            <a:prstDash val="sysDash"/>
            <a:miter lim="800000"/>
            <a:headEnd/>
            <a:tailEnd/>
          </a:ln>
        </p:spPr>
        <p:txBody>
          <a:bodyPr wrap="none" tIns="108000" bIns="108000" anchor="b" anchorCtr="0"/>
          <a:lstStyle/>
          <a:p>
            <a:pPr algn="ctr"/>
            <a:endParaRPr lang="ko-KR" altLang="en-US" sz="1000" b="1" dirty="0">
              <a:solidFill>
                <a:prstClr val="black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" name="사각형: 둥근 모서리 107">
            <a:extLst>
              <a:ext uri="{FF2B5EF4-FFF2-40B4-BE49-F238E27FC236}">
                <a16:creationId xmlns:a16="http://schemas.microsoft.com/office/drawing/2014/main" id="{2756106C-5B0B-DBE9-7C86-3247285D0191}"/>
              </a:ext>
            </a:extLst>
          </p:cNvPr>
          <p:cNvSpPr/>
          <p:nvPr/>
        </p:nvSpPr>
        <p:spPr bwMode="auto">
          <a:xfrm>
            <a:off x="3992766" y="492348"/>
            <a:ext cx="1920468" cy="345789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36000" rIns="9144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i="0" u="none" strike="noStrike" kern="1200" cap="none" spc="-5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전자입찰시스템</a:t>
            </a:r>
            <a:r>
              <a:rPr kumimoji="1" lang="en-US" altLang="ko-KR" sz="1000" b="1" i="0" u="none" strike="noStrike" kern="1200" cap="none" spc="-5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(SRM)</a:t>
            </a:r>
            <a:endParaRPr kumimoji="1" lang="ko-KR" altLang="en-US" sz="1000" b="1" i="0" u="none" strike="noStrike" kern="1200" cap="none" spc="-5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cxnSp>
        <p:nvCxnSpPr>
          <p:cNvPr id="7" name="연결선: 꺾임 145">
            <a:extLst>
              <a:ext uri="{FF2B5EF4-FFF2-40B4-BE49-F238E27FC236}">
                <a16:creationId xmlns:a16="http://schemas.microsoft.com/office/drawing/2014/main" id="{055B4038-FB00-BB2D-29E7-CB39AA30581E}"/>
              </a:ext>
            </a:extLst>
          </p:cNvPr>
          <p:cNvCxnSpPr>
            <a:cxnSpLocks/>
            <a:stCxn id="5" idx="2"/>
            <a:endCxn id="95" idx="0"/>
          </p:cNvCxnSpPr>
          <p:nvPr/>
        </p:nvCxnSpPr>
        <p:spPr bwMode="auto">
          <a:xfrm rot="5400000">
            <a:off x="4409069" y="575186"/>
            <a:ext cx="280981" cy="806883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연결선: 꺾임 55">
            <a:extLst>
              <a:ext uri="{FF2B5EF4-FFF2-40B4-BE49-F238E27FC236}">
                <a16:creationId xmlns:a16="http://schemas.microsoft.com/office/drawing/2014/main" id="{61E1272A-265F-F840-4E25-03555EF7D500}"/>
              </a:ext>
            </a:extLst>
          </p:cNvPr>
          <p:cNvCxnSpPr>
            <a:cxnSpLocks/>
            <a:stCxn id="5" idx="2"/>
            <a:endCxn id="120" idx="0"/>
          </p:cNvCxnSpPr>
          <p:nvPr/>
        </p:nvCxnSpPr>
        <p:spPr bwMode="auto">
          <a:xfrm rot="16200000" flipH="1">
            <a:off x="6034311" y="-243175"/>
            <a:ext cx="280981" cy="2443603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연결선: 꺾임 64">
            <a:extLst>
              <a:ext uri="{FF2B5EF4-FFF2-40B4-BE49-F238E27FC236}">
                <a16:creationId xmlns:a16="http://schemas.microsoft.com/office/drawing/2014/main" id="{9575E0FF-0D0C-8123-2CA2-67305D09EFE1}"/>
              </a:ext>
            </a:extLst>
          </p:cNvPr>
          <p:cNvCxnSpPr>
            <a:cxnSpLocks/>
            <a:stCxn id="5" idx="2"/>
            <a:endCxn id="146" idx="0"/>
          </p:cNvCxnSpPr>
          <p:nvPr/>
        </p:nvCxnSpPr>
        <p:spPr bwMode="auto">
          <a:xfrm rot="16200000" flipH="1">
            <a:off x="6846933" y="-1055797"/>
            <a:ext cx="280981" cy="4068847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연결선: 꺾임 145">
            <a:extLst>
              <a:ext uri="{FF2B5EF4-FFF2-40B4-BE49-F238E27FC236}">
                <a16:creationId xmlns:a16="http://schemas.microsoft.com/office/drawing/2014/main" id="{68A3D591-143A-A287-49A2-D247E0FC4B9A}"/>
              </a:ext>
            </a:extLst>
          </p:cNvPr>
          <p:cNvCxnSpPr>
            <a:cxnSpLocks/>
            <a:stCxn id="5" idx="2"/>
            <a:endCxn id="87" idx="0"/>
          </p:cNvCxnSpPr>
          <p:nvPr/>
        </p:nvCxnSpPr>
        <p:spPr bwMode="auto">
          <a:xfrm rot="5400000">
            <a:off x="3596447" y="-237436"/>
            <a:ext cx="280981" cy="2432126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연결선: 꺾임 145">
            <a:extLst>
              <a:ext uri="{FF2B5EF4-FFF2-40B4-BE49-F238E27FC236}">
                <a16:creationId xmlns:a16="http://schemas.microsoft.com/office/drawing/2014/main" id="{A034744A-7FB4-89EA-9A03-77A446DA239E}"/>
              </a:ext>
            </a:extLst>
          </p:cNvPr>
          <p:cNvCxnSpPr>
            <a:cxnSpLocks/>
            <a:stCxn id="5" idx="2"/>
            <a:endCxn id="19" idx="0"/>
          </p:cNvCxnSpPr>
          <p:nvPr/>
        </p:nvCxnSpPr>
        <p:spPr bwMode="auto">
          <a:xfrm rot="5400000">
            <a:off x="2783826" y="-1050057"/>
            <a:ext cx="280981" cy="4057369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연결선: 꺾임 145">
            <a:extLst>
              <a:ext uri="{FF2B5EF4-FFF2-40B4-BE49-F238E27FC236}">
                <a16:creationId xmlns:a16="http://schemas.microsoft.com/office/drawing/2014/main" id="{5CE08FB6-4C52-2234-18BB-7BBE70621FC4}"/>
              </a:ext>
            </a:extLst>
          </p:cNvPr>
          <p:cNvCxnSpPr>
            <a:cxnSpLocks/>
            <a:stCxn id="5" idx="2"/>
            <a:endCxn id="103" idx="0"/>
          </p:cNvCxnSpPr>
          <p:nvPr/>
        </p:nvCxnSpPr>
        <p:spPr bwMode="auto">
          <a:xfrm rot="16200000" flipH="1">
            <a:off x="5221690" y="569447"/>
            <a:ext cx="280981" cy="818360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5031B6B-3138-9606-4556-72B8D9A3EFD9}"/>
              </a:ext>
            </a:extLst>
          </p:cNvPr>
          <p:cNvSpPr/>
          <p:nvPr/>
        </p:nvSpPr>
        <p:spPr>
          <a:xfrm>
            <a:off x="131466" y="1119118"/>
            <a:ext cx="1528329" cy="307303"/>
          </a:xfrm>
          <a:prstGeom prst="rect">
            <a:avLst/>
          </a:prstGeom>
          <a:solidFill>
            <a:srgbClr val="00B05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r>
              <a:rPr kumimoji="0" lang="en-US" altLang="ko-KR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전</a:t>
            </a:r>
            <a:r>
              <a:rPr kumimoji="0" lang="en-US" altLang="ko-KR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355CEA5E-44EC-9B4C-CBF2-F282986821A5}"/>
              </a:ext>
            </a:extLst>
          </p:cNvPr>
          <p:cNvSpPr/>
          <p:nvPr/>
        </p:nvSpPr>
        <p:spPr>
          <a:xfrm>
            <a:off x="127630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신청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ECE74225-2ADC-D85A-D8EC-DE91BDDB1B8A}"/>
              </a:ext>
            </a:extLst>
          </p:cNvPr>
          <p:cNvSpPr/>
          <p:nvPr/>
        </p:nvSpPr>
        <p:spPr>
          <a:xfrm>
            <a:off x="127630" y="1752720"/>
            <a:ext cx="1529252" cy="135728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Step#1 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약관 및 개인정보 수집 동의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Step#2 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기본 정보 입력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Step#3 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담당자 정보 입력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Step#4 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신청 정보 확인 및 제출 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Step#5 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협력업체 신청 완료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014F6B96-E775-D9A7-EA91-08EC3A32EC6E}"/>
              </a:ext>
            </a:extLst>
          </p:cNvPr>
          <p:cNvSpPr/>
          <p:nvPr/>
        </p:nvSpPr>
        <p:spPr>
          <a:xfrm>
            <a:off x="127630" y="3172738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아이디 찾기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A9921989-4B1D-CEEB-F694-E3DBDC758B0E}"/>
              </a:ext>
            </a:extLst>
          </p:cNvPr>
          <p:cNvSpPr/>
          <p:nvPr/>
        </p:nvSpPr>
        <p:spPr>
          <a:xfrm>
            <a:off x="127630" y="348340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비밀번호 찾기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D7A3A18D-BBC4-326F-4F31-9B5CD06D0993}"/>
              </a:ext>
            </a:extLst>
          </p:cNvPr>
          <p:cNvSpPr/>
          <p:nvPr/>
        </p:nvSpPr>
        <p:spPr>
          <a:xfrm>
            <a:off x="127630" y="3794080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3A9A84AB-E38C-E88E-BD5D-FA4B7A6AA513}"/>
              </a:ext>
            </a:extLst>
          </p:cNvPr>
          <p:cNvSpPr/>
          <p:nvPr/>
        </p:nvSpPr>
        <p:spPr>
          <a:xfrm>
            <a:off x="127630" y="4104751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이용 매뉴얼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739AC54A-4603-1A06-B470-F5CE35B93081}"/>
              </a:ext>
            </a:extLst>
          </p:cNvPr>
          <p:cNvSpPr/>
          <p:nvPr/>
        </p:nvSpPr>
        <p:spPr>
          <a:xfrm>
            <a:off x="1756709" y="1119118"/>
            <a:ext cx="1528329" cy="307303"/>
          </a:xfrm>
          <a:prstGeom prst="rect">
            <a:avLst/>
          </a:prstGeom>
          <a:solidFill>
            <a:srgbClr val="00B05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r>
              <a:rPr kumimoji="0" lang="en-US" altLang="ko-KR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후</a:t>
            </a:r>
            <a:r>
              <a:rPr kumimoji="0" lang="en-US" altLang="ko-KR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1D1F3630-EED3-9948-BDC0-83051E91F895}"/>
              </a:ext>
            </a:extLst>
          </p:cNvPr>
          <p:cNvSpPr/>
          <p:nvPr/>
        </p:nvSpPr>
        <p:spPr>
          <a:xfrm>
            <a:off x="1752873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1A725966-D3AC-ED98-1744-D5B07887B1F1}"/>
              </a:ext>
            </a:extLst>
          </p:cNvPr>
          <p:cNvSpPr/>
          <p:nvPr/>
        </p:nvSpPr>
        <p:spPr>
          <a:xfrm>
            <a:off x="1752873" y="304737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3417B091-2877-C651-F82B-9AB10534A006}"/>
              </a:ext>
            </a:extLst>
          </p:cNvPr>
          <p:cNvSpPr/>
          <p:nvPr/>
        </p:nvSpPr>
        <p:spPr>
          <a:xfrm>
            <a:off x="1752873" y="5226932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정보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11C47DCA-0266-33B0-A559-21AA9E3FDAA2}"/>
              </a:ext>
            </a:extLst>
          </p:cNvPr>
          <p:cNvSpPr/>
          <p:nvPr/>
        </p:nvSpPr>
        <p:spPr>
          <a:xfrm>
            <a:off x="3381952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 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E4A7083E-BF4B-F446-EBE7-B899895ECDB9}"/>
              </a:ext>
            </a:extLst>
          </p:cNvPr>
          <p:cNvSpPr/>
          <p:nvPr/>
        </p:nvSpPr>
        <p:spPr>
          <a:xfrm>
            <a:off x="3378116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1D228922-9D76-9C43-A75D-90F2B3ED8E45}"/>
              </a:ext>
            </a:extLst>
          </p:cNvPr>
          <p:cNvSpPr/>
          <p:nvPr/>
        </p:nvSpPr>
        <p:spPr>
          <a:xfrm>
            <a:off x="5007195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 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CF2EA9CB-6E24-E53F-E5A6-C94809CB3D2C}"/>
              </a:ext>
            </a:extLst>
          </p:cNvPr>
          <p:cNvSpPr/>
          <p:nvPr/>
        </p:nvSpPr>
        <p:spPr>
          <a:xfrm>
            <a:off x="5003359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DE8FBC8F-623F-FFE5-65E3-A25E8E96ED59}"/>
              </a:ext>
            </a:extLst>
          </p:cNvPr>
          <p:cNvSpPr/>
          <p:nvPr/>
        </p:nvSpPr>
        <p:spPr>
          <a:xfrm>
            <a:off x="5003359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441233F4-F260-522C-0AA4-9C626EAEB198}"/>
              </a:ext>
            </a:extLst>
          </p:cNvPr>
          <p:cNvSpPr/>
          <p:nvPr/>
        </p:nvSpPr>
        <p:spPr>
          <a:xfrm>
            <a:off x="6632438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52691882-9F04-AAF6-027E-2875611F6CD3}"/>
              </a:ext>
            </a:extLst>
          </p:cNvPr>
          <p:cNvSpPr/>
          <p:nvPr/>
        </p:nvSpPr>
        <p:spPr>
          <a:xfrm>
            <a:off x="8257682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112DC2C2-E43C-3766-CB42-FA1259397C91}"/>
              </a:ext>
            </a:extLst>
          </p:cNvPr>
          <p:cNvSpPr/>
          <p:nvPr/>
        </p:nvSpPr>
        <p:spPr>
          <a:xfrm>
            <a:off x="1752873" y="180539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830CFC53-CFBF-4247-9FDC-CDDBDE6092A6}"/>
              </a:ext>
            </a:extLst>
          </p:cNvPr>
          <p:cNvSpPr/>
          <p:nvPr/>
        </p:nvSpPr>
        <p:spPr>
          <a:xfrm>
            <a:off x="1752873" y="211606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17D7D566-4D8F-3660-682E-B2E27CA62F20}"/>
              </a:ext>
            </a:extLst>
          </p:cNvPr>
          <p:cNvSpPr/>
          <p:nvPr/>
        </p:nvSpPr>
        <p:spPr>
          <a:xfrm>
            <a:off x="1752873" y="2426736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D5365FA3-56EC-7C58-22E2-1979348C1B97}"/>
              </a:ext>
            </a:extLst>
          </p:cNvPr>
          <p:cNvSpPr/>
          <p:nvPr/>
        </p:nvSpPr>
        <p:spPr>
          <a:xfrm>
            <a:off x="1752873" y="2737407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E860D680-4B09-482D-4A6E-1C803CFA44A5}"/>
              </a:ext>
            </a:extLst>
          </p:cNvPr>
          <p:cNvSpPr/>
          <p:nvPr/>
        </p:nvSpPr>
        <p:spPr>
          <a:xfrm>
            <a:off x="1748146" y="3298876"/>
            <a:ext cx="1529252" cy="47946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공고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견적 제출 현황</a:t>
            </a: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D2D1ED4E-E5E8-961F-16DB-A0639EBB2950}"/>
              </a:ext>
            </a:extLst>
          </p:cNvPr>
          <p:cNvSpPr/>
          <p:nvPr/>
        </p:nvSpPr>
        <p:spPr>
          <a:xfrm>
            <a:off x="1752873" y="3835263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4245DF07-F90F-F9AE-165D-E01F074E18A7}"/>
              </a:ext>
            </a:extLst>
          </p:cNvPr>
          <p:cNvSpPr/>
          <p:nvPr/>
        </p:nvSpPr>
        <p:spPr>
          <a:xfrm>
            <a:off x="1748146" y="4087538"/>
            <a:ext cx="1529252" cy="108247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입찰공고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 서류 제출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가격 </a:t>
            </a:r>
            <a:r>
              <a:rPr kumimoji="0" lang="ko-KR" altLang="en-US" sz="900" b="0" i="0" u="none" strike="noStrike" kern="0" cap="none" spc="-50" normalizeH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투찰</a:t>
            </a:r>
            <a:endParaRPr kumimoji="0" lang="ko-KR" altLang="en-US" sz="900" b="0" i="0" u="none" strike="noStrike" kern="0" cap="none" spc="-50" normalizeH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 결과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수의시담</a:t>
            </a:r>
            <a:endParaRPr kumimoji="0" lang="ko-KR" altLang="en-US" sz="900" b="0" i="0" u="none" strike="noStrike" kern="0" cap="none" spc="-50" normalizeH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6B371C43-7645-8F36-DB9B-858941ECB04D}"/>
              </a:ext>
            </a:extLst>
          </p:cNvPr>
          <p:cNvSpPr/>
          <p:nvPr/>
        </p:nvSpPr>
        <p:spPr>
          <a:xfrm>
            <a:off x="1748146" y="5478634"/>
            <a:ext cx="1529252" cy="89706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협력업체 정보 확인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기본 정보 수정 요청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담당자 정보 추가</a:t>
            </a: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/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수정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비밀번호 변경 </a:t>
            </a:r>
          </a:p>
        </p:txBody>
      </p: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3F95A057-C9BA-CA97-1281-8B6D7A02DB0F}"/>
              </a:ext>
            </a:extLst>
          </p:cNvPr>
          <p:cNvSpPr/>
          <p:nvPr/>
        </p:nvSpPr>
        <p:spPr>
          <a:xfrm>
            <a:off x="3378116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D4C62549-217A-BAC2-E336-61018857F975}"/>
              </a:ext>
            </a:extLst>
          </p:cNvPr>
          <p:cNvSpPr/>
          <p:nvPr/>
        </p:nvSpPr>
        <p:spPr>
          <a:xfrm>
            <a:off x="3378116" y="2113950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9B25D357-AF3A-B49F-C5A2-C2FACBFBEA76}"/>
              </a:ext>
            </a:extLst>
          </p:cNvPr>
          <p:cNvSpPr/>
          <p:nvPr/>
        </p:nvSpPr>
        <p:spPr>
          <a:xfrm>
            <a:off x="5007258" y="2051768"/>
            <a:ext cx="1529252" cy="47946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lvl="0" indent="-72000" algn="l" fontAlgn="auto" latinLnBrk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kumimoji="0" lang="ko-KR" altLang="en-US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요청 내역</a:t>
            </a:r>
            <a:endParaRPr kumimoji="0" lang="en-US" altLang="ko-KR" sz="900" b="0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lvl="0" indent="-72000" algn="l" fontAlgn="auto" latinLnBrk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kumimoji="0" lang="ko-KR" altLang="en-US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 현황</a:t>
            </a:r>
            <a:endParaRPr kumimoji="0" lang="ko-KR" altLang="en-US" sz="900" b="0" i="0" u="none" strike="noStrike" kern="0" cap="none" spc="-50" normalizeH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A62B9392-E5D6-E416-8709-B2166C5E1489}"/>
              </a:ext>
            </a:extLst>
          </p:cNvPr>
          <p:cNvSpPr/>
          <p:nvPr/>
        </p:nvSpPr>
        <p:spPr>
          <a:xfrm>
            <a:off x="6634000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E9EDD3AC-F2A8-4B60-25A4-3F90A97B4728}"/>
              </a:ext>
            </a:extLst>
          </p:cNvPr>
          <p:cNvSpPr/>
          <p:nvPr/>
        </p:nvSpPr>
        <p:spPr>
          <a:xfrm>
            <a:off x="6634000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99096261-758C-262E-CB8F-39B4ED0BDDEC}"/>
              </a:ext>
            </a:extLst>
          </p:cNvPr>
          <p:cNvSpPr/>
          <p:nvPr/>
        </p:nvSpPr>
        <p:spPr>
          <a:xfrm>
            <a:off x="8257682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 접수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5" name="직사각형 184">
            <a:extLst>
              <a:ext uri="{FF2B5EF4-FFF2-40B4-BE49-F238E27FC236}">
                <a16:creationId xmlns:a16="http://schemas.microsoft.com/office/drawing/2014/main" id="{6F3A8D0B-D007-7D31-A6AD-FF7401B42457}"/>
              </a:ext>
            </a:extLst>
          </p:cNvPr>
          <p:cNvSpPr/>
          <p:nvPr/>
        </p:nvSpPr>
        <p:spPr>
          <a:xfrm>
            <a:off x="8257682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등록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1DA8AF7-5C30-3C3D-24C9-CABD68E2C1F2}"/>
              </a:ext>
            </a:extLst>
          </p:cNvPr>
          <p:cNvSpPr/>
          <p:nvPr/>
        </p:nvSpPr>
        <p:spPr>
          <a:xfrm>
            <a:off x="4994593" y="1119117"/>
            <a:ext cx="1530610" cy="1412117"/>
          </a:xfrm>
          <a:prstGeom prst="rect">
            <a:avLst/>
          </a:prstGeom>
          <a:solidFill>
            <a:srgbClr val="FFFF00">
              <a:alpha val="10196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0167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91B9B-3627-4660-FD69-DDDF952EC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2DF35F6-D7C4-26BA-8F05-0B9D9F02A3C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9922C1-7B88-800B-3F9E-D702306A7BB8}"/>
              </a:ext>
            </a:extLst>
          </p:cNvPr>
          <p:cNvSpPr txBox="1"/>
          <p:nvPr/>
        </p:nvSpPr>
        <p:spPr>
          <a:xfrm>
            <a:off x="749224" y="25608"/>
            <a:ext cx="95410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메뉴구조도(SRM)</a:t>
            </a:r>
          </a:p>
        </p:txBody>
      </p:sp>
      <p:sp>
        <p:nvSpPr>
          <p:cNvPr id="3" name="Rectangle 32">
            <a:extLst>
              <a:ext uri="{FF2B5EF4-FFF2-40B4-BE49-F238E27FC236}">
                <a16:creationId xmlns:a16="http://schemas.microsoft.com/office/drawing/2014/main" id="{908743FB-77BF-B659-D73D-DE3273D988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6711"/>
            <a:ext cx="9906000" cy="6383897"/>
          </a:xfrm>
          <a:prstGeom prst="rect">
            <a:avLst/>
          </a:prstGeom>
          <a:solidFill>
            <a:schemeClr val="bg1"/>
          </a:solidFill>
          <a:ln w="3175" algn="ctr">
            <a:noFill/>
            <a:prstDash val="sysDash"/>
            <a:miter lim="800000"/>
            <a:headEnd/>
            <a:tailEnd/>
          </a:ln>
        </p:spPr>
        <p:txBody>
          <a:bodyPr wrap="none" tIns="108000" bIns="108000" anchor="b" anchorCtr="0"/>
          <a:lstStyle/>
          <a:p>
            <a:pPr algn="ctr"/>
            <a:endParaRPr lang="ko-KR" altLang="en-US" sz="1000" b="1" dirty="0">
              <a:solidFill>
                <a:prstClr val="black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" name="사각형: 둥근 모서리 107">
            <a:extLst>
              <a:ext uri="{FF2B5EF4-FFF2-40B4-BE49-F238E27FC236}">
                <a16:creationId xmlns:a16="http://schemas.microsoft.com/office/drawing/2014/main" id="{9C2DEE79-B178-032F-08AE-6E8A55918EBC}"/>
              </a:ext>
            </a:extLst>
          </p:cNvPr>
          <p:cNvSpPr/>
          <p:nvPr/>
        </p:nvSpPr>
        <p:spPr bwMode="auto">
          <a:xfrm>
            <a:off x="3992766" y="492348"/>
            <a:ext cx="1920468" cy="345789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36000" rIns="9144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i="0" u="none" strike="noStrike" kern="1200" cap="none" spc="-5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전자입찰시스템</a:t>
            </a:r>
            <a:r>
              <a:rPr kumimoji="1" lang="en-US" altLang="ko-KR" sz="1000" b="1" i="0" u="none" strike="noStrike" kern="1200" cap="none" spc="-5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(SRM)</a:t>
            </a:r>
            <a:endParaRPr kumimoji="1" lang="ko-KR" altLang="en-US" sz="1000" b="1" i="0" u="none" strike="noStrike" kern="1200" cap="none" spc="-5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cxnSp>
        <p:nvCxnSpPr>
          <p:cNvPr id="7" name="연결선: 꺾임 145">
            <a:extLst>
              <a:ext uri="{FF2B5EF4-FFF2-40B4-BE49-F238E27FC236}">
                <a16:creationId xmlns:a16="http://schemas.microsoft.com/office/drawing/2014/main" id="{BC877F39-7E19-0FA3-CCE6-CE146D79456D}"/>
              </a:ext>
            </a:extLst>
          </p:cNvPr>
          <p:cNvCxnSpPr>
            <a:cxnSpLocks/>
            <a:stCxn id="5" idx="2"/>
            <a:endCxn id="95" idx="0"/>
          </p:cNvCxnSpPr>
          <p:nvPr/>
        </p:nvCxnSpPr>
        <p:spPr bwMode="auto">
          <a:xfrm rot="16200000" flipH="1">
            <a:off x="5221690" y="569446"/>
            <a:ext cx="280981" cy="818361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연결선: 꺾임 55">
            <a:extLst>
              <a:ext uri="{FF2B5EF4-FFF2-40B4-BE49-F238E27FC236}">
                <a16:creationId xmlns:a16="http://schemas.microsoft.com/office/drawing/2014/main" id="{0C0A0657-D42F-87FC-DBD8-11DC547D8997}"/>
              </a:ext>
            </a:extLst>
          </p:cNvPr>
          <p:cNvCxnSpPr>
            <a:cxnSpLocks/>
            <a:stCxn id="5" idx="2"/>
            <a:endCxn id="120" idx="0"/>
          </p:cNvCxnSpPr>
          <p:nvPr/>
        </p:nvCxnSpPr>
        <p:spPr bwMode="auto">
          <a:xfrm rot="16200000" flipH="1">
            <a:off x="6846933" y="-1055797"/>
            <a:ext cx="280981" cy="4068847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연결선: 꺾임 64">
            <a:extLst>
              <a:ext uri="{FF2B5EF4-FFF2-40B4-BE49-F238E27FC236}">
                <a16:creationId xmlns:a16="http://schemas.microsoft.com/office/drawing/2014/main" id="{83972492-5F8A-5CCF-7FE5-916E7ADF0F33}"/>
              </a:ext>
            </a:extLst>
          </p:cNvPr>
          <p:cNvCxnSpPr>
            <a:cxnSpLocks/>
            <a:stCxn id="5" idx="2"/>
          </p:cNvCxnSpPr>
          <p:nvPr/>
        </p:nvCxnSpPr>
        <p:spPr bwMode="auto">
          <a:xfrm rot="16200000" flipH="1">
            <a:off x="6846933" y="-1055797"/>
            <a:ext cx="280981" cy="4068847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연결선: 꺾임 145">
            <a:extLst>
              <a:ext uri="{FF2B5EF4-FFF2-40B4-BE49-F238E27FC236}">
                <a16:creationId xmlns:a16="http://schemas.microsoft.com/office/drawing/2014/main" id="{BF5E2CF1-F999-28CD-A7EF-155CC5267895}"/>
              </a:ext>
            </a:extLst>
          </p:cNvPr>
          <p:cNvCxnSpPr>
            <a:cxnSpLocks/>
            <a:stCxn id="5" idx="2"/>
            <a:endCxn id="87" idx="0"/>
          </p:cNvCxnSpPr>
          <p:nvPr/>
        </p:nvCxnSpPr>
        <p:spPr bwMode="auto">
          <a:xfrm rot="5400000">
            <a:off x="4409069" y="575186"/>
            <a:ext cx="280981" cy="806882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연결선: 꺾임 145">
            <a:extLst>
              <a:ext uri="{FF2B5EF4-FFF2-40B4-BE49-F238E27FC236}">
                <a16:creationId xmlns:a16="http://schemas.microsoft.com/office/drawing/2014/main" id="{94B53BDD-C2D3-BEB6-A792-688AC056B9B3}"/>
              </a:ext>
            </a:extLst>
          </p:cNvPr>
          <p:cNvCxnSpPr>
            <a:cxnSpLocks/>
            <a:stCxn id="5" idx="2"/>
            <a:endCxn id="19" idx="0"/>
          </p:cNvCxnSpPr>
          <p:nvPr/>
        </p:nvCxnSpPr>
        <p:spPr bwMode="auto">
          <a:xfrm rot="5400000">
            <a:off x="3596448" y="-237435"/>
            <a:ext cx="280981" cy="2432125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연결선: 꺾임 145">
            <a:extLst>
              <a:ext uri="{FF2B5EF4-FFF2-40B4-BE49-F238E27FC236}">
                <a16:creationId xmlns:a16="http://schemas.microsoft.com/office/drawing/2014/main" id="{A34176ED-DA58-3416-CDF4-6784E404A8A1}"/>
              </a:ext>
            </a:extLst>
          </p:cNvPr>
          <p:cNvCxnSpPr>
            <a:cxnSpLocks/>
            <a:stCxn id="5" idx="2"/>
            <a:endCxn id="103" idx="0"/>
          </p:cNvCxnSpPr>
          <p:nvPr/>
        </p:nvCxnSpPr>
        <p:spPr bwMode="auto">
          <a:xfrm rot="16200000" flipH="1">
            <a:off x="6034312" y="-243175"/>
            <a:ext cx="280981" cy="2443604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0E9D2ED-CC67-D056-DCF9-97303DEB50B0}"/>
              </a:ext>
            </a:extLst>
          </p:cNvPr>
          <p:cNvSpPr/>
          <p:nvPr/>
        </p:nvSpPr>
        <p:spPr>
          <a:xfrm>
            <a:off x="1756710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입찰관리 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CFED5BDF-1CA6-A1ED-480A-6DE8F9AC2586}"/>
              </a:ext>
            </a:extLst>
          </p:cNvPr>
          <p:cNvSpPr/>
          <p:nvPr/>
        </p:nvSpPr>
        <p:spPr>
          <a:xfrm>
            <a:off x="1752874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입찰계획 현황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B2F96BB8-AF77-1518-D341-D94009650B98}"/>
              </a:ext>
            </a:extLst>
          </p:cNvPr>
          <p:cNvSpPr/>
          <p:nvPr/>
        </p:nvSpPr>
        <p:spPr>
          <a:xfrm>
            <a:off x="1752874" y="180212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738BBF3F-CEF4-9113-67AD-859D7AFD446E}"/>
              </a:ext>
            </a:extLst>
          </p:cNvPr>
          <p:cNvSpPr/>
          <p:nvPr/>
        </p:nvSpPr>
        <p:spPr>
          <a:xfrm>
            <a:off x="3381953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 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2FDB5EA6-CA45-13A1-2C2F-9DBB401AE004}"/>
              </a:ext>
            </a:extLst>
          </p:cNvPr>
          <p:cNvSpPr/>
          <p:nvPr/>
        </p:nvSpPr>
        <p:spPr>
          <a:xfrm>
            <a:off x="3378117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86561C08-A936-2408-8EB7-68ABF9902C58}"/>
              </a:ext>
            </a:extLst>
          </p:cNvPr>
          <p:cNvSpPr/>
          <p:nvPr/>
        </p:nvSpPr>
        <p:spPr>
          <a:xfrm>
            <a:off x="5007196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관리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B333CA17-0085-AD13-4685-8DD256F57090}"/>
              </a:ext>
            </a:extLst>
          </p:cNvPr>
          <p:cNvSpPr/>
          <p:nvPr/>
        </p:nvSpPr>
        <p:spPr>
          <a:xfrm>
            <a:off x="5003360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신청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변경 요청 처리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7185E328-C7DE-E28D-BB30-A20978BE43C9}"/>
              </a:ext>
            </a:extLst>
          </p:cNvPr>
          <p:cNvSpPr/>
          <p:nvPr/>
        </p:nvSpPr>
        <p:spPr>
          <a:xfrm>
            <a:off x="6632439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기준 정보 관리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C627C1E7-FE4C-AA74-60CF-AF7C9647C81A}"/>
              </a:ext>
            </a:extLst>
          </p:cNvPr>
          <p:cNvSpPr/>
          <p:nvPr/>
        </p:nvSpPr>
        <p:spPr>
          <a:xfrm>
            <a:off x="8257682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공통관리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A8F2748B-474D-C57C-9C11-A5FC63F7B247}"/>
              </a:ext>
            </a:extLst>
          </p:cNvPr>
          <p:cNvSpPr/>
          <p:nvPr/>
        </p:nvSpPr>
        <p:spPr>
          <a:xfrm>
            <a:off x="3373390" y="1750318"/>
            <a:ext cx="1529252" cy="108247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계약 관련 서류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계약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발주계약 요청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발주계획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입찰계획 정보</a:t>
            </a:r>
          </a:p>
        </p:txBody>
      </p: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13BD4A2E-5817-A213-A41A-B1691C6BB497}"/>
              </a:ext>
            </a:extLst>
          </p:cNvPr>
          <p:cNvSpPr/>
          <p:nvPr/>
        </p:nvSpPr>
        <p:spPr>
          <a:xfrm>
            <a:off x="5003360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3E0B09CB-67F5-D08E-512E-F82836F702E3}"/>
              </a:ext>
            </a:extLst>
          </p:cNvPr>
          <p:cNvSpPr/>
          <p:nvPr/>
        </p:nvSpPr>
        <p:spPr>
          <a:xfrm>
            <a:off x="5003360" y="2113950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4B46B900-2336-6E72-624D-5811556726C5}"/>
              </a:ext>
            </a:extLst>
          </p:cNvPr>
          <p:cNvSpPr/>
          <p:nvPr/>
        </p:nvSpPr>
        <p:spPr>
          <a:xfrm>
            <a:off x="8259244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관리자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3609E92F-DCBC-A112-BF4F-82565D80584E}"/>
              </a:ext>
            </a:extLst>
          </p:cNvPr>
          <p:cNvSpPr/>
          <p:nvPr/>
        </p:nvSpPr>
        <p:spPr>
          <a:xfrm>
            <a:off x="8259244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권한그룹 및 메뉴별 권한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8A3BEAB-D241-F034-5691-2CF12180D83A}"/>
              </a:ext>
            </a:extLst>
          </p:cNvPr>
          <p:cNvSpPr/>
          <p:nvPr/>
        </p:nvSpPr>
        <p:spPr>
          <a:xfrm>
            <a:off x="1747476" y="2049414"/>
            <a:ext cx="1529252" cy="166761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발주계획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입찰계획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 참여 현황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심사</a:t>
            </a: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/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평가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개찰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낙찰</a:t>
            </a: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업체선정</a:t>
            </a: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수의시담</a:t>
            </a:r>
            <a:endParaRPr kumimoji="0" lang="ko-KR" altLang="en-US" sz="900" b="0" i="0" u="none" strike="noStrike" kern="0" cap="none" spc="-50" normalizeH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계약 요청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703EBA4-956D-5AE3-A6B9-85747EBC6D9F}"/>
              </a:ext>
            </a:extLst>
          </p:cNvPr>
          <p:cNvSpPr/>
          <p:nvPr/>
        </p:nvSpPr>
        <p:spPr>
          <a:xfrm>
            <a:off x="5010319" y="2366224"/>
            <a:ext cx="1529252" cy="47946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lvl="0" indent="-72000" algn="l" fontAlgn="auto" latinLnBrk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kumimoji="0" lang="ko-KR" altLang="en-US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조회</a:t>
            </a:r>
            <a:r>
              <a:rPr kumimoji="0" lang="en-US" altLang="ko-KR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kumimoji="0" lang="ko-KR" altLang="en-US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</a:t>
            </a:r>
          </a:p>
          <a:p>
            <a:pPr marL="72000" lvl="0" indent="-72000" algn="l" fontAlgn="auto" latinLnBrk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kumimoji="0" lang="ko-KR" altLang="en-US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체결 현황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19549DB-D877-F7EF-5818-5862E3E581F1}"/>
              </a:ext>
            </a:extLst>
          </p:cNvPr>
          <p:cNvSpPr/>
          <p:nvPr/>
        </p:nvSpPr>
        <p:spPr>
          <a:xfrm>
            <a:off x="5003360" y="2904087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EE37C29-BED2-2EA4-7B51-5E88FE454FEB}"/>
              </a:ext>
            </a:extLst>
          </p:cNvPr>
          <p:cNvSpPr/>
          <p:nvPr/>
        </p:nvSpPr>
        <p:spPr>
          <a:xfrm>
            <a:off x="6631302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품목관리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396F577-1681-F0B3-CB76-DF1713368F19}"/>
              </a:ext>
            </a:extLst>
          </p:cNvPr>
          <p:cNvSpPr/>
          <p:nvPr/>
        </p:nvSpPr>
        <p:spPr>
          <a:xfrm>
            <a:off x="6631302" y="304737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678AB96-F467-AD64-EA4C-59B911194A49}"/>
              </a:ext>
            </a:extLst>
          </p:cNvPr>
          <p:cNvSpPr/>
          <p:nvPr/>
        </p:nvSpPr>
        <p:spPr>
          <a:xfrm>
            <a:off x="6631302" y="180539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 err="1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소싱그룹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4D8FD29-559D-0A9B-4EFE-026617880984}"/>
              </a:ext>
            </a:extLst>
          </p:cNvPr>
          <p:cNvSpPr/>
          <p:nvPr/>
        </p:nvSpPr>
        <p:spPr>
          <a:xfrm>
            <a:off x="6631302" y="211606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심사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평가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DBCA7E2-3882-2D3A-FEEC-C304D99BA9BC}"/>
              </a:ext>
            </a:extLst>
          </p:cNvPr>
          <p:cNvSpPr/>
          <p:nvPr/>
        </p:nvSpPr>
        <p:spPr>
          <a:xfrm>
            <a:off x="6631302" y="2426736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서류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19CC2FB-AE39-6D60-F7E4-AEBBC597415B}"/>
              </a:ext>
            </a:extLst>
          </p:cNvPr>
          <p:cNvSpPr/>
          <p:nvPr/>
        </p:nvSpPr>
        <p:spPr>
          <a:xfrm>
            <a:off x="6631302" y="2737407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 내용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3337320-9826-598A-0F6D-32ADBE602623}"/>
              </a:ext>
            </a:extLst>
          </p:cNvPr>
          <p:cNvSpPr/>
          <p:nvPr/>
        </p:nvSpPr>
        <p:spPr>
          <a:xfrm>
            <a:off x="6631302" y="3365062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발송현황 조회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7AA1ADE-C580-E067-B7E1-ABFFF171E01E}"/>
              </a:ext>
            </a:extLst>
          </p:cNvPr>
          <p:cNvSpPr/>
          <p:nvPr/>
        </p:nvSpPr>
        <p:spPr>
          <a:xfrm>
            <a:off x="8252285" y="304737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1DAD779-8964-380C-BD9F-8DD2E89C4F9A}"/>
              </a:ext>
            </a:extLst>
          </p:cNvPr>
          <p:cNvSpPr/>
          <p:nvPr/>
        </p:nvSpPr>
        <p:spPr>
          <a:xfrm>
            <a:off x="8252285" y="211606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시스템 권한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F3BD33F-97D0-2BFC-26FB-D5828EDC0617}"/>
              </a:ext>
            </a:extLst>
          </p:cNvPr>
          <p:cNvSpPr/>
          <p:nvPr/>
        </p:nvSpPr>
        <p:spPr>
          <a:xfrm>
            <a:off x="8252285" y="2426736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접속 아이피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(IP) 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32ED533-BF77-4DAF-4DC3-E9FD28FFD06D}"/>
              </a:ext>
            </a:extLst>
          </p:cNvPr>
          <p:cNvSpPr/>
          <p:nvPr/>
        </p:nvSpPr>
        <p:spPr>
          <a:xfrm>
            <a:off x="8252285" y="2737407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코드관리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2243C15-4788-8CD9-CC49-D5D72F05DDCF}"/>
              </a:ext>
            </a:extLst>
          </p:cNvPr>
          <p:cNvSpPr/>
          <p:nvPr/>
        </p:nvSpPr>
        <p:spPr>
          <a:xfrm>
            <a:off x="8252285" y="3365062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메뉴별 접속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33953B6-38E0-A387-EA33-439E00EAA897}"/>
              </a:ext>
            </a:extLst>
          </p:cNvPr>
          <p:cNvSpPr/>
          <p:nvPr/>
        </p:nvSpPr>
        <p:spPr>
          <a:xfrm>
            <a:off x="8252285" y="3671963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FC70D5C-FD5D-B309-C4DE-CD5FFF93CA1C}"/>
              </a:ext>
            </a:extLst>
          </p:cNvPr>
          <p:cNvSpPr/>
          <p:nvPr/>
        </p:nvSpPr>
        <p:spPr>
          <a:xfrm>
            <a:off x="8252285" y="3986952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1894832-68A6-29D9-E4B4-D88353EA8D0C}"/>
              </a:ext>
            </a:extLst>
          </p:cNvPr>
          <p:cNvSpPr/>
          <p:nvPr/>
        </p:nvSpPr>
        <p:spPr>
          <a:xfrm>
            <a:off x="123105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324642E-6B86-90B7-9DA7-4B2C9DAFCF23}"/>
              </a:ext>
            </a:extLst>
          </p:cNvPr>
          <p:cNvSpPr/>
          <p:nvPr/>
        </p:nvSpPr>
        <p:spPr>
          <a:xfrm>
            <a:off x="123105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6F15425-E273-5AD9-BDF3-9EAD2167EA9F}"/>
              </a:ext>
            </a:extLst>
          </p:cNvPr>
          <p:cNvSpPr/>
          <p:nvPr/>
        </p:nvSpPr>
        <p:spPr>
          <a:xfrm>
            <a:off x="123105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08F26F8-C189-623B-12A5-E2A3CE7A5482}"/>
              </a:ext>
            </a:extLst>
          </p:cNvPr>
          <p:cNvSpPr/>
          <p:nvPr/>
        </p:nvSpPr>
        <p:spPr>
          <a:xfrm>
            <a:off x="130064" y="2051768"/>
            <a:ext cx="1529252" cy="87317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발주계획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수의계약 계획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견적 요청 및 확인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계약 요청</a:t>
            </a:r>
          </a:p>
        </p:txBody>
      </p:sp>
    </p:spTree>
    <p:extLst>
      <p:ext uri="{BB962C8B-B14F-4D97-AF65-F5344CB8AC3E}">
        <p14:creationId xmlns:p14="http://schemas.microsoft.com/office/powerpoint/2010/main" val="480237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D63F7-D7C0-77D2-4EC9-FD6FD2B23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3A37421-E9B1-A316-4F75-44FDBDA31CD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7BE93D-5740-0017-7317-CE4392EA3D3C}"/>
              </a:ext>
            </a:extLst>
          </p:cNvPr>
          <p:cNvSpPr txBox="1"/>
          <p:nvPr/>
        </p:nvSpPr>
        <p:spPr>
          <a:xfrm>
            <a:off x="749224" y="25608"/>
            <a:ext cx="18341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등록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E1F43B-A07B-C320-92E9-3B30ABAEA756}"/>
              </a:ext>
            </a:extLst>
          </p:cNvPr>
          <p:cNvSpPr txBox="1"/>
          <p:nvPr/>
        </p:nvSpPr>
        <p:spPr>
          <a:xfrm>
            <a:off x="8049344" y="584684"/>
            <a:ext cx="1856656" cy="423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본 사전 견적 요청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의 검색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조회 화면에서는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작성 중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상태의 견적만 노출됨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작성 중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상태에서만 견적 요청 내용의 수정과 삭제 가능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본 검색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 화면에는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작성 중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상태인 건만 노출됨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재견적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시 요청 내용을 그대로 복사함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견적요청번호는 신규로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발번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이후 동일한 프로세스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견적요청번호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견적요청명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등록자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D73DB1B-8EC7-BE9E-5CA0-038B90643CBC}"/>
              </a:ext>
            </a:extLst>
          </p:cNvPr>
          <p:cNvSpPr/>
          <p:nvPr/>
        </p:nvSpPr>
        <p:spPr>
          <a:xfrm>
            <a:off x="164468" y="403565"/>
            <a:ext cx="827150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5A3BE35F-05C6-27D0-4959-240E0C476983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4597271-3646-EC1E-53F8-5AF84D46952B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F886C69-C681-0C72-6D79-33FBE0CF6853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14F65FA-D783-5185-7D06-6BF8C7544F23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993311C-20D1-513D-3671-0BDF1EAD2B34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AD358AA-198E-6350-BF60-609AE4AF626C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4" name="Picture 1">
            <a:extLst>
              <a:ext uri="{FF2B5EF4-FFF2-40B4-BE49-F238E27FC236}">
                <a16:creationId xmlns:a16="http://schemas.microsoft.com/office/drawing/2014/main" id="{5409E522-7EC2-3567-7219-AF9C330B7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14F507D0-7BE6-C466-414C-20D02826E395}"/>
              </a:ext>
            </a:extLst>
          </p:cNvPr>
          <p:cNvSpPr/>
          <p:nvPr/>
        </p:nvSpPr>
        <p:spPr>
          <a:xfrm>
            <a:off x="164468" y="834983"/>
            <a:ext cx="7740859" cy="125326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6DC039-D351-0025-DA02-79B4012E553D}"/>
              </a:ext>
            </a:extLst>
          </p:cNvPr>
          <p:cNvSpPr txBox="1"/>
          <p:nvPr/>
        </p:nvSpPr>
        <p:spPr>
          <a:xfrm>
            <a:off x="235850" y="941488"/>
            <a:ext cx="68053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marR="0" lvl="0" indent="-7200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조회기간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요청일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                                                                                                                                            ~    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086577-5440-E428-7FBC-B1FD05B46DD8}"/>
              </a:ext>
            </a:extLst>
          </p:cNvPr>
          <p:cNvSpPr txBox="1"/>
          <p:nvPr/>
        </p:nvSpPr>
        <p:spPr>
          <a:xfrm>
            <a:off x="235849" y="1741427"/>
            <a:ext cx="75617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키워드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검색 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ko-KR" altLang="en-US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EA20DB7-5200-E948-6A38-AB2C110D4024}"/>
              </a:ext>
            </a:extLst>
          </p:cNvPr>
          <p:cNvSpPr/>
          <p:nvPr/>
        </p:nvSpPr>
        <p:spPr>
          <a:xfrm>
            <a:off x="4683665" y="92908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시작일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E0C4031-B666-66E6-12A1-E2AA865A53F9}"/>
              </a:ext>
            </a:extLst>
          </p:cNvPr>
          <p:cNvSpPr/>
          <p:nvPr/>
        </p:nvSpPr>
        <p:spPr>
          <a:xfrm>
            <a:off x="5493916" y="92908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FA8047B-08A5-423C-EEE9-165451C38474}"/>
              </a:ext>
            </a:extLst>
          </p:cNvPr>
          <p:cNvSpPr/>
          <p:nvPr/>
        </p:nvSpPr>
        <p:spPr>
          <a:xfrm>
            <a:off x="5907171" y="92908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종료일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9048507-85C6-64DC-0E09-519CC1C5721F}"/>
              </a:ext>
            </a:extLst>
          </p:cNvPr>
          <p:cNvSpPr/>
          <p:nvPr/>
        </p:nvSpPr>
        <p:spPr>
          <a:xfrm>
            <a:off x="6717422" y="92908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B13B457-FFBC-A2AF-9A6F-0965FD36A353}"/>
              </a:ext>
            </a:extLst>
          </p:cNvPr>
          <p:cNvSpPr/>
          <p:nvPr/>
        </p:nvSpPr>
        <p:spPr>
          <a:xfrm>
            <a:off x="1393889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ko-KR" altLang="en-US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하루 전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3413F47-5FBE-4FC0-DB36-8F68C931C2D8}"/>
              </a:ext>
            </a:extLst>
          </p:cNvPr>
          <p:cNvSpPr/>
          <p:nvPr/>
        </p:nvSpPr>
        <p:spPr>
          <a:xfrm>
            <a:off x="1942458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주일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F57A4F0-7D11-82F6-A939-D85920DB5F5B}"/>
              </a:ext>
            </a:extLst>
          </p:cNvPr>
          <p:cNvSpPr/>
          <p:nvPr/>
        </p:nvSpPr>
        <p:spPr>
          <a:xfrm>
            <a:off x="2491027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D823D77-586F-FFD4-E967-B9DC69DC99B7}"/>
              </a:ext>
            </a:extLst>
          </p:cNvPr>
          <p:cNvSpPr/>
          <p:nvPr/>
        </p:nvSpPr>
        <p:spPr>
          <a:xfrm>
            <a:off x="3039596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9E44862-D736-656F-C088-1F641543430E}"/>
              </a:ext>
            </a:extLst>
          </p:cNvPr>
          <p:cNvSpPr/>
          <p:nvPr/>
        </p:nvSpPr>
        <p:spPr>
          <a:xfrm>
            <a:off x="3588165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8D7263D-C686-7A25-9686-1724B1A2009D}"/>
              </a:ext>
            </a:extLst>
          </p:cNvPr>
          <p:cNvSpPr/>
          <p:nvPr/>
        </p:nvSpPr>
        <p:spPr>
          <a:xfrm>
            <a:off x="4136733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2217964-D46E-8C6C-4548-9F946B2A21E9}"/>
              </a:ext>
            </a:extLst>
          </p:cNvPr>
          <p:cNvSpPr txBox="1"/>
          <p:nvPr/>
        </p:nvSpPr>
        <p:spPr>
          <a:xfrm>
            <a:off x="235849" y="1214004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견적유형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 전체      ○ 공사     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○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용역     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○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물품</a:t>
            </a:r>
            <a:endParaRPr lang="en-US" altLang="ko-KR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A759C07-BF7A-DF9E-5E18-6AEB157286CC}"/>
              </a:ext>
            </a:extLst>
          </p:cNvPr>
          <p:cNvSpPr/>
          <p:nvPr/>
        </p:nvSpPr>
        <p:spPr>
          <a:xfrm>
            <a:off x="1408523" y="1734282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구분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D99DE15-8B26-9C37-CD5F-9ED815242F1D}"/>
              </a:ext>
            </a:extLst>
          </p:cNvPr>
          <p:cNvSpPr/>
          <p:nvPr/>
        </p:nvSpPr>
        <p:spPr>
          <a:xfrm>
            <a:off x="2218774" y="1734284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D41EF21-7FDE-86F8-9319-24F421778524}"/>
              </a:ext>
            </a:extLst>
          </p:cNvPr>
          <p:cNvSpPr/>
          <p:nvPr/>
        </p:nvSpPr>
        <p:spPr>
          <a:xfrm>
            <a:off x="2533911" y="1734282"/>
            <a:ext cx="361980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검색어를 입력하세요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7B3742F-FFF8-673E-D61B-2948D523184F}"/>
              </a:ext>
            </a:extLst>
          </p:cNvPr>
          <p:cNvSpPr/>
          <p:nvPr/>
        </p:nvSpPr>
        <p:spPr>
          <a:xfrm>
            <a:off x="6241919" y="1734284"/>
            <a:ext cx="625198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A00AB60-5939-2CF9-1F28-8317ECF54E80}"/>
              </a:ext>
            </a:extLst>
          </p:cNvPr>
          <p:cNvSpPr/>
          <p:nvPr/>
        </p:nvSpPr>
        <p:spPr>
          <a:xfrm>
            <a:off x="5856272" y="2192349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개씩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B962977-14DC-7DCD-F42F-42F6EB3FD357}"/>
              </a:ext>
            </a:extLst>
          </p:cNvPr>
          <p:cNvSpPr/>
          <p:nvPr/>
        </p:nvSpPr>
        <p:spPr>
          <a:xfrm>
            <a:off x="6677734" y="219234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EAE6D46-791A-9337-519D-D8FF4F83AC17}"/>
              </a:ext>
            </a:extLst>
          </p:cNvPr>
          <p:cNvSpPr txBox="1"/>
          <p:nvPr/>
        </p:nvSpPr>
        <p:spPr>
          <a:xfrm>
            <a:off x="181506" y="2178831"/>
            <a:ext cx="297592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1,523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 현재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/4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C59B4F1-FE46-DD18-DC3C-D647BFFD086E}"/>
              </a:ext>
            </a:extLst>
          </p:cNvPr>
          <p:cNvSpPr/>
          <p:nvPr/>
        </p:nvSpPr>
        <p:spPr>
          <a:xfrm>
            <a:off x="6982990" y="2192349"/>
            <a:ext cx="913712" cy="215441"/>
          </a:xfrm>
          <a:prstGeom prst="rect">
            <a:avLst/>
          </a:prstGeom>
          <a:solidFill>
            <a:srgbClr val="00B05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  <a:r>
              <a:rPr lang="en-US" altLang="ko-KR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(Excel)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46657116-8631-B17E-818A-FB28EA960B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2640853"/>
              </p:ext>
            </p:extLst>
          </p:nvPr>
        </p:nvGraphicFramePr>
        <p:xfrm>
          <a:off x="179901" y="2487797"/>
          <a:ext cx="9227314" cy="1351680"/>
        </p:xfrm>
        <a:graphic>
          <a:graphicData uri="http://schemas.openxmlformats.org/drawingml/2006/table">
            <a:tbl>
              <a:tblPr firstRow="1" bandRow="1"/>
              <a:tblGrid>
                <a:gridCol w="378387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72075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481575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1835713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481575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718113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672075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291075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481575">
                  <a:extLst>
                    <a:ext uri="{9D8B030D-6E8A-4147-A177-3AD203B41FA5}">
                      <a16:colId xmlns:a16="http://schemas.microsoft.com/office/drawing/2014/main" val="1778558004"/>
                    </a:ext>
                  </a:extLst>
                </a:gridCol>
                <a:gridCol w="633975">
                  <a:extLst>
                    <a:ext uri="{9D8B030D-6E8A-4147-A177-3AD203B41FA5}">
                      <a16:colId xmlns:a16="http://schemas.microsoft.com/office/drawing/2014/main" val="484800548"/>
                    </a:ext>
                  </a:extLst>
                </a:gridCol>
                <a:gridCol w="962587">
                  <a:extLst>
                    <a:ext uri="{9D8B030D-6E8A-4147-A177-3AD203B41FA5}">
                      <a16:colId xmlns:a16="http://schemas.microsoft.com/office/drawing/2014/main" val="1372629467"/>
                    </a:ext>
                  </a:extLst>
                </a:gridCol>
                <a:gridCol w="656200">
                  <a:extLst>
                    <a:ext uri="{9D8B030D-6E8A-4147-A177-3AD203B41FA5}">
                      <a16:colId xmlns:a16="http://schemas.microsoft.com/office/drawing/2014/main" val="2523826374"/>
                    </a:ext>
                  </a:extLst>
                </a:gridCol>
                <a:gridCol w="386325">
                  <a:extLst>
                    <a:ext uri="{9D8B030D-6E8A-4147-A177-3AD203B41FA5}">
                      <a16:colId xmlns:a16="http://schemas.microsoft.com/office/drawing/2014/main" val="858523054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518093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견적요청번호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견적요청명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견적유형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예산금액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품목구성방법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전달자료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요청 업체 수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 마감일시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등록일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등록자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삭제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1,542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RFQ2607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 중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태양광 발전기 도입 관련 견적 요청의 건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135,400,000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품목단가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1,541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RFQ2608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작성 중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800" b="0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재견적</a:t>
                      </a: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(1)] </a:t>
                      </a: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태양광 발전기 도입 관련</a:t>
                      </a: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...</a:t>
                      </a: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135,400,000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지정항목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건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건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 18:00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작성 중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물품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</a:tbl>
          </a:graphicData>
        </a:graphic>
      </p:graphicFrame>
      <p:grpSp>
        <p:nvGrpSpPr>
          <p:cNvPr id="44" name="그룹 43">
            <a:extLst>
              <a:ext uri="{FF2B5EF4-FFF2-40B4-BE49-F238E27FC236}">
                <a16:creationId xmlns:a16="http://schemas.microsoft.com/office/drawing/2014/main" id="{21E08DFA-A75E-6F6F-CDF4-7448ED54E9DB}"/>
              </a:ext>
            </a:extLst>
          </p:cNvPr>
          <p:cNvGrpSpPr/>
          <p:nvPr/>
        </p:nvGrpSpPr>
        <p:grpSpPr>
          <a:xfrm>
            <a:off x="2004219" y="3957508"/>
            <a:ext cx="4025354" cy="216024"/>
            <a:chOff x="2992062" y="4869160"/>
            <a:chExt cx="4025354" cy="216024"/>
          </a:xfrm>
        </p:grpSpPr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5E50F4A1-28C2-00E1-D8BA-0476FDAA8189}"/>
                </a:ext>
              </a:extLst>
            </p:cNvPr>
            <p:cNvSpPr/>
            <p:nvPr/>
          </p:nvSpPr>
          <p:spPr>
            <a:xfrm>
              <a:off x="2992062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◀</a:t>
              </a: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46BC7A5B-0B3B-6902-ED34-9621F74B30F9}"/>
                </a:ext>
              </a:extLst>
            </p:cNvPr>
            <p:cNvSpPr/>
            <p:nvPr/>
          </p:nvSpPr>
          <p:spPr>
            <a:xfrm>
              <a:off x="3285089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&lt;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4343A4EE-C9C3-7C03-9397-A6832656E663}"/>
                </a:ext>
              </a:extLst>
            </p:cNvPr>
            <p:cNvSpPr/>
            <p:nvPr/>
          </p:nvSpPr>
          <p:spPr>
            <a:xfrm>
              <a:off x="3578116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22A84015-D97E-71F2-5B48-B14AA223D9DD}"/>
                </a:ext>
              </a:extLst>
            </p:cNvPr>
            <p:cNvSpPr/>
            <p:nvPr/>
          </p:nvSpPr>
          <p:spPr>
            <a:xfrm>
              <a:off x="3871143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0835470D-8FCF-ED47-D1C1-B03DDB5B6553}"/>
                </a:ext>
              </a:extLst>
            </p:cNvPr>
            <p:cNvSpPr/>
            <p:nvPr/>
          </p:nvSpPr>
          <p:spPr>
            <a:xfrm>
              <a:off x="4164170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D4BF8FC6-9054-E717-1353-24C56CBF500B}"/>
                </a:ext>
              </a:extLst>
            </p:cNvPr>
            <p:cNvSpPr/>
            <p:nvPr/>
          </p:nvSpPr>
          <p:spPr>
            <a:xfrm>
              <a:off x="4457197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BDA7BAEE-0958-0E20-5935-3C4C6B53736A}"/>
                </a:ext>
              </a:extLst>
            </p:cNvPr>
            <p:cNvSpPr/>
            <p:nvPr/>
          </p:nvSpPr>
          <p:spPr>
            <a:xfrm>
              <a:off x="4750224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B5C20B81-B620-DC9C-FBC7-2DC9CB26A7DD}"/>
                </a:ext>
              </a:extLst>
            </p:cNvPr>
            <p:cNvSpPr/>
            <p:nvPr/>
          </p:nvSpPr>
          <p:spPr>
            <a:xfrm>
              <a:off x="5043251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151584DE-DE95-2C30-44B7-D6E22FCB5940}"/>
                </a:ext>
              </a:extLst>
            </p:cNvPr>
            <p:cNvSpPr/>
            <p:nvPr/>
          </p:nvSpPr>
          <p:spPr>
            <a:xfrm>
              <a:off x="5336278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ADABC078-BC03-5B22-81AC-35F49481DCE9}"/>
                </a:ext>
              </a:extLst>
            </p:cNvPr>
            <p:cNvSpPr/>
            <p:nvPr/>
          </p:nvSpPr>
          <p:spPr>
            <a:xfrm>
              <a:off x="5629305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ABA963A9-A62E-C8F9-FE78-443BA55BC10E}"/>
                </a:ext>
              </a:extLst>
            </p:cNvPr>
            <p:cNvSpPr/>
            <p:nvPr/>
          </p:nvSpPr>
          <p:spPr>
            <a:xfrm>
              <a:off x="5922332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56E4C5EF-7E56-EB6B-39F7-B41AA628E125}"/>
                </a:ext>
              </a:extLst>
            </p:cNvPr>
            <p:cNvSpPr/>
            <p:nvPr/>
          </p:nvSpPr>
          <p:spPr>
            <a:xfrm>
              <a:off x="6215359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1E7DD7B8-8DB4-BFA5-FBC0-238CF7298786}"/>
                </a:ext>
              </a:extLst>
            </p:cNvPr>
            <p:cNvSpPr/>
            <p:nvPr/>
          </p:nvSpPr>
          <p:spPr>
            <a:xfrm>
              <a:off x="650838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&gt;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429D474C-59ED-2169-0084-7E84C2FB401F}"/>
                </a:ext>
              </a:extLst>
            </p:cNvPr>
            <p:cNvSpPr/>
            <p:nvPr/>
          </p:nvSpPr>
          <p:spPr>
            <a:xfrm>
              <a:off x="680141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▶</a:t>
              </a:r>
            </a:p>
          </p:txBody>
        </p:sp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7374B2F-4ED1-AF8E-F9B3-4CB8854759EB}"/>
              </a:ext>
            </a:extLst>
          </p:cNvPr>
          <p:cNvSpPr/>
          <p:nvPr/>
        </p:nvSpPr>
        <p:spPr>
          <a:xfrm>
            <a:off x="8899478" y="2888742"/>
            <a:ext cx="458854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6319B33D-138B-778D-F94F-0D47815079A0}"/>
              </a:ext>
            </a:extLst>
          </p:cNvPr>
          <p:cNvSpPr/>
          <p:nvPr/>
        </p:nvSpPr>
        <p:spPr>
          <a:xfrm>
            <a:off x="8899478" y="3225402"/>
            <a:ext cx="458854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3CC04F4D-167C-9AFC-97E3-D5FA22B64849}"/>
              </a:ext>
            </a:extLst>
          </p:cNvPr>
          <p:cNvSpPr/>
          <p:nvPr/>
        </p:nvSpPr>
        <p:spPr>
          <a:xfrm>
            <a:off x="8899478" y="3562062"/>
            <a:ext cx="458854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EFBF5FFA-54CE-C803-69D8-F1AC58FAE10F}"/>
              </a:ext>
            </a:extLst>
          </p:cNvPr>
          <p:cNvSpPr/>
          <p:nvPr/>
        </p:nvSpPr>
        <p:spPr>
          <a:xfrm>
            <a:off x="1089549" y="2407790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626B26B5-6990-AA46-2027-BEF0F06303CC}"/>
              </a:ext>
            </a:extLst>
          </p:cNvPr>
          <p:cNvSpPr/>
          <p:nvPr/>
        </p:nvSpPr>
        <p:spPr>
          <a:xfrm>
            <a:off x="6958110" y="4241442"/>
            <a:ext cx="934780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29D3261-B453-6267-C63F-98B805F47A31}"/>
              </a:ext>
            </a:extLst>
          </p:cNvPr>
          <p:cNvSpPr txBox="1"/>
          <p:nvPr/>
        </p:nvSpPr>
        <p:spPr>
          <a:xfrm>
            <a:off x="235849" y="1463705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품목구성방법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 전체      ○ 품목단가     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○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지정항목</a:t>
            </a:r>
            <a:endParaRPr lang="en-US" altLang="ko-KR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73B33FFE-0B44-67A7-F8DE-2046D14362F9}"/>
              </a:ext>
            </a:extLst>
          </p:cNvPr>
          <p:cNvSpPr/>
          <p:nvPr/>
        </p:nvSpPr>
        <p:spPr>
          <a:xfrm>
            <a:off x="164468" y="4412119"/>
            <a:ext cx="378042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견적요청 삭제 유의사항</a:t>
            </a: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F4FD444C-E053-A1C7-C6E7-8C837FF24979}"/>
              </a:ext>
            </a:extLst>
          </p:cNvPr>
          <p:cNvSpPr/>
          <p:nvPr/>
        </p:nvSpPr>
        <p:spPr>
          <a:xfrm>
            <a:off x="164468" y="4685031"/>
            <a:ext cx="3780420" cy="187132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C4085AE2-54C4-C62E-7742-663BEB31F39A}"/>
              </a:ext>
            </a:extLst>
          </p:cNvPr>
          <p:cNvSpPr/>
          <p:nvPr/>
        </p:nvSpPr>
        <p:spPr>
          <a:xfrm>
            <a:off x="3671800" y="4412119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A4926DBD-1AC4-9395-D884-A57EAC7B8A0F}"/>
              </a:ext>
            </a:extLst>
          </p:cNvPr>
          <p:cNvSpPr/>
          <p:nvPr/>
        </p:nvSpPr>
        <p:spPr>
          <a:xfrm>
            <a:off x="272247" y="5098419"/>
            <a:ext cx="3532535" cy="879892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견적 요청 내역을 삭제하면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, </a:t>
            </a:r>
            <a:b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</a:b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해당 견적에 </a:t>
            </a:r>
            <a:r>
              <a:rPr kumimoji="1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매핑된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세부 정보와 견적 내역이 모두 삭제됩니다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반드시 최고 관리자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시스템운영자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만 사용하세요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kumimoji="1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그래도 진행하시겠습니까</a:t>
            </a:r>
            <a:r>
              <a:rPr kumimoji="1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?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pic>
        <p:nvPicPr>
          <p:cNvPr id="101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4C22F20C-7504-3A82-962D-19E21C35BE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369" y="5255040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9D637CB4-640F-845C-45EB-4637718AB985}"/>
              </a:ext>
            </a:extLst>
          </p:cNvPr>
          <p:cNvSpPr/>
          <p:nvPr/>
        </p:nvSpPr>
        <p:spPr>
          <a:xfrm>
            <a:off x="2270126" y="6086786"/>
            <a:ext cx="785937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삭제하기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ABF1233D-CBC0-5744-50B2-00D05EB899BF}"/>
              </a:ext>
            </a:extLst>
          </p:cNvPr>
          <p:cNvSpPr/>
          <p:nvPr/>
        </p:nvSpPr>
        <p:spPr>
          <a:xfrm>
            <a:off x="3115805" y="6086786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DBD006E1-0559-C2CA-6612-AFFFD03247D6}"/>
              </a:ext>
            </a:extLst>
          </p:cNvPr>
          <p:cNvSpPr/>
          <p:nvPr/>
        </p:nvSpPr>
        <p:spPr>
          <a:xfrm>
            <a:off x="295688" y="4781420"/>
            <a:ext cx="1484381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견적요청 삭제 유의사항</a:t>
            </a:r>
          </a:p>
        </p:txBody>
      </p:sp>
      <p:sp>
        <p:nvSpPr>
          <p:cNvPr id="111" name="타원 110">
            <a:extLst>
              <a:ext uri="{FF2B5EF4-FFF2-40B4-BE49-F238E27FC236}">
                <a16:creationId xmlns:a16="http://schemas.microsoft.com/office/drawing/2014/main" id="{B5A4A7AB-B0D2-BDF4-09B6-9DDB05BA2429}"/>
              </a:ext>
            </a:extLst>
          </p:cNvPr>
          <p:cNvSpPr/>
          <p:nvPr/>
        </p:nvSpPr>
        <p:spPr>
          <a:xfrm>
            <a:off x="1643275" y="3043178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E79053A-3EC0-028B-FA94-BC11AE8D4EE8}"/>
              </a:ext>
            </a:extLst>
          </p:cNvPr>
          <p:cNvSpPr/>
          <p:nvPr/>
        </p:nvSpPr>
        <p:spPr>
          <a:xfrm>
            <a:off x="-1690381" y="1098519"/>
            <a:ext cx="1467136" cy="5662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현황</a:t>
            </a:r>
          </a:p>
        </p:txBody>
      </p:sp>
      <p:cxnSp>
        <p:nvCxnSpPr>
          <p:cNvPr id="61" name="연결선: 꺾임 60">
            <a:extLst>
              <a:ext uri="{FF2B5EF4-FFF2-40B4-BE49-F238E27FC236}">
                <a16:creationId xmlns:a16="http://schemas.microsoft.com/office/drawing/2014/main" id="{AB093FAC-AE50-68EA-5CD9-BBEC7B544862}"/>
              </a:ext>
            </a:extLst>
          </p:cNvPr>
          <p:cNvCxnSpPr>
            <a:cxnSpLocks/>
            <a:stCxn id="65" idx="1"/>
            <a:endCxn id="93" idx="0"/>
          </p:cNvCxnSpPr>
          <p:nvPr/>
        </p:nvCxnSpPr>
        <p:spPr>
          <a:xfrm rot="10800000" flipV="1">
            <a:off x="2054678" y="3669783"/>
            <a:ext cx="6844800" cy="742336"/>
          </a:xfrm>
          <a:prstGeom prst="bentConnector2">
            <a:avLst/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타원 59">
            <a:extLst>
              <a:ext uri="{FF2B5EF4-FFF2-40B4-BE49-F238E27FC236}">
                <a16:creationId xmlns:a16="http://schemas.microsoft.com/office/drawing/2014/main" id="{593A8E83-A38C-420F-9403-CE7054834566}"/>
              </a:ext>
            </a:extLst>
          </p:cNvPr>
          <p:cNvSpPr/>
          <p:nvPr/>
        </p:nvSpPr>
        <p:spPr>
          <a:xfrm>
            <a:off x="1291910" y="1636823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2270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87C7A-01CF-3767-644F-938056335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8415FC4-39BC-B214-310B-D95AE3BFF3F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21323F-DBA6-116C-A7B3-1A4EBCC165F3}"/>
              </a:ext>
            </a:extLst>
          </p:cNvPr>
          <p:cNvSpPr txBox="1"/>
          <p:nvPr/>
        </p:nvSpPr>
        <p:spPr>
          <a:xfrm>
            <a:off x="749224" y="25608"/>
            <a:ext cx="26933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첫 단계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D09A6C-32A1-CB09-208C-548CE0866E92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등록 시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견적요청번호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자동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발번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FF97183-56A1-310C-DC06-D8D571CF8CB9}"/>
              </a:ext>
            </a:extLst>
          </p:cNvPr>
          <p:cNvSpPr/>
          <p:nvPr/>
        </p:nvSpPr>
        <p:spPr>
          <a:xfrm>
            <a:off x="164468" y="403565"/>
            <a:ext cx="827150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C05CC599-B3D1-F23A-B342-9D0BFABA86FE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3F90505-4360-BB13-1106-F9E3427E5DD4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2826315-E497-E6B5-779A-CB92119A821D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A794B31-A03F-C770-A06F-ADD171046D1D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334F866-C84E-61D6-81BE-E272C48CC6FA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7E36EF6-0028-6A33-BF5C-10B1B5240C24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4" name="Picture 1">
            <a:extLst>
              <a:ext uri="{FF2B5EF4-FFF2-40B4-BE49-F238E27FC236}">
                <a16:creationId xmlns:a16="http://schemas.microsoft.com/office/drawing/2014/main" id="{507C0232-3595-BAE5-DED6-02D256C67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87F05EEF-898A-8C1E-F238-AD5E87FCDEB2}"/>
              </a:ext>
            </a:extLst>
          </p:cNvPr>
          <p:cNvSpPr/>
          <p:nvPr/>
        </p:nvSpPr>
        <p:spPr>
          <a:xfrm>
            <a:off x="-1690381" y="1098519"/>
            <a:ext cx="1467136" cy="5662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현황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96499D16-5772-0C38-F0EB-D13721934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3353658"/>
              </p:ext>
            </p:extLst>
          </p:nvPr>
        </p:nvGraphicFramePr>
        <p:xfrm>
          <a:off x="150734" y="833136"/>
          <a:ext cx="7754594" cy="168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591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401003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견적요청명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견적유형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공사     ○ 용역     ○ 물품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예산금액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                                 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일억삼천오백사십만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027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품목구성방법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품목단가     ○ 지정항목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777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비고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6539375"/>
                  </a:ext>
                </a:extLst>
              </a:tr>
            </a:tbl>
          </a:graphicData>
        </a:graphic>
      </p:graphicFrame>
      <p:sp>
        <p:nvSpPr>
          <p:cNvPr id="35" name="직사각형 34">
            <a:extLst>
              <a:ext uri="{FF2B5EF4-FFF2-40B4-BE49-F238E27FC236}">
                <a16:creationId xmlns:a16="http://schemas.microsoft.com/office/drawing/2014/main" id="{7F5D1D16-30E5-5523-C7C9-2D7E3B12297E}"/>
              </a:ext>
            </a:extLst>
          </p:cNvPr>
          <p:cNvSpPr/>
          <p:nvPr/>
        </p:nvSpPr>
        <p:spPr>
          <a:xfrm>
            <a:off x="1572775" y="1581470"/>
            <a:ext cx="1481185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숫자로만 입력해주세요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5FAA064-097D-6B55-8140-57005474582F}"/>
              </a:ext>
            </a:extLst>
          </p:cNvPr>
          <p:cNvSpPr/>
          <p:nvPr/>
        </p:nvSpPr>
        <p:spPr>
          <a:xfrm>
            <a:off x="1572774" y="2262324"/>
            <a:ext cx="6224541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100</a:t>
            </a: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 이내의 간단한 메모를 작성해주세요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9C672D58-19D7-8788-3650-DEF3EB1292C3}"/>
              </a:ext>
            </a:extLst>
          </p:cNvPr>
          <p:cNvSpPr/>
          <p:nvPr/>
        </p:nvSpPr>
        <p:spPr>
          <a:xfrm>
            <a:off x="1572775" y="900616"/>
            <a:ext cx="4714188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50</a:t>
            </a: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 이내로 등록해주세요.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B832DD8A-320E-EBB0-963D-F17E8E1E8CCD}"/>
              </a:ext>
            </a:extLst>
          </p:cNvPr>
          <p:cNvSpPr/>
          <p:nvPr/>
        </p:nvSpPr>
        <p:spPr>
          <a:xfrm>
            <a:off x="6202650" y="2638758"/>
            <a:ext cx="823676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등록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F3973814-9088-2B46-B7CD-AB3F750C511C}"/>
              </a:ext>
            </a:extLst>
          </p:cNvPr>
          <p:cNvSpPr/>
          <p:nvPr/>
        </p:nvSpPr>
        <p:spPr>
          <a:xfrm>
            <a:off x="7081288" y="2638758"/>
            <a:ext cx="813083" cy="28803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DCF2C58C-FB74-FB32-2298-39B9D2CF4C42}"/>
              </a:ext>
            </a:extLst>
          </p:cNvPr>
          <p:cNvSpPr/>
          <p:nvPr/>
        </p:nvSpPr>
        <p:spPr>
          <a:xfrm>
            <a:off x="164467" y="2638758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480278F6-A975-8321-A362-EBBDD4142175}"/>
              </a:ext>
            </a:extLst>
          </p:cNvPr>
          <p:cNvSpPr/>
          <p:nvPr/>
        </p:nvSpPr>
        <p:spPr>
          <a:xfrm>
            <a:off x="6086445" y="2522736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2239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D195E-E9F1-98BF-A146-9FE22C642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8DD1538-3F1C-B1A0-19F2-E6850C57C11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6F9A89-BA64-6305-C6B9-85C65533571B}"/>
              </a:ext>
            </a:extLst>
          </p:cNvPr>
          <p:cNvSpPr txBox="1"/>
          <p:nvPr/>
        </p:nvSpPr>
        <p:spPr>
          <a:xfrm>
            <a:off x="749224" y="25608"/>
            <a:ext cx="269016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요청 기본정보 관리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9BE632-99C5-9F08-92F5-45283DCD6889}"/>
              </a:ext>
            </a:extLst>
          </p:cNvPr>
          <p:cNvSpPr txBox="1"/>
          <p:nvPr/>
        </p:nvSpPr>
        <p:spPr>
          <a:xfrm>
            <a:off x="8049344" y="584684"/>
            <a:ext cx="1856656" cy="557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각 단계로 안내되어 있긴 하지만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각 영역에 바로 접근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클릭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해서 정보 입력 가능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8D1E65F-2B82-4753-1CFF-1412A69F3FE1}"/>
              </a:ext>
            </a:extLst>
          </p:cNvPr>
          <p:cNvSpPr/>
          <p:nvPr/>
        </p:nvSpPr>
        <p:spPr>
          <a:xfrm>
            <a:off x="164468" y="403565"/>
            <a:ext cx="791883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</a:t>
            </a:r>
            <a:endParaRPr lang="en-US" altLang="ko-KR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55C8BB26-F009-9EAC-F2B2-22EB93C43B21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E93EB46-179F-8CD0-B506-F7FDDE87D74B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CBD35B1-2A5A-2D71-BAF2-4E3094203563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8D499C79-C5AB-FF00-01A8-74D6F48E7A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7848891"/>
              </p:ext>
            </p:extLst>
          </p:nvPr>
        </p:nvGraphicFramePr>
        <p:xfrm>
          <a:off x="164467" y="2338754"/>
          <a:ext cx="7740859" cy="304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591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387268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견적요청번호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RFQ2607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2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처리상태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 중</a:t>
                      </a:r>
                      <a:endParaRPr lang="ko-KR" altLang="en-US" sz="800" b="0" spc="-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995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견적요청명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견적유형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공사     ○ 용역     ○ 물품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예산금액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                                 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일억삼천오백사십만원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027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품목구성방법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품목단가     ○ 지정항목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777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비고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6539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등록일시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15:42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5100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등록자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147291"/>
                  </a:ext>
                </a:extLst>
              </a:tr>
            </a:tbl>
          </a:graphicData>
        </a:graphic>
      </p:graphicFrame>
      <p:sp>
        <p:nvSpPr>
          <p:cNvPr id="40" name="직사각형 39">
            <a:extLst>
              <a:ext uri="{FF2B5EF4-FFF2-40B4-BE49-F238E27FC236}">
                <a16:creationId xmlns:a16="http://schemas.microsoft.com/office/drawing/2014/main" id="{ABAC10BE-AD38-647B-A116-7F96CC8DF6ED}"/>
              </a:ext>
            </a:extLst>
          </p:cNvPr>
          <p:cNvSpPr/>
          <p:nvPr/>
        </p:nvSpPr>
        <p:spPr>
          <a:xfrm>
            <a:off x="1586508" y="3757441"/>
            <a:ext cx="1481185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숫자로만 입력해주세요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820DD005-51F1-35F1-D19F-7B534390FFFF}"/>
              </a:ext>
            </a:extLst>
          </p:cNvPr>
          <p:cNvSpPr/>
          <p:nvPr/>
        </p:nvSpPr>
        <p:spPr>
          <a:xfrm>
            <a:off x="1586508" y="4438295"/>
            <a:ext cx="5987658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100</a:t>
            </a: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 이내의 간단한 메모를 작성해주세요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B051E610-CBD7-15E2-B018-24E69D95E444}"/>
              </a:ext>
            </a:extLst>
          </p:cNvPr>
          <p:cNvSpPr/>
          <p:nvPr/>
        </p:nvSpPr>
        <p:spPr>
          <a:xfrm>
            <a:off x="1586508" y="3076587"/>
            <a:ext cx="4714188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50</a:t>
            </a: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 이내로 등록해주세요.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B990E4EC-9FF6-D5A9-519D-40B3E34F7A43}"/>
              </a:ext>
            </a:extLst>
          </p:cNvPr>
          <p:cNvSpPr/>
          <p:nvPr/>
        </p:nvSpPr>
        <p:spPr>
          <a:xfrm>
            <a:off x="6962134" y="5462476"/>
            <a:ext cx="934780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기본정보 수정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79317373-F4B9-E1A4-4617-A997FED61C1C}"/>
              </a:ext>
            </a:extLst>
          </p:cNvPr>
          <p:cNvSpPr/>
          <p:nvPr/>
        </p:nvSpPr>
        <p:spPr>
          <a:xfrm>
            <a:off x="164467" y="5462476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80AC4DB-9AC3-25A7-8036-85862813532B}"/>
              </a:ext>
            </a:extLst>
          </p:cNvPr>
          <p:cNvGrpSpPr/>
          <p:nvPr/>
        </p:nvGrpSpPr>
        <p:grpSpPr>
          <a:xfrm>
            <a:off x="164468" y="1604575"/>
            <a:ext cx="7740859" cy="643315"/>
            <a:chOff x="213978" y="826923"/>
            <a:chExt cx="8410484" cy="643315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1F2BD720-7EBB-3070-6ACA-445761F0337D}"/>
                </a:ext>
              </a:extLst>
            </p:cNvPr>
            <p:cNvSpPr/>
            <p:nvPr/>
          </p:nvSpPr>
          <p:spPr>
            <a:xfrm>
              <a:off x="213978" y="826923"/>
              <a:ext cx="1332184" cy="643315"/>
            </a:xfrm>
            <a:prstGeom prst="rect">
              <a:avLst/>
            </a:prstGeom>
            <a:solidFill>
              <a:srgbClr val="FFC000">
                <a:alpha val="69804"/>
              </a:srgb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01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b="1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견적 요청 기본정보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5E9EF7CE-A758-BB8E-7FFD-59A4F3AC0B8D}"/>
                </a:ext>
              </a:extLst>
            </p:cNvPr>
            <p:cNvSpPr/>
            <p:nvPr/>
          </p:nvSpPr>
          <p:spPr>
            <a:xfrm>
              <a:off x="1629638" y="826923"/>
              <a:ext cx="1332184" cy="643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02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b="1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품목 정보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5381786A-E641-AB29-EFB8-57F0CB1B58B9}"/>
                </a:ext>
              </a:extLst>
            </p:cNvPr>
            <p:cNvSpPr/>
            <p:nvPr/>
          </p:nvSpPr>
          <p:spPr>
            <a:xfrm>
              <a:off x="3045298" y="826923"/>
              <a:ext cx="1332184" cy="643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03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b="1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전달자료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E0E25310-B6BC-ED14-145B-A5F695C1E70D}"/>
                </a:ext>
              </a:extLst>
            </p:cNvPr>
            <p:cNvSpPr/>
            <p:nvPr/>
          </p:nvSpPr>
          <p:spPr>
            <a:xfrm>
              <a:off x="4460958" y="826923"/>
              <a:ext cx="1332184" cy="643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04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견적 요청 업체 선정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07DFFA18-BAFF-44B9-B855-9A91F66E5496}"/>
                </a:ext>
              </a:extLst>
            </p:cNvPr>
            <p:cNvSpPr/>
            <p:nvPr/>
          </p:nvSpPr>
          <p:spPr>
            <a:xfrm>
              <a:off x="5876618" y="826923"/>
              <a:ext cx="1332184" cy="643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05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최종 점검 및 견적 요청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0D7F24D2-293E-CC2C-92B7-68FF948256AD}"/>
                </a:ext>
              </a:extLst>
            </p:cNvPr>
            <p:cNvSpPr/>
            <p:nvPr/>
          </p:nvSpPr>
          <p:spPr>
            <a:xfrm>
              <a:off x="7292278" y="826923"/>
              <a:ext cx="1332184" cy="643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06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견적 요청 완료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43" name="타원 42">
            <a:extLst>
              <a:ext uri="{FF2B5EF4-FFF2-40B4-BE49-F238E27FC236}">
                <a16:creationId xmlns:a16="http://schemas.microsoft.com/office/drawing/2014/main" id="{B032F7CC-B09C-DC7F-06A1-B1A3DB14384C}"/>
              </a:ext>
            </a:extLst>
          </p:cNvPr>
          <p:cNvSpPr/>
          <p:nvPr/>
        </p:nvSpPr>
        <p:spPr>
          <a:xfrm>
            <a:off x="60738" y="1538602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9B52C0E-5425-8A9C-5A1C-A3BF627C26F8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6FD0D25F-F299-BB2B-2887-8239CC929AB3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3DB002F0-56D7-7344-EB6C-74544CA2D405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51" name="Picture 1">
            <a:extLst>
              <a:ext uri="{FF2B5EF4-FFF2-40B4-BE49-F238E27FC236}">
                <a16:creationId xmlns:a16="http://schemas.microsoft.com/office/drawing/2014/main" id="{96C56799-08C6-4113-97C6-C1F03CA14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0BDFB0DB-A3C4-7D59-BC34-9E26EC0F337E}"/>
              </a:ext>
            </a:extLst>
          </p:cNvPr>
          <p:cNvSpPr/>
          <p:nvPr/>
        </p:nvSpPr>
        <p:spPr>
          <a:xfrm>
            <a:off x="-1690381" y="1098519"/>
            <a:ext cx="1467136" cy="5662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현황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C279A842-7953-6FA2-2C18-8DF31D65F7FA}"/>
              </a:ext>
            </a:extLst>
          </p:cNvPr>
          <p:cNvSpPr/>
          <p:nvPr/>
        </p:nvSpPr>
        <p:spPr>
          <a:xfrm>
            <a:off x="60738" y="4242488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1A4066A9-ED80-40F5-12E6-13807DF014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8385244"/>
              </p:ext>
            </p:extLst>
          </p:nvPr>
        </p:nvGraphicFramePr>
        <p:xfrm>
          <a:off x="164467" y="829880"/>
          <a:ext cx="7732447" cy="675840"/>
        </p:xfrm>
        <a:graphic>
          <a:graphicData uri="http://schemas.openxmlformats.org/drawingml/2006/table">
            <a:tbl>
              <a:tblPr firstRow="1" bandRow="1"/>
              <a:tblGrid>
                <a:gridCol w="765163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548277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044791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880958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817578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1074225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331392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548277">
                  <a:extLst>
                    <a:ext uri="{9D8B030D-6E8A-4147-A177-3AD203B41FA5}">
                      <a16:colId xmlns:a16="http://schemas.microsoft.com/office/drawing/2014/main" val="1778558004"/>
                    </a:ext>
                  </a:extLst>
                </a:gridCol>
                <a:gridCol w="721786">
                  <a:extLst>
                    <a:ext uri="{9D8B030D-6E8A-4147-A177-3AD203B41FA5}">
                      <a16:colId xmlns:a16="http://schemas.microsoft.com/office/drawing/2014/main" val="4848005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견적요청번호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견적요청명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견적유형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예산금액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품목구성방법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전달자료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요청 업체 수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RFQ2607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 중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태양광 발전기 도입 관련 견적 요청의 건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공사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용역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물품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135,400,000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품목단가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|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지정항목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건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건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5414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9173A-A649-294D-201D-32E633719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BD30556-09D9-4EA2-99C6-687E11C40CF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D8F0C3-FB04-B8CF-CAA1-2878D1DB229B}"/>
              </a:ext>
            </a:extLst>
          </p:cNvPr>
          <p:cNvSpPr txBox="1"/>
          <p:nvPr/>
        </p:nvSpPr>
        <p:spPr>
          <a:xfrm>
            <a:off x="749224" y="25608"/>
            <a:ext cx="227658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 관리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3C33F81-9915-73E7-A83A-409A4B079289}"/>
              </a:ext>
            </a:extLst>
          </p:cNvPr>
          <p:cNvSpPr/>
          <p:nvPr/>
        </p:nvSpPr>
        <p:spPr>
          <a:xfrm>
            <a:off x="164468" y="403565"/>
            <a:ext cx="791883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21B4F32C-DE17-DEC5-064E-65F7B4D52362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6062816-0980-ABF4-8213-478CE72DD9A9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2CE2011-8A7D-702A-48CE-4A85F5468B64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6FD00A-14B8-66CA-D2B5-94E686F5DAAA}"/>
              </a:ext>
            </a:extLst>
          </p:cNvPr>
          <p:cNvSpPr txBox="1"/>
          <p:nvPr/>
        </p:nvSpPr>
        <p:spPr>
          <a:xfrm>
            <a:off x="164468" y="2308861"/>
            <a:ext cx="305334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등록된 품목 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총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C5A78C0-5D5D-1D01-EDCF-EE4BD1C1E435}"/>
              </a:ext>
            </a:extLst>
          </p:cNvPr>
          <p:cNvGrpSpPr/>
          <p:nvPr/>
        </p:nvGrpSpPr>
        <p:grpSpPr>
          <a:xfrm>
            <a:off x="164468" y="1594727"/>
            <a:ext cx="7740859" cy="643315"/>
            <a:chOff x="213978" y="826923"/>
            <a:chExt cx="8410484" cy="643315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0F183EC-6F62-87F0-F621-E6202E758849}"/>
                </a:ext>
              </a:extLst>
            </p:cNvPr>
            <p:cNvSpPr/>
            <p:nvPr/>
          </p:nvSpPr>
          <p:spPr>
            <a:xfrm>
              <a:off x="213978" y="826923"/>
              <a:ext cx="1332184" cy="643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01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b="1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견적 요청 기본정보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D293E98-0247-877C-A019-A7E3872EAF46}"/>
                </a:ext>
              </a:extLst>
            </p:cNvPr>
            <p:cNvSpPr/>
            <p:nvPr/>
          </p:nvSpPr>
          <p:spPr>
            <a:xfrm>
              <a:off x="1629638" y="826923"/>
              <a:ext cx="1332184" cy="643315"/>
            </a:xfrm>
            <a:prstGeom prst="rect">
              <a:avLst/>
            </a:prstGeom>
            <a:solidFill>
              <a:srgbClr val="FFC000">
                <a:alpha val="69804"/>
              </a:srgb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02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b="1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품목 정보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1E2DA44D-8A19-7ECA-83C6-463E1459BBCC}"/>
                </a:ext>
              </a:extLst>
            </p:cNvPr>
            <p:cNvSpPr/>
            <p:nvPr/>
          </p:nvSpPr>
          <p:spPr>
            <a:xfrm>
              <a:off x="3045298" y="826923"/>
              <a:ext cx="1332184" cy="643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03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b="1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전달자료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E14F9969-F9C8-4052-B2F1-F2BFD190EA41}"/>
                </a:ext>
              </a:extLst>
            </p:cNvPr>
            <p:cNvSpPr/>
            <p:nvPr/>
          </p:nvSpPr>
          <p:spPr>
            <a:xfrm>
              <a:off x="4460958" y="826923"/>
              <a:ext cx="1332184" cy="643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04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견적 요청 업체 선정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2EAB5013-F1EE-29A1-BE8E-A261545E5BE9}"/>
                </a:ext>
              </a:extLst>
            </p:cNvPr>
            <p:cNvSpPr/>
            <p:nvPr/>
          </p:nvSpPr>
          <p:spPr>
            <a:xfrm>
              <a:off x="5876618" y="826923"/>
              <a:ext cx="1332184" cy="643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05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최종 점검 및 견적 요청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B662CE29-72C6-6ED8-FFA4-DDE0C84E0F87}"/>
                </a:ext>
              </a:extLst>
            </p:cNvPr>
            <p:cNvSpPr/>
            <p:nvPr/>
          </p:nvSpPr>
          <p:spPr>
            <a:xfrm>
              <a:off x="7292278" y="826923"/>
              <a:ext cx="1332184" cy="643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06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견적 요청 완료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BE44FE14-C8F5-EB84-6EE5-FA98B495D0F6}"/>
              </a:ext>
            </a:extLst>
          </p:cNvPr>
          <p:cNvSpPr txBox="1"/>
          <p:nvPr/>
        </p:nvSpPr>
        <p:spPr>
          <a:xfrm>
            <a:off x="8049344" y="584684"/>
            <a:ext cx="1856656" cy="614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별첨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1]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 추가를 위한 엑셀 다운로드 양식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.xlsx 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품목구성방법이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품목단가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 경우 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추가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품목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)’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버튼 노출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추가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품목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품목에서 불러와서 품목 정보를 등록하는 기능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 설계 다음 페이지의 팝업 호출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정보를 개별로 직접 등록하는 경우 사용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뒤 페이지 팝업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 추가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호출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품목은 하나라도 반드시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등록되어 있어야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함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Alert 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품목은 최소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 이상 등록되어야 합니다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.’</a:t>
            </a: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정보를 수정하는 경우 사용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뒤 페이지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팝업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 추가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호출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9A1C3283-731A-BFEC-BF8F-C37F887D9330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725718B3-E174-D09B-1E36-F732838A11CC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CD21B9BA-2249-C260-90FD-72D09D85F62F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74" name="Picture 1">
            <a:extLst>
              <a:ext uri="{FF2B5EF4-FFF2-40B4-BE49-F238E27FC236}">
                <a16:creationId xmlns:a16="http://schemas.microsoft.com/office/drawing/2014/main" id="{5C3AD678-35B0-0831-B9B0-B97612CCA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7" name="직사각형 56">
            <a:extLst>
              <a:ext uri="{FF2B5EF4-FFF2-40B4-BE49-F238E27FC236}">
                <a16:creationId xmlns:a16="http://schemas.microsoft.com/office/drawing/2014/main" id="{D99E4607-74AB-EDD8-4045-0CB70D1AFC0A}"/>
              </a:ext>
            </a:extLst>
          </p:cNvPr>
          <p:cNvSpPr/>
          <p:nvPr/>
        </p:nvSpPr>
        <p:spPr>
          <a:xfrm>
            <a:off x="-1690381" y="1098519"/>
            <a:ext cx="1467136" cy="5662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현황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0032D41-B827-639C-0BC1-F367F3BBD6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2493892"/>
              </p:ext>
            </p:extLst>
          </p:nvPr>
        </p:nvGraphicFramePr>
        <p:xfrm>
          <a:off x="171333" y="2591949"/>
          <a:ext cx="8886123" cy="1351680"/>
        </p:xfrm>
        <a:graphic>
          <a:graphicData uri="http://schemas.openxmlformats.org/drawingml/2006/table">
            <a:tbl>
              <a:tblPr firstRow="1" bandRow="1"/>
              <a:tblGrid>
                <a:gridCol w="23710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45087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919725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129400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291075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291075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656200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795900">
                  <a:extLst>
                    <a:ext uri="{9D8B030D-6E8A-4147-A177-3AD203B41FA5}">
                      <a16:colId xmlns:a16="http://schemas.microsoft.com/office/drawing/2014/main" val="3408856969"/>
                    </a:ext>
                  </a:extLst>
                </a:gridCol>
                <a:gridCol w="1740463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604034">
                  <a:extLst>
                    <a:ext uri="{9D8B030D-6E8A-4147-A177-3AD203B41FA5}">
                      <a16:colId xmlns:a16="http://schemas.microsoft.com/office/drawing/2014/main" val="2051809351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18747266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품목코드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규격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단위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수량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납기요청일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입고장소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비고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삭제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A0106-001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고효율 인버터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품목구성방법이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지정항목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’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인 경우에 등록됨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EA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현장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품목등록의 비고에 들어간 내용입니다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A0103-001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고효율 공기 압축기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EA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켑코이에스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본사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0D07CD6C-22F8-5A6D-3DCC-3FCB85C4A2FC}"/>
              </a:ext>
            </a:extLst>
          </p:cNvPr>
          <p:cNvSpPr/>
          <p:nvPr/>
        </p:nvSpPr>
        <p:spPr>
          <a:xfrm>
            <a:off x="7965709" y="2995289"/>
            <a:ext cx="458854" cy="215441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8CFDEB5-CC9A-3AF7-D8EE-020973326690}"/>
              </a:ext>
            </a:extLst>
          </p:cNvPr>
          <p:cNvSpPr/>
          <p:nvPr/>
        </p:nvSpPr>
        <p:spPr>
          <a:xfrm>
            <a:off x="8558306" y="2995289"/>
            <a:ext cx="458854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F493FAE-E87E-3EF9-DA43-EB8C98ADBECD}"/>
              </a:ext>
            </a:extLst>
          </p:cNvPr>
          <p:cNvSpPr/>
          <p:nvPr/>
        </p:nvSpPr>
        <p:spPr>
          <a:xfrm>
            <a:off x="7965709" y="3334487"/>
            <a:ext cx="458854" cy="215441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93862B4-673E-766C-F4D6-7CF2A2CD0324}"/>
              </a:ext>
            </a:extLst>
          </p:cNvPr>
          <p:cNvSpPr/>
          <p:nvPr/>
        </p:nvSpPr>
        <p:spPr>
          <a:xfrm>
            <a:off x="8558306" y="3334487"/>
            <a:ext cx="458854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64121FB-03EF-0274-4D17-88E2F3632984}"/>
              </a:ext>
            </a:extLst>
          </p:cNvPr>
          <p:cNvSpPr/>
          <p:nvPr/>
        </p:nvSpPr>
        <p:spPr>
          <a:xfrm>
            <a:off x="7965709" y="3673685"/>
            <a:ext cx="458854" cy="215441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530E185-D39A-107E-2B40-ABBDD892BCF6}"/>
              </a:ext>
            </a:extLst>
          </p:cNvPr>
          <p:cNvSpPr/>
          <p:nvPr/>
        </p:nvSpPr>
        <p:spPr>
          <a:xfrm>
            <a:off x="8558306" y="3673685"/>
            <a:ext cx="458854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DD5AEF4-5E89-101C-5A8C-52E6079A34FA}"/>
              </a:ext>
            </a:extLst>
          </p:cNvPr>
          <p:cNvSpPr/>
          <p:nvPr/>
        </p:nvSpPr>
        <p:spPr>
          <a:xfrm>
            <a:off x="6789204" y="4044256"/>
            <a:ext cx="1444693" cy="2880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 추가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개별 등록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FEA074A-31CA-DCE9-B94A-23F9FCFC1153}"/>
              </a:ext>
            </a:extLst>
          </p:cNvPr>
          <p:cNvSpPr/>
          <p:nvPr/>
        </p:nvSpPr>
        <p:spPr>
          <a:xfrm>
            <a:off x="2681074" y="4044256"/>
            <a:ext cx="1444693" cy="28803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엑셀 업로드 양식 다운로드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8BF28D4-45F9-221C-BE8F-0950B56AEF2B}"/>
              </a:ext>
            </a:extLst>
          </p:cNvPr>
          <p:cNvSpPr/>
          <p:nvPr/>
        </p:nvSpPr>
        <p:spPr>
          <a:xfrm>
            <a:off x="4179253" y="4044256"/>
            <a:ext cx="1363908" cy="2880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 추가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업로드</a:t>
            </a:r>
            <a:r>
              <a:rPr lang="en-US" altLang="ko-KR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AA5298B-279F-A97C-67C7-E1487BE6338E}"/>
              </a:ext>
            </a:extLst>
          </p:cNvPr>
          <p:cNvSpPr/>
          <p:nvPr/>
        </p:nvSpPr>
        <p:spPr>
          <a:xfrm>
            <a:off x="8290265" y="4044256"/>
            <a:ext cx="762141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저장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7B9F4C59-4AFE-8856-70AB-11EBEB8CF47D}"/>
              </a:ext>
            </a:extLst>
          </p:cNvPr>
          <p:cNvSpPr/>
          <p:nvPr/>
        </p:nvSpPr>
        <p:spPr>
          <a:xfrm>
            <a:off x="2553082" y="3914304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91969FB-AC63-EE54-D03A-88E79A7D1711}"/>
              </a:ext>
            </a:extLst>
          </p:cNvPr>
          <p:cNvSpPr txBox="1"/>
          <p:nvPr/>
        </p:nvSpPr>
        <p:spPr>
          <a:xfrm>
            <a:off x="854984" y="4973266"/>
            <a:ext cx="1856656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별첨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1]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 추가를 위한 엑셀 다운로드 양식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.xlsx 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B9FD17F-08C5-DE78-9C85-967F438C8194}"/>
              </a:ext>
            </a:extLst>
          </p:cNvPr>
          <p:cNvSpPr/>
          <p:nvPr/>
        </p:nvSpPr>
        <p:spPr>
          <a:xfrm>
            <a:off x="126917" y="4691733"/>
            <a:ext cx="5002057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 추가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업로드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E40E5DB-0C9C-577D-87ED-61C4F246F5C2}"/>
              </a:ext>
            </a:extLst>
          </p:cNvPr>
          <p:cNvSpPr/>
          <p:nvPr/>
        </p:nvSpPr>
        <p:spPr>
          <a:xfrm>
            <a:off x="126917" y="4964645"/>
            <a:ext cx="5002057" cy="127266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53266D5-0F20-7746-59BF-B8F419FEEEF4}"/>
              </a:ext>
            </a:extLst>
          </p:cNvPr>
          <p:cNvSpPr/>
          <p:nvPr/>
        </p:nvSpPr>
        <p:spPr>
          <a:xfrm>
            <a:off x="4858974" y="4691733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8AA49FC-C2FC-B86D-8233-09D70A6B6426}"/>
              </a:ext>
            </a:extLst>
          </p:cNvPr>
          <p:cNvSpPr/>
          <p:nvPr/>
        </p:nvSpPr>
        <p:spPr>
          <a:xfrm>
            <a:off x="2900772" y="5798617"/>
            <a:ext cx="1368157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 추가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업로드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461F8B6-464F-A927-4B00-F51D5AFA5247}"/>
              </a:ext>
            </a:extLst>
          </p:cNvPr>
          <p:cNvSpPr/>
          <p:nvPr/>
        </p:nvSpPr>
        <p:spPr>
          <a:xfrm>
            <a:off x="4328670" y="5798617"/>
            <a:ext cx="699418" cy="28803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A326662-0EE8-6B24-AF60-732BBBE54CD7}"/>
              </a:ext>
            </a:extLst>
          </p:cNvPr>
          <p:cNvSpPr/>
          <p:nvPr/>
        </p:nvSpPr>
        <p:spPr>
          <a:xfrm>
            <a:off x="258137" y="5061034"/>
            <a:ext cx="1453924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 추가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업로드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9CA23E56-F9F4-64A2-B4BD-E8E76AD8706B}"/>
              </a:ext>
            </a:extLst>
          </p:cNvPr>
          <p:cNvGraphicFramePr>
            <a:graphicFrameLocks noGrp="1"/>
          </p:cNvGraphicFramePr>
          <p:nvPr/>
        </p:nvGraphicFramePr>
        <p:xfrm>
          <a:off x="257100" y="5369892"/>
          <a:ext cx="4767908" cy="33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131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3226590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품목 정보 추가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엑셀 업로드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39517"/>
                  </a:ext>
                </a:extLst>
              </a:tr>
            </a:tbl>
          </a:graphicData>
        </a:graphic>
      </p:graphicFrame>
      <p:sp>
        <p:nvSpPr>
          <p:cNvPr id="38" name="직사각형 37">
            <a:extLst>
              <a:ext uri="{FF2B5EF4-FFF2-40B4-BE49-F238E27FC236}">
                <a16:creationId xmlns:a16="http://schemas.microsoft.com/office/drawing/2014/main" id="{591576FD-EE20-BE78-AAF6-082C3CDC0E1C}"/>
              </a:ext>
            </a:extLst>
          </p:cNvPr>
          <p:cNvSpPr/>
          <p:nvPr/>
        </p:nvSpPr>
        <p:spPr>
          <a:xfrm>
            <a:off x="1879040" y="5439379"/>
            <a:ext cx="2361869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파일을 첨부해주세요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AB23DD2-F2B2-06F8-C9AD-B7BB794F83A5}"/>
              </a:ext>
            </a:extLst>
          </p:cNvPr>
          <p:cNvSpPr/>
          <p:nvPr/>
        </p:nvSpPr>
        <p:spPr>
          <a:xfrm>
            <a:off x="4236552" y="5440915"/>
            <a:ext cx="692070" cy="20647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찾아보기</a:t>
            </a:r>
          </a:p>
        </p:txBody>
      </p: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C2BA62E7-6389-C635-226B-7E0B07DB54BB}"/>
              </a:ext>
            </a:extLst>
          </p:cNvPr>
          <p:cNvCxnSpPr>
            <a:cxnSpLocks/>
            <a:stCxn id="24" idx="2"/>
            <a:endCxn id="28" idx="0"/>
          </p:cNvCxnSpPr>
          <p:nvPr/>
        </p:nvCxnSpPr>
        <p:spPr>
          <a:xfrm rot="5400000">
            <a:off x="3564855" y="3395380"/>
            <a:ext cx="359445" cy="2233261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타원 40">
            <a:extLst>
              <a:ext uri="{FF2B5EF4-FFF2-40B4-BE49-F238E27FC236}">
                <a16:creationId xmlns:a16="http://schemas.microsoft.com/office/drawing/2014/main" id="{46499CD1-3CDE-AAB3-DE66-4FDD15EA6B7A}"/>
              </a:ext>
            </a:extLst>
          </p:cNvPr>
          <p:cNvSpPr/>
          <p:nvPr/>
        </p:nvSpPr>
        <p:spPr>
          <a:xfrm>
            <a:off x="7817401" y="2895071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30A0CC5B-047D-0D7A-514D-4CD2C52CB93A}"/>
              </a:ext>
            </a:extLst>
          </p:cNvPr>
          <p:cNvSpPr/>
          <p:nvPr/>
        </p:nvSpPr>
        <p:spPr>
          <a:xfrm>
            <a:off x="5585441" y="4044256"/>
            <a:ext cx="1147395" cy="2880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추가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품목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C7A4D22D-97BA-BFCF-5D14-3B354D067BF7}"/>
              </a:ext>
            </a:extLst>
          </p:cNvPr>
          <p:cNvSpPr/>
          <p:nvPr/>
        </p:nvSpPr>
        <p:spPr>
          <a:xfrm>
            <a:off x="5488635" y="3914304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05392411-81FC-D88B-34ED-70E08EC21DF6}"/>
              </a:ext>
            </a:extLst>
          </p:cNvPr>
          <p:cNvSpPr/>
          <p:nvPr/>
        </p:nvSpPr>
        <p:spPr>
          <a:xfrm>
            <a:off x="6690005" y="3914304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9DE55728-01EC-DD5D-0742-D16190AA3AFA}"/>
              </a:ext>
            </a:extLst>
          </p:cNvPr>
          <p:cNvSpPr/>
          <p:nvPr/>
        </p:nvSpPr>
        <p:spPr>
          <a:xfrm>
            <a:off x="8182253" y="3914304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47" name="표 46">
            <a:extLst>
              <a:ext uri="{FF2B5EF4-FFF2-40B4-BE49-F238E27FC236}">
                <a16:creationId xmlns:a16="http://schemas.microsoft.com/office/drawing/2014/main" id="{75F5CD94-BDCB-A01D-DB36-35DB5C447A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3720947"/>
              </p:ext>
            </p:extLst>
          </p:nvPr>
        </p:nvGraphicFramePr>
        <p:xfrm>
          <a:off x="164467" y="829880"/>
          <a:ext cx="7732447" cy="675840"/>
        </p:xfrm>
        <a:graphic>
          <a:graphicData uri="http://schemas.openxmlformats.org/drawingml/2006/table">
            <a:tbl>
              <a:tblPr firstRow="1" bandRow="1"/>
              <a:tblGrid>
                <a:gridCol w="765163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548277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044791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880958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817578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1074225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331392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548277">
                  <a:extLst>
                    <a:ext uri="{9D8B030D-6E8A-4147-A177-3AD203B41FA5}">
                      <a16:colId xmlns:a16="http://schemas.microsoft.com/office/drawing/2014/main" val="1778558004"/>
                    </a:ext>
                  </a:extLst>
                </a:gridCol>
                <a:gridCol w="721786">
                  <a:extLst>
                    <a:ext uri="{9D8B030D-6E8A-4147-A177-3AD203B41FA5}">
                      <a16:colId xmlns:a16="http://schemas.microsoft.com/office/drawing/2014/main" val="4848005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견적요청번호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견적요청명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견적유형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예산금액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품목구성방법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전달자료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요청 업체 수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RFQ2607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 중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태양광 발전기 도입 관련 견적 요청의 건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공사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용역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물품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135,400,000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품목단가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|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지정항목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건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건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4058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5F3BC-249A-F0AF-DE3B-38931899A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34E3B36-3D44-57B0-378B-9BCBF613602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C90E8D-E6EF-EE71-048F-FBD92BD75A53}"/>
              </a:ext>
            </a:extLst>
          </p:cNvPr>
          <p:cNvSpPr txBox="1"/>
          <p:nvPr/>
        </p:nvSpPr>
        <p:spPr>
          <a:xfrm>
            <a:off x="749224" y="25608"/>
            <a:ext cx="26564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추가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품목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))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6DC7B51-073C-9178-86C6-3A24B9FC6591}"/>
              </a:ext>
            </a:extLst>
          </p:cNvPr>
          <p:cNvSpPr/>
          <p:nvPr/>
        </p:nvSpPr>
        <p:spPr>
          <a:xfrm>
            <a:off x="164468" y="414790"/>
            <a:ext cx="7391699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품목 추가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공통 품목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F1EDD1A-D152-A9A1-4930-4BBC779BD767}"/>
              </a:ext>
            </a:extLst>
          </p:cNvPr>
          <p:cNvSpPr/>
          <p:nvPr/>
        </p:nvSpPr>
        <p:spPr>
          <a:xfrm>
            <a:off x="164469" y="687700"/>
            <a:ext cx="7391698" cy="515356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83AA3A2-B1DB-731C-B262-FD0AE53F376B}"/>
              </a:ext>
            </a:extLst>
          </p:cNvPr>
          <p:cNvSpPr/>
          <p:nvPr/>
        </p:nvSpPr>
        <p:spPr>
          <a:xfrm>
            <a:off x="7286167" y="414790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EBD5A9D-C75B-5B95-0925-7C1C356BE2B8}"/>
              </a:ext>
            </a:extLst>
          </p:cNvPr>
          <p:cNvSpPr/>
          <p:nvPr/>
        </p:nvSpPr>
        <p:spPr>
          <a:xfrm>
            <a:off x="7452512" y="688544"/>
            <a:ext cx="108012" cy="515281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21C7495-B011-F815-4C11-357B6B6C365A}"/>
              </a:ext>
            </a:extLst>
          </p:cNvPr>
          <p:cNvSpPr/>
          <p:nvPr/>
        </p:nvSpPr>
        <p:spPr>
          <a:xfrm>
            <a:off x="7452512" y="1070321"/>
            <a:ext cx="108012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758816A-5159-939C-6751-4586711D3BAA}"/>
              </a:ext>
            </a:extLst>
          </p:cNvPr>
          <p:cNvSpPr/>
          <p:nvPr/>
        </p:nvSpPr>
        <p:spPr>
          <a:xfrm>
            <a:off x="301563" y="792082"/>
            <a:ext cx="1320874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추가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품목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DDCDAD7-6970-1090-E8E4-716BF1E4DA1B}"/>
              </a:ext>
            </a:extLst>
          </p:cNvPr>
          <p:cNvSpPr/>
          <p:nvPr/>
        </p:nvSpPr>
        <p:spPr>
          <a:xfrm>
            <a:off x="6469347" y="5350086"/>
            <a:ext cx="813083" cy="28803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F9EB749-8E5D-59D1-5D78-291B39F25F24}"/>
              </a:ext>
            </a:extLst>
          </p:cNvPr>
          <p:cNvSpPr/>
          <p:nvPr/>
        </p:nvSpPr>
        <p:spPr>
          <a:xfrm>
            <a:off x="5605582" y="5350086"/>
            <a:ext cx="813083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선택 추가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BC35B1F-8962-35C8-EB44-76872EDFAE98}"/>
              </a:ext>
            </a:extLst>
          </p:cNvPr>
          <p:cNvSpPr/>
          <p:nvPr/>
        </p:nvSpPr>
        <p:spPr>
          <a:xfrm>
            <a:off x="306217" y="1125017"/>
            <a:ext cx="6976213" cy="129234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C554E99-762E-7451-C4A1-09D538ABC7AE}"/>
              </a:ext>
            </a:extLst>
          </p:cNvPr>
          <p:cNvSpPr/>
          <p:nvPr/>
        </p:nvSpPr>
        <p:spPr>
          <a:xfrm>
            <a:off x="1550272" y="2062348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구분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A13F9A3-44DF-5F1C-CF6E-BCAEAFDF41D4}"/>
              </a:ext>
            </a:extLst>
          </p:cNvPr>
          <p:cNvSpPr/>
          <p:nvPr/>
        </p:nvSpPr>
        <p:spPr>
          <a:xfrm>
            <a:off x="2360523" y="2062350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AF3438E-F9CD-49C3-493D-9256C33A4E93}"/>
              </a:ext>
            </a:extLst>
          </p:cNvPr>
          <p:cNvSpPr/>
          <p:nvPr/>
        </p:nvSpPr>
        <p:spPr>
          <a:xfrm>
            <a:off x="2675660" y="2062348"/>
            <a:ext cx="361980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검색어를 입력하세요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EE29165-4FB2-F452-1ACE-B8869D7DA7F3}"/>
              </a:ext>
            </a:extLst>
          </p:cNvPr>
          <p:cNvSpPr/>
          <p:nvPr/>
        </p:nvSpPr>
        <p:spPr>
          <a:xfrm>
            <a:off x="6383668" y="2062350"/>
            <a:ext cx="625198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FC381B1-7E9B-244D-C4DA-4009F4B7245A}"/>
              </a:ext>
            </a:extLst>
          </p:cNvPr>
          <p:cNvSpPr txBox="1"/>
          <p:nvPr/>
        </p:nvSpPr>
        <p:spPr>
          <a:xfrm>
            <a:off x="377599" y="1231522"/>
            <a:ext cx="68053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marR="0" lvl="0" indent="-7200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조회기간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등록일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                                                                                                                                            ~    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809A4A-8019-83A3-8388-74DA1E0233C6}"/>
              </a:ext>
            </a:extLst>
          </p:cNvPr>
          <p:cNvSpPr txBox="1"/>
          <p:nvPr/>
        </p:nvSpPr>
        <p:spPr>
          <a:xfrm>
            <a:off x="377598" y="2069493"/>
            <a:ext cx="511319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키워드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검색 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ko-KR" altLang="en-US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2A0D3BC-790B-438A-CD69-71E86E851599}"/>
              </a:ext>
            </a:extLst>
          </p:cNvPr>
          <p:cNvSpPr/>
          <p:nvPr/>
        </p:nvSpPr>
        <p:spPr>
          <a:xfrm>
            <a:off x="4825414" y="1219121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시작일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057072F-8A43-ACA5-341B-3D0248323340}"/>
              </a:ext>
            </a:extLst>
          </p:cNvPr>
          <p:cNvSpPr/>
          <p:nvPr/>
        </p:nvSpPr>
        <p:spPr>
          <a:xfrm>
            <a:off x="5635665" y="1219123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281413C-7DF9-4E97-2B65-214D2196178F}"/>
              </a:ext>
            </a:extLst>
          </p:cNvPr>
          <p:cNvSpPr/>
          <p:nvPr/>
        </p:nvSpPr>
        <p:spPr>
          <a:xfrm>
            <a:off x="6048920" y="1219121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종료일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D6FC7B6-8BEC-2512-C4B0-5D543627677E}"/>
              </a:ext>
            </a:extLst>
          </p:cNvPr>
          <p:cNvSpPr/>
          <p:nvPr/>
        </p:nvSpPr>
        <p:spPr>
          <a:xfrm>
            <a:off x="6859171" y="1219123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860635E-B04D-CC96-54A0-525ECF6AF4F4}"/>
              </a:ext>
            </a:extLst>
          </p:cNvPr>
          <p:cNvSpPr/>
          <p:nvPr/>
        </p:nvSpPr>
        <p:spPr>
          <a:xfrm>
            <a:off x="1535638" y="1219121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ko-KR" altLang="en-US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하루 전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7687E7F-F665-1DF4-D358-8B31FB60EC6E}"/>
              </a:ext>
            </a:extLst>
          </p:cNvPr>
          <p:cNvSpPr/>
          <p:nvPr/>
        </p:nvSpPr>
        <p:spPr>
          <a:xfrm>
            <a:off x="2084207" y="1219121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주일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38B7325-24F3-CC81-A7D1-601D6ED2A87B}"/>
              </a:ext>
            </a:extLst>
          </p:cNvPr>
          <p:cNvSpPr/>
          <p:nvPr/>
        </p:nvSpPr>
        <p:spPr>
          <a:xfrm>
            <a:off x="2632776" y="1219121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A2D563F-DCB0-7C71-CD15-9867CBE6D420}"/>
              </a:ext>
            </a:extLst>
          </p:cNvPr>
          <p:cNvSpPr/>
          <p:nvPr/>
        </p:nvSpPr>
        <p:spPr>
          <a:xfrm>
            <a:off x="3181345" y="1219121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DB51F2C-2455-6879-A539-AB81CA0E69D2}"/>
              </a:ext>
            </a:extLst>
          </p:cNvPr>
          <p:cNvSpPr/>
          <p:nvPr/>
        </p:nvSpPr>
        <p:spPr>
          <a:xfrm>
            <a:off x="3729914" y="1219121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6199B3E-CCF6-7C16-AD18-B2C935FEA30E}"/>
              </a:ext>
            </a:extLst>
          </p:cNvPr>
          <p:cNvSpPr/>
          <p:nvPr/>
        </p:nvSpPr>
        <p:spPr>
          <a:xfrm>
            <a:off x="4278482" y="1219121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년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28828D9-2FFC-30FF-DECA-29DB6A4A309A}"/>
              </a:ext>
            </a:extLst>
          </p:cNvPr>
          <p:cNvSpPr/>
          <p:nvPr/>
        </p:nvSpPr>
        <p:spPr>
          <a:xfrm>
            <a:off x="6241644" y="2489162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개씩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DB4E73B-A55F-FAA4-7B08-D3DDFD409363}"/>
              </a:ext>
            </a:extLst>
          </p:cNvPr>
          <p:cNvSpPr/>
          <p:nvPr/>
        </p:nvSpPr>
        <p:spPr>
          <a:xfrm>
            <a:off x="7063106" y="2489162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080669A-FBD4-4B21-2867-CA0A945EEEAD}"/>
              </a:ext>
            </a:extLst>
          </p:cNvPr>
          <p:cNvSpPr txBox="1"/>
          <p:nvPr/>
        </p:nvSpPr>
        <p:spPr>
          <a:xfrm>
            <a:off x="323255" y="2475644"/>
            <a:ext cx="297592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55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 현재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/4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31BFAD14-02E2-B5E7-412E-6DDAD329176A}"/>
              </a:ext>
            </a:extLst>
          </p:cNvPr>
          <p:cNvGraphicFramePr>
            <a:graphicFrameLocks noGrp="1"/>
          </p:cNvGraphicFramePr>
          <p:nvPr/>
        </p:nvGraphicFramePr>
        <p:xfrm>
          <a:off x="323253" y="2782477"/>
          <a:ext cx="6955294" cy="202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279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1181394">
                  <a:extLst>
                    <a:ext uri="{9D8B030D-6E8A-4147-A177-3AD203B41FA5}">
                      <a16:colId xmlns:a16="http://schemas.microsoft.com/office/drawing/2014/main" val="2652436465"/>
                    </a:ext>
                  </a:extLst>
                </a:gridCol>
                <a:gridCol w="2563711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641562">
                  <a:extLst>
                    <a:ext uri="{9D8B030D-6E8A-4147-A177-3AD203B41FA5}">
                      <a16:colId xmlns:a16="http://schemas.microsoft.com/office/drawing/2014/main" val="2264476566"/>
                    </a:ext>
                  </a:extLst>
                </a:gridCol>
                <a:gridCol w="641562">
                  <a:extLst>
                    <a:ext uri="{9D8B030D-6E8A-4147-A177-3AD203B41FA5}">
                      <a16:colId xmlns:a16="http://schemas.microsoft.com/office/drawing/2014/main" val="2466386541"/>
                    </a:ext>
                  </a:extLst>
                </a:gridCol>
                <a:gridCol w="734893">
                  <a:extLst>
                    <a:ext uri="{9D8B030D-6E8A-4147-A177-3AD203B41FA5}">
                      <a16:colId xmlns:a16="http://schemas.microsoft.com/office/drawing/2014/main" val="3354468507"/>
                    </a:ext>
                  </a:extLst>
                </a:gridCol>
                <a:gridCol w="774893">
                  <a:extLst>
                    <a:ext uri="{9D8B030D-6E8A-4147-A177-3AD203B41FA5}">
                      <a16:colId xmlns:a16="http://schemas.microsoft.com/office/drawing/2014/main" val="26099233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선택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품목코드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품목명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대분류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중분류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소분류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발주단위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□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A0102-0001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건축공사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제조사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고효율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ESSPCS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EA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□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고효율 공기 압축기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□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□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946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□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773569"/>
                  </a:ext>
                </a:extLst>
              </a:tr>
            </a:tbl>
          </a:graphicData>
        </a:graphic>
      </p:graphicFrame>
      <p:grpSp>
        <p:nvGrpSpPr>
          <p:cNvPr id="39" name="그룹 38">
            <a:extLst>
              <a:ext uri="{FF2B5EF4-FFF2-40B4-BE49-F238E27FC236}">
                <a16:creationId xmlns:a16="http://schemas.microsoft.com/office/drawing/2014/main" id="{DE7249D9-2E16-2885-2030-10E7D5A9783C}"/>
              </a:ext>
            </a:extLst>
          </p:cNvPr>
          <p:cNvGrpSpPr/>
          <p:nvPr/>
        </p:nvGrpSpPr>
        <p:grpSpPr>
          <a:xfrm>
            <a:off x="1841468" y="4917964"/>
            <a:ext cx="4025354" cy="216024"/>
            <a:chOff x="2992062" y="4869160"/>
            <a:chExt cx="4025354" cy="216024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CF5D14E4-D850-6480-D9FC-69D537A67EBD}"/>
                </a:ext>
              </a:extLst>
            </p:cNvPr>
            <p:cNvSpPr/>
            <p:nvPr/>
          </p:nvSpPr>
          <p:spPr>
            <a:xfrm>
              <a:off x="2992062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◀</a:t>
              </a: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B66BA464-DA67-48C6-B4F7-89CF1F266C06}"/>
                </a:ext>
              </a:extLst>
            </p:cNvPr>
            <p:cNvSpPr/>
            <p:nvPr/>
          </p:nvSpPr>
          <p:spPr>
            <a:xfrm>
              <a:off x="3285089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&lt;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9A7FD5DB-F915-C874-0387-FC1B5ECBC3C8}"/>
                </a:ext>
              </a:extLst>
            </p:cNvPr>
            <p:cNvSpPr/>
            <p:nvPr/>
          </p:nvSpPr>
          <p:spPr>
            <a:xfrm>
              <a:off x="3578116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C71BED23-DEDC-A2C5-8D6E-6D608A99CC52}"/>
                </a:ext>
              </a:extLst>
            </p:cNvPr>
            <p:cNvSpPr/>
            <p:nvPr/>
          </p:nvSpPr>
          <p:spPr>
            <a:xfrm>
              <a:off x="3871143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3B4B46D7-E69B-8F94-0CF5-CFB93A035CFC}"/>
                </a:ext>
              </a:extLst>
            </p:cNvPr>
            <p:cNvSpPr/>
            <p:nvPr/>
          </p:nvSpPr>
          <p:spPr>
            <a:xfrm>
              <a:off x="4164170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8D1353B2-4474-1876-594C-44BD218598BF}"/>
                </a:ext>
              </a:extLst>
            </p:cNvPr>
            <p:cNvSpPr/>
            <p:nvPr/>
          </p:nvSpPr>
          <p:spPr>
            <a:xfrm>
              <a:off x="4457197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E0CE7A22-0EDD-1164-909E-F97E17A505A0}"/>
                </a:ext>
              </a:extLst>
            </p:cNvPr>
            <p:cNvSpPr/>
            <p:nvPr/>
          </p:nvSpPr>
          <p:spPr>
            <a:xfrm>
              <a:off x="4750224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4A65DE22-EC82-5885-817B-2D8E5F5D47C7}"/>
                </a:ext>
              </a:extLst>
            </p:cNvPr>
            <p:cNvSpPr/>
            <p:nvPr/>
          </p:nvSpPr>
          <p:spPr>
            <a:xfrm>
              <a:off x="5043251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C97A3541-3C14-DDA0-E62A-C49795362268}"/>
                </a:ext>
              </a:extLst>
            </p:cNvPr>
            <p:cNvSpPr/>
            <p:nvPr/>
          </p:nvSpPr>
          <p:spPr>
            <a:xfrm>
              <a:off x="5336278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B1BC46C3-C22B-9EAF-5252-98A363FBFA0E}"/>
                </a:ext>
              </a:extLst>
            </p:cNvPr>
            <p:cNvSpPr/>
            <p:nvPr/>
          </p:nvSpPr>
          <p:spPr>
            <a:xfrm>
              <a:off x="5629305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7DC9A607-4165-BED7-F9BA-F71B5C463677}"/>
                </a:ext>
              </a:extLst>
            </p:cNvPr>
            <p:cNvSpPr/>
            <p:nvPr/>
          </p:nvSpPr>
          <p:spPr>
            <a:xfrm>
              <a:off x="5922332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866971D7-5EB7-7A92-47B0-E93D81D36CFF}"/>
                </a:ext>
              </a:extLst>
            </p:cNvPr>
            <p:cNvSpPr/>
            <p:nvPr/>
          </p:nvSpPr>
          <p:spPr>
            <a:xfrm>
              <a:off x="6215359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092F2BD6-4B82-089E-5E70-5B35930683B8}"/>
                </a:ext>
              </a:extLst>
            </p:cNvPr>
            <p:cNvSpPr/>
            <p:nvPr/>
          </p:nvSpPr>
          <p:spPr>
            <a:xfrm>
              <a:off x="650838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&gt;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9CEF281A-AAD4-782C-818D-11C792C40DD5}"/>
                </a:ext>
              </a:extLst>
            </p:cNvPr>
            <p:cNvSpPr/>
            <p:nvPr/>
          </p:nvSpPr>
          <p:spPr>
            <a:xfrm>
              <a:off x="680141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▶</a:t>
              </a: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EC20BBA9-35CC-6D58-7306-0216707D8CD8}"/>
              </a:ext>
            </a:extLst>
          </p:cNvPr>
          <p:cNvSpPr txBox="1"/>
          <p:nvPr/>
        </p:nvSpPr>
        <p:spPr>
          <a:xfrm>
            <a:off x="377598" y="1504581"/>
            <a:ext cx="511319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분류 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ko-KR" altLang="en-US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1B546C24-7BE8-6268-43B7-88EF0BB60602}"/>
              </a:ext>
            </a:extLst>
          </p:cNvPr>
          <p:cNvSpPr/>
          <p:nvPr/>
        </p:nvSpPr>
        <p:spPr>
          <a:xfrm>
            <a:off x="1541646" y="1497436"/>
            <a:ext cx="1374461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대분류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1320216F-57B8-11EF-644D-890BE40CAAE8}"/>
              </a:ext>
            </a:extLst>
          </p:cNvPr>
          <p:cNvSpPr/>
          <p:nvPr/>
        </p:nvSpPr>
        <p:spPr>
          <a:xfrm>
            <a:off x="2916107" y="1497438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E0FE5F04-E5E6-35FA-D094-9FC9883E0DCB}"/>
              </a:ext>
            </a:extLst>
          </p:cNvPr>
          <p:cNvSpPr/>
          <p:nvPr/>
        </p:nvSpPr>
        <p:spPr>
          <a:xfrm>
            <a:off x="3180803" y="1497436"/>
            <a:ext cx="1374461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중분류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8355927E-AB65-0450-3BB6-3FA7022EEE9C}"/>
              </a:ext>
            </a:extLst>
          </p:cNvPr>
          <p:cNvSpPr/>
          <p:nvPr/>
        </p:nvSpPr>
        <p:spPr>
          <a:xfrm>
            <a:off x="4555264" y="1497438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99AE3137-3E4C-AE47-C703-D5FDB04558CE}"/>
              </a:ext>
            </a:extLst>
          </p:cNvPr>
          <p:cNvSpPr/>
          <p:nvPr/>
        </p:nvSpPr>
        <p:spPr>
          <a:xfrm>
            <a:off x="4819960" y="1497436"/>
            <a:ext cx="1374461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소분류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71DF1C83-4120-B911-4F50-BADBF3A505B4}"/>
              </a:ext>
            </a:extLst>
          </p:cNvPr>
          <p:cNvSpPr/>
          <p:nvPr/>
        </p:nvSpPr>
        <p:spPr>
          <a:xfrm>
            <a:off x="6194421" y="1497438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E447930-7EE0-2171-FB8D-844FC559EA24}"/>
              </a:ext>
            </a:extLst>
          </p:cNvPr>
          <p:cNvSpPr txBox="1"/>
          <p:nvPr/>
        </p:nvSpPr>
        <p:spPr>
          <a:xfrm>
            <a:off x="377598" y="1781894"/>
            <a:ext cx="511319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발주단위 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ko-KR" altLang="en-US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574F92DA-5FAD-7BB5-AE3C-1265D989301F}"/>
              </a:ext>
            </a:extLst>
          </p:cNvPr>
          <p:cNvSpPr/>
          <p:nvPr/>
        </p:nvSpPr>
        <p:spPr>
          <a:xfrm>
            <a:off x="1541646" y="1774749"/>
            <a:ext cx="1034317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발주단위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004B2715-1190-8B5D-23CA-7792C95BB9A5}"/>
              </a:ext>
            </a:extLst>
          </p:cNvPr>
          <p:cNvSpPr/>
          <p:nvPr/>
        </p:nvSpPr>
        <p:spPr>
          <a:xfrm>
            <a:off x="2582979" y="1774751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1F86B15A-A8A7-EBD3-D586-AACC569C2840}"/>
              </a:ext>
            </a:extLst>
          </p:cNvPr>
          <p:cNvSpPr/>
          <p:nvPr/>
        </p:nvSpPr>
        <p:spPr>
          <a:xfrm>
            <a:off x="56457" y="332656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4BC1C22-5E7E-3A06-8962-D704E0E69743}"/>
              </a:ext>
            </a:extLst>
          </p:cNvPr>
          <p:cNvSpPr txBox="1"/>
          <p:nvPr/>
        </p:nvSpPr>
        <p:spPr>
          <a:xfrm>
            <a:off x="8049344" y="584684"/>
            <a:ext cx="1856656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기준 정보 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품목관리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에 등록된 공통 품목 호출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956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D7609-E4C7-FA59-8EFD-DFE2A18F0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7AFFFC0-5729-3BE6-9126-4C1993C2520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D515D2-D75C-B750-5107-D6EACC490075}"/>
              </a:ext>
            </a:extLst>
          </p:cNvPr>
          <p:cNvSpPr txBox="1"/>
          <p:nvPr/>
        </p:nvSpPr>
        <p:spPr>
          <a:xfrm>
            <a:off x="749224" y="25608"/>
            <a:ext cx="262123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 추가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07C8EF8-6188-4CBE-2ABD-958B5E887342}"/>
              </a:ext>
            </a:extLst>
          </p:cNvPr>
          <p:cNvSpPr/>
          <p:nvPr/>
        </p:nvSpPr>
        <p:spPr>
          <a:xfrm>
            <a:off x="164469" y="443797"/>
            <a:ext cx="4464496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 추가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3D73641-78FA-A568-CB6E-CC108C27A286}"/>
              </a:ext>
            </a:extLst>
          </p:cNvPr>
          <p:cNvSpPr/>
          <p:nvPr/>
        </p:nvSpPr>
        <p:spPr>
          <a:xfrm>
            <a:off x="164469" y="716707"/>
            <a:ext cx="4464495" cy="425346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9CE9113-7452-75C5-24FA-A563E689E2D3}"/>
              </a:ext>
            </a:extLst>
          </p:cNvPr>
          <p:cNvSpPr/>
          <p:nvPr/>
        </p:nvSpPr>
        <p:spPr>
          <a:xfrm>
            <a:off x="4358965" y="443797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3B11743-C958-B5F6-52BD-31A230074C04}"/>
              </a:ext>
            </a:extLst>
          </p:cNvPr>
          <p:cNvSpPr/>
          <p:nvPr/>
        </p:nvSpPr>
        <p:spPr>
          <a:xfrm>
            <a:off x="301563" y="821089"/>
            <a:ext cx="1271182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 추가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B6C45357-FB2E-51E2-1FD0-D0407E8038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3474557"/>
              </p:ext>
            </p:extLst>
          </p:nvPr>
        </p:nvGraphicFramePr>
        <p:xfrm>
          <a:off x="311903" y="1121956"/>
          <a:ext cx="4137041" cy="270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2705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3024336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품목코드</a:t>
                      </a:r>
                      <a:endParaRPr lang="en-US" altLang="ko-KR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※ </a:t>
                      </a:r>
                      <a:r>
                        <a:rPr lang="ko-KR" altLang="en-US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품목을 개별 등록하거나 지정항목의 경우 품목코드는 없습니다</a:t>
                      </a:r>
                      <a:r>
                        <a:rPr lang="en-US" altLang="ko-KR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39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품목명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규격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6535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단위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58676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수량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3187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납기요청일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81832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입고장소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켑코이에스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본사     ○ 현장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2719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비고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39989"/>
                  </a:ext>
                </a:extLst>
              </a:tr>
            </a:tbl>
          </a:graphicData>
        </a:graphic>
      </p:graphicFrame>
      <p:sp>
        <p:nvSpPr>
          <p:cNvPr id="31" name="직사각형 30">
            <a:extLst>
              <a:ext uri="{FF2B5EF4-FFF2-40B4-BE49-F238E27FC236}">
                <a16:creationId xmlns:a16="http://schemas.microsoft.com/office/drawing/2014/main" id="{AD6B7378-F076-7B84-2FC3-8119074475CD}"/>
              </a:ext>
            </a:extLst>
          </p:cNvPr>
          <p:cNvSpPr/>
          <p:nvPr/>
        </p:nvSpPr>
        <p:spPr>
          <a:xfrm>
            <a:off x="1500285" y="1849408"/>
            <a:ext cx="1971978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78B2AB2-009D-4CF9-B835-720C1B1BB770}"/>
              </a:ext>
            </a:extLst>
          </p:cNvPr>
          <p:cNvSpPr/>
          <p:nvPr/>
        </p:nvSpPr>
        <p:spPr>
          <a:xfrm>
            <a:off x="1496616" y="3547022"/>
            <a:ext cx="292800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 이내로 간략히 작성해주세요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4846C94-1EA3-BCC3-92D8-A33A2FFE8785}"/>
              </a:ext>
            </a:extLst>
          </p:cNvPr>
          <p:cNvSpPr/>
          <p:nvPr/>
        </p:nvSpPr>
        <p:spPr>
          <a:xfrm>
            <a:off x="1500285" y="2537036"/>
            <a:ext cx="115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숫자로만 입력해주세요.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87082BB-3FA9-54CA-F00D-4DF31A4D4FF7}"/>
              </a:ext>
            </a:extLst>
          </p:cNvPr>
          <p:cNvSpPr/>
          <p:nvPr/>
        </p:nvSpPr>
        <p:spPr>
          <a:xfrm>
            <a:off x="1496616" y="2869094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날짜 선택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926DA09C-23C4-AC3F-166C-E88DCEFDFC6C}"/>
              </a:ext>
            </a:extLst>
          </p:cNvPr>
          <p:cNvSpPr/>
          <p:nvPr/>
        </p:nvSpPr>
        <p:spPr>
          <a:xfrm>
            <a:off x="2306867" y="2869096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DA52393C-84BA-C3AE-289F-4C885D651570}"/>
              </a:ext>
            </a:extLst>
          </p:cNvPr>
          <p:cNvSpPr/>
          <p:nvPr/>
        </p:nvSpPr>
        <p:spPr>
          <a:xfrm>
            <a:off x="1496616" y="1524682"/>
            <a:ext cx="292800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 이내로 간략히 작성해주세요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42D8EFC3-E927-1CE3-40CA-8DBDB5627B07}"/>
              </a:ext>
            </a:extLst>
          </p:cNvPr>
          <p:cNvSpPr/>
          <p:nvPr/>
        </p:nvSpPr>
        <p:spPr>
          <a:xfrm>
            <a:off x="1500285" y="2191166"/>
            <a:ext cx="115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E4059EBD-358C-8FC8-4161-CA9CB9AEB0DE}"/>
              </a:ext>
            </a:extLst>
          </p:cNvPr>
          <p:cNvSpPr/>
          <p:nvPr/>
        </p:nvSpPr>
        <p:spPr>
          <a:xfrm>
            <a:off x="3002620" y="4479725"/>
            <a:ext cx="699418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342E47FD-A9BB-D990-F7C3-D16612A2CCD1}"/>
              </a:ext>
            </a:extLst>
          </p:cNvPr>
          <p:cNvSpPr/>
          <p:nvPr/>
        </p:nvSpPr>
        <p:spPr>
          <a:xfrm>
            <a:off x="3761779" y="4479725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F84AA107-7562-60E7-B9D8-FBD68B6BB825}"/>
              </a:ext>
            </a:extLst>
          </p:cNvPr>
          <p:cNvSpPr/>
          <p:nvPr/>
        </p:nvSpPr>
        <p:spPr>
          <a:xfrm>
            <a:off x="311904" y="3920025"/>
            <a:ext cx="4137040" cy="44502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□ 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본 품목에 입력된 값으로 납기요청일과 입고장소를 일괄적으로 적용합니다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67095641-3CA0-6958-FB9E-BEDDFF9B58E5}"/>
              </a:ext>
            </a:extLst>
          </p:cNvPr>
          <p:cNvSpPr/>
          <p:nvPr/>
        </p:nvSpPr>
        <p:spPr>
          <a:xfrm>
            <a:off x="2243461" y="4479725"/>
            <a:ext cx="699418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등록</a:t>
            </a:r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24B2B97A-4804-032A-EACA-7018AA753084}"/>
              </a:ext>
            </a:extLst>
          </p:cNvPr>
          <p:cNvSpPr/>
          <p:nvPr/>
        </p:nvSpPr>
        <p:spPr>
          <a:xfrm>
            <a:off x="56457" y="332656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4E9A58B-A49E-139B-02BC-EA72CC88C8D7}"/>
              </a:ext>
            </a:extLst>
          </p:cNvPr>
          <p:cNvSpPr txBox="1"/>
          <p:nvPr/>
        </p:nvSpPr>
        <p:spPr>
          <a:xfrm>
            <a:off x="8049344" y="584684"/>
            <a:ext cx="1856656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정보를 개별로 직접 등록하거나 내역을 수정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보완할 때 사용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75612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C3393-BCBB-087A-2CD7-59EC0D985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25EAA38-2988-39A9-74BE-224C0589481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726777-997B-6E03-FDCF-729F655283C2}"/>
              </a:ext>
            </a:extLst>
          </p:cNvPr>
          <p:cNvSpPr txBox="1"/>
          <p:nvPr/>
        </p:nvSpPr>
        <p:spPr>
          <a:xfrm>
            <a:off x="749224" y="25608"/>
            <a:ext cx="224773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전달자료 관리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AF4CD7C-7801-D3CD-24FA-F02308161FD8}"/>
              </a:ext>
            </a:extLst>
          </p:cNvPr>
          <p:cNvSpPr/>
          <p:nvPr/>
        </p:nvSpPr>
        <p:spPr>
          <a:xfrm>
            <a:off x="164468" y="403565"/>
            <a:ext cx="791883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BEA3306B-F899-F305-37C0-8E93D9DE5D9E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3AF9C19-FB01-EBDF-EC3D-C8278CA16854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C45C619-6FD3-5A23-09B1-ABC4F9DF6E06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2F8285-EAB7-BE7E-AA3A-7395137BC01A}"/>
              </a:ext>
            </a:extLst>
          </p:cNvPr>
          <p:cNvSpPr txBox="1"/>
          <p:nvPr/>
        </p:nvSpPr>
        <p:spPr>
          <a:xfrm>
            <a:off x="164468" y="2318856"/>
            <a:ext cx="305334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등록된 전달자료 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총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88562FB2-3078-E999-F422-B26B73B95928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2601944"/>
          <a:ext cx="7740858" cy="1013760"/>
        </p:xfrm>
        <a:graphic>
          <a:graphicData uri="http://schemas.openxmlformats.org/drawingml/2006/table">
            <a:tbl>
              <a:tblPr firstRow="1" bandRow="1"/>
              <a:tblGrid>
                <a:gridCol w="371111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3983122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638929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747696">
                  <a:extLst>
                    <a:ext uri="{9D8B030D-6E8A-4147-A177-3AD203B41FA5}">
                      <a16:colId xmlns:a16="http://schemas.microsoft.com/office/drawing/2014/main" val="18747266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전달자료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파일명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전달자료 안내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삭제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견적 요청 시 유의사항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켑코이에스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)#1 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파일명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.PDF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견적 요청 시 유의사항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반드시 읽어주세요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견적 요청 시 유의사항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켑코이에스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)#2 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파일명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.PDF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</a:tbl>
          </a:graphicData>
        </a:graphic>
      </p:graphicFrame>
      <p:sp>
        <p:nvSpPr>
          <p:cNvPr id="96" name="직사각형 95">
            <a:extLst>
              <a:ext uri="{FF2B5EF4-FFF2-40B4-BE49-F238E27FC236}">
                <a16:creationId xmlns:a16="http://schemas.microsoft.com/office/drawing/2014/main" id="{22F83C10-B461-50D7-DD64-E465F5BD3B74}"/>
              </a:ext>
            </a:extLst>
          </p:cNvPr>
          <p:cNvSpPr/>
          <p:nvPr/>
        </p:nvSpPr>
        <p:spPr>
          <a:xfrm>
            <a:off x="6228293" y="3702372"/>
            <a:ext cx="901831" cy="2880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전달자료 추가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E70E2C87-830C-D213-21F0-F9010AB17991}"/>
              </a:ext>
            </a:extLst>
          </p:cNvPr>
          <p:cNvSpPr/>
          <p:nvPr/>
        </p:nvSpPr>
        <p:spPr>
          <a:xfrm>
            <a:off x="7296260" y="3005284"/>
            <a:ext cx="458854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18C4A7A-5AD8-84CF-81BF-7F7A07394E7A}"/>
              </a:ext>
            </a:extLst>
          </p:cNvPr>
          <p:cNvSpPr/>
          <p:nvPr/>
        </p:nvSpPr>
        <p:spPr>
          <a:xfrm>
            <a:off x="2828764" y="3013562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9B5BBA6-F7CA-0B47-7DF0-3B2FB850EE94}"/>
              </a:ext>
            </a:extLst>
          </p:cNvPr>
          <p:cNvSpPr/>
          <p:nvPr/>
        </p:nvSpPr>
        <p:spPr>
          <a:xfrm>
            <a:off x="3491601" y="3013562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31E5520-712B-1FC1-E057-DD5A4D62BF54}"/>
              </a:ext>
            </a:extLst>
          </p:cNvPr>
          <p:cNvSpPr/>
          <p:nvPr/>
        </p:nvSpPr>
        <p:spPr>
          <a:xfrm>
            <a:off x="7296260" y="3332238"/>
            <a:ext cx="458854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6E4B014-50BB-A2E4-1019-1FF85E242066}"/>
              </a:ext>
            </a:extLst>
          </p:cNvPr>
          <p:cNvSpPr txBox="1"/>
          <p:nvPr/>
        </p:nvSpPr>
        <p:spPr>
          <a:xfrm>
            <a:off x="1989907" y="4466617"/>
            <a:ext cx="1856656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별첨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1]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 추가를 위한 엑셀 다운로드 양식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.xlsx 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B8D56CA0-46F6-8FB0-4ED8-E1DBDE69CAD3}"/>
              </a:ext>
            </a:extLst>
          </p:cNvPr>
          <p:cNvSpPr/>
          <p:nvPr/>
        </p:nvSpPr>
        <p:spPr>
          <a:xfrm>
            <a:off x="1261840" y="4185084"/>
            <a:ext cx="513132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전달자료 추가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D7200F5-8422-E213-3F1E-EA4CC1E3F86B}"/>
              </a:ext>
            </a:extLst>
          </p:cNvPr>
          <p:cNvSpPr/>
          <p:nvPr/>
        </p:nvSpPr>
        <p:spPr>
          <a:xfrm>
            <a:off x="1261840" y="4457996"/>
            <a:ext cx="5131320" cy="164775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3C7322BD-3C84-B49B-A7F0-70FC3AB685A6}"/>
              </a:ext>
            </a:extLst>
          </p:cNvPr>
          <p:cNvSpPr/>
          <p:nvPr/>
        </p:nvSpPr>
        <p:spPr>
          <a:xfrm>
            <a:off x="6123160" y="4185084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91FC0007-4CC7-3545-4E0D-5A4841FC2F60}"/>
              </a:ext>
            </a:extLst>
          </p:cNvPr>
          <p:cNvSpPr/>
          <p:nvPr/>
        </p:nvSpPr>
        <p:spPr>
          <a:xfrm>
            <a:off x="4610212" y="5654393"/>
            <a:ext cx="894526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전달자료 추가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4FA95A0F-9C1D-1ED7-635C-DB53FB159B1C}"/>
              </a:ext>
            </a:extLst>
          </p:cNvPr>
          <p:cNvSpPr/>
          <p:nvPr/>
        </p:nvSpPr>
        <p:spPr>
          <a:xfrm>
            <a:off x="5564479" y="5654393"/>
            <a:ext cx="699418" cy="28803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C6D27AC9-3B6A-AE87-6E65-D11BE741FF74}"/>
              </a:ext>
            </a:extLst>
          </p:cNvPr>
          <p:cNvSpPr/>
          <p:nvPr/>
        </p:nvSpPr>
        <p:spPr>
          <a:xfrm>
            <a:off x="1393060" y="4554385"/>
            <a:ext cx="912109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전달자료 추가</a:t>
            </a:r>
          </a:p>
        </p:txBody>
      </p:sp>
      <p:graphicFrame>
        <p:nvGraphicFramePr>
          <p:cNvPr id="67" name="표 66">
            <a:extLst>
              <a:ext uri="{FF2B5EF4-FFF2-40B4-BE49-F238E27FC236}">
                <a16:creationId xmlns:a16="http://schemas.microsoft.com/office/drawing/2014/main" id="{CAA8D9FE-6B41-2FC2-1151-009D99CE76AF}"/>
              </a:ext>
            </a:extLst>
          </p:cNvPr>
          <p:cNvGraphicFramePr>
            <a:graphicFrameLocks noGrp="1"/>
          </p:cNvGraphicFramePr>
          <p:nvPr/>
        </p:nvGraphicFramePr>
        <p:xfrm>
          <a:off x="1392023" y="4863243"/>
          <a:ext cx="4879382" cy="67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416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3395214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전달자료 첨부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39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전달자료 안내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</a:tbl>
          </a:graphicData>
        </a:graphic>
      </p:graphicFrame>
      <p:sp>
        <p:nvSpPr>
          <p:cNvPr id="71" name="직사각형 70">
            <a:extLst>
              <a:ext uri="{FF2B5EF4-FFF2-40B4-BE49-F238E27FC236}">
                <a16:creationId xmlns:a16="http://schemas.microsoft.com/office/drawing/2014/main" id="{742D5DF6-22FB-7163-4DD7-E50BAC94F399}"/>
              </a:ext>
            </a:extLst>
          </p:cNvPr>
          <p:cNvSpPr/>
          <p:nvPr/>
        </p:nvSpPr>
        <p:spPr>
          <a:xfrm>
            <a:off x="2958731" y="5266585"/>
            <a:ext cx="3060340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50</a:t>
            </a: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 이내로 간략히 작성해주세요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EE823768-304B-EDAC-B9AE-2BA30570E8B7}"/>
              </a:ext>
            </a:extLst>
          </p:cNvPr>
          <p:cNvSpPr/>
          <p:nvPr/>
        </p:nvSpPr>
        <p:spPr>
          <a:xfrm>
            <a:off x="2958731" y="4924104"/>
            <a:ext cx="2361869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파일을 첨부해주세요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766BD1F3-700F-C3A3-1FA3-EE6393D99E53}"/>
              </a:ext>
            </a:extLst>
          </p:cNvPr>
          <p:cNvSpPr/>
          <p:nvPr/>
        </p:nvSpPr>
        <p:spPr>
          <a:xfrm>
            <a:off x="5316243" y="4925640"/>
            <a:ext cx="692070" cy="20647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찾아보기</a:t>
            </a:r>
          </a:p>
        </p:txBody>
      </p:sp>
      <p:cxnSp>
        <p:nvCxnSpPr>
          <p:cNvPr id="85" name="연결선: 꺾임 84">
            <a:extLst>
              <a:ext uri="{FF2B5EF4-FFF2-40B4-BE49-F238E27FC236}">
                <a16:creationId xmlns:a16="http://schemas.microsoft.com/office/drawing/2014/main" id="{D23F5371-4603-BF3F-5D5C-4BF7120EF18E}"/>
              </a:ext>
            </a:extLst>
          </p:cNvPr>
          <p:cNvCxnSpPr>
            <a:cxnSpLocks/>
            <a:stCxn id="96" idx="2"/>
            <a:endCxn id="48" idx="3"/>
          </p:cNvCxnSpPr>
          <p:nvPr/>
        </p:nvCxnSpPr>
        <p:spPr>
          <a:xfrm rot="5400000">
            <a:off x="5890450" y="4493115"/>
            <a:ext cx="1291471" cy="286049"/>
          </a:xfrm>
          <a:prstGeom prst="bentConnector2">
            <a:avLst/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그룹 5">
            <a:extLst>
              <a:ext uri="{FF2B5EF4-FFF2-40B4-BE49-F238E27FC236}">
                <a16:creationId xmlns:a16="http://schemas.microsoft.com/office/drawing/2014/main" id="{2304C095-48E8-9E62-3A90-B5BF3F6A4FD0}"/>
              </a:ext>
            </a:extLst>
          </p:cNvPr>
          <p:cNvGrpSpPr/>
          <p:nvPr/>
        </p:nvGrpSpPr>
        <p:grpSpPr>
          <a:xfrm>
            <a:off x="164468" y="1603659"/>
            <a:ext cx="7740859" cy="643315"/>
            <a:chOff x="213978" y="826923"/>
            <a:chExt cx="8410484" cy="643315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342FECDE-4DEA-D346-C73F-BE4A234D807A}"/>
                </a:ext>
              </a:extLst>
            </p:cNvPr>
            <p:cNvSpPr/>
            <p:nvPr/>
          </p:nvSpPr>
          <p:spPr>
            <a:xfrm>
              <a:off x="213978" y="826923"/>
              <a:ext cx="1332184" cy="643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01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b="1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견적 요청 기본정보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83F0694C-0743-25D1-97B1-459B82F256EC}"/>
                </a:ext>
              </a:extLst>
            </p:cNvPr>
            <p:cNvSpPr/>
            <p:nvPr/>
          </p:nvSpPr>
          <p:spPr>
            <a:xfrm>
              <a:off x="1629638" y="826923"/>
              <a:ext cx="1332184" cy="643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02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b="1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품목 정보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2247D4C0-4646-FEC9-5F9B-46DFD54ED8D8}"/>
                </a:ext>
              </a:extLst>
            </p:cNvPr>
            <p:cNvSpPr/>
            <p:nvPr/>
          </p:nvSpPr>
          <p:spPr>
            <a:xfrm>
              <a:off x="3045298" y="826923"/>
              <a:ext cx="1332184" cy="643315"/>
            </a:xfrm>
            <a:prstGeom prst="rect">
              <a:avLst/>
            </a:prstGeom>
            <a:solidFill>
              <a:srgbClr val="FFC000">
                <a:alpha val="69804"/>
              </a:srgb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03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b="1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전달자료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2C93A77A-88D0-3BA4-C8CD-A012851BD77C}"/>
                </a:ext>
              </a:extLst>
            </p:cNvPr>
            <p:cNvSpPr/>
            <p:nvPr/>
          </p:nvSpPr>
          <p:spPr>
            <a:xfrm>
              <a:off x="4460958" y="826923"/>
              <a:ext cx="1332184" cy="643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04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견적 요청 업체 선정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C736B1AE-EDB5-D155-C766-61AC95FE54D9}"/>
                </a:ext>
              </a:extLst>
            </p:cNvPr>
            <p:cNvSpPr/>
            <p:nvPr/>
          </p:nvSpPr>
          <p:spPr>
            <a:xfrm>
              <a:off x="5876618" y="826923"/>
              <a:ext cx="1332184" cy="643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05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최종 점검 및 견적 요청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215C5021-1EE4-C86C-44AD-C6BAE9208C71}"/>
                </a:ext>
              </a:extLst>
            </p:cNvPr>
            <p:cNvSpPr/>
            <p:nvPr/>
          </p:nvSpPr>
          <p:spPr>
            <a:xfrm>
              <a:off x="7292278" y="826923"/>
              <a:ext cx="1332184" cy="643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06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견적 요청 완료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04645AB-8202-8EDE-9BA1-88989E50F7A1}"/>
              </a:ext>
            </a:extLst>
          </p:cNvPr>
          <p:cNvSpPr/>
          <p:nvPr/>
        </p:nvSpPr>
        <p:spPr>
          <a:xfrm>
            <a:off x="2828764" y="3347821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ECF57B2-C2AF-B8BE-320B-90CF0D0B5CC1}"/>
              </a:ext>
            </a:extLst>
          </p:cNvPr>
          <p:cNvSpPr/>
          <p:nvPr/>
        </p:nvSpPr>
        <p:spPr>
          <a:xfrm>
            <a:off x="3491601" y="3347821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3EB5BDA8-E754-B173-DC5C-2AB38140BFC8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97536179-A45D-E57D-7D95-C6F1A69AF7D0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F1DC57DE-5EA0-1D01-CB2A-E22752D396AE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69" name="Picture 1">
            <a:extLst>
              <a:ext uri="{FF2B5EF4-FFF2-40B4-BE49-F238E27FC236}">
                <a16:creationId xmlns:a16="http://schemas.microsoft.com/office/drawing/2014/main" id="{12E554BF-0AA6-3D05-7E24-A40B7E2BF3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6EBE74E-82C8-74A6-4980-4DCB3732989B}"/>
              </a:ext>
            </a:extLst>
          </p:cNvPr>
          <p:cNvSpPr/>
          <p:nvPr/>
        </p:nvSpPr>
        <p:spPr>
          <a:xfrm>
            <a:off x="-1690381" y="1098519"/>
            <a:ext cx="1467136" cy="5662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현황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21E6C817-513C-4800-9D0F-0C2C97D1CD36}"/>
              </a:ext>
            </a:extLst>
          </p:cNvPr>
          <p:cNvSpPr/>
          <p:nvPr/>
        </p:nvSpPr>
        <p:spPr>
          <a:xfrm>
            <a:off x="2662352" y="1513772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A29288-298A-559C-B53A-F3B67CC3799E}"/>
              </a:ext>
            </a:extLst>
          </p:cNvPr>
          <p:cNvSpPr txBox="1"/>
          <p:nvPr/>
        </p:nvSpPr>
        <p:spPr>
          <a:xfrm>
            <a:off x="8049344" y="584684"/>
            <a:ext cx="1856656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요청 대상 협력업체에게 전달하는 견적 참고 자료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8D9768B-86A8-9EB7-13BF-102CD17DBA0D}"/>
              </a:ext>
            </a:extLst>
          </p:cNvPr>
          <p:cNvSpPr/>
          <p:nvPr/>
        </p:nvSpPr>
        <p:spPr>
          <a:xfrm>
            <a:off x="189007" y="3702372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32163F9-42D8-1443-B576-8804FD88DC7B}"/>
              </a:ext>
            </a:extLst>
          </p:cNvPr>
          <p:cNvSpPr/>
          <p:nvPr/>
        </p:nvSpPr>
        <p:spPr>
          <a:xfrm>
            <a:off x="7195374" y="3702372"/>
            <a:ext cx="709953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저장</a:t>
            </a:r>
            <a:endParaRPr lang="ko-KR" altLang="en-US" sz="9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4CBAADD-D322-5C0F-5972-1E83529DDA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0911591"/>
              </p:ext>
            </p:extLst>
          </p:nvPr>
        </p:nvGraphicFramePr>
        <p:xfrm>
          <a:off x="164467" y="829880"/>
          <a:ext cx="7732447" cy="675840"/>
        </p:xfrm>
        <a:graphic>
          <a:graphicData uri="http://schemas.openxmlformats.org/drawingml/2006/table">
            <a:tbl>
              <a:tblPr firstRow="1" bandRow="1"/>
              <a:tblGrid>
                <a:gridCol w="765163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548277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044791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880958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817578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1074225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331392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548277">
                  <a:extLst>
                    <a:ext uri="{9D8B030D-6E8A-4147-A177-3AD203B41FA5}">
                      <a16:colId xmlns:a16="http://schemas.microsoft.com/office/drawing/2014/main" val="1778558004"/>
                    </a:ext>
                  </a:extLst>
                </a:gridCol>
                <a:gridCol w="721786">
                  <a:extLst>
                    <a:ext uri="{9D8B030D-6E8A-4147-A177-3AD203B41FA5}">
                      <a16:colId xmlns:a16="http://schemas.microsoft.com/office/drawing/2014/main" val="4848005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견적요청번호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견적요청명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견적유형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예산금액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품목구성방법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전달자료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요청 업체 수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RFQ2607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 중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태양광 발전기 도입 관련 견적 요청의 건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공사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용역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물품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135,400,000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품목단가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|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지정항목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건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건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5891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26154-7963-0DE5-741D-06F48724F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1CC096F-A3A1-2DDE-0127-F5DC4BE1C54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22026E-396B-C62C-0ECC-C01F19284F7A}"/>
              </a:ext>
            </a:extLst>
          </p:cNvPr>
          <p:cNvSpPr txBox="1"/>
          <p:nvPr/>
        </p:nvSpPr>
        <p:spPr>
          <a:xfrm>
            <a:off x="749224" y="25608"/>
            <a:ext cx="25939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요청 업체 선정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8C6B18F-AAAF-85CB-B92E-5DCB0E6E7271}"/>
              </a:ext>
            </a:extLst>
          </p:cNvPr>
          <p:cNvSpPr/>
          <p:nvPr/>
        </p:nvSpPr>
        <p:spPr>
          <a:xfrm>
            <a:off x="164468" y="403565"/>
            <a:ext cx="791883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BD9E3A9B-EFF6-405C-F6EC-DEE6BD25D1C2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746CA66-C49B-4041-916B-F4F6BDB82374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946CAB8-C3A3-D5D5-DA75-EFFA96A47384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76AF82-721F-D3E9-D101-E24A3C7CC03A}"/>
              </a:ext>
            </a:extLst>
          </p:cNvPr>
          <p:cNvSpPr txBox="1"/>
          <p:nvPr/>
        </p:nvSpPr>
        <p:spPr>
          <a:xfrm>
            <a:off x="164468" y="2321992"/>
            <a:ext cx="305334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요청 업체 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총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</a:t>
            </a: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16E7DFD5-038D-8BFE-3623-18BB52ADB949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2614944"/>
          <a:ext cx="7740858" cy="1013760"/>
        </p:xfrm>
        <a:graphic>
          <a:graphicData uri="http://schemas.openxmlformats.org/drawingml/2006/table">
            <a:tbl>
              <a:tblPr firstRow="1" bandRow="1"/>
              <a:tblGrid>
                <a:gridCol w="266936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892479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649411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434939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434939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962181">
                  <a:extLst>
                    <a:ext uri="{9D8B030D-6E8A-4147-A177-3AD203B41FA5}">
                      <a16:colId xmlns:a16="http://schemas.microsoft.com/office/drawing/2014/main" val="3408856969"/>
                    </a:ext>
                  </a:extLst>
                </a:gridCol>
                <a:gridCol w="1253506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1083715">
                  <a:extLst>
                    <a:ext uri="{9D8B030D-6E8A-4147-A177-3AD203B41FA5}">
                      <a16:colId xmlns:a16="http://schemas.microsoft.com/office/drawing/2014/main" val="1778558004"/>
                    </a:ext>
                  </a:extLst>
                </a:gridCol>
                <a:gridCol w="1174867">
                  <a:extLst>
                    <a:ext uri="{9D8B030D-6E8A-4147-A177-3AD203B41FA5}">
                      <a16:colId xmlns:a16="http://schemas.microsoft.com/office/drawing/2014/main" val="1064158510"/>
                    </a:ext>
                  </a:extLst>
                </a:gridCol>
                <a:gridCol w="587885">
                  <a:extLst>
                    <a:ext uri="{9D8B030D-6E8A-4147-A177-3AD203B41FA5}">
                      <a16:colId xmlns:a16="http://schemas.microsoft.com/office/drawing/2014/main" val="20518093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사업자번호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업체명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대표자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핸드폰번호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이메일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 마감일시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견적요청 담당자 변경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삭제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123-45-67891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삼전디에스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홍길동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한지훈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010-1234-5678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leehee43@naver.com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2026.08.10 18:00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123-45-67891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넷퍼시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홍길동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김미라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2026.08.10 18:00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</a:tbl>
          </a:graphicData>
        </a:graphic>
      </p:graphicFrame>
      <p:sp>
        <p:nvSpPr>
          <p:cNvPr id="41" name="직사각형 40">
            <a:extLst>
              <a:ext uri="{FF2B5EF4-FFF2-40B4-BE49-F238E27FC236}">
                <a16:creationId xmlns:a16="http://schemas.microsoft.com/office/drawing/2014/main" id="{4CAD1EFE-1555-41F8-7FAE-A610329E8DDF}"/>
              </a:ext>
            </a:extLst>
          </p:cNvPr>
          <p:cNvSpPr/>
          <p:nvPr/>
        </p:nvSpPr>
        <p:spPr>
          <a:xfrm>
            <a:off x="7382520" y="3017046"/>
            <a:ext cx="458854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BC2BD12E-412C-DD49-B211-4C08B270886C}"/>
              </a:ext>
            </a:extLst>
          </p:cNvPr>
          <p:cNvSpPr/>
          <p:nvPr/>
        </p:nvSpPr>
        <p:spPr>
          <a:xfrm>
            <a:off x="7382520" y="3344000"/>
            <a:ext cx="458854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497ED1F5-60B0-796C-807D-971C81F22420}"/>
              </a:ext>
            </a:extLst>
          </p:cNvPr>
          <p:cNvSpPr/>
          <p:nvPr/>
        </p:nvSpPr>
        <p:spPr>
          <a:xfrm>
            <a:off x="7192782" y="3728664"/>
            <a:ext cx="678273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저장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842AEB3D-8C70-F2EF-247B-7B5A3CE00557}"/>
              </a:ext>
            </a:extLst>
          </p:cNvPr>
          <p:cNvSpPr/>
          <p:nvPr/>
        </p:nvSpPr>
        <p:spPr>
          <a:xfrm>
            <a:off x="5986109" y="3728664"/>
            <a:ext cx="1143497" cy="2880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마감일시 등록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AB82BEE-0A81-9B82-C7B9-EFE4404B3C33}"/>
              </a:ext>
            </a:extLst>
          </p:cNvPr>
          <p:cNvSpPr/>
          <p:nvPr/>
        </p:nvSpPr>
        <p:spPr>
          <a:xfrm>
            <a:off x="4779437" y="3728664"/>
            <a:ext cx="1143497" cy="2880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견적요청 업체 추가</a:t>
            </a: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1CDCEA35-B075-5BBD-3643-AD91CB62EB16}"/>
              </a:ext>
            </a:extLst>
          </p:cNvPr>
          <p:cNvGrpSpPr/>
          <p:nvPr/>
        </p:nvGrpSpPr>
        <p:grpSpPr>
          <a:xfrm>
            <a:off x="164468" y="1594903"/>
            <a:ext cx="7740859" cy="643315"/>
            <a:chOff x="213978" y="826923"/>
            <a:chExt cx="8410484" cy="643315"/>
          </a:xfrm>
        </p:grpSpPr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87A0C757-868A-FE06-7546-507435BBCC06}"/>
                </a:ext>
              </a:extLst>
            </p:cNvPr>
            <p:cNvSpPr/>
            <p:nvPr/>
          </p:nvSpPr>
          <p:spPr>
            <a:xfrm>
              <a:off x="213978" y="826923"/>
              <a:ext cx="1332184" cy="643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01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b="1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견적 요청 기본정보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54901314-A747-7D5F-54C3-52C808513F6B}"/>
                </a:ext>
              </a:extLst>
            </p:cNvPr>
            <p:cNvSpPr/>
            <p:nvPr/>
          </p:nvSpPr>
          <p:spPr>
            <a:xfrm>
              <a:off x="1629638" y="826923"/>
              <a:ext cx="1332184" cy="643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02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b="1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품목 정보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B552070A-8034-79DB-FFF0-197716A58143}"/>
                </a:ext>
              </a:extLst>
            </p:cNvPr>
            <p:cNvSpPr/>
            <p:nvPr/>
          </p:nvSpPr>
          <p:spPr>
            <a:xfrm>
              <a:off x="3045298" y="826923"/>
              <a:ext cx="1332184" cy="643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03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b="1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전달자료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C82D5DCE-AC27-3B63-0207-A6EE9D757AC3}"/>
                </a:ext>
              </a:extLst>
            </p:cNvPr>
            <p:cNvSpPr/>
            <p:nvPr/>
          </p:nvSpPr>
          <p:spPr>
            <a:xfrm>
              <a:off x="4460958" y="826923"/>
              <a:ext cx="1332184" cy="643315"/>
            </a:xfrm>
            <a:prstGeom prst="rect">
              <a:avLst/>
            </a:prstGeom>
            <a:solidFill>
              <a:srgbClr val="FFC000">
                <a:alpha val="69804"/>
              </a:srgb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04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견적 요청 업체 선정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572D15C0-0A68-2BA2-5E3E-06ADF126F8E4}"/>
                </a:ext>
              </a:extLst>
            </p:cNvPr>
            <p:cNvSpPr/>
            <p:nvPr/>
          </p:nvSpPr>
          <p:spPr>
            <a:xfrm>
              <a:off x="5876618" y="826923"/>
              <a:ext cx="1332184" cy="643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05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최종 점검 및 견적 요청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A306F4AF-2A99-A3C5-4A66-F82ED70C4BE8}"/>
                </a:ext>
              </a:extLst>
            </p:cNvPr>
            <p:cNvSpPr/>
            <p:nvPr/>
          </p:nvSpPr>
          <p:spPr>
            <a:xfrm>
              <a:off x="7292278" y="826923"/>
              <a:ext cx="1332184" cy="643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06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견적 요청 완료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457C424F-0224-4C2E-6978-8D07AF4BF71C}"/>
              </a:ext>
            </a:extLst>
          </p:cNvPr>
          <p:cNvSpPr/>
          <p:nvPr/>
        </p:nvSpPr>
        <p:spPr>
          <a:xfrm>
            <a:off x="153873" y="4460856"/>
            <a:ext cx="3276364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견적 마감일시 등록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347EA6B1-B2A5-C416-E209-C0B5FE6FE70D}"/>
              </a:ext>
            </a:extLst>
          </p:cNvPr>
          <p:cNvSpPr/>
          <p:nvPr/>
        </p:nvSpPr>
        <p:spPr>
          <a:xfrm>
            <a:off x="153873" y="4733768"/>
            <a:ext cx="3276364" cy="160375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E69EBFE6-1940-788C-1807-A857D9569F09}"/>
              </a:ext>
            </a:extLst>
          </p:cNvPr>
          <p:cNvSpPr/>
          <p:nvPr/>
        </p:nvSpPr>
        <p:spPr>
          <a:xfrm>
            <a:off x="3171209" y="4460856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380BF221-0E98-2E40-A566-FDEA67B24EAA}"/>
              </a:ext>
            </a:extLst>
          </p:cNvPr>
          <p:cNvSpPr/>
          <p:nvPr/>
        </p:nvSpPr>
        <p:spPr>
          <a:xfrm>
            <a:off x="1826136" y="5930165"/>
            <a:ext cx="699418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등록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32683BF1-4A7E-0FCE-FD99-0D11C33BCF02}"/>
              </a:ext>
            </a:extLst>
          </p:cNvPr>
          <p:cNvSpPr/>
          <p:nvPr/>
        </p:nvSpPr>
        <p:spPr>
          <a:xfrm>
            <a:off x="2585295" y="5930165"/>
            <a:ext cx="699418" cy="28803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2BB106EE-B19D-1D07-2F87-B9EDEB31B606}"/>
              </a:ext>
            </a:extLst>
          </p:cNvPr>
          <p:cNvSpPr/>
          <p:nvPr/>
        </p:nvSpPr>
        <p:spPr>
          <a:xfrm>
            <a:off x="285093" y="4830157"/>
            <a:ext cx="1218282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마감일시 등록</a:t>
            </a:r>
          </a:p>
        </p:txBody>
      </p:sp>
      <p:graphicFrame>
        <p:nvGraphicFramePr>
          <p:cNvPr id="75" name="표 74">
            <a:extLst>
              <a:ext uri="{FF2B5EF4-FFF2-40B4-BE49-F238E27FC236}">
                <a16:creationId xmlns:a16="http://schemas.microsoft.com/office/drawing/2014/main" id="{8908A738-74C5-CC6A-47D1-E2F84416F96A}"/>
              </a:ext>
            </a:extLst>
          </p:cNvPr>
          <p:cNvGraphicFramePr>
            <a:graphicFrameLocks noGrp="1"/>
          </p:cNvGraphicFramePr>
          <p:nvPr/>
        </p:nvGraphicFramePr>
        <p:xfrm>
          <a:off x="284056" y="5139015"/>
          <a:ext cx="3002165" cy="67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929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2124236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견적마감일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39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마감시간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</a:tbl>
          </a:graphicData>
        </a:graphic>
      </p:graphicFrame>
      <p:sp>
        <p:nvSpPr>
          <p:cNvPr id="84" name="직사각형 83">
            <a:extLst>
              <a:ext uri="{FF2B5EF4-FFF2-40B4-BE49-F238E27FC236}">
                <a16:creationId xmlns:a16="http://schemas.microsoft.com/office/drawing/2014/main" id="{BF6A71F0-A1C5-37EF-36CE-DB1A5FE588FD}"/>
              </a:ext>
            </a:extLst>
          </p:cNvPr>
          <p:cNvSpPr/>
          <p:nvPr/>
        </p:nvSpPr>
        <p:spPr>
          <a:xfrm>
            <a:off x="1219834" y="520482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날짜 선택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72E4C042-C267-F571-83CF-ED64ABB8BEE3}"/>
              </a:ext>
            </a:extLst>
          </p:cNvPr>
          <p:cNvSpPr/>
          <p:nvPr/>
        </p:nvSpPr>
        <p:spPr>
          <a:xfrm>
            <a:off x="2030085" y="520482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11460BCB-BB1D-C351-7060-E25DE7507C62}"/>
              </a:ext>
            </a:extLst>
          </p:cNvPr>
          <p:cNvSpPr/>
          <p:nvPr/>
        </p:nvSpPr>
        <p:spPr>
          <a:xfrm>
            <a:off x="1219834" y="5541241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</a:t>
            </a: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29ED0FDC-4CE3-91AB-6BCC-83567DAF637E}"/>
              </a:ext>
            </a:extLst>
          </p:cNvPr>
          <p:cNvSpPr/>
          <p:nvPr/>
        </p:nvSpPr>
        <p:spPr>
          <a:xfrm>
            <a:off x="1826136" y="5541243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E5DE83C0-9DC4-CA96-790C-CDA9BD576A74}"/>
              </a:ext>
            </a:extLst>
          </p:cNvPr>
          <p:cNvSpPr/>
          <p:nvPr/>
        </p:nvSpPr>
        <p:spPr>
          <a:xfrm>
            <a:off x="2107666" y="5541241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분</a:t>
            </a: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9046CF00-970C-C8E8-407D-211FEEF52E14}"/>
              </a:ext>
            </a:extLst>
          </p:cNvPr>
          <p:cNvSpPr/>
          <p:nvPr/>
        </p:nvSpPr>
        <p:spPr>
          <a:xfrm>
            <a:off x="2713968" y="5541243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cxnSp>
        <p:nvCxnSpPr>
          <p:cNvPr id="92" name="연결선: 꺾임 91">
            <a:extLst>
              <a:ext uri="{FF2B5EF4-FFF2-40B4-BE49-F238E27FC236}">
                <a16:creationId xmlns:a16="http://schemas.microsoft.com/office/drawing/2014/main" id="{C7E16308-B6FC-3CF8-5CA0-03282503E209}"/>
              </a:ext>
            </a:extLst>
          </p:cNvPr>
          <p:cNvCxnSpPr>
            <a:cxnSpLocks/>
            <a:stCxn id="50" idx="2"/>
            <a:endCxn id="63" idx="0"/>
          </p:cNvCxnSpPr>
          <p:nvPr/>
        </p:nvCxnSpPr>
        <p:spPr>
          <a:xfrm rot="5400000">
            <a:off x="3952877" y="1855875"/>
            <a:ext cx="444160" cy="4765803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694FB3B0-7A7D-63FB-4DE5-93890ECF4B7E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AB0BCF0A-EAE9-5B33-6FBD-0C5D309FE52C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0BB4C5A0-E9B8-A7A5-B0F6-75A547E618E6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16" name="Picture 1">
            <a:extLst>
              <a:ext uri="{FF2B5EF4-FFF2-40B4-BE49-F238E27FC236}">
                <a16:creationId xmlns:a16="http://schemas.microsoft.com/office/drawing/2014/main" id="{B9B89C7A-BD6C-4C83-9C26-DC59D31FD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E6DAE45E-DC4E-E2A5-3CA4-9AAE0C563984}"/>
              </a:ext>
            </a:extLst>
          </p:cNvPr>
          <p:cNvSpPr/>
          <p:nvPr/>
        </p:nvSpPr>
        <p:spPr>
          <a:xfrm>
            <a:off x="6194387" y="3017046"/>
            <a:ext cx="1080000" cy="2154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견적요청 담당자 변경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FC006DB-E963-CEA5-1E17-C09A478B5695}"/>
              </a:ext>
            </a:extLst>
          </p:cNvPr>
          <p:cNvSpPr/>
          <p:nvPr/>
        </p:nvSpPr>
        <p:spPr>
          <a:xfrm>
            <a:off x="6194387" y="3344000"/>
            <a:ext cx="1080000" cy="2154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견적요청 담당자 변경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EC8697F-79A6-CA2F-DB35-4F20C918E310}"/>
              </a:ext>
            </a:extLst>
          </p:cNvPr>
          <p:cNvSpPr/>
          <p:nvPr/>
        </p:nvSpPr>
        <p:spPr>
          <a:xfrm>
            <a:off x="3578841" y="4468659"/>
            <a:ext cx="6054679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견적요청 담당자 변경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A306FAD-5C09-46C3-AAF6-41F79DF1F79C}"/>
              </a:ext>
            </a:extLst>
          </p:cNvPr>
          <p:cNvSpPr/>
          <p:nvPr/>
        </p:nvSpPr>
        <p:spPr>
          <a:xfrm>
            <a:off x="3578841" y="4741571"/>
            <a:ext cx="6042276" cy="160375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DF6A434-3A85-9B41-2764-79F96E175341}"/>
              </a:ext>
            </a:extLst>
          </p:cNvPr>
          <p:cNvSpPr/>
          <p:nvPr/>
        </p:nvSpPr>
        <p:spPr>
          <a:xfrm>
            <a:off x="9363520" y="4468659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54FE454-98E0-3687-762A-E7330B4BD413}"/>
              </a:ext>
            </a:extLst>
          </p:cNvPr>
          <p:cNvSpPr/>
          <p:nvPr/>
        </p:nvSpPr>
        <p:spPr>
          <a:xfrm>
            <a:off x="3710061" y="4837960"/>
            <a:ext cx="1351332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견적요청 담당자 변경</a:t>
            </a: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D3EEF0CF-DAB8-D0F9-82B0-1279063FDF98}"/>
              </a:ext>
            </a:extLst>
          </p:cNvPr>
          <p:cNvGraphicFramePr>
            <a:graphicFrameLocks noGrp="1"/>
          </p:cNvGraphicFramePr>
          <p:nvPr/>
        </p:nvGraphicFramePr>
        <p:xfrm>
          <a:off x="3710061" y="5151041"/>
          <a:ext cx="5767040" cy="10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076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81730">
                  <a:extLst>
                    <a:ext uri="{9D8B030D-6E8A-4147-A177-3AD203B41FA5}">
                      <a16:colId xmlns:a16="http://schemas.microsoft.com/office/drawing/2014/main" val="1183147798"/>
                    </a:ext>
                  </a:extLst>
                </a:gridCol>
                <a:gridCol w="461255">
                  <a:extLst>
                    <a:ext uri="{9D8B030D-6E8A-4147-A177-3AD203B41FA5}">
                      <a16:colId xmlns:a16="http://schemas.microsoft.com/office/drawing/2014/main" val="296951377"/>
                    </a:ext>
                  </a:extLst>
                </a:gridCol>
                <a:gridCol w="365396">
                  <a:extLst>
                    <a:ext uri="{9D8B030D-6E8A-4147-A177-3AD203B41FA5}">
                      <a16:colId xmlns:a16="http://schemas.microsoft.com/office/drawing/2014/main" val="2761937130"/>
                    </a:ext>
                  </a:extLst>
                </a:gridCol>
                <a:gridCol w="1192978">
                  <a:extLst>
                    <a:ext uri="{9D8B030D-6E8A-4147-A177-3AD203B41FA5}">
                      <a16:colId xmlns:a16="http://schemas.microsoft.com/office/drawing/2014/main" val="1266029869"/>
                    </a:ext>
                  </a:extLst>
                </a:gridCol>
                <a:gridCol w="932561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  <a:gridCol w="1247298">
                  <a:extLst>
                    <a:ext uri="{9D8B030D-6E8A-4147-A177-3AD203B41FA5}">
                      <a16:colId xmlns:a16="http://schemas.microsoft.com/office/drawing/2014/main" val="2705196257"/>
                    </a:ext>
                  </a:extLst>
                </a:gridCol>
                <a:gridCol w="574746">
                  <a:extLst>
                    <a:ext uri="{9D8B030D-6E8A-4147-A177-3AD203B41FA5}">
                      <a16:colId xmlns:a16="http://schemas.microsoft.com/office/drawing/2014/main" val="32149783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No</a:t>
                      </a:r>
                      <a:endParaRPr lang="ko-KR" altLang="en-US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담당자 구분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직책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이메일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핸드폰번호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담당업무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선택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기본 담당자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이희성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leehee43@naver.com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010-6844-2810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사내 입찰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 담당자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추가 담당자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박일용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부장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견적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 업무 관련 담당자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</a:tbl>
          </a:graphicData>
        </a:graphic>
      </p:graphicFrame>
      <p:sp>
        <p:nvSpPr>
          <p:cNvPr id="29" name="직사각형 28">
            <a:extLst>
              <a:ext uri="{FF2B5EF4-FFF2-40B4-BE49-F238E27FC236}">
                <a16:creationId xmlns:a16="http://schemas.microsoft.com/office/drawing/2014/main" id="{7C989DEF-2FEC-D41D-9423-C0CB3EA38C8B}"/>
              </a:ext>
            </a:extLst>
          </p:cNvPr>
          <p:cNvSpPr/>
          <p:nvPr/>
        </p:nvSpPr>
        <p:spPr>
          <a:xfrm>
            <a:off x="8954288" y="5544332"/>
            <a:ext cx="458854" cy="215441"/>
          </a:xfrm>
          <a:prstGeom prst="rect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선택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8365E20-5703-DE80-0EF7-FDD30257262B}"/>
              </a:ext>
            </a:extLst>
          </p:cNvPr>
          <p:cNvSpPr/>
          <p:nvPr/>
        </p:nvSpPr>
        <p:spPr>
          <a:xfrm>
            <a:off x="8954288" y="5885496"/>
            <a:ext cx="458854" cy="215441"/>
          </a:xfrm>
          <a:prstGeom prst="rect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선택</a:t>
            </a:r>
          </a:p>
        </p:txBody>
      </p: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49CB3B5D-A250-B516-AE49-66094A1BDC98}"/>
              </a:ext>
            </a:extLst>
          </p:cNvPr>
          <p:cNvCxnSpPr>
            <a:cxnSpLocks/>
            <a:stCxn id="3" idx="2"/>
            <a:endCxn id="7" idx="0"/>
          </p:cNvCxnSpPr>
          <p:nvPr/>
        </p:nvCxnSpPr>
        <p:spPr>
          <a:xfrm rot="5400000">
            <a:off x="6215675" y="3949947"/>
            <a:ext cx="909218" cy="128206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E7C09BD-0438-19F1-CCAE-1C229EBBCB19}"/>
              </a:ext>
            </a:extLst>
          </p:cNvPr>
          <p:cNvSpPr/>
          <p:nvPr/>
        </p:nvSpPr>
        <p:spPr>
          <a:xfrm>
            <a:off x="-1690381" y="1098519"/>
            <a:ext cx="1467136" cy="5662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현황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8AE69DBB-DB75-103B-BC1D-EC26C724E246}"/>
              </a:ext>
            </a:extLst>
          </p:cNvPr>
          <p:cNvSpPr/>
          <p:nvPr/>
        </p:nvSpPr>
        <p:spPr>
          <a:xfrm>
            <a:off x="4676071" y="3645024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D56CFC-8813-C0CF-5E44-C51E4DD1C22E}"/>
              </a:ext>
            </a:extLst>
          </p:cNvPr>
          <p:cNvSpPr txBox="1"/>
          <p:nvPr/>
        </p:nvSpPr>
        <p:spPr>
          <a:xfrm>
            <a:off x="8049344" y="584684"/>
            <a:ext cx="1856656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(Pool)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에서 선택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뒤 페이지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의 팝업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해당 업체의 기본 담당자가 아닌 다른 담당자를 선택하고 싶은 경우 사용하는 기능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마감일시는 견적요청 협력업체 모두에게 동일하게 적용됨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일괄 적용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저장 시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견적요청 업체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(1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 이상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)’, 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마감일시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 모두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세팅되어야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저장할 수 있음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Alert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견적요청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업체 설정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마감일시가 모두 설정되어야 저장 가능합니다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.”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16ED2E34-78B8-B239-3896-CB68ABBE2F16}"/>
              </a:ext>
            </a:extLst>
          </p:cNvPr>
          <p:cNvSpPr/>
          <p:nvPr/>
        </p:nvSpPr>
        <p:spPr>
          <a:xfrm>
            <a:off x="6085330" y="2893493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AB211017-313B-F67E-9CD3-58743AD91668}"/>
              </a:ext>
            </a:extLst>
          </p:cNvPr>
          <p:cNvSpPr/>
          <p:nvPr/>
        </p:nvSpPr>
        <p:spPr>
          <a:xfrm>
            <a:off x="1714357" y="5829862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B0393CD1-FCD2-C718-1A56-DB33CBAB9596}"/>
              </a:ext>
            </a:extLst>
          </p:cNvPr>
          <p:cNvSpPr/>
          <p:nvPr/>
        </p:nvSpPr>
        <p:spPr>
          <a:xfrm>
            <a:off x="7071763" y="3645024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07B3DDEA-D292-C1C1-3D8C-FD7D07D9E95D}"/>
              </a:ext>
            </a:extLst>
          </p:cNvPr>
          <p:cNvSpPr/>
          <p:nvPr/>
        </p:nvSpPr>
        <p:spPr>
          <a:xfrm>
            <a:off x="189007" y="3728664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F758FF7-92CD-71FC-4449-D2374660C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3164846"/>
              </p:ext>
            </p:extLst>
          </p:nvPr>
        </p:nvGraphicFramePr>
        <p:xfrm>
          <a:off x="164467" y="829880"/>
          <a:ext cx="7732447" cy="675840"/>
        </p:xfrm>
        <a:graphic>
          <a:graphicData uri="http://schemas.openxmlformats.org/drawingml/2006/table">
            <a:tbl>
              <a:tblPr firstRow="1" bandRow="1"/>
              <a:tblGrid>
                <a:gridCol w="765163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548277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044791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880958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817578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1074225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331392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548277">
                  <a:extLst>
                    <a:ext uri="{9D8B030D-6E8A-4147-A177-3AD203B41FA5}">
                      <a16:colId xmlns:a16="http://schemas.microsoft.com/office/drawing/2014/main" val="1778558004"/>
                    </a:ext>
                  </a:extLst>
                </a:gridCol>
                <a:gridCol w="721786">
                  <a:extLst>
                    <a:ext uri="{9D8B030D-6E8A-4147-A177-3AD203B41FA5}">
                      <a16:colId xmlns:a16="http://schemas.microsoft.com/office/drawing/2014/main" val="4848005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견적요청번호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견적요청명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견적유형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예산금액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품목구성방법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전달자료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요청 업체 수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RFQ2607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 중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태양광 발전기 도입 관련 견적 요청의 건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공사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용역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물품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135,400,000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품목단가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|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지정항목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건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건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9723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1A68C-70F4-32C3-C366-10350ED23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D7913A2B-6620-DEBF-0F07-DB9F81A051D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C2B162-B1D1-6C9C-BD7D-4A8280344B98}"/>
              </a:ext>
            </a:extLst>
          </p:cNvPr>
          <p:cNvSpPr txBox="1"/>
          <p:nvPr/>
        </p:nvSpPr>
        <p:spPr>
          <a:xfrm>
            <a:off x="749224" y="25608"/>
            <a:ext cx="249780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요청 업체 추가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D76884-5D44-7FF3-4DD0-5CFDF7ED752A}"/>
              </a:ext>
            </a:extLst>
          </p:cNvPr>
          <p:cNvSpPr txBox="1"/>
          <p:nvPr/>
        </p:nvSpPr>
        <p:spPr>
          <a:xfrm>
            <a:off x="909787" y="696323"/>
            <a:ext cx="1856656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별첨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1]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 추가를 위한 엑셀 다운로드 양식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.xlsx 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59C9E71-0E28-640B-B3CA-F7EA526E4028}"/>
              </a:ext>
            </a:extLst>
          </p:cNvPr>
          <p:cNvSpPr/>
          <p:nvPr/>
        </p:nvSpPr>
        <p:spPr>
          <a:xfrm>
            <a:off x="181720" y="414790"/>
            <a:ext cx="76516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견적요청 업체 추가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F4D8983-1585-801F-33A6-424187A553EA}"/>
              </a:ext>
            </a:extLst>
          </p:cNvPr>
          <p:cNvSpPr/>
          <p:nvPr/>
        </p:nvSpPr>
        <p:spPr>
          <a:xfrm>
            <a:off x="181720" y="687702"/>
            <a:ext cx="7651600" cy="522557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901F521-BD57-A07B-4574-245B8231F136}"/>
              </a:ext>
            </a:extLst>
          </p:cNvPr>
          <p:cNvSpPr/>
          <p:nvPr/>
        </p:nvSpPr>
        <p:spPr>
          <a:xfrm>
            <a:off x="7563320" y="414790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EC5BB3B-01FD-6ABF-6553-F7F4EB223947}"/>
              </a:ext>
            </a:extLst>
          </p:cNvPr>
          <p:cNvSpPr/>
          <p:nvPr/>
        </p:nvSpPr>
        <p:spPr>
          <a:xfrm>
            <a:off x="312940" y="784091"/>
            <a:ext cx="1218282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견적요청 업체 추가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FAFF97A-B08B-A9E8-5F88-2F60376E409B}"/>
              </a:ext>
            </a:extLst>
          </p:cNvPr>
          <p:cNvSpPr/>
          <p:nvPr/>
        </p:nvSpPr>
        <p:spPr>
          <a:xfrm>
            <a:off x="312941" y="1126291"/>
            <a:ext cx="7376364" cy="131361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E50720-267B-ABBA-63CF-E5C97692BDDD}"/>
              </a:ext>
            </a:extLst>
          </p:cNvPr>
          <p:cNvSpPr txBox="1"/>
          <p:nvPr/>
        </p:nvSpPr>
        <p:spPr>
          <a:xfrm>
            <a:off x="384322" y="1232796"/>
            <a:ext cx="68053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marR="0" lvl="0" indent="-7200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조회기간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신청일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                                                                                                                                            ~    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BC1D35-E929-CF1F-4644-4DB50F64930F}"/>
              </a:ext>
            </a:extLst>
          </p:cNvPr>
          <p:cNvSpPr txBox="1"/>
          <p:nvPr/>
        </p:nvSpPr>
        <p:spPr>
          <a:xfrm>
            <a:off x="384321" y="2076286"/>
            <a:ext cx="75617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키워드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검색 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ko-KR" altLang="en-US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2B5116A-92AB-491D-B388-71D7A076B450}"/>
              </a:ext>
            </a:extLst>
          </p:cNvPr>
          <p:cNvSpPr/>
          <p:nvPr/>
        </p:nvSpPr>
        <p:spPr>
          <a:xfrm>
            <a:off x="4832137" y="1220395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시작일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E5F558A-1975-6E17-36E5-03D5025841A0}"/>
              </a:ext>
            </a:extLst>
          </p:cNvPr>
          <p:cNvSpPr/>
          <p:nvPr/>
        </p:nvSpPr>
        <p:spPr>
          <a:xfrm>
            <a:off x="5642388" y="1220397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C61B0E1-92E8-9072-9921-B538C1A5EDE4}"/>
              </a:ext>
            </a:extLst>
          </p:cNvPr>
          <p:cNvSpPr/>
          <p:nvPr/>
        </p:nvSpPr>
        <p:spPr>
          <a:xfrm>
            <a:off x="6055643" y="1220395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종료일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2A17DEA-E87F-D921-D3F2-4B86382DF8E7}"/>
              </a:ext>
            </a:extLst>
          </p:cNvPr>
          <p:cNvSpPr/>
          <p:nvPr/>
        </p:nvSpPr>
        <p:spPr>
          <a:xfrm>
            <a:off x="6865894" y="1220397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5797170-E338-3D0B-9128-27A31274262B}"/>
              </a:ext>
            </a:extLst>
          </p:cNvPr>
          <p:cNvSpPr/>
          <p:nvPr/>
        </p:nvSpPr>
        <p:spPr>
          <a:xfrm>
            <a:off x="1542361" y="1220395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ko-KR" altLang="en-US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하루 전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E563CF6-E39B-6998-9FE3-101C65F865AD}"/>
              </a:ext>
            </a:extLst>
          </p:cNvPr>
          <p:cNvSpPr/>
          <p:nvPr/>
        </p:nvSpPr>
        <p:spPr>
          <a:xfrm>
            <a:off x="2090930" y="1220395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주일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475ADDF-EE3B-004B-5719-FE3B9DBBD011}"/>
              </a:ext>
            </a:extLst>
          </p:cNvPr>
          <p:cNvSpPr/>
          <p:nvPr/>
        </p:nvSpPr>
        <p:spPr>
          <a:xfrm>
            <a:off x="2639499" y="1220395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D941136-EE16-9D32-3D6F-BF557AEE9C36}"/>
              </a:ext>
            </a:extLst>
          </p:cNvPr>
          <p:cNvSpPr/>
          <p:nvPr/>
        </p:nvSpPr>
        <p:spPr>
          <a:xfrm>
            <a:off x="3188068" y="1220395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D31C2E7-C2A1-81F6-7B84-1D86DBE1BE71}"/>
              </a:ext>
            </a:extLst>
          </p:cNvPr>
          <p:cNvSpPr/>
          <p:nvPr/>
        </p:nvSpPr>
        <p:spPr>
          <a:xfrm>
            <a:off x="3736637" y="1220395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B18EFFB-8150-1857-23F0-849B2E06A022}"/>
              </a:ext>
            </a:extLst>
          </p:cNvPr>
          <p:cNvSpPr/>
          <p:nvPr/>
        </p:nvSpPr>
        <p:spPr>
          <a:xfrm>
            <a:off x="4285205" y="1220395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3B66973-92B9-8601-6456-714780E49362}"/>
              </a:ext>
            </a:extLst>
          </p:cNvPr>
          <p:cNvSpPr txBox="1"/>
          <p:nvPr/>
        </p:nvSpPr>
        <p:spPr>
          <a:xfrm>
            <a:off x="384321" y="1493410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신용평가등급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en-US" altLang="ko-KR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7AD68DD-26A5-F266-27B8-97CD026711F7}"/>
              </a:ext>
            </a:extLst>
          </p:cNvPr>
          <p:cNvSpPr/>
          <p:nvPr/>
        </p:nvSpPr>
        <p:spPr>
          <a:xfrm>
            <a:off x="1556995" y="2069141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구분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0EA4203-40A1-FF89-7399-40507C6A418C}"/>
              </a:ext>
            </a:extLst>
          </p:cNvPr>
          <p:cNvSpPr/>
          <p:nvPr/>
        </p:nvSpPr>
        <p:spPr>
          <a:xfrm>
            <a:off x="2367246" y="2069143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713877C-014B-0C4E-7646-2F0559E28A85}"/>
              </a:ext>
            </a:extLst>
          </p:cNvPr>
          <p:cNvSpPr/>
          <p:nvPr/>
        </p:nvSpPr>
        <p:spPr>
          <a:xfrm>
            <a:off x="2682383" y="2069141"/>
            <a:ext cx="361980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검색어를 입력하세요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149A798-F7C0-FAFA-C045-FF4AE4142979}"/>
              </a:ext>
            </a:extLst>
          </p:cNvPr>
          <p:cNvSpPr/>
          <p:nvPr/>
        </p:nvSpPr>
        <p:spPr>
          <a:xfrm>
            <a:off x="6390391" y="2069143"/>
            <a:ext cx="625198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CF94FF6-D300-3E1A-BF01-FDF28919E72D}"/>
              </a:ext>
            </a:extLst>
          </p:cNvPr>
          <p:cNvSpPr/>
          <p:nvPr/>
        </p:nvSpPr>
        <p:spPr>
          <a:xfrm>
            <a:off x="1556995" y="1513303"/>
            <a:ext cx="1082504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신용평가등급 선택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0817CA0-82CD-E97A-15B4-14ADE710D052}"/>
              </a:ext>
            </a:extLst>
          </p:cNvPr>
          <p:cNvSpPr/>
          <p:nvPr/>
        </p:nvSpPr>
        <p:spPr>
          <a:xfrm>
            <a:off x="2638952" y="1513305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B6AC349-9669-154D-4249-CFF9CE37615D}"/>
              </a:ext>
            </a:extLst>
          </p:cNvPr>
          <p:cNvSpPr/>
          <p:nvPr/>
        </p:nvSpPr>
        <p:spPr>
          <a:xfrm>
            <a:off x="6643625" y="2551044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개씩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5F93E97F-3BD6-57E3-D5F2-0792833AA904}"/>
              </a:ext>
            </a:extLst>
          </p:cNvPr>
          <p:cNvSpPr/>
          <p:nvPr/>
        </p:nvSpPr>
        <p:spPr>
          <a:xfrm>
            <a:off x="7465087" y="2551044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DCF87A6-52DE-35DD-426E-D43C55ACB7A5}"/>
              </a:ext>
            </a:extLst>
          </p:cNvPr>
          <p:cNvSpPr txBox="1"/>
          <p:nvPr/>
        </p:nvSpPr>
        <p:spPr>
          <a:xfrm>
            <a:off x="329978" y="2537526"/>
            <a:ext cx="297592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1,523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 현재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/4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43" name="표 42">
            <a:extLst>
              <a:ext uri="{FF2B5EF4-FFF2-40B4-BE49-F238E27FC236}">
                <a16:creationId xmlns:a16="http://schemas.microsoft.com/office/drawing/2014/main" id="{CCE90690-F38F-D0C7-885A-728F72F9C4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5304872"/>
              </p:ext>
            </p:extLst>
          </p:nvPr>
        </p:nvGraphicFramePr>
        <p:xfrm>
          <a:off x="328373" y="2880996"/>
          <a:ext cx="7360930" cy="2027520"/>
        </p:xfrm>
        <a:graphic>
          <a:graphicData uri="http://schemas.openxmlformats.org/drawingml/2006/table">
            <a:tbl>
              <a:tblPr firstRow="1" bandRow="1"/>
              <a:tblGrid>
                <a:gridCol w="277606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1123784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1081026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547663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588171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1211552">
                  <a:extLst>
                    <a:ext uri="{9D8B030D-6E8A-4147-A177-3AD203B41FA5}">
                      <a16:colId xmlns:a16="http://schemas.microsoft.com/office/drawing/2014/main" val="3408856969"/>
                    </a:ext>
                  </a:extLst>
                </a:gridCol>
                <a:gridCol w="1578380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952748">
                  <a:extLst>
                    <a:ext uri="{9D8B030D-6E8A-4147-A177-3AD203B41FA5}">
                      <a16:colId xmlns:a16="http://schemas.microsoft.com/office/drawing/2014/main" val="1778558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□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사업자번호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업체명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대표자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핸드폰번호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이메일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신용평가등급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□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123-45-67891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삼전디에스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홍길동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한지훈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010-1234-5678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leehee43@naver.com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□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123-45-67891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넷퍼시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홍길동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김미라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AAA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□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123-45-67891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대현건설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홍길동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하지영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□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123-45-67891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한성건설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홍길동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김지연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AAA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946446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□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123-45-67891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KEB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테크놀로지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홍길동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박가람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AAA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773569"/>
                  </a:ext>
                </a:extLst>
              </a:tr>
            </a:tbl>
          </a:graphicData>
        </a:graphic>
      </p:graphicFrame>
      <p:grpSp>
        <p:nvGrpSpPr>
          <p:cNvPr id="48" name="그룹 47">
            <a:extLst>
              <a:ext uri="{FF2B5EF4-FFF2-40B4-BE49-F238E27FC236}">
                <a16:creationId xmlns:a16="http://schemas.microsoft.com/office/drawing/2014/main" id="{A3E72EE9-ED7D-4482-D606-3645F35E1ABB}"/>
              </a:ext>
            </a:extLst>
          </p:cNvPr>
          <p:cNvGrpSpPr/>
          <p:nvPr/>
        </p:nvGrpSpPr>
        <p:grpSpPr>
          <a:xfrm>
            <a:off x="2152691" y="5038406"/>
            <a:ext cx="4025354" cy="216024"/>
            <a:chOff x="2992062" y="4869160"/>
            <a:chExt cx="4025354" cy="216024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2FD63F96-6688-798C-D0EF-FF38CE480504}"/>
                </a:ext>
              </a:extLst>
            </p:cNvPr>
            <p:cNvSpPr/>
            <p:nvPr/>
          </p:nvSpPr>
          <p:spPr>
            <a:xfrm>
              <a:off x="2992062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◀</a:t>
              </a: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D8091010-5A36-2E69-9F24-D881F8C8CAC3}"/>
                </a:ext>
              </a:extLst>
            </p:cNvPr>
            <p:cNvSpPr/>
            <p:nvPr/>
          </p:nvSpPr>
          <p:spPr>
            <a:xfrm>
              <a:off x="3285089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&lt;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276C3096-143D-5943-93F7-F4D25B68B600}"/>
                </a:ext>
              </a:extLst>
            </p:cNvPr>
            <p:cNvSpPr/>
            <p:nvPr/>
          </p:nvSpPr>
          <p:spPr>
            <a:xfrm>
              <a:off x="3578116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3FDE1727-EB00-A746-01CB-B67B7E7BB9D4}"/>
                </a:ext>
              </a:extLst>
            </p:cNvPr>
            <p:cNvSpPr/>
            <p:nvPr/>
          </p:nvSpPr>
          <p:spPr>
            <a:xfrm>
              <a:off x="3871143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4F769EF0-345F-91FF-7C87-1CE38E76FD65}"/>
                </a:ext>
              </a:extLst>
            </p:cNvPr>
            <p:cNvSpPr/>
            <p:nvPr/>
          </p:nvSpPr>
          <p:spPr>
            <a:xfrm>
              <a:off x="4164170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7A40CF68-CB5C-48E8-DFCC-21D2D70B8B1F}"/>
                </a:ext>
              </a:extLst>
            </p:cNvPr>
            <p:cNvSpPr/>
            <p:nvPr/>
          </p:nvSpPr>
          <p:spPr>
            <a:xfrm>
              <a:off x="4457197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8BA9F1D0-516E-BEA2-1599-547DF98DCB41}"/>
                </a:ext>
              </a:extLst>
            </p:cNvPr>
            <p:cNvSpPr/>
            <p:nvPr/>
          </p:nvSpPr>
          <p:spPr>
            <a:xfrm>
              <a:off x="4750224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029927A8-34A5-13E6-6754-0B732E50DDB5}"/>
                </a:ext>
              </a:extLst>
            </p:cNvPr>
            <p:cNvSpPr/>
            <p:nvPr/>
          </p:nvSpPr>
          <p:spPr>
            <a:xfrm>
              <a:off x="5043251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0C2651A3-1691-3E68-F24F-3FD83CC9893B}"/>
                </a:ext>
              </a:extLst>
            </p:cNvPr>
            <p:cNvSpPr/>
            <p:nvPr/>
          </p:nvSpPr>
          <p:spPr>
            <a:xfrm>
              <a:off x="5336278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DB37A816-22D7-5B61-6FD3-256F7D5894BA}"/>
                </a:ext>
              </a:extLst>
            </p:cNvPr>
            <p:cNvSpPr/>
            <p:nvPr/>
          </p:nvSpPr>
          <p:spPr>
            <a:xfrm>
              <a:off x="5629305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FADA94E9-0B29-B4F4-A631-3CA048E86E3A}"/>
                </a:ext>
              </a:extLst>
            </p:cNvPr>
            <p:cNvSpPr/>
            <p:nvPr/>
          </p:nvSpPr>
          <p:spPr>
            <a:xfrm>
              <a:off x="5922332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4F1539D5-28D2-4FB9-4D2E-8580B60EFEDB}"/>
                </a:ext>
              </a:extLst>
            </p:cNvPr>
            <p:cNvSpPr/>
            <p:nvPr/>
          </p:nvSpPr>
          <p:spPr>
            <a:xfrm>
              <a:off x="6215359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0BA10770-FBE5-AAE0-6F77-287ACC7CD32D}"/>
                </a:ext>
              </a:extLst>
            </p:cNvPr>
            <p:cNvSpPr/>
            <p:nvPr/>
          </p:nvSpPr>
          <p:spPr>
            <a:xfrm>
              <a:off x="650838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&gt;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789A4DBC-6650-0B55-D6D5-F48CFB349D9B}"/>
                </a:ext>
              </a:extLst>
            </p:cNvPr>
            <p:cNvSpPr/>
            <p:nvPr/>
          </p:nvSpPr>
          <p:spPr>
            <a:xfrm>
              <a:off x="680141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▶</a:t>
              </a: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4053FF4B-C823-9840-7045-32A9C96858F1}"/>
              </a:ext>
            </a:extLst>
          </p:cNvPr>
          <p:cNvSpPr txBox="1"/>
          <p:nvPr/>
        </p:nvSpPr>
        <p:spPr>
          <a:xfrm>
            <a:off x="384321" y="1763561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소싱 그룹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en-US" altLang="ko-KR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FB86064C-0F3B-4C6C-EAD2-83DB8E85D4A7}"/>
              </a:ext>
            </a:extLst>
          </p:cNvPr>
          <p:cNvSpPr/>
          <p:nvPr/>
        </p:nvSpPr>
        <p:spPr>
          <a:xfrm>
            <a:off x="1556995" y="1789534"/>
            <a:ext cx="1297398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대분류 선택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30461C6B-F415-7484-7E02-BD33BE13B2DB}"/>
              </a:ext>
            </a:extLst>
          </p:cNvPr>
          <p:cNvSpPr/>
          <p:nvPr/>
        </p:nvSpPr>
        <p:spPr>
          <a:xfrm>
            <a:off x="2648276" y="1789536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3665EEAA-79B5-E894-FC7B-DD5A5B455482}"/>
              </a:ext>
            </a:extLst>
          </p:cNvPr>
          <p:cNvSpPr/>
          <p:nvPr/>
        </p:nvSpPr>
        <p:spPr>
          <a:xfrm>
            <a:off x="2933204" y="1789534"/>
            <a:ext cx="1297398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중분류 선택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DD204E6A-7430-B135-CB19-BA0A07AF74FC}"/>
              </a:ext>
            </a:extLst>
          </p:cNvPr>
          <p:cNvSpPr/>
          <p:nvPr/>
        </p:nvSpPr>
        <p:spPr>
          <a:xfrm>
            <a:off x="4024485" y="1789536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774CDEB1-7CE1-EAB6-4CFC-C5E9B7BAAB0A}"/>
              </a:ext>
            </a:extLst>
          </p:cNvPr>
          <p:cNvSpPr/>
          <p:nvPr/>
        </p:nvSpPr>
        <p:spPr>
          <a:xfrm>
            <a:off x="4302662" y="1789534"/>
            <a:ext cx="1297398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소분류 선택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AAE77D45-5297-C96E-2FAE-490605591078}"/>
              </a:ext>
            </a:extLst>
          </p:cNvPr>
          <p:cNvSpPr/>
          <p:nvPr/>
        </p:nvSpPr>
        <p:spPr>
          <a:xfrm>
            <a:off x="5393943" y="1789536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5E783774-5CF4-42A2-46D9-A76BE13E9C45}"/>
              </a:ext>
            </a:extLst>
          </p:cNvPr>
          <p:cNvSpPr/>
          <p:nvPr/>
        </p:nvSpPr>
        <p:spPr>
          <a:xfrm>
            <a:off x="6876888" y="5375017"/>
            <a:ext cx="813083" cy="28803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F570B347-E34D-7736-C84B-058A302257F7}"/>
              </a:ext>
            </a:extLst>
          </p:cNvPr>
          <p:cNvSpPr/>
          <p:nvPr/>
        </p:nvSpPr>
        <p:spPr>
          <a:xfrm>
            <a:off x="6013123" y="5375017"/>
            <a:ext cx="813083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선택 추가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0417330B-6704-38EB-8FAA-8A4D0C454455}"/>
              </a:ext>
            </a:extLst>
          </p:cNvPr>
          <p:cNvSpPr/>
          <p:nvPr/>
        </p:nvSpPr>
        <p:spPr>
          <a:xfrm>
            <a:off x="220361" y="2326273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192766F-0C81-9544-4E8E-9E6E4212B797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승인된 협력업체만 호출함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72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D461B-7FB3-A905-7382-2B4F9F27C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1CA659A-BFB5-EF99-9C7E-3BFDF3A82FE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6F436B-CF53-73DB-044A-95655872BEC6}"/>
              </a:ext>
            </a:extLst>
          </p:cNvPr>
          <p:cNvSpPr txBox="1"/>
          <p:nvPr/>
        </p:nvSpPr>
        <p:spPr>
          <a:xfrm>
            <a:off x="749224" y="25608"/>
            <a:ext cx="27190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최종 점검 및 견적 요청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47E6F95-49E2-AEDD-760E-384AE0AD33E3}"/>
              </a:ext>
            </a:extLst>
          </p:cNvPr>
          <p:cNvSpPr/>
          <p:nvPr/>
        </p:nvSpPr>
        <p:spPr>
          <a:xfrm>
            <a:off x="164468" y="403565"/>
            <a:ext cx="791883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C878F076-7F57-6F86-7D67-68CDACDEC35B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6FF236C-16EF-DBC8-7429-8536D907E69C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820596A-60A9-5EA2-16F9-969E5CA2FA80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EA24E4DE-850C-352F-4A91-40D7340A6AA5}"/>
              </a:ext>
            </a:extLst>
          </p:cNvPr>
          <p:cNvGrpSpPr/>
          <p:nvPr/>
        </p:nvGrpSpPr>
        <p:grpSpPr>
          <a:xfrm>
            <a:off x="164468" y="1596097"/>
            <a:ext cx="7740859" cy="643315"/>
            <a:chOff x="213978" y="826923"/>
            <a:chExt cx="8410484" cy="643315"/>
          </a:xfrm>
        </p:grpSpPr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2F9D320C-C485-C8D7-D271-7299E479E275}"/>
                </a:ext>
              </a:extLst>
            </p:cNvPr>
            <p:cNvSpPr/>
            <p:nvPr/>
          </p:nvSpPr>
          <p:spPr>
            <a:xfrm>
              <a:off x="213978" y="826923"/>
              <a:ext cx="1332184" cy="643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01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b="1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견적 요청 기본정보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6D63BD7F-AA31-84AB-7E58-8AD92B4F227D}"/>
                </a:ext>
              </a:extLst>
            </p:cNvPr>
            <p:cNvSpPr/>
            <p:nvPr/>
          </p:nvSpPr>
          <p:spPr>
            <a:xfrm>
              <a:off x="1629638" y="826923"/>
              <a:ext cx="1332184" cy="643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02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b="1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품목 정보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AD84B928-E030-256E-E4C9-BB47D4F320F1}"/>
                </a:ext>
              </a:extLst>
            </p:cNvPr>
            <p:cNvSpPr/>
            <p:nvPr/>
          </p:nvSpPr>
          <p:spPr>
            <a:xfrm>
              <a:off x="3045298" y="826923"/>
              <a:ext cx="1332184" cy="643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03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b="1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전달자료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E3074F6E-27C8-F21A-8714-076A07B88EA2}"/>
                </a:ext>
              </a:extLst>
            </p:cNvPr>
            <p:cNvSpPr/>
            <p:nvPr/>
          </p:nvSpPr>
          <p:spPr>
            <a:xfrm>
              <a:off x="4460958" y="826923"/>
              <a:ext cx="1332184" cy="643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04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견적 요청 업체 선정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B26444D-4C94-8600-D746-0F15B6119C72}"/>
                </a:ext>
              </a:extLst>
            </p:cNvPr>
            <p:cNvSpPr/>
            <p:nvPr/>
          </p:nvSpPr>
          <p:spPr>
            <a:xfrm>
              <a:off x="5876618" y="826923"/>
              <a:ext cx="1332184" cy="643315"/>
            </a:xfrm>
            <a:prstGeom prst="rect">
              <a:avLst/>
            </a:prstGeom>
            <a:solidFill>
              <a:srgbClr val="FFC000">
                <a:alpha val="69804"/>
              </a:srgb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05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최종 점검 및 견적 요청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94B06A9-15F3-B707-8B55-1879A000574C}"/>
                </a:ext>
              </a:extLst>
            </p:cNvPr>
            <p:cNvSpPr/>
            <p:nvPr/>
          </p:nvSpPr>
          <p:spPr>
            <a:xfrm>
              <a:off x="7292278" y="826923"/>
              <a:ext cx="1332184" cy="643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06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견적 요청 완료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7042579-2E63-6CF6-18BE-D7E76DDDB667}"/>
              </a:ext>
            </a:extLst>
          </p:cNvPr>
          <p:cNvSpPr/>
          <p:nvPr/>
        </p:nvSpPr>
        <p:spPr>
          <a:xfrm>
            <a:off x="183392" y="2334072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요청 기본정보   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※ 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해당 정보를 수정하고자 하는 경우 상단의 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‘STEP 01 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요청 기본정보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를 선택하여 수정해주세요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97D85568-D670-1D59-9B18-338BBDB033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5337241"/>
              </p:ext>
            </p:extLst>
          </p:nvPr>
        </p:nvGraphicFramePr>
        <p:xfrm>
          <a:off x="164467" y="2614710"/>
          <a:ext cx="7740859" cy="304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591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387268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견적요청번호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RFQ2607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2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처리상태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 중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995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견적요청명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어떤 사업에 대한 제품 구매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설치 관련 견적요청 드립니다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견적유형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 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|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용역 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|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물품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예산금액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135,400,000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원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일억삼천오백사십만원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027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품목구성방법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품목단가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777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비고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예산 확보를 위해 반드시 필요한 견적이니 성의 있게 작성 부탁드립니다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6539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등록일시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15:42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5100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등록자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147291"/>
                  </a:ext>
                </a:extLst>
              </a:tr>
            </a:tbl>
          </a:graphicData>
        </a:graphic>
      </p:graphicFrame>
      <p:sp>
        <p:nvSpPr>
          <p:cNvPr id="73" name="직사각형 72">
            <a:extLst>
              <a:ext uri="{FF2B5EF4-FFF2-40B4-BE49-F238E27FC236}">
                <a16:creationId xmlns:a16="http://schemas.microsoft.com/office/drawing/2014/main" id="{84501EB9-600B-D2BB-9F83-25ADC5B2CCF2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EB2EFD83-99C2-C23E-1CD5-C15D0A133204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E6095141-8304-778A-8D1C-949F08090366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79" name="Picture 1">
            <a:extLst>
              <a:ext uri="{FF2B5EF4-FFF2-40B4-BE49-F238E27FC236}">
                <a16:creationId xmlns:a16="http://schemas.microsoft.com/office/drawing/2014/main" id="{32CCE399-6DF8-9BFE-FA84-FD44F0D38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746978F6-328A-CCCE-A32F-E8D60378A445}"/>
              </a:ext>
            </a:extLst>
          </p:cNvPr>
          <p:cNvSpPr/>
          <p:nvPr/>
        </p:nvSpPr>
        <p:spPr>
          <a:xfrm>
            <a:off x="-1690381" y="1098519"/>
            <a:ext cx="1467136" cy="5662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현황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C70BD4F3-7D81-4B50-BEC0-1ACCFD6BDB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6317524"/>
              </p:ext>
            </p:extLst>
          </p:nvPr>
        </p:nvGraphicFramePr>
        <p:xfrm>
          <a:off x="164467" y="829880"/>
          <a:ext cx="7732447" cy="675840"/>
        </p:xfrm>
        <a:graphic>
          <a:graphicData uri="http://schemas.openxmlformats.org/drawingml/2006/table">
            <a:tbl>
              <a:tblPr firstRow="1" bandRow="1"/>
              <a:tblGrid>
                <a:gridCol w="765163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548277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044791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880958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817578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1074225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331392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548277">
                  <a:extLst>
                    <a:ext uri="{9D8B030D-6E8A-4147-A177-3AD203B41FA5}">
                      <a16:colId xmlns:a16="http://schemas.microsoft.com/office/drawing/2014/main" val="1778558004"/>
                    </a:ext>
                  </a:extLst>
                </a:gridCol>
                <a:gridCol w="721786">
                  <a:extLst>
                    <a:ext uri="{9D8B030D-6E8A-4147-A177-3AD203B41FA5}">
                      <a16:colId xmlns:a16="http://schemas.microsoft.com/office/drawing/2014/main" val="4848005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견적요청번호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견적요청명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견적유형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예산금액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품목구성방법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전달자료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요청 업체 수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RFQ2607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 중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태양광 발전기 도입 관련 견적 요청의 건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공사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용역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물품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135,400,000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품목단가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|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지정항목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건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건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99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298FE-B34F-95E7-BC21-FF66A7B7D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FB0AD7BC-9041-0F90-6047-3792A0BB141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8F3FBF-30D0-8309-DEF0-BDB9F564190F}"/>
              </a:ext>
            </a:extLst>
          </p:cNvPr>
          <p:cNvSpPr txBox="1"/>
          <p:nvPr/>
        </p:nvSpPr>
        <p:spPr>
          <a:xfrm>
            <a:off x="749224" y="25608"/>
            <a:ext cx="26228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최종 점검 및 견적 요청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2861A06-0AD2-0738-BA73-B8098029E2DD}"/>
              </a:ext>
            </a:extLst>
          </p:cNvPr>
          <p:cNvSpPr/>
          <p:nvPr/>
        </p:nvSpPr>
        <p:spPr>
          <a:xfrm>
            <a:off x="183392" y="375846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   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※ 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해당 정보를 수정하고자 하는 경우 상단의 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‘STEP 02 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를 선택하여 수정해주세요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3819A8-D8DD-5DB7-D137-4FE5CA2C8836}"/>
              </a:ext>
            </a:extLst>
          </p:cNvPr>
          <p:cNvSpPr txBox="1"/>
          <p:nvPr/>
        </p:nvSpPr>
        <p:spPr>
          <a:xfrm>
            <a:off x="164468" y="656692"/>
            <a:ext cx="305334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등록된 품목 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총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</a:t>
            </a: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DBA02DF9-15BA-00B6-9BBE-9A8BB04669AA}"/>
              </a:ext>
            </a:extLst>
          </p:cNvPr>
          <p:cNvGraphicFramePr>
            <a:graphicFrameLocks noGrp="1"/>
          </p:cNvGraphicFramePr>
          <p:nvPr/>
        </p:nvGraphicFramePr>
        <p:xfrm>
          <a:off x="171333" y="939780"/>
          <a:ext cx="7699722" cy="1013760"/>
        </p:xfrm>
        <a:graphic>
          <a:graphicData uri="http://schemas.openxmlformats.org/drawingml/2006/table">
            <a:tbl>
              <a:tblPr firstRow="1" bandRow="1"/>
              <a:tblGrid>
                <a:gridCol w="236907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44559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918973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127659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290836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290836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655664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795249">
                  <a:extLst>
                    <a:ext uri="{9D8B030D-6E8A-4147-A177-3AD203B41FA5}">
                      <a16:colId xmlns:a16="http://schemas.microsoft.com/office/drawing/2014/main" val="3408856969"/>
                    </a:ext>
                  </a:extLst>
                </a:gridCol>
                <a:gridCol w="1739039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</a:tblGrid>
              <a:tr h="3128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품목코드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규격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단위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수량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납기요청일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입고장소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비고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31285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A0106-001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고효율 인버터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품목구성방법이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지정항목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’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인 경우에 등록됨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EA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현장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품목등록의 비고에 들어간 내용입니다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31285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A0103-001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고효율 공기 압축기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EA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켑코이에스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본사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</a:tbl>
          </a:graphicData>
        </a:graphic>
      </p:graphicFrame>
      <p:sp>
        <p:nvSpPr>
          <p:cNvPr id="45" name="직사각형 44">
            <a:extLst>
              <a:ext uri="{FF2B5EF4-FFF2-40B4-BE49-F238E27FC236}">
                <a16:creationId xmlns:a16="http://schemas.microsoft.com/office/drawing/2014/main" id="{F69875AB-0034-19CA-B878-7C93D6F8AA14}"/>
              </a:ext>
            </a:extLst>
          </p:cNvPr>
          <p:cNvSpPr/>
          <p:nvPr/>
        </p:nvSpPr>
        <p:spPr>
          <a:xfrm>
            <a:off x="183392" y="2052222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전달자료   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※ 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해당 정보를 수정하고자 하는 경우 상단의 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‘STEP 03 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전달자료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를 선택하여 수정해주세요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42DD734-C1E7-2064-3BF7-D009DB995427}"/>
              </a:ext>
            </a:extLst>
          </p:cNvPr>
          <p:cNvSpPr txBox="1"/>
          <p:nvPr/>
        </p:nvSpPr>
        <p:spPr>
          <a:xfrm>
            <a:off x="164468" y="2320033"/>
            <a:ext cx="305334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등록된 전달자료 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총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</a:t>
            </a:r>
          </a:p>
        </p:txBody>
      </p:sp>
      <p:graphicFrame>
        <p:nvGraphicFramePr>
          <p:cNvPr id="49" name="표 48">
            <a:extLst>
              <a:ext uri="{FF2B5EF4-FFF2-40B4-BE49-F238E27FC236}">
                <a16:creationId xmlns:a16="http://schemas.microsoft.com/office/drawing/2014/main" id="{1448B60F-726C-434C-B86B-1297F3A25BE9}"/>
              </a:ext>
            </a:extLst>
          </p:cNvPr>
          <p:cNvGraphicFramePr>
            <a:graphicFrameLocks noGrp="1"/>
          </p:cNvGraphicFramePr>
          <p:nvPr/>
        </p:nvGraphicFramePr>
        <p:xfrm>
          <a:off x="164466" y="2603121"/>
          <a:ext cx="7699721" cy="1013760"/>
        </p:xfrm>
        <a:graphic>
          <a:graphicData uri="http://schemas.openxmlformats.org/drawingml/2006/table">
            <a:tbl>
              <a:tblPr firstRow="1" bandRow="1"/>
              <a:tblGrid>
                <a:gridCol w="408606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4385560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905555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전달자료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파일명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전달자료 안내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견적 요청 시 유의사항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켑코이에스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)#1 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파일명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.PDF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견적 요청 시 유의사항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반드시 읽어주세요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견적 요청 시 유의사항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켑코이에스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)#2 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파일명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.PDF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</a:tbl>
          </a:graphicData>
        </a:graphic>
      </p:graphicFrame>
      <p:sp>
        <p:nvSpPr>
          <p:cNvPr id="53" name="직사각형 52">
            <a:extLst>
              <a:ext uri="{FF2B5EF4-FFF2-40B4-BE49-F238E27FC236}">
                <a16:creationId xmlns:a16="http://schemas.microsoft.com/office/drawing/2014/main" id="{0FA9FF46-BA35-7204-4527-51674031F229}"/>
              </a:ext>
            </a:extLst>
          </p:cNvPr>
          <p:cNvSpPr/>
          <p:nvPr/>
        </p:nvSpPr>
        <p:spPr>
          <a:xfrm>
            <a:off x="2885110" y="3014739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DA7F1E78-613D-8DE5-1677-3AFC6FCE1313}"/>
              </a:ext>
            </a:extLst>
          </p:cNvPr>
          <p:cNvSpPr/>
          <p:nvPr/>
        </p:nvSpPr>
        <p:spPr>
          <a:xfrm>
            <a:off x="3547947" y="3014739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D9FF1914-E938-EA15-F8FB-29397FD6792D}"/>
              </a:ext>
            </a:extLst>
          </p:cNvPr>
          <p:cNvSpPr/>
          <p:nvPr/>
        </p:nvSpPr>
        <p:spPr>
          <a:xfrm>
            <a:off x="2885110" y="3348998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D9525612-3A95-1C42-A5BF-48F6FB8DCC9D}"/>
              </a:ext>
            </a:extLst>
          </p:cNvPr>
          <p:cNvSpPr/>
          <p:nvPr/>
        </p:nvSpPr>
        <p:spPr>
          <a:xfrm>
            <a:off x="3547947" y="3348998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BBEABD6F-8C39-973C-AB86-D45B06189D98}"/>
              </a:ext>
            </a:extLst>
          </p:cNvPr>
          <p:cNvSpPr/>
          <p:nvPr/>
        </p:nvSpPr>
        <p:spPr>
          <a:xfrm>
            <a:off x="183392" y="3752255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요청 업체 선정   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※ 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해당 정보를 수정하고자 하는 경우 상단의 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‘STEP 04 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요청 업체 선정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을 선택하여 수정해주세요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700FFFF-59A3-8BAE-E948-1ADB25FDCB36}"/>
              </a:ext>
            </a:extLst>
          </p:cNvPr>
          <p:cNvSpPr txBox="1"/>
          <p:nvPr/>
        </p:nvSpPr>
        <p:spPr>
          <a:xfrm>
            <a:off x="164468" y="4009115"/>
            <a:ext cx="305334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요청 업체 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총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</a:t>
            </a:r>
          </a:p>
        </p:txBody>
      </p:sp>
      <p:graphicFrame>
        <p:nvGraphicFramePr>
          <p:cNvPr id="76" name="표 75">
            <a:extLst>
              <a:ext uri="{FF2B5EF4-FFF2-40B4-BE49-F238E27FC236}">
                <a16:creationId xmlns:a16="http://schemas.microsoft.com/office/drawing/2014/main" id="{0B733714-D0DF-BC7C-CDCF-3EFC332741BC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4302067"/>
          <a:ext cx="7699720" cy="1351680"/>
        </p:xfrm>
        <a:graphic>
          <a:graphicData uri="http://schemas.openxmlformats.org/drawingml/2006/table">
            <a:tbl>
              <a:tblPr firstRow="1" bandRow="1"/>
              <a:tblGrid>
                <a:gridCol w="299634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1104971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1066429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585662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622175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1184084">
                  <a:extLst>
                    <a:ext uri="{9D8B030D-6E8A-4147-A177-3AD203B41FA5}">
                      <a16:colId xmlns:a16="http://schemas.microsoft.com/office/drawing/2014/main" val="3408856969"/>
                    </a:ext>
                  </a:extLst>
                </a:gridCol>
                <a:gridCol w="1514739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1322026">
                  <a:extLst>
                    <a:ext uri="{9D8B030D-6E8A-4147-A177-3AD203B41FA5}">
                      <a16:colId xmlns:a16="http://schemas.microsoft.com/office/drawing/2014/main" val="1778558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사업자번호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업체명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대표자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핸드폰번호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이메일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 마감일시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123-45-67891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삼전디에스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홍길동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한지훈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010-1234-5678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leehee43@naver.com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2026.08.10 18:00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123-45-67891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넷퍼시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홍길동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김미라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2026.08.10 18:00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123-45-67891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대현건설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홍길동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하지영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2026.08.10 18:00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</a:tbl>
          </a:graphicData>
        </a:graphic>
      </p:graphicFrame>
      <p:sp>
        <p:nvSpPr>
          <p:cNvPr id="92" name="직사각형 91">
            <a:extLst>
              <a:ext uri="{FF2B5EF4-FFF2-40B4-BE49-F238E27FC236}">
                <a16:creationId xmlns:a16="http://schemas.microsoft.com/office/drawing/2014/main" id="{356B499B-E84B-AE10-E4CE-A342FC6EC0ED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1330AD21-2FE4-7E6B-638E-AAFBC87F42F4}"/>
              </a:ext>
            </a:extLst>
          </p:cNvPr>
          <p:cNvSpPr/>
          <p:nvPr/>
        </p:nvSpPr>
        <p:spPr>
          <a:xfrm>
            <a:off x="164466" y="5787459"/>
            <a:ext cx="7699720" cy="44502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요청 시 업체에게 전달할 사항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○ 없음    ○ 있음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0F2D2FE5-D81F-5DA5-B51E-8A10A2B14C37}"/>
              </a:ext>
            </a:extLst>
          </p:cNvPr>
          <p:cNvSpPr/>
          <p:nvPr/>
        </p:nvSpPr>
        <p:spPr>
          <a:xfrm>
            <a:off x="2684748" y="5898979"/>
            <a:ext cx="381642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50</a:t>
            </a: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 이내로 작성해주세요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ADCA51C8-58D9-965B-6271-8A6CA946A018}"/>
              </a:ext>
            </a:extLst>
          </p:cNvPr>
          <p:cNvSpPr/>
          <p:nvPr/>
        </p:nvSpPr>
        <p:spPr>
          <a:xfrm>
            <a:off x="6645188" y="5858966"/>
            <a:ext cx="1143497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최종 견적 요청</a:t>
            </a: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61FE34A2-274E-D2BB-B55B-D7D0A30452C6}"/>
              </a:ext>
            </a:extLst>
          </p:cNvPr>
          <p:cNvSpPr/>
          <p:nvPr/>
        </p:nvSpPr>
        <p:spPr>
          <a:xfrm>
            <a:off x="6022994" y="2052222"/>
            <a:ext cx="378042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최종 견적 요청 유의사항</a:t>
            </a: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F5216B01-C751-FD4D-4822-493B56E5B1E0}"/>
              </a:ext>
            </a:extLst>
          </p:cNvPr>
          <p:cNvSpPr/>
          <p:nvPr/>
        </p:nvSpPr>
        <p:spPr>
          <a:xfrm>
            <a:off x="6022994" y="2325135"/>
            <a:ext cx="3780420" cy="185143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2F0134DA-1F9B-EF0F-0E2F-97AAE9721E6D}"/>
              </a:ext>
            </a:extLst>
          </p:cNvPr>
          <p:cNvSpPr/>
          <p:nvPr/>
        </p:nvSpPr>
        <p:spPr>
          <a:xfrm>
            <a:off x="9530326" y="2052222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FCB24729-DB27-1F70-CAAB-08770F8EAA43}"/>
              </a:ext>
            </a:extLst>
          </p:cNvPr>
          <p:cNvSpPr/>
          <p:nvPr/>
        </p:nvSpPr>
        <p:spPr>
          <a:xfrm>
            <a:off x="6130773" y="2738522"/>
            <a:ext cx="3532535" cy="879892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최종 견적 요청을 하면 업체에게 메일이 발송되며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b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요청 내용을 수정할 수 없습니다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kumimoji="1" lang="en-US" altLang="ko-KR" sz="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요청 내용을 모두 확인하셨습니까</a:t>
            </a:r>
            <a:r>
              <a:rPr kumimoji="1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?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pic>
        <p:nvPicPr>
          <p:cNvPr id="108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97E39AA4-0FC0-C497-FF1C-39A8635879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6895" y="2895143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665E4ADF-B833-5CFC-2ED7-6A0CA7AE3A7B}"/>
              </a:ext>
            </a:extLst>
          </p:cNvPr>
          <p:cNvSpPr/>
          <p:nvPr/>
        </p:nvSpPr>
        <p:spPr>
          <a:xfrm>
            <a:off x="6707070" y="3726889"/>
            <a:ext cx="2207520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최종 견적 요청하기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업체에게 메일 발송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CF2C861D-EAC6-F08A-88DC-9B9BA5329D3D}"/>
              </a:ext>
            </a:extLst>
          </p:cNvPr>
          <p:cNvSpPr/>
          <p:nvPr/>
        </p:nvSpPr>
        <p:spPr>
          <a:xfrm>
            <a:off x="8974331" y="3726889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DF31552D-F78D-C7FE-1229-A83EAC1F18E7}"/>
              </a:ext>
            </a:extLst>
          </p:cNvPr>
          <p:cNvSpPr/>
          <p:nvPr/>
        </p:nvSpPr>
        <p:spPr>
          <a:xfrm>
            <a:off x="6154214" y="2421523"/>
            <a:ext cx="952184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최종 견적 요청</a:t>
            </a:r>
          </a:p>
        </p:txBody>
      </p:sp>
      <p:cxnSp>
        <p:nvCxnSpPr>
          <p:cNvPr id="115" name="연결선: 꺾임 114">
            <a:extLst>
              <a:ext uri="{FF2B5EF4-FFF2-40B4-BE49-F238E27FC236}">
                <a16:creationId xmlns:a16="http://schemas.microsoft.com/office/drawing/2014/main" id="{59486CF9-9C30-2E17-F948-395C7E2D6B5F}"/>
              </a:ext>
            </a:extLst>
          </p:cNvPr>
          <p:cNvCxnSpPr>
            <a:cxnSpLocks/>
            <a:stCxn id="98" idx="3"/>
            <a:endCxn id="102" idx="2"/>
          </p:cNvCxnSpPr>
          <p:nvPr/>
        </p:nvCxnSpPr>
        <p:spPr>
          <a:xfrm flipV="1">
            <a:off x="7788685" y="4176573"/>
            <a:ext cx="124519" cy="1826409"/>
          </a:xfrm>
          <a:prstGeom prst="bentConnector2">
            <a:avLst/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타원 2">
            <a:extLst>
              <a:ext uri="{FF2B5EF4-FFF2-40B4-BE49-F238E27FC236}">
                <a16:creationId xmlns:a16="http://schemas.microsoft.com/office/drawing/2014/main" id="{1746A50C-07F9-1744-A81D-700BDA79166D}"/>
              </a:ext>
            </a:extLst>
          </p:cNvPr>
          <p:cNvSpPr/>
          <p:nvPr/>
        </p:nvSpPr>
        <p:spPr>
          <a:xfrm>
            <a:off x="5950986" y="1957048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669C52-4870-5672-3755-0C5CF1DA82E4}"/>
              </a:ext>
            </a:extLst>
          </p:cNvPr>
          <p:cNvSpPr txBox="1"/>
          <p:nvPr/>
        </p:nvSpPr>
        <p:spPr>
          <a:xfrm>
            <a:off x="8049344" y="584684"/>
            <a:ext cx="1856656" cy="1594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견적이 요청되면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‘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현황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메뉴의 검색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조회 현황에서 확인할 수 있음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이때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요청 일시가 기록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저장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되어야 함</a:t>
            </a:r>
            <a:b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 통보 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MSG-010</a:t>
            </a:r>
            <a:endParaRPr lang="ko-KR" altLang="en-US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897457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0E440-733E-137C-E3D4-1AB4C2A34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5F40360-B1EA-15D0-BF09-365C2E27EC4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C464C0-8F41-6689-C9E4-2FAD945E9E25}"/>
              </a:ext>
            </a:extLst>
          </p:cNvPr>
          <p:cNvSpPr txBox="1"/>
          <p:nvPr/>
        </p:nvSpPr>
        <p:spPr>
          <a:xfrm>
            <a:off x="749224" y="25608"/>
            <a:ext cx="227658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요청 완료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7A6B08-B5AB-A2EC-E8BA-DEE036319168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925DFB9-2588-7BFE-12A7-7310E4C03841}"/>
              </a:ext>
            </a:extLst>
          </p:cNvPr>
          <p:cNvSpPr/>
          <p:nvPr/>
        </p:nvSpPr>
        <p:spPr>
          <a:xfrm>
            <a:off x="164468" y="403565"/>
            <a:ext cx="791883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91DB4FBB-6292-2905-E4E7-56A2B9184E9C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79B1C3F-6020-0D9D-28B8-83EA1C0E7F0D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89D1A57-A30E-24CC-D5B3-D5C1C37E8868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C3CEF69-331C-302D-FF6C-1CE62DE219B1}"/>
              </a:ext>
            </a:extLst>
          </p:cNvPr>
          <p:cNvGrpSpPr/>
          <p:nvPr/>
        </p:nvGrpSpPr>
        <p:grpSpPr>
          <a:xfrm>
            <a:off x="164468" y="1576982"/>
            <a:ext cx="7740859" cy="643315"/>
            <a:chOff x="213978" y="826923"/>
            <a:chExt cx="8410484" cy="643315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CCA056CB-904B-9067-43C9-1AB4E63099FC}"/>
                </a:ext>
              </a:extLst>
            </p:cNvPr>
            <p:cNvSpPr/>
            <p:nvPr/>
          </p:nvSpPr>
          <p:spPr>
            <a:xfrm>
              <a:off x="213978" y="826923"/>
              <a:ext cx="1332184" cy="643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01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b="1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견적 요청 기본정보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6445B1D1-5E4F-9ECB-206D-AEEDD2926409}"/>
                </a:ext>
              </a:extLst>
            </p:cNvPr>
            <p:cNvSpPr/>
            <p:nvPr/>
          </p:nvSpPr>
          <p:spPr>
            <a:xfrm>
              <a:off x="1629638" y="826923"/>
              <a:ext cx="1332184" cy="643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02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b="1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품목 정보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A193B4C1-0B87-DEB2-CDF1-ED2C74DAEF95}"/>
                </a:ext>
              </a:extLst>
            </p:cNvPr>
            <p:cNvSpPr/>
            <p:nvPr/>
          </p:nvSpPr>
          <p:spPr>
            <a:xfrm>
              <a:off x="3045298" y="826923"/>
              <a:ext cx="1332184" cy="643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03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b="1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전달자료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DDC13379-5358-9A43-7DD0-3869C4506C3E}"/>
                </a:ext>
              </a:extLst>
            </p:cNvPr>
            <p:cNvSpPr/>
            <p:nvPr/>
          </p:nvSpPr>
          <p:spPr>
            <a:xfrm>
              <a:off x="4460958" y="826923"/>
              <a:ext cx="1332184" cy="643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04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견적 요청 업체 선정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809718E-4851-3051-D010-AE07F6ABEBF8}"/>
                </a:ext>
              </a:extLst>
            </p:cNvPr>
            <p:cNvSpPr/>
            <p:nvPr/>
          </p:nvSpPr>
          <p:spPr>
            <a:xfrm>
              <a:off x="5876618" y="826923"/>
              <a:ext cx="1332184" cy="643315"/>
            </a:xfrm>
            <a:prstGeom prst="rect">
              <a:avLst/>
            </a:prstGeom>
            <a:solidFill>
              <a:schemeClr val="bg1">
                <a:lumMod val="95000"/>
                <a:alpha val="69804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05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최종 점검 및 견적 요청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8E61A2DA-B2F6-AE2D-13AD-528807F13883}"/>
                </a:ext>
              </a:extLst>
            </p:cNvPr>
            <p:cNvSpPr/>
            <p:nvPr/>
          </p:nvSpPr>
          <p:spPr>
            <a:xfrm>
              <a:off x="7292278" y="826923"/>
              <a:ext cx="1332184" cy="643315"/>
            </a:xfrm>
            <a:prstGeom prst="rect">
              <a:avLst/>
            </a:prstGeom>
            <a:solidFill>
              <a:srgbClr val="FFC000">
                <a:alpha val="69804"/>
              </a:srgb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en-US" altLang="ko-KR" sz="900" b="1" spc="-50" dirty="0">
                  <a:solidFill>
                    <a:srgbClr val="0070C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STEP 06</a:t>
              </a:r>
            </a:p>
            <a:p>
              <a:pPr algn="l">
                <a:lnSpc>
                  <a:spcPct val="13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8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견적 요청 완료</a:t>
              </a:r>
              <a:endParaRPr lang="en-US" altLang="ko-KR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138402C-BECA-B0E3-4CAD-0F53409CC28E}"/>
              </a:ext>
            </a:extLst>
          </p:cNvPr>
          <p:cNvSpPr/>
          <p:nvPr/>
        </p:nvSpPr>
        <p:spPr>
          <a:xfrm>
            <a:off x="163127" y="2315225"/>
            <a:ext cx="7740859" cy="777440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견적 요청이 완료되었습니다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요청이 완료된 경우 요청 정보를 수정할 수 없습니다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본 사전 견적 진행 현황은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메뉴를 통해 확인하실 수 있습니다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pic>
        <p:nvPicPr>
          <p:cNvPr id="17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607C7D24-36C8-C278-0365-6EA0AE939A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50" y="2418725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직사각형 55">
            <a:extLst>
              <a:ext uri="{FF2B5EF4-FFF2-40B4-BE49-F238E27FC236}">
                <a16:creationId xmlns:a16="http://schemas.microsoft.com/office/drawing/2014/main" id="{C17E82F9-998A-AD05-9D67-7E554A4F402A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FF7CE087-8B24-56E9-2AA8-241B8445FC30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E0217BF2-4C7D-D864-EC49-33E9DE8137B6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62" name="Picture 1">
            <a:extLst>
              <a:ext uri="{FF2B5EF4-FFF2-40B4-BE49-F238E27FC236}">
                <a16:creationId xmlns:a16="http://schemas.microsoft.com/office/drawing/2014/main" id="{8FB8483E-34F5-C189-7A8D-26E3974507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7F9FDA31-29AD-04CA-A9D3-41FC44669998}"/>
              </a:ext>
            </a:extLst>
          </p:cNvPr>
          <p:cNvSpPr/>
          <p:nvPr/>
        </p:nvSpPr>
        <p:spPr>
          <a:xfrm>
            <a:off x="-1690381" y="1098519"/>
            <a:ext cx="1467136" cy="5662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현황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4AE6268-58C9-996A-61F5-8668B9B00B31}"/>
              </a:ext>
            </a:extLst>
          </p:cNvPr>
          <p:cNvSpPr/>
          <p:nvPr/>
        </p:nvSpPr>
        <p:spPr>
          <a:xfrm>
            <a:off x="5781092" y="3201136"/>
            <a:ext cx="2115823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현황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 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바로가기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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F7DF08CC-FC1F-9B2C-F31A-E52307CAAD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0405938"/>
              </p:ext>
            </p:extLst>
          </p:nvPr>
        </p:nvGraphicFramePr>
        <p:xfrm>
          <a:off x="164467" y="829880"/>
          <a:ext cx="7732447" cy="675840"/>
        </p:xfrm>
        <a:graphic>
          <a:graphicData uri="http://schemas.openxmlformats.org/drawingml/2006/table">
            <a:tbl>
              <a:tblPr firstRow="1" bandRow="1"/>
              <a:tblGrid>
                <a:gridCol w="765163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548277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044791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880958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817578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1074225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331392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548277">
                  <a:extLst>
                    <a:ext uri="{9D8B030D-6E8A-4147-A177-3AD203B41FA5}">
                      <a16:colId xmlns:a16="http://schemas.microsoft.com/office/drawing/2014/main" val="1778558004"/>
                    </a:ext>
                  </a:extLst>
                </a:gridCol>
                <a:gridCol w="721786">
                  <a:extLst>
                    <a:ext uri="{9D8B030D-6E8A-4147-A177-3AD203B41FA5}">
                      <a16:colId xmlns:a16="http://schemas.microsoft.com/office/drawing/2014/main" val="4848005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견적요청번호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견적요청명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견적유형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예산금액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품목구성방법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전달자료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요청 업체 수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RFQ2607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 중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태양광 발전기 도입 관련 견적 요청의 건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공사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용역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물품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135,400,000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품목단가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|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지정항목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건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건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55229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58C1E-C2E2-C776-3C70-819D1FB9E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46F0469-A101-C547-60B1-96DEF7B1D34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D7C014-57F4-A957-0753-025A9275010D}"/>
              </a:ext>
            </a:extLst>
          </p:cNvPr>
          <p:cNvSpPr txBox="1"/>
          <p:nvPr/>
        </p:nvSpPr>
        <p:spPr>
          <a:xfrm>
            <a:off x="749224" y="25608"/>
            <a:ext cx="22862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850764-64F7-4EA6-F484-B76E121ECC59}"/>
              </a:ext>
            </a:extLst>
          </p:cNvPr>
          <p:cNvSpPr txBox="1"/>
          <p:nvPr/>
        </p:nvSpPr>
        <p:spPr>
          <a:xfrm>
            <a:off x="8049344" y="584684"/>
            <a:ext cx="18566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견적요청번호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견적요청명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등록자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진행상태 정의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요청 중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마감일시 이전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마감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마감일시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이후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FFBFBA9-CAFA-4755-470B-9C35392EE8DA}"/>
              </a:ext>
            </a:extLst>
          </p:cNvPr>
          <p:cNvSpPr/>
          <p:nvPr/>
        </p:nvSpPr>
        <p:spPr>
          <a:xfrm>
            <a:off x="164468" y="403565"/>
            <a:ext cx="1067600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현황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D328BE53-AC28-C1A8-6278-0262A758BC53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79DA53D-72AC-3438-5CDC-FFA19337B544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D4325F7-5DF1-6C51-0967-FE6F37015DA7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188E18B-0DD2-71D8-1C00-1AB8AB9C2E5C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0979390-E3D0-3153-6BD2-FC5034A75E7F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1A6267A-6297-BACE-A3CA-A7279D33BD80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4" name="Picture 1">
            <a:extLst>
              <a:ext uri="{FF2B5EF4-FFF2-40B4-BE49-F238E27FC236}">
                <a16:creationId xmlns:a16="http://schemas.microsoft.com/office/drawing/2014/main" id="{0F789AAF-DED6-F9AF-F3BC-E5E1308E2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711133D4-C68F-A278-577A-8164A769AF44}"/>
              </a:ext>
            </a:extLst>
          </p:cNvPr>
          <p:cNvSpPr/>
          <p:nvPr/>
        </p:nvSpPr>
        <p:spPr>
          <a:xfrm>
            <a:off x="164468" y="834983"/>
            <a:ext cx="7740859" cy="150658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518D6B-6390-2CBC-758C-4912CF08B471}"/>
              </a:ext>
            </a:extLst>
          </p:cNvPr>
          <p:cNvSpPr txBox="1"/>
          <p:nvPr/>
        </p:nvSpPr>
        <p:spPr>
          <a:xfrm>
            <a:off x="235850" y="941488"/>
            <a:ext cx="68053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marR="0" lvl="0" indent="-7200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조회기간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요청일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                                                                                                                                            ~    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D10C08-F552-09D4-F606-5530732FFF58}"/>
              </a:ext>
            </a:extLst>
          </p:cNvPr>
          <p:cNvSpPr txBox="1"/>
          <p:nvPr/>
        </p:nvSpPr>
        <p:spPr>
          <a:xfrm>
            <a:off x="235849" y="1204748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lang="ko-KR" altLang="en-US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진행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상태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 전체      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○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</a:t>
            </a:r>
            <a:r>
              <a:rPr lang="ko-KR" altLang="en-US" sz="800" b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요청 중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○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마감</a:t>
            </a:r>
            <a:endParaRPr lang="en-US" altLang="ko-KR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12DAB4-B4BB-CB51-803D-88049DD4D231}"/>
              </a:ext>
            </a:extLst>
          </p:cNvPr>
          <p:cNvSpPr txBox="1"/>
          <p:nvPr/>
        </p:nvSpPr>
        <p:spPr>
          <a:xfrm>
            <a:off x="235849" y="1981872"/>
            <a:ext cx="75617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키워드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검색 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ko-KR" altLang="en-US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19C00CC-8635-AF72-5AB5-A5FAC44CC37B}"/>
              </a:ext>
            </a:extLst>
          </p:cNvPr>
          <p:cNvSpPr/>
          <p:nvPr/>
        </p:nvSpPr>
        <p:spPr>
          <a:xfrm>
            <a:off x="4683665" y="92908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시작일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2708F62-665B-850E-2C82-823DD9980D6D}"/>
              </a:ext>
            </a:extLst>
          </p:cNvPr>
          <p:cNvSpPr/>
          <p:nvPr/>
        </p:nvSpPr>
        <p:spPr>
          <a:xfrm>
            <a:off x="5493916" y="92908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CA2C5ED-BCF1-8329-7D06-2CD6838D4283}"/>
              </a:ext>
            </a:extLst>
          </p:cNvPr>
          <p:cNvSpPr/>
          <p:nvPr/>
        </p:nvSpPr>
        <p:spPr>
          <a:xfrm>
            <a:off x="5907171" y="92908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종료일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0492817-260A-8A76-94FB-6C35B184C989}"/>
              </a:ext>
            </a:extLst>
          </p:cNvPr>
          <p:cNvSpPr/>
          <p:nvPr/>
        </p:nvSpPr>
        <p:spPr>
          <a:xfrm>
            <a:off x="6717422" y="92908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063D372-1E59-D088-7C72-FA02321924A9}"/>
              </a:ext>
            </a:extLst>
          </p:cNvPr>
          <p:cNvSpPr/>
          <p:nvPr/>
        </p:nvSpPr>
        <p:spPr>
          <a:xfrm>
            <a:off x="1393889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ko-KR" altLang="en-US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하루 전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90F6C0C-5660-41BA-13CB-20E86CB8F4F7}"/>
              </a:ext>
            </a:extLst>
          </p:cNvPr>
          <p:cNvSpPr/>
          <p:nvPr/>
        </p:nvSpPr>
        <p:spPr>
          <a:xfrm>
            <a:off x="1942458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주일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EEE48A0-4A74-690E-7504-574763302AF9}"/>
              </a:ext>
            </a:extLst>
          </p:cNvPr>
          <p:cNvSpPr/>
          <p:nvPr/>
        </p:nvSpPr>
        <p:spPr>
          <a:xfrm>
            <a:off x="2491027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2DFD131-2473-AD5D-920C-A696CFE1DE9A}"/>
              </a:ext>
            </a:extLst>
          </p:cNvPr>
          <p:cNvSpPr/>
          <p:nvPr/>
        </p:nvSpPr>
        <p:spPr>
          <a:xfrm>
            <a:off x="3039596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F8E5399-6A6F-675E-2C65-1724C4BE3A4E}"/>
              </a:ext>
            </a:extLst>
          </p:cNvPr>
          <p:cNvSpPr/>
          <p:nvPr/>
        </p:nvSpPr>
        <p:spPr>
          <a:xfrm>
            <a:off x="3588165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10A7215-C22F-C7C8-5993-5A2BDD78DFC3}"/>
              </a:ext>
            </a:extLst>
          </p:cNvPr>
          <p:cNvSpPr/>
          <p:nvPr/>
        </p:nvSpPr>
        <p:spPr>
          <a:xfrm>
            <a:off x="4136733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9165482-42A3-E456-7084-AA7F99A036F3}"/>
              </a:ext>
            </a:extLst>
          </p:cNvPr>
          <p:cNvSpPr txBox="1"/>
          <p:nvPr/>
        </p:nvSpPr>
        <p:spPr>
          <a:xfrm>
            <a:off x="235849" y="1454449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견적유형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 전체      ○ 공사     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○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용역     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○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물품</a:t>
            </a:r>
            <a:endParaRPr lang="en-US" altLang="ko-KR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8214CAD-38CE-DD88-D3BF-ACADB3F4612A}"/>
              </a:ext>
            </a:extLst>
          </p:cNvPr>
          <p:cNvSpPr/>
          <p:nvPr/>
        </p:nvSpPr>
        <p:spPr>
          <a:xfrm>
            <a:off x="1408523" y="197472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구분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9187C89-5272-5FAE-4F14-F5A37E014863}"/>
              </a:ext>
            </a:extLst>
          </p:cNvPr>
          <p:cNvSpPr/>
          <p:nvPr/>
        </p:nvSpPr>
        <p:spPr>
          <a:xfrm>
            <a:off x="2218774" y="197472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9E6C25E-0292-95A6-8EC2-EDC5822DB57F}"/>
              </a:ext>
            </a:extLst>
          </p:cNvPr>
          <p:cNvSpPr/>
          <p:nvPr/>
        </p:nvSpPr>
        <p:spPr>
          <a:xfrm>
            <a:off x="2533911" y="1974727"/>
            <a:ext cx="361980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검색어를 입력하세요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6EFEB3F-BA1E-FD14-0804-C572C0435DE2}"/>
              </a:ext>
            </a:extLst>
          </p:cNvPr>
          <p:cNvSpPr/>
          <p:nvPr/>
        </p:nvSpPr>
        <p:spPr>
          <a:xfrm>
            <a:off x="6241919" y="1974729"/>
            <a:ext cx="625198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6402EE1-654E-E550-A103-8CA4ED3DCD1F}"/>
              </a:ext>
            </a:extLst>
          </p:cNvPr>
          <p:cNvSpPr/>
          <p:nvPr/>
        </p:nvSpPr>
        <p:spPr>
          <a:xfrm>
            <a:off x="5856272" y="2468910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개씩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75257C5-7B82-F650-CDE5-702644B811D2}"/>
              </a:ext>
            </a:extLst>
          </p:cNvPr>
          <p:cNvSpPr/>
          <p:nvPr/>
        </p:nvSpPr>
        <p:spPr>
          <a:xfrm>
            <a:off x="6677734" y="2468910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01E273B-14CB-6FB7-9900-5807C04A5ABC}"/>
              </a:ext>
            </a:extLst>
          </p:cNvPr>
          <p:cNvSpPr txBox="1"/>
          <p:nvPr/>
        </p:nvSpPr>
        <p:spPr>
          <a:xfrm>
            <a:off x="181506" y="2455392"/>
            <a:ext cx="297592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1,523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 현재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/4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78D2D70-4487-75F2-F45E-99B119029518}"/>
              </a:ext>
            </a:extLst>
          </p:cNvPr>
          <p:cNvSpPr/>
          <p:nvPr/>
        </p:nvSpPr>
        <p:spPr>
          <a:xfrm>
            <a:off x="6982990" y="2468910"/>
            <a:ext cx="913712" cy="215441"/>
          </a:xfrm>
          <a:prstGeom prst="rect">
            <a:avLst/>
          </a:prstGeom>
          <a:solidFill>
            <a:srgbClr val="00B05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  <a:r>
              <a:rPr lang="en-US" altLang="ko-KR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(Excel)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A7CEC118-4DAB-2E3A-AB86-3873EF1794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8814260"/>
              </p:ext>
            </p:extLst>
          </p:nvPr>
        </p:nvGraphicFramePr>
        <p:xfrm>
          <a:off x="179901" y="2764358"/>
          <a:ext cx="10399587" cy="1351680"/>
        </p:xfrm>
        <a:graphic>
          <a:graphicData uri="http://schemas.openxmlformats.org/drawingml/2006/table">
            <a:tbl>
              <a:tblPr firstRow="1" bandRow="1"/>
              <a:tblGrid>
                <a:gridCol w="450387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744075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677400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1868025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553575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790113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744075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363075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553575">
                  <a:extLst>
                    <a:ext uri="{9D8B030D-6E8A-4147-A177-3AD203B41FA5}">
                      <a16:colId xmlns:a16="http://schemas.microsoft.com/office/drawing/2014/main" val="1778558004"/>
                    </a:ext>
                  </a:extLst>
                </a:gridCol>
                <a:gridCol w="705975">
                  <a:extLst>
                    <a:ext uri="{9D8B030D-6E8A-4147-A177-3AD203B41FA5}">
                      <a16:colId xmlns:a16="http://schemas.microsoft.com/office/drawing/2014/main" val="484800548"/>
                    </a:ext>
                  </a:extLst>
                </a:gridCol>
                <a:gridCol w="728200">
                  <a:extLst>
                    <a:ext uri="{9D8B030D-6E8A-4147-A177-3AD203B41FA5}">
                      <a16:colId xmlns:a16="http://schemas.microsoft.com/office/drawing/2014/main" val="2305781461"/>
                    </a:ext>
                  </a:extLst>
                </a:gridCol>
                <a:gridCol w="1034587">
                  <a:extLst>
                    <a:ext uri="{9D8B030D-6E8A-4147-A177-3AD203B41FA5}">
                      <a16:colId xmlns:a16="http://schemas.microsoft.com/office/drawing/2014/main" val="1372629467"/>
                    </a:ext>
                  </a:extLst>
                </a:gridCol>
                <a:gridCol w="728200">
                  <a:extLst>
                    <a:ext uri="{9D8B030D-6E8A-4147-A177-3AD203B41FA5}">
                      <a16:colId xmlns:a16="http://schemas.microsoft.com/office/drawing/2014/main" val="2523826374"/>
                    </a:ext>
                  </a:extLst>
                </a:gridCol>
                <a:gridCol w="458325">
                  <a:extLst>
                    <a:ext uri="{9D8B030D-6E8A-4147-A177-3AD203B41FA5}">
                      <a16:colId xmlns:a16="http://schemas.microsoft.com/office/drawing/2014/main" val="8585230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견적요청번호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견적요청명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견적유형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예산금액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품목구성방법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전달자료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요청 업체 수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견적요청일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 마감일시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등록일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등록자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1,541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RFQ2607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견적 </a:t>
                      </a: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요청 중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태양광 발전기 도입 관련 견적 요청의 건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용역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135,400,000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지정항목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건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건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2026.07.01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 18:00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견적 마감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물품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946446"/>
                  </a:ext>
                </a:extLst>
              </a:tr>
            </a:tbl>
          </a:graphicData>
        </a:graphic>
      </p:graphicFrame>
      <p:grpSp>
        <p:nvGrpSpPr>
          <p:cNvPr id="44" name="그룹 43">
            <a:extLst>
              <a:ext uri="{FF2B5EF4-FFF2-40B4-BE49-F238E27FC236}">
                <a16:creationId xmlns:a16="http://schemas.microsoft.com/office/drawing/2014/main" id="{0A270B5A-4223-F9D3-0FB1-C71E2145415F}"/>
              </a:ext>
            </a:extLst>
          </p:cNvPr>
          <p:cNvGrpSpPr/>
          <p:nvPr/>
        </p:nvGrpSpPr>
        <p:grpSpPr>
          <a:xfrm>
            <a:off x="2004219" y="4265718"/>
            <a:ext cx="4025354" cy="216024"/>
            <a:chOff x="2992062" y="4869160"/>
            <a:chExt cx="4025354" cy="216024"/>
          </a:xfrm>
        </p:grpSpPr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D5C12570-5215-B4FB-EE1D-D135C5C533B9}"/>
                </a:ext>
              </a:extLst>
            </p:cNvPr>
            <p:cNvSpPr/>
            <p:nvPr/>
          </p:nvSpPr>
          <p:spPr>
            <a:xfrm>
              <a:off x="2992062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◀</a:t>
              </a: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FDD924BB-2014-7451-3BE6-EAC95633547A}"/>
                </a:ext>
              </a:extLst>
            </p:cNvPr>
            <p:cNvSpPr/>
            <p:nvPr/>
          </p:nvSpPr>
          <p:spPr>
            <a:xfrm>
              <a:off x="3285089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&lt;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C60A5689-28B5-84C8-1DB2-77423333C870}"/>
                </a:ext>
              </a:extLst>
            </p:cNvPr>
            <p:cNvSpPr/>
            <p:nvPr/>
          </p:nvSpPr>
          <p:spPr>
            <a:xfrm>
              <a:off x="3578116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53108E2F-FAEC-95C8-820F-9B141FABBFE1}"/>
                </a:ext>
              </a:extLst>
            </p:cNvPr>
            <p:cNvSpPr/>
            <p:nvPr/>
          </p:nvSpPr>
          <p:spPr>
            <a:xfrm>
              <a:off x="3871143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DF54CF69-4980-3EA2-CB9E-B0B8D2748690}"/>
                </a:ext>
              </a:extLst>
            </p:cNvPr>
            <p:cNvSpPr/>
            <p:nvPr/>
          </p:nvSpPr>
          <p:spPr>
            <a:xfrm>
              <a:off x="4164170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DF6234B6-566B-9218-5BA4-C5D615D4217D}"/>
                </a:ext>
              </a:extLst>
            </p:cNvPr>
            <p:cNvSpPr/>
            <p:nvPr/>
          </p:nvSpPr>
          <p:spPr>
            <a:xfrm>
              <a:off x="4457197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87C6325B-46DF-ECC0-D7B3-5CE9FB6A2A18}"/>
                </a:ext>
              </a:extLst>
            </p:cNvPr>
            <p:cNvSpPr/>
            <p:nvPr/>
          </p:nvSpPr>
          <p:spPr>
            <a:xfrm>
              <a:off x="4750224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BD4E785B-7C88-5C3C-9BBB-09A7BC146CDF}"/>
                </a:ext>
              </a:extLst>
            </p:cNvPr>
            <p:cNvSpPr/>
            <p:nvPr/>
          </p:nvSpPr>
          <p:spPr>
            <a:xfrm>
              <a:off x="5043251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E1165C4F-AC66-F4FC-CD78-DEFA845EE63D}"/>
                </a:ext>
              </a:extLst>
            </p:cNvPr>
            <p:cNvSpPr/>
            <p:nvPr/>
          </p:nvSpPr>
          <p:spPr>
            <a:xfrm>
              <a:off x="5336278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8952A7F9-508B-0C8C-0CF9-732F9C56AF6B}"/>
                </a:ext>
              </a:extLst>
            </p:cNvPr>
            <p:cNvSpPr/>
            <p:nvPr/>
          </p:nvSpPr>
          <p:spPr>
            <a:xfrm>
              <a:off x="5629305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F0BED3C2-C23B-4278-5F75-45FF89BD713F}"/>
                </a:ext>
              </a:extLst>
            </p:cNvPr>
            <p:cNvSpPr/>
            <p:nvPr/>
          </p:nvSpPr>
          <p:spPr>
            <a:xfrm>
              <a:off x="5922332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89401CE9-8026-DC17-0ADD-153A9C40B4EE}"/>
                </a:ext>
              </a:extLst>
            </p:cNvPr>
            <p:cNvSpPr/>
            <p:nvPr/>
          </p:nvSpPr>
          <p:spPr>
            <a:xfrm>
              <a:off x="6215359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C61CC873-2B07-D994-1999-B3C97956186A}"/>
                </a:ext>
              </a:extLst>
            </p:cNvPr>
            <p:cNvSpPr/>
            <p:nvPr/>
          </p:nvSpPr>
          <p:spPr>
            <a:xfrm>
              <a:off x="650838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&gt;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0FA4ED38-8191-D2E8-DCA8-D8BE1B8B0D6B}"/>
                </a:ext>
              </a:extLst>
            </p:cNvPr>
            <p:cNvSpPr/>
            <p:nvPr/>
          </p:nvSpPr>
          <p:spPr>
            <a:xfrm>
              <a:off x="680141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▶</a:t>
              </a:r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B7290ABC-1086-0A82-676C-38616D08AB10}"/>
              </a:ext>
            </a:extLst>
          </p:cNvPr>
          <p:cNvSpPr txBox="1"/>
          <p:nvPr/>
        </p:nvSpPr>
        <p:spPr>
          <a:xfrm>
            <a:off x="235849" y="1704150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품목구성방법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 전체      ○ 품목단가     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○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지정항목</a:t>
            </a:r>
            <a:endParaRPr lang="en-US" altLang="ko-KR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3534AF9-22F4-0B66-01C7-F597A4435508}"/>
              </a:ext>
            </a:extLst>
          </p:cNvPr>
          <p:cNvSpPr/>
          <p:nvPr/>
        </p:nvSpPr>
        <p:spPr>
          <a:xfrm>
            <a:off x="-1690381" y="1098519"/>
            <a:ext cx="1467136" cy="5662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현황</a:t>
            </a: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1F8C066B-1F53-886C-88F9-2F8B8DAB48B7}"/>
              </a:ext>
            </a:extLst>
          </p:cNvPr>
          <p:cNvSpPr/>
          <p:nvPr/>
        </p:nvSpPr>
        <p:spPr>
          <a:xfrm>
            <a:off x="1320319" y="1863606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2646867F-9E1F-548A-8947-98FC57064E3C}"/>
              </a:ext>
            </a:extLst>
          </p:cNvPr>
          <p:cNvSpPr/>
          <p:nvPr/>
        </p:nvSpPr>
        <p:spPr>
          <a:xfrm>
            <a:off x="1320319" y="2677680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23349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F37CC-4813-A8AC-1306-CBC1C22E0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5FA2227-5EE8-72F9-ED39-60B823B87EA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1CECDB-6C23-4F23-4BB9-4B3CFE54FEC1}"/>
              </a:ext>
            </a:extLst>
          </p:cNvPr>
          <p:cNvSpPr txBox="1"/>
          <p:nvPr/>
        </p:nvSpPr>
        <p:spPr>
          <a:xfrm>
            <a:off x="749224" y="25608"/>
            <a:ext cx="249780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FAB46A-805C-C68C-F218-EF06B648A6A7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6925B78-84E9-3B88-52B0-1D06D9DE9EEC}"/>
              </a:ext>
            </a:extLst>
          </p:cNvPr>
          <p:cNvSpPr/>
          <p:nvPr/>
        </p:nvSpPr>
        <p:spPr>
          <a:xfrm>
            <a:off x="164468" y="403565"/>
            <a:ext cx="1067600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현황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549DDDF8-E721-D32C-F5DE-0EA5EFCD7C91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EA1D04B-0D2C-F255-6695-8A52FE1F409C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B467A4D-D692-92A4-2950-6EEA23AB4302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1D159D2-78C9-1659-A713-3EE109147679}"/>
              </a:ext>
            </a:extLst>
          </p:cNvPr>
          <p:cNvCxnSpPr>
            <a:cxnSpLocks/>
          </p:cNvCxnSpPr>
          <p:nvPr/>
        </p:nvCxnSpPr>
        <p:spPr>
          <a:xfrm>
            <a:off x="167468" y="1949845"/>
            <a:ext cx="7737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95CEF4A-6043-135B-09FD-B14D91B4C85E}"/>
              </a:ext>
            </a:extLst>
          </p:cNvPr>
          <p:cNvSpPr/>
          <p:nvPr/>
        </p:nvSpPr>
        <p:spPr>
          <a:xfrm>
            <a:off x="163503" y="1599259"/>
            <a:ext cx="1139031" cy="354461"/>
          </a:xfrm>
          <a:prstGeom prst="rect">
            <a:avLst/>
          </a:prstGeom>
          <a:solidFill>
            <a:srgbClr val="00B05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요청 내역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586D10A-BAE8-9C1A-7617-655C99E40F3F}"/>
              </a:ext>
            </a:extLst>
          </p:cNvPr>
          <p:cNvSpPr/>
          <p:nvPr/>
        </p:nvSpPr>
        <p:spPr>
          <a:xfrm>
            <a:off x="1302316" y="1661278"/>
            <a:ext cx="1139031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 현황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41EB781-C77B-7CDF-9C61-3BD3FF1B79A1}"/>
              </a:ext>
            </a:extLst>
          </p:cNvPr>
          <p:cNvSpPr/>
          <p:nvPr/>
        </p:nvSpPr>
        <p:spPr>
          <a:xfrm>
            <a:off x="183392" y="2064792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요청 기본정보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3EB28F52-90EF-C6FF-AE73-D75334F890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5083894"/>
              </p:ext>
            </p:extLst>
          </p:nvPr>
        </p:nvGraphicFramePr>
        <p:xfrm>
          <a:off x="164467" y="2345430"/>
          <a:ext cx="7740859" cy="371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591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387268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견적요청번호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RFQ2607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2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처리상태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견적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요청 중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|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견적 마감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995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견적요청명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어떤 사업에 대한 제품 구매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설치 관련 견적요청 드립니다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견적유형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공사 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|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용역 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|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물품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예산금액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135,400,000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원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일억삼천오백사십만원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027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품목구성방법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품목단가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777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비고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예산 확보를 위해 반드시 필요한 견적이니 성의 있게 작성 부탁드립니다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6539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등록일시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15:42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5100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등록자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1472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견적요청일시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2026.06.11 16:30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67222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견적 마감일시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2026.08.10 18:00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334745"/>
                  </a:ext>
                </a:extLst>
              </a:tr>
            </a:tbl>
          </a:graphicData>
        </a:graphic>
      </p:graphicFrame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4F9D822B-B544-3193-9687-91E159C9CD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8317292"/>
              </p:ext>
            </p:extLst>
          </p:nvPr>
        </p:nvGraphicFramePr>
        <p:xfrm>
          <a:off x="164466" y="828926"/>
          <a:ext cx="7737859" cy="675840"/>
        </p:xfrm>
        <a:graphic>
          <a:graphicData uri="http://schemas.openxmlformats.org/drawingml/2006/table">
            <a:tbl>
              <a:tblPr firstRow="1" bandRow="1"/>
              <a:tblGrid>
                <a:gridCol w="753731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1293185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014238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540085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805362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753731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326440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540085">
                  <a:extLst>
                    <a:ext uri="{9D8B030D-6E8A-4147-A177-3AD203B41FA5}">
                      <a16:colId xmlns:a16="http://schemas.microsoft.com/office/drawing/2014/main" val="1778558004"/>
                    </a:ext>
                  </a:extLst>
                </a:gridCol>
                <a:gridCol w="711002">
                  <a:extLst>
                    <a:ext uri="{9D8B030D-6E8A-4147-A177-3AD203B41FA5}">
                      <a16:colId xmlns:a16="http://schemas.microsoft.com/office/drawing/2014/main" val="4848005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견적요청번호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견적요청명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견적유형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예산금액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품목구성방법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전달자료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요청 업체 수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RFQ2607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견적 </a:t>
                      </a: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요청 중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|  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견적 마감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태양광 발전기 도입 관련 견적 요청의 건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135,400,000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품목단가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건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건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F89A3CA1-33E0-65FF-4F60-DCC044B13ED0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4C25883-1181-55F8-FF54-C1C73590405F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172D779-67EE-4F70-51FC-5482688951A4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39" name="Picture 1">
            <a:extLst>
              <a:ext uri="{FF2B5EF4-FFF2-40B4-BE49-F238E27FC236}">
                <a16:creationId xmlns:a16="http://schemas.microsoft.com/office/drawing/2014/main" id="{56E9D67F-7DC7-357F-CFF3-5123F57F8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F7E306CE-4D8A-82AE-BFAF-73DA595767E1}"/>
              </a:ext>
            </a:extLst>
          </p:cNvPr>
          <p:cNvSpPr/>
          <p:nvPr/>
        </p:nvSpPr>
        <p:spPr>
          <a:xfrm>
            <a:off x="-1690381" y="1098519"/>
            <a:ext cx="1467136" cy="5662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현황</a:t>
            </a:r>
          </a:p>
        </p:txBody>
      </p:sp>
    </p:spTree>
    <p:extLst>
      <p:ext uri="{BB962C8B-B14F-4D97-AF65-F5344CB8AC3E}">
        <p14:creationId xmlns:p14="http://schemas.microsoft.com/office/powerpoint/2010/main" val="8645370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4E4FB-F12C-231E-F592-D667FF61C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F010912B-14C0-35F4-0253-A456BFE9AC7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CF593E-43EF-C05B-31D5-E6BBE4EB8AF3}"/>
              </a:ext>
            </a:extLst>
          </p:cNvPr>
          <p:cNvSpPr txBox="1"/>
          <p:nvPr/>
        </p:nvSpPr>
        <p:spPr>
          <a:xfrm>
            <a:off x="749224" y="25608"/>
            <a:ext cx="284404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최종 점검 및 견적 요청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4E42DAF-D39C-6CE6-6641-BE5DD47A39F9}"/>
              </a:ext>
            </a:extLst>
          </p:cNvPr>
          <p:cNvSpPr/>
          <p:nvPr/>
        </p:nvSpPr>
        <p:spPr>
          <a:xfrm>
            <a:off x="183392" y="375846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정보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2E5A5F-6272-899E-E39A-185816995B4E}"/>
              </a:ext>
            </a:extLst>
          </p:cNvPr>
          <p:cNvSpPr txBox="1"/>
          <p:nvPr/>
        </p:nvSpPr>
        <p:spPr>
          <a:xfrm>
            <a:off x="164468" y="656692"/>
            <a:ext cx="305334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등록된 품목 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총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</a:t>
            </a: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61CD99FD-C3A4-0C13-9571-534DC9B00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2431029"/>
              </p:ext>
            </p:extLst>
          </p:nvPr>
        </p:nvGraphicFramePr>
        <p:xfrm>
          <a:off x="171333" y="939780"/>
          <a:ext cx="7699722" cy="1013760"/>
        </p:xfrm>
        <a:graphic>
          <a:graphicData uri="http://schemas.openxmlformats.org/drawingml/2006/table">
            <a:tbl>
              <a:tblPr firstRow="1" bandRow="1"/>
              <a:tblGrid>
                <a:gridCol w="236907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44559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918973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127659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290836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290836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655664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795249">
                  <a:extLst>
                    <a:ext uri="{9D8B030D-6E8A-4147-A177-3AD203B41FA5}">
                      <a16:colId xmlns:a16="http://schemas.microsoft.com/office/drawing/2014/main" val="3408856969"/>
                    </a:ext>
                  </a:extLst>
                </a:gridCol>
                <a:gridCol w="1739039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</a:tblGrid>
              <a:tr h="3128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품목코드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규격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단위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수량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납기요청일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입고장소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비고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31285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A0106-001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고효율 인버터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품목구성방법이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지정항목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’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인 경우에 등록됨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EA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현장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품목등록의 비고에 들어간 내용입니다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31285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A0103-001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고효율 공기 압축기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EA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켑코이에스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본사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</a:tbl>
          </a:graphicData>
        </a:graphic>
      </p:graphicFrame>
      <p:sp>
        <p:nvSpPr>
          <p:cNvPr id="45" name="직사각형 44">
            <a:extLst>
              <a:ext uri="{FF2B5EF4-FFF2-40B4-BE49-F238E27FC236}">
                <a16:creationId xmlns:a16="http://schemas.microsoft.com/office/drawing/2014/main" id="{326D9B54-C148-31FA-4D72-2AAE7B2D5D1A}"/>
              </a:ext>
            </a:extLst>
          </p:cNvPr>
          <p:cNvSpPr/>
          <p:nvPr/>
        </p:nvSpPr>
        <p:spPr>
          <a:xfrm>
            <a:off x="183392" y="2052222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전달자료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91DB59F-B323-1381-05A8-65B434ED7ABE}"/>
              </a:ext>
            </a:extLst>
          </p:cNvPr>
          <p:cNvSpPr txBox="1"/>
          <p:nvPr/>
        </p:nvSpPr>
        <p:spPr>
          <a:xfrm>
            <a:off x="164468" y="2320033"/>
            <a:ext cx="305334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등록된 전달자료 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총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</a:t>
            </a:r>
          </a:p>
        </p:txBody>
      </p:sp>
      <p:graphicFrame>
        <p:nvGraphicFramePr>
          <p:cNvPr id="49" name="표 48">
            <a:extLst>
              <a:ext uri="{FF2B5EF4-FFF2-40B4-BE49-F238E27FC236}">
                <a16:creationId xmlns:a16="http://schemas.microsoft.com/office/drawing/2014/main" id="{AAC64B33-0C7A-CB6F-8D8D-67D8329B5479}"/>
              </a:ext>
            </a:extLst>
          </p:cNvPr>
          <p:cNvGraphicFramePr>
            <a:graphicFrameLocks noGrp="1"/>
          </p:cNvGraphicFramePr>
          <p:nvPr/>
        </p:nvGraphicFramePr>
        <p:xfrm>
          <a:off x="164466" y="2603121"/>
          <a:ext cx="7699721" cy="1013760"/>
        </p:xfrm>
        <a:graphic>
          <a:graphicData uri="http://schemas.openxmlformats.org/drawingml/2006/table">
            <a:tbl>
              <a:tblPr firstRow="1" bandRow="1"/>
              <a:tblGrid>
                <a:gridCol w="408606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4385560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905555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전달자료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파일명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전달자료 안내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20260716_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견적 요청 시 유의사항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켑코이에스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).PDF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견적 요청 시 유의사항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반드시 읽어주세요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20260716_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견적 요청 시 유의사항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켑코이에스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).PDF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</a:tbl>
          </a:graphicData>
        </a:graphic>
      </p:graphicFrame>
      <p:sp>
        <p:nvSpPr>
          <p:cNvPr id="53" name="직사각형 52">
            <a:extLst>
              <a:ext uri="{FF2B5EF4-FFF2-40B4-BE49-F238E27FC236}">
                <a16:creationId xmlns:a16="http://schemas.microsoft.com/office/drawing/2014/main" id="{63C71E3E-1FC8-FB0A-BE92-AA1A84FE3CC3}"/>
              </a:ext>
            </a:extLst>
          </p:cNvPr>
          <p:cNvSpPr/>
          <p:nvPr/>
        </p:nvSpPr>
        <p:spPr>
          <a:xfrm>
            <a:off x="2974784" y="3014739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0DDE8908-CDAC-BEDF-6DCF-61CADD3DB873}"/>
              </a:ext>
            </a:extLst>
          </p:cNvPr>
          <p:cNvSpPr/>
          <p:nvPr/>
        </p:nvSpPr>
        <p:spPr>
          <a:xfrm>
            <a:off x="3637621" y="3014739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DE4D331A-96CE-319B-093E-2F403C34F3CD}"/>
              </a:ext>
            </a:extLst>
          </p:cNvPr>
          <p:cNvSpPr/>
          <p:nvPr/>
        </p:nvSpPr>
        <p:spPr>
          <a:xfrm>
            <a:off x="2974784" y="3348998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4B9DD3F6-BF9A-76B1-6908-6D285FC1324B}"/>
              </a:ext>
            </a:extLst>
          </p:cNvPr>
          <p:cNvSpPr/>
          <p:nvPr/>
        </p:nvSpPr>
        <p:spPr>
          <a:xfrm>
            <a:off x="3637621" y="3348998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8D86510A-396D-9827-759A-6A2D0F77A353}"/>
              </a:ext>
            </a:extLst>
          </p:cNvPr>
          <p:cNvSpPr/>
          <p:nvPr/>
        </p:nvSpPr>
        <p:spPr>
          <a:xfrm>
            <a:off x="183392" y="3752255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요청 업체 선정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336C7AF-D81C-0BAB-302C-343E39E87E07}"/>
              </a:ext>
            </a:extLst>
          </p:cNvPr>
          <p:cNvSpPr txBox="1"/>
          <p:nvPr/>
        </p:nvSpPr>
        <p:spPr>
          <a:xfrm>
            <a:off x="164468" y="4009115"/>
            <a:ext cx="305334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요청 업체 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총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</a:t>
            </a:r>
          </a:p>
        </p:txBody>
      </p:sp>
      <p:graphicFrame>
        <p:nvGraphicFramePr>
          <p:cNvPr id="76" name="표 75">
            <a:extLst>
              <a:ext uri="{FF2B5EF4-FFF2-40B4-BE49-F238E27FC236}">
                <a16:creationId xmlns:a16="http://schemas.microsoft.com/office/drawing/2014/main" id="{A0B83C90-C05D-F026-DE24-39CA245119CC}"/>
              </a:ext>
            </a:extLst>
          </p:cNvPr>
          <p:cNvGraphicFramePr>
            <a:graphicFrameLocks noGrp="1"/>
          </p:cNvGraphicFramePr>
          <p:nvPr/>
        </p:nvGraphicFramePr>
        <p:xfrm>
          <a:off x="164467" y="4302067"/>
          <a:ext cx="7699720" cy="1013760"/>
        </p:xfrm>
        <a:graphic>
          <a:graphicData uri="http://schemas.openxmlformats.org/drawingml/2006/table">
            <a:tbl>
              <a:tblPr firstRow="1" bandRow="1"/>
              <a:tblGrid>
                <a:gridCol w="299634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1104971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1066429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585662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622175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1184084">
                  <a:extLst>
                    <a:ext uri="{9D8B030D-6E8A-4147-A177-3AD203B41FA5}">
                      <a16:colId xmlns:a16="http://schemas.microsoft.com/office/drawing/2014/main" val="3408856969"/>
                    </a:ext>
                  </a:extLst>
                </a:gridCol>
                <a:gridCol w="1514739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1322026">
                  <a:extLst>
                    <a:ext uri="{9D8B030D-6E8A-4147-A177-3AD203B41FA5}">
                      <a16:colId xmlns:a16="http://schemas.microsoft.com/office/drawing/2014/main" val="1778558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사업자번호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업체명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대표자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핸드폰번호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이메일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 마감일시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123-45-67891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삼전디에스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홍길동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한지훈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010-1234-5678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leehee43@naver.com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2026.08.10 18:00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123-45-67891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넷퍼시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홍길동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김미라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2026.08.10 18:00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</a:tbl>
          </a:graphicData>
        </a:graphic>
      </p:graphicFrame>
      <p:sp>
        <p:nvSpPr>
          <p:cNvPr id="92" name="직사각형 91">
            <a:extLst>
              <a:ext uri="{FF2B5EF4-FFF2-40B4-BE49-F238E27FC236}">
                <a16:creationId xmlns:a16="http://schemas.microsoft.com/office/drawing/2014/main" id="{DD638A2C-E940-2AC3-4A53-86A845413505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C93E1B76-572E-7E1E-4F10-3B32B4A624C0}"/>
              </a:ext>
            </a:extLst>
          </p:cNvPr>
          <p:cNvSpPr/>
          <p:nvPr/>
        </p:nvSpPr>
        <p:spPr>
          <a:xfrm>
            <a:off x="164466" y="5406072"/>
            <a:ext cx="7699720" cy="44502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요청 시 업체에게 전달할 사항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반드시 견적 금액과 함께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 견적서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를 제출해주세요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0BA96D1-4A4D-5A92-5F95-4356105639F1}"/>
              </a:ext>
            </a:extLst>
          </p:cNvPr>
          <p:cNvSpPr/>
          <p:nvPr/>
        </p:nvSpPr>
        <p:spPr>
          <a:xfrm>
            <a:off x="164466" y="5936822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</p:spTree>
    <p:extLst>
      <p:ext uri="{BB962C8B-B14F-4D97-AF65-F5344CB8AC3E}">
        <p14:creationId xmlns:p14="http://schemas.microsoft.com/office/powerpoint/2010/main" val="38308907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B7A40-0CC0-6ACF-34DA-29A7704E1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6B1541F-DC0C-4052-368B-F5112AEB143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C45E26-CC89-76EA-0A55-C02158C37D0B}"/>
              </a:ext>
            </a:extLst>
          </p:cNvPr>
          <p:cNvSpPr txBox="1"/>
          <p:nvPr/>
        </p:nvSpPr>
        <p:spPr>
          <a:xfrm>
            <a:off x="749224" y="25608"/>
            <a:ext cx="249780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CDDC37-FB87-F53A-5685-25F5F7C163FC}"/>
              </a:ext>
            </a:extLst>
          </p:cNvPr>
          <p:cNvSpPr txBox="1"/>
          <p:nvPr/>
        </p:nvSpPr>
        <p:spPr>
          <a:xfrm>
            <a:off x="8049344" y="584684"/>
            <a:ext cx="1856656" cy="127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요청을 다시 하기가 번거롭기 때문에 제공하는 기능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제출 상태 정의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미제출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제출 안 함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제출완료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제출함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포기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포기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4651256-E5A1-7BC9-F498-7A6CB7E8A5CC}"/>
              </a:ext>
            </a:extLst>
          </p:cNvPr>
          <p:cNvSpPr/>
          <p:nvPr/>
        </p:nvSpPr>
        <p:spPr>
          <a:xfrm>
            <a:off x="164468" y="403565"/>
            <a:ext cx="1067600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현황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5CCFD8C-BA7F-8C18-645A-9CE572F1A223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90A52D1-F5A2-C7DE-7C3F-8B61892CA73C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44F69F7-812C-FD31-C578-F16DFE907275}"/>
              </a:ext>
            </a:extLst>
          </p:cNvPr>
          <p:cNvCxnSpPr>
            <a:cxnSpLocks/>
          </p:cNvCxnSpPr>
          <p:nvPr/>
        </p:nvCxnSpPr>
        <p:spPr>
          <a:xfrm>
            <a:off x="167468" y="1940624"/>
            <a:ext cx="7737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9652490-8181-85B1-3ADE-3C83091EE31F}"/>
              </a:ext>
            </a:extLst>
          </p:cNvPr>
          <p:cNvSpPr/>
          <p:nvPr/>
        </p:nvSpPr>
        <p:spPr>
          <a:xfrm>
            <a:off x="1310047" y="1590038"/>
            <a:ext cx="1139031" cy="354461"/>
          </a:xfrm>
          <a:prstGeom prst="rect">
            <a:avLst/>
          </a:prstGeom>
          <a:solidFill>
            <a:srgbClr val="00B05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 현황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E2C40E5-F07E-FE53-D7E3-7CDBE7DB6641}"/>
              </a:ext>
            </a:extLst>
          </p:cNvPr>
          <p:cNvSpPr/>
          <p:nvPr/>
        </p:nvSpPr>
        <p:spPr>
          <a:xfrm>
            <a:off x="171016" y="1652057"/>
            <a:ext cx="1139031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요청 내역</a:t>
            </a: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2DE1CDCA-8816-0EEE-33B9-BEA95F84EE4B}"/>
              </a:ext>
            </a:extLst>
          </p:cNvPr>
          <p:cNvGraphicFramePr>
            <a:graphicFrameLocks noGrp="1"/>
          </p:cNvGraphicFramePr>
          <p:nvPr/>
        </p:nvGraphicFramePr>
        <p:xfrm>
          <a:off x="164468" y="2043596"/>
          <a:ext cx="8749512" cy="1351680"/>
        </p:xfrm>
        <a:graphic>
          <a:graphicData uri="http://schemas.openxmlformats.org/drawingml/2006/table">
            <a:tbl>
              <a:tblPr firstRow="1" bandRow="1"/>
              <a:tblGrid>
                <a:gridCol w="30910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864725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648825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458325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458325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926637">
                  <a:extLst>
                    <a:ext uri="{9D8B030D-6E8A-4147-A177-3AD203B41FA5}">
                      <a16:colId xmlns:a16="http://schemas.microsoft.com/office/drawing/2014/main" val="3408856969"/>
                    </a:ext>
                  </a:extLst>
                </a:gridCol>
                <a:gridCol w="1185400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1034587">
                  <a:extLst>
                    <a:ext uri="{9D8B030D-6E8A-4147-A177-3AD203B41FA5}">
                      <a16:colId xmlns:a16="http://schemas.microsoft.com/office/drawing/2014/main" val="1778558004"/>
                    </a:ext>
                  </a:extLst>
                </a:gridCol>
                <a:gridCol w="553575">
                  <a:extLst>
                    <a:ext uri="{9D8B030D-6E8A-4147-A177-3AD203B41FA5}">
                      <a16:colId xmlns:a16="http://schemas.microsoft.com/office/drawing/2014/main" val="1861666963"/>
                    </a:ext>
                  </a:extLst>
                </a:gridCol>
                <a:gridCol w="790113">
                  <a:extLst>
                    <a:ext uri="{9D8B030D-6E8A-4147-A177-3AD203B41FA5}">
                      <a16:colId xmlns:a16="http://schemas.microsoft.com/office/drawing/2014/main" val="2021922684"/>
                    </a:ext>
                  </a:extLst>
                </a:gridCol>
                <a:gridCol w="737725">
                  <a:extLst>
                    <a:ext uri="{9D8B030D-6E8A-4147-A177-3AD203B41FA5}">
                      <a16:colId xmlns:a16="http://schemas.microsoft.com/office/drawing/2014/main" val="1169073120"/>
                    </a:ext>
                  </a:extLst>
                </a:gridCol>
                <a:gridCol w="782175">
                  <a:extLst>
                    <a:ext uri="{9D8B030D-6E8A-4147-A177-3AD203B41FA5}">
                      <a16:colId xmlns:a16="http://schemas.microsoft.com/office/drawing/2014/main" val="957963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사업자번호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업체명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대표자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핸드폰번호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이메일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 마감일시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제출 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견적금액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예산대비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(%)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제출일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포기일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123-45-67891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삼전디에스</a:t>
                      </a: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홍길동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한지훈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010-1234-5678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leehee43@naver.com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2026.08.10 18:00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미제출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123-45-67891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sng" dirty="0" err="1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넷퍼시</a:t>
                      </a:r>
                      <a:endParaRPr lang="ko-KR" altLang="en-US" sz="800" b="0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홍길동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김미라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2026.08.10 18:00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제출완료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125,000,000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85.45%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2026.08.12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123-45-67891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대현건설</a:t>
                      </a:r>
                      <a:endParaRPr lang="en-US" altLang="ko-KR" sz="800" b="0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홍길동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하지영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2026.08.10 18:00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견적 포기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-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-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2026.08.12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</a:tbl>
          </a:graphicData>
        </a:graphic>
      </p:graphicFrame>
      <p:sp>
        <p:nvSpPr>
          <p:cNvPr id="53" name="직사각형 52">
            <a:extLst>
              <a:ext uri="{FF2B5EF4-FFF2-40B4-BE49-F238E27FC236}">
                <a16:creationId xmlns:a16="http://schemas.microsoft.com/office/drawing/2014/main" id="{E6738D3C-F43D-3DDD-4589-308731577176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E05B2A65-34F5-B188-9683-0AD6A5AF4119}"/>
              </a:ext>
            </a:extLst>
          </p:cNvPr>
          <p:cNvSpPr/>
          <p:nvPr/>
        </p:nvSpPr>
        <p:spPr>
          <a:xfrm>
            <a:off x="1496616" y="4113076"/>
            <a:ext cx="486054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재견적 요청 처리(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견적 요청 정보 복사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유의사항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7725AE95-FBE5-C23A-4638-592C852F05E9}"/>
              </a:ext>
            </a:extLst>
          </p:cNvPr>
          <p:cNvSpPr/>
          <p:nvPr/>
        </p:nvSpPr>
        <p:spPr>
          <a:xfrm>
            <a:off x="1496616" y="4385988"/>
            <a:ext cx="4860540" cy="187132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796AD126-9657-E80B-45AC-C5788E7BF1AD}"/>
              </a:ext>
            </a:extLst>
          </p:cNvPr>
          <p:cNvSpPr/>
          <p:nvPr/>
        </p:nvSpPr>
        <p:spPr>
          <a:xfrm>
            <a:off x="6087156" y="4113076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D23A5545-69C3-F364-7B4A-3EFE03616773}"/>
              </a:ext>
            </a:extLst>
          </p:cNvPr>
          <p:cNvSpPr/>
          <p:nvPr/>
        </p:nvSpPr>
        <p:spPr>
          <a:xfrm>
            <a:off x="1604396" y="4799376"/>
            <a:ext cx="4608744" cy="879892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‘</a:t>
            </a:r>
            <a:r>
              <a:rPr kumimoji="1" lang="ko-KR" altLang="en-US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재견적 요청 처리(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견적 요청 정보 복사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)’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를 진행하면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, 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현재 진행된 정보는 그대로 유지된 상태에서 새로운 견적 요청이 ‘사전 견적 요청’ 메뉴에 그대로 복사됩니다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‘</a:t>
            </a:r>
            <a:r>
              <a:rPr kumimoji="1" lang="ko-KR" altLang="en-US" sz="80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재견적 요청 처리(</a:t>
            </a:r>
            <a:r>
              <a:rPr kumimoji="1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견적 요청 정보 복사</a:t>
            </a:r>
            <a:r>
              <a:rPr kumimoji="1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)’</a:t>
            </a:r>
            <a:r>
              <a:rPr kumimoji="1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를 진행하시겠습니까</a:t>
            </a:r>
            <a:r>
              <a:rPr kumimoji="1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?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pic>
        <p:nvPicPr>
          <p:cNvPr id="66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CD5B8BA0-A899-673C-5CD0-9A8BB63F0F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0518" y="4955997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직사각형 67">
            <a:extLst>
              <a:ext uri="{FF2B5EF4-FFF2-40B4-BE49-F238E27FC236}">
                <a16:creationId xmlns:a16="http://schemas.microsoft.com/office/drawing/2014/main" id="{00B01329-42F5-F439-E354-7E97B4CBA335}"/>
              </a:ext>
            </a:extLst>
          </p:cNvPr>
          <p:cNvSpPr/>
          <p:nvPr/>
        </p:nvSpPr>
        <p:spPr>
          <a:xfrm>
            <a:off x="3368825" y="5787743"/>
            <a:ext cx="2085156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재견적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요청 처리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견적 요청 정보 복사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8340FBD9-8C79-3C0C-DD87-EF047AE4E6A7}"/>
              </a:ext>
            </a:extLst>
          </p:cNvPr>
          <p:cNvSpPr/>
          <p:nvPr/>
        </p:nvSpPr>
        <p:spPr>
          <a:xfrm>
            <a:off x="5513722" y="5787743"/>
            <a:ext cx="699418" cy="28803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0662ABFD-75FB-F428-C2BE-6D68FED5EBF3}"/>
              </a:ext>
            </a:extLst>
          </p:cNvPr>
          <p:cNvSpPr/>
          <p:nvPr/>
        </p:nvSpPr>
        <p:spPr>
          <a:xfrm>
            <a:off x="1627837" y="4482377"/>
            <a:ext cx="2944717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재견적 요청 처리(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요청 정보 복사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유의사항</a:t>
            </a:r>
          </a:p>
        </p:txBody>
      </p:sp>
      <p:cxnSp>
        <p:nvCxnSpPr>
          <p:cNvPr id="73" name="연결선: 꺾임 72">
            <a:extLst>
              <a:ext uri="{FF2B5EF4-FFF2-40B4-BE49-F238E27FC236}">
                <a16:creationId xmlns:a16="http://schemas.microsoft.com/office/drawing/2014/main" id="{973A8D35-C337-476F-8265-C49C8ABAA96C}"/>
              </a:ext>
            </a:extLst>
          </p:cNvPr>
          <p:cNvCxnSpPr>
            <a:cxnSpLocks/>
            <a:stCxn id="10" idx="2"/>
            <a:endCxn id="60" idx="3"/>
          </p:cNvCxnSpPr>
          <p:nvPr/>
        </p:nvCxnSpPr>
        <p:spPr>
          <a:xfrm rot="5400000">
            <a:off x="5786679" y="4445206"/>
            <a:ext cx="1446923" cy="305967"/>
          </a:xfrm>
          <a:prstGeom prst="bentConnector2">
            <a:avLst/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0D38323A-2A4D-8E6E-30C6-BF427DCEDF62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D6CA5AF3-0DCA-64DC-CE2C-B6EFFA7851E4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68EC8111-34BF-AAAE-E775-1D3792FB36BA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3" name="Picture 1">
            <a:extLst>
              <a:ext uri="{FF2B5EF4-FFF2-40B4-BE49-F238E27FC236}">
                <a16:creationId xmlns:a16="http://schemas.microsoft.com/office/drawing/2014/main" id="{5C14F2A5-32D1-CEDF-E504-47BAD762EA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2618A20D-586B-9067-4E2C-54B088CBAA3F}"/>
              </a:ext>
            </a:extLst>
          </p:cNvPr>
          <p:cNvSpPr/>
          <p:nvPr/>
        </p:nvSpPr>
        <p:spPr>
          <a:xfrm>
            <a:off x="-1690381" y="1098519"/>
            <a:ext cx="1467136" cy="5662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현황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087FBEA-9397-CD71-825E-F365B7A689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5631331"/>
              </p:ext>
            </p:extLst>
          </p:nvPr>
        </p:nvGraphicFramePr>
        <p:xfrm>
          <a:off x="164466" y="828926"/>
          <a:ext cx="7737859" cy="675840"/>
        </p:xfrm>
        <a:graphic>
          <a:graphicData uri="http://schemas.openxmlformats.org/drawingml/2006/table">
            <a:tbl>
              <a:tblPr firstRow="1" bandRow="1"/>
              <a:tblGrid>
                <a:gridCol w="753731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1293185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014238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540085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805362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753731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326440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540085">
                  <a:extLst>
                    <a:ext uri="{9D8B030D-6E8A-4147-A177-3AD203B41FA5}">
                      <a16:colId xmlns:a16="http://schemas.microsoft.com/office/drawing/2014/main" val="1778558004"/>
                    </a:ext>
                  </a:extLst>
                </a:gridCol>
                <a:gridCol w="711002">
                  <a:extLst>
                    <a:ext uri="{9D8B030D-6E8A-4147-A177-3AD203B41FA5}">
                      <a16:colId xmlns:a16="http://schemas.microsoft.com/office/drawing/2014/main" val="4848005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견적요청번호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견적요청명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견적유형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예산금액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품목구성방법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전달자료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요청 업체 수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RFQ2607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견적 </a:t>
                      </a: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요청 중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|  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견적 마감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태양광 발전기 도입 관련 견적 요청의 건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135,400,000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품목단가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건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건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084DFAFB-12E9-C632-F32B-979E724930EA}"/>
              </a:ext>
            </a:extLst>
          </p:cNvPr>
          <p:cNvSpPr/>
          <p:nvPr/>
        </p:nvSpPr>
        <p:spPr>
          <a:xfrm>
            <a:off x="164466" y="3505950"/>
            <a:ext cx="7737858" cy="44502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□ 재견적이 필요한 경우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메뉴에 견적 요청 내용이 그대로 복사됩니다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5C188DF-A884-B73A-E473-B4B09FF79B07}"/>
              </a:ext>
            </a:extLst>
          </p:cNvPr>
          <p:cNvSpPr/>
          <p:nvPr/>
        </p:nvSpPr>
        <p:spPr>
          <a:xfrm>
            <a:off x="5529064" y="3586696"/>
            <a:ext cx="2268117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재견적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요청 처리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견적 요청 정보 복사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</a:t>
            </a:r>
            <a:endParaRPr lang="en-US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1AC29705-F598-64DE-E5F9-8C846B4922FD}"/>
              </a:ext>
            </a:extLst>
          </p:cNvPr>
          <p:cNvSpPr/>
          <p:nvPr/>
        </p:nvSpPr>
        <p:spPr>
          <a:xfrm>
            <a:off x="1388604" y="4045949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97954E94-A247-6D22-8FCD-D610D518C687}"/>
              </a:ext>
            </a:extLst>
          </p:cNvPr>
          <p:cNvSpPr/>
          <p:nvPr/>
        </p:nvSpPr>
        <p:spPr>
          <a:xfrm>
            <a:off x="5958230" y="1956628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910219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F0D63-6F24-743F-ABC4-93EF12D10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2E8AAD0-4CF6-0BD2-40DA-2555240CBF9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430E43-209A-5674-49B6-0B8F8249215A}"/>
              </a:ext>
            </a:extLst>
          </p:cNvPr>
          <p:cNvSpPr txBox="1"/>
          <p:nvPr/>
        </p:nvSpPr>
        <p:spPr>
          <a:xfrm>
            <a:off x="749224" y="25608"/>
            <a:ext cx="249780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56F97F-5B8D-DE7F-0F9B-AC5EF95DCC7D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D80C4BA-4889-852A-B7C1-62FAB2B86327}"/>
              </a:ext>
            </a:extLst>
          </p:cNvPr>
          <p:cNvSpPr/>
          <p:nvPr/>
        </p:nvSpPr>
        <p:spPr>
          <a:xfrm>
            <a:off x="164468" y="403565"/>
            <a:ext cx="1067600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현황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407669DE-BF4B-1E29-728A-7E12FC4CF5D4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81F3FE0-955F-735C-939F-B602B1DA8940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0950C73-BECC-4F43-5526-C4ACBB9C601C}"/>
              </a:ext>
            </a:extLst>
          </p:cNvPr>
          <p:cNvCxnSpPr>
            <a:cxnSpLocks/>
          </p:cNvCxnSpPr>
          <p:nvPr/>
        </p:nvCxnSpPr>
        <p:spPr>
          <a:xfrm>
            <a:off x="167468" y="1940624"/>
            <a:ext cx="7737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5F9BF2B-07EC-E855-C1F3-F91313EB90EA}"/>
              </a:ext>
            </a:extLst>
          </p:cNvPr>
          <p:cNvSpPr/>
          <p:nvPr/>
        </p:nvSpPr>
        <p:spPr>
          <a:xfrm>
            <a:off x="1310047" y="1581412"/>
            <a:ext cx="1139031" cy="354461"/>
          </a:xfrm>
          <a:prstGeom prst="rect">
            <a:avLst/>
          </a:prstGeom>
          <a:solidFill>
            <a:srgbClr val="00B05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 현황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CF103C3-1A1B-FC27-404F-3E306588FC37}"/>
              </a:ext>
            </a:extLst>
          </p:cNvPr>
          <p:cNvSpPr/>
          <p:nvPr/>
        </p:nvSpPr>
        <p:spPr>
          <a:xfrm>
            <a:off x="171016" y="1643431"/>
            <a:ext cx="1139031" cy="29244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요청 내역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D4922FF9-105B-ACCD-8313-B18D7A3274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81001"/>
              </p:ext>
            </p:extLst>
          </p:nvPr>
        </p:nvGraphicFramePr>
        <p:xfrm>
          <a:off x="164466" y="2033811"/>
          <a:ext cx="7721936" cy="675840"/>
        </p:xfrm>
        <a:graphic>
          <a:graphicData uri="http://schemas.openxmlformats.org/drawingml/2006/table">
            <a:tbl>
              <a:tblPr firstRow="1" bandRow="1"/>
              <a:tblGrid>
                <a:gridCol w="1173286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853740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571787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2023844">
                  <a:extLst>
                    <a:ext uri="{9D8B030D-6E8A-4147-A177-3AD203B41FA5}">
                      <a16:colId xmlns:a16="http://schemas.microsoft.com/office/drawing/2014/main" val="1861666963"/>
                    </a:ext>
                  </a:extLst>
                </a:gridCol>
                <a:gridCol w="1062855">
                  <a:extLst>
                    <a:ext uri="{9D8B030D-6E8A-4147-A177-3AD203B41FA5}">
                      <a16:colId xmlns:a16="http://schemas.microsoft.com/office/drawing/2014/main" val="2021922684"/>
                    </a:ext>
                  </a:extLst>
                </a:gridCol>
                <a:gridCol w="985317">
                  <a:extLst>
                    <a:ext uri="{9D8B030D-6E8A-4147-A177-3AD203B41FA5}">
                      <a16:colId xmlns:a16="http://schemas.microsoft.com/office/drawing/2014/main" val="1169073120"/>
                    </a:ext>
                  </a:extLst>
                </a:gridCol>
                <a:gridCol w="1051107">
                  <a:extLst>
                    <a:ext uri="{9D8B030D-6E8A-4147-A177-3AD203B41FA5}">
                      <a16:colId xmlns:a16="http://schemas.microsoft.com/office/drawing/2014/main" val="957963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사업자번호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업체명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대표자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제출 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견적금액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예산대비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(%)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제출일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포기일시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123-45-67891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넷퍼시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홍길동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미제출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| 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제출완료  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|  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견적 포기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125,000,000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85.45%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2026.08.12 17:35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</a:tbl>
          </a:graphicData>
        </a:graphic>
      </p:graphicFrame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E8DFC5FE-149B-BEC9-8E43-C3E5653F82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709675"/>
              </p:ext>
            </p:extLst>
          </p:nvPr>
        </p:nvGraphicFramePr>
        <p:xfrm>
          <a:off x="164466" y="828926"/>
          <a:ext cx="7737859" cy="675840"/>
        </p:xfrm>
        <a:graphic>
          <a:graphicData uri="http://schemas.openxmlformats.org/drawingml/2006/table">
            <a:tbl>
              <a:tblPr firstRow="1" bandRow="1"/>
              <a:tblGrid>
                <a:gridCol w="761439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1227273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2034839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545609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813599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761439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329779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545609">
                  <a:extLst>
                    <a:ext uri="{9D8B030D-6E8A-4147-A177-3AD203B41FA5}">
                      <a16:colId xmlns:a16="http://schemas.microsoft.com/office/drawing/2014/main" val="1778558004"/>
                    </a:ext>
                  </a:extLst>
                </a:gridCol>
                <a:gridCol w="718273">
                  <a:extLst>
                    <a:ext uri="{9D8B030D-6E8A-4147-A177-3AD203B41FA5}">
                      <a16:colId xmlns:a16="http://schemas.microsoft.com/office/drawing/2014/main" val="4848005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견적요청번호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진행상태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견적요청명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견적유형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예산금액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품목구성방법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전달자료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요청 업체 수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RFQ2607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요청 중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(1/3) | 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제출완료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태양광 발전기 도입 관련 견적 요청의 건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공사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135,400,000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품목단가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건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건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</a:tbl>
          </a:graphicData>
        </a:graphic>
      </p:graphicFrame>
      <p:sp>
        <p:nvSpPr>
          <p:cNvPr id="28" name="직사각형 27">
            <a:extLst>
              <a:ext uri="{FF2B5EF4-FFF2-40B4-BE49-F238E27FC236}">
                <a16:creationId xmlns:a16="http://schemas.microsoft.com/office/drawing/2014/main" id="{228A74FA-C69A-A7DC-DF36-98A87BEE9AB5}"/>
              </a:ext>
            </a:extLst>
          </p:cNvPr>
          <p:cNvSpPr/>
          <p:nvPr/>
        </p:nvSpPr>
        <p:spPr>
          <a:xfrm>
            <a:off x="183392" y="2832684"/>
            <a:ext cx="574171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 내역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55B8BC6D-01EE-4EF0-750F-A7AA680A1966}"/>
              </a:ext>
            </a:extLst>
          </p:cNvPr>
          <p:cNvGraphicFramePr>
            <a:graphicFrameLocks noGrp="1"/>
          </p:cNvGraphicFramePr>
          <p:nvPr/>
        </p:nvGraphicFramePr>
        <p:xfrm>
          <a:off x="183393" y="3134896"/>
          <a:ext cx="8991276" cy="1351680"/>
        </p:xfrm>
        <a:graphic>
          <a:graphicData uri="http://schemas.openxmlformats.org/drawingml/2006/table">
            <a:tbl>
              <a:tblPr firstRow="1" bandRow="1"/>
              <a:tblGrid>
                <a:gridCol w="30910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717087">
                  <a:extLst>
                    <a:ext uri="{9D8B030D-6E8A-4147-A177-3AD203B41FA5}">
                      <a16:colId xmlns:a16="http://schemas.microsoft.com/office/drawing/2014/main" val="4038510210"/>
                    </a:ext>
                  </a:extLst>
                </a:gridCol>
                <a:gridCol w="991725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1506075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363075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363075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666288">
                  <a:extLst>
                    <a:ext uri="{9D8B030D-6E8A-4147-A177-3AD203B41FA5}">
                      <a16:colId xmlns:a16="http://schemas.microsoft.com/office/drawing/2014/main" val="1274364810"/>
                    </a:ext>
                  </a:extLst>
                </a:gridCol>
                <a:gridCol w="666288">
                  <a:extLst>
                    <a:ext uri="{9D8B030D-6E8A-4147-A177-3AD203B41FA5}">
                      <a16:colId xmlns:a16="http://schemas.microsoft.com/office/drawing/2014/main" val="2847455995"/>
                    </a:ext>
                  </a:extLst>
                </a:gridCol>
                <a:gridCol w="728200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867900">
                  <a:extLst>
                    <a:ext uri="{9D8B030D-6E8A-4147-A177-3AD203B41FA5}">
                      <a16:colId xmlns:a16="http://schemas.microsoft.com/office/drawing/2014/main" val="3408856969"/>
                    </a:ext>
                  </a:extLst>
                </a:gridCol>
                <a:gridCol w="1812463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</a:tblGrid>
              <a:tr h="3128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품목코드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품목명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규격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단위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수량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단가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원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금액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원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납기요청일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입고장소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비고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31285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A0106-001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고효율 인버터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지정항목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’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인 경우에 등록됨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EA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1,000,000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3,000,000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현장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품목등록의 비고에 들어간 내용입니다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31285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A0103-001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고효율 공기 압축기</a:t>
                      </a:r>
                      <a:endParaRPr lang="en-US" altLang="ko-KR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EA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3,000,000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6,000,000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2026.07.31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켑코이에스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본사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312859">
                <a:tc gridSpan="3"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합계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1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9,000,000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951401"/>
                  </a:ext>
                </a:extLst>
              </a:tr>
            </a:tbl>
          </a:graphicData>
        </a:graphic>
      </p:graphicFrame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452E0ABB-25B4-0F70-92EF-5AF6E2460798}"/>
              </a:ext>
            </a:extLst>
          </p:cNvPr>
          <p:cNvGraphicFramePr>
            <a:graphicFrameLocks noGrp="1"/>
          </p:cNvGraphicFramePr>
          <p:nvPr/>
        </p:nvGraphicFramePr>
        <p:xfrm>
          <a:off x="183392" y="4584481"/>
          <a:ext cx="7721936" cy="10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416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237768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견적서 첨부</a:t>
                      </a:r>
                      <a:endParaRPr lang="en-US" altLang="ko-KR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첨부한 견적서 파일명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.PDF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39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기타 문서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참고자료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첨부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견적서와 </a:t>
                      </a:r>
                      <a:r>
                        <a:rPr lang="ko-KR" altLang="en-US" sz="800" b="0" u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함께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첨부한 기타 문서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참고자료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파일명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.PDF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기타 전달사항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저희 견적서 잘 봐주시기 바랍니다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설치에 필요한 인력들의 인건비도 포함하였습니다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728462"/>
                  </a:ext>
                </a:extLst>
              </a:tr>
            </a:tbl>
          </a:graphicData>
        </a:graphic>
      </p:graphicFrame>
      <p:sp>
        <p:nvSpPr>
          <p:cNvPr id="35" name="직사각형 34">
            <a:extLst>
              <a:ext uri="{FF2B5EF4-FFF2-40B4-BE49-F238E27FC236}">
                <a16:creationId xmlns:a16="http://schemas.microsoft.com/office/drawing/2014/main" id="{DB6EE360-DEC9-1CA2-EEB3-C180A259E68D}"/>
              </a:ext>
            </a:extLst>
          </p:cNvPr>
          <p:cNvSpPr/>
          <p:nvPr/>
        </p:nvSpPr>
        <p:spPr>
          <a:xfrm>
            <a:off x="2928577" y="4660030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1B2387E-49BD-46B7-4077-EB13EBC47FDD}"/>
              </a:ext>
            </a:extLst>
          </p:cNvPr>
          <p:cNvSpPr/>
          <p:nvPr/>
        </p:nvSpPr>
        <p:spPr>
          <a:xfrm>
            <a:off x="3591414" y="4660030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71BA9C9-BD02-E004-DFEE-9B0755F214CD}"/>
              </a:ext>
            </a:extLst>
          </p:cNvPr>
          <p:cNvSpPr/>
          <p:nvPr/>
        </p:nvSpPr>
        <p:spPr>
          <a:xfrm>
            <a:off x="4116282" y="4987853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AA12BF89-ABCD-5EBE-8526-A1CDB49CBA8C}"/>
              </a:ext>
            </a:extLst>
          </p:cNvPr>
          <p:cNvSpPr/>
          <p:nvPr/>
        </p:nvSpPr>
        <p:spPr>
          <a:xfrm>
            <a:off x="4779119" y="4987853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192A04B0-2052-489D-1BFA-9BF9D10A557D}"/>
              </a:ext>
            </a:extLst>
          </p:cNvPr>
          <p:cNvSpPr/>
          <p:nvPr/>
        </p:nvSpPr>
        <p:spPr>
          <a:xfrm>
            <a:off x="183392" y="5727179"/>
            <a:ext cx="8368011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 담당자 정보</a:t>
            </a:r>
            <a:endParaRPr lang="ko-KR" altLang="en-US" sz="800" b="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72" name="표 71">
            <a:extLst>
              <a:ext uri="{FF2B5EF4-FFF2-40B4-BE49-F238E27FC236}">
                <a16:creationId xmlns:a16="http://schemas.microsoft.com/office/drawing/2014/main" id="{AAE6A3E4-D5CB-2AE7-AD2F-B872B5F8745F}"/>
              </a:ext>
            </a:extLst>
          </p:cNvPr>
          <p:cNvGraphicFramePr>
            <a:graphicFrameLocks noGrp="1"/>
          </p:cNvGraphicFramePr>
          <p:nvPr/>
        </p:nvGraphicFramePr>
        <p:xfrm>
          <a:off x="190891" y="6016748"/>
          <a:ext cx="7714437" cy="33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053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243899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이희성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39517"/>
                  </a:ext>
                </a:extLst>
              </a:tr>
            </a:tbl>
          </a:graphicData>
        </a:graphic>
      </p:graphicFrame>
      <p:sp>
        <p:nvSpPr>
          <p:cNvPr id="89" name="직사각형 88">
            <a:extLst>
              <a:ext uri="{FF2B5EF4-FFF2-40B4-BE49-F238E27FC236}">
                <a16:creationId xmlns:a16="http://schemas.microsoft.com/office/drawing/2014/main" id="{2B17042C-D5E3-98D5-2ED4-750F92F45A66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2D086D07-B794-E921-62BB-FFC901C25A71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47EB61F8-307E-A5B4-D58D-E39A19E756BA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FF09B01D-1130-CD0B-B1F0-F1F97C02EFDA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7" name="Picture 1">
            <a:extLst>
              <a:ext uri="{FF2B5EF4-FFF2-40B4-BE49-F238E27FC236}">
                <a16:creationId xmlns:a16="http://schemas.microsoft.com/office/drawing/2014/main" id="{9CA72923-B17F-064B-22A8-471060E5B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F9CCB193-7098-2951-9E25-E8731351EBAF}"/>
              </a:ext>
            </a:extLst>
          </p:cNvPr>
          <p:cNvSpPr/>
          <p:nvPr/>
        </p:nvSpPr>
        <p:spPr>
          <a:xfrm>
            <a:off x="-1690381" y="1098519"/>
            <a:ext cx="1467136" cy="5662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현황</a:t>
            </a:r>
          </a:p>
        </p:txBody>
      </p:sp>
    </p:spTree>
    <p:extLst>
      <p:ext uri="{BB962C8B-B14F-4D97-AF65-F5344CB8AC3E}">
        <p14:creationId xmlns:p14="http://schemas.microsoft.com/office/powerpoint/2010/main" val="40422776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3EE7B-B661-B8F4-126B-F891ADC94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BDFF045-69B4-1A55-1DEB-548860A091D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8528A3-D560-BEB5-8C0B-24EFDEA03A3E}"/>
              </a:ext>
            </a:extLst>
          </p:cNvPr>
          <p:cNvSpPr txBox="1"/>
          <p:nvPr/>
        </p:nvSpPr>
        <p:spPr>
          <a:xfrm>
            <a:off x="749224" y="25608"/>
            <a:ext cx="249780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 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CBC614-F213-ACE2-13C8-87E22A83F770}"/>
              </a:ext>
            </a:extLst>
          </p:cNvPr>
          <p:cNvSpPr txBox="1"/>
          <p:nvPr/>
        </p:nvSpPr>
        <p:spPr>
          <a:xfrm>
            <a:off x="8049344" y="584684"/>
            <a:ext cx="1856656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포기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’, ‘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 취소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)’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는 관리자가 대신 해 줄 수 있음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이거 관리자가 대신 해 줄 필요 없을 것 같음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원칙에 맞지 않음</a:t>
            </a:r>
            <a:r>
              <a:rPr lang="en-US" altLang="ko-KR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FBE3CDF-828B-F95E-A256-111AC6055420}"/>
              </a:ext>
            </a:extLst>
          </p:cNvPr>
          <p:cNvGraphicFramePr>
            <a:graphicFrameLocks noGrp="1"/>
          </p:cNvGraphicFramePr>
          <p:nvPr/>
        </p:nvGraphicFramePr>
        <p:xfrm>
          <a:off x="190891" y="404664"/>
          <a:ext cx="7714437" cy="135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053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243899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이메일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leehee43@naver.com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700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핸드폰번호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010-6844-2810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4422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직책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부장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전화번호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02-6959-8565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BAED93A7-ED13-F907-5A1D-6F1BEEB280F9}"/>
              </a:ext>
            </a:extLst>
          </p:cNvPr>
          <p:cNvSpPr/>
          <p:nvPr/>
        </p:nvSpPr>
        <p:spPr>
          <a:xfrm>
            <a:off x="6671994" y="1862489"/>
            <a:ext cx="1192193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 취소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36A40E2-C360-648C-CD3F-CBEA9EFBB92D}"/>
              </a:ext>
            </a:extLst>
          </p:cNvPr>
          <p:cNvSpPr/>
          <p:nvPr/>
        </p:nvSpPr>
        <p:spPr>
          <a:xfrm>
            <a:off x="164468" y="1852799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25FE659-24D0-C75A-354F-7A16A8DF3BC2}"/>
              </a:ext>
            </a:extLst>
          </p:cNvPr>
          <p:cNvSpPr/>
          <p:nvPr/>
        </p:nvSpPr>
        <p:spPr>
          <a:xfrm>
            <a:off x="5812497" y="1862489"/>
            <a:ext cx="796232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포기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C943110-B6FF-5967-2BE9-D254F8443774}"/>
              </a:ext>
            </a:extLst>
          </p:cNvPr>
          <p:cNvSpPr/>
          <p:nvPr/>
        </p:nvSpPr>
        <p:spPr>
          <a:xfrm>
            <a:off x="877718" y="2636912"/>
            <a:ext cx="3876228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견적 포기 유의사항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FD74416-6154-E783-B402-B58142604CAB}"/>
              </a:ext>
            </a:extLst>
          </p:cNvPr>
          <p:cNvSpPr/>
          <p:nvPr/>
        </p:nvSpPr>
        <p:spPr>
          <a:xfrm>
            <a:off x="877718" y="2909824"/>
            <a:ext cx="3876228" cy="187132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671A3A0-D339-C6E2-7F51-F895BC148A50}"/>
              </a:ext>
            </a:extLst>
          </p:cNvPr>
          <p:cNvSpPr/>
          <p:nvPr/>
        </p:nvSpPr>
        <p:spPr>
          <a:xfrm>
            <a:off x="4468598" y="2636912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413B881-107E-F2E0-FCF6-3E70782B0D1F}"/>
              </a:ext>
            </a:extLst>
          </p:cNvPr>
          <p:cNvSpPr/>
          <p:nvPr/>
        </p:nvSpPr>
        <p:spPr>
          <a:xfrm>
            <a:off x="985497" y="3323212"/>
            <a:ext cx="3615979" cy="879892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견적 마감일시 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이전에는 </a:t>
            </a:r>
            <a:b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견적 포기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’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를 처리하신 후에도 견적 제출이 가능합니다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</a:t>
            </a:r>
            <a:endParaRPr lang="en-US" altLang="ko-KR" sz="80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견적 포기하시겠습니까</a:t>
            </a:r>
            <a:r>
              <a:rPr kumimoji="1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?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pic>
        <p:nvPicPr>
          <p:cNvPr id="39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EFE8027A-3AA1-802D-96DE-47069B7E2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19" y="3479833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직사각형 40">
            <a:extLst>
              <a:ext uri="{FF2B5EF4-FFF2-40B4-BE49-F238E27FC236}">
                <a16:creationId xmlns:a16="http://schemas.microsoft.com/office/drawing/2014/main" id="{F1DDA3CA-D57B-D835-7495-D77B51B2EAC6}"/>
              </a:ext>
            </a:extLst>
          </p:cNvPr>
          <p:cNvSpPr/>
          <p:nvPr/>
        </p:nvSpPr>
        <p:spPr>
          <a:xfrm>
            <a:off x="3055284" y="4311579"/>
            <a:ext cx="785937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견적 포기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085DB4E-229A-B878-B958-5F7AD9BC4136}"/>
              </a:ext>
            </a:extLst>
          </p:cNvPr>
          <p:cNvSpPr/>
          <p:nvPr/>
        </p:nvSpPr>
        <p:spPr>
          <a:xfrm>
            <a:off x="3900963" y="4311579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9E6E3CB-9C35-A982-775D-85B32E13E485}"/>
              </a:ext>
            </a:extLst>
          </p:cNvPr>
          <p:cNvSpPr/>
          <p:nvPr/>
        </p:nvSpPr>
        <p:spPr>
          <a:xfrm>
            <a:off x="1008938" y="3006213"/>
            <a:ext cx="1218282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포기 유의사항</a:t>
            </a:r>
          </a:p>
        </p:txBody>
      </p:sp>
      <p:cxnSp>
        <p:nvCxnSpPr>
          <p:cNvPr id="47" name="연결선: 꺾임 46">
            <a:extLst>
              <a:ext uri="{FF2B5EF4-FFF2-40B4-BE49-F238E27FC236}">
                <a16:creationId xmlns:a16="http://schemas.microsoft.com/office/drawing/2014/main" id="{32946D40-AA44-F246-5F50-FA8AF941B96B}"/>
              </a:ext>
            </a:extLst>
          </p:cNvPr>
          <p:cNvCxnSpPr>
            <a:cxnSpLocks/>
            <a:stCxn id="14" idx="2"/>
            <a:endCxn id="20" idx="0"/>
          </p:cNvCxnSpPr>
          <p:nvPr/>
        </p:nvCxnSpPr>
        <p:spPr>
          <a:xfrm rot="5400000">
            <a:off x="4270028" y="696326"/>
            <a:ext cx="486391" cy="3394781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AA99CC84-6E24-7D38-902A-BA24E2CCFB95}"/>
              </a:ext>
            </a:extLst>
          </p:cNvPr>
          <p:cNvSpPr/>
          <p:nvPr/>
        </p:nvSpPr>
        <p:spPr>
          <a:xfrm>
            <a:off x="4867838" y="2636912"/>
            <a:ext cx="3876228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 취소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유의사항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A6A5555D-A388-8D5A-0366-31A4B735A947}"/>
              </a:ext>
            </a:extLst>
          </p:cNvPr>
          <p:cNvSpPr/>
          <p:nvPr/>
        </p:nvSpPr>
        <p:spPr>
          <a:xfrm>
            <a:off x="4867838" y="2909824"/>
            <a:ext cx="3876228" cy="187132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2FD302D7-32A2-838C-1574-2F8D21F45DB7}"/>
              </a:ext>
            </a:extLst>
          </p:cNvPr>
          <p:cNvSpPr/>
          <p:nvPr/>
        </p:nvSpPr>
        <p:spPr>
          <a:xfrm>
            <a:off x="8458718" y="2636912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6A4F6480-6D77-0104-0D71-A24BB72188A8}"/>
              </a:ext>
            </a:extLst>
          </p:cNvPr>
          <p:cNvSpPr/>
          <p:nvPr/>
        </p:nvSpPr>
        <p:spPr>
          <a:xfrm>
            <a:off x="4975617" y="3323212"/>
            <a:ext cx="3615979" cy="879892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견적 마감일시 </a:t>
            </a: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이전에는 </a:t>
            </a:r>
            <a:b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견적 제출 취소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’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를 처리하신 후에도 견적 제출이 가능합니다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</a:t>
            </a:r>
            <a:endParaRPr lang="en-US" altLang="ko-KR" sz="80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marR="0" lvl="0" indent="0" algn="l" defTabSz="914400" rtl="0" eaLnBrk="1" fontAlgn="base" latinLnBrk="1" hangingPunct="1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견적 제출 취소</a:t>
            </a:r>
            <a:r>
              <a:rPr kumimoji="1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1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삭제</a:t>
            </a:r>
            <a:r>
              <a:rPr kumimoji="1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  <a:r>
              <a:rPr kumimoji="1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하시겠습니까</a:t>
            </a:r>
            <a:r>
              <a:rPr kumimoji="1" lang="en-US" altLang="ko-KR" sz="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?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pic>
        <p:nvPicPr>
          <p:cNvPr id="64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CD2DD386-F15C-13A4-4E08-DE46EDD295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1739" y="3479833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직사각형 65">
            <a:extLst>
              <a:ext uri="{FF2B5EF4-FFF2-40B4-BE49-F238E27FC236}">
                <a16:creationId xmlns:a16="http://schemas.microsoft.com/office/drawing/2014/main" id="{4FA41E5D-035C-3653-76D2-F6D180FCC27F}"/>
              </a:ext>
            </a:extLst>
          </p:cNvPr>
          <p:cNvSpPr/>
          <p:nvPr/>
        </p:nvSpPr>
        <p:spPr>
          <a:xfrm>
            <a:off x="6657504" y="4311579"/>
            <a:ext cx="1173837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 취소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  <a:r>
              <a:rPr lang="en-US" altLang="ko-KR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80E4FD60-B710-7C51-F890-E26A086F0807}"/>
              </a:ext>
            </a:extLst>
          </p:cNvPr>
          <p:cNvSpPr/>
          <p:nvPr/>
        </p:nvSpPr>
        <p:spPr>
          <a:xfrm>
            <a:off x="7891083" y="4311579"/>
            <a:ext cx="699418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EC2D2E74-DCFE-8B23-CE9F-9DE2B6036B08}"/>
              </a:ext>
            </a:extLst>
          </p:cNvPr>
          <p:cNvSpPr/>
          <p:nvPr/>
        </p:nvSpPr>
        <p:spPr>
          <a:xfrm>
            <a:off x="4999058" y="3006213"/>
            <a:ext cx="1893147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 취소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유의사항</a:t>
            </a:r>
          </a:p>
        </p:txBody>
      </p:sp>
      <p:cxnSp>
        <p:nvCxnSpPr>
          <p:cNvPr id="73" name="연결선: 꺾임 72">
            <a:extLst>
              <a:ext uri="{FF2B5EF4-FFF2-40B4-BE49-F238E27FC236}">
                <a16:creationId xmlns:a16="http://schemas.microsoft.com/office/drawing/2014/main" id="{46BD2F08-32AC-AFF1-FF8D-1D2E33B78F3D}"/>
              </a:ext>
            </a:extLst>
          </p:cNvPr>
          <p:cNvCxnSpPr>
            <a:cxnSpLocks/>
            <a:stCxn id="9" idx="2"/>
            <a:endCxn id="56" idx="0"/>
          </p:cNvCxnSpPr>
          <p:nvPr/>
        </p:nvCxnSpPr>
        <p:spPr>
          <a:xfrm rot="5400000">
            <a:off x="6793827" y="2162647"/>
            <a:ext cx="486391" cy="462139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타원 4">
            <a:extLst>
              <a:ext uri="{FF2B5EF4-FFF2-40B4-BE49-F238E27FC236}">
                <a16:creationId xmlns:a16="http://schemas.microsoft.com/office/drawing/2014/main" id="{15ED9BC9-C40F-BFCE-7869-6DB8A31DCF57}"/>
              </a:ext>
            </a:extLst>
          </p:cNvPr>
          <p:cNvSpPr/>
          <p:nvPr/>
        </p:nvSpPr>
        <p:spPr>
          <a:xfrm>
            <a:off x="5704485" y="1726783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D8B5D73-6F65-93EC-6886-3B79C503083A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03527284"/>
      </p:ext>
    </p:extLst>
  </p:cSld>
  <p:clrMapOvr>
    <a:masterClrMapping/>
  </p:clrMapOvr>
</p:sld>
</file>

<file path=ppt/theme/theme1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5A67FD83-2AD6-40A3-824F-F3C8BDE663D4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8181ae39-be02-4d67-8e8e-71fb2924aef2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15543BB4-4E30-4B0D-8F0F-EE4D13017447}">
  <we:reference id="wa200010215" version="2.0.0.0" store="ko-KR" storeType="OMEX"/>
  <we:alternateReferences>
    <we:reference id="WA200010215" version="2.0.0.0" store="WA200010215" storeType="OMEX"/>
  </we:alternateReferences>
  <we:properties>
    <we:property name="bps.codex_control.document_id" value="&quot;f671766a-8b70-4072-8423-ab205818cc8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242748</TotalTime>
  <Words>3969</Words>
  <Application>Microsoft Office PowerPoint</Application>
  <PresentationFormat>A4 용지(210x297mm)</PresentationFormat>
  <Paragraphs>1399</Paragraphs>
  <Slides>21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6" baseType="lpstr">
      <vt:lpstr>맑은 고딕</vt:lpstr>
      <vt:lpstr>Arial</vt:lpstr>
      <vt:lpstr>나눔고딕</vt:lpstr>
      <vt:lpstr>Wingdings</vt:lpstr>
      <vt:lpstr>3_디자인 사용자 지정</vt:lpstr>
      <vt:lpstr>PowerPoint 프레젠테이션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</vt:vector>
  </TitlesOfParts>
  <Company>HIST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사회보장위원회_사회보장통계</dc:title>
  <dc:creator>조헌진</dc:creator>
  <cp:lastModifiedBy>10249 10249</cp:lastModifiedBy>
  <cp:revision>8005</cp:revision>
  <cp:lastPrinted>2019-06-18T05:05:25Z</cp:lastPrinted>
  <dcterms:created xsi:type="dcterms:W3CDTF">2006-06-07T02:37:19Z</dcterms:created>
  <dcterms:modified xsi:type="dcterms:W3CDTF">2026-09-15T23:37:49Z</dcterms:modified>
</cp:coreProperties>
</file>