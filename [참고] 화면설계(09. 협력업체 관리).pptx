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>
  <p:sldMasterIdLst>
    <p:sldMasterId id="2147484698" r:id="rId1"/>
  </p:sldMasterIdLst>
  <p:notesMasterIdLst>
    <p:notesMasterId r:id="rId17"/>
  </p:notesMasterIdLst>
  <p:handoutMasterIdLst>
    <p:handoutMasterId r:id="rId18"/>
  </p:handoutMasterIdLst>
  <p:sldIdLst>
    <p:sldId id="3218" r:id="rId2"/>
    <p:sldId id="3564" r:id="rId3"/>
    <p:sldId id="3573" r:id="rId4"/>
    <p:sldId id="3527" r:id="rId5"/>
    <p:sldId id="3569" r:id="rId6"/>
    <p:sldId id="3574" r:id="rId7"/>
    <p:sldId id="3575" r:id="rId8"/>
    <p:sldId id="3579" r:id="rId9"/>
    <p:sldId id="3570" r:id="rId10"/>
    <p:sldId id="3556" r:id="rId11"/>
    <p:sldId id="3571" r:id="rId12"/>
    <p:sldId id="3572" r:id="rId13"/>
    <p:sldId id="3577" r:id="rId14"/>
    <p:sldId id="3578" r:id="rId15"/>
    <p:sldId id="3562" r:id="rId16"/>
  </p:sldIdLst>
  <p:sldSz cx="9906000" cy="6858000" type="A4"/>
  <p:notesSz cx="9926638" cy="6797675"/>
  <p:embeddedFontLst>
    <p:embeddedFont>
      <p:font typeface="나눔고딕" panose="020D0604000000000000" pitchFamily="50" charset="-127"/>
      <p:regular r:id="rId19"/>
      <p:bold r:id="rId20"/>
    </p:embeddedFont>
    <p:embeddedFont>
      <p:font typeface="맑은 고딕" panose="020B0503020000020004" pitchFamily="50" charset="-127"/>
      <p:regular r:id="rId21"/>
      <p:bold r:id="rId22"/>
    </p:embeddedFont>
  </p:embeddedFontLst>
  <p:defaultTextStyle>
    <a:defPPr>
      <a:defRPr lang="en-US"/>
    </a:defPPr>
    <a:lvl1pPr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1pPr>
    <a:lvl2pPr marL="54864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2pPr>
    <a:lvl3pPr marL="109728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3pPr>
    <a:lvl4pPr marL="164592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4pPr>
    <a:lvl5pPr marL="2194560" algn="ctr" rtl="0" fontAlgn="base" latinLnBrk="1">
      <a:spcBef>
        <a:spcPct val="0"/>
      </a:spcBef>
      <a:spcAft>
        <a:spcPct val="0"/>
      </a:spcAft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5pPr>
    <a:lvl6pPr marL="274320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6pPr>
    <a:lvl7pPr marL="329184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7pPr>
    <a:lvl8pPr marL="384048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8pPr>
    <a:lvl9pPr marL="4389120" algn="l" defTabSz="1097280" rtl="0" eaLnBrk="1" latinLnBrk="1" hangingPunct="1">
      <a:defRPr kumimoji="1" sz="1000" b="1" kern="1200">
        <a:solidFill>
          <a:schemeClr val="bg1"/>
        </a:solidFill>
        <a:latin typeface="맑은 고딕" pitchFamily="50" charset="-127"/>
        <a:ea typeface="맑은 고딕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81">
          <p15:clr>
            <a:srgbClr val="A4A3A4"/>
          </p15:clr>
        </p15:guide>
        <p15:guide id="2" orient="horz" pos="1830">
          <p15:clr>
            <a:srgbClr val="A4A3A4"/>
          </p15:clr>
        </p15:guide>
        <p15:guide id="3" orient="horz" pos="2616">
          <p15:clr>
            <a:srgbClr val="A4A3A4"/>
          </p15:clr>
        </p15:guide>
        <p15:guide id="4" pos="3511">
          <p15:clr>
            <a:srgbClr val="A4A3A4"/>
          </p15:clr>
        </p15:guide>
        <p15:guide id="5" pos="335">
          <p15:clr>
            <a:srgbClr val="A4A3A4"/>
          </p15:clr>
        </p15:guide>
        <p15:guide id="6" pos="4447">
          <p15:clr>
            <a:srgbClr val="A4A3A4"/>
          </p15:clr>
        </p15:guide>
        <p15:guide id="7" pos="6067">
          <p15:clr>
            <a:srgbClr val="A4A3A4"/>
          </p15:clr>
        </p15:guide>
        <p15:guide id="8" pos="2269">
          <p15:clr>
            <a:srgbClr val="A4A3A4"/>
          </p15:clr>
        </p15:guide>
        <p15:guide id="9" pos="5805">
          <p15:clr>
            <a:srgbClr val="A4A3A4"/>
          </p15:clr>
        </p15:guide>
        <p15:guide id="10" pos="4069">
          <p15:clr>
            <a:srgbClr val="A4A3A4"/>
          </p15:clr>
        </p15:guide>
        <p15:guide id="11" pos="34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lydA" initials="C" lastIdx="1" clrIdx="0">
    <p:extLst>
      <p:ext uri="{19B8F6BF-5375-455C-9EA6-DF929625EA0E}">
        <p15:presenceInfo xmlns:p15="http://schemas.microsoft.com/office/powerpoint/2012/main" userId="ChulydA" providerId="None"/>
      </p:ext>
    </p:extLst>
  </p:cmAuthor>
  <p:cmAuthor id="2" name="heesung lee" initials="hl" lastIdx="16" clrIdx="1">
    <p:extLst>
      <p:ext uri="{19B8F6BF-5375-455C-9EA6-DF929625EA0E}">
        <p15:presenceInfo xmlns:p15="http://schemas.microsoft.com/office/powerpoint/2012/main" userId="106ef8bdd38f3c94" providerId="Windows Live"/>
      </p:ext>
    </p:extLst>
  </p:cmAuthor>
  <p:cmAuthor id="3" name="10249 10249" initials="11" lastIdx="2" clrIdx="2">
    <p:extLst>
      <p:ext uri="{19B8F6BF-5375-455C-9EA6-DF929625EA0E}">
        <p15:presenceInfo xmlns:p15="http://schemas.microsoft.com/office/powerpoint/2012/main" userId="S::M10249@365e.me::2244da32-1411-4fa9-ae10-0967a5e09c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404040"/>
    <a:srgbClr val="00B050"/>
    <a:srgbClr val="FFFF00"/>
    <a:srgbClr val="C00000"/>
    <a:srgbClr val="DCE6F2"/>
    <a:srgbClr val="596F8A"/>
    <a:srgbClr val="003965"/>
    <a:srgbClr val="C0504D"/>
    <a:srgbClr val="97A8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10" autoAdjust="0"/>
    <p:restoredTop sz="96391" autoAdjust="0"/>
  </p:normalViewPr>
  <p:slideViewPr>
    <p:cSldViewPr>
      <p:cViewPr varScale="1">
        <p:scale>
          <a:sx n="111" d="100"/>
          <a:sy n="111" d="100"/>
        </p:scale>
        <p:origin x="1962" y="114"/>
      </p:cViewPr>
      <p:guideLst>
        <p:guide orient="horz" pos="1281"/>
        <p:guide orient="horz" pos="1830"/>
        <p:guide orient="horz" pos="2616"/>
        <p:guide pos="3511"/>
        <p:guide pos="335"/>
        <p:guide pos="4447"/>
        <p:guide pos="6067"/>
        <p:guide pos="2269"/>
        <p:guide pos="5805"/>
        <p:guide pos="4069"/>
        <p:guide pos="3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latin typeface="나눔고딕" panose="020D0604000000000000" pitchFamily="50" charset="-127"/>
            </a:endParaRPr>
          </a:p>
        </p:txBody>
      </p:sp>
      <p:sp>
        <p:nvSpPr>
          <p:cNvPr id="3686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Arial" charset="0"/>
                <a:ea typeface="굴림" pitchFamily="50" charset="-127"/>
              </a:defRPr>
            </a:lvl1pPr>
          </a:lstStyle>
          <a:p>
            <a:pPr>
              <a:defRPr/>
            </a:pPr>
            <a:fld id="{958A078C-E9DF-4D7D-AA65-6B185DB752DA}" type="slidenum">
              <a:rPr lang="ko-KR" altLang="en-US">
                <a:latin typeface="나눔고딕" panose="020D0604000000000000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68710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3262" y="2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792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124200" y="509588"/>
            <a:ext cx="3679825" cy="25479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499" y="3228357"/>
            <a:ext cx="7937644" cy="3060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l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75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3262" y="6456714"/>
            <a:ext cx="4301086" cy="339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7" rIns="91436" bIns="45717" numCol="1" anchor="b" anchorCtr="0" compatLnSpc="1">
            <a:prstTxWarp prst="textNoShape">
              <a:avLst/>
            </a:prstTxWarp>
          </a:bodyPr>
          <a:lstStyle>
            <a:lvl1pPr algn="r" defTabSz="904158" latinLnBrk="0">
              <a:defRPr kumimoji="0" sz="1200" b="0" smtClean="0">
                <a:solidFill>
                  <a:schemeClr val="tx1"/>
                </a:solidFill>
                <a:latin typeface="나눔고딕" panose="020D0604000000000000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095569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54864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109728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64592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219456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74320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124200" y="509588"/>
            <a:ext cx="3679825" cy="254793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EB2694-E1AF-4855-92FC-08368CF64987}" type="slidenum">
              <a:rPr lang="ko-KR" altLang="en-US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178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99">
            <a:extLst>
              <a:ext uri="{FF2B5EF4-FFF2-40B4-BE49-F238E27FC236}">
                <a16:creationId xmlns:a16="http://schemas.microsoft.com/office/drawing/2014/main" id="{6F6EA833-4CCB-DDB7-25E2-F1E4EF28D1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636" y="6644475"/>
            <a:ext cx="9892732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fld id="{3BD61D90-F798-4BAC-AFEE-3BFFDAD41B14}" type="slidenum">
              <a:rPr lang="en-US" altLang="ko-KR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-</a:t>
            </a:r>
          </a:p>
        </p:txBody>
      </p:sp>
      <p:pic>
        <p:nvPicPr>
          <p:cNvPr id="4" name="table">
            <a:extLst>
              <a:ext uri="{FF2B5EF4-FFF2-40B4-BE49-F238E27FC236}">
                <a16:creationId xmlns:a16="http://schemas.microsoft.com/office/drawing/2014/main" id="{795D1FFF-603E-488F-38AE-89B81130BE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" y="-10086"/>
            <a:ext cx="9905433" cy="664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16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73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4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99" r:id="rId1"/>
    <p:sldLayoutId id="2147484703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5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5pPr>
      <a:lvl6pPr marL="54864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6pPr>
      <a:lvl7pPr marL="109728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7pPr>
      <a:lvl8pPr marL="164592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8pPr>
      <a:lvl9pPr marL="2194560" algn="ctr" rtl="0" fontAlgn="base" latinLnBrk="1">
        <a:spcBef>
          <a:spcPct val="0"/>
        </a:spcBef>
        <a:spcAft>
          <a:spcPct val="0"/>
        </a:spcAft>
        <a:defRPr sz="5300">
          <a:solidFill>
            <a:schemeClr val="tx1"/>
          </a:solidFill>
          <a:latin typeface="맑은 고딕" pitchFamily="50" charset="-127"/>
        </a:defRPr>
      </a:lvl9pPr>
    </p:titleStyle>
    <p:bodyStyle>
      <a:lvl1pPr marL="411480" indent="-41148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800" kern="1200">
          <a:solidFill>
            <a:schemeClr val="tx1"/>
          </a:solidFill>
          <a:latin typeface="+mn-lt"/>
          <a:ea typeface="+mn-ea"/>
          <a:cs typeface="+mn-cs"/>
        </a:defRPr>
      </a:lvl1pPr>
      <a:lvl2pPr marL="89154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34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1" hangingPunct="1"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135">
            <a:extLst>
              <a:ext uri="{FF2B5EF4-FFF2-40B4-BE49-F238E27FC236}">
                <a16:creationId xmlns:a16="http://schemas.microsoft.com/office/drawing/2014/main" id="{D0EE3C01-C659-42AF-B0F2-154A45348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6593908"/>
              </p:ext>
            </p:extLst>
          </p:nvPr>
        </p:nvGraphicFramePr>
        <p:xfrm>
          <a:off x="896550" y="5060591"/>
          <a:ext cx="8071982" cy="1068709"/>
        </p:xfrm>
        <a:graphic>
          <a:graphicData uri="http://schemas.openxmlformats.org/drawingml/2006/table">
            <a:tbl>
              <a:tblPr/>
              <a:tblGrid>
                <a:gridCol w="1752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3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1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 성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  희  성</a:t>
                      </a: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2026. 6. 10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6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검 토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 인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 자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제목 6">
            <a:extLst>
              <a:ext uri="{FF2B5EF4-FFF2-40B4-BE49-F238E27FC236}">
                <a16:creationId xmlns:a16="http://schemas.microsoft.com/office/drawing/2014/main" id="{5586BA84-0607-EFC8-2890-2A14340D8C01}"/>
              </a:ext>
            </a:extLst>
          </p:cNvPr>
          <p:cNvSpPr>
            <a:spLocks noGrp="1"/>
          </p:cNvSpPr>
          <p:nvPr/>
        </p:nvSpPr>
        <p:spPr bwMode="auto">
          <a:xfrm>
            <a:off x="2576736" y="1198979"/>
            <a:ext cx="6401707" cy="708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r>
              <a:rPr lang="ko-KR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화면설계서</a:t>
            </a:r>
            <a:r>
              <a:rPr lang="en-US" altLang="ko-KR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" name="제목 6">
            <a:extLst>
              <a:ext uri="{FF2B5EF4-FFF2-40B4-BE49-F238E27FC236}">
                <a16:creationId xmlns:a16="http://schemas.microsoft.com/office/drawing/2014/main" id="{EA83B9F2-E3C0-B884-4551-ECFDC8AD04B1}"/>
              </a:ext>
            </a:extLst>
          </p:cNvPr>
          <p:cNvSpPr txBox="1">
            <a:spLocks/>
          </p:cNvSpPr>
          <p:nvPr/>
        </p:nvSpPr>
        <p:spPr bwMode="auto">
          <a:xfrm>
            <a:off x="3120491" y="1914815"/>
            <a:ext cx="5857953" cy="5158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lvl="0" algn="r" fontAlgn="auto" latinLnBrk="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09.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lang="en-US" altLang="ko-KR" sz="14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" name="Group 134">
            <a:extLst>
              <a:ext uri="{FF2B5EF4-FFF2-40B4-BE49-F238E27FC236}">
                <a16:creationId xmlns:a16="http://schemas.microsoft.com/office/drawing/2014/main" id="{21DC28CE-9A0A-8D52-E0A2-BBFE4CAB1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2653431"/>
              </p:ext>
            </p:extLst>
          </p:nvPr>
        </p:nvGraphicFramePr>
        <p:xfrm>
          <a:off x="884548" y="4196495"/>
          <a:ext cx="8083984" cy="623413"/>
        </p:xfrm>
        <a:graphic>
          <a:graphicData uri="http://schemas.openxmlformats.org/drawingml/2006/table">
            <a:tbl>
              <a:tblPr/>
              <a:tblGrid>
                <a:gridCol w="1767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61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문서번호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KEPCOES-DE-004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프로젝트명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켑코이에스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전산시스템</a:t>
                      </a:r>
                      <a:r>
                        <a:rPr kumimoji="0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(PMS·SRM) </a:t>
                      </a:r>
                      <a:r>
                        <a:rPr kumimoji="0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재구축 용역</a:t>
                      </a:r>
                    </a:p>
                  </a:txBody>
                  <a:tcPr marL="77981" marR="77981" marT="17447" marB="1744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487365A5-672A-A325-330C-5A5147263190}"/>
              </a:ext>
            </a:extLst>
          </p:cNvPr>
          <p:cNvSpPr>
            <a:spLocks noGrp="1"/>
          </p:cNvSpPr>
          <p:nvPr/>
        </p:nvSpPr>
        <p:spPr bwMode="auto">
          <a:xfrm>
            <a:off x="2590081" y="768744"/>
            <a:ext cx="6388363" cy="247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eaLnBrk="1" fontAlgn="auto" hangingPunct="1">
              <a:spcAft>
                <a:spcPts val="0"/>
              </a:spcAft>
              <a:defRPr/>
            </a:pPr>
            <a:endParaRPr lang="ko-KR" altLang="en-US" sz="15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D8D9BF40-3AAA-996A-98C9-15586676F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68" y="116632"/>
            <a:ext cx="1843484" cy="432048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8381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64B9AB45-3769-E1A9-6FDE-3F74DDE83B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A88DECC5-3C2E-3094-A449-440B9AD79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2756106C-5B0B-DBE9-7C86-3247285D0191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055B4038-FB00-BB2D-29E7-CB39AA30581E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5400000">
            <a:off x="4409069" y="575186"/>
            <a:ext cx="280981" cy="80688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61E1272A-265F-F840-4E25-03555EF7D500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034311" y="-243175"/>
            <a:ext cx="280981" cy="2443603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9575E0FF-0D0C-8123-2CA2-67305D09EFE1}"/>
              </a:ext>
            </a:extLst>
          </p:cNvPr>
          <p:cNvCxnSpPr>
            <a:cxnSpLocks/>
            <a:stCxn id="5" idx="2"/>
            <a:endCxn id="146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68A3D591-143A-A287-49A2-D247E0FC4B9A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3596447" y="-237436"/>
            <a:ext cx="280981" cy="2432126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A034744A-7FB4-89EA-9A03-77A446DA239E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2783826" y="-1050057"/>
            <a:ext cx="280981" cy="4057369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5CE08FB6-4C52-2234-18BB-7BBE70621FC4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5221690" y="569447"/>
            <a:ext cx="280981" cy="818360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5031B6B-3138-9606-4556-72B8D9A3EFD9}"/>
              </a:ext>
            </a:extLst>
          </p:cNvPr>
          <p:cNvSpPr/>
          <p:nvPr/>
        </p:nvSpPr>
        <p:spPr>
          <a:xfrm>
            <a:off x="131466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55CEA5E-44EC-9B4C-CBF2-F282986821A5}"/>
              </a:ext>
            </a:extLst>
          </p:cNvPr>
          <p:cNvSpPr/>
          <p:nvPr/>
        </p:nvSpPr>
        <p:spPr>
          <a:xfrm>
            <a:off x="12763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ECE74225-2ADC-D85A-D8EC-DE91BDDB1B8A}"/>
              </a:ext>
            </a:extLst>
          </p:cNvPr>
          <p:cNvSpPr/>
          <p:nvPr/>
        </p:nvSpPr>
        <p:spPr>
          <a:xfrm>
            <a:off x="127630" y="1752720"/>
            <a:ext cx="1529252" cy="135728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indent="-72000" algn="l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Step #1 약관 및 개인정보 수집 동의</a:t>
            </a:r>
          </a:p>
          <a:p>
            <a:pPr marL="72000" indent="-72000" algn="l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Step #2 기본 정보 입력</a:t>
            </a:r>
          </a:p>
          <a:p>
            <a:pPr marL="72000" indent="-72000" algn="l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Step #3 담당자 정보 입력</a:t>
            </a:r>
          </a:p>
          <a:p>
            <a:pPr marL="72000" indent="-72000" algn="l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Step #4 신청 정보 확인 및 제출</a:t>
            </a:r>
          </a:p>
          <a:p>
            <a:pPr marL="72000" indent="-72000" algn="l">
              <a:spcBef>
                <a:spcPts val="200"/>
              </a:spcBef>
              <a:spcAft>
                <a:spcPts val="200"/>
              </a:spcAft>
              <a:buFont typeface="Arial"/>
              <a:buChar char="•"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Step #5 협력업체 신청 완료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14F6B96-E775-D9A7-EA91-08EC3A32EC6E}"/>
              </a:ext>
            </a:extLst>
          </p:cNvPr>
          <p:cNvSpPr/>
          <p:nvPr/>
        </p:nvSpPr>
        <p:spPr>
          <a:xfrm>
            <a:off x="127630" y="3172738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아이디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9921989-4B1D-CEEB-F694-E3DBDC758B0E}"/>
              </a:ext>
            </a:extLst>
          </p:cNvPr>
          <p:cNvSpPr/>
          <p:nvPr/>
        </p:nvSpPr>
        <p:spPr>
          <a:xfrm>
            <a:off x="127630" y="348340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비밀번호 찾기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7A3A18D-BBC4-326F-4F31-9B5CD06D0993}"/>
              </a:ext>
            </a:extLst>
          </p:cNvPr>
          <p:cNvSpPr/>
          <p:nvPr/>
        </p:nvSpPr>
        <p:spPr>
          <a:xfrm>
            <a:off x="127630" y="379408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3A9A84AB-E38C-E88E-BD5D-FA4B7A6AA513}"/>
              </a:ext>
            </a:extLst>
          </p:cNvPr>
          <p:cNvSpPr/>
          <p:nvPr/>
        </p:nvSpPr>
        <p:spPr>
          <a:xfrm>
            <a:off x="127630" y="4104751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이용 매뉴얼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9AC54A-4603-1A06-B470-F5CE35B93081}"/>
              </a:ext>
            </a:extLst>
          </p:cNvPr>
          <p:cNvSpPr/>
          <p:nvPr/>
        </p:nvSpPr>
        <p:spPr>
          <a:xfrm>
            <a:off x="1756709" y="1119118"/>
            <a:ext cx="1528329" cy="307303"/>
          </a:xfrm>
          <a:prstGeom prst="rect">
            <a:avLst/>
          </a:prstGeom>
          <a:solidFill>
            <a:srgbClr val="00B05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전용 창구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후</a:t>
            </a:r>
            <a:r>
              <a:rPr kumimoji="0" lang="en-US" altLang="ko-KR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1D1F3630-EED3-9948-BDC0-83051E91F895}"/>
              </a:ext>
            </a:extLst>
          </p:cNvPr>
          <p:cNvSpPr/>
          <p:nvPr/>
        </p:nvSpPr>
        <p:spPr>
          <a:xfrm>
            <a:off x="1752873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1A725966-D3AC-ED98-1744-D5B07887B1F1}"/>
              </a:ext>
            </a:extLst>
          </p:cNvPr>
          <p:cNvSpPr/>
          <p:nvPr/>
        </p:nvSpPr>
        <p:spPr>
          <a:xfrm>
            <a:off x="1752873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417B091-2877-C651-F82B-9AB10534A006}"/>
              </a:ext>
            </a:extLst>
          </p:cNvPr>
          <p:cNvSpPr/>
          <p:nvPr/>
        </p:nvSpPr>
        <p:spPr>
          <a:xfrm>
            <a:off x="1752873" y="522693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협력업체 정보 관리</a:t>
            </a:r>
            <a:endParaRPr lang="ko-KR" sz="900" b="1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11C47DCA-0266-33B0-A559-21AA9E3FDAA2}"/>
              </a:ext>
            </a:extLst>
          </p:cNvPr>
          <p:cNvSpPr/>
          <p:nvPr/>
        </p:nvSpPr>
        <p:spPr>
          <a:xfrm>
            <a:off x="338195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4A7083E-BF4B-F446-EBE7-B899895ECDB9}"/>
              </a:ext>
            </a:extLst>
          </p:cNvPr>
          <p:cNvSpPr/>
          <p:nvPr/>
        </p:nvSpPr>
        <p:spPr>
          <a:xfrm>
            <a:off x="3378116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대시보드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D228922-9D76-9C43-A75D-90F2B3ED8E45}"/>
              </a:ext>
            </a:extLst>
          </p:cNvPr>
          <p:cNvSpPr/>
          <p:nvPr/>
        </p:nvSpPr>
        <p:spPr>
          <a:xfrm>
            <a:off x="500719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F2EA9CB-6E24-E53F-E5A6-C94809CB3D2C}"/>
              </a:ext>
            </a:extLst>
          </p:cNvPr>
          <p:cNvSpPr/>
          <p:nvPr/>
        </p:nvSpPr>
        <p:spPr>
          <a:xfrm>
            <a:off x="5003359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DE8FBC8F-623F-FFE5-65E3-A25E8E96ED59}"/>
              </a:ext>
            </a:extLst>
          </p:cNvPr>
          <p:cNvSpPr/>
          <p:nvPr/>
        </p:nvSpPr>
        <p:spPr>
          <a:xfrm>
            <a:off x="5003359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요청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441233F4-F260-522C-0AA4-9C626EAEB198}"/>
              </a:ext>
            </a:extLst>
          </p:cNvPr>
          <p:cNvSpPr/>
          <p:nvPr/>
        </p:nvSpPr>
        <p:spPr>
          <a:xfrm>
            <a:off x="6632438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52691882-9F04-AAF6-027E-2875611F6CD3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112DC2C2-E43C-3766-CB42-FA1259397C91}"/>
              </a:ext>
            </a:extLst>
          </p:cNvPr>
          <p:cNvSpPr/>
          <p:nvPr/>
        </p:nvSpPr>
        <p:spPr>
          <a:xfrm>
            <a:off x="1752873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830CFC53-CFBF-4247-9FDC-CDDBDE6092A6}"/>
              </a:ext>
            </a:extLst>
          </p:cNvPr>
          <p:cNvSpPr/>
          <p:nvPr/>
        </p:nvSpPr>
        <p:spPr>
          <a:xfrm>
            <a:off x="1752873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7D7D566-4D8F-3660-682E-B2E27CA62F20}"/>
              </a:ext>
            </a:extLst>
          </p:cNvPr>
          <p:cNvSpPr/>
          <p:nvPr/>
        </p:nvSpPr>
        <p:spPr>
          <a:xfrm>
            <a:off x="1752873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D5365FA3-56EC-7C58-22E2-1979348C1B97}"/>
              </a:ext>
            </a:extLst>
          </p:cNvPr>
          <p:cNvSpPr/>
          <p:nvPr/>
        </p:nvSpPr>
        <p:spPr>
          <a:xfrm>
            <a:off x="1752873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사전 견적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E860D680-4B09-482D-4A6E-1C803CFA44A5}"/>
              </a:ext>
            </a:extLst>
          </p:cNvPr>
          <p:cNvSpPr/>
          <p:nvPr/>
        </p:nvSpPr>
        <p:spPr>
          <a:xfrm>
            <a:off x="1748146" y="3298876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공고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제출 현황</a:t>
            </a: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D2D1ED4E-E5E8-961F-16DB-A0639EBB2950}"/>
              </a:ext>
            </a:extLst>
          </p:cNvPr>
          <p:cNvSpPr/>
          <p:nvPr/>
        </p:nvSpPr>
        <p:spPr>
          <a:xfrm>
            <a:off x="1752873" y="38352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 참여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1" name="직사각형 170">
            <a:extLst>
              <a:ext uri="{FF2B5EF4-FFF2-40B4-BE49-F238E27FC236}">
                <a16:creationId xmlns:a16="http://schemas.microsoft.com/office/drawing/2014/main" id="{4245DF07-F90F-F9AE-165D-E01F074E18A7}"/>
              </a:ext>
            </a:extLst>
          </p:cNvPr>
          <p:cNvSpPr/>
          <p:nvPr/>
        </p:nvSpPr>
        <p:spPr>
          <a:xfrm>
            <a:off x="1748146" y="408753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indent="-72000" algn="l">
              <a:buFont typeface="Arial"/>
              <a:buChar char="•"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입찰공고 정보</a:t>
            </a:r>
          </a:p>
          <a:p>
            <a:pPr marL="72000" indent="-72000" algn="l">
              <a:buFont typeface="Arial"/>
              <a:buChar char="•"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입찰 서류 제출</a:t>
            </a:r>
          </a:p>
          <a:p>
            <a:pPr marL="72000" indent="-72000" algn="l">
              <a:buFont typeface="Arial"/>
              <a:buChar char="•"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가격 투찰</a:t>
            </a:r>
          </a:p>
          <a:p>
            <a:pPr marL="72000" indent="-72000" algn="l">
              <a:buFont typeface="Arial"/>
              <a:buChar char="•"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입찰 결과</a:t>
            </a:r>
          </a:p>
          <a:p>
            <a:pPr marL="72000" indent="-72000" algn="l">
              <a:buFont typeface="Arial"/>
              <a:buChar char="•"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수의시담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6B371C43-7645-8F36-DB9B-858941ECB04D}"/>
              </a:ext>
            </a:extLst>
          </p:cNvPr>
          <p:cNvSpPr/>
          <p:nvPr/>
        </p:nvSpPr>
        <p:spPr>
          <a:xfrm>
            <a:off x="1748146" y="5478634"/>
            <a:ext cx="1529252" cy="89706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협력업체 정보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기본 정보 수정 요청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담당자 정보 추가</a:t>
            </a:r>
            <a:r>
              <a:rPr kumimoji="0" lang="en-US" altLang="ko-KR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</a:t>
            </a: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수정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비밀번호 변경 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3F95A057-C9BA-CA97-1281-8B6D7A02DB0F}"/>
              </a:ext>
            </a:extLst>
          </p:cNvPr>
          <p:cNvSpPr/>
          <p:nvPr/>
        </p:nvSpPr>
        <p:spPr>
          <a:xfrm>
            <a:off x="3378116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D4C62549-217A-BAC2-E336-61018857F975}"/>
              </a:ext>
            </a:extLst>
          </p:cNvPr>
          <p:cNvSpPr/>
          <p:nvPr/>
        </p:nvSpPr>
        <p:spPr>
          <a:xfrm>
            <a:off x="3378116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9B25D357-AF3A-B49F-C5A2-C2FACBFBEA76}"/>
              </a:ext>
            </a:extLst>
          </p:cNvPr>
          <p:cNvSpPr/>
          <p:nvPr/>
        </p:nvSpPr>
        <p:spPr>
          <a:xfrm>
            <a:off x="5007258" y="2051768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요청 내역</a:t>
            </a:r>
            <a:endParaRPr kumimoji="0" lang="en-US" altLang="ko-KR" sz="900" b="0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lvl="0" indent="-72000" algn="l" fontAlgn="auto" latinLnBrk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kumimoji="0" lang="ko-KR" altLang="en-US" sz="900" b="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견적 제출 현황</a:t>
            </a:r>
            <a:endParaRPr kumimoji="0" lang="ko-KR" altLang="en-US" sz="900" b="0" i="0" u="none" strike="noStrike" kern="0" cap="none" spc="-50" normalizeH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A62B9392-E5D6-E416-8709-B2166C5E1489}"/>
              </a:ext>
            </a:extLst>
          </p:cNvPr>
          <p:cNvSpPr/>
          <p:nvPr/>
        </p:nvSpPr>
        <p:spPr>
          <a:xfrm>
            <a:off x="663400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요청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E9EDD3AC-F2A8-4B60-25A4-3F90A97B4728}"/>
              </a:ext>
            </a:extLst>
          </p:cNvPr>
          <p:cNvSpPr/>
          <p:nvPr/>
        </p:nvSpPr>
        <p:spPr>
          <a:xfrm>
            <a:off x="663400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발주계약 요청 현황</a:t>
            </a:r>
            <a:endParaRPr lang="ko-KR" sz="900" b="1"/>
          </a:p>
        </p:txBody>
      </p:sp>
      <p:sp>
        <p:nvSpPr>
          <p:cNvPr id="184" name="직사각형 183">
            <a:extLst>
              <a:ext uri="{FF2B5EF4-FFF2-40B4-BE49-F238E27FC236}">
                <a16:creationId xmlns:a16="http://schemas.microsoft.com/office/drawing/2014/main" id="{99096261-758C-262E-CB8F-39B4ED0BDDEC}"/>
              </a:ext>
            </a:extLst>
          </p:cNvPr>
          <p:cNvSpPr/>
          <p:nvPr/>
        </p:nvSpPr>
        <p:spPr>
          <a:xfrm>
            <a:off x="825768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발주계약 요청 접수</a:t>
            </a:r>
            <a:endParaRPr lang="ko-KR" sz="900" b="1"/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6F3A8D0B-D007-7D31-A6AD-FF7401B42457}"/>
              </a:ext>
            </a:extLst>
          </p:cNvPr>
          <p:cNvSpPr/>
          <p:nvPr/>
        </p:nvSpPr>
        <p:spPr>
          <a:xfrm>
            <a:off x="8257682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발주계획 등록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9581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91B9B-3627-4660-FD69-DDDF952EC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2DF35F6-D7C4-26BA-8F05-0B9D9F02A3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9922C1-7B88-800B-3F9E-D702306A7BB8}"/>
              </a:ext>
            </a:extLst>
          </p:cNvPr>
          <p:cNvSpPr txBox="1"/>
          <p:nvPr/>
        </p:nvSpPr>
        <p:spPr>
          <a:xfrm>
            <a:off x="749224" y="25608"/>
            <a:ext cx="9541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메뉴구조도(SRM)</a:t>
            </a:r>
          </a:p>
        </p:txBody>
      </p:sp>
      <p:sp>
        <p:nvSpPr>
          <p:cNvPr id="3" name="Rectangle 32">
            <a:extLst>
              <a:ext uri="{FF2B5EF4-FFF2-40B4-BE49-F238E27FC236}">
                <a16:creationId xmlns:a16="http://schemas.microsoft.com/office/drawing/2014/main" id="{908743FB-77BF-B659-D73D-DE3273D98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66711"/>
            <a:ext cx="9906000" cy="6383897"/>
          </a:xfrm>
          <a:prstGeom prst="rect">
            <a:avLst/>
          </a:prstGeom>
          <a:solidFill>
            <a:schemeClr val="bg1"/>
          </a:solidFill>
          <a:ln w="3175" algn="ctr">
            <a:noFill/>
            <a:prstDash val="sysDash"/>
            <a:miter lim="800000"/>
            <a:headEnd/>
            <a:tailEnd/>
          </a:ln>
        </p:spPr>
        <p:txBody>
          <a:bodyPr wrap="none" tIns="108000" bIns="108000" anchor="b" anchorCtr="0"/>
          <a:lstStyle/>
          <a:p>
            <a:pPr algn="ctr"/>
            <a:endParaRPr lang="ko-KR" altLang="en-US" sz="1000" b="1" dirty="0">
              <a:solidFill>
                <a:prstClr val="black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5" name="사각형: 둥근 모서리 107">
            <a:extLst>
              <a:ext uri="{FF2B5EF4-FFF2-40B4-BE49-F238E27FC236}">
                <a16:creationId xmlns:a16="http://schemas.microsoft.com/office/drawing/2014/main" id="{9C2DEE79-B178-032F-08AE-6E8A55918EBC}"/>
              </a:ext>
            </a:extLst>
          </p:cNvPr>
          <p:cNvSpPr/>
          <p:nvPr/>
        </p:nvSpPr>
        <p:spPr bwMode="auto">
          <a:xfrm>
            <a:off x="3992766" y="492348"/>
            <a:ext cx="1920468" cy="345789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36000" rIns="9144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전자입찰시스템</a:t>
            </a:r>
            <a:r>
              <a:rPr kumimoji="1" lang="en-US" altLang="ko-KR" sz="1000" b="1" i="0" u="none" strike="noStrike" kern="1200" cap="none" spc="-5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(SRM)</a:t>
            </a:r>
            <a:endParaRPr kumimoji="1" lang="ko-KR" altLang="en-US" sz="1000" b="1" i="0" u="none" strike="noStrike" kern="1200" cap="none" spc="-5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cxnSp>
        <p:nvCxnSpPr>
          <p:cNvPr id="7" name="연결선: 꺾임 145">
            <a:extLst>
              <a:ext uri="{FF2B5EF4-FFF2-40B4-BE49-F238E27FC236}">
                <a16:creationId xmlns:a16="http://schemas.microsoft.com/office/drawing/2014/main" id="{BC877F39-7E19-0FA3-CCE6-CE146D79456D}"/>
              </a:ext>
            </a:extLst>
          </p:cNvPr>
          <p:cNvCxnSpPr>
            <a:cxnSpLocks/>
            <a:stCxn id="5" idx="2"/>
            <a:endCxn id="95" idx="0"/>
          </p:cNvCxnSpPr>
          <p:nvPr/>
        </p:nvCxnSpPr>
        <p:spPr bwMode="auto">
          <a:xfrm rot="16200000" flipH="1">
            <a:off x="5221690" y="569446"/>
            <a:ext cx="280981" cy="818361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연결선: 꺾임 55">
            <a:extLst>
              <a:ext uri="{FF2B5EF4-FFF2-40B4-BE49-F238E27FC236}">
                <a16:creationId xmlns:a16="http://schemas.microsoft.com/office/drawing/2014/main" id="{0C0A0657-D42F-87FC-DBD8-11DC547D8997}"/>
              </a:ext>
            </a:extLst>
          </p:cNvPr>
          <p:cNvCxnSpPr>
            <a:cxnSpLocks/>
            <a:stCxn id="5" idx="2"/>
            <a:endCxn id="120" idx="0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연결선: 꺾임 64">
            <a:extLst>
              <a:ext uri="{FF2B5EF4-FFF2-40B4-BE49-F238E27FC236}">
                <a16:creationId xmlns:a16="http://schemas.microsoft.com/office/drawing/2014/main" id="{83972492-5F8A-5CCF-7FE5-916E7ADF0F33}"/>
              </a:ext>
            </a:extLst>
          </p:cNvPr>
          <p:cNvCxnSpPr>
            <a:cxnSpLocks/>
            <a:stCxn id="5" idx="2"/>
          </p:cNvCxnSpPr>
          <p:nvPr/>
        </p:nvCxnSpPr>
        <p:spPr bwMode="auto">
          <a:xfrm rot="16200000" flipH="1">
            <a:off x="6846933" y="-1055797"/>
            <a:ext cx="280981" cy="4068847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연결선: 꺾임 145">
            <a:extLst>
              <a:ext uri="{FF2B5EF4-FFF2-40B4-BE49-F238E27FC236}">
                <a16:creationId xmlns:a16="http://schemas.microsoft.com/office/drawing/2014/main" id="{BF5E2CF1-F999-28CD-A7EF-155CC5267895}"/>
              </a:ext>
            </a:extLst>
          </p:cNvPr>
          <p:cNvCxnSpPr>
            <a:cxnSpLocks/>
            <a:stCxn id="5" idx="2"/>
            <a:endCxn id="87" idx="0"/>
          </p:cNvCxnSpPr>
          <p:nvPr/>
        </p:nvCxnSpPr>
        <p:spPr bwMode="auto">
          <a:xfrm rot="5400000">
            <a:off x="4409069" y="575186"/>
            <a:ext cx="280981" cy="806882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연결선: 꺾임 145">
            <a:extLst>
              <a:ext uri="{FF2B5EF4-FFF2-40B4-BE49-F238E27FC236}">
                <a16:creationId xmlns:a16="http://schemas.microsoft.com/office/drawing/2014/main" id="{94B53BDD-C2D3-BEB6-A792-688AC056B9B3}"/>
              </a:ext>
            </a:extLst>
          </p:cNvPr>
          <p:cNvCxnSpPr>
            <a:cxnSpLocks/>
            <a:stCxn id="5" idx="2"/>
            <a:endCxn id="19" idx="0"/>
          </p:cNvCxnSpPr>
          <p:nvPr/>
        </p:nvCxnSpPr>
        <p:spPr bwMode="auto">
          <a:xfrm rot="5400000">
            <a:off x="3596448" y="-237435"/>
            <a:ext cx="280981" cy="2432125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연결선: 꺾임 145">
            <a:extLst>
              <a:ext uri="{FF2B5EF4-FFF2-40B4-BE49-F238E27FC236}">
                <a16:creationId xmlns:a16="http://schemas.microsoft.com/office/drawing/2014/main" id="{A34176ED-DA58-3416-CDF4-6784E404A8A1}"/>
              </a:ext>
            </a:extLst>
          </p:cNvPr>
          <p:cNvCxnSpPr>
            <a:cxnSpLocks/>
            <a:stCxn id="5" idx="2"/>
            <a:endCxn id="103" idx="0"/>
          </p:cNvCxnSpPr>
          <p:nvPr/>
        </p:nvCxnSpPr>
        <p:spPr bwMode="auto">
          <a:xfrm rot="16200000" flipH="1">
            <a:off x="6034312" y="-243175"/>
            <a:ext cx="280981" cy="244360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1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0E9D2ED-CC67-D056-DCF9-97303DEB50B0}"/>
              </a:ext>
            </a:extLst>
          </p:cNvPr>
          <p:cNvSpPr/>
          <p:nvPr/>
        </p:nvSpPr>
        <p:spPr>
          <a:xfrm>
            <a:off x="1756710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FED5BDF-1CA6-A1ED-480A-6DE8F9AC2586}"/>
              </a:ext>
            </a:extLst>
          </p:cNvPr>
          <p:cNvSpPr/>
          <p:nvPr/>
        </p:nvSpPr>
        <p:spPr>
          <a:xfrm>
            <a:off x="175287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입찰계획 현황 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B2F96BB8-AF77-1518-D341-D94009650B98}"/>
              </a:ext>
            </a:extLst>
          </p:cNvPr>
          <p:cNvSpPr/>
          <p:nvPr/>
        </p:nvSpPr>
        <p:spPr>
          <a:xfrm>
            <a:off x="1752874" y="180212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입찰공고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738BBF3F-CEF4-9113-67AD-859D7AFD446E}"/>
              </a:ext>
            </a:extLst>
          </p:cNvPr>
          <p:cNvSpPr/>
          <p:nvPr/>
        </p:nvSpPr>
        <p:spPr>
          <a:xfrm>
            <a:off x="3381953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계약관리 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2FDB5EA6-CA45-13A1-2C2F-9DBB401AE004}"/>
              </a:ext>
            </a:extLst>
          </p:cNvPr>
          <p:cNvSpPr/>
          <p:nvPr/>
        </p:nvSpPr>
        <p:spPr>
          <a:xfrm>
            <a:off x="3378117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발주계약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86561C08-A936-2408-8EB7-68ABF9902C58}"/>
              </a:ext>
            </a:extLst>
          </p:cNvPr>
          <p:cNvSpPr/>
          <p:nvPr/>
        </p:nvSpPr>
        <p:spPr>
          <a:xfrm>
            <a:off x="5007196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B333CA17-0085-AD13-4685-8DD256F57090}"/>
              </a:ext>
            </a:extLst>
          </p:cNvPr>
          <p:cNvSpPr/>
          <p:nvPr/>
        </p:nvSpPr>
        <p:spPr>
          <a:xfrm>
            <a:off x="5003360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7185E328-C7DE-E28D-BB30-A20978BE43C9}"/>
              </a:ext>
            </a:extLst>
          </p:cNvPr>
          <p:cNvSpPr/>
          <p:nvPr/>
        </p:nvSpPr>
        <p:spPr>
          <a:xfrm>
            <a:off x="6632439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기준 정보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C627C1E7-FE4C-AA74-60CF-AF7C9647C81A}"/>
              </a:ext>
            </a:extLst>
          </p:cNvPr>
          <p:cNvSpPr/>
          <p:nvPr/>
        </p:nvSpPr>
        <p:spPr>
          <a:xfrm>
            <a:off x="8257682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A8F2748B-474D-C57C-9C11-A5FC63F7B247}"/>
              </a:ext>
            </a:extLst>
          </p:cNvPr>
          <p:cNvSpPr/>
          <p:nvPr/>
        </p:nvSpPr>
        <p:spPr>
          <a:xfrm>
            <a:off x="3373390" y="1750318"/>
            <a:ext cx="1529252" cy="108247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관련 서류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발주계약 요청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입찰계획 정보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13BD4A2E-5817-A213-A41A-B1691C6BB497}"/>
              </a:ext>
            </a:extLst>
          </p:cNvPr>
          <p:cNvSpPr/>
          <p:nvPr/>
        </p:nvSpPr>
        <p:spPr>
          <a:xfrm>
            <a:off x="5003360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3E0B09CB-67F5-D08E-512E-F82836F702E3}"/>
              </a:ext>
            </a:extLst>
          </p:cNvPr>
          <p:cNvSpPr/>
          <p:nvPr/>
        </p:nvSpPr>
        <p:spPr>
          <a:xfrm>
            <a:off x="5003360" y="2113950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4B46B900-2336-6E72-624D-5811556726C5}"/>
              </a:ext>
            </a:extLst>
          </p:cNvPr>
          <p:cNvSpPr/>
          <p:nvPr/>
        </p:nvSpPr>
        <p:spPr>
          <a:xfrm>
            <a:off x="8259244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3609E92F-DCBC-A112-BF4F-82565D80584E}"/>
              </a:ext>
            </a:extLst>
          </p:cNvPr>
          <p:cNvSpPr/>
          <p:nvPr/>
        </p:nvSpPr>
        <p:spPr>
          <a:xfrm>
            <a:off x="8259244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권한그룹 및 메뉴별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8A3BEAB-D241-F034-5691-2CF12180D83A}"/>
              </a:ext>
            </a:extLst>
          </p:cNvPr>
          <p:cNvSpPr/>
          <p:nvPr/>
        </p:nvSpPr>
        <p:spPr>
          <a:xfrm>
            <a:off x="1747476" y="2049414"/>
            <a:ext cx="1529252" cy="166761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indent="-72000" algn="l">
              <a:buFont typeface="Arial"/>
              <a:buChar char="•"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발주계획 정보</a:t>
            </a:r>
          </a:p>
          <a:p>
            <a:pPr marL="72000" indent="-72000" algn="l">
              <a:buFont typeface="Arial"/>
              <a:buChar char="•"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입찰계획 정보</a:t>
            </a:r>
          </a:p>
          <a:p>
            <a:pPr marL="72000" indent="-72000" algn="l">
              <a:buFont typeface="Arial"/>
              <a:buChar char="•"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입찰 참여 현황</a:t>
            </a:r>
          </a:p>
          <a:p>
            <a:pPr marL="72000" indent="-72000" algn="l">
              <a:buFont typeface="Arial"/>
              <a:buChar char="•"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심사/평가</a:t>
            </a:r>
          </a:p>
          <a:p>
            <a:pPr marL="72000" indent="-72000" algn="l">
              <a:buFont typeface="Arial"/>
              <a:buChar char="•"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개찰</a:t>
            </a:r>
          </a:p>
          <a:p>
            <a:pPr marL="72000" indent="-72000" algn="l">
              <a:buFont typeface="Arial"/>
              <a:buChar char="•"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낙찰(업체 선정)</a:t>
            </a:r>
          </a:p>
          <a:p>
            <a:pPr marL="72000" indent="-72000" algn="l">
              <a:buFont typeface="Arial"/>
              <a:buChar char="•"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수의시담</a:t>
            </a:r>
          </a:p>
          <a:p>
            <a:pPr marL="72000" indent="-72000" algn="l">
              <a:buFont typeface="Arial"/>
              <a:buChar char="•"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계약 요청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03EBA4-956D-5AE3-A6B9-85747EBC6D9F}"/>
              </a:ext>
            </a:extLst>
          </p:cNvPr>
          <p:cNvSpPr/>
          <p:nvPr/>
        </p:nvSpPr>
        <p:spPr>
          <a:xfrm>
            <a:off x="5010319" y="2366224"/>
            <a:ext cx="1529252" cy="47946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lvl="0" indent="-72000" algn="l">
              <a:buFont typeface="Arial"/>
              <a:buChar char="•"/>
              <a:defRPr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협력업체 조회/상세 정보</a:t>
            </a:r>
          </a:p>
          <a:p>
            <a:pPr marL="72000" lvl="0" indent="-72000" algn="l">
              <a:buFont typeface="Arial"/>
              <a:buChar char="•"/>
              <a:defRPr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발주계약 체결 현황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9549DB-D877-F7EF-5818-5862E3E581F1}"/>
              </a:ext>
            </a:extLst>
          </p:cNvPr>
          <p:cNvSpPr/>
          <p:nvPr/>
        </p:nvSpPr>
        <p:spPr>
          <a:xfrm>
            <a:off x="5003360" y="290408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EE37C29-BED2-2EA4-7B51-5E88FE454FEB}"/>
              </a:ext>
            </a:extLst>
          </p:cNvPr>
          <p:cNvSpPr/>
          <p:nvPr/>
        </p:nvSpPr>
        <p:spPr>
          <a:xfrm>
            <a:off x="6631302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품목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396F577-1681-F0B3-CB76-DF1713368F19}"/>
              </a:ext>
            </a:extLst>
          </p:cNvPr>
          <p:cNvSpPr/>
          <p:nvPr/>
        </p:nvSpPr>
        <p:spPr>
          <a:xfrm>
            <a:off x="6631302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678AB96-F467-AD64-EA4C-59B911194A49}"/>
              </a:ext>
            </a:extLst>
          </p:cNvPr>
          <p:cNvSpPr/>
          <p:nvPr/>
        </p:nvSpPr>
        <p:spPr>
          <a:xfrm>
            <a:off x="6631302" y="180539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 err="1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 그룹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4D8FD29-559D-0A9B-4EFE-026617880984}"/>
              </a:ext>
            </a:extLst>
          </p:cNvPr>
          <p:cNvSpPr/>
          <p:nvPr/>
        </p:nvSpPr>
        <p:spPr>
          <a:xfrm>
            <a:off x="6631302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심사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평가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DBCA7E2-3882-2D3A-FEEC-C304D99BA9BC}"/>
              </a:ext>
            </a:extLst>
          </p:cNvPr>
          <p:cNvSpPr/>
          <p:nvPr/>
        </p:nvSpPr>
        <p:spPr>
          <a:xfrm>
            <a:off x="6631302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공통 서류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9CC2FB-AE39-6D60-F7E4-AEBBC597415B}"/>
              </a:ext>
            </a:extLst>
          </p:cNvPr>
          <p:cNvSpPr/>
          <p:nvPr/>
        </p:nvSpPr>
        <p:spPr>
          <a:xfrm>
            <a:off x="6631302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메시지 발송 내용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3337320-9826-598A-0F6D-32ADBE602623}"/>
              </a:ext>
            </a:extLst>
          </p:cNvPr>
          <p:cNvSpPr/>
          <p:nvPr/>
        </p:nvSpPr>
        <p:spPr>
          <a:xfrm>
            <a:off x="6631302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>
              <a:defRPr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메일/메시지 발송 현황 조회</a:t>
            </a:r>
            <a:endParaRPr lang="ko-KR" sz="900" b="1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7AA1ADE-C580-E067-B7E1-ABFFF171E01E}"/>
              </a:ext>
            </a:extLst>
          </p:cNvPr>
          <p:cNvSpPr/>
          <p:nvPr/>
        </p:nvSpPr>
        <p:spPr>
          <a:xfrm>
            <a:off x="8252285" y="304737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로그인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1DAD779-8964-380C-BD9F-8DD2E89C4F9A}"/>
              </a:ext>
            </a:extLst>
          </p:cNvPr>
          <p:cNvSpPr/>
          <p:nvPr/>
        </p:nvSpPr>
        <p:spPr>
          <a:xfrm>
            <a:off x="8252285" y="2116065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시스템 권한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F3BD33F-97D0-2BFC-26FB-D5828EDC0617}"/>
              </a:ext>
            </a:extLst>
          </p:cNvPr>
          <p:cNvSpPr/>
          <p:nvPr/>
        </p:nvSpPr>
        <p:spPr>
          <a:xfrm>
            <a:off x="8252285" y="2426736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접속 아이피</a:t>
            </a:r>
            <a:r>
              <a:rPr lang="en-US" altLang="ko-KR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(IP) </a:t>
            </a: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32ED533-BF77-4DAF-4DC3-E9FD28FFD06D}"/>
              </a:ext>
            </a:extLst>
          </p:cNvPr>
          <p:cNvSpPr/>
          <p:nvPr/>
        </p:nvSpPr>
        <p:spPr>
          <a:xfrm>
            <a:off x="8252285" y="2737407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>
              <a:defRPr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코드 관리</a:t>
            </a:r>
            <a:endParaRPr lang="ko-KR" sz="900" b="1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12243C15-4788-8CD9-CC49-D5D72F05DDCF}"/>
              </a:ext>
            </a:extLst>
          </p:cNvPr>
          <p:cNvSpPr/>
          <p:nvPr/>
        </p:nvSpPr>
        <p:spPr>
          <a:xfrm>
            <a:off x="8252285" y="336506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>
              <a:defRPr/>
            </a:pPr>
            <a:r>
              <a:rPr lang="ko-KR" sz="900" spc="-50">
                <a:solidFill>
                  <a:prstClr val="black">
                    <a:lumMod val="65000"/>
                    <a:lumOff val="35000"/>
                  </a:prstClr>
                </a:solidFill>
                <a:latin typeface="나눔고딕"/>
                <a:ea typeface="나눔고딕"/>
              </a:rPr>
              <a:t>메뉴별 접속 현황</a:t>
            </a:r>
            <a:endParaRPr lang="ko-KR" sz="900" b="1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33953B6-38E0-A387-EA33-439E00EAA897}"/>
              </a:ext>
            </a:extLst>
          </p:cNvPr>
          <p:cNvSpPr/>
          <p:nvPr/>
        </p:nvSpPr>
        <p:spPr>
          <a:xfrm>
            <a:off x="8252285" y="3671963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공지사항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FC70D5C-FD5D-B309-C4DE-CD5FFF93CA1C}"/>
              </a:ext>
            </a:extLst>
          </p:cNvPr>
          <p:cNvSpPr/>
          <p:nvPr/>
        </p:nvSpPr>
        <p:spPr>
          <a:xfrm>
            <a:off x="8252285" y="3986952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양식 등 자료실 관리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894832-68A6-29D9-E4B4-D88353EA8D0C}"/>
              </a:ext>
            </a:extLst>
          </p:cNvPr>
          <p:cNvSpPr/>
          <p:nvPr/>
        </p:nvSpPr>
        <p:spPr>
          <a:xfrm>
            <a:off x="123105" y="1119118"/>
            <a:ext cx="1528329" cy="307303"/>
          </a:xfrm>
          <a:prstGeom prst="rect">
            <a:avLst/>
          </a:prstGeom>
          <a:solidFill>
            <a:srgbClr val="0070C0">
              <a:alpha val="69804"/>
            </a:srgb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kern="0" spc="-50" dirty="0">
                <a:solidFill>
                  <a:prstClr val="white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관리</a:t>
            </a:r>
            <a:endParaRPr kumimoji="0" lang="ko-KR" altLang="en-US" sz="900" b="1" i="0" u="none" strike="noStrike" kern="0" cap="none" spc="-5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324642E-6B86-90B7-9DA7-4B2C9DAFCF23}"/>
              </a:ext>
            </a:extLst>
          </p:cNvPr>
          <p:cNvSpPr/>
          <p:nvPr/>
        </p:nvSpPr>
        <p:spPr>
          <a:xfrm>
            <a:off x="123105" y="1498044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계획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6F15425-E273-5AD9-BDF3-9EAD2167EA9F}"/>
              </a:ext>
            </a:extLst>
          </p:cNvPr>
          <p:cNvSpPr/>
          <p:nvPr/>
        </p:nvSpPr>
        <p:spPr>
          <a:xfrm>
            <a:off x="123105" y="1803279"/>
            <a:ext cx="1529252" cy="252274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6350" cap="flat" cmpd="sng" algn="ctr">
            <a:noFill/>
            <a:prstDash val="solid"/>
          </a:ln>
          <a:effectLst/>
        </p:spPr>
        <p:txBody>
          <a:bodyPr lIns="36000" rIns="36000" rtlCol="0" anchor="ctr"/>
          <a:lstStyle/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kern="0" spc="-50" dirty="0">
                <a:solidFill>
                  <a:prstClr val="black">
                    <a:lumMod val="65000"/>
                    <a:lumOff val="3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수의계약 현황</a:t>
            </a:r>
            <a:endParaRPr kumimoji="0" lang="ko-KR" altLang="en-US" sz="900" b="1" kern="0" spc="-50" dirty="0">
              <a:solidFill>
                <a:prstClr val="black">
                  <a:lumMod val="65000"/>
                  <a:lumOff val="3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08F26F8-C189-623B-12A5-E2A3CE7A5482}"/>
              </a:ext>
            </a:extLst>
          </p:cNvPr>
          <p:cNvSpPr/>
          <p:nvPr/>
        </p:nvSpPr>
        <p:spPr>
          <a:xfrm>
            <a:off x="130064" y="2051768"/>
            <a:ext cx="1529252" cy="8731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noFill/>
            <a:prstDash val="solid"/>
          </a:ln>
          <a:effectLst/>
        </p:spPr>
        <p:txBody>
          <a:bodyPr lIns="72000" rIns="72000" rtlCol="0" anchor="ctr"/>
          <a:lstStyle/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발주계획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수의계약 계획 정보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견적 요청 및 확인</a:t>
            </a:r>
          </a:p>
          <a:p>
            <a:pPr marL="72000" marR="0" lvl="0" indent="-72000" algn="l" defTabSz="914400" rtl="0" eaLnBrk="1" fontAlgn="auto" latinLnBrk="0" hangingPunct="1">
              <a:spcBef>
                <a:spcPts val="2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900" b="0" i="0" u="none" strike="noStrike" kern="0" cap="none" spc="-50" normalizeH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계약 요청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DBE0C7-AD2E-2F53-6A65-941B2811782B}"/>
              </a:ext>
            </a:extLst>
          </p:cNvPr>
          <p:cNvSpPr/>
          <p:nvPr/>
        </p:nvSpPr>
        <p:spPr>
          <a:xfrm>
            <a:off x="5000317" y="1119118"/>
            <a:ext cx="1530610" cy="2037244"/>
          </a:xfrm>
          <a:prstGeom prst="rect">
            <a:avLst/>
          </a:prstGeom>
          <a:solidFill>
            <a:srgbClr val="FFFF00">
              <a:alpha val="1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2611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D195E-E9F1-98BF-A146-9FE22C64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8DD1538-3F1C-B1A0-19F2-E6850C57C11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6F9A89-BA64-6305-C6B9-85C65533571B}"/>
              </a:ext>
            </a:extLst>
          </p:cNvPr>
          <p:cNvSpPr txBox="1"/>
          <p:nvPr/>
        </p:nvSpPr>
        <p:spPr>
          <a:xfrm>
            <a:off x="749224" y="25608"/>
            <a:ext cx="17700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9BE632-99C5-9F08-92F5-45283DCD6889}"/>
              </a:ext>
            </a:extLst>
          </p:cNvPr>
          <p:cNvSpPr txBox="1"/>
          <p:nvPr/>
        </p:nvSpPr>
        <p:spPr>
          <a:xfrm>
            <a:off x="8049344" y="584684"/>
            <a:ext cx="1856656" cy="127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관리자가 협력업체 정보의 승인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거절 관련 업무를 처리해야 하는 경우에만 해당 목록에 표시됨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해당 상황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신청완료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정보수정 요청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사업자번호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업체명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대표자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핸드폰번호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이메일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8D1E65F-2B82-4753-1CFF-1412A69F3FE1}"/>
              </a:ext>
            </a:extLst>
          </p:cNvPr>
          <p:cNvSpPr/>
          <p:nvPr/>
        </p:nvSpPr>
        <p:spPr>
          <a:xfrm>
            <a:off x="164468" y="403565"/>
            <a:ext cx="1080424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5C8BB26-F009-9EAC-F2B2-22EB93C43B21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E93EB46-179F-8CD0-B506-F7FDDE87D74B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CBD35B1-2A5A-2D71-BAF2-4E3094203563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BE0E43C-04E4-53EC-E2A7-AF4636FF251C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25F7897-340B-C732-6FD2-11E177FE665A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BF81349-6DD7-89ED-E8CE-3D580D9A1A7B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5" name="Picture 1">
            <a:extLst>
              <a:ext uri="{FF2B5EF4-FFF2-40B4-BE49-F238E27FC236}">
                <a16:creationId xmlns:a16="http://schemas.microsoft.com/office/drawing/2014/main" id="{506DD609-9D41-7CC7-BF14-0DC38E27D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7" name="직사각형 46">
            <a:extLst>
              <a:ext uri="{FF2B5EF4-FFF2-40B4-BE49-F238E27FC236}">
                <a16:creationId xmlns:a16="http://schemas.microsoft.com/office/drawing/2014/main" id="{BD2E9BEB-232B-93E6-E023-D96DDE71FC0D}"/>
              </a:ext>
            </a:extLst>
          </p:cNvPr>
          <p:cNvSpPr/>
          <p:nvPr/>
        </p:nvSpPr>
        <p:spPr>
          <a:xfrm>
            <a:off x="164468" y="834983"/>
            <a:ext cx="7740859" cy="124853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FEFA83-B79E-CE15-34EC-ED3C2A3BFF5A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신청일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08F308-6CF7-F3B0-E397-ED6275290F61}"/>
              </a:ext>
            </a:extLst>
          </p:cNvPr>
          <p:cNvSpPr txBox="1"/>
          <p:nvPr/>
        </p:nvSpPr>
        <p:spPr>
          <a:xfrm>
            <a:off x="235849" y="1204748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처리상태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신청완료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정보수정 요청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6AE802-819F-12BE-06F4-816C0BDC10F4}"/>
              </a:ext>
            </a:extLst>
          </p:cNvPr>
          <p:cNvSpPr txBox="1"/>
          <p:nvPr/>
        </p:nvSpPr>
        <p:spPr>
          <a:xfrm>
            <a:off x="235849" y="1767116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29811C81-F947-982D-5512-0F82D96CF8E3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42273EE-38A6-532A-5C62-DE0C800E644E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390B3C0-BD71-3624-8AFE-21EC59CAAEF6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6EB180FC-9864-B2ED-2578-7462B716F997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D3724AF-C7F5-9E0D-BCD3-8796ECB673FB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2BFC8F6-1133-BA64-8676-478EFECF3AD2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24C3AAF-9A15-4B41-9C47-C9F28FCDDE28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9EAF7E44-8D94-41F3-C4E5-D1BA7F4030DC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75ACC6A-F9CF-03F0-796D-8CD4498DD8D6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AFB9C503-31E9-BFDE-32FA-9F5083E37129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4234881-71FB-5586-2FB5-0577AD2DBBA0}"/>
              </a:ext>
            </a:extLst>
          </p:cNvPr>
          <p:cNvSpPr txBox="1"/>
          <p:nvPr/>
        </p:nvSpPr>
        <p:spPr>
          <a:xfrm>
            <a:off x="235849" y="1454449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신용평가등급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5BBD6BC-3D19-CEC1-9A46-B3234B88BA12}"/>
              </a:ext>
            </a:extLst>
          </p:cNvPr>
          <p:cNvSpPr/>
          <p:nvPr/>
        </p:nvSpPr>
        <p:spPr>
          <a:xfrm>
            <a:off x="1408523" y="1759971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7E3C1583-792A-9C6D-0E0C-16089F4B3DC1}"/>
              </a:ext>
            </a:extLst>
          </p:cNvPr>
          <p:cNvSpPr/>
          <p:nvPr/>
        </p:nvSpPr>
        <p:spPr>
          <a:xfrm>
            <a:off x="2218774" y="175997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BEBFDF03-6D0D-C4B4-8C70-F3CE27541A9E}"/>
              </a:ext>
            </a:extLst>
          </p:cNvPr>
          <p:cNvSpPr/>
          <p:nvPr/>
        </p:nvSpPr>
        <p:spPr>
          <a:xfrm>
            <a:off x="2533911" y="1759971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1AF55BF8-FBEF-111F-5076-87F69D7F86DF}"/>
              </a:ext>
            </a:extLst>
          </p:cNvPr>
          <p:cNvSpPr/>
          <p:nvPr/>
        </p:nvSpPr>
        <p:spPr>
          <a:xfrm>
            <a:off x="6241919" y="1759973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24E3650A-2532-0E1B-3525-1D75232E858A}"/>
              </a:ext>
            </a:extLst>
          </p:cNvPr>
          <p:cNvSpPr/>
          <p:nvPr/>
        </p:nvSpPr>
        <p:spPr>
          <a:xfrm>
            <a:off x="1408523" y="1474342"/>
            <a:ext cx="1082504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신용평가등급 선택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D8FCEB98-CD6B-5A62-783B-97F836B4DA65}"/>
              </a:ext>
            </a:extLst>
          </p:cNvPr>
          <p:cNvSpPr/>
          <p:nvPr/>
        </p:nvSpPr>
        <p:spPr>
          <a:xfrm>
            <a:off x="2490480" y="147434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5A6E354C-6432-6389-2AE0-84C41FA58CF6}"/>
              </a:ext>
            </a:extLst>
          </p:cNvPr>
          <p:cNvSpPr/>
          <p:nvPr/>
        </p:nvSpPr>
        <p:spPr>
          <a:xfrm>
            <a:off x="5856272" y="221461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302107B5-AD4E-DBC7-3257-E47932DB551B}"/>
              </a:ext>
            </a:extLst>
          </p:cNvPr>
          <p:cNvSpPr/>
          <p:nvPr/>
        </p:nvSpPr>
        <p:spPr>
          <a:xfrm>
            <a:off x="6677734" y="221461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C9ACE63-15D0-BFC1-A9BC-44408C42874B}"/>
              </a:ext>
            </a:extLst>
          </p:cNvPr>
          <p:cNvSpPr txBox="1"/>
          <p:nvPr/>
        </p:nvSpPr>
        <p:spPr>
          <a:xfrm>
            <a:off x="181506" y="2201097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8EAD3F0B-3FEE-76FC-CA48-1D30C52876FD}"/>
              </a:ext>
            </a:extLst>
          </p:cNvPr>
          <p:cNvSpPr/>
          <p:nvPr/>
        </p:nvSpPr>
        <p:spPr>
          <a:xfrm>
            <a:off x="6982990" y="2214615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04" name="표 103">
            <a:extLst>
              <a:ext uri="{FF2B5EF4-FFF2-40B4-BE49-F238E27FC236}">
                <a16:creationId xmlns:a16="http://schemas.microsoft.com/office/drawing/2014/main" id="{B4C3B2F2-3195-D9DA-DA46-B6F00CFAAA6A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2544567"/>
          <a:ext cx="7725426" cy="2027520"/>
        </p:xfrm>
        <a:graphic>
          <a:graphicData uri="http://schemas.openxmlformats.org/drawingml/2006/table">
            <a:tbl>
              <a:tblPr firstRow="1" bandRow="1"/>
              <a:tblGrid>
                <a:gridCol w="53970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92597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889583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858554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471500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500897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953275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219476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617325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749133">
                  <a:extLst>
                    <a:ext uri="{9D8B030D-6E8A-4147-A177-3AD203B41FA5}">
                      <a16:colId xmlns:a16="http://schemas.microsoft.com/office/drawing/2014/main" val="25238263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처리상태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사업자번호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대표자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핸드폰번호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이메일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신용평가등급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1,542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신청완료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삼전디에스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한지훈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010-1234-5678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1,541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정보수정 요청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넷퍼시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김미라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AAA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A66F4108-489C-5545-56B8-E238ED6EC926}"/>
              </a:ext>
            </a:extLst>
          </p:cNvPr>
          <p:cNvGrpSpPr/>
          <p:nvPr/>
        </p:nvGrpSpPr>
        <p:grpSpPr>
          <a:xfrm>
            <a:off x="2004219" y="4701977"/>
            <a:ext cx="4025354" cy="216024"/>
            <a:chOff x="2992062" y="4869160"/>
            <a:chExt cx="4025354" cy="216024"/>
          </a:xfrm>
        </p:grpSpPr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00D3FA24-66D5-AC44-C06E-E9A2A4D4B526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BCA1BBD8-9CA6-BA72-499A-97A46586458C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E2015C65-AA91-9B56-ED45-8E829464B4E2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1B78DAE1-A121-AF09-C17B-8CAA95BEAB6D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4DEDA89C-D629-2B45-BC4C-EC7B8116D068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EFA19EA4-776F-ECDA-BC58-2BC973D174ED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7EF5AB1D-A4C0-61AB-9589-1D61D34DA576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820661A4-8A2C-C866-122A-54553FFB034F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51687279-8923-BE9B-E3DB-180094EE87A6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3" name="직사각형 122">
              <a:extLst>
                <a:ext uri="{FF2B5EF4-FFF2-40B4-BE49-F238E27FC236}">
                  <a16:creationId xmlns:a16="http://schemas.microsoft.com/office/drawing/2014/main" id="{F15742D8-24EE-184F-6274-0DB6C0D337D1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D58E4876-5F50-7E26-1A5A-2399C009C5BA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E29697DF-7E65-7663-08BA-DBE3EE368178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6B1E9A52-F567-3242-7ABC-D54B61D3791E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A44D7945-6E2F-4EA5-B6B0-CDA90F13E420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45779E21-3DDC-B799-F8BC-A3F821926D3B}"/>
              </a:ext>
            </a:extLst>
          </p:cNvPr>
          <p:cNvSpPr/>
          <p:nvPr/>
        </p:nvSpPr>
        <p:spPr>
          <a:xfrm>
            <a:off x="-1690381" y="1098519"/>
            <a:ext cx="1467136" cy="79406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3BC1347-3CDB-C382-AF0A-E937429DF499}"/>
              </a:ext>
            </a:extLst>
          </p:cNvPr>
          <p:cNvSpPr/>
          <p:nvPr/>
        </p:nvSpPr>
        <p:spPr>
          <a:xfrm>
            <a:off x="19825" y="20790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CD81D949-FCAF-C2C2-5813-DA3C639A3AB1}"/>
              </a:ext>
            </a:extLst>
          </p:cNvPr>
          <p:cNvSpPr/>
          <p:nvPr/>
        </p:nvSpPr>
        <p:spPr>
          <a:xfrm>
            <a:off x="1307147" y="165333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3601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49883-D4CA-FEEF-9BC6-A621212C2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C9C230A-73EF-AE31-1EE1-EDE9626710E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EE71E4-9033-7DA7-35F8-7983CAC4624A}"/>
              </a:ext>
            </a:extLst>
          </p:cNvPr>
          <p:cNvSpPr txBox="1"/>
          <p:nvPr/>
        </p:nvSpPr>
        <p:spPr>
          <a:xfrm>
            <a:off x="749224" y="25608"/>
            <a:ext cx="27959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신청내역 확인 및 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DB7A5-C98C-6800-DA03-865C28632B1D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EDA9883-CE3E-0FF0-5EA8-F0F673F640D3}"/>
              </a:ext>
            </a:extLst>
          </p:cNvPr>
          <p:cNvSpPr/>
          <p:nvPr/>
        </p:nvSpPr>
        <p:spPr>
          <a:xfrm>
            <a:off x="200471" y="332656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신청내역 확인 및 처리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639B6FE-CCD9-7083-CE14-C97619FE9FA5}"/>
              </a:ext>
            </a:extLst>
          </p:cNvPr>
          <p:cNvSpPr/>
          <p:nvPr/>
        </p:nvSpPr>
        <p:spPr>
          <a:xfrm>
            <a:off x="200472" y="605566"/>
            <a:ext cx="7391698" cy="602779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4B7C2F-48E6-3546-8EFC-93480238B0BC}"/>
              </a:ext>
            </a:extLst>
          </p:cNvPr>
          <p:cNvSpPr/>
          <p:nvPr/>
        </p:nvSpPr>
        <p:spPr>
          <a:xfrm>
            <a:off x="7322170" y="332656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EA3EE5-8BD8-78AC-D971-AC0342D9E6F3}"/>
              </a:ext>
            </a:extLst>
          </p:cNvPr>
          <p:cNvSpPr/>
          <p:nvPr/>
        </p:nvSpPr>
        <p:spPr>
          <a:xfrm>
            <a:off x="7479889" y="606409"/>
            <a:ext cx="108012" cy="60269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195F19-3DCE-9F82-F11D-6CEEBA372A5A}"/>
              </a:ext>
            </a:extLst>
          </p:cNvPr>
          <p:cNvSpPr/>
          <p:nvPr/>
        </p:nvSpPr>
        <p:spPr>
          <a:xfrm>
            <a:off x="7479889" y="988187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95B6A67-D37A-E127-6D5F-704B933D1171}"/>
              </a:ext>
            </a:extLst>
          </p:cNvPr>
          <p:cNvSpPr/>
          <p:nvPr/>
        </p:nvSpPr>
        <p:spPr>
          <a:xfrm>
            <a:off x="337566" y="709948"/>
            <a:ext cx="1391407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신청내역 확인 및 처리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3F31659-DDA8-CABA-2CF4-EF26EFBE15A7}"/>
              </a:ext>
            </a:extLst>
          </p:cNvPr>
          <p:cNvSpPr/>
          <p:nvPr/>
        </p:nvSpPr>
        <p:spPr>
          <a:xfrm>
            <a:off x="337566" y="1066563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기본 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8DE1A957-3A4B-C5B1-DC48-A1119F85A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672985"/>
              </p:ext>
            </p:extLst>
          </p:nvPr>
        </p:nvGraphicFramePr>
        <p:xfrm>
          <a:off x="338566" y="1365022"/>
          <a:ext cx="6983604" cy="23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64553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 번호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135-82-77202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회사명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대표자명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이홍태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윤지병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전화번호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02-833-1650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IT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인프라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소프트웨어개발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주소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(12654)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경기도 고양시 일산서구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강선로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118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강선마을아파트 제208동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1202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539375"/>
                  </a:ext>
                </a:extLst>
              </a:tr>
            </a:tbl>
          </a:graphicData>
        </a:graphic>
      </p:graphicFrame>
      <p:sp>
        <p:nvSpPr>
          <p:cNvPr id="24" name="직사각형 23">
            <a:extLst>
              <a:ext uri="{FF2B5EF4-FFF2-40B4-BE49-F238E27FC236}">
                <a16:creationId xmlns:a16="http://schemas.microsoft.com/office/drawing/2014/main" id="{E36723A4-92F6-6ED1-F7A6-62EB4DC6EABF}"/>
              </a:ext>
            </a:extLst>
          </p:cNvPr>
          <p:cNvSpPr/>
          <p:nvPr/>
        </p:nvSpPr>
        <p:spPr>
          <a:xfrm>
            <a:off x="337566" y="3815341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관련 증빙서류</a:t>
            </a: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DFF1803E-4052-DA4D-1554-5E7C38EFD8BD}"/>
              </a:ext>
            </a:extLst>
          </p:cNvPr>
          <p:cNvGraphicFramePr>
            <a:graphicFrameLocks noGrp="1"/>
          </p:cNvGraphicFramePr>
          <p:nvPr/>
        </p:nvGraphicFramePr>
        <p:xfrm>
          <a:off x="338566" y="4113800"/>
          <a:ext cx="6983604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64553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사업자등록증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이미 등록된 파일명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법인인감증명서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16893462-6106-86CB-C0F3-DACB6E6B0295}"/>
              </a:ext>
            </a:extLst>
          </p:cNvPr>
          <p:cNvSpPr/>
          <p:nvPr/>
        </p:nvSpPr>
        <p:spPr>
          <a:xfrm>
            <a:off x="206357" y="6453296"/>
            <a:ext cx="7269263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4063DA6D-8711-4FC7-BD50-699850BD8672}"/>
              </a:ext>
            </a:extLst>
          </p:cNvPr>
          <p:cNvGraphicFramePr>
            <a:graphicFrameLocks noGrp="1"/>
          </p:cNvGraphicFramePr>
          <p:nvPr/>
        </p:nvGraphicFramePr>
        <p:xfrm>
          <a:off x="338566" y="4784918"/>
          <a:ext cx="6983604" cy="3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64553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면허 등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22984"/>
                  </a:ext>
                </a:extLst>
              </a:tr>
            </a:tbl>
          </a:graphicData>
        </a:graphic>
      </p:graphicFrame>
      <p:sp>
        <p:nvSpPr>
          <p:cNvPr id="35" name="직사각형 34">
            <a:extLst>
              <a:ext uri="{FF2B5EF4-FFF2-40B4-BE49-F238E27FC236}">
                <a16:creationId xmlns:a16="http://schemas.microsoft.com/office/drawing/2014/main" id="{229E5791-6932-E875-AF1A-FE395C4F7611}"/>
              </a:ext>
            </a:extLst>
          </p:cNvPr>
          <p:cNvSpPr/>
          <p:nvPr/>
        </p:nvSpPr>
        <p:spPr>
          <a:xfrm>
            <a:off x="337566" y="5231083"/>
            <a:ext cx="317527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신용평가등급 관련 정보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 시점 기준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4E887437-C790-C09F-9293-9B530125E09B}"/>
              </a:ext>
            </a:extLst>
          </p:cNvPr>
          <p:cNvGraphicFramePr>
            <a:graphicFrameLocks noGrp="1"/>
          </p:cNvGraphicFramePr>
          <p:nvPr/>
        </p:nvGraphicFramePr>
        <p:xfrm>
          <a:off x="338566" y="5531688"/>
          <a:ext cx="6983604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64553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BB0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신용평가등급 확인서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</a:tbl>
          </a:graphicData>
        </a:graphic>
      </p:graphicFrame>
      <p:grpSp>
        <p:nvGrpSpPr>
          <p:cNvPr id="38" name="그룹 37">
            <a:extLst>
              <a:ext uri="{FF2B5EF4-FFF2-40B4-BE49-F238E27FC236}">
                <a16:creationId xmlns:a16="http://schemas.microsoft.com/office/drawing/2014/main" id="{27AF7A73-F380-78BB-279A-E576D3284EFF}"/>
              </a:ext>
            </a:extLst>
          </p:cNvPr>
          <p:cNvGrpSpPr/>
          <p:nvPr/>
        </p:nvGrpSpPr>
        <p:grpSpPr>
          <a:xfrm>
            <a:off x="2933776" y="4181159"/>
            <a:ext cx="1278892" cy="198885"/>
            <a:chOff x="2753758" y="5299222"/>
            <a:chExt cx="1278892" cy="198885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E1860D72-C8AE-419E-3594-DEB2ADDBC1C3}"/>
                </a:ext>
              </a:extLst>
            </p:cNvPr>
            <p:cNvSpPr/>
            <p:nvPr/>
          </p:nvSpPr>
          <p:spPr>
            <a:xfrm>
              <a:off x="2753758" y="5299222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A47DAEEE-969C-DB14-748E-534E724285F7}"/>
                </a:ext>
              </a:extLst>
            </p:cNvPr>
            <p:cNvSpPr/>
            <p:nvPr/>
          </p:nvSpPr>
          <p:spPr>
            <a:xfrm>
              <a:off x="3419685" y="5299222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4FB7AC1-5397-AC22-48AD-2EE2517B8423}"/>
              </a:ext>
            </a:extLst>
          </p:cNvPr>
          <p:cNvGrpSpPr/>
          <p:nvPr/>
        </p:nvGrpSpPr>
        <p:grpSpPr>
          <a:xfrm>
            <a:off x="2933776" y="4507634"/>
            <a:ext cx="1278892" cy="198885"/>
            <a:chOff x="2753758" y="5299222"/>
            <a:chExt cx="1278892" cy="198885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44E6C22-26D2-B289-7657-13236A5FB63D}"/>
                </a:ext>
              </a:extLst>
            </p:cNvPr>
            <p:cNvSpPr/>
            <p:nvPr/>
          </p:nvSpPr>
          <p:spPr>
            <a:xfrm>
              <a:off x="2753758" y="5299222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5F6B27D-633E-AAC2-1B03-B5D6E480B09D}"/>
                </a:ext>
              </a:extLst>
            </p:cNvPr>
            <p:cNvSpPr/>
            <p:nvPr/>
          </p:nvSpPr>
          <p:spPr>
            <a:xfrm>
              <a:off x="3419685" y="5299222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B766088C-442E-0406-4CD4-66E6ADCC37B0}"/>
              </a:ext>
            </a:extLst>
          </p:cNvPr>
          <p:cNvGrpSpPr/>
          <p:nvPr/>
        </p:nvGrpSpPr>
        <p:grpSpPr>
          <a:xfrm>
            <a:off x="2933776" y="4845149"/>
            <a:ext cx="1278892" cy="198885"/>
            <a:chOff x="2753758" y="5299222"/>
            <a:chExt cx="1278892" cy="198885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79FE6DDC-F935-A21E-60CD-E64DE123B814}"/>
                </a:ext>
              </a:extLst>
            </p:cNvPr>
            <p:cNvSpPr/>
            <p:nvPr/>
          </p:nvSpPr>
          <p:spPr>
            <a:xfrm>
              <a:off x="2753758" y="5299222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B8EDEF28-0227-E5EE-7EFE-12E6E2FFB6E6}"/>
                </a:ext>
              </a:extLst>
            </p:cNvPr>
            <p:cNvSpPr/>
            <p:nvPr/>
          </p:nvSpPr>
          <p:spPr>
            <a:xfrm>
              <a:off x="3419685" y="5299222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D15FA6C5-B8D8-9261-716D-D75FEA16D2E3}"/>
              </a:ext>
            </a:extLst>
          </p:cNvPr>
          <p:cNvGrpSpPr/>
          <p:nvPr/>
        </p:nvGrpSpPr>
        <p:grpSpPr>
          <a:xfrm>
            <a:off x="2933776" y="5930074"/>
            <a:ext cx="1278892" cy="198885"/>
            <a:chOff x="2753758" y="5299222"/>
            <a:chExt cx="1278892" cy="198885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63898DC2-5FF2-F3D4-5FA0-109F1DCCB2F7}"/>
                </a:ext>
              </a:extLst>
            </p:cNvPr>
            <p:cNvSpPr/>
            <p:nvPr/>
          </p:nvSpPr>
          <p:spPr>
            <a:xfrm>
              <a:off x="2753758" y="5299222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45FD1F51-348B-82AD-7A9A-A0467B66B610}"/>
                </a:ext>
              </a:extLst>
            </p:cNvPr>
            <p:cNvSpPr/>
            <p:nvPr/>
          </p:nvSpPr>
          <p:spPr>
            <a:xfrm>
              <a:off x="3419685" y="5299222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5839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67B98-10FC-BD48-9F25-91EF7539C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8702CB3-AE97-7928-94E9-A4913A84F2B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F53E5B-F98A-78C4-5B25-600B41FCC242}"/>
              </a:ext>
            </a:extLst>
          </p:cNvPr>
          <p:cNvSpPr txBox="1"/>
          <p:nvPr/>
        </p:nvSpPr>
        <p:spPr>
          <a:xfrm>
            <a:off x="749224" y="25608"/>
            <a:ext cx="27959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신청내역 확인 및 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9CB010-5F1D-B187-AEE5-55CC7E21FA61}"/>
              </a:ext>
            </a:extLst>
          </p:cNvPr>
          <p:cNvSpPr txBox="1"/>
          <p:nvPr/>
        </p:nvSpPr>
        <p:spPr>
          <a:xfrm>
            <a:off x="8049344" y="584684"/>
            <a:ext cx="1856656" cy="451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buFont typeface="+mj-ea"/>
              <a:buAutoNum type="circleNumDbPlain"/>
            </a:pPr>
            <a:r>
              <a:rPr 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승인 처리되면 본 메뉴의 목록에는 보이지 않고, 협력업체 관리로 승인 처리되어 </a:t>
            </a:r>
            <a:r>
              <a:rPr 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넘어감</a:t>
            </a:r>
            <a:br>
              <a:rPr dirty="0"/>
            </a:br>
            <a:br>
              <a:rPr dirty="0"/>
            </a:br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Confirm Box</a:t>
            </a:r>
            <a:br>
              <a:rPr dirty="0"/>
            </a:br>
            <a:r>
              <a:rPr 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“협력업체로 승인 </a:t>
            </a:r>
            <a:r>
              <a:rPr lang="ko-KR" sz="8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처리하시겠습니까</a:t>
            </a:r>
            <a:r>
              <a:rPr 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?”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승인 시 고객 통보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: MSG-003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</a:br>
            <a:endParaRPr 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/>
              <a:ea typeface="나눔고딕"/>
            </a:endParaRPr>
          </a:p>
          <a:p>
            <a:pPr marL="108000" indent="-108000" algn="l">
              <a:lnSpc>
                <a:spcPct val="130000"/>
              </a:lnSpc>
              <a:buFont typeface="+mj-ea"/>
              <a:buAutoNum type="circleNumDbPlain"/>
            </a:pPr>
            <a:r>
              <a:rPr 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신규 신청과 협력업체 기본 정보 수정 요청 시의 거절 처리 방법이 다름.</a:t>
            </a:r>
            <a:br>
              <a:rPr dirty="0"/>
            </a:br>
            <a:br>
              <a:rPr dirty="0"/>
            </a:br>
            <a:r>
              <a:rPr 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신규 신청: 거절 시 정보 삭제(재신청 가능)</a:t>
            </a:r>
            <a:br>
              <a:rPr dirty="0"/>
            </a:br>
            <a:br>
              <a:rPr dirty="0"/>
            </a:br>
            <a:r>
              <a:rPr 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협력업체 기본 정보 수정 요청: 거절 시 수정되기 이전의 정보로 복원(재신청 가능)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</a:b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/>
              <a:ea typeface="나눔고딕"/>
            </a:endParaRPr>
          </a:p>
          <a:p>
            <a:pPr marL="108000" indent="-108000" algn="l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협력업체 신청 건에 대한 거절 처리 시 고객 통보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: MSG-004</a:t>
            </a:r>
          </a:p>
          <a:p>
            <a:pPr marL="108000" indent="-108000" algn="l">
              <a:lnSpc>
                <a:spcPct val="130000"/>
              </a:lnSpc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협력업체 기본 정보 수정 요청 건에 대한 거절 처리 시 고객 통보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: MSG-005</a:t>
            </a:r>
            <a:endParaRPr 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/>
              <a:ea typeface="나눔고딕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9582D0D-0160-92A1-B57C-4A9D50354C0B}"/>
              </a:ext>
            </a:extLst>
          </p:cNvPr>
          <p:cNvSpPr/>
          <p:nvPr/>
        </p:nvSpPr>
        <p:spPr>
          <a:xfrm>
            <a:off x="200472" y="368660"/>
            <a:ext cx="7391698" cy="30603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DC4C0EB-B36F-1D5F-8249-376CCCAD1954}"/>
              </a:ext>
            </a:extLst>
          </p:cNvPr>
          <p:cNvSpPr/>
          <p:nvPr/>
        </p:nvSpPr>
        <p:spPr>
          <a:xfrm>
            <a:off x="7479889" y="369538"/>
            <a:ext cx="108012" cy="305989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582DE71-96A7-46C9-CADF-ED3862784E30}"/>
              </a:ext>
            </a:extLst>
          </p:cNvPr>
          <p:cNvSpPr/>
          <p:nvPr/>
        </p:nvSpPr>
        <p:spPr>
          <a:xfrm>
            <a:off x="7479889" y="988187"/>
            <a:ext cx="108012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51FAE26-1466-95CE-917A-35473FA3622E}"/>
              </a:ext>
            </a:extLst>
          </p:cNvPr>
          <p:cNvSpPr/>
          <p:nvPr/>
        </p:nvSpPr>
        <p:spPr>
          <a:xfrm>
            <a:off x="337566" y="478674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 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82EFA1E1-FBFC-F51D-3865-4853207E5D4B}"/>
              </a:ext>
            </a:extLst>
          </p:cNvPr>
          <p:cNvGraphicFramePr>
            <a:graphicFrameLocks noGrp="1"/>
          </p:cNvGraphicFramePr>
          <p:nvPr/>
        </p:nvGraphicFramePr>
        <p:xfrm>
          <a:off x="338566" y="777133"/>
          <a:ext cx="6983604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64553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이희성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이메일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핸드폰번호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010-6844-2810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2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직책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부장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담당업무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PM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및 기획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전화번호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02-6959-9857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7EC90530-6532-BEE7-2487-48E876D4FAFC}"/>
              </a:ext>
            </a:extLst>
          </p:cNvPr>
          <p:cNvSpPr/>
          <p:nvPr/>
        </p:nvSpPr>
        <p:spPr>
          <a:xfrm>
            <a:off x="6422266" y="2940112"/>
            <a:ext cx="897754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거절 처리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6ADBF8E-2C5D-D854-A08F-44A5026CA220}"/>
              </a:ext>
            </a:extLst>
          </p:cNvPr>
          <p:cNvSpPr/>
          <p:nvPr/>
        </p:nvSpPr>
        <p:spPr>
          <a:xfrm>
            <a:off x="5462905" y="2940112"/>
            <a:ext cx="89775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승인 처리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91B168E-04F9-D565-9506-D436C0B52552}"/>
              </a:ext>
            </a:extLst>
          </p:cNvPr>
          <p:cNvSpPr/>
          <p:nvPr/>
        </p:nvSpPr>
        <p:spPr>
          <a:xfrm>
            <a:off x="200472" y="3985063"/>
            <a:ext cx="3816424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거절 처리 시 유의사항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025ADE7-BEB1-E1FD-72C7-CF1806ECDF65}"/>
              </a:ext>
            </a:extLst>
          </p:cNvPr>
          <p:cNvSpPr/>
          <p:nvPr/>
        </p:nvSpPr>
        <p:spPr>
          <a:xfrm>
            <a:off x="200472" y="4257975"/>
            <a:ext cx="3816424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5104191-44DE-86D1-0B23-779A2DC3E659}"/>
              </a:ext>
            </a:extLst>
          </p:cNvPr>
          <p:cNvSpPr/>
          <p:nvPr/>
        </p:nvSpPr>
        <p:spPr>
          <a:xfrm>
            <a:off x="3746896" y="3985063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62196A6-95F9-155A-5C2F-6F5621095B64}"/>
              </a:ext>
            </a:extLst>
          </p:cNvPr>
          <p:cNvSpPr/>
          <p:nvPr/>
        </p:nvSpPr>
        <p:spPr>
          <a:xfrm>
            <a:off x="308251" y="4671363"/>
            <a:ext cx="3600633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신규 신청 건에 대한 거절 처리 시 </a:t>
            </a:r>
            <a:b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협력업체의 신청 정보가 모두 삭제됩니다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 후 해당 업체는 다시 협력업체 신청을 할 수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 후 정보 수정을 요구하여 처리하실 수도 있습니다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dirty="0">
              <a:solidFill>
                <a:srgbClr val="0070C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2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EBB13AF4-ABFA-A552-8CAA-AC906AE4E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73" y="4827984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직사각형 52">
            <a:extLst>
              <a:ext uri="{FF2B5EF4-FFF2-40B4-BE49-F238E27FC236}">
                <a16:creationId xmlns:a16="http://schemas.microsoft.com/office/drawing/2014/main" id="{B604288C-2C8F-CE99-52D1-EB2D5C02C64A}"/>
              </a:ext>
            </a:extLst>
          </p:cNvPr>
          <p:cNvSpPr/>
          <p:nvPr/>
        </p:nvSpPr>
        <p:spPr>
          <a:xfrm>
            <a:off x="331692" y="4354364"/>
            <a:ext cx="1391407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거절 처리 시 유의사항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6CFCA9D-14B4-393A-E240-09106CF1B349}"/>
              </a:ext>
            </a:extLst>
          </p:cNvPr>
          <p:cNvSpPr/>
          <p:nvPr/>
        </p:nvSpPr>
        <p:spPr>
          <a:xfrm>
            <a:off x="3011130" y="5662362"/>
            <a:ext cx="897754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닫기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E569837D-7119-C1FD-5A1D-4D838CB316D1}"/>
              </a:ext>
            </a:extLst>
          </p:cNvPr>
          <p:cNvCxnSpPr>
            <a:cxnSpLocks/>
            <a:stCxn id="34" idx="2"/>
            <a:endCxn id="48" idx="0"/>
          </p:cNvCxnSpPr>
          <p:nvPr/>
        </p:nvCxnSpPr>
        <p:spPr>
          <a:xfrm rot="5400000">
            <a:off x="4111455" y="1225374"/>
            <a:ext cx="756919" cy="4762459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4EE6018-58B4-BD26-F74D-2C041B954C73}"/>
              </a:ext>
            </a:extLst>
          </p:cNvPr>
          <p:cNvSpPr/>
          <p:nvPr/>
        </p:nvSpPr>
        <p:spPr>
          <a:xfrm>
            <a:off x="4124908" y="3985063"/>
            <a:ext cx="3816424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거절 처리 시 유의사항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9AD4805-2391-9720-6B00-E316254E8DF6}"/>
              </a:ext>
            </a:extLst>
          </p:cNvPr>
          <p:cNvSpPr/>
          <p:nvPr/>
        </p:nvSpPr>
        <p:spPr>
          <a:xfrm>
            <a:off x="4124908" y="4257975"/>
            <a:ext cx="3816424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0D96488C-3B5D-1FC4-D757-8D7448FBE0A2}"/>
              </a:ext>
            </a:extLst>
          </p:cNvPr>
          <p:cNvSpPr/>
          <p:nvPr/>
        </p:nvSpPr>
        <p:spPr>
          <a:xfrm>
            <a:off x="7671332" y="3985063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94789E7E-8905-3528-9BF7-EA429738D3A7}"/>
              </a:ext>
            </a:extLst>
          </p:cNvPr>
          <p:cNvSpPr/>
          <p:nvPr/>
        </p:nvSpPr>
        <p:spPr>
          <a:xfrm>
            <a:off x="4232687" y="4671363"/>
            <a:ext cx="3600633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lvl="0" algn="l">
              <a:lnSpc>
                <a:spcPct val="130000"/>
              </a:lnSpc>
              <a:defRPr/>
            </a:pPr>
            <a:r>
              <a:rPr lang="ko-KR" sz="800">
                <a:solidFill>
                  <a:srgbClr val="0070C0"/>
                </a:solidFill>
                <a:latin typeface="나눔고딕"/>
                <a:ea typeface="나눔고딕"/>
              </a:rPr>
              <a:t>협력업체의 정보 수정 요청 건에 대한 거절 처리 시 </a:t>
            </a:r>
            <a:br/>
            <a:r>
              <a:rPr lang="ko-KR" sz="800">
                <a:solidFill>
                  <a:srgbClr val="0070C0"/>
                </a:solidFill>
                <a:latin typeface="나눔고딕"/>
                <a:ea typeface="나눔고딕"/>
              </a:rPr>
              <a:t>수정 전의 정보로 복원됩니다.</a:t>
            </a:r>
          </a:p>
          <a:p>
            <a:pPr lvl="0" algn="l">
              <a:lnSpc>
                <a:spcPct val="130000"/>
              </a:lnSpc>
              <a:defRPr/>
            </a:pPr>
            <a:r>
              <a:rPr 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거절 후 해당 업체는 다시 정보 변경을 요청할 수 있습니다.</a:t>
            </a:r>
          </a:p>
        </p:txBody>
      </p:sp>
      <p:pic>
        <p:nvPicPr>
          <p:cNvPr id="64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1E4D3100-4857-33C4-67FE-C65C40058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809" y="4827984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직사각형 64">
            <a:extLst>
              <a:ext uri="{FF2B5EF4-FFF2-40B4-BE49-F238E27FC236}">
                <a16:creationId xmlns:a16="http://schemas.microsoft.com/office/drawing/2014/main" id="{5B0E5F75-C1B8-326C-8D07-28A054CFA053}"/>
              </a:ext>
            </a:extLst>
          </p:cNvPr>
          <p:cNvSpPr/>
          <p:nvPr/>
        </p:nvSpPr>
        <p:spPr>
          <a:xfrm>
            <a:off x="4256128" y="4354364"/>
            <a:ext cx="1391407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거절 처리 시 유의사항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B2338C1F-B8B1-BE21-CEE0-205A1A4F7ABB}"/>
              </a:ext>
            </a:extLst>
          </p:cNvPr>
          <p:cNvSpPr/>
          <p:nvPr/>
        </p:nvSpPr>
        <p:spPr>
          <a:xfrm>
            <a:off x="6935566" y="5662362"/>
            <a:ext cx="897754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닫기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8AB9F95-725D-E531-6979-DF4203B1F2CC}"/>
              </a:ext>
            </a:extLst>
          </p:cNvPr>
          <p:cNvSpPr/>
          <p:nvPr/>
        </p:nvSpPr>
        <p:spPr>
          <a:xfrm>
            <a:off x="2059370" y="5662362"/>
            <a:ext cx="89775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거절 처리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C6F62AE8-7EB5-7ECC-CF37-36EE03C0FAF5}"/>
              </a:ext>
            </a:extLst>
          </p:cNvPr>
          <p:cNvSpPr/>
          <p:nvPr/>
        </p:nvSpPr>
        <p:spPr>
          <a:xfrm>
            <a:off x="5983806" y="5662362"/>
            <a:ext cx="89775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거절 처리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0" name="연결선: 꺾임 69">
            <a:extLst>
              <a:ext uri="{FF2B5EF4-FFF2-40B4-BE49-F238E27FC236}">
                <a16:creationId xmlns:a16="http://schemas.microsoft.com/office/drawing/2014/main" id="{64BEE96F-3D4C-3AF8-0423-711D0AFFD417}"/>
              </a:ext>
            </a:extLst>
          </p:cNvPr>
          <p:cNvCxnSpPr>
            <a:cxnSpLocks/>
            <a:stCxn id="34" idx="2"/>
            <a:endCxn id="60" idx="0"/>
          </p:cNvCxnSpPr>
          <p:nvPr/>
        </p:nvCxnSpPr>
        <p:spPr>
          <a:xfrm rot="5400000">
            <a:off x="6073673" y="3187592"/>
            <a:ext cx="756919" cy="838023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타원 2">
            <a:extLst>
              <a:ext uri="{FF2B5EF4-FFF2-40B4-BE49-F238E27FC236}">
                <a16:creationId xmlns:a16="http://schemas.microsoft.com/office/drawing/2014/main" id="{C89B8EF6-7881-7BDA-3412-9F4EF627236A}"/>
              </a:ext>
            </a:extLst>
          </p:cNvPr>
          <p:cNvSpPr/>
          <p:nvPr/>
        </p:nvSpPr>
        <p:spPr>
          <a:xfrm>
            <a:off x="5350624" y="282424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F7425CD-53A1-9463-2B68-34DF79536807}"/>
              </a:ext>
            </a:extLst>
          </p:cNvPr>
          <p:cNvSpPr/>
          <p:nvPr/>
        </p:nvSpPr>
        <p:spPr>
          <a:xfrm>
            <a:off x="77525" y="387548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FAA1F73-1C72-B837-1578-CE213118C87F}"/>
              </a:ext>
            </a:extLst>
          </p:cNvPr>
          <p:cNvSpPr/>
          <p:nvPr/>
        </p:nvSpPr>
        <p:spPr>
          <a:xfrm>
            <a:off x="4083840" y="387548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76B3629-7823-3DFE-139C-2BB64F13A747}"/>
              </a:ext>
            </a:extLst>
          </p:cNvPr>
          <p:cNvSpPr/>
          <p:nvPr/>
        </p:nvSpPr>
        <p:spPr>
          <a:xfrm>
            <a:off x="1931179" y="560664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94B4FEBC-616C-DE84-5469-3318E7FE55B7}"/>
              </a:ext>
            </a:extLst>
          </p:cNvPr>
          <p:cNvSpPr/>
          <p:nvPr/>
        </p:nvSpPr>
        <p:spPr>
          <a:xfrm>
            <a:off x="5848791" y="5606644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6808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0E440-733E-137C-E3D4-1AB4C2A34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5F40360-B1EA-15D0-BF09-365C2E27EC4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C464C0-8F41-6689-C9E4-2FAD945E9E25}"/>
              </a:ext>
            </a:extLst>
          </p:cNvPr>
          <p:cNvSpPr txBox="1"/>
          <p:nvPr/>
        </p:nvSpPr>
        <p:spPr>
          <a:xfrm>
            <a:off x="749224" y="25608"/>
            <a:ext cx="20072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7A6B08-B5AB-A2EC-E8BA-DEE036319168}"/>
              </a:ext>
            </a:extLst>
          </p:cNvPr>
          <p:cNvSpPr txBox="1"/>
          <p:nvPr/>
        </p:nvSpPr>
        <p:spPr>
          <a:xfrm>
            <a:off x="8049344" y="584684"/>
            <a:ext cx="1856656" cy="794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승인된 건만 본 협력업체 관리 목록에서 조회될 수 있음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사업자번호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업체명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대표자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핸드폰번호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이메일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925DFB9-2588-7BFE-12A7-7310E4C03841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91DB4FBB-6292-2905-E4E7-56A2B9184E9C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79B1C3F-6020-0D9D-28B8-83EA1C0E7F0D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C35500C-F779-FD29-09DF-6BE0744636E8}"/>
              </a:ext>
            </a:extLst>
          </p:cNvPr>
          <p:cNvSpPr/>
          <p:nvPr/>
        </p:nvSpPr>
        <p:spPr>
          <a:xfrm>
            <a:off x="164468" y="834984"/>
            <a:ext cx="7740859" cy="126646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C0F306-B73C-725E-E2BF-BA4EC937A4D1}"/>
              </a:ext>
            </a:extLst>
          </p:cNvPr>
          <p:cNvSpPr txBox="1"/>
          <p:nvPr/>
        </p:nvSpPr>
        <p:spPr>
          <a:xfrm>
            <a:off x="235850" y="942029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신청일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CFB1D9-601E-4096-E163-A206262BF3AE}"/>
              </a:ext>
            </a:extLst>
          </p:cNvPr>
          <p:cNvSpPr txBox="1"/>
          <p:nvPr/>
        </p:nvSpPr>
        <p:spPr>
          <a:xfrm>
            <a:off x="235849" y="1756771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C16A9E3-281B-FB3F-3922-DEB0BA3CBD24}"/>
              </a:ext>
            </a:extLst>
          </p:cNvPr>
          <p:cNvSpPr/>
          <p:nvPr/>
        </p:nvSpPr>
        <p:spPr>
          <a:xfrm>
            <a:off x="4683665" y="92962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F3AE6F6-D373-FD8D-BB41-F7209632DD34}"/>
              </a:ext>
            </a:extLst>
          </p:cNvPr>
          <p:cNvSpPr/>
          <p:nvPr/>
        </p:nvSpPr>
        <p:spPr>
          <a:xfrm>
            <a:off x="5493916" y="92963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26D3947-5AEB-F677-B233-F71150114D84}"/>
              </a:ext>
            </a:extLst>
          </p:cNvPr>
          <p:cNvSpPr/>
          <p:nvPr/>
        </p:nvSpPr>
        <p:spPr>
          <a:xfrm>
            <a:off x="5907171" y="929628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85D2546-B493-6F79-CC3D-BB1BB812728B}"/>
              </a:ext>
            </a:extLst>
          </p:cNvPr>
          <p:cNvSpPr/>
          <p:nvPr/>
        </p:nvSpPr>
        <p:spPr>
          <a:xfrm>
            <a:off x="6717422" y="929630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BA03D3BA-A16D-C978-EEF2-DF86E62BE18D}"/>
              </a:ext>
            </a:extLst>
          </p:cNvPr>
          <p:cNvSpPr/>
          <p:nvPr/>
        </p:nvSpPr>
        <p:spPr>
          <a:xfrm>
            <a:off x="1393889" y="92962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132E2F1-6759-A6D1-710F-D4E01530A621}"/>
              </a:ext>
            </a:extLst>
          </p:cNvPr>
          <p:cNvSpPr/>
          <p:nvPr/>
        </p:nvSpPr>
        <p:spPr>
          <a:xfrm>
            <a:off x="1942458" y="92962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1F64591-14CF-211B-F5B2-08F9288C1752}"/>
              </a:ext>
            </a:extLst>
          </p:cNvPr>
          <p:cNvSpPr/>
          <p:nvPr/>
        </p:nvSpPr>
        <p:spPr>
          <a:xfrm>
            <a:off x="2491027" y="92962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2659377-20DB-4B6A-AED2-A97D793DE3C0}"/>
              </a:ext>
            </a:extLst>
          </p:cNvPr>
          <p:cNvSpPr/>
          <p:nvPr/>
        </p:nvSpPr>
        <p:spPr>
          <a:xfrm>
            <a:off x="3039596" y="92962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AD85C30-4B48-E9B6-6BC1-A730244C8CB9}"/>
              </a:ext>
            </a:extLst>
          </p:cNvPr>
          <p:cNvSpPr/>
          <p:nvPr/>
        </p:nvSpPr>
        <p:spPr>
          <a:xfrm>
            <a:off x="3588165" y="92962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F02A455-5C3B-2BF1-AFB6-DD529A0433B9}"/>
              </a:ext>
            </a:extLst>
          </p:cNvPr>
          <p:cNvSpPr/>
          <p:nvPr/>
        </p:nvSpPr>
        <p:spPr>
          <a:xfrm>
            <a:off x="4136733" y="929628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9D1A57-A30E-24CC-D5B3-D5C1C37E8868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59023D-C4C0-2F28-CE0D-E0AFEAAF4F07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1DD0DA7-94BF-B5B8-4B87-828AC18ACAE8}"/>
              </a:ext>
            </a:extLst>
          </p:cNvPr>
          <p:cNvSpPr/>
          <p:nvPr/>
        </p:nvSpPr>
        <p:spPr>
          <a:xfrm>
            <a:off x="-529236" y="798199"/>
            <a:ext cx="303624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-</a:t>
            </a:r>
            <a:endParaRPr kumimoji="1"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5435DC6-C68B-5D35-6272-ACEE8CAABAA7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5" name="Picture 1">
            <a:extLst>
              <a:ext uri="{FF2B5EF4-FFF2-40B4-BE49-F238E27FC236}">
                <a16:creationId xmlns:a16="http://schemas.microsoft.com/office/drawing/2014/main" id="{456266B4-4C30-0B1E-B22A-7979ADD24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71" name="TextBox 170">
            <a:extLst>
              <a:ext uri="{FF2B5EF4-FFF2-40B4-BE49-F238E27FC236}">
                <a16:creationId xmlns:a16="http://schemas.microsoft.com/office/drawing/2014/main" id="{71EF345B-CC86-435C-DFDC-6365441915B4}"/>
              </a:ext>
            </a:extLst>
          </p:cNvPr>
          <p:cNvSpPr txBox="1"/>
          <p:nvPr/>
        </p:nvSpPr>
        <p:spPr>
          <a:xfrm>
            <a:off x="235849" y="1443021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신용평가등급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7A22761B-BBE9-0E0B-0452-12C29F680138}"/>
              </a:ext>
            </a:extLst>
          </p:cNvPr>
          <p:cNvSpPr/>
          <p:nvPr/>
        </p:nvSpPr>
        <p:spPr>
          <a:xfrm>
            <a:off x="1408523" y="1749626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09B567B1-C4F6-6A87-E3A1-2DF0A71FA56B}"/>
              </a:ext>
            </a:extLst>
          </p:cNvPr>
          <p:cNvSpPr/>
          <p:nvPr/>
        </p:nvSpPr>
        <p:spPr>
          <a:xfrm>
            <a:off x="2218774" y="174962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77" name="직사각형 176">
            <a:extLst>
              <a:ext uri="{FF2B5EF4-FFF2-40B4-BE49-F238E27FC236}">
                <a16:creationId xmlns:a16="http://schemas.microsoft.com/office/drawing/2014/main" id="{64377778-444C-DEF1-8306-4EA308493834}"/>
              </a:ext>
            </a:extLst>
          </p:cNvPr>
          <p:cNvSpPr/>
          <p:nvPr/>
        </p:nvSpPr>
        <p:spPr>
          <a:xfrm>
            <a:off x="2533911" y="1749626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F9161187-82BA-122C-143C-3EEDE8BE243D}"/>
              </a:ext>
            </a:extLst>
          </p:cNvPr>
          <p:cNvSpPr/>
          <p:nvPr/>
        </p:nvSpPr>
        <p:spPr>
          <a:xfrm>
            <a:off x="6241919" y="1749628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47FD66DE-81C4-B022-CC30-748341BCDAFF}"/>
              </a:ext>
            </a:extLst>
          </p:cNvPr>
          <p:cNvSpPr/>
          <p:nvPr/>
        </p:nvSpPr>
        <p:spPr>
          <a:xfrm>
            <a:off x="1408523" y="1462914"/>
            <a:ext cx="1082504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신용평가등급 선택</a:t>
            </a: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F92D60C2-77F8-84C6-AF8B-D3287D1918A0}"/>
              </a:ext>
            </a:extLst>
          </p:cNvPr>
          <p:cNvSpPr/>
          <p:nvPr/>
        </p:nvSpPr>
        <p:spPr>
          <a:xfrm>
            <a:off x="2490480" y="1462916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3866FD5D-9931-696F-4F06-1A095507A73E}"/>
              </a:ext>
            </a:extLst>
          </p:cNvPr>
          <p:cNvSpPr/>
          <p:nvPr/>
        </p:nvSpPr>
        <p:spPr>
          <a:xfrm>
            <a:off x="5856272" y="222007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98612FC6-6ED4-4922-23FB-C9DA973CE5EA}"/>
              </a:ext>
            </a:extLst>
          </p:cNvPr>
          <p:cNvSpPr/>
          <p:nvPr/>
        </p:nvSpPr>
        <p:spPr>
          <a:xfrm>
            <a:off x="6677734" y="222007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A7CE7047-619D-358D-1159-9FFF0B4B2BDE}"/>
              </a:ext>
            </a:extLst>
          </p:cNvPr>
          <p:cNvSpPr txBox="1"/>
          <p:nvPr/>
        </p:nvSpPr>
        <p:spPr>
          <a:xfrm>
            <a:off x="181506" y="2232437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1,523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1" name="직사각형 190">
            <a:extLst>
              <a:ext uri="{FF2B5EF4-FFF2-40B4-BE49-F238E27FC236}">
                <a16:creationId xmlns:a16="http://schemas.microsoft.com/office/drawing/2014/main" id="{FF1E5962-5C92-636A-0EC5-664CEC17AF39}"/>
              </a:ext>
            </a:extLst>
          </p:cNvPr>
          <p:cNvSpPr/>
          <p:nvPr/>
        </p:nvSpPr>
        <p:spPr>
          <a:xfrm>
            <a:off x="6982990" y="2220077"/>
            <a:ext cx="913712" cy="215441"/>
          </a:xfrm>
          <a:prstGeom prst="rect">
            <a:avLst/>
          </a:prstGeom>
          <a:solidFill>
            <a:srgbClr val="00B050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  <a:r>
              <a:rPr lang="en-US" altLang="ko-KR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(Excel)</a:t>
            </a:r>
            <a:endParaRPr lang="ko-KR" altLang="en-US" sz="800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93" name="표 192">
            <a:extLst>
              <a:ext uri="{FF2B5EF4-FFF2-40B4-BE49-F238E27FC236}">
                <a16:creationId xmlns:a16="http://schemas.microsoft.com/office/drawing/2014/main" id="{AB7AE8EC-F8EB-18FE-62D8-6EF56EC220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385717"/>
              </p:ext>
            </p:extLst>
          </p:nvPr>
        </p:nvGraphicFramePr>
        <p:xfrm>
          <a:off x="179901" y="2550029"/>
          <a:ext cx="9001462" cy="2027520"/>
        </p:xfrm>
        <a:graphic>
          <a:graphicData uri="http://schemas.openxmlformats.org/drawingml/2006/table">
            <a:tbl>
              <a:tblPr firstRow="1" bandRow="1"/>
              <a:tblGrid>
                <a:gridCol w="45038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553575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864725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834563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458325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486900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926637">
                  <a:extLst>
                    <a:ext uri="{9D8B030D-6E8A-4147-A177-3AD203B41FA5}">
                      <a16:colId xmlns:a16="http://schemas.microsoft.com/office/drawing/2014/main" val="3408856969"/>
                    </a:ext>
                  </a:extLst>
                </a:gridCol>
                <a:gridCol w="1185400">
                  <a:extLst>
                    <a:ext uri="{9D8B030D-6E8A-4147-A177-3AD203B41FA5}">
                      <a16:colId xmlns:a16="http://schemas.microsoft.com/office/drawing/2014/main" val="883633877"/>
                    </a:ext>
                  </a:extLst>
                </a:gridCol>
                <a:gridCol w="744075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582150">
                  <a:extLst>
                    <a:ext uri="{9D8B030D-6E8A-4147-A177-3AD203B41FA5}">
                      <a16:colId xmlns:a16="http://schemas.microsoft.com/office/drawing/2014/main" val="783209554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2523826374"/>
                    </a:ext>
                  </a:extLst>
                </a:gridCol>
                <a:gridCol w="728200">
                  <a:extLst>
                    <a:ext uri="{9D8B030D-6E8A-4147-A177-3AD203B41FA5}">
                      <a16:colId xmlns:a16="http://schemas.microsoft.com/office/drawing/2014/main" val="858523054"/>
                    </a:ext>
                  </a:extLst>
                </a:gridCol>
                <a:gridCol w="458325">
                  <a:extLst>
                    <a:ext uri="{9D8B030D-6E8A-4147-A177-3AD203B41FA5}">
                      <a16:colId xmlns:a16="http://schemas.microsoft.com/office/drawing/2014/main" val="21727374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처리상태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사업자번호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업체명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대표자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담당자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핸드폰번호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이메일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신용평가등급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 여부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신청일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승인일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처리자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1,542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승인</a:t>
                      </a:r>
                      <a:endParaRPr lang="en-US" altLang="ko-KR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sng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삼전디에스</a:t>
                      </a:r>
                      <a:endParaRPr kumimoji="0" lang="ko-KR" altLang="en-US" sz="800" b="0" i="0" u="sng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한지훈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010-1234-5678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(Y)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1,541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승인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 err="1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넷퍼시</a:t>
                      </a:r>
                      <a:endParaRPr lang="ko-KR" altLang="en-US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김미라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AAA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중지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(N)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1,540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승인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대현건설</a:t>
                      </a: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하지영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한지훈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1,539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승인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한성건설</a:t>
                      </a: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김지연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AAA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홍지영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3946446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1,538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승인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123-45-67891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KEB</a:t>
                      </a: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테크놀로지</a:t>
                      </a:r>
                      <a:endParaRPr lang="en-US" altLang="ko-KR" sz="800" b="0" u="sng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박가람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AAA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2026.06.10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8773569"/>
                  </a:ext>
                </a:extLst>
              </a:tr>
            </a:tbl>
          </a:graphicData>
        </a:graphic>
      </p:graphicFrame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E6875165-ADB5-B772-D61F-023A532F6857}"/>
              </a:ext>
            </a:extLst>
          </p:cNvPr>
          <p:cNvGrpSpPr/>
          <p:nvPr/>
        </p:nvGrpSpPr>
        <p:grpSpPr>
          <a:xfrm>
            <a:off x="2004219" y="4707439"/>
            <a:ext cx="4025354" cy="216024"/>
            <a:chOff x="2992062" y="4869160"/>
            <a:chExt cx="4025354" cy="216024"/>
          </a:xfrm>
        </p:grpSpPr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16BCE6C2-E016-D217-79CE-380C240B5E87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E32CB5E7-ECED-9793-FC4C-DBAED3C5650F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FFD20DEF-C742-4405-1382-C6A0BEC90931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7" name="직사각형 216">
              <a:extLst>
                <a:ext uri="{FF2B5EF4-FFF2-40B4-BE49-F238E27FC236}">
                  <a16:creationId xmlns:a16="http://schemas.microsoft.com/office/drawing/2014/main" id="{CC45C984-67A5-2EBC-84DC-C5D38793E627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43B5F3F4-F4F5-6BC3-3AD4-F83BAB96D8D3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D72A4FC7-5AC5-AF6A-59AF-4A53D9D536F6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0" name="직사각형 219">
              <a:extLst>
                <a:ext uri="{FF2B5EF4-FFF2-40B4-BE49-F238E27FC236}">
                  <a16:creationId xmlns:a16="http://schemas.microsoft.com/office/drawing/2014/main" id="{15353074-133A-84D8-0FF3-F0B7BD6AFFCC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FB253A07-6972-5927-A7ED-AA97E6B36712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60DC479B-56BF-CF92-CDB1-57D3E7B53A42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DE13336E-9D39-40B0-25C6-BC6602E9BDF2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4" name="직사각형 223">
              <a:extLst>
                <a:ext uri="{FF2B5EF4-FFF2-40B4-BE49-F238E27FC236}">
                  <a16:creationId xmlns:a16="http://schemas.microsoft.com/office/drawing/2014/main" id="{9BA275AD-A6B7-346B-EFC5-A0AA1548F8E5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5E28C003-9E70-A327-881C-66F9F5DF4CD2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B7FD9E67-DBDE-CE97-844C-CFBEA2A5AB62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BD3C72ED-5766-823F-C163-3E0106BD9A69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D0FD1D5-9E1B-6CC9-917F-B18E136B67BE}"/>
              </a:ext>
            </a:extLst>
          </p:cNvPr>
          <p:cNvSpPr/>
          <p:nvPr/>
        </p:nvSpPr>
        <p:spPr>
          <a:xfrm>
            <a:off x="-1690381" y="1098519"/>
            <a:ext cx="1467136" cy="79406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E6BDE51-477E-2C72-7A59-2F13E16C99B6}"/>
              </a:ext>
            </a:extLst>
          </p:cNvPr>
          <p:cNvSpPr/>
          <p:nvPr/>
        </p:nvSpPr>
        <p:spPr>
          <a:xfrm>
            <a:off x="77525" y="210371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464B8EEB-E4F4-BCAC-B206-830859B5A668}"/>
              </a:ext>
            </a:extLst>
          </p:cNvPr>
          <p:cNvSpPr/>
          <p:nvPr/>
        </p:nvSpPr>
        <p:spPr>
          <a:xfrm>
            <a:off x="1311337" y="1657103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FE7760-76A8-1242-CD10-1D0225E8F05C}"/>
              </a:ext>
            </a:extLst>
          </p:cNvPr>
          <p:cNvSpPr txBox="1"/>
          <p:nvPr/>
        </p:nvSpPr>
        <p:spPr>
          <a:xfrm>
            <a:off x="235849" y="1201874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사용 여부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○ 사용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Y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중지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(N)</a:t>
            </a:r>
          </a:p>
        </p:txBody>
      </p:sp>
    </p:spTree>
    <p:extLst>
      <p:ext uri="{BB962C8B-B14F-4D97-AF65-F5344CB8AC3E}">
        <p14:creationId xmlns:p14="http://schemas.microsoft.com/office/powerpoint/2010/main" val="3138086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ABCEE-F424-CC0B-B616-0D21B5E96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A0D95B4-B153-16CC-4488-FFB9D2564E6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422100-2A19-3CAD-8E48-6FD1261381A5}"/>
              </a:ext>
            </a:extLst>
          </p:cNvPr>
          <p:cNvSpPr txBox="1"/>
          <p:nvPr/>
        </p:nvSpPr>
        <p:spPr>
          <a:xfrm>
            <a:off x="749224" y="25608"/>
            <a:ext cx="25362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 및 각종 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77F1F-CEBC-AB97-0E6F-6942B3FCCE4A}"/>
              </a:ext>
            </a:extLst>
          </p:cNvPr>
          <p:cNvSpPr txBox="1"/>
          <p:nvPr/>
        </p:nvSpPr>
        <p:spPr>
          <a:xfrm>
            <a:off x="8049344" y="584684"/>
            <a:ext cx="1856656" cy="4712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buFont typeface="+mj-ea"/>
              <a:buAutoNum type="circleNumDbPlain"/>
            </a:pPr>
            <a:r>
              <a:rPr 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협력업체의 최종 처리 상태와 ‘협력업체 신청 일시’ 제공</a:t>
            </a:r>
            <a:br/>
            <a:br/>
            <a:r>
              <a:rPr 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상태값은 총 세 개(신청완료 | 승인 | 정보수정 요청)임</a:t>
            </a:r>
          </a:p>
          <a:p>
            <a:pPr marL="108000" indent="-108000" algn="l">
              <a:lnSpc>
                <a:spcPct val="130000"/>
              </a:lnSpc>
              <a:buFont typeface="+mj-ea"/>
              <a:buAutoNum type="circleNumDbPlain"/>
            </a:pPr>
            <a:r>
              <a:rPr 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신청완료, 정보수정 요청 상태로 되돌릴 일이 있을 수 있어 상태값을 변경 가능하게 함</a:t>
            </a:r>
          </a:p>
          <a:p>
            <a:pPr marL="108000" indent="-108000" algn="l">
              <a:lnSpc>
                <a:spcPct val="130000"/>
              </a:lnSpc>
              <a:buFont typeface="+mj-ea"/>
              <a:buAutoNum type="circleNumDbPlain"/>
            </a:pPr>
            <a:r>
              <a:rPr 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사용 여부가 중지(N)일 경우 협력업체는 승인되었더라도 로그인할 수 없음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C26543E-3A49-EBCD-C19B-4256092C7228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D48ACB4D-20D0-EB35-5DF4-A5137C5083E5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86B4EC8-6F80-82D2-F4CE-A5F5CEE5C046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5AF0072-B6E5-C650-EF15-1F6B3DB32D00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791C2AD-23A6-6680-CA64-3F67E2E6BF96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5" name="Picture 1">
            <a:extLst>
              <a:ext uri="{FF2B5EF4-FFF2-40B4-BE49-F238E27FC236}">
                <a16:creationId xmlns:a16="http://schemas.microsoft.com/office/drawing/2014/main" id="{2F49323B-9BEC-B658-EA0C-B4F1E08AD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F21B776-F970-497B-7952-7E84D2B50C84}"/>
              </a:ext>
            </a:extLst>
          </p:cNvPr>
          <p:cNvSpPr/>
          <p:nvPr/>
        </p:nvSpPr>
        <p:spPr>
          <a:xfrm>
            <a:off x="183392" y="4270071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기본 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3091A17-4580-E8D1-496D-D303159FDE7D}"/>
              </a:ext>
            </a:extLst>
          </p:cNvPr>
          <p:cNvGraphicFramePr>
            <a:graphicFrameLocks noGrp="1"/>
          </p:cNvGraphicFramePr>
          <p:nvPr/>
        </p:nvGraphicFramePr>
        <p:xfrm>
          <a:off x="184392" y="4568530"/>
          <a:ext cx="7720936" cy="13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2866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사용 여부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사용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(Y)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|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중지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(N)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129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 번호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135-82-77202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회사명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966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대표자명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이홍태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윤지병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765804"/>
                  </a:ext>
                </a:extLst>
              </a:tr>
            </a:tbl>
          </a:graphicData>
        </a:graphic>
      </p:graphicFrame>
      <p:sp>
        <p:nvSpPr>
          <p:cNvPr id="11" name="직사각형 10">
            <a:extLst>
              <a:ext uri="{FF2B5EF4-FFF2-40B4-BE49-F238E27FC236}">
                <a16:creationId xmlns:a16="http://schemas.microsoft.com/office/drawing/2014/main" id="{51917785-1408-C87C-738A-CC9359206446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9D8EB5A-62AE-8C58-C9C5-72FC8A12C180}"/>
              </a:ext>
            </a:extLst>
          </p:cNvPr>
          <p:cNvSpPr/>
          <p:nvPr/>
        </p:nvSpPr>
        <p:spPr>
          <a:xfrm>
            <a:off x="183392" y="836712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최종 처리 상태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2DA72A9A-DE8B-B5BD-1E17-D569E9AFDDBF}"/>
              </a:ext>
            </a:extLst>
          </p:cNvPr>
          <p:cNvGraphicFramePr>
            <a:graphicFrameLocks noGrp="1"/>
          </p:cNvGraphicFramePr>
          <p:nvPr/>
        </p:nvGraphicFramePr>
        <p:xfrm>
          <a:off x="184392" y="1135171"/>
          <a:ext cx="7720936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2866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최종 처리 상태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신청완료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승인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|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정보수정 요청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502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신청일시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2026.06.10 15:56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129592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BF0E497B-648E-C8F9-7278-C38216A8D4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541410"/>
              </p:ext>
            </p:extLst>
          </p:nvPr>
        </p:nvGraphicFramePr>
        <p:xfrm>
          <a:off x="183392" y="2182118"/>
          <a:ext cx="7720936" cy="1689600"/>
        </p:xfrm>
        <a:graphic>
          <a:graphicData uri="http://schemas.openxmlformats.org/drawingml/2006/table">
            <a:tbl>
              <a:tblPr firstRow="1" bandRow="1"/>
              <a:tblGrid>
                <a:gridCol w="470144">
                  <a:extLst>
                    <a:ext uri="{9D8B030D-6E8A-4147-A177-3AD203B41FA5}">
                      <a16:colId xmlns:a16="http://schemas.microsoft.com/office/drawing/2014/main" val="1777992656"/>
                    </a:ext>
                  </a:extLst>
                </a:gridCol>
                <a:gridCol w="1011572">
                  <a:extLst>
                    <a:ext uri="{9D8B030D-6E8A-4147-A177-3AD203B41FA5}">
                      <a16:colId xmlns:a16="http://schemas.microsoft.com/office/drawing/2014/main" val="2638183024"/>
                    </a:ext>
                  </a:extLst>
                </a:gridCol>
                <a:gridCol w="1908706">
                  <a:extLst>
                    <a:ext uri="{9D8B030D-6E8A-4147-A177-3AD203B41FA5}">
                      <a16:colId xmlns:a16="http://schemas.microsoft.com/office/drawing/2014/main" val="3917434164"/>
                    </a:ext>
                  </a:extLst>
                </a:gridCol>
                <a:gridCol w="822702">
                  <a:extLst>
                    <a:ext uri="{9D8B030D-6E8A-4147-A177-3AD203B41FA5}">
                      <a16:colId xmlns:a16="http://schemas.microsoft.com/office/drawing/2014/main" val="651023728"/>
                    </a:ext>
                  </a:extLst>
                </a:gridCol>
                <a:gridCol w="3507812">
                  <a:extLst>
                    <a:ext uri="{9D8B030D-6E8A-4147-A177-3AD203B41FA5}">
                      <a16:colId xmlns:a16="http://schemas.microsoft.com/office/drawing/2014/main" val="351522554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처리 구분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신청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처리 일시 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처리자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처리내역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요약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2987712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신청완료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2026.03.03 11:25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50472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승인 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2026.03.03 12:26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박승길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모든 정보가 확인되어 승인되었습니다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954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3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정보수정 요청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2026.03.16 11:25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회사명이 변경되어 정보 변경을 원합니다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9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승인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2026.03.16 12:40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박승길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회사명이 확인되어 승인합니다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7835305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1F89BAA9-D40A-D7A0-9A7D-4358742CC3CD}"/>
              </a:ext>
            </a:extLst>
          </p:cNvPr>
          <p:cNvSpPr/>
          <p:nvPr/>
        </p:nvSpPr>
        <p:spPr>
          <a:xfrm>
            <a:off x="183392" y="1918399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처리 이력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8BF6642-DC72-BA0D-D30E-84E816C75B2C}"/>
              </a:ext>
            </a:extLst>
          </p:cNvPr>
          <p:cNvSpPr/>
          <p:nvPr/>
        </p:nvSpPr>
        <p:spPr>
          <a:xfrm>
            <a:off x="6999022" y="3945552"/>
            <a:ext cx="897754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처리상태 관리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E9DF7E6-5AC1-3487-B1E8-F3CACC95D57B}"/>
              </a:ext>
            </a:extLst>
          </p:cNvPr>
          <p:cNvSpPr/>
          <p:nvPr/>
        </p:nvSpPr>
        <p:spPr>
          <a:xfrm>
            <a:off x="5493060" y="4437112"/>
            <a:ext cx="4245431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처리상태 관리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CA4F6EA-A3DD-4F5E-4683-988C59BE3F70}"/>
              </a:ext>
            </a:extLst>
          </p:cNvPr>
          <p:cNvSpPr/>
          <p:nvPr/>
        </p:nvSpPr>
        <p:spPr>
          <a:xfrm>
            <a:off x="5493060" y="4710023"/>
            <a:ext cx="4245431" cy="20772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C5A5CC91-7C93-9082-FD3B-715B2C007234}"/>
              </a:ext>
            </a:extLst>
          </p:cNvPr>
          <p:cNvSpPr/>
          <p:nvPr/>
        </p:nvSpPr>
        <p:spPr>
          <a:xfrm>
            <a:off x="9470305" y="4437112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0" name="표 49">
            <a:extLst>
              <a:ext uri="{FF2B5EF4-FFF2-40B4-BE49-F238E27FC236}">
                <a16:creationId xmlns:a16="http://schemas.microsoft.com/office/drawing/2014/main" id="{EA45F915-D562-24C7-FD35-5CA2679EBC80}"/>
              </a:ext>
            </a:extLst>
          </p:cNvPr>
          <p:cNvGraphicFramePr>
            <a:graphicFrameLocks noGrp="1"/>
          </p:cNvGraphicFramePr>
          <p:nvPr/>
        </p:nvGraphicFramePr>
        <p:xfrm>
          <a:off x="5637077" y="5167760"/>
          <a:ext cx="3993403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63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2970773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처리상태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승인     ○ 신청완료     ○ 정보수정 요청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처리내역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요약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처리자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박승길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959512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C0DC72E7-019D-D07D-EABD-2FFEBE8D42A0}"/>
              </a:ext>
            </a:extLst>
          </p:cNvPr>
          <p:cNvSpPr/>
          <p:nvPr/>
        </p:nvSpPr>
        <p:spPr>
          <a:xfrm>
            <a:off x="9095746" y="6296848"/>
            <a:ext cx="535094" cy="2880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1362580-1ECC-567D-94D4-5E1DC8E81299}"/>
              </a:ext>
            </a:extLst>
          </p:cNvPr>
          <p:cNvSpPr/>
          <p:nvPr/>
        </p:nvSpPr>
        <p:spPr>
          <a:xfrm>
            <a:off x="8503912" y="6296848"/>
            <a:ext cx="53509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적용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47B41C4-CEE7-B1EF-7761-5B9D9684E0DA}"/>
              </a:ext>
            </a:extLst>
          </p:cNvPr>
          <p:cNvSpPr/>
          <p:nvPr/>
        </p:nvSpPr>
        <p:spPr>
          <a:xfrm>
            <a:off x="5669259" y="4822190"/>
            <a:ext cx="91210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처리상태 관리</a:t>
            </a:r>
            <a:endParaRPr lang="ko-KR" altLang="en-US" sz="11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40B9C01-37EF-ACD4-4295-F0B48CD1B1BD}"/>
              </a:ext>
            </a:extLst>
          </p:cNvPr>
          <p:cNvSpPr/>
          <p:nvPr/>
        </p:nvSpPr>
        <p:spPr>
          <a:xfrm>
            <a:off x="6737772" y="5571120"/>
            <a:ext cx="2820700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sz="800">
                <a:solidFill>
                  <a:schemeClr val="bg1">
                    <a:lumMod val="50000"/>
                  </a:schemeClr>
                </a:solidFill>
                <a:latin typeface="나눔고딕"/>
                <a:ea typeface="나눔고딕"/>
              </a:rPr>
              <a:t>50</a:t>
            </a:r>
            <a:r>
              <a:rPr lang="ko-KR" sz="800">
                <a:solidFill>
                  <a:schemeClr val="bg1">
                    <a:lumMod val="50000"/>
                  </a:schemeClr>
                </a:solidFill>
                <a:latin typeface="나눔고딕"/>
                <a:ea typeface="나눔고딕"/>
              </a:rPr>
              <a:t>자 이내로 간단한 메모를 입력해 주세요.</a:t>
            </a:r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813C2255-4061-7215-9C11-6B0A851A76CB}"/>
              </a:ext>
            </a:extLst>
          </p:cNvPr>
          <p:cNvCxnSpPr>
            <a:cxnSpLocks/>
            <a:stCxn id="35" idx="2"/>
            <a:endCxn id="37" idx="0"/>
          </p:cNvCxnSpPr>
          <p:nvPr/>
        </p:nvCxnSpPr>
        <p:spPr>
          <a:xfrm rot="16200000" flipH="1">
            <a:off x="7430073" y="4251409"/>
            <a:ext cx="203528" cy="167877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300B94C9-AFEE-002A-828E-E59F69197F32}"/>
              </a:ext>
            </a:extLst>
          </p:cNvPr>
          <p:cNvSpPr/>
          <p:nvPr/>
        </p:nvSpPr>
        <p:spPr>
          <a:xfrm>
            <a:off x="-1690381" y="1098519"/>
            <a:ext cx="1467136" cy="79406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E851F63-E5E5-86A7-70AF-6631A6E7B1F6}"/>
              </a:ext>
            </a:extLst>
          </p:cNvPr>
          <p:cNvSpPr/>
          <p:nvPr/>
        </p:nvSpPr>
        <p:spPr>
          <a:xfrm>
            <a:off x="75380" y="105738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93CFEE97-5B06-90A0-CF32-E1F8C219FCC9}"/>
              </a:ext>
            </a:extLst>
          </p:cNvPr>
          <p:cNvSpPr/>
          <p:nvPr/>
        </p:nvSpPr>
        <p:spPr>
          <a:xfrm>
            <a:off x="6984578" y="5025935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84E5757-D3AB-00DB-687D-0A895F41CA0B}"/>
              </a:ext>
            </a:extLst>
          </p:cNvPr>
          <p:cNvSpPr/>
          <p:nvPr/>
        </p:nvSpPr>
        <p:spPr>
          <a:xfrm>
            <a:off x="1407564" y="446051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21762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66608-DC2B-7AAE-D9B9-F1D00AEED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1A1355F-B209-2632-9CB1-562335653EB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BE21EC-2466-0951-10C1-3A9993B572F2}"/>
              </a:ext>
            </a:extLst>
          </p:cNvPr>
          <p:cNvSpPr txBox="1"/>
          <p:nvPr/>
        </p:nvSpPr>
        <p:spPr>
          <a:xfrm>
            <a:off x="749224" y="25608"/>
            <a:ext cx="25362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 및 각종 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E9B79A9-B5BC-3A62-9A34-B95E664886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042846"/>
              </p:ext>
            </p:extLst>
          </p:nvPr>
        </p:nvGraphicFramePr>
        <p:xfrm>
          <a:off x="184392" y="382510"/>
          <a:ext cx="7720936" cy="13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82866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02-833-1650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5298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IT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인프라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1144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소프트웨어개발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025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주소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(12654)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경기도 고양시 일산서구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강선로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118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강선마을아파트 제208동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1202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2349153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AF0768C5-3328-7BEB-E744-ED55E8042529}"/>
              </a:ext>
            </a:extLst>
          </p:cNvPr>
          <p:cNvSpPr/>
          <p:nvPr/>
        </p:nvSpPr>
        <p:spPr>
          <a:xfrm>
            <a:off x="163194" y="1844824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관련 증빙서류 제출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02F1ADB-1446-4BE3-999F-C25CFC13CB49}"/>
              </a:ext>
            </a:extLst>
          </p:cNvPr>
          <p:cNvGraphicFramePr>
            <a:graphicFrameLocks noGrp="1"/>
          </p:cNvGraphicFramePr>
          <p:nvPr/>
        </p:nvGraphicFramePr>
        <p:xfrm>
          <a:off x="164194" y="2143283"/>
          <a:ext cx="7741134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40306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사업자등록증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이미 등록된 파일명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법인인감증명서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면허 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3701863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123E010D-BF50-76E8-8504-16BFAD9C2B1B}"/>
              </a:ext>
            </a:extLst>
          </p:cNvPr>
          <p:cNvGrpSpPr/>
          <p:nvPr/>
        </p:nvGrpSpPr>
        <p:grpSpPr>
          <a:xfrm>
            <a:off x="2753758" y="2214998"/>
            <a:ext cx="1278892" cy="198885"/>
            <a:chOff x="2753758" y="4620338"/>
            <a:chExt cx="1278892" cy="198885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989567F-7958-58D4-C8E6-9758D4AB01E6}"/>
                </a:ext>
              </a:extLst>
            </p:cNvPr>
            <p:cNvSpPr/>
            <p:nvPr/>
          </p:nvSpPr>
          <p:spPr>
            <a:xfrm>
              <a:off x="2753758" y="462033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24F5B47-D53C-35B1-19E4-0F04E280972E}"/>
                </a:ext>
              </a:extLst>
            </p:cNvPr>
            <p:cNvSpPr/>
            <p:nvPr/>
          </p:nvSpPr>
          <p:spPr>
            <a:xfrm>
              <a:off x="3419685" y="4620338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DD6ADBF-28F5-891B-A384-AA3130C1948B}"/>
              </a:ext>
            </a:extLst>
          </p:cNvPr>
          <p:cNvGrpSpPr/>
          <p:nvPr/>
        </p:nvGrpSpPr>
        <p:grpSpPr>
          <a:xfrm>
            <a:off x="2753758" y="2550127"/>
            <a:ext cx="1278892" cy="198885"/>
            <a:chOff x="2753758" y="4959335"/>
            <a:chExt cx="1278892" cy="198885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3B84590-B554-D57A-91E8-844C3FB57B0B}"/>
                </a:ext>
              </a:extLst>
            </p:cNvPr>
            <p:cNvSpPr/>
            <p:nvPr/>
          </p:nvSpPr>
          <p:spPr>
            <a:xfrm>
              <a:off x="2753758" y="4959335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01D4AB7-F36E-0A00-CDBE-AF82FC52C7F8}"/>
                </a:ext>
              </a:extLst>
            </p:cNvPr>
            <p:cNvSpPr/>
            <p:nvPr/>
          </p:nvSpPr>
          <p:spPr>
            <a:xfrm>
              <a:off x="3419685" y="4959335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A017213B-12C3-2941-CD0F-5004D01ED063}"/>
              </a:ext>
            </a:extLst>
          </p:cNvPr>
          <p:cNvGrpSpPr/>
          <p:nvPr/>
        </p:nvGrpSpPr>
        <p:grpSpPr>
          <a:xfrm>
            <a:off x="2753758" y="2885256"/>
            <a:ext cx="1278892" cy="198885"/>
            <a:chOff x="2753758" y="5299222"/>
            <a:chExt cx="1278892" cy="198885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8851648-246F-6ED3-0BAE-D579AF52FD1B}"/>
                </a:ext>
              </a:extLst>
            </p:cNvPr>
            <p:cNvSpPr/>
            <p:nvPr/>
          </p:nvSpPr>
          <p:spPr>
            <a:xfrm>
              <a:off x="2753758" y="5299222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38ABDF0-DBDD-CEAA-4AE7-86FD26521B9B}"/>
                </a:ext>
              </a:extLst>
            </p:cNvPr>
            <p:cNvSpPr/>
            <p:nvPr/>
          </p:nvSpPr>
          <p:spPr>
            <a:xfrm>
              <a:off x="3419685" y="5299222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8FB812D-ABFA-9E33-6ACC-7BAE3C704413}"/>
              </a:ext>
            </a:extLst>
          </p:cNvPr>
          <p:cNvSpPr/>
          <p:nvPr/>
        </p:nvSpPr>
        <p:spPr>
          <a:xfrm>
            <a:off x="163194" y="3273323"/>
            <a:ext cx="317527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신용평가등급 관련 정보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 시점 기준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F98B7C3-B37F-605E-B05D-55B1B5E74E89}"/>
              </a:ext>
            </a:extLst>
          </p:cNvPr>
          <p:cNvGraphicFramePr>
            <a:graphicFrameLocks noGrp="1"/>
          </p:cNvGraphicFramePr>
          <p:nvPr/>
        </p:nvGraphicFramePr>
        <p:xfrm>
          <a:off x="164194" y="3573928"/>
          <a:ext cx="7741134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40306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BB0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신용평가등급 확인서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</a:tbl>
          </a:graphicData>
        </a:graphic>
      </p:graphicFrame>
      <p:grpSp>
        <p:nvGrpSpPr>
          <p:cNvPr id="28" name="그룹 27">
            <a:extLst>
              <a:ext uri="{FF2B5EF4-FFF2-40B4-BE49-F238E27FC236}">
                <a16:creationId xmlns:a16="http://schemas.microsoft.com/office/drawing/2014/main" id="{5F4EA896-91F4-5758-5A66-FEA47C2EBF71}"/>
              </a:ext>
            </a:extLst>
          </p:cNvPr>
          <p:cNvGrpSpPr/>
          <p:nvPr/>
        </p:nvGrpSpPr>
        <p:grpSpPr>
          <a:xfrm>
            <a:off x="2753758" y="3982847"/>
            <a:ext cx="1278892" cy="198885"/>
            <a:chOff x="2753758" y="5299222"/>
            <a:chExt cx="1278892" cy="198885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00BA141E-73B3-6F5B-CA20-98DE45DB1EB0}"/>
                </a:ext>
              </a:extLst>
            </p:cNvPr>
            <p:cNvSpPr/>
            <p:nvPr/>
          </p:nvSpPr>
          <p:spPr>
            <a:xfrm>
              <a:off x="2753758" y="5299222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0CDA36F1-A7E4-3BFB-ACAB-FDB8211A7FB9}"/>
                </a:ext>
              </a:extLst>
            </p:cNvPr>
            <p:cNvSpPr/>
            <p:nvPr/>
          </p:nvSpPr>
          <p:spPr>
            <a:xfrm>
              <a:off x="3419685" y="5299222"/>
              <a:ext cx="612965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9F61971-F92B-5DD0-47FC-398C8147A17E}"/>
              </a:ext>
            </a:extLst>
          </p:cNvPr>
          <p:cNvSpPr/>
          <p:nvPr/>
        </p:nvSpPr>
        <p:spPr>
          <a:xfrm>
            <a:off x="163194" y="4359819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 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C2E55DB-CC42-0F54-1E53-3265278227B2}"/>
              </a:ext>
            </a:extLst>
          </p:cNvPr>
          <p:cNvGraphicFramePr>
            <a:graphicFrameLocks noGrp="1"/>
          </p:cNvGraphicFramePr>
          <p:nvPr/>
        </p:nvGraphicFramePr>
        <p:xfrm>
          <a:off x="181506" y="4648468"/>
          <a:ext cx="7723820" cy="101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73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735765">
                  <a:extLst>
                    <a:ext uri="{9D8B030D-6E8A-4147-A177-3AD203B41FA5}">
                      <a16:colId xmlns:a16="http://schemas.microsoft.com/office/drawing/2014/main" val="1183147798"/>
                    </a:ext>
                  </a:extLst>
                </a:gridCol>
                <a:gridCol w="497815">
                  <a:extLst>
                    <a:ext uri="{9D8B030D-6E8A-4147-A177-3AD203B41FA5}">
                      <a16:colId xmlns:a16="http://schemas.microsoft.com/office/drawing/2014/main" val="296951377"/>
                    </a:ext>
                  </a:extLst>
                </a:gridCol>
                <a:gridCol w="394358">
                  <a:extLst>
                    <a:ext uri="{9D8B030D-6E8A-4147-A177-3AD203B41FA5}">
                      <a16:colId xmlns:a16="http://schemas.microsoft.com/office/drawing/2014/main" val="2761937130"/>
                    </a:ext>
                  </a:extLst>
                </a:gridCol>
                <a:gridCol w="1287535">
                  <a:extLst>
                    <a:ext uri="{9D8B030D-6E8A-4147-A177-3AD203B41FA5}">
                      <a16:colId xmlns:a16="http://schemas.microsoft.com/office/drawing/2014/main" val="1266029869"/>
                    </a:ext>
                  </a:extLst>
                </a:gridCol>
                <a:gridCol w="100647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939230">
                  <a:extLst>
                    <a:ext uri="{9D8B030D-6E8A-4147-A177-3AD203B41FA5}">
                      <a16:colId xmlns:a16="http://schemas.microsoft.com/office/drawing/2014/main" val="3329224653"/>
                    </a:ext>
                  </a:extLst>
                </a:gridCol>
                <a:gridCol w="1821878">
                  <a:extLst>
                    <a:ext uri="{9D8B030D-6E8A-4147-A177-3AD203B41FA5}">
                      <a16:colId xmlns:a16="http://schemas.microsoft.com/office/drawing/2014/main" val="2705196257"/>
                    </a:ext>
                  </a:extLst>
                </a:gridCol>
                <a:gridCol w="705030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담당자 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직책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이메일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핸드폰번호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전화번호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담당업무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관리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기본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이희성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이사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leehee43@naver.com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010-6844-2810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02-6959-9856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사내 입찰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계약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</a:t>
                      </a: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추가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박일용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부장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견적</a:t>
                      </a:r>
                      <a:r>
                        <a:rPr lang="en-US" altLang="ko-KR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800" b="0" u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 업무 관련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u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1125CBA3-2BAA-38F9-429F-3B260701AF72}"/>
              </a:ext>
            </a:extLst>
          </p:cNvPr>
          <p:cNvSpPr/>
          <p:nvPr/>
        </p:nvSpPr>
        <p:spPr>
          <a:xfrm>
            <a:off x="7349516" y="5038291"/>
            <a:ext cx="428654" cy="21544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48EB0BA-A64B-478F-AE92-1F1112BDFDA6}"/>
              </a:ext>
            </a:extLst>
          </p:cNvPr>
          <p:cNvSpPr/>
          <p:nvPr/>
        </p:nvSpPr>
        <p:spPr>
          <a:xfrm>
            <a:off x="7349516" y="5381662"/>
            <a:ext cx="428654" cy="21544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079D9CE9-79B7-F8A0-A9F5-C8ACC18821D7}"/>
              </a:ext>
            </a:extLst>
          </p:cNvPr>
          <p:cNvCxnSpPr>
            <a:cxnSpLocks/>
            <a:stCxn id="20" idx="3"/>
            <a:endCxn id="103" idx="1"/>
          </p:cNvCxnSpPr>
          <p:nvPr/>
        </p:nvCxnSpPr>
        <p:spPr>
          <a:xfrm flipV="1">
            <a:off x="7778170" y="5011106"/>
            <a:ext cx="381078" cy="134906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21684E-2D11-6327-A0D8-8F858B675803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B68BCA-7E8D-F48B-D5FA-BCB54E749C14}"/>
              </a:ext>
            </a:extLst>
          </p:cNvPr>
          <p:cNvSpPr txBox="1"/>
          <p:nvPr/>
        </p:nvSpPr>
        <p:spPr>
          <a:xfrm>
            <a:off x="8049344" y="584684"/>
            <a:ext cx="1856656" cy="1511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협력업체가 등록한 담당자 정보 수정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필요한 기능인지 확인 필요</a:t>
            </a:r>
            <a:endParaRPr lang="en-US" altLang="ko-KR" sz="80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고객의 요청에 따라 관리자가 임시 비밀번호 발송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고객 통보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MSG-006</a:t>
            </a:r>
          </a:p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테스트 기간 동안만 사용하고 사용하지 않을 기능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2D39F2A4-6DB5-7427-1E6B-64866D93393B}"/>
              </a:ext>
            </a:extLst>
          </p:cNvPr>
          <p:cNvSpPr/>
          <p:nvPr/>
        </p:nvSpPr>
        <p:spPr>
          <a:xfrm>
            <a:off x="7189189" y="487843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FB787DA-BDC9-2B82-81F6-745A0C44450C}"/>
              </a:ext>
            </a:extLst>
          </p:cNvPr>
          <p:cNvSpPr/>
          <p:nvPr/>
        </p:nvSpPr>
        <p:spPr>
          <a:xfrm>
            <a:off x="6009999" y="5757050"/>
            <a:ext cx="897754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F5A0E8A-36DC-70F2-1409-867751DE1297}"/>
              </a:ext>
            </a:extLst>
          </p:cNvPr>
          <p:cNvSpPr/>
          <p:nvPr/>
        </p:nvSpPr>
        <p:spPr>
          <a:xfrm>
            <a:off x="6965501" y="5757050"/>
            <a:ext cx="897754" cy="28803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삭제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6067651-110F-C534-BA32-5F57DF79450B}"/>
              </a:ext>
            </a:extLst>
          </p:cNvPr>
          <p:cNvSpPr/>
          <p:nvPr/>
        </p:nvSpPr>
        <p:spPr>
          <a:xfrm>
            <a:off x="4830729" y="5757050"/>
            <a:ext cx="1121521" cy="28803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spc="-5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임시 비밀번호 발송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220D202-5778-A087-147C-330DF063A1D7}"/>
              </a:ext>
            </a:extLst>
          </p:cNvPr>
          <p:cNvSpPr/>
          <p:nvPr/>
        </p:nvSpPr>
        <p:spPr>
          <a:xfrm>
            <a:off x="179901" y="5757050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C6372F23-722F-641C-AC75-660D0444BC54}"/>
              </a:ext>
            </a:extLst>
          </p:cNvPr>
          <p:cNvSpPr/>
          <p:nvPr/>
        </p:nvSpPr>
        <p:spPr>
          <a:xfrm>
            <a:off x="4698047" y="563935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8FC9337-6D4B-D8D0-2BF3-2B01EB8266D4}"/>
              </a:ext>
            </a:extLst>
          </p:cNvPr>
          <p:cNvSpPr/>
          <p:nvPr/>
        </p:nvSpPr>
        <p:spPr>
          <a:xfrm>
            <a:off x="-3961496" y="4705143"/>
            <a:ext cx="3816424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임시 비밀번호 발송 시 유의사항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73BBD8C3-034F-42B1-747B-73C618A6FEA6}"/>
              </a:ext>
            </a:extLst>
          </p:cNvPr>
          <p:cNvSpPr/>
          <p:nvPr/>
        </p:nvSpPr>
        <p:spPr>
          <a:xfrm>
            <a:off x="-3961496" y="4978055"/>
            <a:ext cx="3816424" cy="187132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525DD97-4CA1-E4E5-D096-DDDFEE833BDD}"/>
              </a:ext>
            </a:extLst>
          </p:cNvPr>
          <p:cNvSpPr/>
          <p:nvPr/>
        </p:nvSpPr>
        <p:spPr>
          <a:xfrm>
            <a:off x="-415072" y="4705143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B434E20D-B948-EC6D-7805-D1ADE8B53C43}"/>
              </a:ext>
            </a:extLst>
          </p:cNvPr>
          <p:cNvSpPr/>
          <p:nvPr/>
        </p:nvSpPr>
        <p:spPr>
          <a:xfrm>
            <a:off x="-3853717" y="5391443"/>
            <a:ext cx="3600633" cy="879892"/>
          </a:xfrm>
          <a:prstGeom prst="rect">
            <a:avLst/>
          </a:prstGeom>
          <a:solidFill>
            <a:srgbClr val="FFFF00">
              <a:alpha val="20000"/>
            </a:srgb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108000" bIns="108000" rtlCol="0" anchor="ctr" anchorCtr="0"/>
          <a:lstStyle/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 협력업체의 기본 담당자에게 임시 비밀번호가 발송됩니다</a:t>
            </a:r>
            <a: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br>
              <a:rPr lang="en-US" altLang="ko-KR" sz="800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기존의 비밀번호는 임시 비밀번호로 초기화됩니다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lvl="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진행하시겠습니까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</a:p>
        </p:txBody>
      </p:sp>
      <p:pic>
        <p:nvPicPr>
          <p:cNvPr id="83" name="Picture 8" descr="Announcement, hailer, loudspeaker, megaphone, speaker icon - Download on Iconfinder">
            <a:extLst>
              <a:ext uri="{FF2B5EF4-FFF2-40B4-BE49-F238E27FC236}">
                <a16:creationId xmlns:a16="http://schemas.microsoft.com/office/drawing/2014/main" id="{67C4AF26-00FE-18B9-76EE-C0D854817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737595" y="5548064"/>
            <a:ext cx="570440" cy="57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5" name="직사각형 84">
            <a:extLst>
              <a:ext uri="{FF2B5EF4-FFF2-40B4-BE49-F238E27FC236}">
                <a16:creationId xmlns:a16="http://schemas.microsoft.com/office/drawing/2014/main" id="{5664D86B-ACF0-38AD-1F53-91852694CFB6}"/>
              </a:ext>
            </a:extLst>
          </p:cNvPr>
          <p:cNvSpPr/>
          <p:nvPr/>
        </p:nvSpPr>
        <p:spPr>
          <a:xfrm>
            <a:off x="-3830276" y="5074444"/>
            <a:ext cx="1963679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임시 비밀번호 발송 시 유의사항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D8907D67-D5E7-E242-FDD5-DFA764D5DB6A}"/>
              </a:ext>
            </a:extLst>
          </p:cNvPr>
          <p:cNvSpPr/>
          <p:nvPr/>
        </p:nvSpPr>
        <p:spPr>
          <a:xfrm>
            <a:off x="-1150838" y="6382442"/>
            <a:ext cx="897754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닫기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14C60044-57FC-E369-E10F-AC98B8C34F54}"/>
              </a:ext>
            </a:extLst>
          </p:cNvPr>
          <p:cNvSpPr/>
          <p:nvPr/>
        </p:nvSpPr>
        <p:spPr>
          <a:xfrm>
            <a:off x="-2422674" y="6382442"/>
            <a:ext cx="1217830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임시 비밀번호 발송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3" name="연결선: 꺾임 92">
            <a:extLst>
              <a:ext uri="{FF2B5EF4-FFF2-40B4-BE49-F238E27FC236}">
                <a16:creationId xmlns:a16="http://schemas.microsoft.com/office/drawing/2014/main" id="{C2BA563C-DFCE-3D44-98C3-8DCB4E2201E0}"/>
              </a:ext>
            </a:extLst>
          </p:cNvPr>
          <p:cNvCxnSpPr>
            <a:cxnSpLocks/>
            <a:stCxn id="39" idx="0"/>
          </p:cNvCxnSpPr>
          <p:nvPr/>
        </p:nvCxnSpPr>
        <p:spPr>
          <a:xfrm rot="16200000" flipV="1">
            <a:off x="2534462" y="2900022"/>
            <a:ext cx="177494" cy="5536562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94D65998-DCD5-6496-50FE-CA352B88FD02}"/>
              </a:ext>
            </a:extLst>
          </p:cNvPr>
          <p:cNvSpPr txBox="1"/>
          <p:nvPr/>
        </p:nvSpPr>
        <p:spPr>
          <a:xfrm>
            <a:off x="10859548" y="3204853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1E3E33F1-301B-CD5C-EF78-FD1C0B7EF92A}"/>
              </a:ext>
            </a:extLst>
          </p:cNvPr>
          <p:cNvSpPr/>
          <p:nvPr/>
        </p:nvSpPr>
        <p:spPr>
          <a:xfrm>
            <a:off x="8159248" y="3083174"/>
            <a:ext cx="6191187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담당자 정보 수정</a:t>
            </a: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93E5505C-2048-B3EA-4851-75B71E635552}"/>
              </a:ext>
            </a:extLst>
          </p:cNvPr>
          <p:cNvSpPr/>
          <p:nvPr/>
        </p:nvSpPr>
        <p:spPr>
          <a:xfrm>
            <a:off x="8159248" y="3356087"/>
            <a:ext cx="6191187" cy="331003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7941742B-95C7-CA95-016B-7E494A9A7A6B}"/>
              </a:ext>
            </a:extLst>
          </p:cNvPr>
          <p:cNvSpPr/>
          <p:nvPr/>
        </p:nvSpPr>
        <p:spPr>
          <a:xfrm>
            <a:off x="14080435" y="3083174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057D1FC6-5407-82EE-436E-1DDB69D0530B}"/>
              </a:ext>
            </a:extLst>
          </p:cNvPr>
          <p:cNvSpPr/>
          <p:nvPr/>
        </p:nvSpPr>
        <p:spPr>
          <a:xfrm>
            <a:off x="8290469" y="3452475"/>
            <a:ext cx="1085233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담당자 정보 수정</a:t>
            </a:r>
          </a:p>
        </p:txBody>
      </p:sp>
      <p:graphicFrame>
        <p:nvGraphicFramePr>
          <p:cNvPr id="109" name="표 108">
            <a:extLst>
              <a:ext uri="{FF2B5EF4-FFF2-40B4-BE49-F238E27FC236}">
                <a16:creationId xmlns:a16="http://schemas.microsoft.com/office/drawing/2014/main" id="{9153E5B5-B8E0-A088-E93F-93B29FE5FCF8}"/>
              </a:ext>
            </a:extLst>
          </p:cNvPr>
          <p:cNvGraphicFramePr>
            <a:graphicFrameLocks noGrp="1"/>
          </p:cNvGraphicFramePr>
          <p:nvPr/>
        </p:nvGraphicFramePr>
        <p:xfrm>
          <a:off x="8290469" y="3786011"/>
          <a:ext cx="5915953" cy="236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416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482453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담당자 구분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○ 기본 담당자     ○ 추가 담당자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48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이름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이메일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                     @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핸드폰번호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-                     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22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직책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담당업무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전화번호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-                    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</a:tbl>
          </a:graphicData>
        </a:graphic>
      </p:graphicFrame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3AA4671B-BEB7-8464-DE5D-F48390D9B966}"/>
              </a:ext>
            </a:extLst>
          </p:cNvPr>
          <p:cNvSpPr/>
          <p:nvPr/>
        </p:nvSpPr>
        <p:spPr>
          <a:xfrm>
            <a:off x="11004023" y="4527481"/>
            <a:ext cx="1479817" cy="2080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이메일 선택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C9C1700C-2400-8EDD-DC2D-21EF2636BA55}"/>
              </a:ext>
            </a:extLst>
          </p:cNvPr>
          <p:cNvSpPr/>
          <p:nvPr/>
        </p:nvSpPr>
        <p:spPr>
          <a:xfrm>
            <a:off x="12265412" y="4527483"/>
            <a:ext cx="227054" cy="208006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DBD8633F-D740-5BC6-EE19-EC14D540A0A8}"/>
              </a:ext>
            </a:extLst>
          </p:cNvPr>
          <p:cNvSpPr/>
          <p:nvPr/>
        </p:nvSpPr>
        <p:spPr>
          <a:xfrm>
            <a:off x="9467716" y="4188179"/>
            <a:ext cx="133218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입력된 내용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80A4086B-21FE-DB21-4C8A-68238F736565}"/>
              </a:ext>
            </a:extLst>
          </p:cNvPr>
          <p:cNvSpPr/>
          <p:nvPr/>
        </p:nvSpPr>
        <p:spPr>
          <a:xfrm>
            <a:off x="9467716" y="4527482"/>
            <a:ext cx="133218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기</a:t>
            </a:r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입력된 내용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E4E01F3F-8B2B-38AF-C778-1511659CCA63}"/>
              </a:ext>
            </a:extLst>
          </p:cNvPr>
          <p:cNvSpPr/>
          <p:nvPr/>
        </p:nvSpPr>
        <p:spPr>
          <a:xfrm>
            <a:off x="12573920" y="4527481"/>
            <a:ext cx="1479817" cy="20800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 입력</a:t>
            </a: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6CB9302F-0590-582F-C649-4BB61C44EDCC}"/>
              </a:ext>
            </a:extLst>
          </p:cNvPr>
          <p:cNvSpPr/>
          <p:nvPr/>
        </p:nvSpPr>
        <p:spPr>
          <a:xfrm>
            <a:off x="9455392" y="4864922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010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F34B2D4D-BF95-270F-100D-9FAE8A8D69E1}"/>
              </a:ext>
            </a:extLst>
          </p:cNvPr>
          <p:cNvSpPr/>
          <p:nvPr/>
        </p:nvSpPr>
        <p:spPr>
          <a:xfrm>
            <a:off x="9940046" y="486492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D8274461-C9FA-BD6F-656F-CC861367C14A}"/>
              </a:ext>
            </a:extLst>
          </p:cNvPr>
          <p:cNvSpPr/>
          <p:nvPr/>
        </p:nvSpPr>
        <p:spPr>
          <a:xfrm>
            <a:off x="10309455" y="4864922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3EEDA6E6-840F-6BCA-8406-4C236AA066BA}"/>
              </a:ext>
            </a:extLst>
          </p:cNvPr>
          <p:cNvSpPr/>
          <p:nvPr/>
        </p:nvSpPr>
        <p:spPr>
          <a:xfrm>
            <a:off x="10929067" y="4864922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D3A68847-7F6A-67E0-2879-C969F985B390}"/>
              </a:ext>
            </a:extLst>
          </p:cNvPr>
          <p:cNvSpPr/>
          <p:nvPr/>
        </p:nvSpPr>
        <p:spPr>
          <a:xfrm>
            <a:off x="9467716" y="5221477"/>
            <a:ext cx="133218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입력된 내용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1CEE9A4B-0A64-1552-BE2B-66F54331F5D4}"/>
              </a:ext>
            </a:extLst>
          </p:cNvPr>
          <p:cNvSpPr/>
          <p:nvPr/>
        </p:nvSpPr>
        <p:spPr>
          <a:xfrm>
            <a:off x="9467716" y="5557726"/>
            <a:ext cx="133218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입력된 내용</a:t>
            </a:r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7A75A04-EEC4-CB2F-CE25-9410189CF601}"/>
              </a:ext>
            </a:extLst>
          </p:cNvPr>
          <p:cNvSpPr/>
          <p:nvPr/>
        </p:nvSpPr>
        <p:spPr>
          <a:xfrm>
            <a:off x="9455392" y="5876172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39943E39-109A-F55A-80E2-1CAA05396DED}"/>
              </a:ext>
            </a:extLst>
          </p:cNvPr>
          <p:cNvSpPr/>
          <p:nvPr/>
        </p:nvSpPr>
        <p:spPr>
          <a:xfrm>
            <a:off x="9940046" y="587617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36C70910-B4F1-33FD-3516-2FEE435F155B}"/>
              </a:ext>
            </a:extLst>
          </p:cNvPr>
          <p:cNvSpPr/>
          <p:nvPr/>
        </p:nvSpPr>
        <p:spPr>
          <a:xfrm>
            <a:off x="10309455" y="5876172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3C750B2A-88FF-E2E6-1F0A-ACE3CFBEDCBE}"/>
              </a:ext>
            </a:extLst>
          </p:cNvPr>
          <p:cNvSpPr/>
          <p:nvPr/>
        </p:nvSpPr>
        <p:spPr>
          <a:xfrm>
            <a:off x="10929067" y="5876172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67FA7E07-552D-8E84-F242-CE710DEA9838}"/>
              </a:ext>
            </a:extLst>
          </p:cNvPr>
          <p:cNvSpPr/>
          <p:nvPr/>
        </p:nvSpPr>
        <p:spPr>
          <a:xfrm>
            <a:off x="12749902" y="6242909"/>
            <a:ext cx="701616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6EC0A779-5048-76E1-81EF-2FEAC31C1910}"/>
              </a:ext>
            </a:extLst>
          </p:cNvPr>
          <p:cNvSpPr/>
          <p:nvPr/>
        </p:nvSpPr>
        <p:spPr>
          <a:xfrm>
            <a:off x="13489628" y="6242909"/>
            <a:ext cx="701616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닫기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9991F920-A201-15F5-1785-4A51632FB422}"/>
              </a:ext>
            </a:extLst>
          </p:cNvPr>
          <p:cNvSpPr/>
          <p:nvPr/>
        </p:nvSpPr>
        <p:spPr>
          <a:xfrm>
            <a:off x="6857489" y="5639359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FB16E2E4-CD8A-A7E9-2730-50D1B01148B2}"/>
              </a:ext>
            </a:extLst>
          </p:cNvPr>
          <p:cNvSpPr/>
          <p:nvPr/>
        </p:nvSpPr>
        <p:spPr>
          <a:xfrm>
            <a:off x="-4046300" y="4605437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2’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3180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55FBA-794F-B659-C74A-396056123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F360154-DFF5-9238-033D-35C75DEDB2E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5FA322-3931-7F4C-8021-6078BD714A6B}"/>
              </a:ext>
            </a:extLst>
          </p:cNvPr>
          <p:cNvSpPr txBox="1"/>
          <p:nvPr/>
        </p:nvSpPr>
        <p:spPr>
          <a:xfrm>
            <a:off x="749224" y="25608"/>
            <a:ext cx="253627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상세정보 및 각종 처리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EDE62F-F83A-9CBF-76D1-3D36796A7C1A}"/>
              </a:ext>
            </a:extLst>
          </p:cNvPr>
          <p:cNvSpPr txBox="1"/>
          <p:nvPr/>
        </p:nvSpPr>
        <p:spPr>
          <a:xfrm>
            <a:off x="8049344" y="584684"/>
            <a:ext cx="1856656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buFont typeface="+mj-ea"/>
              <a:buAutoNum type="circleNumDbPlain"/>
            </a:pPr>
            <a:r>
              <a:rPr lang="ko-KR" sz="80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‘기준 정보 관리 &gt; 소싱 그룹 관리’에 적용된 대/중/소 분류 매핑</a:t>
            </a:r>
          </a:p>
          <a:p>
            <a:pPr marL="108000" indent="-108000" algn="l">
              <a:buFont typeface="+mj-ea"/>
              <a:buAutoNum type="circleNumDbPlain"/>
            </a:pPr>
            <a:endParaRPr lang="ko-KR" sz="8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E9F92CF-B9A8-7098-7984-A67179ECE052}"/>
              </a:ext>
            </a:extLst>
          </p:cNvPr>
          <p:cNvSpPr/>
          <p:nvPr/>
        </p:nvSpPr>
        <p:spPr>
          <a:xfrm>
            <a:off x="163194" y="368660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 그룹 설정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F985D6E5-0151-8F45-84CE-BD7D83FBB211}"/>
              </a:ext>
            </a:extLst>
          </p:cNvPr>
          <p:cNvGraphicFramePr>
            <a:graphicFrameLocks noGrp="1"/>
          </p:cNvGraphicFramePr>
          <p:nvPr/>
        </p:nvGraphicFramePr>
        <p:xfrm>
          <a:off x="179901" y="662422"/>
          <a:ext cx="7689424" cy="1013760"/>
        </p:xfrm>
        <a:graphic>
          <a:graphicData uri="http://schemas.openxmlformats.org/drawingml/2006/table">
            <a:tbl>
              <a:tblPr firstRow="1" bandRow="1"/>
              <a:tblGrid>
                <a:gridCol w="376678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1429977">
                  <a:extLst>
                    <a:ext uri="{9D8B030D-6E8A-4147-A177-3AD203B41FA5}">
                      <a16:colId xmlns:a16="http://schemas.microsoft.com/office/drawing/2014/main" val="537809851"/>
                    </a:ext>
                  </a:extLst>
                </a:gridCol>
                <a:gridCol w="1373777">
                  <a:extLst>
                    <a:ext uri="{9D8B030D-6E8A-4147-A177-3AD203B41FA5}">
                      <a16:colId xmlns:a16="http://schemas.microsoft.com/office/drawing/2014/main" val="2399369133"/>
                    </a:ext>
                  </a:extLst>
                </a:gridCol>
                <a:gridCol w="1325859">
                  <a:extLst>
                    <a:ext uri="{9D8B030D-6E8A-4147-A177-3AD203B41FA5}">
                      <a16:colId xmlns:a16="http://schemas.microsoft.com/office/drawing/2014/main" val="3053194834"/>
                    </a:ext>
                  </a:extLst>
                </a:gridCol>
                <a:gridCol w="1022892">
                  <a:extLst>
                    <a:ext uri="{9D8B030D-6E8A-4147-A177-3AD203B41FA5}">
                      <a16:colId xmlns:a16="http://schemas.microsoft.com/office/drawing/2014/main" val="419952432"/>
                    </a:ext>
                  </a:extLst>
                </a:gridCol>
                <a:gridCol w="1348878">
                  <a:extLst>
                    <a:ext uri="{9D8B030D-6E8A-4147-A177-3AD203B41FA5}">
                      <a16:colId xmlns:a16="http://schemas.microsoft.com/office/drawing/2014/main" val="1550368863"/>
                    </a:ext>
                  </a:extLst>
                </a:gridCol>
                <a:gridCol w="811363">
                  <a:extLst>
                    <a:ext uri="{9D8B030D-6E8A-4147-A177-3AD203B41FA5}">
                      <a16:colId xmlns:a16="http://schemas.microsoft.com/office/drawing/2014/main" val="20518093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대분류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중분류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소분류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등록자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등록일시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삭제</a:t>
                      </a:r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ECE1">
                        <a:lumMod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전기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자재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전선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/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케이블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박승길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2026.08.04 15:25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기계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부품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밸브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파이프</a:t>
                      </a: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박승길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2026.05.23 09:35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</a:tbl>
          </a:graphicData>
        </a:graphic>
      </p:graphicFrame>
      <p:sp>
        <p:nvSpPr>
          <p:cNvPr id="41" name="직사각형 40">
            <a:extLst>
              <a:ext uri="{FF2B5EF4-FFF2-40B4-BE49-F238E27FC236}">
                <a16:creationId xmlns:a16="http://schemas.microsoft.com/office/drawing/2014/main" id="{EDFD019A-6FFA-848D-6A84-F75CDCAF23E8}"/>
              </a:ext>
            </a:extLst>
          </p:cNvPr>
          <p:cNvSpPr/>
          <p:nvPr/>
        </p:nvSpPr>
        <p:spPr>
          <a:xfrm>
            <a:off x="6717196" y="1770306"/>
            <a:ext cx="1151704" cy="2880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 그룹 추가하기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2B7332D-E17F-522F-6A16-B2EA73BE8C5E}"/>
              </a:ext>
            </a:extLst>
          </p:cNvPr>
          <p:cNvSpPr/>
          <p:nvPr/>
        </p:nvSpPr>
        <p:spPr>
          <a:xfrm>
            <a:off x="7229878" y="1061581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B5EC1993-87F1-BFD5-9038-33A9C99AF0B7}"/>
              </a:ext>
            </a:extLst>
          </p:cNvPr>
          <p:cNvSpPr/>
          <p:nvPr/>
        </p:nvSpPr>
        <p:spPr>
          <a:xfrm>
            <a:off x="7229878" y="1404101"/>
            <a:ext cx="458854" cy="21544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24D9BDA-17B5-AF54-19A0-8615B6995DF5}"/>
              </a:ext>
            </a:extLst>
          </p:cNvPr>
          <p:cNvSpPr/>
          <p:nvPr/>
        </p:nvSpPr>
        <p:spPr>
          <a:xfrm>
            <a:off x="2537682" y="2324039"/>
            <a:ext cx="3602686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소싱 그룹 추가하기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63208CBE-D401-2B7F-E6C0-15E5B614A5F1}"/>
              </a:ext>
            </a:extLst>
          </p:cNvPr>
          <p:cNvSpPr/>
          <p:nvPr/>
        </p:nvSpPr>
        <p:spPr>
          <a:xfrm>
            <a:off x="2537682" y="2596949"/>
            <a:ext cx="3602686" cy="235071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75C1952-2DFB-7329-96AB-04DAF36ACC9A}"/>
              </a:ext>
            </a:extLst>
          </p:cNvPr>
          <p:cNvSpPr/>
          <p:nvPr/>
        </p:nvSpPr>
        <p:spPr>
          <a:xfrm>
            <a:off x="5871132" y="2324039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54" name="표 53">
            <a:extLst>
              <a:ext uri="{FF2B5EF4-FFF2-40B4-BE49-F238E27FC236}">
                <a16:creationId xmlns:a16="http://schemas.microsoft.com/office/drawing/2014/main" id="{FD088EC4-C130-3EF6-9DCA-257164E037FF}"/>
              </a:ext>
            </a:extLst>
          </p:cNvPr>
          <p:cNvGraphicFramePr>
            <a:graphicFrameLocks noGrp="1"/>
          </p:cNvGraphicFramePr>
          <p:nvPr/>
        </p:nvGraphicFramePr>
        <p:xfrm>
          <a:off x="2681698" y="3054687"/>
          <a:ext cx="3333060" cy="13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263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2310430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대분류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510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중분류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27366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소분류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처리자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박승길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959512"/>
                  </a:ext>
                </a:extLst>
              </a:tr>
            </a:tbl>
          </a:graphicData>
        </a:graphic>
      </p:graphicFrame>
      <p:sp>
        <p:nvSpPr>
          <p:cNvPr id="55" name="직사각형 54">
            <a:extLst>
              <a:ext uri="{FF2B5EF4-FFF2-40B4-BE49-F238E27FC236}">
                <a16:creationId xmlns:a16="http://schemas.microsoft.com/office/drawing/2014/main" id="{20A32B09-7FF1-75DF-4C3E-DBE536B6CE08}"/>
              </a:ext>
            </a:extLst>
          </p:cNvPr>
          <p:cNvSpPr/>
          <p:nvPr/>
        </p:nvSpPr>
        <p:spPr>
          <a:xfrm>
            <a:off x="5469868" y="4498953"/>
            <a:ext cx="535094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닫기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74612B6-031A-CD64-29ED-28D6B869CCBF}"/>
              </a:ext>
            </a:extLst>
          </p:cNvPr>
          <p:cNvSpPr/>
          <p:nvPr/>
        </p:nvSpPr>
        <p:spPr>
          <a:xfrm>
            <a:off x="4286566" y="4498953"/>
            <a:ext cx="1126562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소싱 그룹 추가하기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B5344BB-EE1E-AA85-835A-AEC30C41C6FB}"/>
              </a:ext>
            </a:extLst>
          </p:cNvPr>
          <p:cNvSpPr/>
          <p:nvPr/>
        </p:nvSpPr>
        <p:spPr>
          <a:xfrm>
            <a:off x="2713880" y="2709117"/>
            <a:ext cx="1218282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 그룹 추가하기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94DCC27-4584-7BA8-9762-D737EB86A7EC}"/>
              </a:ext>
            </a:extLst>
          </p:cNvPr>
          <p:cNvSpPr/>
          <p:nvPr/>
        </p:nvSpPr>
        <p:spPr>
          <a:xfrm>
            <a:off x="3756901" y="3117306"/>
            <a:ext cx="1625095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 그룹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대분류 선택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A5340B3-0BDD-A770-B5B6-F774620F0609}"/>
              </a:ext>
            </a:extLst>
          </p:cNvPr>
          <p:cNvSpPr/>
          <p:nvPr/>
        </p:nvSpPr>
        <p:spPr>
          <a:xfrm>
            <a:off x="5381996" y="3117308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B634932-23A9-76C4-7729-849189A5C06D}"/>
              </a:ext>
            </a:extLst>
          </p:cNvPr>
          <p:cNvSpPr/>
          <p:nvPr/>
        </p:nvSpPr>
        <p:spPr>
          <a:xfrm>
            <a:off x="3756901" y="3457932"/>
            <a:ext cx="1625095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 그룹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중분류 선택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616CCAC3-CABB-4C6D-290F-F80A6C5E4992}"/>
              </a:ext>
            </a:extLst>
          </p:cNvPr>
          <p:cNvSpPr/>
          <p:nvPr/>
        </p:nvSpPr>
        <p:spPr>
          <a:xfrm>
            <a:off x="5381996" y="3457934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332F5CA-76E9-9EB5-D3C0-44B7DF80DF93}"/>
              </a:ext>
            </a:extLst>
          </p:cNvPr>
          <p:cNvSpPr/>
          <p:nvPr/>
        </p:nvSpPr>
        <p:spPr>
          <a:xfrm>
            <a:off x="3756901" y="3789111"/>
            <a:ext cx="1625095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 err="1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소싱 그룹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소분류 선택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A264175E-3719-8408-239A-D458183F15A5}"/>
              </a:ext>
            </a:extLst>
          </p:cNvPr>
          <p:cNvSpPr/>
          <p:nvPr/>
        </p:nvSpPr>
        <p:spPr>
          <a:xfrm>
            <a:off x="5381996" y="3789113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D52A2120-4152-CF92-0519-5D515A6B3CDF}"/>
              </a:ext>
            </a:extLst>
          </p:cNvPr>
          <p:cNvCxnSpPr>
            <a:cxnSpLocks/>
            <a:stCxn id="41" idx="1"/>
            <a:endCxn id="50" idx="0"/>
          </p:cNvCxnSpPr>
          <p:nvPr/>
        </p:nvCxnSpPr>
        <p:spPr>
          <a:xfrm rot="10800000" flipV="1">
            <a:off x="4339026" y="1914321"/>
            <a:ext cx="2378171" cy="409717"/>
          </a:xfrm>
          <a:prstGeom prst="bentConnector2">
            <a:avLst/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A82E10D-1A8F-F184-8F86-923C54FB33B2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F489D89-CCA2-D2A6-3FA4-A13010B1ABBA}"/>
              </a:ext>
            </a:extLst>
          </p:cNvPr>
          <p:cNvSpPr/>
          <p:nvPr/>
        </p:nvSpPr>
        <p:spPr>
          <a:xfrm>
            <a:off x="2424820" y="216635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1726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B0AAD-0078-D15D-A7AD-9BDBF830A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CA1B3BD-698B-0A23-181F-CCEC7519EBF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A49F3D-6030-94B2-E9AE-077E507CC6D2}"/>
              </a:ext>
            </a:extLst>
          </p:cNvPr>
          <p:cNvSpPr txBox="1"/>
          <p:nvPr/>
        </p:nvSpPr>
        <p:spPr>
          <a:xfrm>
            <a:off x="749224" y="25608"/>
            <a:ext cx="17764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21BF12-6FF7-0B4F-713F-2D28EEA3F9B7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본의 아니게 협력업체의 정보를 수정해 줘야 할 때 사용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3145204-E53E-9E63-BAA5-713A860EA5AF}"/>
              </a:ext>
            </a:extLst>
          </p:cNvPr>
          <p:cNvSpPr/>
          <p:nvPr/>
        </p:nvSpPr>
        <p:spPr>
          <a:xfrm>
            <a:off x="164468" y="403565"/>
            <a:ext cx="756617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A011945-C191-5ADA-449D-BB3D02E1AAB7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5359775-7A62-F525-5A95-845834A96045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B67B406-D062-C396-18D5-E3AF794F2325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</a:t>
            </a:r>
            <a:endParaRPr lang="ko-KR" altLang="en-US" sz="800" spc="-50" dirty="0">
              <a:solidFill>
                <a:srgbClr val="C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4E54DE04-C640-3802-F198-21DDC73BD0D8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5" name="Picture 1">
            <a:extLst>
              <a:ext uri="{FF2B5EF4-FFF2-40B4-BE49-F238E27FC236}">
                <a16:creationId xmlns:a16="http://schemas.microsoft.com/office/drawing/2014/main" id="{04D966C5-A412-B1F8-92BE-68417D430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A0939088-D9F2-96E6-942E-40B20408325E}"/>
              </a:ext>
            </a:extLst>
          </p:cNvPr>
          <p:cNvSpPr/>
          <p:nvPr/>
        </p:nvSpPr>
        <p:spPr>
          <a:xfrm>
            <a:off x="216224" y="826586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기본 정보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FF967FBA-16FE-68AB-9A8F-16FA023504B5}"/>
              </a:ext>
            </a:extLst>
          </p:cNvPr>
          <p:cNvGraphicFramePr>
            <a:graphicFrameLocks noGrp="1"/>
          </p:cNvGraphicFramePr>
          <p:nvPr/>
        </p:nvGraphicFramePr>
        <p:xfrm>
          <a:off x="217224" y="1125045"/>
          <a:ext cx="7652100" cy="270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14030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 번호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135-82-77202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※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 번호는 로그인 시 아이디로 사용됩니다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</a:t>
                      </a:r>
                      <a:endParaRPr lang="ko-KR" altLang="en-US" sz="800" b="1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회사명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대표자명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06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전화번호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                         -                    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57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업종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027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업태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777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주소 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*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539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959764"/>
                  </a:ext>
                </a:extLst>
              </a:tr>
            </a:tbl>
          </a:graphicData>
        </a:graphic>
      </p:graphicFrame>
      <p:sp>
        <p:nvSpPr>
          <p:cNvPr id="25" name="직사각형 24">
            <a:extLst>
              <a:ext uri="{FF2B5EF4-FFF2-40B4-BE49-F238E27FC236}">
                <a16:creationId xmlns:a16="http://schemas.microsoft.com/office/drawing/2014/main" id="{B97B7A25-5D6A-4A81-706A-0EF17646D484}"/>
              </a:ext>
            </a:extLst>
          </p:cNvPr>
          <p:cNvSpPr/>
          <p:nvPr/>
        </p:nvSpPr>
        <p:spPr>
          <a:xfrm>
            <a:off x="1629638" y="1528616"/>
            <a:ext cx="1825131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 입력된 정보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15C0293-1130-56EB-D59E-17A89C46E661}"/>
              </a:ext>
            </a:extLst>
          </p:cNvPr>
          <p:cNvSpPr/>
          <p:nvPr/>
        </p:nvSpPr>
        <p:spPr>
          <a:xfrm>
            <a:off x="1629638" y="1864105"/>
            <a:ext cx="1825131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 입력된 정보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26D592-60C5-E9E7-A8DA-B18211BCABEB}"/>
              </a:ext>
            </a:extLst>
          </p:cNvPr>
          <p:cNvSpPr/>
          <p:nvPr/>
        </p:nvSpPr>
        <p:spPr>
          <a:xfrm>
            <a:off x="1617315" y="2207565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02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A5978FA-05A3-5CFA-B7FF-BD90008BA521}"/>
              </a:ext>
            </a:extLst>
          </p:cNvPr>
          <p:cNvSpPr/>
          <p:nvPr/>
        </p:nvSpPr>
        <p:spPr>
          <a:xfrm>
            <a:off x="2101969" y="2207567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24566B3-A908-9A90-7ABB-9D882170F02C}"/>
              </a:ext>
            </a:extLst>
          </p:cNvPr>
          <p:cNvSpPr/>
          <p:nvPr/>
        </p:nvSpPr>
        <p:spPr>
          <a:xfrm>
            <a:off x="2471378" y="2207565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37D1443-2287-CC59-9740-8F822C9F84F4}"/>
              </a:ext>
            </a:extLst>
          </p:cNvPr>
          <p:cNvSpPr/>
          <p:nvPr/>
        </p:nvSpPr>
        <p:spPr>
          <a:xfrm>
            <a:off x="3090990" y="2207565"/>
            <a:ext cx="488761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30F51E29-5746-AD37-C838-CF5B0A7F1CB4}"/>
              </a:ext>
            </a:extLst>
          </p:cNvPr>
          <p:cNvSpPr/>
          <p:nvPr/>
        </p:nvSpPr>
        <p:spPr>
          <a:xfrm>
            <a:off x="1629638" y="2541449"/>
            <a:ext cx="359806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 입력된 정보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98F6873-3418-5B1F-55F7-F093B5E17B8B}"/>
              </a:ext>
            </a:extLst>
          </p:cNvPr>
          <p:cNvSpPr/>
          <p:nvPr/>
        </p:nvSpPr>
        <p:spPr>
          <a:xfrm>
            <a:off x="1629638" y="2877510"/>
            <a:ext cx="359806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 입력된 정보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76B84F58-8062-F1B5-CAEE-11444011BEBE}"/>
              </a:ext>
            </a:extLst>
          </p:cNvPr>
          <p:cNvSpPr/>
          <p:nvPr/>
        </p:nvSpPr>
        <p:spPr>
          <a:xfrm>
            <a:off x="1629639" y="3230599"/>
            <a:ext cx="729808" cy="20800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우편번호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9F3DC82-E55E-B648-BC2B-D5B9793F9D0C}"/>
              </a:ext>
            </a:extLst>
          </p:cNvPr>
          <p:cNvSpPr/>
          <p:nvPr/>
        </p:nvSpPr>
        <p:spPr>
          <a:xfrm>
            <a:off x="3110823" y="3230599"/>
            <a:ext cx="3233003" cy="208006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 입력된 정보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2B92B9A-0287-834A-7BA0-55F4EE51C9A8}"/>
              </a:ext>
            </a:extLst>
          </p:cNvPr>
          <p:cNvSpPr/>
          <p:nvPr/>
        </p:nvSpPr>
        <p:spPr>
          <a:xfrm>
            <a:off x="2418608" y="3230599"/>
            <a:ext cx="633054" cy="215441"/>
          </a:xfrm>
          <a:prstGeom prst="rect">
            <a:avLst/>
          </a:prstGeom>
          <a:solidFill>
            <a:srgbClr val="00B050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주소 검색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762E49D-6945-3291-520D-A5F6F6FBADDA}"/>
              </a:ext>
            </a:extLst>
          </p:cNvPr>
          <p:cNvSpPr/>
          <p:nvPr/>
        </p:nvSpPr>
        <p:spPr>
          <a:xfrm>
            <a:off x="1629638" y="3561298"/>
            <a:ext cx="359806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 입력된 정보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145E13C-70FE-C9C1-C715-47B8C6B16306}"/>
              </a:ext>
            </a:extLst>
          </p:cNvPr>
          <p:cNvSpPr/>
          <p:nvPr/>
        </p:nvSpPr>
        <p:spPr>
          <a:xfrm>
            <a:off x="216224" y="3923004"/>
            <a:ext cx="133218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관련 증빙서류 제출</a:t>
            </a:r>
          </a:p>
        </p:txBody>
      </p:sp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AE8AE1BE-816C-BBF7-C5DB-15DDB6B1F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857973"/>
              </p:ext>
            </p:extLst>
          </p:nvPr>
        </p:nvGraphicFramePr>
        <p:xfrm>
          <a:off x="217224" y="4221463"/>
          <a:ext cx="7652100" cy="1608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14030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사업자등록증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·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이미 등록된 파일명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.PDF</a:t>
                      </a:r>
                      <a:r>
                        <a:rPr lang="en-US" altLang="ko-KR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삭제</a:t>
                      </a:r>
                      <a:r>
                        <a:rPr lang="en-US" altLang="ko-KR" sz="800" b="1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]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                                                                       ※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첨부파일은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PDF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업로드해 주세요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법인인감증명서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                                                                       ※</a:t>
                      </a: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첨부파일은 </a:t>
                      </a: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PDF</a:t>
                      </a:r>
                      <a:r>
                        <a:rPr kumimoji="0" lang="ko-KR" altLang="en-US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업로드해 주세요</a:t>
                      </a:r>
                      <a:r>
                        <a:rPr kumimoji="0" lang="en-US" altLang="ko-KR" sz="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면허 등 </a:t>
                      </a:r>
                      <a:r>
                        <a:rPr lang="en-US" altLang="ko-KR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*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                                                                       ※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첨부파일은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PDF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업로드해 주세요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422984"/>
                  </a:ext>
                </a:extLst>
              </a:tr>
            </a:tbl>
          </a:graphicData>
        </a:graphic>
      </p:graphicFrame>
      <p:sp>
        <p:nvSpPr>
          <p:cNvPr id="71" name="직사각형 70">
            <a:extLst>
              <a:ext uri="{FF2B5EF4-FFF2-40B4-BE49-F238E27FC236}">
                <a16:creationId xmlns:a16="http://schemas.microsoft.com/office/drawing/2014/main" id="{3266ED92-1D43-2203-FDA1-D61CB1884843}"/>
              </a:ext>
            </a:extLst>
          </p:cNvPr>
          <p:cNvSpPr/>
          <p:nvPr/>
        </p:nvSpPr>
        <p:spPr>
          <a:xfrm>
            <a:off x="1637428" y="4494456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sz="800">
                <a:solidFill>
                  <a:schemeClr val="bg1">
                    <a:lumMod val="50000"/>
                  </a:schemeClr>
                </a:solidFill>
                <a:latin typeface="나눔고딕"/>
                <a:ea typeface="나눔고딕"/>
              </a:rPr>
              <a:t>파일을 첨부해 주세요.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08C11960-B195-5671-4477-8BD8FB42B094}"/>
              </a:ext>
            </a:extLst>
          </p:cNvPr>
          <p:cNvSpPr/>
          <p:nvPr/>
        </p:nvSpPr>
        <p:spPr>
          <a:xfrm>
            <a:off x="4003566" y="4492703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4B50A86-90F1-6194-4883-458E8D3C4FAB}"/>
              </a:ext>
            </a:extLst>
          </p:cNvPr>
          <p:cNvSpPr/>
          <p:nvPr/>
        </p:nvSpPr>
        <p:spPr>
          <a:xfrm>
            <a:off x="1637428" y="5028011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sz="800">
                <a:solidFill>
                  <a:schemeClr val="bg1">
                    <a:lumMod val="50000"/>
                  </a:schemeClr>
                </a:solidFill>
                <a:latin typeface="나눔고딕"/>
                <a:ea typeface="나눔고딕"/>
              </a:rPr>
              <a:t>파일을 첨부해 주세요.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971570F-DC3A-9EDE-F1F9-F5E3F5554B4D}"/>
              </a:ext>
            </a:extLst>
          </p:cNvPr>
          <p:cNvSpPr/>
          <p:nvPr/>
        </p:nvSpPr>
        <p:spPr>
          <a:xfrm>
            <a:off x="4003566" y="5026258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04B2BE9C-6018-F637-DBF2-20689204F101}"/>
              </a:ext>
            </a:extLst>
          </p:cNvPr>
          <p:cNvSpPr/>
          <p:nvPr/>
        </p:nvSpPr>
        <p:spPr>
          <a:xfrm>
            <a:off x="1637428" y="5564165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sz="800">
                <a:solidFill>
                  <a:schemeClr val="bg1">
                    <a:lumMod val="50000"/>
                  </a:schemeClr>
                </a:solidFill>
                <a:latin typeface="나눔고딕"/>
                <a:ea typeface="나눔고딕"/>
              </a:rPr>
              <a:t>파일을 첨부해 주세요.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17EDFE17-BC0D-2962-B277-99B9BC4B7BD5}"/>
              </a:ext>
            </a:extLst>
          </p:cNvPr>
          <p:cNvSpPr/>
          <p:nvPr/>
        </p:nvSpPr>
        <p:spPr>
          <a:xfrm>
            <a:off x="4003566" y="5562412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DFF941BC-650C-5EF4-CF10-21FDC0BD48C7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0C13DC9-B26F-2139-D46F-1537CD6372E3}"/>
              </a:ext>
            </a:extLst>
          </p:cNvPr>
          <p:cNvSpPr/>
          <p:nvPr/>
        </p:nvSpPr>
        <p:spPr>
          <a:xfrm>
            <a:off x="-1690381" y="1098519"/>
            <a:ext cx="1467136" cy="79406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lang="en-US" altLang="ko-KR" sz="800" u="sng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C8812C6-1EF7-0F01-C33D-5CB1AD846EA2}"/>
              </a:ext>
            </a:extLst>
          </p:cNvPr>
          <p:cNvSpPr/>
          <p:nvPr/>
        </p:nvSpPr>
        <p:spPr>
          <a:xfrm>
            <a:off x="56456" y="305008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1474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ECA5F-271D-2817-5CEE-312F03F6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1CB9EB6-D11C-A2FD-25A1-75CECD7F30B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8999C6-AAB1-4230-D3DC-FBF81A42698D}"/>
              </a:ext>
            </a:extLst>
          </p:cNvPr>
          <p:cNvSpPr txBox="1"/>
          <p:nvPr/>
        </p:nvSpPr>
        <p:spPr>
          <a:xfrm>
            <a:off x="749224" y="25608"/>
            <a:ext cx="17764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6269A6-4CF4-8AC3-0379-43021ADA47C0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19987B9-6EF4-1B4D-36E4-D08B70EF4BB4}"/>
              </a:ext>
            </a:extLst>
          </p:cNvPr>
          <p:cNvSpPr/>
          <p:nvPr/>
        </p:nvSpPr>
        <p:spPr>
          <a:xfrm>
            <a:off x="215224" y="380399"/>
            <a:ext cx="3175274" cy="230832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신용평가등급 관련 정보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현재 시점 기준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sz="9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E7941A3-558D-D84B-E78E-D9819CB3D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464532"/>
              </p:ext>
            </p:extLst>
          </p:nvPr>
        </p:nvGraphicFramePr>
        <p:xfrm>
          <a:off x="216224" y="681004"/>
          <a:ext cx="7689104" cy="8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8070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351034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신용평가등급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rgbClr val="0070C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0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신용평가등급 확인서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·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이미 등록된 파일명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삭제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                                                                                                             ※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첨부파일은 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PDF</a:t>
                      </a:r>
                      <a:r>
                        <a:rPr kumimoji="0" lang="ko-KR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로 업로드해 주세요</a:t>
                      </a: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  <a:endParaRPr kumimoji="0" lang="en-US" altLang="ko-KR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700076"/>
                  </a:ext>
                </a:extLst>
              </a:tr>
            </a:tbl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E3EAECB8-0CC0-60CB-46DC-62B072ADA462}"/>
              </a:ext>
            </a:extLst>
          </p:cNvPr>
          <p:cNvSpPr/>
          <p:nvPr/>
        </p:nvSpPr>
        <p:spPr>
          <a:xfrm>
            <a:off x="1616315" y="744217"/>
            <a:ext cx="1522155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sz="800">
                <a:solidFill>
                  <a:schemeClr val="bg1">
                    <a:lumMod val="50000"/>
                  </a:schemeClr>
                </a:solidFill>
                <a:latin typeface="나눔고딕"/>
                <a:ea typeface="나눔고딕"/>
              </a:rPr>
              <a:t>신용평가등급을 선택해 주세요.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189B6C1-E45E-8D33-5373-16D489A5EBF7}"/>
              </a:ext>
            </a:extLst>
          </p:cNvPr>
          <p:cNvSpPr/>
          <p:nvPr/>
        </p:nvSpPr>
        <p:spPr>
          <a:xfrm>
            <a:off x="3129844" y="74421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383C33A-5EC2-2E9C-F6E5-78B26856A3A8}"/>
              </a:ext>
            </a:extLst>
          </p:cNvPr>
          <p:cNvSpPr/>
          <p:nvPr/>
        </p:nvSpPr>
        <p:spPr>
          <a:xfrm>
            <a:off x="1636428" y="1292753"/>
            <a:ext cx="2361869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sz="800">
                <a:solidFill>
                  <a:schemeClr val="bg1">
                    <a:lumMod val="50000"/>
                  </a:schemeClr>
                </a:solidFill>
                <a:latin typeface="나눔고딕"/>
                <a:ea typeface="나눔고딕"/>
              </a:rPr>
              <a:t>파일을 첨부해 주세요.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BBA8526-2729-C2D4-0294-225F948771EF}"/>
              </a:ext>
            </a:extLst>
          </p:cNvPr>
          <p:cNvSpPr/>
          <p:nvPr/>
        </p:nvSpPr>
        <p:spPr>
          <a:xfrm>
            <a:off x="4002566" y="1291000"/>
            <a:ext cx="692070" cy="21107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찾아보기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DB62C279-0D40-DD9B-5D28-615D1CCCE613}"/>
              </a:ext>
            </a:extLst>
          </p:cNvPr>
          <p:cNvGrpSpPr/>
          <p:nvPr/>
        </p:nvGrpSpPr>
        <p:grpSpPr>
          <a:xfrm>
            <a:off x="6393160" y="1659241"/>
            <a:ext cx="1470095" cy="288032"/>
            <a:chOff x="5981124" y="4084592"/>
            <a:chExt cx="1882131" cy="288032"/>
          </a:xfrm>
        </p:grpSpPr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9FAD4D7C-052B-0831-3D96-C42B77BFF6C6}"/>
                </a:ext>
              </a:extLst>
            </p:cNvPr>
            <p:cNvSpPr/>
            <p:nvPr/>
          </p:nvSpPr>
          <p:spPr>
            <a:xfrm>
              <a:off x="5981124" y="4084592"/>
              <a:ext cx="897754" cy="28803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수정</a:t>
              </a: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11173C90-CE4F-239A-91CC-532322B06440}"/>
                </a:ext>
              </a:extLst>
            </p:cNvPr>
            <p:cNvSpPr/>
            <p:nvPr/>
          </p:nvSpPr>
          <p:spPr>
            <a:xfrm>
              <a:off x="6965501" y="4084592"/>
              <a:ext cx="897754" cy="28803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  <a:sym typeface="Wingdings" panose="05000000000000000000" pitchFamily="2" charset="2"/>
                </a:rPr>
                <a:t>취소</a:t>
              </a:r>
              <a:endPara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1B7B2BFC-9718-40D1-564F-E9A26DCE6BA8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7568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7D30F-BD9C-7957-0DAE-1ADF94EDA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9091353E-18C7-9C42-1371-8F7AB49A221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9DD39A-D289-B767-47A5-69D65BDA6A71}"/>
              </a:ext>
            </a:extLst>
          </p:cNvPr>
          <p:cNvSpPr txBox="1"/>
          <p:nvPr/>
        </p:nvSpPr>
        <p:spPr>
          <a:xfrm>
            <a:off x="749224" y="25608"/>
            <a:ext cx="14141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E01155-9E2D-B4D5-9834-E82B69E0BD8B}"/>
              </a:ext>
            </a:extLst>
          </p:cNvPr>
          <p:cNvSpPr txBox="1"/>
          <p:nvPr/>
        </p:nvSpPr>
        <p:spPr>
          <a:xfrm>
            <a:off x="8049344" y="584684"/>
            <a:ext cx="1856656" cy="39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제목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내용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답변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작성업체명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답변자</a:t>
            </a:r>
            <a:endParaRPr lang="en-US" alt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6D1E986-F7B2-6C29-19C3-002203263A35}"/>
              </a:ext>
            </a:extLst>
          </p:cNvPr>
          <p:cNvSpPr/>
          <p:nvPr/>
        </p:nvSpPr>
        <p:spPr>
          <a:xfrm>
            <a:off x="164468" y="403565"/>
            <a:ext cx="63639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1A72967-4FB5-3817-9FA3-341E87AF31D6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CB53DF3-38E9-B3C2-7AD8-9973535E3013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30980E3-57D8-C595-8852-B6B4F819DF04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6E8CE7D-C0A9-41ED-AD82-41AD48A07570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3D208EA-0852-CBD8-648A-FA7C89335111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EFB1A181-8D15-22D6-3F56-8DD3235DE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0D3DD66-3284-FE48-0B20-36F5AA278F94}"/>
              </a:ext>
            </a:extLst>
          </p:cNvPr>
          <p:cNvSpPr/>
          <p:nvPr/>
        </p:nvSpPr>
        <p:spPr>
          <a:xfrm>
            <a:off x="164468" y="834983"/>
            <a:ext cx="7740859" cy="93783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 algn="l"/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ACC627-D552-EF09-8882-9B9D81877894}"/>
              </a:ext>
            </a:extLst>
          </p:cNvPr>
          <p:cNvSpPr/>
          <p:nvPr/>
        </p:nvSpPr>
        <p:spPr>
          <a:xfrm>
            <a:off x="1408523" y="1422883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구분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A46FB8E-82E6-B3B3-E8AC-529345073D94}"/>
              </a:ext>
            </a:extLst>
          </p:cNvPr>
          <p:cNvSpPr/>
          <p:nvPr/>
        </p:nvSpPr>
        <p:spPr>
          <a:xfrm>
            <a:off x="2218774" y="142288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7FB84C2-C68B-4097-4292-76E93AB930EB}"/>
              </a:ext>
            </a:extLst>
          </p:cNvPr>
          <p:cNvSpPr/>
          <p:nvPr/>
        </p:nvSpPr>
        <p:spPr>
          <a:xfrm>
            <a:off x="2533911" y="1422883"/>
            <a:ext cx="3619804" cy="208006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검색어를 입력하세요</a:t>
            </a:r>
            <a:r>
              <a:rPr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43FEFB2-29A0-F4E7-92B6-B1BC47C17627}"/>
              </a:ext>
            </a:extLst>
          </p:cNvPr>
          <p:cNvSpPr/>
          <p:nvPr/>
        </p:nvSpPr>
        <p:spPr>
          <a:xfrm>
            <a:off x="6241919" y="1422885"/>
            <a:ext cx="625198" cy="21544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BCA3E1C-128A-0A80-110B-5D02DD8A2137}"/>
              </a:ext>
            </a:extLst>
          </p:cNvPr>
          <p:cNvSpPr txBox="1"/>
          <p:nvPr/>
        </p:nvSpPr>
        <p:spPr>
          <a:xfrm>
            <a:off x="235850" y="941488"/>
            <a:ext cx="68053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조회기간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(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등록일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)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                                                                                                                                     ~    </a:t>
            </a:r>
            <a:endParaRPr kumimoji="1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D8F5EF2-CB04-C5A8-91CB-B3C33423A21E}"/>
              </a:ext>
            </a:extLst>
          </p:cNvPr>
          <p:cNvSpPr txBox="1"/>
          <p:nvPr/>
        </p:nvSpPr>
        <p:spPr>
          <a:xfrm>
            <a:off x="235849" y="1204748"/>
            <a:ext cx="66970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상태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                           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● 전체      ○ 답변요청     </a:t>
            </a:r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○ </a:t>
            </a:r>
            <a:r>
              <a:rPr lang="ko-KR" altLang="en-US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답변완료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C0451BE-B265-DD37-7EE9-299D7E46C28B}"/>
              </a:ext>
            </a:extLst>
          </p:cNvPr>
          <p:cNvSpPr txBox="1"/>
          <p:nvPr/>
        </p:nvSpPr>
        <p:spPr>
          <a:xfrm>
            <a:off x="235849" y="1430028"/>
            <a:ext cx="756175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lvl="0" indent="-72000" algn="l">
              <a:buFont typeface="Arial" panose="020B0604020202020204" pitchFamily="34" charset="0"/>
              <a:buChar char="•"/>
              <a:defRPr/>
            </a:pP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키워드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1" lang="ko-KR" alt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검색  </a:t>
            </a:r>
            <a:r>
              <a:rPr kumimoji="1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:</a:t>
            </a:r>
            <a:endParaRPr lang="ko-KR" altLang="en-US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49CFADB1-5F98-3C4E-D6C7-B1294FE4518B}"/>
              </a:ext>
            </a:extLst>
          </p:cNvPr>
          <p:cNvSpPr/>
          <p:nvPr/>
        </p:nvSpPr>
        <p:spPr>
          <a:xfrm>
            <a:off x="4683665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시작일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B0CF8997-6007-82DA-9328-2FAE7CFABB71}"/>
              </a:ext>
            </a:extLst>
          </p:cNvPr>
          <p:cNvSpPr/>
          <p:nvPr/>
        </p:nvSpPr>
        <p:spPr>
          <a:xfrm>
            <a:off x="5493916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90983CD-A28C-5B35-3FA9-2468B83AE6F3}"/>
              </a:ext>
            </a:extLst>
          </p:cNvPr>
          <p:cNvSpPr/>
          <p:nvPr/>
        </p:nvSpPr>
        <p:spPr>
          <a:xfrm>
            <a:off x="5907171" y="929087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검색 종료일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BCCF423-E982-4F24-08C0-EBC19D84D5D8}"/>
              </a:ext>
            </a:extLst>
          </p:cNvPr>
          <p:cNvSpPr/>
          <p:nvPr/>
        </p:nvSpPr>
        <p:spPr>
          <a:xfrm>
            <a:off x="6717422" y="929089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1D72A68-A911-19B6-EFF3-69FF35ADF430}"/>
              </a:ext>
            </a:extLst>
          </p:cNvPr>
          <p:cNvSpPr/>
          <p:nvPr/>
        </p:nvSpPr>
        <p:spPr>
          <a:xfrm>
            <a:off x="1393889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ko-KR" altLang="en-US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하루 전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8851D9D-C828-F8DD-2CB4-B2FA2BEDAACC}"/>
              </a:ext>
            </a:extLst>
          </p:cNvPr>
          <p:cNvSpPr/>
          <p:nvPr/>
        </p:nvSpPr>
        <p:spPr>
          <a:xfrm>
            <a:off x="1942458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주일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A45A57E-29C9-5400-EB6B-ED4B78B530DF}"/>
              </a:ext>
            </a:extLst>
          </p:cNvPr>
          <p:cNvSpPr/>
          <p:nvPr/>
        </p:nvSpPr>
        <p:spPr>
          <a:xfrm>
            <a:off x="2491027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9F05BBC-0C02-8A48-123E-1A9C8F07E76B}"/>
              </a:ext>
            </a:extLst>
          </p:cNvPr>
          <p:cNvSpPr/>
          <p:nvPr/>
        </p:nvSpPr>
        <p:spPr>
          <a:xfrm>
            <a:off x="3039596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4D0ADDD7-D843-838B-E9A4-5EB01F8E6689}"/>
              </a:ext>
            </a:extLst>
          </p:cNvPr>
          <p:cNvSpPr/>
          <p:nvPr/>
        </p:nvSpPr>
        <p:spPr>
          <a:xfrm>
            <a:off x="3588165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개월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BDFAB45-FF6F-2F63-3798-AC6962324F78}"/>
              </a:ext>
            </a:extLst>
          </p:cNvPr>
          <p:cNvSpPr/>
          <p:nvPr/>
        </p:nvSpPr>
        <p:spPr>
          <a:xfrm>
            <a:off x="4136733" y="929087"/>
            <a:ext cx="498772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년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2A33873-EDC9-9169-9DBC-9F7FA3D70C2D}"/>
              </a:ext>
            </a:extLst>
          </p:cNvPr>
          <p:cNvSpPr/>
          <p:nvPr/>
        </p:nvSpPr>
        <p:spPr>
          <a:xfrm>
            <a:off x="6867117" y="1901705"/>
            <a:ext cx="821743" cy="21544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ctr"/>
          <a:lstStyle/>
          <a:p>
            <a:pPr algn="l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개씩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8275EA3-FC2C-2179-644E-A4DFBA10C7CC}"/>
              </a:ext>
            </a:extLst>
          </p:cNvPr>
          <p:cNvSpPr/>
          <p:nvPr/>
        </p:nvSpPr>
        <p:spPr>
          <a:xfrm>
            <a:off x="7688579" y="1901705"/>
            <a:ext cx="215441" cy="21544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▼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8E18532-4A61-6B51-6E86-9C253BF88D5C}"/>
              </a:ext>
            </a:extLst>
          </p:cNvPr>
          <p:cNvSpPr txBox="1"/>
          <p:nvPr/>
        </p:nvSpPr>
        <p:spPr>
          <a:xfrm>
            <a:off x="181506" y="1888187"/>
            <a:ext cx="2975920" cy="2308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전체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55</a:t>
            </a:r>
            <a:r>
              <a:rPr lang="ko-KR" altLang="en-US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건 현재 </a:t>
            </a:r>
            <a:r>
              <a:rPr lang="en-US" altLang="ko-KR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r>
              <a:rPr lang="en-US" altLang="ko-KR" sz="9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/4</a:t>
            </a:r>
            <a:endParaRPr lang="ko-KR" altLang="en-US" sz="900" b="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8B3B9AED-A879-4392-CE12-A244DA9192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970433"/>
              </p:ext>
            </p:extLst>
          </p:nvPr>
        </p:nvGraphicFramePr>
        <p:xfrm>
          <a:off x="181506" y="2204864"/>
          <a:ext cx="7722513" cy="202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337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3045867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  <a:gridCol w="993048">
                  <a:extLst>
                    <a:ext uri="{9D8B030D-6E8A-4147-A177-3AD203B41FA5}">
                      <a16:colId xmlns:a16="http://schemas.microsoft.com/office/drawing/2014/main" val="175949893"/>
                    </a:ext>
                  </a:extLst>
                </a:gridCol>
                <a:gridCol w="919733">
                  <a:extLst>
                    <a:ext uri="{9D8B030D-6E8A-4147-A177-3AD203B41FA5}">
                      <a16:colId xmlns:a16="http://schemas.microsoft.com/office/drawing/2014/main" val="2606137487"/>
                    </a:ext>
                  </a:extLst>
                </a:gridCol>
                <a:gridCol w="672778">
                  <a:extLst>
                    <a:ext uri="{9D8B030D-6E8A-4147-A177-3AD203B41FA5}">
                      <a16:colId xmlns:a16="http://schemas.microsoft.com/office/drawing/2014/main" val="3361869317"/>
                    </a:ext>
                  </a:extLst>
                </a:gridCol>
                <a:gridCol w="557017">
                  <a:extLst>
                    <a:ext uri="{9D8B030D-6E8A-4147-A177-3AD203B41FA5}">
                      <a16:colId xmlns:a16="http://schemas.microsoft.com/office/drawing/2014/main" val="1778558004"/>
                    </a:ext>
                  </a:extLst>
                </a:gridCol>
                <a:gridCol w="919733">
                  <a:extLst>
                    <a:ext uri="{9D8B030D-6E8A-4147-A177-3AD203B41FA5}">
                      <a16:colId xmlns:a16="http://schemas.microsoft.com/office/drawing/2014/main" val="6482932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No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작성업체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상태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답변일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선정 후 회사의 기본 정보를 수정하고 싶어요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2026.06.30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답변요청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-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25,213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선정 후 회사의 기본 정보를 수정하고 싶어요</a:t>
                      </a:r>
                      <a:r>
                        <a:rPr lang="en-US" altLang="ko-KR" sz="800" b="0" u="sng" dirty="0">
                          <a:solidFill>
                            <a:srgbClr val="0070C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A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답변완료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2026.07.02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03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B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076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17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25,210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250339"/>
                  </a:ext>
                </a:extLst>
              </a:tr>
            </a:tbl>
          </a:graphicData>
        </a:graphic>
      </p:graphicFrame>
      <p:grpSp>
        <p:nvGrpSpPr>
          <p:cNvPr id="75" name="그룹 74">
            <a:extLst>
              <a:ext uri="{FF2B5EF4-FFF2-40B4-BE49-F238E27FC236}">
                <a16:creationId xmlns:a16="http://schemas.microsoft.com/office/drawing/2014/main" id="{A894567D-2F5D-D5B2-0974-C080251883AE}"/>
              </a:ext>
            </a:extLst>
          </p:cNvPr>
          <p:cNvGrpSpPr/>
          <p:nvPr/>
        </p:nvGrpSpPr>
        <p:grpSpPr>
          <a:xfrm>
            <a:off x="2004219" y="4349390"/>
            <a:ext cx="4025354" cy="216024"/>
            <a:chOff x="2992062" y="4869160"/>
            <a:chExt cx="4025354" cy="216024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23095DB7-FF7A-7E17-6576-F8EFB3B4DE93}"/>
                </a:ext>
              </a:extLst>
            </p:cNvPr>
            <p:cNvSpPr/>
            <p:nvPr/>
          </p:nvSpPr>
          <p:spPr>
            <a:xfrm>
              <a:off x="2992062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◀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F175D952-13C3-2DF1-3CCB-24C51C6476D3}"/>
                </a:ext>
              </a:extLst>
            </p:cNvPr>
            <p:cNvSpPr/>
            <p:nvPr/>
          </p:nvSpPr>
          <p:spPr>
            <a:xfrm>
              <a:off x="3285089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&lt;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A4BEE38A-E048-1C7B-2BC5-9F6FD6A51B38}"/>
                </a:ext>
              </a:extLst>
            </p:cNvPr>
            <p:cNvSpPr/>
            <p:nvPr/>
          </p:nvSpPr>
          <p:spPr>
            <a:xfrm>
              <a:off x="3578116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39C2BDFE-0AE7-9FA1-B66E-7F59221CE0F3}"/>
                </a:ext>
              </a:extLst>
            </p:cNvPr>
            <p:cNvSpPr/>
            <p:nvPr/>
          </p:nvSpPr>
          <p:spPr>
            <a:xfrm>
              <a:off x="3871143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2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AB5EA74B-CA1B-0D4C-E6C1-801D52338B02}"/>
                </a:ext>
              </a:extLst>
            </p:cNvPr>
            <p:cNvSpPr/>
            <p:nvPr/>
          </p:nvSpPr>
          <p:spPr>
            <a:xfrm>
              <a:off x="4164170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3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9D158265-560D-3DC5-4689-0946ADED19BD}"/>
                </a:ext>
              </a:extLst>
            </p:cNvPr>
            <p:cNvSpPr/>
            <p:nvPr/>
          </p:nvSpPr>
          <p:spPr>
            <a:xfrm>
              <a:off x="4457197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4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1B248424-F797-B10C-7298-2740B223625C}"/>
                </a:ext>
              </a:extLst>
            </p:cNvPr>
            <p:cNvSpPr/>
            <p:nvPr/>
          </p:nvSpPr>
          <p:spPr>
            <a:xfrm>
              <a:off x="4750224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5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7634007B-1520-9B2C-100F-ADC407AA9001}"/>
                </a:ext>
              </a:extLst>
            </p:cNvPr>
            <p:cNvSpPr/>
            <p:nvPr/>
          </p:nvSpPr>
          <p:spPr>
            <a:xfrm>
              <a:off x="5043251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6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F739C658-1671-A15D-6028-EA3601BF93A5}"/>
                </a:ext>
              </a:extLst>
            </p:cNvPr>
            <p:cNvSpPr/>
            <p:nvPr/>
          </p:nvSpPr>
          <p:spPr>
            <a:xfrm>
              <a:off x="5336278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7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372EB6A7-7BB0-E7E6-5142-7E9499D79A97}"/>
                </a:ext>
              </a:extLst>
            </p:cNvPr>
            <p:cNvSpPr/>
            <p:nvPr/>
          </p:nvSpPr>
          <p:spPr>
            <a:xfrm>
              <a:off x="5629305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8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F861C907-8E13-3B22-E265-9733AE0A0AF9}"/>
                </a:ext>
              </a:extLst>
            </p:cNvPr>
            <p:cNvSpPr/>
            <p:nvPr/>
          </p:nvSpPr>
          <p:spPr>
            <a:xfrm>
              <a:off x="5922332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9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C211D660-4231-268A-0DF5-46B4AF2E260F}"/>
                </a:ext>
              </a:extLst>
            </p:cNvPr>
            <p:cNvSpPr/>
            <p:nvPr/>
          </p:nvSpPr>
          <p:spPr>
            <a:xfrm>
              <a:off x="6215359" y="4869160"/>
              <a:ext cx="216000" cy="2160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10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2D003800-FEF3-A37A-9C4F-77AA4AD160E7}"/>
                </a:ext>
              </a:extLst>
            </p:cNvPr>
            <p:cNvSpPr/>
            <p:nvPr/>
          </p:nvSpPr>
          <p:spPr>
            <a:xfrm>
              <a:off x="650838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&gt;</a:t>
              </a:r>
              <a:endParaRPr lang="ko-KR" altLang="en-US" sz="800" dirty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A1736329-ABBC-71F5-D122-C263D9E18EFB}"/>
                </a:ext>
              </a:extLst>
            </p:cNvPr>
            <p:cNvSpPr/>
            <p:nvPr/>
          </p:nvSpPr>
          <p:spPr>
            <a:xfrm>
              <a:off x="6801416" y="4869160"/>
              <a:ext cx="216000" cy="21602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▶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E302CF3-FCA4-C966-5FA5-0CEDC545D9DA}"/>
              </a:ext>
            </a:extLst>
          </p:cNvPr>
          <p:cNvSpPr/>
          <p:nvPr/>
        </p:nvSpPr>
        <p:spPr>
          <a:xfrm>
            <a:off x="-1690381" y="1098519"/>
            <a:ext cx="1467136" cy="79406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405604A-1186-4D97-3D79-A02043549D11}"/>
              </a:ext>
            </a:extLst>
          </p:cNvPr>
          <p:cNvSpPr/>
          <p:nvPr/>
        </p:nvSpPr>
        <p:spPr>
          <a:xfrm>
            <a:off x="1342778" y="132201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2675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318B9-5C55-CDB8-1699-04AE9F77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89D5941D-05E9-676B-02FC-527B6778025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3C71D2-4E1E-B1E8-41DF-342F8156AE5D}"/>
              </a:ext>
            </a:extLst>
          </p:cNvPr>
          <p:cNvSpPr txBox="1"/>
          <p:nvPr/>
        </p:nvSpPr>
        <p:spPr>
          <a:xfrm>
            <a:off x="749224" y="25608"/>
            <a:ext cx="14141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3DD2D-DD59-C977-DC13-857871D1A731}"/>
              </a:ext>
            </a:extLst>
          </p:cNvPr>
          <p:cNvSpPr txBox="1"/>
          <p:nvPr/>
        </p:nvSpPr>
        <p:spPr>
          <a:xfrm>
            <a:off x="8049344" y="584684"/>
            <a:ext cx="1856656" cy="23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Font typeface="+mj-ea"/>
              <a:buAutoNum type="circleNumDbPlain"/>
            </a:pP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9904D90-DB03-3A34-420B-D0318130F5B2}"/>
              </a:ext>
            </a:extLst>
          </p:cNvPr>
          <p:cNvSpPr/>
          <p:nvPr/>
        </p:nvSpPr>
        <p:spPr>
          <a:xfrm>
            <a:off x="164468" y="403565"/>
            <a:ext cx="636393" cy="246221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A92A632A-ACC6-0D29-E5DB-0475EE32E605}"/>
              </a:ext>
            </a:extLst>
          </p:cNvPr>
          <p:cNvCxnSpPr/>
          <p:nvPr/>
        </p:nvCxnSpPr>
        <p:spPr>
          <a:xfrm>
            <a:off x="164468" y="711804"/>
            <a:ext cx="7740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6379874-A7BB-5CC6-7632-AF693E68D8B4}"/>
              </a:ext>
            </a:extLst>
          </p:cNvPr>
          <p:cNvSpPr/>
          <p:nvPr/>
        </p:nvSpPr>
        <p:spPr>
          <a:xfrm>
            <a:off x="6392091" y="418953"/>
            <a:ext cx="1513236" cy="215444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r"/>
            <a:r>
              <a:rPr lang="en-US" altLang="ko-KR" sz="800" b="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 &gt; 1Depth &gt; 2Depth &gt; </a:t>
            </a:r>
            <a:r>
              <a:rPr lang="en-US" altLang="ko-KR" sz="800" dirty="0">
                <a:solidFill>
                  <a:prstClr val="black">
                    <a:lumMod val="75000"/>
                    <a:lumOff val="25000"/>
                  </a:prst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3Depth</a:t>
            </a:r>
            <a:endParaRPr lang="ko-KR" altLang="en-US" sz="80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9EABA85-E0CA-8B14-788D-AA302F402C24}"/>
              </a:ext>
            </a:extLst>
          </p:cNvPr>
          <p:cNvSpPr/>
          <p:nvPr/>
        </p:nvSpPr>
        <p:spPr>
          <a:xfrm>
            <a:off x="-1688466" y="0"/>
            <a:ext cx="1467136" cy="8014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44000" rtlCol="0" anchor="b" anchorCtr="0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전자입찰시스템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(SRM)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Picture 1">
            <a:extLst>
              <a:ext uri="{FF2B5EF4-FFF2-40B4-BE49-F238E27FC236}">
                <a16:creationId xmlns:a16="http://schemas.microsoft.com/office/drawing/2014/main" id="{1A446B20-950D-445E-7097-C92F5A217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0908" y="146463"/>
            <a:ext cx="1181862" cy="2769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ADDF25E-2404-7D76-E729-63D863CCFDDF}"/>
              </a:ext>
            </a:extLst>
          </p:cNvPr>
          <p:cNvSpPr txBox="1"/>
          <p:nvPr/>
        </p:nvSpPr>
        <p:spPr>
          <a:xfrm>
            <a:off x="180526" y="5721388"/>
            <a:ext cx="4951562" cy="466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첫 번째로 첨부된 파일명</a:t>
            </a:r>
            <a:r>
              <a:rPr kumimoji="1" lang="en-US" altLang="ko-KR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.PDF</a:t>
            </a:r>
          </a:p>
          <a:p>
            <a:pPr marL="72000" indent="-72000" algn="l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두 번째로 첨부된 파일명</a:t>
            </a:r>
            <a:r>
              <a:rPr lang="en-US" altLang="ko-KR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.HWP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16149E4-1451-01B2-A7B6-BCF13B37AC6E}"/>
              </a:ext>
            </a:extLst>
          </p:cNvPr>
          <p:cNvGrpSpPr/>
          <p:nvPr/>
        </p:nvGrpSpPr>
        <p:grpSpPr>
          <a:xfrm>
            <a:off x="1693888" y="5713004"/>
            <a:ext cx="1278892" cy="198885"/>
            <a:chOff x="1693888" y="5290969"/>
            <a:chExt cx="1507496" cy="198885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F3E673F-FBCB-A324-318B-394C9DA82266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7284DC17-411B-385C-B2AA-2DDC813F3EC3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6EA1BA2-9473-0A5E-3C91-2F60A6568554}"/>
              </a:ext>
            </a:extLst>
          </p:cNvPr>
          <p:cNvGrpSpPr/>
          <p:nvPr/>
        </p:nvGrpSpPr>
        <p:grpSpPr>
          <a:xfrm>
            <a:off x="1737018" y="5958969"/>
            <a:ext cx="1278892" cy="198885"/>
            <a:chOff x="1693888" y="5290969"/>
            <a:chExt cx="1507496" cy="19888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FA9FF351-0E4E-E2CB-A8B3-7D47AF7D23EC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CB2B0CD-30D0-2F53-8FC1-9EF9F1FF1E09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91117CA-F302-59E6-FEAD-7C2957BC4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987083"/>
              </p:ext>
            </p:extLst>
          </p:nvPr>
        </p:nvGraphicFramePr>
        <p:xfrm>
          <a:off x="164468" y="1087820"/>
          <a:ext cx="7632847" cy="135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912049012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758933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제목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협력업체 선정 후 회사의 기본 정보를 수정하고 싶어요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~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619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처리상태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답변요청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 |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답변완료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646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작성업체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)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큐비트엑스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334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2026.06.30 15:34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525936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FC1742DA-0653-7CFF-9268-CCFDF8B9E54B}"/>
              </a:ext>
            </a:extLst>
          </p:cNvPr>
          <p:cNvSpPr/>
          <p:nvPr/>
        </p:nvSpPr>
        <p:spPr>
          <a:xfrm>
            <a:off x="180526" y="2543742"/>
            <a:ext cx="7740859" cy="3098753"/>
          </a:xfrm>
          <a:prstGeom prst="rect">
            <a:avLst/>
          </a:prstGeom>
          <a:solidFill>
            <a:srgbClr val="40404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u="sng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Text Area로</a:t>
            </a:r>
            <a:r>
              <a:rPr lang="en-US" altLang="ko-KR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500" u="sng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작성된</a:t>
            </a:r>
            <a:r>
              <a:rPr lang="ko-KR" altLang="en-US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질문 내용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BF100AC-B5BD-9D6E-A9FF-6A60CF142EEC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계속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E10941A-B756-ECC9-ED43-98240AB792DF}"/>
              </a:ext>
            </a:extLst>
          </p:cNvPr>
          <p:cNvSpPr/>
          <p:nvPr/>
        </p:nvSpPr>
        <p:spPr>
          <a:xfrm>
            <a:off x="195586" y="818451"/>
            <a:ext cx="468077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 내용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ED96D4-9051-04CA-E1E9-5DFA658EB7E6}"/>
              </a:ext>
            </a:extLst>
          </p:cNvPr>
          <p:cNvSpPr/>
          <p:nvPr/>
        </p:nvSpPr>
        <p:spPr>
          <a:xfrm>
            <a:off x="-1690381" y="1098519"/>
            <a:ext cx="1467136" cy="794064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신청</a:t>
            </a:r>
            <a:r>
              <a:rPr lang="en-US" altLang="ko-KR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변경 요청 처리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  <a:endParaRPr lang="en-US" altLang="ko-KR" sz="800" spc="-50" dirty="0">
              <a:solidFill>
                <a:schemeClr val="tx1">
                  <a:lumMod val="75000"/>
                  <a:lumOff val="2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72000" indent="-72000" algn="l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ko-KR" altLang="en-US" sz="800" u="sng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C59E401-F3C5-FE66-E979-0C7AC6C8F2FC}"/>
              </a:ext>
            </a:extLst>
          </p:cNvPr>
          <p:cNvSpPr/>
          <p:nvPr/>
        </p:nvSpPr>
        <p:spPr>
          <a:xfrm>
            <a:off x="-1690381" y="798199"/>
            <a:ext cx="1467136" cy="299494"/>
          </a:xfrm>
          <a:prstGeom prst="rect">
            <a:avLst/>
          </a:prstGeom>
          <a:solidFill>
            <a:srgbClr val="FFC000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l"/>
            <a:r>
              <a:rPr kumimoji="1" lang="ko-KR" altLang="en-US" sz="8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</a:t>
            </a:r>
          </a:p>
        </p:txBody>
      </p:sp>
    </p:spTree>
    <p:extLst>
      <p:ext uri="{BB962C8B-B14F-4D97-AF65-F5344CB8AC3E}">
        <p14:creationId xmlns:p14="http://schemas.microsoft.com/office/powerpoint/2010/main" val="2500860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4BBC2-F037-936C-877B-E387DA507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50B3B21E-3D8B-2C4C-B267-76A9F9EB7A3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40532" y="17201"/>
            <a:ext cx="2376264" cy="216000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C5334F-EA9B-1CD1-DBF1-7C9EB04F770B}"/>
              </a:ext>
            </a:extLst>
          </p:cNvPr>
          <p:cNvSpPr txBox="1"/>
          <p:nvPr/>
        </p:nvSpPr>
        <p:spPr>
          <a:xfrm>
            <a:off x="749224" y="25608"/>
            <a:ext cx="141417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협력업체 관리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질문과 답변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7CDB2-5BAF-1B46-1C58-E2D84F187CC3}"/>
              </a:ext>
            </a:extLst>
          </p:cNvPr>
          <p:cNvSpPr txBox="1"/>
          <p:nvPr/>
        </p:nvSpPr>
        <p:spPr>
          <a:xfrm>
            <a:off x="8049344" y="584684"/>
            <a:ext cx="1856656" cy="1357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000" indent="-108000" algn="l">
              <a:lnSpc>
                <a:spcPct val="130000"/>
              </a:lnSpc>
              <a:buFont typeface="+mj-ea"/>
              <a:buAutoNum type="circleNumDbPlain"/>
            </a:pPr>
            <a:r>
              <a:rPr 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답변 내용 등록 시 고객 통보(수정 시에는 고객 통보 안 함)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</a:b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고객 통보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: MSG-009</a:t>
            </a: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</a:br>
            <a:b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</a:br>
            <a:endParaRPr lang="ko-KR" sz="800" dirty="0">
              <a:solidFill>
                <a:schemeClr val="tx1">
                  <a:lumMod val="75000"/>
                  <a:lumOff val="25000"/>
                </a:schemeClr>
              </a:solidFill>
              <a:latin typeface="나눔고딕"/>
              <a:ea typeface="나눔고딕"/>
            </a:endParaRPr>
          </a:p>
          <a:p>
            <a:pPr marL="108000" indent="-108000" algn="l">
              <a:lnSpc>
                <a:spcPct val="130000"/>
              </a:lnSpc>
              <a:buFont typeface="+mj-ea"/>
              <a:buAutoNum type="circleNumDbPlain"/>
            </a:pPr>
            <a:r>
              <a:rPr 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/>
                <a:ea typeface="나눔고딕"/>
              </a:rPr>
              <a:t>답변 내용 삭제: 질문 글 자체는 관리자가 삭제할 수 없음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5620548-617E-4E74-4DE7-4B72E3E800A0}"/>
              </a:ext>
            </a:extLst>
          </p:cNvPr>
          <p:cNvCxnSpPr>
            <a:cxnSpLocks/>
          </p:cNvCxnSpPr>
          <p:nvPr/>
        </p:nvCxnSpPr>
        <p:spPr>
          <a:xfrm>
            <a:off x="167468" y="3385870"/>
            <a:ext cx="773785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FBDCFCC-8F33-259F-2000-D80A99AD62D6}"/>
              </a:ext>
            </a:extLst>
          </p:cNvPr>
          <p:cNvSpPr/>
          <p:nvPr/>
        </p:nvSpPr>
        <p:spPr>
          <a:xfrm>
            <a:off x="164468" y="3511812"/>
            <a:ext cx="69941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목록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EEEE5C0-5817-FBF4-3511-4B018EF379B2}"/>
              </a:ext>
            </a:extLst>
          </p:cNvPr>
          <p:cNvGrpSpPr/>
          <p:nvPr/>
        </p:nvGrpSpPr>
        <p:grpSpPr>
          <a:xfrm>
            <a:off x="5961112" y="3511134"/>
            <a:ext cx="1905386" cy="288032"/>
            <a:chOff x="5672823" y="1435096"/>
            <a:chExt cx="2193675" cy="288032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937BF5C-1134-F6EB-8565-6F4B1C9FE8E1}"/>
                </a:ext>
              </a:extLst>
            </p:cNvPr>
            <p:cNvSpPr/>
            <p:nvPr/>
          </p:nvSpPr>
          <p:spPr>
            <a:xfrm>
              <a:off x="5672823" y="1435096"/>
              <a:ext cx="1184813" cy="28803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답변 </a:t>
              </a:r>
              <a:r>
                <a:rPr lang="ko-KR" altLang="en-US" sz="900">
                  <a:latin typeface="나눔고딕" panose="020D0604000000000000" pitchFamily="50" charset="-127"/>
                  <a:ea typeface="나눔고딕" panose="020D0604000000000000" pitchFamily="50" charset="-127"/>
                </a:rPr>
                <a:t>등록</a:t>
              </a:r>
              <a:r>
                <a:rPr lang="en-US" altLang="ko-KR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/</a:t>
              </a:r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수정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B5D19F8-3091-0690-A6FD-51DC8D48D326}"/>
                </a:ext>
              </a:extLst>
            </p:cNvPr>
            <p:cNvSpPr/>
            <p:nvPr/>
          </p:nvSpPr>
          <p:spPr>
            <a:xfrm>
              <a:off x="6930394" y="1435096"/>
              <a:ext cx="936104" cy="28803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삭제</a:t>
              </a: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D95D9AD-DA36-EE40-6664-1C40EDA67C98}"/>
              </a:ext>
            </a:extLst>
          </p:cNvPr>
          <p:cNvSpPr/>
          <p:nvPr/>
        </p:nvSpPr>
        <p:spPr>
          <a:xfrm>
            <a:off x="0" y="6489340"/>
            <a:ext cx="8049344" cy="1800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Footer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66380EE0-456E-F27D-4495-831222C4F7F1}"/>
              </a:ext>
            </a:extLst>
          </p:cNvPr>
          <p:cNvGraphicFramePr>
            <a:graphicFrameLocks noGrp="1"/>
          </p:cNvGraphicFramePr>
          <p:nvPr/>
        </p:nvGraphicFramePr>
        <p:xfrm>
          <a:off x="197590" y="680255"/>
          <a:ext cx="7632847" cy="67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5692">
                  <a:extLst>
                    <a:ext uri="{9D8B030D-6E8A-4147-A177-3AD203B41FA5}">
                      <a16:colId xmlns:a16="http://schemas.microsoft.com/office/drawing/2014/main" val="564948838"/>
                    </a:ext>
                  </a:extLst>
                </a:gridCol>
                <a:gridCol w="6527155">
                  <a:extLst>
                    <a:ext uri="{9D8B030D-6E8A-4147-A177-3AD203B41FA5}">
                      <a16:colId xmlns:a16="http://schemas.microsoft.com/office/drawing/2014/main" val="41439687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147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답변일시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2026.07.02 15:34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901923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A7675FAF-6B44-B3FF-386A-F6C58212E1BA}"/>
              </a:ext>
            </a:extLst>
          </p:cNvPr>
          <p:cNvSpPr/>
          <p:nvPr/>
        </p:nvSpPr>
        <p:spPr>
          <a:xfrm>
            <a:off x="180526" y="1448859"/>
            <a:ext cx="7740859" cy="1219512"/>
          </a:xfrm>
          <a:prstGeom prst="rect">
            <a:avLst/>
          </a:prstGeom>
          <a:solidFill>
            <a:srgbClr val="40404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u="sng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Editor로</a:t>
            </a:r>
            <a:r>
              <a:rPr lang="en-US" altLang="ko-KR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500" u="sng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작성된</a:t>
            </a:r>
            <a:r>
              <a:rPr lang="ko-KR" altLang="en-US" sz="1500" u="sng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답변 내용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377FDAF-1D2E-C88B-F71E-B3B63271E849}"/>
              </a:ext>
            </a:extLst>
          </p:cNvPr>
          <p:cNvSpPr/>
          <p:nvPr/>
        </p:nvSpPr>
        <p:spPr>
          <a:xfrm>
            <a:off x="195586" y="375924"/>
            <a:ext cx="468077" cy="230832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ko-KR" altLang="en-US" sz="9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답변 내용</a:t>
            </a:r>
            <a:endParaRPr lang="ko-KR" altLang="en-US" sz="9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B42C79-B3A5-735F-7342-EAF1CF2E917F}"/>
              </a:ext>
            </a:extLst>
          </p:cNvPr>
          <p:cNvSpPr txBox="1"/>
          <p:nvPr/>
        </p:nvSpPr>
        <p:spPr>
          <a:xfrm>
            <a:off x="180526" y="2806981"/>
            <a:ext cx="4951562" cy="466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2000" marR="0" lvl="0" indent="-72000" algn="l" defTabSz="914400" rtl="0" eaLnBrk="1" fontAlgn="base" latinLnBrk="1" hangingPunct="1">
              <a:spcBef>
                <a:spcPts val="50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1" lang="ko-KR" altLang="en-US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첫 번째로 첨부된 파일명</a:t>
            </a:r>
            <a:r>
              <a:rPr kumimoji="1" lang="en-US" altLang="ko-KR" sz="800" b="0" i="0" u="sng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.PDF</a:t>
            </a:r>
          </a:p>
          <a:p>
            <a:pPr marL="72000" indent="-72000" algn="l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/>
            </a:pPr>
            <a:r>
              <a:rPr lang="ko-KR" altLang="en-US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두 번째로 첨부된 파일명</a:t>
            </a:r>
            <a:r>
              <a:rPr lang="en-US" altLang="ko-KR" sz="800" b="0" u="sng" dirty="0">
                <a:solidFill>
                  <a:srgbClr val="0070C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.HWP</a:t>
            </a:r>
            <a:endParaRPr lang="en-US" altLang="ko-KR" sz="800" b="0" dirty="0">
              <a:solidFill>
                <a:prstClr val="black">
                  <a:lumMod val="75000"/>
                  <a:lumOff val="25000"/>
                </a:prst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DB2749F-78C6-DB6B-DE4A-8DD224D21146}"/>
              </a:ext>
            </a:extLst>
          </p:cNvPr>
          <p:cNvGrpSpPr/>
          <p:nvPr/>
        </p:nvGrpSpPr>
        <p:grpSpPr>
          <a:xfrm>
            <a:off x="1693888" y="2798597"/>
            <a:ext cx="1278892" cy="198885"/>
            <a:chOff x="1693888" y="5290969"/>
            <a:chExt cx="1507496" cy="198885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B078B50-F298-2A8D-9A8C-6E5A0E83B353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AE67F3B-DB9E-A18B-4B74-F1677CCFD5AD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BDCE9A5-09BF-B62B-A05B-C5E651D8E33D}"/>
              </a:ext>
            </a:extLst>
          </p:cNvPr>
          <p:cNvGrpSpPr/>
          <p:nvPr/>
        </p:nvGrpSpPr>
        <p:grpSpPr>
          <a:xfrm>
            <a:off x="1737018" y="3044562"/>
            <a:ext cx="1278892" cy="198885"/>
            <a:chOff x="1693888" y="5290969"/>
            <a:chExt cx="1507496" cy="198885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B77C631F-BE0D-467B-1948-A08A2B49AF69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ED4D1DF5-BE30-BC70-7290-B74E6C39CA90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3D1CD87-7778-1DA3-D050-35D658CD8DFA}"/>
              </a:ext>
            </a:extLst>
          </p:cNvPr>
          <p:cNvSpPr/>
          <p:nvPr/>
        </p:nvSpPr>
        <p:spPr>
          <a:xfrm>
            <a:off x="754066" y="4011432"/>
            <a:ext cx="7391699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답변 등록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F19F190-8C66-E62A-EED1-C852934D140C}"/>
              </a:ext>
            </a:extLst>
          </p:cNvPr>
          <p:cNvSpPr/>
          <p:nvPr/>
        </p:nvSpPr>
        <p:spPr>
          <a:xfrm>
            <a:off x="754067" y="4284342"/>
            <a:ext cx="7391698" cy="420547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9C048D5-72B8-5062-9355-964544824F6D}"/>
              </a:ext>
            </a:extLst>
          </p:cNvPr>
          <p:cNvSpPr/>
          <p:nvPr/>
        </p:nvSpPr>
        <p:spPr>
          <a:xfrm>
            <a:off x="7875765" y="4011432"/>
            <a:ext cx="270000" cy="269781"/>
          </a:xfrm>
          <a:prstGeom prst="rect">
            <a:avLst/>
          </a:prstGeom>
          <a:solidFill>
            <a:srgbClr val="0070C0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X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80EF678-94C3-0DD8-93FB-E3115443A001}"/>
              </a:ext>
            </a:extLst>
          </p:cNvPr>
          <p:cNvSpPr/>
          <p:nvPr/>
        </p:nvSpPr>
        <p:spPr>
          <a:xfrm>
            <a:off x="891161" y="4388724"/>
            <a:ext cx="965008" cy="261610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0" algn="l"/>
            <a:r>
              <a:rPr lang="en-US" altLang="ko-KR" sz="1100" dirty="0">
                <a:solidFill>
                  <a:srgbClr val="C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|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답변 등록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4D7FD7C0-7155-EAE1-5FBF-9FC386662CA3}"/>
              </a:ext>
            </a:extLst>
          </p:cNvPr>
          <p:cNvSpPr/>
          <p:nvPr/>
        </p:nvSpPr>
        <p:spPr>
          <a:xfrm>
            <a:off x="7058945" y="7998107"/>
            <a:ext cx="813083" cy="28803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취소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C90FB099-6ADE-E484-5FD0-EA439E802EA0}"/>
              </a:ext>
            </a:extLst>
          </p:cNvPr>
          <p:cNvSpPr/>
          <p:nvPr/>
        </p:nvSpPr>
        <p:spPr>
          <a:xfrm>
            <a:off x="6195180" y="7998107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수정</a:t>
            </a:r>
          </a:p>
        </p:txBody>
      </p:sp>
      <p:graphicFrame>
        <p:nvGraphicFramePr>
          <p:cNvPr id="85" name="표 84">
            <a:extLst>
              <a:ext uri="{FF2B5EF4-FFF2-40B4-BE49-F238E27FC236}">
                <a16:creationId xmlns:a16="http://schemas.microsoft.com/office/drawing/2014/main" id="{16BDBA60-B330-A8AD-1559-17F789A3CF42}"/>
              </a:ext>
            </a:extLst>
          </p:cNvPr>
          <p:cNvGraphicFramePr>
            <a:graphicFrameLocks noGrp="1"/>
          </p:cNvGraphicFramePr>
          <p:nvPr/>
        </p:nvGraphicFramePr>
        <p:xfrm>
          <a:off x="900221" y="4716673"/>
          <a:ext cx="7090649" cy="318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028">
                  <a:extLst>
                    <a:ext uri="{9D8B030D-6E8A-4147-A177-3AD203B41FA5}">
                      <a16:colId xmlns:a16="http://schemas.microsoft.com/office/drawing/2014/main" val="564948838"/>
                    </a:ext>
                  </a:extLst>
                </a:gridCol>
                <a:gridCol w="5970621">
                  <a:extLst>
                    <a:ext uri="{9D8B030D-6E8A-4147-A177-3AD203B41FA5}">
                      <a16:colId xmlns:a16="http://schemas.microsoft.com/office/drawing/2014/main" val="41439687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답변자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홍길동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147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답변내용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901923"/>
                  </a:ext>
                </a:extLst>
              </a:tr>
              <a:tr h="257919">
                <a:tc>
                  <a:txBody>
                    <a:bodyPr/>
                    <a:lstStyle/>
                    <a:p>
                      <a:pPr marL="72000" indent="-7200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등록된 첨부파일</a:t>
                      </a:r>
                      <a:r>
                        <a:rPr lang="ko-KR" altLang="en-US" sz="800" b="1" dirty="0">
                          <a:solidFill>
                            <a:srgbClr val="C00000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72000" marR="0" lvl="0" indent="-720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첫 번째로 첨부된 파일명</a:t>
                      </a:r>
                      <a:r>
                        <a:rPr kumimoji="1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.PDF</a:t>
                      </a:r>
                    </a:p>
                    <a:p>
                      <a:pPr marL="72000" marR="0" lvl="0" indent="-7200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ko-KR" altLang="en-US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두 번째로 첨부된 파일명</a:t>
                      </a:r>
                      <a:r>
                        <a:rPr kumimoji="1" lang="en-US" altLang="ko-KR" sz="800" b="0" i="0" u="sng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.HWP</a:t>
                      </a:r>
                      <a:endParaRPr kumimoji="1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45971"/>
                  </a:ext>
                </a:extLst>
              </a:tr>
              <a:tr h="247143">
                <a:tc>
                  <a:txBody>
                    <a:bodyPr/>
                    <a:lstStyle/>
                    <a:p>
                      <a:pPr marL="72000" marR="0" lvl="0" indent="-7200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첨부파일</a:t>
                      </a:r>
                      <a:endParaRPr lang="ko-KR" altLang="en-US" sz="800" b="1" dirty="0">
                        <a:solidFill>
                          <a:srgbClr val="C00000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  <a:p>
                      <a:pPr marL="0" marR="0" lvl="0" indent="0" algn="l" defTabSz="109728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108000" marB="10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67262"/>
                  </a:ext>
                </a:extLst>
              </a:tr>
            </a:tbl>
          </a:graphicData>
        </a:graphic>
      </p:graphicFrame>
      <p:sp>
        <p:nvSpPr>
          <p:cNvPr id="87" name="직사각형 86">
            <a:extLst>
              <a:ext uri="{FF2B5EF4-FFF2-40B4-BE49-F238E27FC236}">
                <a16:creationId xmlns:a16="http://schemas.microsoft.com/office/drawing/2014/main" id="{F24EF121-0677-6C17-9FFD-EEFCDD78C09A}"/>
              </a:ext>
            </a:extLst>
          </p:cNvPr>
          <p:cNvSpPr/>
          <p:nvPr/>
        </p:nvSpPr>
        <p:spPr>
          <a:xfrm>
            <a:off x="2095715" y="5124975"/>
            <a:ext cx="5723762" cy="13592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108000" rIns="108000" bIns="108000" rtlCol="0" anchor="t" anchorCtr="0"/>
          <a:lstStyle/>
          <a:p>
            <a:pPr lvl="0" algn="l" defTabSz="1097280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0" dirty="0">
                <a:solidFill>
                  <a:schemeClr val="bg1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Editor</a:t>
            </a:r>
            <a:endParaRPr kumimoji="0" lang="ko-KR" altLang="en-US" sz="800" b="0" dirty="0">
              <a:solidFill>
                <a:schemeClr val="bg1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9C12CDF-ED18-F5E2-13D1-1ADEEDB48180}"/>
              </a:ext>
            </a:extLst>
          </p:cNvPr>
          <p:cNvSpPr/>
          <p:nvPr/>
        </p:nvSpPr>
        <p:spPr>
          <a:xfrm>
            <a:off x="3491544" y="6675387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바로보기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FA3DC597-E5FC-04D5-24AC-46EE01FEBC6C}"/>
              </a:ext>
            </a:extLst>
          </p:cNvPr>
          <p:cNvSpPr/>
          <p:nvPr/>
        </p:nvSpPr>
        <p:spPr>
          <a:xfrm>
            <a:off x="4157471" y="6675387"/>
            <a:ext cx="612965" cy="198885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다운로드</a:t>
            </a: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054F13A2-14D3-87AB-6489-DAD4BEDC9AFB}"/>
              </a:ext>
            </a:extLst>
          </p:cNvPr>
          <p:cNvGrpSpPr/>
          <p:nvPr/>
        </p:nvGrpSpPr>
        <p:grpSpPr>
          <a:xfrm>
            <a:off x="3534674" y="6921352"/>
            <a:ext cx="1278892" cy="198885"/>
            <a:chOff x="1693888" y="5290969"/>
            <a:chExt cx="1507496" cy="198885"/>
          </a:xfrm>
        </p:grpSpPr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50089603-5286-791F-CC3E-391EEB3A3D88}"/>
                </a:ext>
              </a:extLst>
            </p:cNvPr>
            <p:cNvSpPr/>
            <p:nvPr/>
          </p:nvSpPr>
          <p:spPr>
            <a:xfrm>
              <a:off x="1693888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바로보기</a:t>
              </a: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7F00637C-280D-8F79-356F-5DE214CAEE5F}"/>
                </a:ext>
              </a:extLst>
            </p:cNvPr>
            <p:cNvSpPr/>
            <p:nvPr/>
          </p:nvSpPr>
          <p:spPr>
            <a:xfrm>
              <a:off x="2478850" y="5290969"/>
              <a:ext cx="722534" cy="19888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다운로드</a:t>
              </a:r>
            </a:p>
          </p:txBody>
        </p:sp>
      </p:grp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B994AE4-85A3-C01E-8B53-96C9406BB6C9}"/>
              </a:ext>
            </a:extLst>
          </p:cNvPr>
          <p:cNvSpPr/>
          <p:nvPr/>
        </p:nvSpPr>
        <p:spPr>
          <a:xfrm>
            <a:off x="4830818" y="6675387"/>
            <a:ext cx="612965" cy="19888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EEE86E15-6767-720A-698D-9F95B0B329EB}"/>
              </a:ext>
            </a:extLst>
          </p:cNvPr>
          <p:cNvSpPr/>
          <p:nvPr/>
        </p:nvSpPr>
        <p:spPr>
          <a:xfrm>
            <a:off x="4875154" y="6921351"/>
            <a:ext cx="612965" cy="198885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8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삭제</a:t>
            </a: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83730295-2394-7402-22A6-4E6834763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715" y="7252027"/>
            <a:ext cx="5723762" cy="601363"/>
          </a:xfrm>
          <a:prstGeom prst="rect">
            <a:avLst/>
          </a:prstGeom>
        </p:spPr>
      </p:pic>
      <p:sp>
        <p:nvSpPr>
          <p:cNvPr id="97" name="직사각형 96">
            <a:extLst>
              <a:ext uri="{FF2B5EF4-FFF2-40B4-BE49-F238E27FC236}">
                <a16:creationId xmlns:a16="http://schemas.microsoft.com/office/drawing/2014/main" id="{B6067AAB-573E-2B9A-5CE2-3D5A810BAE6D}"/>
              </a:ext>
            </a:extLst>
          </p:cNvPr>
          <p:cNvSpPr/>
          <p:nvPr/>
        </p:nvSpPr>
        <p:spPr>
          <a:xfrm>
            <a:off x="5331415" y="7998107"/>
            <a:ext cx="813083" cy="2880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>
                <a:latin typeface="나눔고딕" panose="020D0604000000000000" pitchFamily="50" charset="-127"/>
                <a:ea typeface="나눔고딕" panose="020D0604000000000000" pitchFamily="50" charset="-127"/>
              </a:rPr>
              <a:t>등록</a:t>
            </a:r>
            <a:endParaRPr lang="ko-KR" altLang="en-US" sz="9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7CCD5694-78E7-9B94-87E1-A59AC491573E}"/>
              </a:ext>
            </a:extLst>
          </p:cNvPr>
          <p:cNvCxnSpPr>
            <a:cxnSpLocks/>
            <a:stCxn id="24" idx="2"/>
            <a:endCxn id="39" idx="0"/>
          </p:cNvCxnSpPr>
          <p:nvPr/>
        </p:nvCxnSpPr>
        <p:spPr>
          <a:xfrm rot="5400000">
            <a:off x="5356658" y="2892424"/>
            <a:ext cx="212266" cy="2025750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71E1E2EC-404E-F99D-AD66-9FCFD35658E8}"/>
              </a:ext>
            </a:extLst>
          </p:cNvPr>
          <p:cNvSpPr/>
          <p:nvPr/>
        </p:nvSpPr>
        <p:spPr>
          <a:xfrm>
            <a:off x="5223403" y="7869530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2A34398-8D32-90D0-0B64-F4115EA6B822}"/>
              </a:ext>
            </a:extLst>
          </p:cNvPr>
          <p:cNvSpPr/>
          <p:nvPr/>
        </p:nvSpPr>
        <p:spPr>
          <a:xfrm>
            <a:off x="6990219" y="3392996"/>
            <a:ext cx="216024" cy="216024"/>
          </a:xfrm>
          <a:prstGeom prst="ellipse">
            <a:avLst/>
          </a:prstGeom>
          <a:solidFill>
            <a:srgbClr val="C00000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endParaRPr lang="ko-KR" altLang="en-US" sz="8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87251"/>
      </p:ext>
    </p:extLst>
  </p:cSld>
  <p:clrMapOvr>
    <a:masterClrMapping/>
  </p:clrMapOvr>
</p:sld>
</file>

<file path=ppt/theme/theme1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6237E21-6760-457B-9245-D753E3CCAFAB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d96d6512-9001-4f56-bd63-9c3a9ef8b012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109F5FE-BFE8-4300-AD34-0623A3CBFCB7}">
  <we:reference id="wa200010215" version="2.0.0.0" store="ko-KR" storeType="OMEX"/>
  <we:alternateReferences>
    <we:reference id="WA200010215" version="2.0.0.0" store="WA200010215" storeType="OMEX"/>
  </we:alternateReferences>
  <we:properties>
    <we:property name="bps.codex_control.document_id" value="&quot;2cb54443-08ec-45bf-85bd-0558ee9a641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242241</TotalTime>
  <Words>2260</Words>
  <Application>Microsoft Office PowerPoint</Application>
  <PresentationFormat>A4 용지(210x297mm)</PresentationFormat>
  <Paragraphs>825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나눔고딕</vt:lpstr>
      <vt:lpstr>Wingdings</vt:lpstr>
      <vt:lpstr>3_디자인 사용자 지정</vt:lpstr>
      <vt:lpstr>PowerPoint 프레젠테이션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Company>HIST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사회보장위원회_사회보장통계</dc:title>
  <dc:creator>조헌진</dc:creator>
  <cp:lastModifiedBy>10249 10249</cp:lastModifiedBy>
  <cp:revision>7875</cp:revision>
  <cp:lastPrinted>2019-06-18T05:05:25Z</cp:lastPrinted>
  <dcterms:created xsi:type="dcterms:W3CDTF">2006-06-07T02:37:19Z</dcterms:created>
  <dcterms:modified xsi:type="dcterms:W3CDTF">2026-09-15T23:33:12Z</dcterms:modified>
</cp:coreProperties>
</file>