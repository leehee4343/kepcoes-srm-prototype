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>
  <p:sldMasterIdLst>
    <p:sldMasterId id="2147484698" r:id="rId1"/>
  </p:sldMasterIdLst>
  <p:notesMasterIdLst>
    <p:notesMasterId r:id="rId24"/>
  </p:notesMasterIdLst>
  <p:handoutMasterIdLst>
    <p:handoutMasterId r:id="rId25"/>
  </p:handoutMasterIdLst>
  <p:sldIdLst>
    <p:sldId id="3218" r:id="rId2"/>
    <p:sldId id="3549" r:id="rId3"/>
    <p:sldId id="3550" r:id="rId4"/>
    <p:sldId id="3551" r:id="rId5"/>
    <p:sldId id="3555" r:id="rId6"/>
    <p:sldId id="3556" r:id="rId7"/>
    <p:sldId id="3554" r:id="rId8"/>
    <p:sldId id="3557" r:id="rId9"/>
    <p:sldId id="3566" r:id="rId10"/>
    <p:sldId id="3559" r:id="rId11"/>
    <p:sldId id="3560" r:id="rId12"/>
    <p:sldId id="3561" r:id="rId13"/>
    <p:sldId id="3539" r:id="rId14"/>
    <p:sldId id="3562" r:id="rId15"/>
    <p:sldId id="3563" r:id="rId16"/>
    <p:sldId id="3542" r:id="rId17"/>
    <p:sldId id="3564" r:id="rId18"/>
    <p:sldId id="3528" r:id="rId19"/>
    <p:sldId id="3521" r:id="rId20"/>
    <p:sldId id="3565" r:id="rId21"/>
    <p:sldId id="3529" r:id="rId22"/>
    <p:sldId id="3524" r:id="rId23"/>
  </p:sldIdLst>
  <p:sldSz cx="9906000" cy="6858000" type="A4"/>
  <p:notesSz cx="9926638" cy="6797675"/>
  <p:embeddedFontLst>
    <p:embeddedFont>
      <p:font typeface="나눔고딕" panose="020D0604000000000000" pitchFamily="50" charset="-127"/>
      <p:regular r:id="rId26"/>
      <p:bold r:id="rId27"/>
    </p:embeddedFont>
    <p:embeddedFont>
      <p:font typeface="맑은 고딕" panose="020B0503020000020004" pitchFamily="50" charset="-127"/>
      <p:regular r:id="rId28"/>
      <p:bold r:id="rId29"/>
    </p:embeddedFont>
  </p:embeddedFontLst>
  <p:defaultTextStyle>
    <a:defPPr>
      <a:defRPr lang="en-US"/>
    </a:defPPr>
    <a:lvl1pPr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1pPr>
    <a:lvl2pPr marL="54864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2pPr>
    <a:lvl3pPr marL="109728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3pPr>
    <a:lvl4pPr marL="164592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4pPr>
    <a:lvl5pPr marL="219456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5pPr>
    <a:lvl6pPr marL="274320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6pPr>
    <a:lvl7pPr marL="329184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7pPr>
    <a:lvl8pPr marL="384048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8pPr>
    <a:lvl9pPr marL="438912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81">
          <p15:clr>
            <a:srgbClr val="A4A3A4"/>
          </p15:clr>
        </p15:guide>
        <p15:guide id="2" orient="horz" pos="1830">
          <p15:clr>
            <a:srgbClr val="A4A3A4"/>
          </p15:clr>
        </p15:guide>
        <p15:guide id="3" orient="horz" pos="2616">
          <p15:clr>
            <a:srgbClr val="A4A3A4"/>
          </p15:clr>
        </p15:guide>
        <p15:guide id="4" pos="3511">
          <p15:clr>
            <a:srgbClr val="A4A3A4"/>
          </p15:clr>
        </p15:guide>
        <p15:guide id="5" pos="335">
          <p15:clr>
            <a:srgbClr val="A4A3A4"/>
          </p15:clr>
        </p15:guide>
        <p15:guide id="6" pos="4447">
          <p15:clr>
            <a:srgbClr val="A4A3A4"/>
          </p15:clr>
        </p15:guide>
        <p15:guide id="7" pos="6067">
          <p15:clr>
            <a:srgbClr val="A4A3A4"/>
          </p15:clr>
        </p15:guide>
        <p15:guide id="8" pos="2269">
          <p15:clr>
            <a:srgbClr val="A4A3A4"/>
          </p15:clr>
        </p15:guide>
        <p15:guide id="9" pos="5805">
          <p15:clr>
            <a:srgbClr val="A4A3A4"/>
          </p15:clr>
        </p15:guide>
        <p15:guide id="10" pos="4069">
          <p15:clr>
            <a:srgbClr val="A4A3A4"/>
          </p15:clr>
        </p15:guide>
        <p15:guide id="11" pos="344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ulydA" initials="C" lastIdx="1" clrIdx="0">
    <p:extLst>
      <p:ext uri="{19B8F6BF-5375-455C-9EA6-DF929625EA0E}">
        <p15:presenceInfo xmlns:p15="http://schemas.microsoft.com/office/powerpoint/2012/main" userId="ChulydA" providerId="None"/>
      </p:ext>
    </p:extLst>
  </p:cmAuthor>
  <p:cmAuthor id="2" name="heesung lee" initials="hl" lastIdx="16" clrIdx="1">
    <p:extLst>
      <p:ext uri="{19B8F6BF-5375-455C-9EA6-DF929625EA0E}">
        <p15:presenceInfo xmlns:p15="http://schemas.microsoft.com/office/powerpoint/2012/main" userId="106ef8bdd38f3c94" providerId="Windows Live"/>
      </p:ext>
    </p:extLst>
  </p:cmAuthor>
  <p:cmAuthor id="3" name="10249 10249" initials="11" lastIdx="2" clrIdx="2">
    <p:extLst>
      <p:ext uri="{19B8F6BF-5375-455C-9EA6-DF929625EA0E}">
        <p15:presenceInfo xmlns:p15="http://schemas.microsoft.com/office/powerpoint/2012/main" userId="S::M10249@365e.me::2244da32-1411-4fa9-ae10-0967a5e09c9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C000"/>
    <a:srgbClr val="404040"/>
    <a:srgbClr val="00B050"/>
    <a:srgbClr val="C00000"/>
    <a:srgbClr val="DCE6F2"/>
    <a:srgbClr val="596F8A"/>
    <a:srgbClr val="003965"/>
    <a:srgbClr val="C0504D"/>
    <a:srgbClr val="97A8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010" autoAdjust="0"/>
    <p:restoredTop sz="96391" autoAdjust="0"/>
  </p:normalViewPr>
  <p:slideViewPr>
    <p:cSldViewPr>
      <p:cViewPr varScale="1">
        <p:scale>
          <a:sx n="103" d="100"/>
          <a:sy n="103" d="100"/>
        </p:scale>
        <p:origin x="1131" y="45"/>
      </p:cViewPr>
      <p:guideLst>
        <p:guide orient="horz" pos="1281"/>
        <p:guide orient="horz" pos="1830"/>
        <p:guide orient="horz" pos="2616"/>
        <p:guide pos="3511"/>
        <p:guide pos="335"/>
        <p:guide pos="4447"/>
        <p:guide pos="6067"/>
        <p:guide pos="2269"/>
        <p:guide pos="5805"/>
        <p:guide pos="4069"/>
        <p:guide pos="34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나눔고딕" panose="020D0604000000000000" pitchFamily="50" charset="-127"/>
            </a:endParaRPr>
          </a:p>
        </p:txBody>
      </p:sp>
      <p:sp>
        <p:nvSpPr>
          <p:cNvPr id="3686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326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나눔고딕" panose="020D0604000000000000" pitchFamily="50" charset="-127"/>
            </a:endParaRPr>
          </a:p>
        </p:txBody>
      </p:sp>
      <p:sp>
        <p:nvSpPr>
          <p:cNvPr id="3686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나눔고딕" panose="020D0604000000000000" pitchFamily="50" charset="-127"/>
            </a:endParaRPr>
          </a:p>
        </p:txBody>
      </p:sp>
      <p:sp>
        <p:nvSpPr>
          <p:cNvPr id="3686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326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fld id="{958A078C-E9DF-4D7D-AA65-6B185DB752DA}" type="slidenum">
              <a:rPr lang="ko-KR" altLang="en-US">
                <a:latin typeface="나눔고딕" panose="020D0604000000000000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68710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326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792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24200" y="509588"/>
            <a:ext cx="3679825" cy="25479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499" y="3228357"/>
            <a:ext cx="7937644" cy="3060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dirty="0"/>
              <a:t>Click to edit Master text styles</a:t>
            </a:r>
          </a:p>
          <a:p>
            <a:pPr lvl="1"/>
            <a:r>
              <a:rPr lang="en-US" altLang="ko-KR" noProof="0" dirty="0"/>
              <a:t>Second level</a:t>
            </a:r>
          </a:p>
          <a:p>
            <a:pPr lvl="2"/>
            <a:r>
              <a:rPr lang="en-US" altLang="ko-KR" noProof="0" dirty="0"/>
              <a:t>Third level</a:t>
            </a:r>
          </a:p>
          <a:p>
            <a:pPr lvl="3"/>
            <a:r>
              <a:rPr lang="en-US" altLang="ko-KR" noProof="0" dirty="0"/>
              <a:t>Fourth level</a:t>
            </a:r>
          </a:p>
          <a:p>
            <a:pPr lvl="4"/>
            <a:r>
              <a:rPr lang="en-US" altLang="ko-KR" noProof="0" dirty="0"/>
              <a:t>Fifth level</a:t>
            </a:r>
          </a:p>
        </p:txBody>
      </p:sp>
      <p:sp>
        <p:nvSpPr>
          <p:cNvPr id="675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75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326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E1EB2694-E1AF-4855-92FC-08368CF64987}" type="slidenum">
              <a:rPr lang="ko-KR" altLang="en-US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095569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1pPr>
    <a:lvl2pPr marL="54864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2pPr>
    <a:lvl3pPr marL="109728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3pPr>
    <a:lvl4pPr marL="164592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4pPr>
    <a:lvl5pPr marL="219456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5pPr>
    <a:lvl6pPr marL="274320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124200" y="509588"/>
            <a:ext cx="3679825" cy="254793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EB2694-E1AF-4855-92FC-08368CF64987}" type="slidenum">
              <a:rPr lang="ko-KR" altLang="en-US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51781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99">
            <a:extLst>
              <a:ext uri="{FF2B5EF4-FFF2-40B4-BE49-F238E27FC236}">
                <a16:creationId xmlns:a16="http://schemas.microsoft.com/office/drawing/2014/main" id="{6F6EA833-4CCB-DDB7-25E2-F1E4EF28D16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36" y="6644475"/>
            <a:ext cx="989273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fld id="{3BD61D90-F798-4BAC-AFEE-3BFFDAD41B14}" type="slidenum">
              <a:rPr lang="en-US" altLang="ko-KR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ctr" eaLnBrk="1" hangingPunct="1">
                <a:spcBef>
                  <a:spcPct val="50000"/>
                </a:spcBef>
                <a:defRPr/>
              </a:pPr>
              <a:t>‹#›</a:t>
            </a:fld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-</a:t>
            </a:r>
          </a:p>
        </p:txBody>
      </p:sp>
      <p:pic>
        <p:nvPicPr>
          <p:cNvPr id="4" name="table">
            <a:extLst>
              <a:ext uri="{FF2B5EF4-FFF2-40B4-BE49-F238E27FC236}">
                <a16:creationId xmlns:a16="http://schemas.microsoft.com/office/drawing/2014/main" id="{795D1FFF-603E-488F-38AE-89B81130BE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3" y="-10086"/>
            <a:ext cx="9905433" cy="664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616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0732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42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99" r:id="rId1"/>
    <p:sldLayoutId id="2147484703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5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5pPr>
      <a:lvl6pPr marL="54864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6pPr>
      <a:lvl7pPr marL="109728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7pPr>
      <a:lvl8pPr marL="164592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8pPr>
      <a:lvl9pPr marL="219456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9pPr>
    </p:titleStyle>
    <p:bodyStyle>
      <a:lvl1pPr marL="411480" indent="-41148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9154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135">
            <a:extLst>
              <a:ext uri="{FF2B5EF4-FFF2-40B4-BE49-F238E27FC236}">
                <a16:creationId xmlns:a16="http://schemas.microsoft.com/office/drawing/2014/main" id="{D0EE3C01-C659-42AF-B0F2-154A453489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593908"/>
              </p:ext>
            </p:extLst>
          </p:nvPr>
        </p:nvGraphicFramePr>
        <p:xfrm>
          <a:off x="896550" y="5060591"/>
          <a:ext cx="8071982" cy="1068709"/>
        </p:xfrm>
        <a:graphic>
          <a:graphicData uri="http://schemas.openxmlformats.org/drawingml/2006/table">
            <a:tbl>
              <a:tblPr/>
              <a:tblGrid>
                <a:gridCol w="1752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3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5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13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 성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  희  성</a:t>
                      </a: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2026. 6. 10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6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 토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2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승 인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제목 6">
            <a:extLst>
              <a:ext uri="{FF2B5EF4-FFF2-40B4-BE49-F238E27FC236}">
                <a16:creationId xmlns:a16="http://schemas.microsoft.com/office/drawing/2014/main" id="{5586BA84-0607-EFC8-2890-2A14340D8C01}"/>
              </a:ext>
            </a:extLst>
          </p:cNvPr>
          <p:cNvSpPr>
            <a:spLocks noGrp="1"/>
          </p:cNvSpPr>
          <p:nvPr/>
        </p:nvSpPr>
        <p:spPr bwMode="auto">
          <a:xfrm>
            <a:off x="2576736" y="1198979"/>
            <a:ext cx="6401707" cy="708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ko-KR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화면설계서</a:t>
            </a:r>
            <a:r>
              <a:rPr lang="en-US" altLang="ko-K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제목 6">
            <a:extLst>
              <a:ext uri="{FF2B5EF4-FFF2-40B4-BE49-F238E27FC236}">
                <a16:creationId xmlns:a16="http://schemas.microsoft.com/office/drawing/2014/main" id="{EA83B9F2-E3C0-B884-4551-ECFDC8AD04B1}"/>
              </a:ext>
            </a:extLst>
          </p:cNvPr>
          <p:cNvSpPr txBox="1">
            <a:spLocks/>
          </p:cNvSpPr>
          <p:nvPr/>
        </p:nvSpPr>
        <p:spPr bwMode="auto">
          <a:xfrm>
            <a:off x="3120491" y="1914815"/>
            <a:ext cx="5857953" cy="515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lvl="0" algn="r" fontAlgn="auto" latinLnBrk="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00.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_SRM</a:t>
            </a:r>
          </a:p>
        </p:txBody>
      </p:sp>
      <p:graphicFrame>
        <p:nvGraphicFramePr>
          <p:cNvPr id="5" name="Group 134">
            <a:extLst>
              <a:ext uri="{FF2B5EF4-FFF2-40B4-BE49-F238E27FC236}">
                <a16:creationId xmlns:a16="http://schemas.microsoft.com/office/drawing/2014/main" id="{21DC28CE-9A0A-8D52-E0A2-BBFE4CAB1F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653431"/>
              </p:ext>
            </p:extLst>
          </p:nvPr>
        </p:nvGraphicFramePr>
        <p:xfrm>
          <a:off x="884548" y="4196495"/>
          <a:ext cx="8083984" cy="623413"/>
        </p:xfrm>
        <a:graphic>
          <a:graphicData uri="http://schemas.openxmlformats.org/drawingml/2006/table">
            <a:tbl>
              <a:tblPr/>
              <a:tblGrid>
                <a:gridCol w="1767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6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문서번호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KEPCOES-DE-004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프로젝트명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전산시스템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(PMS·SRM) 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재구축 용역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487365A5-672A-A325-330C-5A5147263190}"/>
              </a:ext>
            </a:extLst>
          </p:cNvPr>
          <p:cNvSpPr>
            <a:spLocks noGrp="1"/>
          </p:cNvSpPr>
          <p:nvPr/>
        </p:nvSpPr>
        <p:spPr bwMode="auto">
          <a:xfrm>
            <a:off x="2590081" y="768744"/>
            <a:ext cx="6388363" cy="247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endParaRPr lang="ko-KR" altLang="en-US" sz="15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D8D9BF40-3AAA-996A-98C9-15586676F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68" y="116632"/>
            <a:ext cx="1843484" cy="432048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8381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4B9AB45-3769-E1A9-6FDE-3F74DDE83B0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49224" y="25608"/>
            <a:ext cx="9541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메뉴구조도(SRM)</a:t>
            </a:r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A88DECC5-3C2E-3094-A449-440B9AD79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6711"/>
            <a:ext cx="9906000" cy="6383897"/>
          </a:xfrm>
          <a:prstGeom prst="rect">
            <a:avLst/>
          </a:prstGeom>
          <a:solidFill>
            <a:schemeClr val="bg1"/>
          </a:solidFill>
          <a:ln w="3175" algn="ctr">
            <a:noFill/>
            <a:prstDash val="sysDash"/>
            <a:miter lim="800000"/>
            <a:headEnd/>
            <a:tailEnd/>
          </a:ln>
        </p:spPr>
        <p:txBody>
          <a:bodyPr wrap="none" tIns="108000" bIns="108000" anchor="b" anchorCtr="0"/>
          <a:lstStyle/>
          <a:p>
            <a:pPr algn="ctr"/>
            <a:endParaRPr lang="ko-KR" altLang="en-US" sz="1000" b="1" dirty="0">
              <a:solidFill>
                <a:prstClr val="black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사각형: 둥근 모서리 107">
            <a:extLst>
              <a:ext uri="{FF2B5EF4-FFF2-40B4-BE49-F238E27FC236}">
                <a16:creationId xmlns:a16="http://schemas.microsoft.com/office/drawing/2014/main" id="{2756106C-5B0B-DBE9-7C86-3247285D0191}"/>
              </a:ext>
            </a:extLst>
          </p:cNvPr>
          <p:cNvSpPr/>
          <p:nvPr/>
        </p:nvSpPr>
        <p:spPr bwMode="auto">
          <a:xfrm>
            <a:off x="3992766" y="492348"/>
            <a:ext cx="1920468" cy="345789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36000" rIns="9144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전자입찰시스템</a:t>
            </a:r>
            <a:r>
              <a:rPr kumimoji="1" lang="en-US" altLang="ko-KR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(SRM)</a:t>
            </a:r>
            <a:endParaRPr kumimoji="1" lang="ko-KR" altLang="en-US" sz="1000" b="1" i="0" u="none" strike="noStrike" kern="1200" cap="none" spc="-5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cxnSp>
        <p:nvCxnSpPr>
          <p:cNvPr id="7" name="연결선: 꺾임 145">
            <a:extLst>
              <a:ext uri="{FF2B5EF4-FFF2-40B4-BE49-F238E27FC236}">
                <a16:creationId xmlns:a16="http://schemas.microsoft.com/office/drawing/2014/main" id="{055B4038-FB00-BB2D-29E7-CB39AA30581E}"/>
              </a:ext>
            </a:extLst>
          </p:cNvPr>
          <p:cNvCxnSpPr>
            <a:cxnSpLocks/>
            <a:stCxn id="5" idx="2"/>
            <a:endCxn id="95" idx="0"/>
          </p:cNvCxnSpPr>
          <p:nvPr/>
        </p:nvCxnSpPr>
        <p:spPr bwMode="auto">
          <a:xfrm rot="5400000">
            <a:off x="4409069" y="575186"/>
            <a:ext cx="280981" cy="806883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연결선: 꺾임 55">
            <a:extLst>
              <a:ext uri="{FF2B5EF4-FFF2-40B4-BE49-F238E27FC236}">
                <a16:creationId xmlns:a16="http://schemas.microsoft.com/office/drawing/2014/main" id="{61E1272A-265F-F840-4E25-03555EF7D500}"/>
              </a:ext>
            </a:extLst>
          </p:cNvPr>
          <p:cNvCxnSpPr>
            <a:cxnSpLocks/>
            <a:stCxn id="5" idx="2"/>
            <a:endCxn id="120" idx="0"/>
          </p:cNvCxnSpPr>
          <p:nvPr/>
        </p:nvCxnSpPr>
        <p:spPr bwMode="auto">
          <a:xfrm rot="16200000" flipH="1">
            <a:off x="6034311" y="-243175"/>
            <a:ext cx="280981" cy="2443603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연결선: 꺾임 64">
            <a:extLst>
              <a:ext uri="{FF2B5EF4-FFF2-40B4-BE49-F238E27FC236}">
                <a16:creationId xmlns:a16="http://schemas.microsoft.com/office/drawing/2014/main" id="{9575E0FF-0D0C-8123-2CA2-67305D09EFE1}"/>
              </a:ext>
            </a:extLst>
          </p:cNvPr>
          <p:cNvCxnSpPr>
            <a:cxnSpLocks/>
            <a:stCxn id="5" idx="2"/>
            <a:endCxn id="146" idx="0"/>
          </p:cNvCxnSpPr>
          <p:nvPr/>
        </p:nvCxnSpPr>
        <p:spPr bwMode="auto">
          <a:xfrm rot="16200000" flipH="1">
            <a:off x="6846933" y="-1055797"/>
            <a:ext cx="280981" cy="406884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연결선: 꺾임 145">
            <a:extLst>
              <a:ext uri="{FF2B5EF4-FFF2-40B4-BE49-F238E27FC236}">
                <a16:creationId xmlns:a16="http://schemas.microsoft.com/office/drawing/2014/main" id="{68A3D591-143A-A287-49A2-D247E0FC4B9A}"/>
              </a:ext>
            </a:extLst>
          </p:cNvPr>
          <p:cNvCxnSpPr>
            <a:cxnSpLocks/>
            <a:stCxn id="5" idx="2"/>
            <a:endCxn id="87" idx="0"/>
          </p:cNvCxnSpPr>
          <p:nvPr/>
        </p:nvCxnSpPr>
        <p:spPr bwMode="auto">
          <a:xfrm rot="5400000">
            <a:off x="3596447" y="-237436"/>
            <a:ext cx="280981" cy="2432126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연결선: 꺾임 145">
            <a:extLst>
              <a:ext uri="{FF2B5EF4-FFF2-40B4-BE49-F238E27FC236}">
                <a16:creationId xmlns:a16="http://schemas.microsoft.com/office/drawing/2014/main" id="{A034744A-7FB4-89EA-9A03-77A446DA239E}"/>
              </a:ext>
            </a:extLst>
          </p:cNvPr>
          <p:cNvCxnSpPr>
            <a:cxnSpLocks/>
            <a:stCxn id="5" idx="2"/>
            <a:endCxn id="19" idx="0"/>
          </p:cNvCxnSpPr>
          <p:nvPr/>
        </p:nvCxnSpPr>
        <p:spPr bwMode="auto">
          <a:xfrm rot="5400000">
            <a:off x="2783826" y="-1050057"/>
            <a:ext cx="280981" cy="4057369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연결선: 꺾임 145">
            <a:extLst>
              <a:ext uri="{FF2B5EF4-FFF2-40B4-BE49-F238E27FC236}">
                <a16:creationId xmlns:a16="http://schemas.microsoft.com/office/drawing/2014/main" id="{5CE08FB6-4C52-2234-18BB-7BBE70621FC4}"/>
              </a:ext>
            </a:extLst>
          </p:cNvPr>
          <p:cNvCxnSpPr>
            <a:cxnSpLocks/>
            <a:stCxn id="5" idx="2"/>
            <a:endCxn id="103" idx="0"/>
          </p:cNvCxnSpPr>
          <p:nvPr/>
        </p:nvCxnSpPr>
        <p:spPr bwMode="auto">
          <a:xfrm rot="16200000" flipH="1">
            <a:off x="5221690" y="569447"/>
            <a:ext cx="280981" cy="818360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5031B6B-3138-9606-4556-72B8D9A3EFD9}"/>
              </a:ext>
            </a:extLst>
          </p:cNvPr>
          <p:cNvSpPr/>
          <p:nvPr/>
        </p:nvSpPr>
        <p:spPr>
          <a:xfrm>
            <a:off x="131466" y="1119118"/>
            <a:ext cx="1528329" cy="307303"/>
          </a:xfrm>
          <a:prstGeom prst="rect">
            <a:avLst/>
          </a:prstGeom>
          <a:solidFill>
            <a:srgbClr val="00B05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전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355CEA5E-44EC-9B4C-CBF2-F282986821A5}"/>
              </a:ext>
            </a:extLst>
          </p:cNvPr>
          <p:cNvSpPr/>
          <p:nvPr/>
        </p:nvSpPr>
        <p:spPr>
          <a:xfrm>
            <a:off x="127630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신청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ECE74225-2ADC-D85A-D8EC-DE91BDDB1B8A}"/>
              </a:ext>
            </a:extLst>
          </p:cNvPr>
          <p:cNvSpPr/>
          <p:nvPr/>
        </p:nvSpPr>
        <p:spPr>
          <a:xfrm>
            <a:off x="127630" y="1752720"/>
            <a:ext cx="1529252" cy="135728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Step#1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약관 및 개인정보 수집 동의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Step#2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기본 정보 입력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Step#3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담당자 정보 입력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Step#4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신청 정보 확인 및 제출 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Step#5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협력업체 신청 완료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014F6B96-E775-D9A7-EA91-08EC3A32EC6E}"/>
              </a:ext>
            </a:extLst>
          </p:cNvPr>
          <p:cNvSpPr/>
          <p:nvPr/>
        </p:nvSpPr>
        <p:spPr>
          <a:xfrm>
            <a:off x="127630" y="3172738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아이디 찾기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A9921989-4B1D-CEEB-F694-E3DBDC758B0E}"/>
              </a:ext>
            </a:extLst>
          </p:cNvPr>
          <p:cNvSpPr/>
          <p:nvPr/>
        </p:nvSpPr>
        <p:spPr>
          <a:xfrm>
            <a:off x="127630" y="348340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비밀번호 찾기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7A3A18D-BBC4-326F-4F31-9B5CD06D0993}"/>
              </a:ext>
            </a:extLst>
          </p:cNvPr>
          <p:cNvSpPr/>
          <p:nvPr/>
        </p:nvSpPr>
        <p:spPr>
          <a:xfrm>
            <a:off x="127630" y="3794080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3A9A84AB-E38C-E88E-BD5D-FA4B7A6AA513}"/>
              </a:ext>
            </a:extLst>
          </p:cNvPr>
          <p:cNvSpPr/>
          <p:nvPr/>
        </p:nvSpPr>
        <p:spPr>
          <a:xfrm>
            <a:off x="127630" y="4104751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이용 매뉴얼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739AC54A-4603-1A06-B470-F5CE35B93081}"/>
              </a:ext>
            </a:extLst>
          </p:cNvPr>
          <p:cNvSpPr/>
          <p:nvPr/>
        </p:nvSpPr>
        <p:spPr>
          <a:xfrm>
            <a:off x="1756709" y="1119118"/>
            <a:ext cx="1528329" cy="307303"/>
          </a:xfrm>
          <a:prstGeom prst="rect">
            <a:avLst/>
          </a:prstGeom>
          <a:solidFill>
            <a:srgbClr val="00B05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후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1D1F3630-EED3-9948-BDC0-83051E91F895}"/>
              </a:ext>
            </a:extLst>
          </p:cNvPr>
          <p:cNvSpPr/>
          <p:nvPr/>
        </p:nvSpPr>
        <p:spPr>
          <a:xfrm>
            <a:off x="1752873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1A725966-D3AC-ED98-1744-D5B07887B1F1}"/>
              </a:ext>
            </a:extLst>
          </p:cNvPr>
          <p:cNvSpPr/>
          <p:nvPr/>
        </p:nvSpPr>
        <p:spPr>
          <a:xfrm>
            <a:off x="1752873" y="304737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3417B091-2877-C651-F82B-9AB10534A006}"/>
              </a:ext>
            </a:extLst>
          </p:cNvPr>
          <p:cNvSpPr/>
          <p:nvPr/>
        </p:nvSpPr>
        <p:spPr>
          <a:xfrm>
            <a:off x="1752873" y="522693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정보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11C47DCA-0266-33B0-A559-21AA9E3FDAA2}"/>
              </a:ext>
            </a:extLst>
          </p:cNvPr>
          <p:cNvSpPr/>
          <p:nvPr/>
        </p:nvSpPr>
        <p:spPr>
          <a:xfrm>
            <a:off x="3381952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E4A7083E-BF4B-F446-EBE7-B899895ECDB9}"/>
              </a:ext>
            </a:extLst>
          </p:cNvPr>
          <p:cNvSpPr/>
          <p:nvPr/>
        </p:nvSpPr>
        <p:spPr>
          <a:xfrm>
            <a:off x="3378116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1D228922-9D76-9C43-A75D-90F2B3ED8E45}"/>
              </a:ext>
            </a:extLst>
          </p:cNvPr>
          <p:cNvSpPr/>
          <p:nvPr/>
        </p:nvSpPr>
        <p:spPr>
          <a:xfrm>
            <a:off x="5007195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CF2EA9CB-6E24-E53F-E5A6-C94809CB3D2C}"/>
              </a:ext>
            </a:extLst>
          </p:cNvPr>
          <p:cNvSpPr/>
          <p:nvPr/>
        </p:nvSpPr>
        <p:spPr>
          <a:xfrm>
            <a:off x="5003359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DE8FBC8F-623F-FFE5-65E3-A25E8E96ED59}"/>
              </a:ext>
            </a:extLst>
          </p:cNvPr>
          <p:cNvSpPr/>
          <p:nvPr/>
        </p:nvSpPr>
        <p:spPr>
          <a:xfrm>
            <a:off x="5003359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441233F4-F260-522C-0AA4-9C626EAEB198}"/>
              </a:ext>
            </a:extLst>
          </p:cNvPr>
          <p:cNvSpPr/>
          <p:nvPr/>
        </p:nvSpPr>
        <p:spPr>
          <a:xfrm>
            <a:off x="6632438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52691882-9F04-AAF6-027E-2875611F6CD3}"/>
              </a:ext>
            </a:extLst>
          </p:cNvPr>
          <p:cNvSpPr/>
          <p:nvPr/>
        </p:nvSpPr>
        <p:spPr>
          <a:xfrm>
            <a:off x="8257682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112DC2C2-E43C-3766-CB42-FA1259397C91}"/>
              </a:ext>
            </a:extLst>
          </p:cNvPr>
          <p:cNvSpPr/>
          <p:nvPr/>
        </p:nvSpPr>
        <p:spPr>
          <a:xfrm>
            <a:off x="1752873" y="180539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830CFC53-CFBF-4247-9FDC-CDDBDE6092A6}"/>
              </a:ext>
            </a:extLst>
          </p:cNvPr>
          <p:cNvSpPr/>
          <p:nvPr/>
        </p:nvSpPr>
        <p:spPr>
          <a:xfrm>
            <a:off x="1752873" y="211606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17D7D566-4D8F-3660-682E-B2E27CA62F20}"/>
              </a:ext>
            </a:extLst>
          </p:cNvPr>
          <p:cNvSpPr/>
          <p:nvPr/>
        </p:nvSpPr>
        <p:spPr>
          <a:xfrm>
            <a:off x="1752873" y="2426736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D5365FA3-56EC-7C58-22E2-1979348C1B97}"/>
              </a:ext>
            </a:extLst>
          </p:cNvPr>
          <p:cNvSpPr/>
          <p:nvPr/>
        </p:nvSpPr>
        <p:spPr>
          <a:xfrm>
            <a:off x="1752873" y="273740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E860D680-4B09-482D-4A6E-1C803CFA44A5}"/>
              </a:ext>
            </a:extLst>
          </p:cNvPr>
          <p:cNvSpPr/>
          <p:nvPr/>
        </p:nvSpPr>
        <p:spPr>
          <a:xfrm>
            <a:off x="1748146" y="3298876"/>
            <a:ext cx="1529252" cy="47946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공고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제출 현황</a:t>
            </a: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D2D1ED4E-E5E8-961F-16DB-A0639EBB2950}"/>
              </a:ext>
            </a:extLst>
          </p:cNvPr>
          <p:cNvSpPr/>
          <p:nvPr/>
        </p:nvSpPr>
        <p:spPr>
          <a:xfrm>
            <a:off x="1752873" y="3835263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4245DF07-F90F-F9AE-165D-E01F074E18A7}"/>
              </a:ext>
            </a:extLst>
          </p:cNvPr>
          <p:cNvSpPr/>
          <p:nvPr/>
        </p:nvSpPr>
        <p:spPr>
          <a:xfrm>
            <a:off x="1748146" y="4087538"/>
            <a:ext cx="1529252" cy="108247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입찰공고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서류 제출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가격 </a:t>
            </a:r>
            <a:r>
              <a:rPr kumimoji="0" lang="ko-KR" altLang="en-US" sz="900" b="0" i="0" u="none" strike="noStrike" kern="0" cap="none" spc="-50" normalizeH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투찰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결과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수의시담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6B371C43-7645-8F36-DB9B-858941ECB04D}"/>
              </a:ext>
            </a:extLst>
          </p:cNvPr>
          <p:cNvSpPr/>
          <p:nvPr/>
        </p:nvSpPr>
        <p:spPr>
          <a:xfrm>
            <a:off x="1748146" y="5478634"/>
            <a:ext cx="1529252" cy="89706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협력업체 정보 확인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기본 정보 수정 요청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담당자 정보 추가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수정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비밀번호 변경 </a:t>
            </a: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3F95A057-C9BA-CA97-1281-8B6D7A02DB0F}"/>
              </a:ext>
            </a:extLst>
          </p:cNvPr>
          <p:cNvSpPr/>
          <p:nvPr/>
        </p:nvSpPr>
        <p:spPr>
          <a:xfrm>
            <a:off x="3378116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D4C62549-217A-BAC2-E336-61018857F975}"/>
              </a:ext>
            </a:extLst>
          </p:cNvPr>
          <p:cNvSpPr/>
          <p:nvPr/>
        </p:nvSpPr>
        <p:spPr>
          <a:xfrm>
            <a:off x="3378116" y="2113950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9B25D357-AF3A-B49F-C5A2-C2FACBFBEA76}"/>
              </a:ext>
            </a:extLst>
          </p:cNvPr>
          <p:cNvSpPr/>
          <p:nvPr/>
        </p:nvSpPr>
        <p:spPr>
          <a:xfrm>
            <a:off x="5007258" y="2051768"/>
            <a:ext cx="1529252" cy="47946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내역</a:t>
            </a:r>
            <a:endParaRPr kumimoji="0" lang="en-US" altLang="ko-KR" sz="900" b="0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현황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A62B9392-E5D6-E416-8709-B2166C5E1489}"/>
              </a:ext>
            </a:extLst>
          </p:cNvPr>
          <p:cNvSpPr/>
          <p:nvPr/>
        </p:nvSpPr>
        <p:spPr>
          <a:xfrm>
            <a:off x="6634000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E9EDD3AC-F2A8-4B60-25A4-3F90A97B4728}"/>
              </a:ext>
            </a:extLst>
          </p:cNvPr>
          <p:cNvSpPr/>
          <p:nvPr/>
        </p:nvSpPr>
        <p:spPr>
          <a:xfrm>
            <a:off x="6634000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99096261-758C-262E-CB8F-39B4ED0BDDEC}"/>
              </a:ext>
            </a:extLst>
          </p:cNvPr>
          <p:cNvSpPr/>
          <p:nvPr/>
        </p:nvSpPr>
        <p:spPr>
          <a:xfrm>
            <a:off x="8257682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접수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6F3A8D0B-D007-7D31-A6AD-FF7401B42457}"/>
              </a:ext>
            </a:extLst>
          </p:cNvPr>
          <p:cNvSpPr/>
          <p:nvPr/>
        </p:nvSpPr>
        <p:spPr>
          <a:xfrm>
            <a:off x="8257682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5752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91B9B-3627-4660-FD69-DDDF952EC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2DF35F6-D7C4-26BA-8F05-0B9D9F02A3C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9922C1-7B88-800B-3F9E-D702306A7BB8}"/>
              </a:ext>
            </a:extLst>
          </p:cNvPr>
          <p:cNvSpPr txBox="1"/>
          <p:nvPr/>
        </p:nvSpPr>
        <p:spPr>
          <a:xfrm>
            <a:off x="749224" y="25608"/>
            <a:ext cx="9541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메뉴구조도(SRM)</a:t>
            </a:r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908743FB-77BF-B659-D73D-DE3273D98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6711"/>
            <a:ext cx="9906000" cy="6383897"/>
          </a:xfrm>
          <a:prstGeom prst="rect">
            <a:avLst/>
          </a:prstGeom>
          <a:solidFill>
            <a:schemeClr val="bg1"/>
          </a:solidFill>
          <a:ln w="3175" algn="ctr">
            <a:noFill/>
            <a:prstDash val="sysDash"/>
            <a:miter lim="800000"/>
            <a:headEnd/>
            <a:tailEnd/>
          </a:ln>
        </p:spPr>
        <p:txBody>
          <a:bodyPr wrap="none" tIns="108000" bIns="108000" anchor="b" anchorCtr="0"/>
          <a:lstStyle/>
          <a:p>
            <a:pPr algn="ctr"/>
            <a:endParaRPr lang="ko-KR" altLang="en-US" sz="1000" b="1" dirty="0">
              <a:solidFill>
                <a:prstClr val="black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사각형: 둥근 모서리 107">
            <a:extLst>
              <a:ext uri="{FF2B5EF4-FFF2-40B4-BE49-F238E27FC236}">
                <a16:creationId xmlns:a16="http://schemas.microsoft.com/office/drawing/2014/main" id="{9C2DEE79-B178-032F-08AE-6E8A55918EBC}"/>
              </a:ext>
            </a:extLst>
          </p:cNvPr>
          <p:cNvSpPr/>
          <p:nvPr/>
        </p:nvSpPr>
        <p:spPr bwMode="auto">
          <a:xfrm>
            <a:off x="3992766" y="492348"/>
            <a:ext cx="1920468" cy="345789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36000" rIns="9144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전자입찰시스템</a:t>
            </a:r>
            <a:r>
              <a:rPr kumimoji="1" lang="en-US" altLang="ko-KR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(SRM)</a:t>
            </a:r>
            <a:endParaRPr kumimoji="1" lang="ko-KR" altLang="en-US" sz="1000" b="1" i="0" u="none" strike="noStrike" kern="1200" cap="none" spc="-5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cxnSp>
        <p:nvCxnSpPr>
          <p:cNvPr id="7" name="연결선: 꺾임 145">
            <a:extLst>
              <a:ext uri="{FF2B5EF4-FFF2-40B4-BE49-F238E27FC236}">
                <a16:creationId xmlns:a16="http://schemas.microsoft.com/office/drawing/2014/main" id="{BC877F39-7E19-0FA3-CCE6-CE146D79456D}"/>
              </a:ext>
            </a:extLst>
          </p:cNvPr>
          <p:cNvCxnSpPr>
            <a:cxnSpLocks/>
            <a:stCxn id="5" idx="2"/>
            <a:endCxn id="95" idx="0"/>
          </p:cNvCxnSpPr>
          <p:nvPr/>
        </p:nvCxnSpPr>
        <p:spPr bwMode="auto">
          <a:xfrm rot="16200000" flipH="1">
            <a:off x="5221690" y="569446"/>
            <a:ext cx="280981" cy="818361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연결선: 꺾임 55">
            <a:extLst>
              <a:ext uri="{FF2B5EF4-FFF2-40B4-BE49-F238E27FC236}">
                <a16:creationId xmlns:a16="http://schemas.microsoft.com/office/drawing/2014/main" id="{0C0A0657-D42F-87FC-DBD8-11DC547D8997}"/>
              </a:ext>
            </a:extLst>
          </p:cNvPr>
          <p:cNvCxnSpPr>
            <a:cxnSpLocks/>
            <a:stCxn id="5" idx="2"/>
            <a:endCxn id="120" idx="0"/>
          </p:cNvCxnSpPr>
          <p:nvPr/>
        </p:nvCxnSpPr>
        <p:spPr bwMode="auto">
          <a:xfrm rot="16200000" flipH="1">
            <a:off x="6846933" y="-1055797"/>
            <a:ext cx="280981" cy="406884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연결선: 꺾임 64">
            <a:extLst>
              <a:ext uri="{FF2B5EF4-FFF2-40B4-BE49-F238E27FC236}">
                <a16:creationId xmlns:a16="http://schemas.microsoft.com/office/drawing/2014/main" id="{83972492-5F8A-5CCF-7FE5-916E7ADF0F33}"/>
              </a:ext>
            </a:extLst>
          </p:cNvPr>
          <p:cNvCxnSpPr>
            <a:cxnSpLocks/>
            <a:stCxn id="5" idx="2"/>
          </p:cNvCxnSpPr>
          <p:nvPr/>
        </p:nvCxnSpPr>
        <p:spPr bwMode="auto">
          <a:xfrm rot="16200000" flipH="1">
            <a:off x="6846933" y="-1055797"/>
            <a:ext cx="280981" cy="406884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연결선: 꺾임 145">
            <a:extLst>
              <a:ext uri="{FF2B5EF4-FFF2-40B4-BE49-F238E27FC236}">
                <a16:creationId xmlns:a16="http://schemas.microsoft.com/office/drawing/2014/main" id="{BF5E2CF1-F999-28CD-A7EF-155CC5267895}"/>
              </a:ext>
            </a:extLst>
          </p:cNvPr>
          <p:cNvCxnSpPr>
            <a:cxnSpLocks/>
            <a:stCxn id="5" idx="2"/>
            <a:endCxn id="87" idx="0"/>
          </p:cNvCxnSpPr>
          <p:nvPr/>
        </p:nvCxnSpPr>
        <p:spPr bwMode="auto">
          <a:xfrm rot="5400000">
            <a:off x="4409069" y="575186"/>
            <a:ext cx="280981" cy="806882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연결선: 꺾임 145">
            <a:extLst>
              <a:ext uri="{FF2B5EF4-FFF2-40B4-BE49-F238E27FC236}">
                <a16:creationId xmlns:a16="http://schemas.microsoft.com/office/drawing/2014/main" id="{94B53BDD-C2D3-BEB6-A792-688AC056B9B3}"/>
              </a:ext>
            </a:extLst>
          </p:cNvPr>
          <p:cNvCxnSpPr>
            <a:cxnSpLocks/>
            <a:stCxn id="5" idx="2"/>
            <a:endCxn id="19" idx="0"/>
          </p:cNvCxnSpPr>
          <p:nvPr/>
        </p:nvCxnSpPr>
        <p:spPr bwMode="auto">
          <a:xfrm rot="5400000">
            <a:off x="3596448" y="-237435"/>
            <a:ext cx="280981" cy="2432125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연결선: 꺾임 145">
            <a:extLst>
              <a:ext uri="{FF2B5EF4-FFF2-40B4-BE49-F238E27FC236}">
                <a16:creationId xmlns:a16="http://schemas.microsoft.com/office/drawing/2014/main" id="{A34176ED-DA58-3416-CDF4-6784E404A8A1}"/>
              </a:ext>
            </a:extLst>
          </p:cNvPr>
          <p:cNvCxnSpPr>
            <a:cxnSpLocks/>
            <a:stCxn id="5" idx="2"/>
            <a:endCxn id="103" idx="0"/>
          </p:cNvCxnSpPr>
          <p:nvPr/>
        </p:nvCxnSpPr>
        <p:spPr bwMode="auto">
          <a:xfrm rot="16200000" flipH="1">
            <a:off x="6034312" y="-243175"/>
            <a:ext cx="280981" cy="2443604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0E9D2ED-CC67-D056-DCF9-97303DEB50B0}"/>
              </a:ext>
            </a:extLst>
          </p:cNvPr>
          <p:cNvSpPr/>
          <p:nvPr/>
        </p:nvSpPr>
        <p:spPr>
          <a:xfrm>
            <a:off x="1756710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입찰관리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CFED5BDF-1CA6-A1ED-480A-6DE8F9AC2586}"/>
              </a:ext>
            </a:extLst>
          </p:cNvPr>
          <p:cNvSpPr/>
          <p:nvPr/>
        </p:nvSpPr>
        <p:spPr>
          <a:xfrm>
            <a:off x="1752874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입찰계획 현황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2F96BB8-AF77-1518-D341-D94009650B98}"/>
              </a:ext>
            </a:extLst>
          </p:cNvPr>
          <p:cNvSpPr/>
          <p:nvPr/>
        </p:nvSpPr>
        <p:spPr>
          <a:xfrm>
            <a:off x="1752874" y="180212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738BBF3F-CEF4-9113-67AD-859D7AFD446E}"/>
              </a:ext>
            </a:extLst>
          </p:cNvPr>
          <p:cNvSpPr/>
          <p:nvPr/>
        </p:nvSpPr>
        <p:spPr>
          <a:xfrm>
            <a:off x="3381953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2FDB5EA6-CA45-13A1-2C2F-9DBB401AE004}"/>
              </a:ext>
            </a:extLst>
          </p:cNvPr>
          <p:cNvSpPr/>
          <p:nvPr/>
        </p:nvSpPr>
        <p:spPr>
          <a:xfrm>
            <a:off x="3378117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86561C08-A936-2408-8EB7-68ABF9902C58}"/>
              </a:ext>
            </a:extLst>
          </p:cNvPr>
          <p:cNvSpPr/>
          <p:nvPr/>
        </p:nvSpPr>
        <p:spPr>
          <a:xfrm>
            <a:off x="5007196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B333CA17-0085-AD13-4685-8DD256F57090}"/>
              </a:ext>
            </a:extLst>
          </p:cNvPr>
          <p:cNvSpPr/>
          <p:nvPr/>
        </p:nvSpPr>
        <p:spPr>
          <a:xfrm>
            <a:off x="5003360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신청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 요청 처리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7185E328-C7DE-E28D-BB30-A20978BE43C9}"/>
              </a:ext>
            </a:extLst>
          </p:cNvPr>
          <p:cNvSpPr/>
          <p:nvPr/>
        </p:nvSpPr>
        <p:spPr>
          <a:xfrm>
            <a:off x="6632439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 정보 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C627C1E7-FE4C-AA74-60CF-AF7C9647C81A}"/>
              </a:ext>
            </a:extLst>
          </p:cNvPr>
          <p:cNvSpPr/>
          <p:nvPr/>
        </p:nvSpPr>
        <p:spPr>
          <a:xfrm>
            <a:off x="8257682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A8F2748B-474D-C57C-9C11-A5FC63F7B247}"/>
              </a:ext>
            </a:extLst>
          </p:cNvPr>
          <p:cNvSpPr/>
          <p:nvPr/>
        </p:nvSpPr>
        <p:spPr>
          <a:xfrm>
            <a:off x="3373390" y="1750318"/>
            <a:ext cx="1529252" cy="108247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관련 서류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발주계약 요청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입찰계획 정보</a:t>
            </a: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13BD4A2E-5817-A213-A41A-B1691C6BB497}"/>
              </a:ext>
            </a:extLst>
          </p:cNvPr>
          <p:cNvSpPr/>
          <p:nvPr/>
        </p:nvSpPr>
        <p:spPr>
          <a:xfrm>
            <a:off x="5003360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3E0B09CB-67F5-D08E-512E-F82836F702E3}"/>
              </a:ext>
            </a:extLst>
          </p:cNvPr>
          <p:cNvSpPr/>
          <p:nvPr/>
        </p:nvSpPr>
        <p:spPr>
          <a:xfrm>
            <a:off x="5003360" y="2113950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4B46B900-2336-6E72-624D-5811556726C5}"/>
              </a:ext>
            </a:extLst>
          </p:cNvPr>
          <p:cNvSpPr/>
          <p:nvPr/>
        </p:nvSpPr>
        <p:spPr>
          <a:xfrm>
            <a:off x="8259244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3609E92F-DCBC-A112-BF4F-82565D80584E}"/>
              </a:ext>
            </a:extLst>
          </p:cNvPr>
          <p:cNvSpPr/>
          <p:nvPr/>
        </p:nvSpPr>
        <p:spPr>
          <a:xfrm>
            <a:off x="8259244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권한그룹 및 메뉴별 권한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8A3BEAB-D241-F034-5691-2CF12180D83A}"/>
              </a:ext>
            </a:extLst>
          </p:cNvPr>
          <p:cNvSpPr/>
          <p:nvPr/>
        </p:nvSpPr>
        <p:spPr>
          <a:xfrm>
            <a:off x="1747476" y="2049414"/>
            <a:ext cx="1529252" cy="166761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참여 현황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심사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평가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개찰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낙찰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업체선정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수의시담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요청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703EBA4-956D-5AE3-A6B9-85747EBC6D9F}"/>
              </a:ext>
            </a:extLst>
          </p:cNvPr>
          <p:cNvSpPr/>
          <p:nvPr/>
        </p:nvSpPr>
        <p:spPr>
          <a:xfrm>
            <a:off x="5010319" y="2366224"/>
            <a:ext cx="1529252" cy="47946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조회</a:t>
            </a:r>
            <a:r>
              <a:rPr kumimoji="0" lang="en-US" altLang="ko-KR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</a:p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체결 현황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19549DB-D877-F7EF-5818-5862E3E581F1}"/>
              </a:ext>
            </a:extLst>
          </p:cNvPr>
          <p:cNvSpPr/>
          <p:nvPr/>
        </p:nvSpPr>
        <p:spPr>
          <a:xfrm>
            <a:off x="5003360" y="290408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EE37C29-BED2-2EA4-7B51-5E88FE454FEB}"/>
              </a:ext>
            </a:extLst>
          </p:cNvPr>
          <p:cNvSpPr/>
          <p:nvPr/>
        </p:nvSpPr>
        <p:spPr>
          <a:xfrm>
            <a:off x="6631302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396F577-1681-F0B3-CB76-DF1713368F19}"/>
              </a:ext>
            </a:extLst>
          </p:cNvPr>
          <p:cNvSpPr/>
          <p:nvPr/>
        </p:nvSpPr>
        <p:spPr>
          <a:xfrm>
            <a:off x="6631302" y="304737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678AB96-F467-AD64-EA4C-59B911194A49}"/>
              </a:ext>
            </a:extLst>
          </p:cNvPr>
          <p:cNvSpPr/>
          <p:nvPr/>
        </p:nvSpPr>
        <p:spPr>
          <a:xfrm>
            <a:off x="6631302" y="180539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 err="1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소싱그룹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4D8FD29-559D-0A9B-4EFE-026617880984}"/>
              </a:ext>
            </a:extLst>
          </p:cNvPr>
          <p:cNvSpPr/>
          <p:nvPr/>
        </p:nvSpPr>
        <p:spPr>
          <a:xfrm>
            <a:off x="6631302" y="211606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심사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DBCA7E2-3882-2D3A-FEEC-C304D99BA9BC}"/>
              </a:ext>
            </a:extLst>
          </p:cNvPr>
          <p:cNvSpPr/>
          <p:nvPr/>
        </p:nvSpPr>
        <p:spPr>
          <a:xfrm>
            <a:off x="6631302" y="2426736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서류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19CC2FB-AE39-6D60-F7E4-AEBBC597415B}"/>
              </a:ext>
            </a:extLst>
          </p:cNvPr>
          <p:cNvSpPr/>
          <p:nvPr/>
        </p:nvSpPr>
        <p:spPr>
          <a:xfrm>
            <a:off x="6631302" y="273740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내용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3337320-9826-598A-0F6D-32ADBE602623}"/>
              </a:ext>
            </a:extLst>
          </p:cNvPr>
          <p:cNvSpPr/>
          <p:nvPr/>
        </p:nvSpPr>
        <p:spPr>
          <a:xfrm>
            <a:off x="6631302" y="336506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발송현황 조회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7AA1ADE-C580-E067-B7E1-ABFFF171E01E}"/>
              </a:ext>
            </a:extLst>
          </p:cNvPr>
          <p:cNvSpPr/>
          <p:nvPr/>
        </p:nvSpPr>
        <p:spPr>
          <a:xfrm>
            <a:off x="8252285" y="304737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1DAD779-8964-380C-BD9F-8DD2E89C4F9A}"/>
              </a:ext>
            </a:extLst>
          </p:cNvPr>
          <p:cNvSpPr/>
          <p:nvPr/>
        </p:nvSpPr>
        <p:spPr>
          <a:xfrm>
            <a:off x="8252285" y="211606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권한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F3BD33F-97D0-2BFC-26FB-D5828EDC0617}"/>
              </a:ext>
            </a:extLst>
          </p:cNvPr>
          <p:cNvSpPr/>
          <p:nvPr/>
        </p:nvSpPr>
        <p:spPr>
          <a:xfrm>
            <a:off x="8252285" y="2426736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접속 아이피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(IP) 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32ED533-BF77-4DAF-4DC3-E9FD28FFD06D}"/>
              </a:ext>
            </a:extLst>
          </p:cNvPr>
          <p:cNvSpPr/>
          <p:nvPr/>
        </p:nvSpPr>
        <p:spPr>
          <a:xfrm>
            <a:off x="8252285" y="273740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2243C15-4788-8CD9-CC49-D5D72F05DDCF}"/>
              </a:ext>
            </a:extLst>
          </p:cNvPr>
          <p:cNvSpPr/>
          <p:nvPr/>
        </p:nvSpPr>
        <p:spPr>
          <a:xfrm>
            <a:off x="8252285" y="336506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메뉴별 접속현황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33953B6-38E0-A387-EA33-439E00EAA897}"/>
              </a:ext>
            </a:extLst>
          </p:cNvPr>
          <p:cNvSpPr/>
          <p:nvPr/>
        </p:nvSpPr>
        <p:spPr>
          <a:xfrm>
            <a:off x="8252285" y="3671963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FC70D5C-FD5D-B309-C4DE-CD5FFF93CA1C}"/>
              </a:ext>
            </a:extLst>
          </p:cNvPr>
          <p:cNvSpPr/>
          <p:nvPr/>
        </p:nvSpPr>
        <p:spPr>
          <a:xfrm>
            <a:off x="8252285" y="398695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1894832-68A6-29D9-E4B4-D88353EA8D0C}"/>
              </a:ext>
            </a:extLst>
          </p:cNvPr>
          <p:cNvSpPr/>
          <p:nvPr/>
        </p:nvSpPr>
        <p:spPr>
          <a:xfrm>
            <a:off x="123105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324642E-6B86-90B7-9DA7-4B2C9DAFCF23}"/>
              </a:ext>
            </a:extLst>
          </p:cNvPr>
          <p:cNvSpPr/>
          <p:nvPr/>
        </p:nvSpPr>
        <p:spPr>
          <a:xfrm>
            <a:off x="123105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6F15425-E273-5AD9-BDF3-9EAD2167EA9F}"/>
              </a:ext>
            </a:extLst>
          </p:cNvPr>
          <p:cNvSpPr/>
          <p:nvPr/>
        </p:nvSpPr>
        <p:spPr>
          <a:xfrm>
            <a:off x="123105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08F26F8-C189-623B-12A5-E2A3CE7A5482}"/>
              </a:ext>
            </a:extLst>
          </p:cNvPr>
          <p:cNvSpPr/>
          <p:nvPr/>
        </p:nvSpPr>
        <p:spPr>
          <a:xfrm>
            <a:off x="130064" y="2051768"/>
            <a:ext cx="1529252" cy="87317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수의계약 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요청 및 확인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요청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A602E8E-C76F-61FF-2E88-BB1401C49D0D}"/>
              </a:ext>
            </a:extLst>
          </p:cNvPr>
          <p:cNvSpPr/>
          <p:nvPr/>
        </p:nvSpPr>
        <p:spPr>
          <a:xfrm>
            <a:off x="8252285" y="1119117"/>
            <a:ext cx="1530610" cy="3120109"/>
          </a:xfrm>
          <a:prstGeom prst="rect">
            <a:avLst/>
          </a:prstGeom>
          <a:solidFill>
            <a:srgbClr val="FFFF00">
              <a:alpha val="10196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2626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D195E-E9F1-98BF-A146-9FE22C642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8DD1538-3F1C-B1A0-19F2-E6850C57C1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6F9A89-BA64-6305-C6B9-85C65533571B}"/>
              </a:ext>
            </a:extLst>
          </p:cNvPr>
          <p:cNvSpPr txBox="1"/>
          <p:nvPr/>
        </p:nvSpPr>
        <p:spPr>
          <a:xfrm>
            <a:off x="749224" y="25608"/>
            <a:ext cx="16898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 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9BE632-99C5-9F08-92F5-45283DCD6889}"/>
              </a:ext>
            </a:extLst>
          </p:cNvPr>
          <p:cNvSpPr txBox="1"/>
          <p:nvPr/>
        </p:nvSpPr>
        <p:spPr>
          <a:xfrm>
            <a:off x="8049344" y="584684"/>
            <a:ext cx="1856656" cy="199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사원번호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아이디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사원명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부서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직급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이메일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적용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10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20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50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100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적용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목록의 내용 그대로 엑셀 다운로드 기능 제공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특정 목록에서 상세정보의 일부가 엑셀 데이터에 수록되어야 하는 경우 별도로 항목을 정의하여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Description 영역에서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설명함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8D1E65F-2B82-4753-1CFF-1412A69F3FE1}"/>
              </a:ext>
            </a:extLst>
          </p:cNvPr>
          <p:cNvSpPr/>
          <p:nvPr/>
        </p:nvSpPr>
        <p:spPr>
          <a:xfrm>
            <a:off x="164468" y="403565"/>
            <a:ext cx="63639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 관리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55C8BB26-F009-9EAC-F2B2-22EB93C43B21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E93EB46-179F-8CD0-B506-F7FDDE87D74B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88C00F0-0F36-14E4-A6FA-F800B0AFF645}"/>
              </a:ext>
            </a:extLst>
          </p:cNvPr>
          <p:cNvSpPr/>
          <p:nvPr/>
        </p:nvSpPr>
        <p:spPr>
          <a:xfrm>
            <a:off x="164468" y="834983"/>
            <a:ext cx="7740859" cy="93783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DDB0238-9BF9-1543-5D84-D12C7F666ED9}"/>
              </a:ext>
            </a:extLst>
          </p:cNvPr>
          <p:cNvSpPr/>
          <p:nvPr/>
        </p:nvSpPr>
        <p:spPr>
          <a:xfrm>
            <a:off x="1408523" y="1422883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49E622A-DFEF-CD7B-14D8-4D71E52E0D22}"/>
              </a:ext>
            </a:extLst>
          </p:cNvPr>
          <p:cNvSpPr/>
          <p:nvPr/>
        </p:nvSpPr>
        <p:spPr>
          <a:xfrm>
            <a:off x="2218774" y="1422885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4BA212B-C37C-9A00-B132-B3E86AFAFE95}"/>
              </a:ext>
            </a:extLst>
          </p:cNvPr>
          <p:cNvSpPr/>
          <p:nvPr/>
        </p:nvSpPr>
        <p:spPr>
          <a:xfrm>
            <a:off x="2533911" y="1422883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3DF6A93-947E-3615-6727-96F2569F1D12}"/>
              </a:ext>
            </a:extLst>
          </p:cNvPr>
          <p:cNvSpPr/>
          <p:nvPr/>
        </p:nvSpPr>
        <p:spPr>
          <a:xfrm>
            <a:off x="6241919" y="1422885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77C799-BBA9-DA5C-333C-BBE22C047563}"/>
              </a:ext>
            </a:extLst>
          </p:cNvPr>
          <p:cNvSpPr txBox="1"/>
          <p:nvPr/>
        </p:nvSpPr>
        <p:spPr>
          <a:xfrm>
            <a:off x="235850" y="941488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 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등록일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2807E24-718C-8B30-307E-D405498E28AD}"/>
              </a:ext>
            </a:extLst>
          </p:cNvPr>
          <p:cNvSpPr txBox="1"/>
          <p:nvPr/>
        </p:nvSpPr>
        <p:spPr>
          <a:xfrm>
            <a:off x="235849" y="1204748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사용 여부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●전체      ○사용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(Y)   ○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중지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(N)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465EF9-F139-62A3-5C03-389C6CABFFC2}"/>
              </a:ext>
            </a:extLst>
          </p:cNvPr>
          <p:cNvSpPr txBox="1"/>
          <p:nvPr/>
        </p:nvSpPr>
        <p:spPr>
          <a:xfrm>
            <a:off x="235849" y="1430028"/>
            <a:ext cx="75617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24B2EDD-C5E8-DD32-810F-FC2470E0AE56}"/>
              </a:ext>
            </a:extLst>
          </p:cNvPr>
          <p:cNvSpPr/>
          <p:nvPr/>
        </p:nvSpPr>
        <p:spPr>
          <a:xfrm>
            <a:off x="4683665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66EF20A-7091-C8A1-D860-E1449ED33477}"/>
              </a:ext>
            </a:extLst>
          </p:cNvPr>
          <p:cNvSpPr/>
          <p:nvPr/>
        </p:nvSpPr>
        <p:spPr>
          <a:xfrm>
            <a:off x="5493916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D16CEA1-E949-FF1C-CDA3-EE502803BE8F}"/>
              </a:ext>
            </a:extLst>
          </p:cNvPr>
          <p:cNvSpPr/>
          <p:nvPr/>
        </p:nvSpPr>
        <p:spPr>
          <a:xfrm>
            <a:off x="5907171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1F4C06C-0F69-4865-6BDD-5442E387452D}"/>
              </a:ext>
            </a:extLst>
          </p:cNvPr>
          <p:cNvSpPr/>
          <p:nvPr/>
        </p:nvSpPr>
        <p:spPr>
          <a:xfrm>
            <a:off x="6717422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DD85C9F-581D-07D2-14E2-3932DEA44A56}"/>
              </a:ext>
            </a:extLst>
          </p:cNvPr>
          <p:cNvSpPr/>
          <p:nvPr/>
        </p:nvSpPr>
        <p:spPr>
          <a:xfrm>
            <a:off x="1393889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38FCAF4-AB81-2C04-B6D6-B16F3F478380}"/>
              </a:ext>
            </a:extLst>
          </p:cNvPr>
          <p:cNvSpPr/>
          <p:nvPr/>
        </p:nvSpPr>
        <p:spPr>
          <a:xfrm>
            <a:off x="1942458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9275BFC-97F4-5696-0C38-73339CD8F101}"/>
              </a:ext>
            </a:extLst>
          </p:cNvPr>
          <p:cNvSpPr/>
          <p:nvPr/>
        </p:nvSpPr>
        <p:spPr>
          <a:xfrm>
            <a:off x="2491027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D9BF8F9-5AA2-F08C-6D26-65A15FA2B9A9}"/>
              </a:ext>
            </a:extLst>
          </p:cNvPr>
          <p:cNvSpPr/>
          <p:nvPr/>
        </p:nvSpPr>
        <p:spPr>
          <a:xfrm>
            <a:off x="3039596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174CC2C-AA8A-7523-4BF1-A1784022DB41}"/>
              </a:ext>
            </a:extLst>
          </p:cNvPr>
          <p:cNvSpPr/>
          <p:nvPr/>
        </p:nvSpPr>
        <p:spPr>
          <a:xfrm>
            <a:off x="3588165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371ECB8-C34B-E1FA-CDAB-D34CB4CA83F6}"/>
              </a:ext>
            </a:extLst>
          </p:cNvPr>
          <p:cNvSpPr/>
          <p:nvPr/>
        </p:nvSpPr>
        <p:spPr>
          <a:xfrm>
            <a:off x="4136733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3D440057-807A-B760-2E4F-F005884F21EA}"/>
              </a:ext>
            </a:extLst>
          </p:cNvPr>
          <p:cNvSpPr/>
          <p:nvPr/>
        </p:nvSpPr>
        <p:spPr>
          <a:xfrm>
            <a:off x="5856272" y="1901705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6E243525-5E5D-C107-44F9-71A2C2391222}"/>
              </a:ext>
            </a:extLst>
          </p:cNvPr>
          <p:cNvSpPr/>
          <p:nvPr/>
        </p:nvSpPr>
        <p:spPr>
          <a:xfrm>
            <a:off x="6677734" y="1901705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AD146E5-006F-93FC-AB5C-17DF737CF97F}"/>
              </a:ext>
            </a:extLst>
          </p:cNvPr>
          <p:cNvSpPr txBox="1"/>
          <p:nvPr/>
        </p:nvSpPr>
        <p:spPr>
          <a:xfrm>
            <a:off x="181506" y="1888187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55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78" name="표 77">
            <a:extLst>
              <a:ext uri="{FF2B5EF4-FFF2-40B4-BE49-F238E27FC236}">
                <a16:creationId xmlns:a16="http://schemas.microsoft.com/office/drawing/2014/main" id="{6527D465-0A11-7F19-50AE-5A34F3C8C4B8}"/>
              </a:ext>
            </a:extLst>
          </p:cNvPr>
          <p:cNvGraphicFramePr>
            <a:graphicFrameLocks noGrp="1"/>
          </p:cNvGraphicFramePr>
          <p:nvPr/>
        </p:nvGraphicFramePr>
        <p:xfrm>
          <a:off x="181506" y="2195020"/>
          <a:ext cx="7715195" cy="202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52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57093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496998">
                  <a:extLst>
                    <a:ext uri="{9D8B030D-6E8A-4147-A177-3AD203B41FA5}">
                      <a16:colId xmlns:a16="http://schemas.microsoft.com/office/drawing/2014/main" val="2264476566"/>
                    </a:ext>
                  </a:extLst>
                </a:gridCol>
                <a:gridCol w="496998">
                  <a:extLst>
                    <a:ext uri="{9D8B030D-6E8A-4147-A177-3AD203B41FA5}">
                      <a16:colId xmlns:a16="http://schemas.microsoft.com/office/drawing/2014/main" val="1900745260"/>
                    </a:ext>
                  </a:extLst>
                </a:gridCol>
                <a:gridCol w="703572">
                  <a:extLst>
                    <a:ext uri="{9D8B030D-6E8A-4147-A177-3AD203B41FA5}">
                      <a16:colId xmlns:a16="http://schemas.microsoft.com/office/drawing/2014/main" val="1854595363"/>
                    </a:ext>
                  </a:extLst>
                </a:gridCol>
                <a:gridCol w="393712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  <a:gridCol w="1283702">
                  <a:extLst>
                    <a:ext uri="{9D8B030D-6E8A-4147-A177-3AD203B41FA5}">
                      <a16:colId xmlns:a16="http://schemas.microsoft.com/office/drawing/2014/main" val="2048789610"/>
                    </a:ext>
                  </a:extLst>
                </a:gridCol>
                <a:gridCol w="600285">
                  <a:extLst>
                    <a:ext uri="{9D8B030D-6E8A-4147-A177-3AD203B41FA5}">
                      <a16:colId xmlns:a16="http://schemas.microsoft.com/office/drawing/2014/main" val="1217387778"/>
                    </a:ext>
                  </a:extLst>
                </a:gridCol>
                <a:gridCol w="851617">
                  <a:extLst>
                    <a:ext uri="{9D8B030D-6E8A-4147-A177-3AD203B41FA5}">
                      <a16:colId xmlns:a16="http://schemas.microsoft.com/office/drawing/2014/main" val="378561692"/>
                    </a:ext>
                  </a:extLst>
                </a:gridCol>
                <a:gridCol w="496998">
                  <a:extLst>
                    <a:ext uri="{9D8B030D-6E8A-4147-A177-3AD203B41FA5}">
                      <a16:colId xmlns:a16="http://schemas.microsoft.com/office/drawing/2014/main" val="1778558004"/>
                    </a:ext>
                  </a:extLst>
                </a:gridCol>
                <a:gridCol w="1178692">
                  <a:extLst>
                    <a:ext uri="{9D8B030D-6E8A-4147-A177-3AD203B41FA5}">
                      <a16:colId xmlns:a16="http://schemas.microsoft.com/office/drawing/2014/main" val="7009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사원번호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아이디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사원명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직급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이메일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 여부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최종수정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2110004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none" dirty="0" err="1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simon</a:t>
                      </a:r>
                      <a:endParaRPr lang="ko-KR" altLang="en-US" sz="800" b="1" u="none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장시형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기획지원팀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과장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simon@kepcoes.co.kr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(Y)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2026. 06. 09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(N)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946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773569"/>
                  </a:ext>
                </a:extLst>
              </a:tr>
            </a:tbl>
          </a:graphicData>
        </a:graphic>
      </p:graphicFrame>
      <p:grpSp>
        <p:nvGrpSpPr>
          <p:cNvPr id="79" name="그룹 78">
            <a:extLst>
              <a:ext uri="{FF2B5EF4-FFF2-40B4-BE49-F238E27FC236}">
                <a16:creationId xmlns:a16="http://schemas.microsoft.com/office/drawing/2014/main" id="{704BE90F-F584-8013-3E16-7C1CF1FE2FCF}"/>
              </a:ext>
            </a:extLst>
          </p:cNvPr>
          <p:cNvGrpSpPr/>
          <p:nvPr/>
        </p:nvGrpSpPr>
        <p:grpSpPr>
          <a:xfrm>
            <a:off x="2004219" y="4313255"/>
            <a:ext cx="4025354" cy="216024"/>
            <a:chOff x="2992062" y="4869160"/>
            <a:chExt cx="4025354" cy="216024"/>
          </a:xfrm>
        </p:grpSpPr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AFED21EF-AD97-4A97-1587-E721DBB3F45D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268A84AD-3A6A-DAF3-2259-A5C402C57A7C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150B7375-1183-8B7D-0A6B-0E54C3EB4891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725524A4-2BFA-61C2-2E24-D723C5DF89DA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BEC473D2-C0DE-1228-C16F-69CC40A4E159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FE9FDC69-24B5-94EF-E9DD-9A0AB1D62580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BC8B2823-82A2-355F-1F76-DDBF5C97AB76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F8E4F762-8D47-DD54-F430-0065A67D4ED0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7C4BF1B0-D209-6012-9E75-D8D44C6657BB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5BA8F1F7-5950-2EE0-EC58-1CF3EA8843CF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7B305AAB-2EE8-5F1D-C03D-8AD327AD903D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E85A142F-D6B0-D2FC-2DBE-60820B1277D7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A3174D59-2C00-8526-CFFB-CC822FC7BA92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EBF89DBF-2775-1513-D03A-8060F59FAAC3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CBD35B1-2A5A-2D71-BAF2-4E3094203563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B1DDEA37-74EC-26D4-661B-26A3E6EF8E7E}"/>
              </a:ext>
            </a:extLst>
          </p:cNvPr>
          <p:cNvSpPr/>
          <p:nvPr/>
        </p:nvSpPr>
        <p:spPr>
          <a:xfrm>
            <a:off x="1270370" y="1314655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5B12FB7-99E9-86FD-59C8-C6C0BB9D201D}"/>
              </a:ext>
            </a:extLst>
          </p:cNvPr>
          <p:cNvSpPr/>
          <p:nvPr/>
        </p:nvSpPr>
        <p:spPr>
          <a:xfrm>
            <a:off x="6982990" y="1901705"/>
            <a:ext cx="913712" cy="215441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(Excel)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A8BB9DCC-C379-FFD2-11E2-092F1F5441AF}"/>
              </a:ext>
            </a:extLst>
          </p:cNvPr>
          <p:cNvSpPr/>
          <p:nvPr/>
        </p:nvSpPr>
        <p:spPr>
          <a:xfrm>
            <a:off x="5691147" y="1805719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C2FA4792-048A-E0E4-F2A1-76281CDB61EC}"/>
              </a:ext>
            </a:extLst>
          </p:cNvPr>
          <p:cNvSpPr/>
          <p:nvPr/>
        </p:nvSpPr>
        <p:spPr>
          <a:xfrm>
            <a:off x="6874978" y="1805719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CD86E8CB-A481-9067-763B-090BD39AC78C}"/>
              </a:ext>
            </a:extLst>
          </p:cNvPr>
          <p:cNvSpPr/>
          <p:nvPr/>
        </p:nvSpPr>
        <p:spPr>
          <a:xfrm>
            <a:off x="-1690381" y="801483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10B7343-18ED-3926-3DF2-D4AC2B4BC137}"/>
              </a:ext>
            </a:extLst>
          </p:cNvPr>
          <p:cNvSpPr/>
          <p:nvPr/>
        </p:nvSpPr>
        <p:spPr>
          <a:xfrm>
            <a:off x="-1690381" y="1101803"/>
            <a:ext cx="1467136" cy="241808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</a:t>
            </a:r>
            <a:r>
              <a:rPr lang="en-US" altLang="ko-KR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권한그룹 및 메뉴별 권한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권한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접속 아이피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(IP)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메뉴별 접속현황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거래처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 관리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7867C5AE-91CD-692A-87D2-B4534BC1175A}"/>
              </a:ext>
            </a:extLst>
          </p:cNvPr>
          <p:cNvSpPr/>
          <p:nvPr/>
        </p:nvSpPr>
        <p:spPr>
          <a:xfrm>
            <a:off x="-529236" y="801483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F847367C-EA09-221B-DDC7-9E5B14C40193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01" name="Picture 1">
            <a:extLst>
              <a:ext uri="{FF2B5EF4-FFF2-40B4-BE49-F238E27FC236}">
                <a16:creationId xmlns:a16="http://schemas.microsoft.com/office/drawing/2014/main" id="{4079E66A-4288-D645-5AC2-F29AC85C4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8C37E84-24CE-4A0F-A6CB-3FBD67FEE74A}"/>
              </a:ext>
            </a:extLst>
          </p:cNvPr>
          <p:cNvSpPr txBox="1"/>
          <p:nvPr/>
        </p:nvSpPr>
        <p:spPr>
          <a:xfrm>
            <a:off x="7634856" y="25608"/>
            <a:ext cx="10118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그룹웨어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연동 필요</a:t>
            </a:r>
          </a:p>
        </p:txBody>
      </p:sp>
    </p:spTree>
    <p:extLst>
      <p:ext uri="{BB962C8B-B14F-4D97-AF65-F5344CB8AC3E}">
        <p14:creationId xmlns:p14="http://schemas.microsoft.com/office/powerpoint/2010/main" val="2414150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362F9-2D05-04BC-0604-FF0A02E86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ADD882E-BAFB-81AE-5004-EDBFA98A62D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7A1E9D-9C98-458E-1C14-ABE0B1E2616E}"/>
              </a:ext>
            </a:extLst>
          </p:cNvPr>
          <p:cNvSpPr txBox="1"/>
          <p:nvPr/>
        </p:nvSpPr>
        <p:spPr>
          <a:xfrm>
            <a:off x="749224" y="25608"/>
            <a:ext cx="16514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 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DF412F-8F40-A931-B127-4409B9ADB687}"/>
              </a:ext>
            </a:extLst>
          </p:cNvPr>
          <p:cNvSpPr txBox="1"/>
          <p:nvPr/>
        </p:nvSpPr>
        <p:spPr>
          <a:xfrm>
            <a:off x="8049344" y="584684"/>
            <a:ext cx="1856656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사용 여부에 따라 본 시스템에 접속 제한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</p:txBody>
      </p:sp>
      <p:graphicFrame>
        <p:nvGraphicFramePr>
          <p:cNvPr id="78" name="표 77">
            <a:extLst>
              <a:ext uri="{FF2B5EF4-FFF2-40B4-BE49-F238E27FC236}">
                <a16:creationId xmlns:a16="http://schemas.microsoft.com/office/drawing/2014/main" id="{B51CE2F9-0C52-18A9-ED60-4693194EADB1}"/>
              </a:ext>
            </a:extLst>
          </p:cNvPr>
          <p:cNvGraphicFramePr>
            <a:graphicFrameLocks noGrp="1"/>
          </p:cNvGraphicFramePr>
          <p:nvPr/>
        </p:nvGraphicFramePr>
        <p:xfrm>
          <a:off x="181506" y="2195020"/>
          <a:ext cx="7723821" cy="214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793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597083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451609">
                  <a:extLst>
                    <a:ext uri="{9D8B030D-6E8A-4147-A177-3AD203B41FA5}">
                      <a16:colId xmlns:a16="http://schemas.microsoft.com/office/drawing/2014/main" val="2264476566"/>
                    </a:ext>
                  </a:extLst>
                </a:gridCol>
                <a:gridCol w="451609">
                  <a:extLst>
                    <a:ext uri="{9D8B030D-6E8A-4147-A177-3AD203B41FA5}">
                      <a16:colId xmlns:a16="http://schemas.microsoft.com/office/drawing/2014/main" val="1900745260"/>
                    </a:ext>
                  </a:extLst>
                </a:gridCol>
                <a:gridCol w="639317">
                  <a:extLst>
                    <a:ext uri="{9D8B030D-6E8A-4147-A177-3AD203B41FA5}">
                      <a16:colId xmlns:a16="http://schemas.microsoft.com/office/drawing/2014/main" val="1854595363"/>
                    </a:ext>
                  </a:extLst>
                </a:gridCol>
                <a:gridCol w="357755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  <a:gridCol w="1166465">
                  <a:extLst>
                    <a:ext uri="{9D8B030D-6E8A-4147-A177-3AD203B41FA5}">
                      <a16:colId xmlns:a16="http://schemas.microsoft.com/office/drawing/2014/main" val="2048789610"/>
                    </a:ext>
                  </a:extLst>
                </a:gridCol>
                <a:gridCol w="545463">
                  <a:extLst>
                    <a:ext uri="{9D8B030D-6E8A-4147-A177-3AD203B41FA5}">
                      <a16:colId xmlns:a16="http://schemas.microsoft.com/office/drawing/2014/main" val="1217387778"/>
                    </a:ext>
                  </a:extLst>
                </a:gridCol>
                <a:gridCol w="773841">
                  <a:extLst>
                    <a:ext uri="{9D8B030D-6E8A-4147-A177-3AD203B41FA5}">
                      <a16:colId xmlns:a16="http://schemas.microsoft.com/office/drawing/2014/main" val="378561692"/>
                    </a:ext>
                  </a:extLst>
                </a:gridCol>
                <a:gridCol w="451609">
                  <a:extLst>
                    <a:ext uri="{9D8B030D-6E8A-4147-A177-3AD203B41FA5}">
                      <a16:colId xmlns:a16="http://schemas.microsoft.com/office/drawing/2014/main" val="1778558004"/>
                    </a:ext>
                  </a:extLst>
                </a:gridCol>
                <a:gridCol w="713231">
                  <a:extLst>
                    <a:ext uri="{9D8B030D-6E8A-4147-A177-3AD203B41FA5}">
                      <a16:colId xmlns:a16="http://schemas.microsoft.com/office/drawing/2014/main" val="3019643269"/>
                    </a:ext>
                  </a:extLst>
                </a:gridCol>
                <a:gridCol w="1071046">
                  <a:extLst>
                    <a:ext uri="{9D8B030D-6E8A-4147-A177-3AD203B41FA5}">
                      <a16:colId xmlns:a16="http://schemas.microsoft.com/office/drawing/2014/main" val="7009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사원번호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아이디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사원명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직급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이메일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 여부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상세정보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최종수정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2110004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none" dirty="0" err="1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simon</a:t>
                      </a:r>
                      <a:endParaRPr lang="ko-KR" altLang="en-US" sz="800" b="1" u="none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장시형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기획지원팀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과장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simon@kepcoes.co.kr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(Y)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2026. 06. 09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(N)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946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773569"/>
                  </a:ext>
                </a:extLst>
              </a:tr>
            </a:tbl>
          </a:graphicData>
        </a:graphic>
      </p:graphicFrame>
      <p:grpSp>
        <p:nvGrpSpPr>
          <p:cNvPr id="20" name="그룹 19">
            <a:extLst>
              <a:ext uri="{FF2B5EF4-FFF2-40B4-BE49-F238E27FC236}">
                <a16:creationId xmlns:a16="http://schemas.microsoft.com/office/drawing/2014/main" id="{7C82B4C8-A91F-8B9C-325A-0C26786F6F58}"/>
              </a:ext>
            </a:extLst>
          </p:cNvPr>
          <p:cNvGrpSpPr/>
          <p:nvPr/>
        </p:nvGrpSpPr>
        <p:grpSpPr>
          <a:xfrm>
            <a:off x="0" y="403565"/>
            <a:ext cx="8049344" cy="6265795"/>
            <a:chOff x="0" y="403565"/>
            <a:chExt cx="8049344" cy="6265795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48951BFE-FCD5-9CB5-A75C-592A4C7109F6}"/>
                </a:ext>
              </a:extLst>
            </p:cNvPr>
            <p:cNvSpPr/>
            <p:nvPr/>
          </p:nvSpPr>
          <p:spPr>
            <a:xfrm>
              <a:off x="164468" y="403565"/>
              <a:ext cx="636393" cy="246221"/>
            </a:xfrm>
            <a:prstGeom prst="rect">
              <a:avLst/>
            </a:prstGeom>
          </p:spPr>
          <p:txBody>
            <a:bodyPr wrap="none" lIns="0" rIns="0">
              <a:spAutoFit/>
            </a:bodyPr>
            <a:lstStyle/>
            <a:p>
              <a:pPr lvl="0" algn="l"/>
              <a:r>
                <a:rPr lang="ko-KR" altLang="en-US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관리자 관리</a:t>
              </a:r>
            </a:p>
          </p:txBody>
        </p: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B5FCF69C-F625-0DA0-5FE2-BC45B7008D5A}"/>
                </a:ext>
              </a:extLst>
            </p:cNvPr>
            <p:cNvCxnSpPr/>
            <p:nvPr/>
          </p:nvCxnSpPr>
          <p:spPr>
            <a:xfrm>
              <a:off x="164468" y="711804"/>
              <a:ext cx="7740859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215238B9-919C-9A55-0832-F92DFD1DC9F6}"/>
                </a:ext>
              </a:extLst>
            </p:cNvPr>
            <p:cNvSpPr/>
            <p:nvPr/>
          </p:nvSpPr>
          <p:spPr>
            <a:xfrm>
              <a:off x="6392091" y="418953"/>
              <a:ext cx="1513236" cy="215444"/>
            </a:xfrm>
            <a:prstGeom prst="rect">
              <a:avLst/>
            </a:prstGeom>
          </p:spPr>
          <p:txBody>
            <a:bodyPr wrap="none" lIns="0" rIns="0">
              <a:spAutoFit/>
            </a:bodyPr>
            <a:lstStyle/>
            <a:p>
              <a:pPr lvl="0" algn="r"/>
              <a:r>
                <a:rPr lang="en-US" altLang="ko-KR" sz="800" b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H &gt; 1Depth &gt; 2Depth &gt; </a:t>
              </a:r>
              <a:r>
                <a:rPr lang="en-US" altLang="ko-KR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3Depth</a:t>
              </a:r>
              <a:endPara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0069414F-6A38-F6F5-4FB4-53725FA03BEC}"/>
                </a:ext>
              </a:extLst>
            </p:cNvPr>
            <p:cNvSpPr/>
            <p:nvPr/>
          </p:nvSpPr>
          <p:spPr>
            <a:xfrm>
              <a:off x="164468" y="834983"/>
              <a:ext cx="7740859" cy="93783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rtlCol="0" anchor="ctr"/>
            <a:lstStyle/>
            <a:p>
              <a:pPr algn="l"/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C7B54E53-3ECC-6F80-AFF9-6ECEE99C593B}"/>
                </a:ext>
              </a:extLst>
            </p:cNvPr>
            <p:cNvSpPr/>
            <p:nvPr/>
          </p:nvSpPr>
          <p:spPr>
            <a:xfrm>
              <a:off x="1408523" y="1422883"/>
              <a:ext cx="821743" cy="21544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72000" bIns="0" rtlCol="0" anchor="ctr"/>
            <a:lstStyle/>
            <a:p>
              <a:pPr algn="l"/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검색 구분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7C9A22A-F979-010D-E1B0-AC4F8A81F575}"/>
                </a:ext>
              </a:extLst>
            </p:cNvPr>
            <p:cNvSpPr/>
            <p:nvPr/>
          </p:nvSpPr>
          <p:spPr>
            <a:xfrm>
              <a:off x="2218774" y="1422885"/>
              <a:ext cx="215441" cy="21544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▼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562C346-2FCB-8ACC-DDAA-48D598AB45E7}"/>
                </a:ext>
              </a:extLst>
            </p:cNvPr>
            <p:cNvSpPr/>
            <p:nvPr/>
          </p:nvSpPr>
          <p:spPr>
            <a:xfrm>
              <a:off x="2533911" y="1422883"/>
              <a:ext cx="3619804" cy="20800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72000" bIns="0" rtlCol="0" anchor="ctr"/>
            <a:lstStyle/>
            <a:p>
              <a:pPr algn="l"/>
              <a:r>
                <a:rPr lang="ko-KR" altLang="en-US" sz="800" b="0" dirty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검색어를 입력하세요</a:t>
              </a:r>
              <a:r>
                <a:rPr lang="en-US" altLang="ko-KR" sz="800" b="0" dirty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  <a:endPara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EB51F1C-2AE3-5C5E-9A51-382F700DFEC3}"/>
                </a:ext>
              </a:extLst>
            </p:cNvPr>
            <p:cNvSpPr/>
            <p:nvPr/>
          </p:nvSpPr>
          <p:spPr>
            <a:xfrm>
              <a:off x="6241919" y="1422885"/>
              <a:ext cx="625198" cy="21544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검색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7D81CCA-F2F5-55BF-EB73-12A595312D27}"/>
                </a:ext>
              </a:extLst>
            </p:cNvPr>
            <p:cNvSpPr txBox="1"/>
            <p:nvPr/>
          </p:nvSpPr>
          <p:spPr>
            <a:xfrm>
              <a:off x="235850" y="941488"/>
              <a:ext cx="680538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72000" marR="0" lvl="0" indent="-7200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1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조회 기간</a:t>
              </a:r>
              <a:r>
                <a:rPr kumimoji="1" lang="en-US" altLang="ko-KR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(</a:t>
              </a:r>
              <a:r>
                <a:rPr kumimoji="1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등록일</a:t>
              </a:r>
              <a:r>
                <a:rPr kumimoji="1" lang="en-US" altLang="ko-KR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)</a:t>
              </a:r>
              <a:r>
                <a:rPr kumimoji="1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 </a:t>
              </a:r>
              <a:r>
                <a:rPr kumimoji="1" lang="en-US" altLang="ko-KR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:                                                                                                                                                                 ~    </a:t>
              </a:r>
              <a:endPara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F5CEA60-5789-0EF5-1113-39419F7CDD98}"/>
                </a:ext>
              </a:extLst>
            </p:cNvPr>
            <p:cNvSpPr txBox="1"/>
            <p:nvPr/>
          </p:nvSpPr>
          <p:spPr>
            <a:xfrm>
              <a:off x="235849" y="1204748"/>
              <a:ext cx="669701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72000" lvl="0" indent="-72000" algn="l">
                <a:buFont typeface="Arial" panose="020B0604020202020204" pitchFamily="34" charset="0"/>
                <a:buChar char="•"/>
                <a:defRPr/>
              </a:pPr>
              <a:r>
                <a:rPr kumimoji="1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사용 여부 </a:t>
              </a:r>
              <a:r>
                <a:rPr kumimoji="1" lang="en-US" altLang="ko-KR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:                     </a:t>
              </a:r>
              <a:r>
                <a:rPr lang="ko-KR" altLang="en-US" sz="800" b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●전체      ○사용</a:t>
              </a:r>
              <a:r>
                <a:rPr lang="en-US" altLang="ko-KR" sz="800" b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(Y)   ○</a:t>
              </a:r>
              <a:r>
                <a:rPr lang="ko-KR" altLang="en-US" sz="800" b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중지</a:t>
              </a:r>
              <a:r>
                <a:rPr lang="en-US" altLang="ko-KR" sz="800" b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(N)</a:t>
              </a:r>
              <a:endPara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1217FEE-ED4D-B376-B67A-DC6369414C41}"/>
                </a:ext>
              </a:extLst>
            </p:cNvPr>
            <p:cNvSpPr txBox="1"/>
            <p:nvPr/>
          </p:nvSpPr>
          <p:spPr>
            <a:xfrm>
              <a:off x="235849" y="1430028"/>
              <a:ext cx="7561759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72000" lvl="0" indent="-72000" algn="l">
                <a:buFont typeface="Arial" panose="020B0604020202020204" pitchFamily="34" charset="0"/>
                <a:buChar char="•"/>
                <a:defRPr/>
              </a:pPr>
              <a:r>
                <a:rPr kumimoji="1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키워드</a:t>
              </a:r>
              <a:r>
                <a:rPr kumimoji="1" lang="en-US" altLang="ko-KR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 </a:t>
              </a:r>
              <a:r>
                <a:rPr kumimoji="1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검색  </a:t>
              </a:r>
              <a:r>
                <a:rPr kumimoji="1" lang="en-US" altLang="ko-KR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:</a:t>
              </a:r>
              <a:endPara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E707616B-3D31-914D-90BC-2C6BFF575C1E}"/>
                </a:ext>
              </a:extLst>
            </p:cNvPr>
            <p:cNvSpPr/>
            <p:nvPr/>
          </p:nvSpPr>
          <p:spPr>
            <a:xfrm>
              <a:off x="4683665" y="929087"/>
              <a:ext cx="821743" cy="21544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72000" bIns="0" rtlCol="0" anchor="ctr"/>
            <a:lstStyle/>
            <a:p>
              <a:pPr algn="l"/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검색 시작일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07A385E5-9D91-CA51-73EB-293C2ED19BE7}"/>
                </a:ext>
              </a:extLst>
            </p:cNvPr>
            <p:cNvSpPr/>
            <p:nvPr/>
          </p:nvSpPr>
          <p:spPr>
            <a:xfrm>
              <a:off x="5493916" y="929089"/>
              <a:ext cx="215441" cy="21544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734919F1-957D-0540-3199-C5ED2866BC1F}"/>
                </a:ext>
              </a:extLst>
            </p:cNvPr>
            <p:cNvSpPr/>
            <p:nvPr/>
          </p:nvSpPr>
          <p:spPr>
            <a:xfrm>
              <a:off x="5907171" y="929087"/>
              <a:ext cx="821743" cy="21544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72000" bIns="0" rtlCol="0" anchor="ctr"/>
            <a:lstStyle/>
            <a:p>
              <a:pPr algn="l"/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검색 종료일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76D7170A-7D55-B4AD-349A-5FD6F527678D}"/>
                </a:ext>
              </a:extLst>
            </p:cNvPr>
            <p:cNvSpPr/>
            <p:nvPr/>
          </p:nvSpPr>
          <p:spPr>
            <a:xfrm>
              <a:off x="6717422" y="929089"/>
              <a:ext cx="215441" cy="21544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C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1005E894-13CA-9A80-91AA-EE75C6B0579F}"/>
                </a:ext>
              </a:extLst>
            </p:cNvPr>
            <p:cNvSpPr/>
            <p:nvPr/>
          </p:nvSpPr>
          <p:spPr>
            <a:xfrm>
              <a:off x="1393889" y="929087"/>
              <a:ext cx="498772" cy="21544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72000" bIns="0" rtlCol="0" anchor="ctr"/>
            <a:lstStyle/>
            <a:p>
              <a:r>
                <a:rPr lang="ko-KR" altLang="en-US" sz="80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하루 전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11E71AB2-99EC-2058-5627-6218FB6DFAD2}"/>
                </a:ext>
              </a:extLst>
            </p:cNvPr>
            <p:cNvSpPr/>
            <p:nvPr/>
          </p:nvSpPr>
          <p:spPr>
            <a:xfrm>
              <a:off x="1942458" y="929087"/>
              <a:ext cx="498772" cy="21544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72000" bIns="0" rtlCol="0" anchor="ctr"/>
            <a:lstStyle/>
            <a:p>
              <a:r>
                <a:rPr lang="en-US" altLang="ko-KR" sz="80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주일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9EBBB69C-255F-7ED2-60B6-7EE8C45D2839}"/>
                </a:ext>
              </a:extLst>
            </p:cNvPr>
            <p:cNvSpPr/>
            <p:nvPr/>
          </p:nvSpPr>
          <p:spPr>
            <a:xfrm>
              <a:off x="2491027" y="929087"/>
              <a:ext cx="498772" cy="21544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72000" bIns="0" rtlCol="0" anchor="ctr"/>
            <a:lstStyle/>
            <a:p>
              <a:r>
                <a:rPr lang="en-US" altLang="ko-KR" sz="80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개월</a:t>
              </a: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077BC21D-06A3-5D3B-AAEE-02CA3E665813}"/>
                </a:ext>
              </a:extLst>
            </p:cNvPr>
            <p:cNvSpPr/>
            <p:nvPr/>
          </p:nvSpPr>
          <p:spPr>
            <a:xfrm>
              <a:off x="3039596" y="929087"/>
              <a:ext cx="498772" cy="21544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72000" bIns="0" rtlCol="0" anchor="ctr"/>
            <a:lstStyle/>
            <a:p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개월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B985011E-94F3-2250-91FB-E272EFF2410D}"/>
                </a:ext>
              </a:extLst>
            </p:cNvPr>
            <p:cNvSpPr/>
            <p:nvPr/>
          </p:nvSpPr>
          <p:spPr>
            <a:xfrm>
              <a:off x="3588165" y="929087"/>
              <a:ext cx="498772" cy="21544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72000" bIns="0" rtlCol="0" anchor="ctr"/>
            <a:lstStyle/>
            <a:p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개월</a:t>
              </a: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5555BE74-6628-AE0C-F380-746D05247ECA}"/>
                </a:ext>
              </a:extLst>
            </p:cNvPr>
            <p:cNvSpPr/>
            <p:nvPr/>
          </p:nvSpPr>
          <p:spPr>
            <a:xfrm>
              <a:off x="4136733" y="929087"/>
              <a:ext cx="498772" cy="21544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72000" bIns="0" rtlCol="0" anchor="ctr"/>
            <a:lstStyle/>
            <a:p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년</a:t>
              </a: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9A63D4E6-0881-F016-3B32-2F742AC6B8E5}"/>
                </a:ext>
              </a:extLst>
            </p:cNvPr>
            <p:cNvSpPr/>
            <p:nvPr/>
          </p:nvSpPr>
          <p:spPr>
            <a:xfrm>
              <a:off x="5856272" y="1901705"/>
              <a:ext cx="821743" cy="21544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72000" bIns="0" rtlCol="0" anchor="ctr"/>
            <a:lstStyle/>
            <a:p>
              <a:pPr algn="l"/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개씩</a:t>
              </a: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402945C1-E724-C0FB-29FA-1672A027BD7F}"/>
                </a:ext>
              </a:extLst>
            </p:cNvPr>
            <p:cNvSpPr/>
            <p:nvPr/>
          </p:nvSpPr>
          <p:spPr>
            <a:xfrm>
              <a:off x="6677734" y="1901705"/>
              <a:ext cx="215441" cy="21544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▼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7F17B42-81E8-4A96-74B6-A4A5F0DBAD87}"/>
                </a:ext>
              </a:extLst>
            </p:cNvPr>
            <p:cNvSpPr txBox="1"/>
            <p:nvPr/>
          </p:nvSpPr>
          <p:spPr>
            <a:xfrm>
              <a:off x="181506" y="1888187"/>
              <a:ext cx="2975920" cy="230832"/>
            </a:xfrm>
            <a:prstGeom prst="rect">
              <a:avLst/>
            </a:prstGeom>
            <a:noFill/>
          </p:spPr>
          <p:txBody>
            <a:bodyPr wrap="square" lIns="0" rIns="0">
              <a:spAutoFit/>
            </a:bodyPr>
            <a:lstStyle/>
            <a:p>
              <a:pPr algn="l"/>
              <a:r>
                <a:rPr lang="ko-KR" altLang="en-US" sz="9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전체 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55</a:t>
              </a:r>
              <a:r>
                <a:rPr lang="ko-KR" altLang="en-US" sz="9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건 현재 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r>
                <a:rPr lang="en-US" altLang="ko-KR" sz="9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/4</a:t>
              </a:r>
              <a:endPara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grpSp>
          <p:nvGrpSpPr>
            <p:cNvPr id="79" name="그룹 78">
              <a:extLst>
                <a:ext uri="{FF2B5EF4-FFF2-40B4-BE49-F238E27FC236}">
                  <a16:creationId xmlns:a16="http://schemas.microsoft.com/office/drawing/2014/main" id="{1E9FF003-B7D5-1B11-1426-855026BE3A82}"/>
                </a:ext>
              </a:extLst>
            </p:cNvPr>
            <p:cNvGrpSpPr/>
            <p:nvPr/>
          </p:nvGrpSpPr>
          <p:grpSpPr>
            <a:xfrm>
              <a:off x="2004219" y="4313255"/>
              <a:ext cx="4025354" cy="216024"/>
              <a:chOff x="2992062" y="4869160"/>
              <a:chExt cx="4025354" cy="216024"/>
            </a:xfrm>
          </p:grpSpPr>
          <p:sp>
            <p:nvSpPr>
              <p:cNvPr id="80" name="직사각형 79">
                <a:extLst>
                  <a:ext uri="{FF2B5EF4-FFF2-40B4-BE49-F238E27FC236}">
                    <a16:creationId xmlns:a16="http://schemas.microsoft.com/office/drawing/2014/main" id="{9F2A0E09-9F9F-851C-0100-A7B71098F8BD}"/>
                  </a:ext>
                </a:extLst>
              </p:cNvPr>
              <p:cNvSpPr/>
              <p:nvPr/>
            </p:nvSpPr>
            <p:spPr>
              <a:xfrm>
                <a:off x="2992062" y="4869160"/>
                <a:ext cx="216000" cy="216024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bg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◀</a:t>
                </a:r>
              </a:p>
            </p:txBody>
          </p:sp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556326EC-ECAF-B944-C2A9-1CB3B8899BFB}"/>
                  </a:ext>
                </a:extLst>
              </p:cNvPr>
              <p:cNvSpPr/>
              <p:nvPr/>
            </p:nvSpPr>
            <p:spPr>
              <a:xfrm>
                <a:off x="3285089" y="4869160"/>
                <a:ext cx="216000" cy="216024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bg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&lt;</a:t>
                </a:r>
                <a:endPara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82" name="직사각형 81">
                <a:extLst>
                  <a:ext uri="{FF2B5EF4-FFF2-40B4-BE49-F238E27FC236}">
                    <a16:creationId xmlns:a16="http://schemas.microsoft.com/office/drawing/2014/main" id="{9753F3D1-31C0-068F-A831-7653D4F13E1C}"/>
                  </a:ext>
                </a:extLst>
              </p:cNvPr>
              <p:cNvSpPr/>
              <p:nvPr/>
            </p:nvSpPr>
            <p:spPr>
              <a:xfrm>
                <a:off x="3578116" y="4869160"/>
                <a:ext cx="216000" cy="21602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endPara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83" name="직사각형 82">
                <a:extLst>
                  <a:ext uri="{FF2B5EF4-FFF2-40B4-BE49-F238E27FC236}">
                    <a16:creationId xmlns:a16="http://schemas.microsoft.com/office/drawing/2014/main" id="{CE3CB03E-7AFA-F205-39EE-908FA0E2CC9C}"/>
                  </a:ext>
                </a:extLst>
              </p:cNvPr>
              <p:cNvSpPr/>
              <p:nvPr/>
            </p:nvSpPr>
            <p:spPr>
              <a:xfrm>
                <a:off x="3871143" y="4869160"/>
                <a:ext cx="216000" cy="21602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2</a:t>
                </a:r>
                <a:endPara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76E1244E-2EAB-2A29-DDBE-0B9778B23BEE}"/>
                  </a:ext>
                </a:extLst>
              </p:cNvPr>
              <p:cNvSpPr/>
              <p:nvPr/>
            </p:nvSpPr>
            <p:spPr>
              <a:xfrm>
                <a:off x="4164170" y="4869160"/>
                <a:ext cx="216000" cy="21602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3</a:t>
                </a:r>
                <a:endPara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85" name="직사각형 84">
                <a:extLst>
                  <a:ext uri="{FF2B5EF4-FFF2-40B4-BE49-F238E27FC236}">
                    <a16:creationId xmlns:a16="http://schemas.microsoft.com/office/drawing/2014/main" id="{ABE43B45-F8F0-DBAF-8DA1-BCC998DF47D5}"/>
                  </a:ext>
                </a:extLst>
              </p:cNvPr>
              <p:cNvSpPr/>
              <p:nvPr/>
            </p:nvSpPr>
            <p:spPr>
              <a:xfrm>
                <a:off x="4457197" y="4869160"/>
                <a:ext cx="216000" cy="21602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4</a:t>
                </a:r>
                <a:endPara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341ADF35-11CB-DFA2-CB4D-20CDA2E09AB4}"/>
                  </a:ext>
                </a:extLst>
              </p:cNvPr>
              <p:cNvSpPr/>
              <p:nvPr/>
            </p:nvSpPr>
            <p:spPr>
              <a:xfrm>
                <a:off x="4750224" y="4869160"/>
                <a:ext cx="216000" cy="21602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5</a:t>
                </a:r>
                <a:endPara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500292C6-3FA3-E0B4-2AB2-FE8788461578}"/>
                  </a:ext>
                </a:extLst>
              </p:cNvPr>
              <p:cNvSpPr/>
              <p:nvPr/>
            </p:nvSpPr>
            <p:spPr>
              <a:xfrm>
                <a:off x="5043251" y="4869160"/>
                <a:ext cx="216000" cy="21602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6</a:t>
                </a:r>
                <a:endPara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88" name="직사각형 87">
                <a:extLst>
                  <a:ext uri="{FF2B5EF4-FFF2-40B4-BE49-F238E27FC236}">
                    <a16:creationId xmlns:a16="http://schemas.microsoft.com/office/drawing/2014/main" id="{6017EA5B-BBEE-47A0-B5E6-4317E45338D7}"/>
                  </a:ext>
                </a:extLst>
              </p:cNvPr>
              <p:cNvSpPr/>
              <p:nvPr/>
            </p:nvSpPr>
            <p:spPr>
              <a:xfrm>
                <a:off x="5336278" y="4869160"/>
                <a:ext cx="216000" cy="21602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7</a:t>
                </a:r>
                <a:endPara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89" name="직사각형 88">
                <a:extLst>
                  <a:ext uri="{FF2B5EF4-FFF2-40B4-BE49-F238E27FC236}">
                    <a16:creationId xmlns:a16="http://schemas.microsoft.com/office/drawing/2014/main" id="{77BAED18-3182-E811-F756-1A61E9E0AF37}"/>
                  </a:ext>
                </a:extLst>
              </p:cNvPr>
              <p:cNvSpPr/>
              <p:nvPr/>
            </p:nvSpPr>
            <p:spPr>
              <a:xfrm>
                <a:off x="5629305" y="4869160"/>
                <a:ext cx="216000" cy="21602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8</a:t>
                </a:r>
                <a:endPara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52B31711-F2D0-93EF-3CB6-722DA6721D63}"/>
                  </a:ext>
                </a:extLst>
              </p:cNvPr>
              <p:cNvSpPr/>
              <p:nvPr/>
            </p:nvSpPr>
            <p:spPr>
              <a:xfrm>
                <a:off x="5922332" y="4869160"/>
                <a:ext cx="216000" cy="21602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9</a:t>
                </a:r>
                <a:endPara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91" name="직사각형 90">
                <a:extLst>
                  <a:ext uri="{FF2B5EF4-FFF2-40B4-BE49-F238E27FC236}">
                    <a16:creationId xmlns:a16="http://schemas.microsoft.com/office/drawing/2014/main" id="{1AC8C341-DB34-843E-9AF0-03BD2FE836A3}"/>
                  </a:ext>
                </a:extLst>
              </p:cNvPr>
              <p:cNvSpPr/>
              <p:nvPr/>
            </p:nvSpPr>
            <p:spPr>
              <a:xfrm>
                <a:off x="6215359" y="4869160"/>
                <a:ext cx="216000" cy="21602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10</a:t>
                </a:r>
                <a:endPara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92" name="직사각형 91">
                <a:extLst>
                  <a:ext uri="{FF2B5EF4-FFF2-40B4-BE49-F238E27FC236}">
                    <a16:creationId xmlns:a16="http://schemas.microsoft.com/office/drawing/2014/main" id="{0AF1672A-A833-C31C-F609-E49C1A26F8A1}"/>
                  </a:ext>
                </a:extLst>
              </p:cNvPr>
              <p:cNvSpPr/>
              <p:nvPr/>
            </p:nvSpPr>
            <p:spPr>
              <a:xfrm>
                <a:off x="6508386" y="4869160"/>
                <a:ext cx="216000" cy="216024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bg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&gt;</a:t>
                </a:r>
                <a:endPara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93" name="직사각형 92">
                <a:extLst>
                  <a:ext uri="{FF2B5EF4-FFF2-40B4-BE49-F238E27FC236}">
                    <a16:creationId xmlns:a16="http://schemas.microsoft.com/office/drawing/2014/main" id="{872E1005-79C9-F0CE-A09B-7F0649157A98}"/>
                  </a:ext>
                </a:extLst>
              </p:cNvPr>
              <p:cNvSpPr/>
              <p:nvPr/>
            </p:nvSpPr>
            <p:spPr>
              <a:xfrm>
                <a:off x="6801416" y="4869160"/>
                <a:ext cx="216000" cy="216024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bg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▶</a:t>
                </a:r>
              </a:p>
            </p:txBody>
          </p:sp>
        </p:grp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A96EC98-7443-F69B-12A9-37B284E5CC89}"/>
                </a:ext>
              </a:extLst>
            </p:cNvPr>
            <p:cNvSpPr/>
            <p:nvPr/>
          </p:nvSpPr>
          <p:spPr>
            <a:xfrm>
              <a:off x="0" y="6489340"/>
              <a:ext cx="8049344" cy="18002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Footer</a:t>
              </a:r>
              <a:endPara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2DC7C7CF-86DA-C79E-7A51-396E20E1C525}"/>
                </a:ext>
              </a:extLst>
            </p:cNvPr>
            <p:cNvSpPr/>
            <p:nvPr/>
          </p:nvSpPr>
          <p:spPr>
            <a:xfrm>
              <a:off x="6188219" y="2589203"/>
              <a:ext cx="566573" cy="21544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상세정보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85253D6-4E14-B853-6D3D-3FD0FB558F45}"/>
                </a:ext>
              </a:extLst>
            </p:cNvPr>
            <p:cNvSpPr/>
            <p:nvPr/>
          </p:nvSpPr>
          <p:spPr>
            <a:xfrm>
              <a:off x="6982990" y="1901705"/>
              <a:ext cx="913712" cy="215441"/>
            </a:xfrm>
            <a:prstGeom prst="rect">
              <a:avLst/>
            </a:prstGeom>
            <a:solidFill>
              <a:srgbClr val="00B050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(Excel)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5CDE5E6-3C13-11B1-553A-F5C9A4C69267}"/>
              </a:ext>
            </a:extLst>
          </p:cNvPr>
          <p:cNvSpPr/>
          <p:nvPr/>
        </p:nvSpPr>
        <p:spPr>
          <a:xfrm>
            <a:off x="0" y="241052"/>
            <a:ext cx="8045062" cy="6428308"/>
          </a:xfrm>
          <a:prstGeom prst="rect">
            <a:avLst/>
          </a:prstGeom>
          <a:solidFill>
            <a:srgbClr val="40404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6DA47A3-B3F7-9DBE-919D-FB031941D54A}"/>
              </a:ext>
            </a:extLst>
          </p:cNvPr>
          <p:cNvSpPr/>
          <p:nvPr/>
        </p:nvSpPr>
        <p:spPr>
          <a:xfrm>
            <a:off x="1993091" y="332656"/>
            <a:ext cx="3797452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관리자 상세정보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7F619BA-CE35-837C-07EE-4D9AA531DE1C}"/>
              </a:ext>
            </a:extLst>
          </p:cNvPr>
          <p:cNvSpPr/>
          <p:nvPr/>
        </p:nvSpPr>
        <p:spPr>
          <a:xfrm>
            <a:off x="1993091" y="605567"/>
            <a:ext cx="3773366" cy="55347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51A2935-7851-F6E0-9420-C7099F096B09}"/>
              </a:ext>
            </a:extLst>
          </p:cNvPr>
          <p:cNvSpPr/>
          <p:nvPr/>
        </p:nvSpPr>
        <p:spPr>
          <a:xfrm>
            <a:off x="5520543" y="332656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966005E2-8B35-B6C7-7AB9-6106ACF1756D}"/>
              </a:ext>
            </a:extLst>
          </p:cNvPr>
          <p:cNvSpPr/>
          <p:nvPr/>
        </p:nvSpPr>
        <p:spPr>
          <a:xfrm>
            <a:off x="2169289" y="1036877"/>
            <a:ext cx="3254096" cy="230832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 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정보는 그룹웨어에서 수정되면 실시간 반영됩니다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61C26C29-D4EB-BFAC-3688-1DD094AB48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634842"/>
              </p:ext>
            </p:extLst>
          </p:nvPr>
        </p:nvGraphicFramePr>
        <p:xfrm>
          <a:off x="2137107" y="1322356"/>
          <a:ext cx="3348372" cy="337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63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2325742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사원번호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2110004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아이디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simon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사원명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장시형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기획지원팀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직급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과장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이메일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simon@kepcoes.co.kr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77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 여부 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● 사용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(Y)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○중지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(N)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866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2026.06.09 15:23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9624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200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최종수정일시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 10:45(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67517"/>
                  </a:ext>
                </a:extLst>
              </a:tr>
            </a:tbl>
          </a:graphicData>
        </a:graphic>
      </p:graphicFrame>
      <p:sp>
        <p:nvSpPr>
          <p:cNvPr id="66" name="직사각형 65">
            <a:extLst>
              <a:ext uri="{FF2B5EF4-FFF2-40B4-BE49-F238E27FC236}">
                <a16:creationId xmlns:a16="http://schemas.microsoft.com/office/drawing/2014/main" id="{93FC2580-C321-A6CC-F72D-B45F054A67AD}"/>
              </a:ext>
            </a:extLst>
          </p:cNvPr>
          <p:cNvSpPr/>
          <p:nvPr/>
        </p:nvSpPr>
        <p:spPr>
          <a:xfrm>
            <a:off x="4967770" y="5707110"/>
            <a:ext cx="535094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닫기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F225EBCA-5018-4B10-D524-68685484DF24}"/>
              </a:ext>
            </a:extLst>
          </p:cNvPr>
          <p:cNvSpPr/>
          <p:nvPr/>
        </p:nvSpPr>
        <p:spPr>
          <a:xfrm>
            <a:off x="4375936" y="5707110"/>
            <a:ext cx="535094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적용</a:t>
            </a: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ED475B48-3B3D-6CC6-6A3C-D752F46B656A}"/>
              </a:ext>
            </a:extLst>
          </p:cNvPr>
          <p:cNvSpPr/>
          <p:nvPr/>
        </p:nvSpPr>
        <p:spPr>
          <a:xfrm>
            <a:off x="2169289" y="717734"/>
            <a:ext cx="1045158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 상세정보</a:t>
            </a:r>
            <a:endParaRPr lang="ko-KR" altLang="en-US" sz="11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71E5E07C-E29E-F0C8-D0A7-BBFB033A65EE}"/>
              </a:ext>
            </a:extLst>
          </p:cNvPr>
          <p:cNvSpPr/>
          <p:nvPr/>
        </p:nvSpPr>
        <p:spPr>
          <a:xfrm>
            <a:off x="2169289" y="4766028"/>
            <a:ext cx="3491340" cy="230832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 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정보는 권한그룹 및 메뉴별 권한 관리에서 수정하실 수 있습니다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13" name="표 112">
            <a:extLst>
              <a:ext uri="{FF2B5EF4-FFF2-40B4-BE49-F238E27FC236}">
                <a16:creationId xmlns:a16="http://schemas.microsoft.com/office/drawing/2014/main" id="{8A49CEDB-5B9A-1885-1454-72FCEF459418}"/>
              </a:ext>
            </a:extLst>
          </p:cNvPr>
          <p:cNvGraphicFramePr>
            <a:graphicFrameLocks noGrp="1"/>
          </p:cNvGraphicFramePr>
          <p:nvPr/>
        </p:nvGraphicFramePr>
        <p:xfrm>
          <a:off x="2137107" y="5088936"/>
          <a:ext cx="3348372" cy="53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63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2325742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권한그룹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권한그룹명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#1</a:t>
                      </a:r>
                    </a:p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권한그룹명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#2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</a:tbl>
          </a:graphicData>
        </a:graphic>
      </p:graphicFrame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8560B453-AAC9-801B-46CE-C1722F52BFC0}"/>
              </a:ext>
            </a:extLst>
          </p:cNvPr>
          <p:cNvSpPr/>
          <p:nvPr/>
        </p:nvSpPr>
        <p:spPr>
          <a:xfrm>
            <a:off x="5659363" y="606410"/>
            <a:ext cx="108012" cy="553388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1F66F39B-16AA-BE1F-B6DC-89EBC635588C}"/>
              </a:ext>
            </a:extLst>
          </p:cNvPr>
          <p:cNvSpPr/>
          <p:nvPr/>
        </p:nvSpPr>
        <p:spPr>
          <a:xfrm>
            <a:off x="5659363" y="988187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BB50DA7B-C841-10E2-7BF0-845FBAB174F0}"/>
              </a:ext>
            </a:extLst>
          </p:cNvPr>
          <p:cNvSpPr/>
          <p:nvPr/>
        </p:nvSpPr>
        <p:spPr>
          <a:xfrm>
            <a:off x="3107285" y="323540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AD5EE27C-1C00-DD5F-B6C1-76FE61735F9A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12" name="Picture 1">
            <a:extLst>
              <a:ext uri="{FF2B5EF4-FFF2-40B4-BE49-F238E27FC236}">
                <a16:creationId xmlns:a16="http://schemas.microsoft.com/office/drawing/2014/main" id="{6447B73B-FEE0-45A5-1DED-12D4B6280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16AAF1A-D245-9C0E-5072-4C654B20DF5F}"/>
              </a:ext>
            </a:extLst>
          </p:cNvPr>
          <p:cNvSpPr txBox="1"/>
          <p:nvPr/>
        </p:nvSpPr>
        <p:spPr>
          <a:xfrm>
            <a:off x="7634856" y="25608"/>
            <a:ext cx="10118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그룹웨어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연동 필요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D1BDE2C-4C88-7B60-2DC5-DCC37598E2F2}"/>
              </a:ext>
            </a:extLst>
          </p:cNvPr>
          <p:cNvSpPr/>
          <p:nvPr/>
        </p:nvSpPr>
        <p:spPr>
          <a:xfrm>
            <a:off x="-1690381" y="801483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B585050-F9B7-2FCE-6DBB-D4AF5337EBFE}"/>
              </a:ext>
            </a:extLst>
          </p:cNvPr>
          <p:cNvSpPr/>
          <p:nvPr/>
        </p:nvSpPr>
        <p:spPr>
          <a:xfrm>
            <a:off x="-1690381" y="1101803"/>
            <a:ext cx="1467136" cy="241808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</a:t>
            </a:r>
            <a:r>
              <a:rPr lang="en-US" altLang="ko-KR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권한그룹 및 메뉴별 권한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권한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접속 아이피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(IP)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메뉴별 접속현황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거래처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 관리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330B8DD-8144-0204-9418-588FD3DCEB71}"/>
              </a:ext>
            </a:extLst>
          </p:cNvPr>
          <p:cNvSpPr/>
          <p:nvPr/>
        </p:nvSpPr>
        <p:spPr>
          <a:xfrm>
            <a:off x="-529236" y="801483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4625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A5957-C4D5-0228-B1BF-486EC64EC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013AD11-B926-EB9C-23BF-FB41575A2FA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A05E27-5E11-1B20-05AE-E35356B4340F}"/>
              </a:ext>
            </a:extLst>
          </p:cNvPr>
          <p:cNvSpPr txBox="1"/>
          <p:nvPr/>
        </p:nvSpPr>
        <p:spPr>
          <a:xfrm>
            <a:off x="749224" y="25608"/>
            <a:ext cx="24897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권한그룹 및 메뉴별 권한 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AA86CE-89D1-CB73-1971-A5C00FF913BB}"/>
              </a:ext>
            </a:extLst>
          </p:cNvPr>
          <p:cNvSpPr txBox="1"/>
          <p:nvPr/>
        </p:nvSpPr>
        <p:spPr>
          <a:xfrm>
            <a:off x="8049344" y="584684"/>
            <a:ext cx="185665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권한그룹명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권한그룹 설명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권한에 매핑된 직원의 숫자 표시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FC36690-A6E0-5099-1006-8CBD2AD0F01E}"/>
              </a:ext>
            </a:extLst>
          </p:cNvPr>
          <p:cNvSpPr/>
          <p:nvPr/>
        </p:nvSpPr>
        <p:spPr>
          <a:xfrm>
            <a:off x="164468" y="403565"/>
            <a:ext cx="158376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권한그룹 및 메뉴별 권한 관리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FDA9516A-E8C0-3C5F-0444-A169978E421F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C08951B-5842-10B5-115D-F093B4CFD002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8F12E99-ABD5-88FD-82A6-E07A50A77D16}"/>
              </a:ext>
            </a:extLst>
          </p:cNvPr>
          <p:cNvSpPr/>
          <p:nvPr/>
        </p:nvSpPr>
        <p:spPr>
          <a:xfrm>
            <a:off x="164468" y="834983"/>
            <a:ext cx="7740859" cy="68580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B4D3E6F-BCB5-4253-CA19-F0E9B6413449}"/>
              </a:ext>
            </a:extLst>
          </p:cNvPr>
          <p:cNvSpPr/>
          <p:nvPr/>
        </p:nvSpPr>
        <p:spPr>
          <a:xfrm>
            <a:off x="1408523" y="1209885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F2A5198-86CF-F830-D2EA-17450AE4DE95}"/>
              </a:ext>
            </a:extLst>
          </p:cNvPr>
          <p:cNvSpPr/>
          <p:nvPr/>
        </p:nvSpPr>
        <p:spPr>
          <a:xfrm>
            <a:off x="2218774" y="1209887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3E23D01-9740-8B50-65AE-589FE429F23F}"/>
              </a:ext>
            </a:extLst>
          </p:cNvPr>
          <p:cNvSpPr/>
          <p:nvPr/>
        </p:nvSpPr>
        <p:spPr>
          <a:xfrm>
            <a:off x="2533911" y="1209885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CCF4282-7B3C-C35B-1727-B41EEAD1B417}"/>
              </a:ext>
            </a:extLst>
          </p:cNvPr>
          <p:cNvSpPr/>
          <p:nvPr/>
        </p:nvSpPr>
        <p:spPr>
          <a:xfrm>
            <a:off x="6241919" y="1209887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3D223C-C54A-90EA-CAE3-657B24EA78C4}"/>
              </a:ext>
            </a:extLst>
          </p:cNvPr>
          <p:cNvSpPr txBox="1"/>
          <p:nvPr/>
        </p:nvSpPr>
        <p:spPr>
          <a:xfrm>
            <a:off x="235850" y="941488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 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등록일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D6B193-E6D9-9738-AD85-19B7C644EEC2}"/>
              </a:ext>
            </a:extLst>
          </p:cNvPr>
          <p:cNvSpPr txBox="1"/>
          <p:nvPr/>
        </p:nvSpPr>
        <p:spPr>
          <a:xfrm>
            <a:off x="235849" y="1217030"/>
            <a:ext cx="75617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6CFCD07-FE2D-DCB8-5916-65AFC42C9E35}"/>
              </a:ext>
            </a:extLst>
          </p:cNvPr>
          <p:cNvSpPr/>
          <p:nvPr/>
        </p:nvSpPr>
        <p:spPr>
          <a:xfrm>
            <a:off x="4683665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873AD2C-93A9-5006-2589-A47FEDFD4B5C}"/>
              </a:ext>
            </a:extLst>
          </p:cNvPr>
          <p:cNvSpPr/>
          <p:nvPr/>
        </p:nvSpPr>
        <p:spPr>
          <a:xfrm>
            <a:off x="5493916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45BE657-F82E-2B62-A9F3-E44089D83DD9}"/>
              </a:ext>
            </a:extLst>
          </p:cNvPr>
          <p:cNvSpPr/>
          <p:nvPr/>
        </p:nvSpPr>
        <p:spPr>
          <a:xfrm>
            <a:off x="5907171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551D562-41F4-8723-66A4-EE0A0824E9F3}"/>
              </a:ext>
            </a:extLst>
          </p:cNvPr>
          <p:cNvSpPr/>
          <p:nvPr/>
        </p:nvSpPr>
        <p:spPr>
          <a:xfrm>
            <a:off x="6717422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B41FD67-8D8B-F3D4-6EE3-21CD0321EE4C}"/>
              </a:ext>
            </a:extLst>
          </p:cNvPr>
          <p:cNvSpPr/>
          <p:nvPr/>
        </p:nvSpPr>
        <p:spPr>
          <a:xfrm>
            <a:off x="1393889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6F75A9E-49D0-113C-3C35-A78F970F2D58}"/>
              </a:ext>
            </a:extLst>
          </p:cNvPr>
          <p:cNvSpPr/>
          <p:nvPr/>
        </p:nvSpPr>
        <p:spPr>
          <a:xfrm>
            <a:off x="1942458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73A7E31-2AB8-6F5D-7A6D-8ED4ACFF37E9}"/>
              </a:ext>
            </a:extLst>
          </p:cNvPr>
          <p:cNvSpPr/>
          <p:nvPr/>
        </p:nvSpPr>
        <p:spPr>
          <a:xfrm>
            <a:off x="2491027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43A0FB8-A54B-21A4-4409-8E5BF7D66C2B}"/>
              </a:ext>
            </a:extLst>
          </p:cNvPr>
          <p:cNvSpPr/>
          <p:nvPr/>
        </p:nvSpPr>
        <p:spPr>
          <a:xfrm>
            <a:off x="3039596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C8FBE49-EB51-7BDF-FD69-48655BFDCC78}"/>
              </a:ext>
            </a:extLst>
          </p:cNvPr>
          <p:cNvSpPr/>
          <p:nvPr/>
        </p:nvSpPr>
        <p:spPr>
          <a:xfrm>
            <a:off x="3588165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D3EE066-878C-FCB8-6D31-64CD26E6AC4C}"/>
              </a:ext>
            </a:extLst>
          </p:cNvPr>
          <p:cNvSpPr/>
          <p:nvPr/>
        </p:nvSpPr>
        <p:spPr>
          <a:xfrm>
            <a:off x="4136733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1B872489-9937-C775-92FD-49C81311C2DB}"/>
              </a:ext>
            </a:extLst>
          </p:cNvPr>
          <p:cNvSpPr/>
          <p:nvPr/>
        </p:nvSpPr>
        <p:spPr>
          <a:xfrm>
            <a:off x="5856272" y="1615274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86C0387C-E235-DE34-1F2E-D16358CE6E91}"/>
              </a:ext>
            </a:extLst>
          </p:cNvPr>
          <p:cNvSpPr/>
          <p:nvPr/>
        </p:nvSpPr>
        <p:spPr>
          <a:xfrm>
            <a:off x="6677734" y="1615274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9732411-E9AB-5055-3F25-1F93736257DD}"/>
              </a:ext>
            </a:extLst>
          </p:cNvPr>
          <p:cNvSpPr txBox="1"/>
          <p:nvPr/>
        </p:nvSpPr>
        <p:spPr>
          <a:xfrm>
            <a:off x="181506" y="1601756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55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78" name="표 77">
            <a:extLst>
              <a:ext uri="{FF2B5EF4-FFF2-40B4-BE49-F238E27FC236}">
                <a16:creationId xmlns:a16="http://schemas.microsoft.com/office/drawing/2014/main" id="{7585A811-491F-7DC1-1DE1-FB236DA14530}"/>
              </a:ext>
            </a:extLst>
          </p:cNvPr>
          <p:cNvGraphicFramePr>
            <a:graphicFrameLocks noGrp="1"/>
          </p:cNvGraphicFramePr>
          <p:nvPr/>
        </p:nvGraphicFramePr>
        <p:xfrm>
          <a:off x="181505" y="1908589"/>
          <a:ext cx="7695579" cy="202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9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833471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712753">
                  <a:extLst>
                    <a:ext uri="{9D8B030D-6E8A-4147-A177-3AD203B41FA5}">
                      <a16:colId xmlns:a16="http://schemas.microsoft.com/office/drawing/2014/main" val="2264476566"/>
                    </a:ext>
                  </a:extLst>
                </a:gridCol>
                <a:gridCol w="816957">
                  <a:extLst>
                    <a:ext uri="{9D8B030D-6E8A-4147-A177-3AD203B41FA5}">
                      <a16:colId xmlns:a16="http://schemas.microsoft.com/office/drawing/2014/main" val="378561692"/>
                    </a:ext>
                  </a:extLst>
                </a:gridCol>
                <a:gridCol w="476771">
                  <a:extLst>
                    <a:ext uri="{9D8B030D-6E8A-4147-A177-3AD203B41FA5}">
                      <a16:colId xmlns:a16="http://schemas.microsoft.com/office/drawing/2014/main" val="1778558004"/>
                    </a:ext>
                  </a:extLst>
                </a:gridCol>
                <a:gridCol w="1130721">
                  <a:extLst>
                    <a:ext uri="{9D8B030D-6E8A-4147-A177-3AD203B41FA5}">
                      <a16:colId xmlns:a16="http://schemas.microsoft.com/office/drawing/2014/main" val="700917874"/>
                    </a:ext>
                  </a:extLst>
                </a:gridCol>
                <a:gridCol w="552735">
                  <a:extLst>
                    <a:ext uri="{9D8B030D-6E8A-4147-A177-3AD203B41FA5}">
                      <a16:colId xmlns:a16="http://schemas.microsoft.com/office/drawing/2014/main" val="577920749"/>
                    </a:ext>
                  </a:extLst>
                </a:gridCol>
                <a:gridCol w="639253">
                  <a:extLst>
                    <a:ext uri="{9D8B030D-6E8A-4147-A177-3AD203B41FA5}">
                      <a16:colId xmlns:a16="http://schemas.microsoft.com/office/drawing/2014/main" val="22745853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권한그룹명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권한그룹 설명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최종수정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매핑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삭제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권한그룹명 </a:t>
                      </a: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#1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최고관리자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시스템 운영 담당자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를 대상으로 한 모든 권한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2026. 06. 09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명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946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773569"/>
                  </a:ext>
                </a:extLst>
              </a:tr>
            </a:tbl>
          </a:graphicData>
        </a:graphic>
      </p:graphicFrame>
      <p:grpSp>
        <p:nvGrpSpPr>
          <p:cNvPr id="79" name="그룹 78">
            <a:extLst>
              <a:ext uri="{FF2B5EF4-FFF2-40B4-BE49-F238E27FC236}">
                <a16:creationId xmlns:a16="http://schemas.microsoft.com/office/drawing/2014/main" id="{2202BBFC-E506-AEB6-6F97-F376AC2456C0}"/>
              </a:ext>
            </a:extLst>
          </p:cNvPr>
          <p:cNvGrpSpPr/>
          <p:nvPr/>
        </p:nvGrpSpPr>
        <p:grpSpPr>
          <a:xfrm>
            <a:off x="2004219" y="4026824"/>
            <a:ext cx="4025354" cy="216024"/>
            <a:chOff x="2992062" y="4869160"/>
            <a:chExt cx="4025354" cy="216024"/>
          </a:xfrm>
        </p:grpSpPr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2D543914-A83E-EC31-907A-CB03AB750B57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0FDBA63C-8E30-2307-5A49-74DF2FDAA09B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30C578A5-56DD-18E6-5209-72E164124056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BB2C4C90-43DB-164C-C0A2-3E9980BDB123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A90FC4E0-549C-BC05-2C4E-8767822C1732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8F7DF6BF-98BF-3447-295B-4FF77DC26B0D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ABF1DAB9-CF0A-64E2-2A11-109CEDBF6589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F50FB2F5-F6B5-1EF2-D742-E9672808BED5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FF9B88E4-A486-DEA1-F905-13FEF2409756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69DD9931-15D5-0663-957C-43FCF2790411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10E91D57-AFED-1133-625D-EC4F7117423A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4BD48D5E-BA98-F5CC-F194-E4C7694753A2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9AEEC93C-0CB1-7978-524C-41A831B8D06F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64C84F8C-E908-D29D-D4F4-7774456CA05B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5DB05BD-2329-6939-3441-B1225C8ECA3D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F55A88FD-00CD-963C-CCA0-B8574E48E159}"/>
              </a:ext>
            </a:extLst>
          </p:cNvPr>
          <p:cNvSpPr/>
          <p:nvPr/>
        </p:nvSpPr>
        <p:spPr>
          <a:xfrm>
            <a:off x="1272711" y="115527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2B88FAE-F505-733A-3F20-5EF8F358A1D5}"/>
              </a:ext>
            </a:extLst>
          </p:cNvPr>
          <p:cNvSpPr/>
          <p:nvPr/>
        </p:nvSpPr>
        <p:spPr>
          <a:xfrm>
            <a:off x="7338754" y="2302772"/>
            <a:ext cx="458854" cy="21544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8512CBE-3F87-CF61-8A4B-7A4E47FBBB44}"/>
              </a:ext>
            </a:extLst>
          </p:cNvPr>
          <p:cNvSpPr/>
          <p:nvPr/>
        </p:nvSpPr>
        <p:spPr>
          <a:xfrm>
            <a:off x="6982990" y="1615274"/>
            <a:ext cx="913712" cy="215441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(Excel)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6E713DF6-D365-8F23-5F66-95E53D28D570}"/>
              </a:ext>
            </a:extLst>
          </p:cNvPr>
          <p:cNvSpPr/>
          <p:nvPr/>
        </p:nvSpPr>
        <p:spPr>
          <a:xfrm>
            <a:off x="6564591" y="1789359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B8FFC17-CB44-4049-5390-B4CC95622BA6}"/>
              </a:ext>
            </a:extLst>
          </p:cNvPr>
          <p:cNvSpPr/>
          <p:nvPr/>
        </p:nvSpPr>
        <p:spPr>
          <a:xfrm>
            <a:off x="7338754" y="2640601"/>
            <a:ext cx="458854" cy="21544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90EE80F-547D-B784-B868-ADBAAC95D050}"/>
              </a:ext>
            </a:extLst>
          </p:cNvPr>
          <p:cNvSpPr/>
          <p:nvPr/>
        </p:nvSpPr>
        <p:spPr>
          <a:xfrm>
            <a:off x="7338754" y="2978430"/>
            <a:ext cx="458854" cy="21544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3C220B3-7861-1EC4-AF72-2372F91BCC5F}"/>
              </a:ext>
            </a:extLst>
          </p:cNvPr>
          <p:cNvSpPr/>
          <p:nvPr/>
        </p:nvSpPr>
        <p:spPr>
          <a:xfrm>
            <a:off x="7338754" y="3316259"/>
            <a:ext cx="458854" cy="21544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384AF46-876B-3416-5D31-1155BCBA4FD5}"/>
              </a:ext>
            </a:extLst>
          </p:cNvPr>
          <p:cNvSpPr/>
          <p:nvPr/>
        </p:nvSpPr>
        <p:spPr>
          <a:xfrm>
            <a:off x="7338754" y="3654088"/>
            <a:ext cx="458854" cy="21544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B7EB12B-D41D-5A35-D425-FCE7351A9FA7}"/>
              </a:ext>
            </a:extLst>
          </p:cNvPr>
          <p:cNvSpPr/>
          <p:nvPr/>
        </p:nvSpPr>
        <p:spPr>
          <a:xfrm>
            <a:off x="237971" y="4408517"/>
            <a:ext cx="4392488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권한그룹 삭제 유의사항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00F1715-FF1D-31A1-3011-CE597AD31F38}"/>
              </a:ext>
            </a:extLst>
          </p:cNvPr>
          <p:cNvSpPr/>
          <p:nvPr/>
        </p:nvSpPr>
        <p:spPr>
          <a:xfrm>
            <a:off x="237971" y="4681429"/>
            <a:ext cx="4392488" cy="18713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4BA634A-5830-39F8-D6B5-DFB6EB819FC1}"/>
              </a:ext>
            </a:extLst>
          </p:cNvPr>
          <p:cNvSpPr/>
          <p:nvPr/>
        </p:nvSpPr>
        <p:spPr>
          <a:xfrm>
            <a:off x="4360459" y="4408517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3DBA749-B293-B0AA-065D-BF57D908CECB}"/>
              </a:ext>
            </a:extLst>
          </p:cNvPr>
          <p:cNvSpPr/>
          <p:nvPr/>
        </p:nvSpPr>
        <p:spPr>
          <a:xfrm>
            <a:off x="345750" y="5094817"/>
            <a:ext cx="4176697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권한그룹을 삭제하면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,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해당 권한그룹에 </a:t>
            </a: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매핑된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직원들의 권한이 모두 해제됩니다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반드시 최고관리자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운영자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 사용하세요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그래도 진행하시겠습니까</a:t>
            </a: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?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52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D79039D7-7ECE-928D-5BB2-CCC92CCEE1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872" y="5251438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직사각형 54">
            <a:extLst>
              <a:ext uri="{FF2B5EF4-FFF2-40B4-BE49-F238E27FC236}">
                <a16:creationId xmlns:a16="http://schemas.microsoft.com/office/drawing/2014/main" id="{67641DA9-26EC-8826-799D-7FB90B18F450}"/>
              </a:ext>
            </a:extLst>
          </p:cNvPr>
          <p:cNvSpPr/>
          <p:nvPr/>
        </p:nvSpPr>
        <p:spPr>
          <a:xfrm>
            <a:off x="2992781" y="6083184"/>
            <a:ext cx="785937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삭제하기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B8915A24-C19E-38D2-CB27-67478E59254B}"/>
              </a:ext>
            </a:extLst>
          </p:cNvPr>
          <p:cNvSpPr/>
          <p:nvPr/>
        </p:nvSpPr>
        <p:spPr>
          <a:xfrm>
            <a:off x="3838460" y="6083184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23758F57-7669-A20C-2945-058EC455E63B}"/>
              </a:ext>
            </a:extLst>
          </p:cNvPr>
          <p:cNvSpPr/>
          <p:nvPr/>
        </p:nvSpPr>
        <p:spPr>
          <a:xfrm>
            <a:off x="369191" y="4777818"/>
            <a:ext cx="1484381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권한그룹 삭제 유의사항</a:t>
            </a:r>
            <a:endParaRPr lang="ko-KR" altLang="en-US" sz="11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331780D2-406A-F66F-5708-31EC4A762838}"/>
              </a:ext>
            </a:extLst>
          </p:cNvPr>
          <p:cNvCxnSpPr>
            <a:cxnSpLocks/>
            <a:stCxn id="20" idx="2"/>
            <a:endCxn id="44" idx="3"/>
          </p:cNvCxnSpPr>
          <p:nvPr/>
        </p:nvCxnSpPr>
        <p:spPr>
          <a:xfrm rot="5400000">
            <a:off x="5225539" y="3274449"/>
            <a:ext cx="1747563" cy="2937722"/>
          </a:xfrm>
          <a:prstGeom prst="bentConnector2">
            <a:avLst/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E090C94-6F2D-9D6F-F41E-FE4F4AB82B66}"/>
              </a:ext>
            </a:extLst>
          </p:cNvPr>
          <p:cNvSpPr/>
          <p:nvPr/>
        </p:nvSpPr>
        <p:spPr>
          <a:xfrm>
            <a:off x="6747673" y="4255376"/>
            <a:ext cx="1149029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권한그룹 추가하기</a:t>
            </a: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D27DAEF4-38DF-47A9-2899-B79193987D7A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13" name="Picture 1">
            <a:extLst>
              <a:ext uri="{FF2B5EF4-FFF2-40B4-BE49-F238E27FC236}">
                <a16:creationId xmlns:a16="http://schemas.microsoft.com/office/drawing/2014/main" id="{9F9F93FF-1818-99BD-7A02-02F84FB2D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E234734D-E338-5D30-5BEE-219C1CA7EEBD}"/>
              </a:ext>
            </a:extLst>
          </p:cNvPr>
          <p:cNvSpPr/>
          <p:nvPr/>
        </p:nvSpPr>
        <p:spPr>
          <a:xfrm>
            <a:off x="-1690381" y="801483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69EC99D-B534-39CA-1EC7-929022D380A8}"/>
              </a:ext>
            </a:extLst>
          </p:cNvPr>
          <p:cNvSpPr/>
          <p:nvPr/>
        </p:nvSpPr>
        <p:spPr>
          <a:xfrm>
            <a:off x="-1690381" y="1101803"/>
            <a:ext cx="1467136" cy="241808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권한그룹 및 메뉴별 권한 관리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권한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접속 아이피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(IP)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메뉴별 접속현황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거래처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 관리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3145118-3102-A667-2038-88E5E8ED70E5}"/>
              </a:ext>
            </a:extLst>
          </p:cNvPr>
          <p:cNvSpPr/>
          <p:nvPr/>
        </p:nvSpPr>
        <p:spPr>
          <a:xfrm>
            <a:off x="-529236" y="801483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4477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75DAE-14C8-AF12-3DBE-0CDA7586D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1C68AB7-646C-D5D5-0E32-769DCC70092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A36782-47B1-9DE6-9EBA-06FE01B8F5A4}"/>
              </a:ext>
            </a:extLst>
          </p:cNvPr>
          <p:cNvSpPr txBox="1"/>
          <p:nvPr/>
        </p:nvSpPr>
        <p:spPr>
          <a:xfrm>
            <a:off x="749224" y="25608"/>
            <a:ext cx="28648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권한그룹 및 메뉴별 권한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권한그룹 추가하기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E216E4-C7EF-4D91-BF0D-0010EC33F0B4}"/>
              </a:ext>
            </a:extLst>
          </p:cNvPr>
          <p:cNvSpPr txBox="1"/>
          <p:nvPr/>
        </p:nvSpPr>
        <p:spPr>
          <a:xfrm>
            <a:off x="8049344" y="584684"/>
            <a:ext cx="1856656" cy="103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 시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컨펌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(Confirm)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박스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 매핑 목록에서 삭제하면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권한을 잃게 됩니다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 권한그룹에서 해당 관리자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삭제하시겠습니까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?”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EBB7AE5-6CD1-71F9-7861-F1F6931C41FB}"/>
              </a:ext>
            </a:extLst>
          </p:cNvPr>
          <p:cNvSpPr/>
          <p:nvPr/>
        </p:nvSpPr>
        <p:spPr>
          <a:xfrm>
            <a:off x="164468" y="403565"/>
            <a:ext cx="158376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권한그룹 및 메뉴별 권한 관리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7BDE023F-80C3-AA34-F822-A97A90392902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8046C17-167E-B662-AF38-FBEC093003E0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6A40E89-2C93-32AF-CD13-253B9F63445F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EDB71A0-F27A-2346-521F-424DD8458FF4}"/>
              </a:ext>
            </a:extLst>
          </p:cNvPr>
          <p:cNvSpPr/>
          <p:nvPr/>
        </p:nvSpPr>
        <p:spPr>
          <a:xfrm>
            <a:off x="195586" y="1699308"/>
            <a:ext cx="686085" cy="230832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권한그룹 정보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F25DFD5C-68D5-6740-E502-3428CC05AF3F}"/>
              </a:ext>
            </a:extLst>
          </p:cNvPr>
          <p:cNvGraphicFramePr>
            <a:graphicFrameLocks noGrp="1"/>
          </p:cNvGraphicFramePr>
          <p:nvPr/>
        </p:nvGraphicFramePr>
        <p:xfrm>
          <a:off x="163404" y="1984787"/>
          <a:ext cx="4213532" cy="202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63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3190902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권한그룹명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권한그룹 설명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2026.06.09 15:23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최종수정일시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 10:45(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매핑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77443"/>
                  </a:ext>
                </a:extLst>
              </a:tr>
            </a:tbl>
          </a:graphicData>
        </a:graphic>
      </p:graphicFrame>
      <p:sp>
        <p:nvSpPr>
          <p:cNvPr id="49" name="직사각형 48">
            <a:extLst>
              <a:ext uri="{FF2B5EF4-FFF2-40B4-BE49-F238E27FC236}">
                <a16:creationId xmlns:a16="http://schemas.microsoft.com/office/drawing/2014/main" id="{2E9C5347-FB64-18D3-0C00-23C967611928}"/>
              </a:ext>
            </a:extLst>
          </p:cNvPr>
          <p:cNvSpPr/>
          <p:nvPr/>
        </p:nvSpPr>
        <p:spPr>
          <a:xfrm>
            <a:off x="1244588" y="2046806"/>
            <a:ext cx="1971978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작성해 주세요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35A8414-0DCB-3B82-28CA-FA2D76EB40E8}"/>
              </a:ext>
            </a:extLst>
          </p:cNvPr>
          <p:cNvSpPr/>
          <p:nvPr/>
        </p:nvSpPr>
        <p:spPr>
          <a:xfrm>
            <a:off x="1244588" y="2385410"/>
            <a:ext cx="3060340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간략히 작성해 주세요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DA13DDA-02A3-F029-1628-82D3D90F9243}"/>
              </a:ext>
            </a:extLst>
          </p:cNvPr>
          <p:cNvSpPr/>
          <p:nvPr/>
        </p:nvSpPr>
        <p:spPr>
          <a:xfrm>
            <a:off x="4556956" y="1699308"/>
            <a:ext cx="827150" cy="230832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메뉴별 권한 부여</a:t>
            </a:r>
            <a:endParaRPr lang="ko-KR" altLang="en-US" sz="9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B8F79EDB-F99E-7273-190F-B4933E5F9839}"/>
              </a:ext>
            </a:extLst>
          </p:cNvPr>
          <p:cNvSpPr/>
          <p:nvPr/>
        </p:nvSpPr>
        <p:spPr>
          <a:xfrm>
            <a:off x="4556956" y="1983192"/>
            <a:ext cx="3337295" cy="202752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13FEF407-6031-7D71-9A06-609FA070A727}"/>
              </a:ext>
            </a:extLst>
          </p:cNvPr>
          <p:cNvSpPr/>
          <p:nvPr/>
        </p:nvSpPr>
        <p:spPr>
          <a:xfrm>
            <a:off x="7798837" y="1983192"/>
            <a:ext cx="106490" cy="202752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82B3B601-2730-BB36-C45E-ACC233984068}"/>
              </a:ext>
            </a:extLst>
          </p:cNvPr>
          <p:cNvSpPr/>
          <p:nvPr/>
        </p:nvSpPr>
        <p:spPr>
          <a:xfrm>
            <a:off x="7798837" y="1983191"/>
            <a:ext cx="106490" cy="108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B839AFDD-12A7-1055-16A3-E9D068DD1C93}"/>
              </a:ext>
            </a:extLst>
          </p:cNvPr>
          <p:cNvSpPr/>
          <p:nvPr/>
        </p:nvSpPr>
        <p:spPr>
          <a:xfrm>
            <a:off x="4729080" y="2040555"/>
            <a:ext cx="2925719" cy="1904496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□ 대메뉴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#1(1Depth)</a:t>
            </a:r>
            <a:b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□ 중메뉴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#1(2Depth)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□ 중메뉴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#2(2Depth)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□ 소메뉴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#1(3Depth)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□ 소메뉴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#2(3Depth)</a:t>
            </a:r>
            <a:b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</a:b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    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□ 소메뉴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#3(3Depth)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□ 소메뉴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#4(3Depth)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□ 중메뉴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#3(2Depth)</a:t>
            </a:r>
          </a:p>
          <a:p>
            <a:pPr lvl="0" algn="l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</a:pP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□ 대메뉴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#2(1Depth)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E093A436-62B0-4DAD-F4CF-7124828500E5}"/>
              </a:ext>
            </a:extLst>
          </p:cNvPr>
          <p:cNvSpPr/>
          <p:nvPr/>
        </p:nvSpPr>
        <p:spPr>
          <a:xfrm>
            <a:off x="159139" y="809280"/>
            <a:ext cx="7735112" cy="792425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권한그룹이 접근할 수 있는 메뉴를 설정합니다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 (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권한그룹은 체크된 메뉴에 접근 가능합니다.)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‘권한그룹’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 관리자(직원)를 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하실 수 있습니다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한 명의 관리자(직원)는 여러 개의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‘권한그룹’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매핑될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수 있습니다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105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C8C13D04-E1B5-3457-8E95-6508BE353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261" y="920272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5455352F-146C-6D62-FA7E-E4E66E356B0D}"/>
              </a:ext>
            </a:extLst>
          </p:cNvPr>
          <p:cNvSpPr/>
          <p:nvPr/>
        </p:nvSpPr>
        <p:spPr>
          <a:xfrm>
            <a:off x="7119390" y="4100359"/>
            <a:ext cx="785937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4F45C7D3-FB22-242E-BB11-0FF4B597B881}"/>
              </a:ext>
            </a:extLst>
          </p:cNvPr>
          <p:cNvSpPr/>
          <p:nvPr/>
        </p:nvSpPr>
        <p:spPr>
          <a:xfrm>
            <a:off x="159139" y="4100359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761AAA5E-81F3-0919-5F5F-B7059AC3671C}"/>
              </a:ext>
            </a:extLst>
          </p:cNvPr>
          <p:cNvSpPr/>
          <p:nvPr/>
        </p:nvSpPr>
        <p:spPr>
          <a:xfrm>
            <a:off x="195586" y="4545434"/>
            <a:ext cx="878446" cy="230832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직원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매핑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16" name="표 115">
            <a:extLst>
              <a:ext uri="{FF2B5EF4-FFF2-40B4-BE49-F238E27FC236}">
                <a16:creationId xmlns:a16="http://schemas.microsoft.com/office/drawing/2014/main" id="{1B62017A-8472-78DE-338F-D5C4E3562300}"/>
              </a:ext>
            </a:extLst>
          </p:cNvPr>
          <p:cNvGraphicFramePr>
            <a:graphicFrameLocks noGrp="1"/>
          </p:cNvGraphicFramePr>
          <p:nvPr/>
        </p:nvGraphicFramePr>
        <p:xfrm>
          <a:off x="181505" y="4854182"/>
          <a:ext cx="7723822" cy="10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949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922546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697775">
                  <a:extLst>
                    <a:ext uri="{9D8B030D-6E8A-4147-A177-3AD203B41FA5}">
                      <a16:colId xmlns:a16="http://schemas.microsoft.com/office/drawing/2014/main" val="2264476566"/>
                    </a:ext>
                  </a:extLst>
                </a:gridCol>
                <a:gridCol w="1087548">
                  <a:extLst>
                    <a:ext uri="{9D8B030D-6E8A-4147-A177-3AD203B41FA5}">
                      <a16:colId xmlns:a16="http://schemas.microsoft.com/office/drawing/2014/main" val="378561692"/>
                    </a:ext>
                  </a:extLst>
                </a:gridCol>
                <a:gridCol w="987801">
                  <a:extLst>
                    <a:ext uri="{9D8B030D-6E8A-4147-A177-3AD203B41FA5}">
                      <a16:colId xmlns:a16="http://schemas.microsoft.com/office/drawing/2014/main" val="1778558004"/>
                    </a:ext>
                  </a:extLst>
                </a:gridCol>
                <a:gridCol w="552762">
                  <a:extLst>
                    <a:ext uri="{9D8B030D-6E8A-4147-A177-3AD203B41FA5}">
                      <a16:colId xmlns:a16="http://schemas.microsoft.com/office/drawing/2014/main" val="700917874"/>
                    </a:ext>
                  </a:extLst>
                </a:gridCol>
                <a:gridCol w="1108646">
                  <a:extLst>
                    <a:ext uri="{9D8B030D-6E8A-4147-A177-3AD203B41FA5}">
                      <a16:colId xmlns:a16="http://schemas.microsoft.com/office/drawing/2014/main" val="577920749"/>
                    </a:ext>
                  </a:extLst>
                </a:gridCol>
                <a:gridCol w="735811">
                  <a:extLst>
                    <a:ext uri="{9D8B030D-6E8A-4147-A177-3AD203B41FA5}">
                      <a16:colId xmlns:a16="http://schemas.microsoft.com/office/drawing/2014/main" val="2361308324"/>
                    </a:ext>
                  </a:extLst>
                </a:gridCol>
                <a:gridCol w="850984">
                  <a:extLst>
                    <a:ext uri="{9D8B030D-6E8A-4147-A177-3AD203B41FA5}">
                      <a16:colId xmlns:a16="http://schemas.microsoft.com/office/drawing/2014/main" val="22745853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사원번호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아이디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사원명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직급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매핑일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삭제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2110004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simon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장시형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기획지원팀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과장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2026.06.09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4404729A-E2F0-1BBC-57FC-F4DE66C7E3BA}"/>
              </a:ext>
            </a:extLst>
          </p:cNvPr>
          <p:cNvSpPr/>
          <p:nvPr/>
        </p:nvSpPr>
        <p:spPr>
          <a:xfrm>
            <a:off x="7257053" y="5253692"/>
            <a:ext cx="458854" cy="21544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29D104A-9C1F-62F0-661F-C67C71DBE91D}"/>
              </a:ext>
            </a:extLst>
          </p:cNvPr>
          <p:cNvSpPr/>
          <p:nvPr/>
        </p:nvSpPr>
        <p:spPr>
          <a:xfrm>
            <a:off x="7257053" y="5582188"/>
            <a:ext cx="458854" cy="21544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E64F7D3-CEAB-E344-D672-011730F3A241}"/>
              </a:ext>
            </a:extLst>
          </p:cNvPr>
          <p:cNvSpPr/>
          <p:nvPr/>
        </p:nvSpPr>
        <p:spPr>
          <a:xfrm>
            <a:off x="6501173" y="5980997"/>
            <a:ext cx="1395530" cy="288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직원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추가하기</a:t>
            </a: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F38D9D85-B23F-51D0-0080-909174BA93E9}"/>
              </a:ext>
            </a:extLst>
          </p:cNvPr>
          <p:cNvSpPr/>
          <p:nvPr/>
        </p:nvSpPr>
        <p:spPr>
          <a:xfrm>
            <a:off x="7094068" y="5116965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E8DC08F5-142D-A77F-3A43-A537354BB14B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10" name="Picture 1">
            <a:extLst>
              <a:ext uri="{FF2B5EF4-FFF2-40B4-BE49-F238E27FC236}">
                <a16:creationId xmlns:a16="http://schemas.microsoft.com/office/drawing/2014/main" id="{A27765A7-4F42-A2A4-9F09-045AF9115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6DE66727-3F8F-4394-58E3-4F1204C72025}"/>
              </a:ext>
            </a:extLst>
          </p:cNvPr>
          <p:cNvSpPr/>
          <p:nvPr/>
        </p:nvSpPr>
        <p:spPr>
          <a:xfrm>
            <a:off x="-1690381" y="801483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7C8EE5A-1D43-D5F6-6AF9-102F363995B5}"/>
              </a:ext>
            </a:extLst>
          </p:cNvPr>
          <p:cNvSpPr/>
          <p:nvPr/>
        </p:nvSpPr>
        <p:spPr>
          <a:xfrm>
            <a:off x="-1690381" y="1101803"/>
            <a:ext cx="1467136" cy="241808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권한그룹 및 메뉴별 권한 관리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권한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접속 아이피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(IP)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메뉴별 접속현황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거래처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 관리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C54EC83-4476-31C2-3A07-920D9A8ADD9E}"/>
              </a:ext>
            </a:extLst>
          </p:cNvPr>
          <p:cNvSpPr/>
          <p:nvPr/>
        </p:nvSpPr>
        <p:spPr>
          <a:xfrm>
            <a:off x="-529236" y="801483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9023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32845-1F56-FA2C-ACB3-8F69AE270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ABA1245-7058-070C-63BF-CFBFCF065A1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5972DC-FB62-FA01-1071-4762E7C16EC7}"/>
              </a:ext>
            </a:extLst>
          </p:cNvPr>
          <p:cNvSpPr txBox="1"/>
          <p:nvPr/>
        </p:nvSpPr>
        <p:spPr>
          <a:xfrm>
            <a:off x="749224" y="25608"/>
            <a:ext cx="303480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권한그룹 및 메뉴별 권한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추가하기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9316AC-A791-29E2-8073-EBC4DE863898}"/>
              </a:ext>
            </a:extLst>
          </p:cNvPr>
          <p:cNvSpPr txBox="1"/>
          <p:nvPr/>
        </p:nvSpPr>
        <p:spPr>
          <a:xfrm>
            <a:off x="8049344" y="584684"/>
            <a:ext cx="1856656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사원번호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아이디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사원명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부서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직급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이메일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사용 여부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(Y)’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 관리자만 호출 가능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0717D21D-4AC1-CECD-8D67-E595920BD3A4}"/>
              </a:ext>
            </a:extLst>
          </p:cNvPr>
          <p:cNvGraphicFramePr>
            <a:graphicFrameLocks noGrp="1"/>
          </p:cNvGraphicFramePr>
          <p:nvPr/>
        </p:nvGraphicFramePr>
        <p:xfrm>
          <a:off x="163404" y="1984787"/>
          <a:ext cx="4213532" cy="202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63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3190902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권한그룹명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권한그룹 설명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2026.06.09 15:23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최종수정일시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 10:45(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매핑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77443"/>
                  </a:ext>
                </a:extLst>
              </a:tr>
            </a:tbl>
          </a:graphicData>
        </a:graphic>
      </p:graphicFrame>
      <p:graphicFrame>
        <p:nvGraphicFramePr>
          <p:cNvPr id="116" name="표 115">
            <a:extLst>
              <a:ext uri="{FF2B5EF4-FFF2-40B4-BE49-F238E27FC236}">
                <a16:creationId xmlns:a16="http://schemas.microsoft.com/office/drawing/2014/main" id="{57D04AE3-BEA2-9DD3-6AF1-C7867FC9A99D}"/>
              </a:ext>
            </a:extLst>
          </p:cNvPr>
          <p:cNvGraphicFramePr>
            <a:graphicFrameLocks noGrp="1"/>
          </p:cNvGraphicFramePr>
          <p:nvPr/>
        </p:nvGraphicFramePr>
        <p:xfrm>
          <a:off x="181505" y="4854182"/>
          <a:ext cx="7723822" cy="10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949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922546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697775">
                  <a:extLst>
                    <a:ext uri="{9D8B030D-6E8A-4147-A177-3AD203B41FA5}">
                      <a16:colId xmlns:a16="http://schemas.microsoft.com/office/drawing/2014/main" val="2264476566"/>
                    </a:ext>
                  </a:extLst>
                </a:gridCol>
                <a:gridCol w="1087548">
                  <a:extLst>
                    <a:ext uri="{9D8B030D-6E8A-4147-A177-3AD203B41FA5}">
                      <a16:colId xmlns:a16="http://schemas.microsoft.com/office/drawing/2014/main" val="378561692"/>
                    </a:ext>
                  </a:extLst>
                </a:gridCol>
                <a:gridCol w="987801">
                  <a:extLst>
                    <a:ext uri="{9D8B030D-6E8A-4147-A177-3AD203B41FA5}">
                      <a16:colId xmlns:a16="http://schemas.microsoft.com/office/drawing/2014/main" val="1778558004"/>
                    </a:ext>
                  </a:extLst>
                </a:gridCol>
                <a:gridCol w="552762">
                  <a:extLst>
                    <a:ext uri="{9D8B030D-6E8A-4147-A177-3AD203B41FA5}">
                      <a16:colId xmlns:a16="http://schemas.microsoft.com/office/drawing/2014/main" val="700917874"/>
                    </a:ext>
                  </a:extLst>
                </a:gridCol>
                <a:gridCol w="1108646">
                  <a:extLst>
                    <a:ext uri="{9D8B030D-6E8A-4147-A177-3AD203B41FA5}">
                      <a16:colId xmlns:a16="http://schemas.microsoft.com/office/drawing/2014/main" val="577920749"/>
                    </a:ext>
                  </a:extLst>
                </a:gridCol>
                <a:gridCol w="735811">
                  <a:extLst>
                    <a:ext uri="{9D8B030D-6E8A-4147-A177-3AD203B41FA5}">
                      <a16:colId xmlns:a16="http://schemas.microsoft.com/office/drawing/2014/main" val="2361308324"/>
                    </a:ext>
                  </a:extLst>
                </a:gridCol>
                <a:gridCol w="850984">
                  <a:extLst>
                    <a:ext uri="{9D8B030D-6E8A-4147-A177-3AD203B41FA5}">
                      <a16:colId xmlns:a16="http://schemas.microsoft.com/office/drawing/2014/main" val="22745853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사원번호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아이디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사원명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직급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매핑일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삭제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2110004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simon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장시형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기획지원팀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과장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2026.06.09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7547E72A-4A1D-D076-FCFB-F137C47C09E5}"/>
              </a:ext>
            </a:extLst>
          </p:cNvPr>
          <p:cNvGrpSpPr/>
          <p:nvPr/>
        </p:nvGrpSpPr>
        <p:grpSpPr>
          <a:xfrm>
            <a:off x="0" y="403565"/>
            <a:ext cx="8049344" cy="6265795"/>
            <a:chOff x="0" y="403565"/>
            <a:chExt cx="8049344" cy="6265795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3D722933-3F44-EC24-C4D0-116A4D99261A}"/>
                </a:ext>
              </a:extLst>
            </p:cNvPr>
            <p:cNvSpPr/>
            <p:nvPr/>
          </p:nvSpPr>
          <p:spPr>
            <a:xfrm>
              <a:off x="164468" y="403565"/>
              <a:ext cx="1583767" cy="246221"/>
            </a:xfrm>
            <a:prstGeom prst="rect">
              <a:avLst/>
            </a:prstGeom>
          </p:spPr>
          <p:txBody>
            <a:bodyPr wrap="none" lIns="0" rIns="0">
              <a:spAutoFit/>
            </a:bodyPr>
            <a:lstStyle/>
            <a:p>
              <a:pPr lvl="0" algn="l"/>
              <a:r>
                <a:rPr lang="ko-KR" altLang="en-US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권한그룹 및 메뉴별 권한 관리</a:t>
              </a:r>
            </a:p>
          </p:txBody>
        </p: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81878C5F-D774-8414-2C71-D2740045599F}"/>
                </a:ext>
              </a:extLst>
            </p:cNvPr>
            <p:cNvCxnSpPr/>
            <p:nvPr/>
          </p:nvCxnSpPr>
          <p:spPr>
            <a:xfrm>
              <a:off x="164468" y="711804"/>
              <a:ext cx="7740859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AC6BEB93-F571-50B2-C89A-FFDC0387B16B}"/>
                </a:ext>
              </a:extLst>
            </p:cNvPr>
            <p:cNvSpPr/>
            <p:nvPr/>
          </p:nvSpPr>
          <p:spPr>
            <a:xfrm>
              <a:off x="6392091" y="418953"/>
              <a:ext cx="1513236" cy="215444"/>
            </a:xfrm>
            <a:prstGeom prst="rect">
              <a:avLst/>
            </a:prstGeom>
          </p:spPr>
          <p:txBody>
            <a:bodyPr wrap="none" lIns="0" rIns="0">
              <a:spAutoFit/>
            </a:bodyPr>
            <a:lstStyle/>
            <a:p>
              <a:pPr lvl="0" algn="r"/>
              <a:r>
                <a:rPr lang="en-US" altLang="ko-KR" sz="800" b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H &gt; 1Depth &gt; 2Depth &gt; </a:t>
              </a:r>
              <a:r>
                <a:rPr lang="en-US" altLang="ko-KR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3Depth</a:t>
              </a:r>
              <a:endPara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782B294-C651-2456-3785-20051F05908F}"/>
                </a:ext>
              </a:extLst>
            </p:cNvPr>
            <p:cNvSpPr/>
            <p:nvPr/>
          </p:nvSpPr>
          <p:spPr>
            <a:xfrm>
              <a:off x="0" y="6489340"/>
              <a:ext cx="8049344" cy="18002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Footer</a:t>
              </a:r>
              <a:endPara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371E4006-CF32-34B7-B2E0-522EEA0C6B5B}"/>
                </a:ext>
              </a:extLst>
            </p:cNvPr>
            <p:cNvSpPr/>
            <p:nvPr/>
          </p:nvSpPr>
          <p:spPr>
            <a:xfrm>
              <a:off x="195586" y="1699308"/>
              <a:ext cx="686085" cy="230832"/>
            </a:xfrm>
            <a:prstGeom prst="rect">
              <a:avLst/>
            </a:prstGeom>
          </p:spPr>
          <p:txBody>
            <a:bodyPr wrap="none" lIns="0" rIns="0">
              <a:spAutoFit/>
            </a:bodyPr>
            <a:lstStyle/>
            <a:p>
              <a:pPr lvl="0" algn="l"/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권한그룹 정보</a:t>
              </a:r>
              <a:endParaRPr lang="ko-KR" altLang="en-US" sz="9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6AD26C9A-1A40-202F-3FA5-E37E8164C611}"/>
                </a:ext>
              </a:extLst>
            </p:cNvPr>
            <p:cNvSpPr/>
            <p:nvPr/>
          </p:nvSpPr>
          <p:spPr>
            <a:xfrm>
              <a:off x="1244588" y="2046806"/>
              <a:ext cx="1971978" cy="21544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72000" bIns="0" rtlCol="0" anchor="ctr"/>
            <a:lstStyle/>
            <a:p>
              <a:pPr algn="l"/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30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자 이내로 작성해 주세요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A30439F5-C041-3552-9FFA-19BC19A4995D}"/>
                </a:ext>
              </a:extLst>
            </p:cNvPr>
            <p:cNvSpPr/>
            <p:nvPr/>
          </p:nvSpPr>
          <p:spPr>
            <a:xfrm>
              <a:off x="1244588" y="2385410"/>
              <a:ext cx="3060340" cy="21544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72000" bIns="0" rtlCol="0" anchor="ctr"/>
            <a:lstStyle/>
            <a:p>
              <a:pPr algn="l"/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100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자 이내로 간략히 작성해 주세요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EFF96540-D0F6-A136-02AF-DCB5C7165116}"/>
                </a:ext>
              </a:extLst>
            </p:cNvPr>
            <p:cNvSpPr/>
            <p:nvPr/>
          </p:nvSpPr>
          <p:spPr>
            <a:xfrm>
              <a:off x="4556956" y="1699308"/>
              <a:ext cx="827150" cy="230832"/>
            </a:xfrm>
            <a:prstGeom prst="rect">
              <a:avLst/>
            </a:prstGeom>
          </p:spPr>
          <p:txBody>
            <a:bodyPr wrap="none" lIns="0" rIns="0">
              <a:spAutoFit/>
            </a:bodyPr>
            <a:lstStyle/>
            <a:p>
              <a:pPr lvl="0" algn="l"/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메뉴별 권한 부여</a:t>
              </a:r>
              <a:endParaRPr lang="ko-KR" altLang="en-US" sz="9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7228E59F-3B61-E8D9-3A70-A388E6EE4DE5}"/>
                </a:ext>
              </a:extLst>
            </p:cNvPr>
            <p:cNvSpPr/>
            <p:nvPr/>
          </p:nvSpPr>
          <p:spPr>
            <a:xfrm>
              <a:off x="4556956" y="1983192"/>
              <a:ext cx="3337295" cy="202752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D4CF5B0F-B867-3604-CA5F-D308FB767C2C}"/>
                </a:ext>
              </a:extLst>
            </p:cNvPr>
            <p:cNvSpPr/>
            <p:nvPr/>
          </p:nvSpPr>
          <p:spPr>
            <a:xfrm>
              <a:off x="7798837" y="1983192"/>
              <a:ext cx="106490" cy="202752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09719B79-F4B2-4A48-A989-87552C7ED969}"/>
                </a:ext>
              </a:extLst>
            </p:cNvPr>
            <p:cNvSpPr/>
            <p:nvPr/>
          </p:nvSpPr>
          <p:spPr>
            <a:xfrm>
              <a:off x="7798837" y="1983191"/>
              <a:ext cx="106490" cy="108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C1EA20EA-8199-A648-5B61-6D56851C59FE}"/>
                </a:ext>
              </a:extLst>
            </p:cNvPr>
            <p:cNvSpPr/>
            <p:nvPr/>
          </p:nvSpPr>
          <p:spPr>
            <a:xfrm>
              <a:off x="4729080" y="2040555"/>
              <a:ext cx="2925719" cy="1904496"/>
            </a:xfrm>
            <a:prstGeom prst="rect">
              <a:avLst/>
            </a:prstGeom>
          </p:spPr>
          <p:txBody>
            <a:bodyPr wrap="square" lIns="0" rIns="0">
              <a:spAutoFit/>
            </a:bodyPr>
            <a:lstStyle/>
            <a:p>
              <a:pPr lvl="0" algn="l">
                <a:lnSpc>
                  <a:spcPct val="150000"/>
                </a:lnSpc>
                <a:spcBef>
                  <a:spcPts val="500"/>
                </a:spcBef>
                <a:spcAft>
                  <a:spcPts val="500"/>
                </a:spcAft>
              </a:pP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□ 대메뉴 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#1(1Depth)</a:t>
              </a:r>
              <a:b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□ 중메뉴 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#1(2Depth)</a:t>
              </a:r>
              <a:b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□ 중메뉴 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#2(2Depth)</a:t>
              </a:r>
              <a:b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   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□ 소메뉴 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#1(3Depth)</a:t>
              </a:r>
              <a:b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    </a:t>
              </a:r>
              <a:r>
                <a:rPr kumimoji="1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 □ 소메뉴 </a:t>
              </a:r>
              <a:r>
                <a:rPr kumimoji="1" lang="en-US" altLang="ko-KR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#2(3Depth)</a:t>
              </a:r>
              <a:br>
                <a:rPr kumimoji="1" lang="en-US" altLang="ko-KR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</a:br>
              <a:r>
                <a:rPr kumimoji="1" lang="en-US" altLang="ko-KR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     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□ 소메뉴 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#3(3Depth)</a:t>
              </a:r>
              <a:b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   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□ 소메뉴 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#4(3Depth)</a:t>
              </a:r>
              <a:b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□ 중메뉴 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#3(2Depth)</a:t>
              </a:r>
            </a:p>
            <a:p>
              <a:pPr lvl="0" algn="l">
                <a:lnSpc>
                  <a:spcPct val="150000"/>
                </a:lnSpc>
                <a:spcBef>
                  <a:spcPts val="500"/>
                </a:spcBef>
                <a:spcAft>
                  <a:spcPts val="500"/>
                </a:spcAft>
              </a:pP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□ 대메뉴 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#2(1Depth)</a:t>
              </a: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5B55EB8E-51F9-C64B-B853-2F9A84852F5C}"/>
                </a:ext>
              </a:extLst>
            </p:cNvPr>
            <p:cNvSpPr/>
            <p:nvPr/>
          </p:nvSpPr>
          <p:spPr>
            <a:xfrm>
              <a:off x="159139" y="809280"/>
              <a:ext cx="7735112" cy="792425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56000" tIns="108000" bIns="108000" rtlCol="0" anchor="ctr" anchorCtr="0"/>
            <a:lstStyle/>
            <a:p>
              <a:pPr marL="0" marR="0" lvl="0" indent="0" algn="l" defTabSz="914400" rtl="0" eaLnBrk="1" fontAlgn="base" latinLnBrk="1" hangingPunct="1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권한그룹이 접근할 수 있는 메뉴를 설정합니다</a:t>
              </a:r>
              <a:r>
                <a:rPr kumimoji="1" lang="en-US" altLang="ko-KR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. (</a:t>
              </a:r>
              <a:r>
                <a:rPr lang="ko-KR" altLang="en-US" sz="80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해당 권한그룹은 체크된 메뉴에 접근 가능합니다.)</a:t>
              </a:r>
            </a:p>
            <a:p>
              <a:pPr marL="0" marR="0" lvl="0" indent="0" algn="l" defTabSz="914400" rtl="0" eaLnBrk="1" fontAlgn="base" latinLnBrk="1" hangingPunct="1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‘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권한그룹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’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에 관리자(직원)를 관리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등록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삭제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하실 수 있습니다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  <a:b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한 명의 관리자(직원)는 여러 개의 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‘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권한그룹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’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에 </a:t>
              </a:r>
              <a:r>
                <a:rPr lang="ko-KR" altLang="en-US" sz="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매핑될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수 있습니다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</a:t>
              </a:r>
              <a:endPara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</p:txBody>
        </p:sp>
        <p:pic>
          <p:nvPicPr>
            <p:cNvPr id="105" name="Picture 8" descr="Announcement, hailer, loudspeaker, megaphone, speaker icon - Download on Iconfinder">
              <a:extLst>
                <a:ext uri="{FF2B5EF4-FFF2-40B4-BE49-F238E27FC236}">
                  <a16:creationId xmlns:a16="http://schemas.microsoft.com/office/drawing/2014/main" id="{560E46B0-4689-8643-AF44-4DB675796A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261" y="965901"/>
              <a:ext cx="570440" cy="570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91430093-ECC6-AFBF-1CE5-0F656471A404}"/>
                </a:ext>
              </a:extLst>
            </p:cNvPr>
            <p:cNvSpPr/>
            <p:nvPr/>
          </p:nvSpPr>
          <p:spPr>
            <a:xfrm>
              <a:off x="7119390" y="4100359"/>
              <a:ext cx="785937" cy="28803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등록</a:t>
              </a: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E15174E9-9C8D-9714-A1FF-AAEA8C0A64A3}"/>
                </a:ext>
              </a:extLst>
            </p:cNvPr>
            <p:cNvSpPr/>
            <p:nvPr/>
          </p:nvSpPr>
          <p:spPr>
            <a:xfrm>
              <a:off x="159139" y="4100359"/>
              <a:ext cx="699418" cy="28803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목록</a:t>
              </a:r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7A2F93F5-969F-21A9-B6B1-899E0D5C5A39}"/>
                </a:ext>
              </a:extLst>
            </p:cNvPr>
            <p:cNvSpPr/>
            <p:nvPr/>
          </p:nvSpPr>
          <p:spPr>
            <a:xfrm>
              <a:off x="195586" y="4545434"/>
              <a:ext cx="878446" cy="230832"/>
            </a:xfrm>
            <a:prstGeom prst="rect">
              <a:avLst/>
            </a:prstGeom>
          </p:spPr>
          <p:txBody>
            <a:bodyPr wrap="none" lIns="0" rIns="0">
              <a:spAutoFit/>
            </a:bodyPr>
            <a:lstStyle/>
            <a:p>
              <a:pPr lvl="0" algn="l"/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관리자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직원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 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매핑</a:t>
              </a:r>
              <a:endParaRPr lang="ko-KR" altLang="en-US" sz="9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53710903-0B9A-C8FE-A87C-56CA11813ADF}"/>
                </a:ext>
              </a:extLst>
            </p:cNvPr>
            <p:cNvSpPr/>
            <p:nvPr/>
          </p:nvSpPr>
          <p:spPr>
            <a:xfrm>
              <a:off x="7257053" y="5253692"/>
              <a:ext cx="458854" cy="21544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삭제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F3D7436-39FF-8C55-927C-3C93D91B1B85}"/>
                </a:ext>
              </a:extLst>
            </p:cNvPr>
            <p:cNvSpPr/>
            <p:nvPr/>
          </p:nvSpPr>
          <p:spPr>
            <a:xfrm>
              <a:off x="7257053" y="5582188"/>
              <a:ext cx="458854" cy="21544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삭제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C73503A-5EDE-8502-FE0E-4C1F9ACE3D53}"/>
                </a:ext>
              </a:extLst>
            </p:cNvPr>
            <p:cNvSpPr/>
            <p:nvPr/>
          </p:nvSpPr>
          <p:spPr>
            <a:xfrm>
              <a:off x="6501173" y="5980997"/>
              <a:ext cx="1395530" cy="28803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관리자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직원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 </a:t>
              </a: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추가하기</a:t>
              </a:r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B0E1456B-B105-88BC-0535-E1FCF6F49B1E}"/>
              </a:ext>
            </a:extLst>
          </p:cNvPr>
          <p:cNvSpPr/>
          <p:nvPr/>
        </p:nvSpPr>
        <p:spPr>
          <a:xfrm>
            <a:off x="0" y="241052"/>
            <a:ext cx="8045062" cy="6428308"/>
          </a:xfrm>
          <a:prstGeom prst="rect">
            <a:avLst/>
          </a:prstGeom>
          <a:solidFill>
            <a:srgbClr val="40404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1644CBD-F94B-4BB9-7CF4-1567F201B6D4}"/>
              </a:ext>
            </a:extLst>
          </p:cNvPr>
          <p:cNvSpPr/>
          <p:nvPr/>
        </p:nvSpPr>
        <p:spPr>
          <a:xfrm>
            <a:off x="749224" y="908720"/>
            <a:ext cx="6602885" cy="475317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38B8C33-8D54-4F57-F730-143F2ACF6C77}"/>
              </a:ext>
            </a:extLst>
          </p:cNvPr>
          <p:cNvSpPr/>
          <p:nvPr/>
        </p:nvSpPr>
        <p:spPr>
          <a:xfrm>
            <a:off x="7245015" y="909455"/>
            <a:ext cx="108012" cy="47524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A28571B-C8B8-1F71-44CD-4580B17752F8}"/>
              </a:ext>
            </a:extLst>
          </p:cNvPr>
          <p:cNvSpPr/>
          <p:nvPr/>
        </p:nvSpPr>
        <p:spPr>
          <a:xfrm>
            <a:off x="7245015" y="2479225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DAFEC3C-3DCC-4ABC-3C35-4B7119380570}"/>
              </a:ext>
            </a:extLst>
          </p:cNvPr>
          <p:cNvSpPr/>
          <p:nvPr/>
        </p:nvSpPr>
        <p:spPr>
          <a:xfrm>
            <a:off x="740531" y="918493"/>
            <a:ext cx="6635663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관리자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추가하기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50B271A-F7F5-8A0E-B780-E44C7F4611C2}"/>
              </a:ext>
            </a:extLst>
          </p:cNvPr>
          <p:cNvSpPr/>
          <p:nvPr/>
        </p:nvSpPr>
        <p:spPr>
          <a:xfrm>
            <a:off x="7106195" y="918493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5E653D9A-EF6A-E558-DF09-BBF85F10AC06}"/>
              </a:ext>
            </a:extLst>
          </p:cNvPr>
          <p:cNvSpPr/>
          <p:nvPr/>
        </p:nvSpPr>
        <p:spPr>
          <a:xfrm>
            <a:off x="908942" y="1307066"/>
            <a:ext cx="1413849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직원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추가하기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7CE39C1A-3036-2D16-FD40-6FB78547C67E}"/>
              </a:ext>
            </a:extLst>
          </p:cNvPr>
          <p:cNvSpPr/>
          <p:nvPr/>
        </p:nvSpPr>
        <p:spPr>
          <a:xfrm>
            <a:off x="902864" y="1661237"/>
            <a:ext cx="6198114" cy="47359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2EA0B3EE-86EF-6851-62D5-EA61927C9891}"/>
              </a:ext>
            </a:extLst>
          </p:cNvPr>
          <p:cNvSpPr/>
          <p:nvPr/>
        </p:nvSpPr>
        <p:spPr>
          <a:xfrm>
            <a:off x="2146918" y="1790905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A6F0CD8C-53A9-EE8F-13CE-C13C468DBA80}"/>
              </a:ext>
            </a:extLst>
          </p:cNvPr>
          <p:cNvSpPr/>
          <p:nvPr/>
        </p:nvSpPr>
        <p:spPr>
          <a:xfrm>
            <a:off x="2957169" y="1790907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DB738DCE-2F81-C6D7-A402-6425DA76DB57}"/>
              </a:ext>
            </a:extLst>
          </p:cNvPr>
          <p:cNvSpPr/>
          <p:nvPr/>
        </p:nvSpPr>
        <p:spPr>
          <a:xfrm>
            <a:off x="3272306" y="1790905"/>
            <a:ext cx="2503682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8746208C-D64E-09BB-5465-C9E4EA5B191F}"/>
              </a:ext>
            </a:extLst>
          </p:cNvPr>
          <p:cNvSpPr/>
          <p:nvPr/>
        </p:nvSpPr>
        <p:spPr>
          <a:xfrm>
            <a:off x="5848247" y="1790907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D154F5CD-720A-3810-5123-C565DCD75976}"/>
              </a:ext>
            </a:extLst>
          </p:cNvPr>
          <p:cNvSpPr txBox="1"/>
          <p:nvPr/>
        </p:nvSpPr>
        <p:spPr>
          <a:xfrm>
            <a:off x="974245" y="1798050"/>
            <a:ext cx="259548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0" name="타원 139">
            <a:extLst>
              <a:ext uri="{FF2B5EF4-FFF2-40B4-BE49-F238E27FC236}">
                <a16:creationId xmlns:a16="http://schemas.microsoft.com/office/drawing/2014/main" id="{C56AAC5F-A227-EAA9-C0FF-E741A7330998}"/>
              </a:ext>
            </a:extLst>
          </p:cNvPr>
          <p:cNvSpPr/>
          <p:nvPr/>
        </p:nvSpPr>
        <p:spPr>
          <a:xfrm>
            <a:off x="2034624" y="1649815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42" name="표 141">
            <a:extLst>
              <a:ext uri="{FF2B5EF4-FFF2-40B4-BE49-F238E27FC236}">
                <a16:creationId xmlns:a16="http://schemas.microsoft.com/office/drawing/2014/main" id="{5839C7BF-66D8-7B76-AF9C-924C9772BF74}"/>
              </a:ext>
            </a:extLst>
          </p:cNvPr>
          <p:cNvGraphicFramePr>
            <a:graphicFrameLocks noGrp="1"/>
          </p:cNvGraphicFramePr>
          <p:nvPr/>
        </p:nvGraphicFramePr>
        <p:xfrm>
          <a:off x="900719" y="2533346"/>
          <a:ext cx="6195503" cy="202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647">
                  <a:extLst>
                    <a:ext uri="{9D8B030D-6E8A-4147-A177-3AD203B41FA5}">
                      <a16:colId xmlns:a16="http://schemas.microsoft.com/office/drawing/2014/main" val="311720782"/>
                    </a:ext>
                  </a:extLst>
                </a:gridCol>
                <a:gridCol w="83634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2572">
                  <a:extLst>
                    <a:ext uri="{9D8B030D-6E8A-4147-A177-3AD203B41FA5}">
                      <a16:colId xmlns:a16="http://schemas.microsoft.com/office/drawing/2014/main" val="2264476566"/>
                    </a:ext>
                  </a:extLst>
                </a:gridCol>
                <a:gridCol w="632572">
                  <a:extLst>
                    <a:ext uri="{9D8B030D-6E8A-4147-A177-3AD203B41FA5}">
                      <a16:colId xmlns:a16="http://schemas.microsoft.com/office/drawing/2014/main" val="1900745260"/>
                    </a:ext>
                  </a:extLst>
                </a:gridCol>
                <a:gridCol w="895497">
                  <a:extLst>
                    <a:ext uri="{9D8B030D-6E8A-4147-A177-3AD203B41FA5}">
                      <a16:colId xmlns:a16="http://schemas.microsoft.com/office/drawing/2014/main" val="1854595363"/>
                    </a:ext>
                  </a:extLst>
                </a:gridCol>
                <a:gridCol w="501109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  <a:gridCol w="1633877">
                  <a:extLst>
                    <a:ext uri="{9D8B030D-6E8A-4147-A177-3AD203B41FA5}">
                      <a16:colId xmlns:a16="http://schemas.microsoft.com/office/drawing/2014/main" val="2048789610"/>
                    </a:ext>
                  </a:extLst>
                </a:gridCol>
                <a:gridCol w="693889">
                  <a:extLst>
                    <a:ext uri="{9D8B030D-6E8A-4147-A177-3AD203B41FA5}">
                      <a16:colId xmlns:a16="http://schemas.microsoft.com/office/drawing/2014/main" val="7009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□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사원번호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아이디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사원명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직급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이메일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 여부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2110004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simon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장시형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기획지원팀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과장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simon@kepcoes.co.kr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(Y)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사용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(Y)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사용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(Y)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사용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(Y)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946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사용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(Y)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773569"/>
                  </a:ext>
                </a:extLst>
              </a:tr>
            </a:tbl>
          </a:graphicData>
        </a:graphic>
      </p:graphicFrame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403FF5F6-B793-55DB-7ED1-034F09492B7F}"/>
              </a:ext>
            </a:extLst>
          </p:cNvPr>
          <p:cNvGrpSpPr/>
          <p:nvPr/>
        </p:nvGrpSpPr>
        <p:grpSpPr>
          <a:xfrm>
            <a:off x="2004219" y="4710838"/>
            <a:ext cx="4025354" cy="216024"/>
            <a:chOff x="2992062" y="4869160"/>
            <a:chExt cx="4025354" cy="216024"/>
          </a:xfrm>
        </p:grpSpPr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4FCAFF82-F7C2-3B36-B99B-682B67EA084D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30C5F528-CC37-9F75-C2F3-EC54E3A8CA03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CB406CEA-3021-1F0E-0C34-EC2C7C9C36C8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EC20C2B3-9E74-8309-5D3B-F2F11D48CB43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B06064F8-ACBF-F3B7-47CA-B721B3338270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9" name="직사각형 148">
              <a:extLst>
                <a:ext uri="{FF2B5EF4-FFF2-40B4-BE49-F238E27FC236}">
                  <a16:creationId xmlns:a16="http://schemas.microsoft.com/office/drawing/2014/main" id="{B5F126B1-9AC1-51C2-775B-008688C9ADA1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37B69B09-FBDB-CBA2-2127-99DEE32F8C55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C3694545-5B27-67F0-EF7E-7BADB83B9081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2" name="직사각형 151">
              <a:extLst>
                <a:ext uri="{FF2B5EF4-FFF2-40B4-BE49-F238E27FC236}">
                  <a16:creationId xmlns:a16="http://schemas.microsoft.com/office/drawing/2014/main" id="{A149650E-210A-3E94-FA3F-B8430E010A03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6B8BA3F0-11A6-5AE4-09C6-256BCFFE15B7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4" name="직사각형 153">
              <a:extLst>
                <a:ext uri="{FF2B5EF4-FFF2-40B4-BE49-F238E27FC236}">
                  <a16:creationId xmlns:a16="http://schemas.microsoft.com/office/drawing/2014/main" id="{416C8CB1-C63B-7DFF-E42E-7CF70EA78B7D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5" name="직사각형 154">
              <a:extLst>
                <a:ext uri="{FF2B5EF4-FFF2-40B4-BE49-F238E27FC236}">
                  <a16:creationId xmlns:a16="http://schemas.microsoft.com/office/drawing/2014/main" id="{517046D6-AA51-116D-EE44-0D29BBCF2A64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6" name="직사각형 155">
              <a:extLst>
                <a:ext uri="{FF2B5EF4-FFF2-40B4-BE49-F238E27FC236}">
                  <a16:creationId xmlns:a16="http://schemas.microsoft.com/office/drawing/2014/main" id="{7F8A45BE-C943-329B-FBDE-B391D9E4ECF9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5E7B13BB-5344-3243-122F-CF821108D893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501DE5A5-7BB0-DA89-7A55-A05145EB8B63}"/>
              </a:ext>
            </a:extLst>
          </p:cNvPr>
          <p:cNvSpPr/>
          <p:nvPr/>
        </p:nvSpPr>
        <p:spPr>
          <a:xfrm>
            <a:off x="5734024" y="5067025"/>
            <a:ext cx="1395530" cy="288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직원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추가하기</a:t>
            </a:r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B3FE4487-06C7-A45C-EC48-74C016AF483E}"/>
              </a:ext>
            </a:extLst>
          </p:cNvPr>
          <p:cNvSpPr/>
          <p:nvPr/>
        </p:nvSpPr>
        <p:spPr>
          <a:xfrm>
            <a:off x="6057831" y="2244808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CC66AC5D-88BB-4A44-773A-B498ED5FB4DE}"/>
              </a:ext>
            </a:extLst>
          </p:cNvPr>
          <p:cNvSpPr/>
          <p:nvPr/>
        </p:nvSpPr>
        <p:spPr>
          <a:xfrm>
            <a:off x="6879293" y="2244808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56B182EE-BAE6-C754-CCAB-0AB327C459A2}"/>
              </a:ext>
            </a:extLst>
          </p:cNvPr>
          <p:cNvSpPr txBox="1"/>
          <p:nvPr/>
        </p:nvSpPr>
        <p:spPr>
          <a:xfrm>
            <a:off x="926907" y="2231290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55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C1E16805-EF25-2A06-384D-5FFF5DEBBA33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8" name="Picture 1">
            <a:extLst>
              <a:ext uri="{FF2B5EF4-FFF2-40B4-BE49-F238E27FC236}">
                <a16:creationId xmlns:a16="http://schemas.microsoft.com/office/drawing/2014/main" id="{4CA9DF8A-7799-B895-DDE8-78B604D15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08396D25-1500-9F91-184E-7F51514F1954}"/>
              </a:ext>
            </a:extLst>
          </p:cNvPr>
          <p:cNvSpPr/>
          <p:nvPr/>
        </p:nvSpPr>
        <p:spPr>
          <a:xfrm>
            <a:off x="-1690381" y="801483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670D7FF-07B3-C125-2DA9-5FF6F969A196}"/>
              </a:ext>
            </a:extLst>
          </p:cNvPr>
          <p:cNvSpPr/>
          <p:nvPr/>
        </p:nvSpPr>
        <p:spPr>
          <a:xfrm>
            <a:off x="-1690381" y="1101803"/>
            <a:ext cx="1467136" cy="241808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권한그룹 및 메뉴별 권한 관리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권한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접속 아이피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(IP)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메뉴별 접속현황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거래처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 관리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CD4B098-B3E8-25E1-9689-AA47E7797C68}"/>
              </a:ext>
            </a:extLst>
          </p:cNvPr>
          <p:cNvSpPr/>
          <p:nvPr/>
        </p:nvSpPr>
        <p:spPr>
          <a:xfrm>
            <a:off x="-529236" y="801483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6443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3D551-EE1F-D3FC-F8CF-CC71DD247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1E0F445-B90F-7533-18FE-CB904A483A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234CF2-3723-ECD5-6A44-0F270B2C9899}"/>
              </a:ext>
            </a:extLst>
          </p:cNvPr>
          <p:cNvSpPr txBox="1"/>
          <p:nvPr/>
        </p:nvSpPr>
        <p:spPr>
          <a:xfrm>
            <a:off x="749224" y="25608"/>
            <a:ext cx="14141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권한 관리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A8752F-88D7-D186-97FD-190BC7613FA7}"/>
              </a:ext>
            </a:extLst>
          </p:cNvPr>
          <p:cNvSpPr txBox="1"/>
          <p:nvPr/>
        </p:nvSpPr>
        <p:spPr>
          <a:xfrm>
            <a:off x="8049344" y="584684"/>
            <a:ext cx="1856656" cy="1511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컨펌(Confirm) 박스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현재 부여된 해당 관리자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시스템 권한이 상실됩니다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진행하시겠습니까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추가하기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팝업을 호출하여 처리함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7A298E7-03FA-9BEE-8997-67590FEDC162}"/>
              </a:ext>
            </a:extLst>
          </p:cNvPr>
          <p:cNvSpPr/>
          <p:nvPr/>
        </p:nvSpPr>
        <p:spPr>
          <a:xfrm>
            <a:off x="164468" y="403565"/>
            <a:ext cx="912109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권한 관리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5E86E462-46E4-0DFC-DF76-A231EB9220A3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7B7828F-41D7-8338-EE60-C72C614F066F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B708FD8-3260-3AE0-50C2-321046B22AE4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CF366DE7-F84B-1557-A6DC-67A08C115098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14" name="Picture 1">
            <a:extLst>
              <a:ext uri="{FF2B5EF4-FFF2-40B4-BE49-F238E27FC236}">
                <a16:creationId xmlns:a16="http://schemas.microsoft.com/office/drawing/2014/main" id="{2DE1EDBC-62CA-C21D-C7C9-4B91372E9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8BAC2049-0384-F3E2-8AA6-6E680BBA519A}"/>
              </a:ext>
            </a:extLst>
          </p:cNvPr>
          <p:cNvSpPr/>
          <p:nvPr/>
        </p:nvSpPr>
        <p:spPr>
          <a:xfrm>
            <a:off x="159139" y="809280"/>
            <a:ext cx="7735112" cy="792425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본 시스템의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‘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메뉴별 권한 부여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’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외에 특정 기능에 권한을 별도로 부여하는 서비스입니다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권한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 관리자(직원)를 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하실 수 있습니다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한 명의 관리자(직원)는 여러 개의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권한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매핑될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수 있습니다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118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04A850AA-595C-5AE6-9D51-357E18382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261" y="920272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6112974-518F-8814-D402-D3D6B1F3ABBD}"/>
              </a:ext>
            </a:extLst>
          </p:cNvPr>
          <p:cNvSpPr/>
          <p:nvPr/>
        </p:nvSpPr>
        <p:spPr>
          <a:xfrm>
            <a:off x="-1690381" y="801483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CF70808-F581-B7EF-66FF-779C83766021}"/>
              </a:ext>
            </a:extLst>
          </p:cNvPr>
          <p:cNvSpPr/>
          <p:nvPr/>
        </p:nvSpPr>
        <p:spPr>
          <a:xfrm>
            <a:off x="-1690381" y="1101803"/>
            <a:ext cx="1467136" cy="241808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권한그룹 및 메뉴별 권한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권한 관리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접속 아이피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(IP)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메뉴별 접속현황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거래처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 관리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347ADEA-5E0D-4C9B-D66C-7B18F5D9BA6F}"/>
              </a:ext>
            </a:extLst>
          </p:cNvPr>
          <p:cNvSpPr/>
          <p:nvPr/>
        </p:nvSpPr>
        <p:spPr>
          <a:xfrm>
            <a:off x="-529236" y="801483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130A1DC-6D8D-4DDC-9205-82F7E7ADDF6A}"/>
              </a:ext>
            </a:extLst>
          </p:cNvPr>
          <p:cNvSpPr/>
          <p:nvPr/>
        </p:nvSpPr>
        <p:spPr>
          <a:xfrm>
            <a:off x="152126" y="1699180"/>
            <a:ext cx="7742125" cy="58314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시스템 </a:t>
            </a:r>
            <a:r>
              <a:rPr kumimoji="1" lang="ko-KR" altLang="en-US" sz="9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권한명</a:t>
            </a:r>
            <a:r>
              <a:rPr kumimoji="1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SRM</a:t>
            </a:r>
            <a:r>
              <a:rPr kumimoji="1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의</a:t>
            </a:r>
            <a:r>
              <a:rPr kumimoji="1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예정가격 입력 담당</a:t>
            </a:r>
            <a:endParaRPr kumimoji="1" lang="en-US" altLang="ko-KR" sz="9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본 시스템 권한은 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SRM</a:t>
            </a: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에 등록된 입찰 정보 중 예정가격을 등록할 수 있는 담당자(주로 임원)를 매핑하는 기능입니다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95E63E0-4136-363E-094F-25F9AA3EC615}"/>
              </a:ext>
            </a:extLst>
          </p:cNvPr>
          <p:cNvSpPr/>
          <p:nvPr/>
        </p:nvSpPr>
        <p:spPr>
          <a:xfrm>
            <a:off x="152126" y="2282321"/>
            <a:ext cx="7742125" cy="189261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bIns="108000" rtlCol="0" anchor="ctr" anchorCtr="0"/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lang="en-US" altLang="ko-KR" sz="8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3717844-F2B1-F0F4-06A7-85E8BFEFCFEC}"/>
              </a:ext>
            </a:extLst>
          </p:cNvPr>
          <p:cNvSpPr/>
          <p:nvPr/>
        </p:nvSpPr>
        <p:spPr>
          <a:xfrm>
            <a:off x="6368761" y="3782639"/>
            <a:ext cx="1395530" cy="288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직원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추가하기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3527ECFC-4EBA-3B9F-E9C2-FE391046C249}"/>
              </a:ext>
            </a:extLst>
          </p:cNvPr>
          <p:cNvGraphicFramePr>
            <a:graphicFrameLocks noGrp="1"/>
          </p:cNvGraphicFramePr>
          <p:nvPr/>
        </p:nvGraphicFramePr>
        <p:xfrm>
          <a:off x="249073" y="2672467"/>
          <a:ext cx="7515218" cy="10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26">
                  <a:extLst>
                    <a:ext uri="{9D8B030D-6E8A-4147-A177-3AD203B41FA5}">
                      <a16:colId xmlns:a16="http://schemas.microsoft.com/office/drawing/2014/main" val="311720782"/>
                    </a:ext>
                  </a:extLst>
                </a:gridCol>
                <a:gridCol w="912312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90034">
                  <a:extLst>
                    <a:ext uri="{9D8B030D-6E8A-4147-A177-3AD203B41FA5}">
                      <a16:colId xmlns:a16="http://schemas.microsoft.com/office/drawing/2014/main" val="2264476566"/>
                    </a:ext>
                  </a:extLst>
                </a:gridCol>
                <a:gridCol w="690034">
                  <a:extLst>
                    <a:ext uri="{9D8B030D-6E8A-4147-A177-3AD203B41FA5}">
                      <a16:colId xmlns:a16="http://schemas.microsoft.com/office/drawing/2014/main" val="1900745260"/>
                    </a:ext>
                  </a:extLst>
                </a:gridCol>
                <a:gridCol w="976843">
                  <a:extLst>
                    <a:ext uri="{9D8B030D-6E8A-4147-A177-3AD203B41FA5}">
                      <a16:colId xmlns:a16="http://schemas.microsoft.com/office/drawing/2014/main" val="1854595363"/>
                    </a:ext>
                  </a:extLst>
                </a:gridCol>
                <a:gridCol w="546629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  <a:gridCol w="1782296">
                  <a:extLst>
                    <a:ext uri="{9D8B030D-6E8A-4147-A177-3AD203B41FA5}">
                      <a16:colId xmlns:a16="http://schemas.microsoft.com/office/drawing/2014/main" val="2048789610"/>
                    </a:ext>
                  </a:extLst>
                </a:gridCol>
                <a:gridCol w="756922">
                  <a:extLst>
                    <a:ext uri="{9D8B030D-6E8A-4147-A177-3AD203B41FA5}">
                      <a16:colId xmlns:a16="http://schemas.microsoft.com/office/drawing/2014/main" val="700917874"/>
                    </a:ext>
                  </a:extLst>
                </a:gridCol>
                <a:gridCol w="756922">
                  <a:extLst>
                    <a:ext uri="{9D8B030D-6E8A-4147-A177-3AD203B41FA5}">
                      <a16:colId xmlns:a16="http://schemas.microsoft.com/office/drawing/2014/main" val="24011001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□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사원번호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아이디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사원명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직급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이메일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 여부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2110004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simon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장시형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기획지원팀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과장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simon@kepcoes.co.kr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(Y)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사용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(Y)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2D421C19-FE49-653A-3B0A-EC3E42AF425C}"/>
              </a:ext>
            </a:extLst>
          </p:cNvPr>
          <p:cNvSpPr txBox="1"/>
          <p:nvPr/>
        </p:nvSpPr>
        <p:spPr>
          <a:xfrm>
            <a:off x="275261" y="2370411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 부여 현황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5FBE052-858C-6EAC-D9F9-73B7D4CAE6F4}"/>
              </a:ext>
            </a:extLst>
          </p:cNvPr>
          <p:cNvSpPr/>
          <p:nvPr/>
        </p:nvSpPr>
        <p:spPr>
          <a:xfrm>
            <a:off x="7164416" y="3064500"/>
            <a:ext cx="458854" cy="21544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6CFD0F5-1A1F-7E67-B100-5E3099F10699}"/>
              </a:ext>
            </a:extLst>
          </p:cNvPr>
          <p:cNvSpPr/>
          <p:nvPr/>
        </p:nvSpPr>
        <p:spPr>
          <a:xfrm>
            <a:off x="7164416" y="3410553"/>
            <a:ext cx="458854" cy="21544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EAA09487-FE30-F23C-5471-03063469B29E}"/>
              </a:ext>
            </a:extLst>
          </p:cNvPr>
          <p:cNvSpPr/>
          <p:nvPr/>
        </p:nvSpPr>
        <p:spPr>
          <a:xfrm>
            <a:off x="7034456" y="2945267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2EE451CB-02EE-5ADD-B3DC-E2D3C99C42BE}"/>
              </a:ext>
            </a:extLst>
          </p:cNvPr>
          <p:cNvSpPr/>
          <p:nvPr/>
        </p:nvSpPr>
        <p:spPr>
          <a:xfrm>
            <a:off x="6284079" y="371192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0057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26992-8479-57C1-E97C-8B9B2BB06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7616E3E-7AF1-ECF5-1D87-70783D5FD61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2BAFA9-A529-AF8A-01CB-35B616895848}"/>
              </a:ext>
            </a:extLst>
          </p:cNvPr>
          <p:cNvSpPr txBox="1"/>
          <p:nvPr/>
        </p:nvSpPr>
        <p:spPr>
          <a:xfrm>
            <a:off x="749224" y="25608"/>
            <a:ext cx="157126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접속 아이피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(IP)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BD6DD0-5635-EEDA-9D38-05750775A987}"/>
              </a:ext>
            </a:extLst>
          </p:cNvPr>
          <p:cNvSpPr txBox="1"/>
          <p:nvPr/>
        </p:nvSpPr>
        <p:spPr>
          <a:xfrm>
            <a:off x="8049344" y="584684"/>
            <a:ext cx="1856656" cy="1511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아이피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(IP),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아이피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(IP)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추가 사유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컨펌(Confirm) 박스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 접속 아이피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(IP)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삭제하면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 시스템에 해당 아이피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(IP)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접근이 불가합니다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삭제하시겠습니까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?”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249BAEE-2BED-20E1-D518-77731297DB9E}"/>
              </a:ext>
            </a:extLst>
          </p:cNvPr>
          <p:cNvSpPr/>
          <p:nvPr/>
        </p:nvSpPr>
        <p:spPr>
          <a:xfrm>
            <a:off x="164468" y="403565"/>
            <a:ext cx="1109278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접속 아이피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(IP) 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97B110DD-BBEC-3E61-C7BA-53036A085DF4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B6E4ECA-317C-D6E5-9B44-C4CA881DE304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259BAB2-5661-7FE1-B5B7-A372911D1D4D}"/>
              </a:ext>
            </a:extLst>
          </p:cNvPr>
          <p:cNvSpPr/>
          <p:nvPr/>
        </p:nvSpPr>
        <p:spPr>
          <a:xfrm>
            <a:off x="164468" y="834983"/>
            <a:ext cx="7740859" cy="68580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B91005F-F993-4F62-6C2B-42E197994E06}"/>
              </a:ext>
            </a:extLst>
          </p:cNvPr>
          <p:cNvSpPr/>
          <p:nvPr/>
        </p:nvSpPr>
        <p:spPr>
          <a:xfrm>
            <a:off x="1408523" y="1209885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F7D1EE7-3024-7E79-F0D6-31D23E870AE0}"/>
              </a:ext>
            </a:extLst>
          </p:cNvPr>
          <p:cNvSpPr/>
          <p:nvPr/>
        </p:nvSpPr>
        <p:spPr>
          <a:xfrm>
            <a:off x="2218774" y="1209887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D035E0-3717-AC31-F9AD-2652552BD686}"/>
              </a:ext>
            </a:extLst>
          </p:cNvPr>
          <p:cNvSpPr/>
          <p:nvPr/>
        </p:nvSpPr>
        <p:spPr>
          <a:xfrm>
            <a:off x="2533911" y="1209885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431FF9-C702-A3DD-BFAD-D4CFF63F64D4}"/>
              </a:ext>
            </a:extLst>
          </p:cNvPr>
          <p:cNvSpPr/>
          <p:nvPr/>
        </p:nvSpPr>
        <p:spPr>
          <a:xfrm>
            <a:off x="6241919" y="1209887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E5115D-6F31-BFCF-4520-CE03F95EEFA4}"/>
              </a:ext>
            </a:extLst>
          </p:cNvPr>
          <p:cNvSpPr txBox="1"/>
          <p:nvPr/>
        </p:nvSpPr>
        <p:spPr>
          <a:xfrm>
            <a:off x="235850" y="941488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 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등록일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FA1E20-8A4A-6C63-2C78-7FA12A49804A}"/>
              </a:ext>
            </a:extLst>
          </p:cNvPr>
          <p:cNvSpPr txBox="1"/>
          <p:nvPr/>
        </p:nvSpPr>
        <p:spPr>
          <a:xfrm>
            <a:off x="235849" y="1217030"/>
            <a:ext cx="75617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F76511B-25A7-5109-CB0D-8E396FA44B0C}"/>
              </a:ext>
            </a:extLst>
          </p:cNvPr>
          <p:cNvSpPr/>
          <p:nvPr/>
        </p:nvSpPr>
        <p:spPr>
          <a:xfrm>
            <a:off x="4683665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8A00694-9E2D-91DF-F847-FC98952CA785}"/>
              </a:ext>
            </a:extLst>
          </p:cNvPr>
          <p:cNvSpPr/>
          <p:nvPr/>
        </p:nvSpPr>
        <p:spPr>
          <a:xfrm>
            <a:off x="5493916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9419BB9-6C5A-1A57-A531-502BCB1AB8A7}"/>
              </a:ext>
            </a:extLst>
          </p:cNvPr>
          <p:cNvSpPr/>
          <p:nvPr/>
        </p:nvSpPr>
        <p:spPr>
          <a:xfrm>
            <a:off x="5907171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A175D96-62A2-5A55-0EAB-46E1B39D44EC}"/>
              </a:ext>
            </a:extLst>
          </p:cNvPr>
          <p:cNvSpPr/>
          <p:nvPr/>
        </p:nvSpPr>
        <p:spPr>
          <a:xfrm>
            <a:off x="6717422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913CB39-FBFA-1205-A282-9C7CAD455705}"/>
              </a:ext>
            </a:extLst>
          </p:cNvPr>
          <p:cNvSpPr/>
          <p:nvPr/>
        </p:nvSpPr>
        <p:spPr>
          <a:xfrm>
            <a:off x="1393889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95C715E-537B-EE0B-4538-5C3E040215CE}"/>
              </a:ext>
            </a:extLst>
          </p:cNvPr>
          <p:cNvSpPr/>
          <p:nvPr/>
        </p:nvSpPr>
        <p:spPr>
          <a:xfrm>
            <a:off x="1942458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A05FD37-1961-154E-31BF-B34A39AF2BF7}"/>
              </a:ext>
            </a:extLst>
          </p:cNvPr>
          <p:cNvSpPr/>
          <p:nvPr/>
        </p:nvSpPr>
        <p:spPr>
          <a:xfrm>
            <a:off x="2491027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F7CF120-1421-8F86-B9E7-955E66501F30}"/>
              </a:ext>
            </a:extLst>
          </p:cNvPr>
          <p:cNvSpPr/>
          <p:nvPr/>
        </p:nvSpPr>
        <p:spPr>
          <a:xfrm>
            <a:off x="3039596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FC200B4-83AD-2968-B41B-71C10F19EAB8}"/>
              </a:ext>
            </a:extLst>
          </p:cNvPr>
          <p:cNvSpPr/>
          <p:nvPr/>
        </p:nvSpPr>
        <p:spPr>
          <a:xfrm>
            <a:off x="3588165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1F279F9-E7B1-90EA-1F2D-F4FD5F067602}"/>
              </a:ext>
            </a:extLst>
          </p:cNvPr>
          <p:cNvSpPr/>
          <p:nvPr/>
        </p:nvSpPr>
        <p:spPr>
          <a:xfrm>
            <a:off x="4136733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C5E882EE-70CE-8AD8-E545-9BB1C2B8707A}"/>
              </a:ext>
            </a:extLst>
          </p:cNvPr>
          <p:cNvSpPr/>
          <p:nvPr/>
        </p:nvSpPr>
        <p:spPr>
          <a:xfrm>
            <a:off x="5856272" y="1615274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0421099F-C247-7B64-0DC4-F0FC2B376A05}"/>
              </a:ext>
            </a:extLst>
          </p:cNvPr>
          <p:cNvSpPr/>
          <p:nvPr/>
        </p:nvSpPr>
        <p:spPr>
          <a:xfrm>
            <a:off x="6677734" y="1615274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69176B5-E3FA-139C-9FB5-7922D37837C5}"/>
              </a:ext>
            </a:extLst>
          </p:cNvPr>
          <p:cNvSpPr txBox="1"/>
          <p:nvPr/>
        </p:nvSpPr>
        <p:spPr>
          <a:xfrm>
            <a:off x="181506" y="1601756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55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78" name="표 77">
            <a:extLst>
              <a:ext uri="{FF2B5EF4-FFF2-40B4-BE49-F238E27FC236}">
                <a16:creationId xmlns:a16="http://schemas.microsoft.com/office/drawing/2014/main" id="{57C8A501-2E8E-D7A6-80F4-97CFE37B1A40}"/>
              </a:ext>
            </a:extLst>
          </p:cNvPr>
          <p:cNvGraphicFramePr>
            <a:graphicFrameLocks noGrp="1"/>
          </p:cNvGraphicFramePr>
          <p:nvPr/>
        </p:nvGraphicFramePr>
        <p:xfrm>
          <a:off x="181504" y="1908589"/>
          <a:ext cx="7715198" cy="202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743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321537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3219273">
                  <a:extLst>
                    <a:ext uri="{9D8B030D-6E8A-4147-A177-3AD203B41FA5}">
                      <a16:colId xmlns:a16="http://schemas.microsoft.com/office/drawing/2014/main" val="2264476566"/>
                    </a:ext>
                  </a:extLst>
                </a:gridCol>
                <a:gridCol w="1176473">
                  <a:extLst>
                    <a:ext uri="{9D8B030D-6E8A-4147-A177-3AD203B41FA5}">
                      <a16:colId xmlns:a16="http://schemas.microsoft.com/office/drawing/2014/main" val="378561692"/>
                    </a:ext>
                  </a:extLst>
                </a:gridCol>
                <a:gridCol w="591031">
                  <a:extLst>
                    <a:ext uri="{9D8B030D-6E8A-4147-A177-3AD203B41FA5}">
                      <a16:colId xmlns:a16="http://schemas.microsoft.com/office/drawing/2014/main" val="1778558004"/>
                    </a:ext>
                  </a:extLst>
                </a:gridCol>
                <a:gridCol w="639446">
                  <a:extLst>
                    <a:ext uri="{9D8B030D-6E8A-4147-A177-3AD203B41FA5}">
                      <a16:colId xmlns:a16="http://schemas.microsoft.com/office/drawing/2014/main" val="22745853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아이피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(IP)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아이피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(IP)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추가 사유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삭제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211.215.111.2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회사 아이피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(IP) –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내부 접속용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2026. 06. 09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1.112.11.2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년간 홍길동 차장의 재택근무 지원용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2026. 06. 09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946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773569"/>
                  </a:ext>
                </a:extLst>
              </a:tr>
            </a:tbl>
          </a:graphicData>
        </a:graphic>
      </p:graphicFrame>
      <p:grpSp>
        <p:nvGrpSpPr>
          <p:cNvPr id="79" name="그룹 78">
            <a:extLst>
              <a:ext uri="{FF2B5EF4-FFF2-40B4-BE49-F238E27FC236}">
                <a16:creationId xmlns:a16="http://schemas.microsoft.com/office/drawing/2014/main" id="{1411BE63-FA4C-9AAB-A85A-0DA617B36D89}"/>
              </a:ext>
            </a:extLst>
          </p:cNvPr>
          <p:cNvGrpSpPr/>
          <p:nvPr/>
        </p:nvGrpSpPr>
        <p:grpSpPr>
          <a:xfrm>
            <a:off x="2004219" y="4026824"/>
            <a:ext cx="4025354" cy="216024"/>
            <a:chOff x="2992062" y="4869160"/>
            <a:chExt cx="4025354" cy="216024"/>
          </a:xfrm>
        </p:grpSpPr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A1A32624-67C5-0187-0FD3-D09A520B916A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50E22E55-72E3-ECDC-AAFF-C44081707F20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2EE5FF56-BC0A-E766-AED8-DB618F1B4429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BAFCE8D1-556E-3780-9B52-B87F8A8A0261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89B4C73E-D198-FE3B-5358-DBF3E0E11187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7D010C83-0033-3E25-13CE-952FD9C08764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EAC02506-E784-D9D0-2B8B-545D1FD1C651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9386BD9C-0B67-B83D-B593-90E240F1B516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C817ACE5-ED2A-B342-F256-D6A1D0A8C6B0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DE607F98-EC2C-A2DE-8498-CCFDA1ACAADD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6028F75F-28CE-CF91-734A-29B1F172F448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AB6CA756-BC23-538E-9D82-4390CFD0AF71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50FF0726-32CB-9691-4A36-BDB0992304AD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393F4743-2735-E3E1-355B-5A2FA975A719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6BD6273-D6C7-6C4F-73D2-008D064C5CC8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4F5CA14A-E4DD-842D-D7A6-0723396EB317}"/>
              </a:ext>
            </a:extLst>
          </p:cNvPr>
          <p:cNvSpPr/>
          <p:nvPr/>
        </p:nvSpPr>
        <p:spPr>
          <a:xfrm>
            <a:off x="1272711" y="115527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85BA1F3-15E4-6EEC-1A8B-AC8CE0623298}"/>
              </a:ext>
            </a:extLst>
          </p:cNvPr>
          <p:cNvSpPr/>
          <p:nvPr/>
        </p:nvSpPr>
        <p:spPr>
          <a:xfrm>
            <a:off x="7364632" y="2302772"/>
            <a:ext cx="458854" cy="21544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189C719-FDE1-7952-73E2-28C4428A1158}"/>
              </a:ext>
            </a:extLst>
          </p:cNvPr>
          <p:cNvSpPr/>
          <p:nvPr/>
        </p:nvSpPr>
        <p:spPr>
          <a:xfrm>
            <a:off x="6982990" y="1615274"/>
            <a:ext cx="913712" cy="215441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(Excel)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E36A93C-868B-B4C8-A629-EA89FFC4EB16}"/>
              </a:ext>
            </a:extLst>
          </p:cNvPr>
          <p:cNvSpPr/>
          <p:nvPr/>
        </p:nvSpPr>
        <p:spPr>
          <a:xfrm>
            <a:off x="7364632" y="2640601"/>
            <a:ext cx="458854" cy="21544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6D3E769-199F-CBE3-8ABF-EFE8EDAA66E6}"/>
              </a:ext>
            </a:extLst>
          </p:cNvPr>
          <p:cNvSpPr/>
          <p:nvPr/>
        </p:nvSpPr>
        <p:spPr>
          <a:xfrm>
            <a:off x="7364632" y="2978430"/>
            <a:ext cx="458854" cy="21544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B8E43C4-E9DA-51FD-D988-D7D46623A96A}"/>
              </a:ext>
            </a:extLst>
          </p:cNvPr>
          <p:cNvSpPr/>
          <p:nvPr/>
        </p:nvSpPr>
        <p:spPr>
          <a:xfrm>
            <a:off x="7364632" y="3316259"/>
            <a:ext cx="458854" cy="21544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4413265-2AC4-64CD-AE67-A5F6C8CBA0B8}"/>
              </a:ext>
            </a:extLst>
          </p:cNvPr>
          <p:cNvSpPr/>
          <p:nvPr/>
        </p:nvSpPr>
        <p:spPr>
          <a:xfrm>
            <a:off x="7364632" y="3654088"/>
            <a:ext cx="458854" cy="21544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2E5CB2E2-C25B-612B-ABA3-F7A7FE3F87D3}"/>
              </a:ext>
            </a:extLst>
          </p:cNvPr>
          <p:cNvCxnSpPr>
            <a:cxnSpLocks/>
            <a:stCxn id="20" idx="2"/>
          </p:cNvCxnSpPr>
          <p:nvPr/>
        </p:nvCxnSpPr>
        <p:spPr>
          <a:xfrm rot="5400000">
            <a:off x="5251417" y="3274449"/>
            <a:ext cx="1747563" cy="2937722"/>
          </a:xfrm>
          <a:prstGeom prst="bentConnector2">
            <a:avLst/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8875975-C42F-45F4-33B6-F2EF63A21F23}"/>
              </a:ext>
            </a:extLst>
          </p:cNvPr>
          <p:cNvSpPr/>
          <p:nvPr/>
        </p:nvSpPr>
        <p:spPr>
          <a:xfrm>
            <a:off x="6392091" y="4255376"/>
            <a:ext cx="1504612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접속 아이피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(IP)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추가하기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C11F851-32F7-2C40-634D-2F7BBA912A2B}"/>
              </a:ext>
            </a:extLst>
          </p:cNvPr>
          <p:cNvSpPr/>
          <p:nvPr/>
        </p:nvSpPr>
        <p:spPr>
          <a:xfrm>
            <a:off x="237971" y="4408517"/>
            <a:ext cx="4912518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접속 아이피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(IP)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추가하기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18248C3-4387-397C-E37C-8EFCDB8D9965}"/>
              </a:ext>
            </a:extLst>
          </p:cNvPr>
          <p:cNvSpPr/>
          <p:nvPr/>
        </p:nvSpPr>
        <p:spPr>
          <a:xfrm>
            <a:off x="237971" y="4681430"/>
            <a:ext cx="4912518" cy="165842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3A8161C-25DB-843C-526A-C0606E3BEB23}"/>
              </a:ext>
            </a:extLst>
          </p:cNvPr>
          <p:cNvSpPr/>
          <p:nvPr/>
        </p:nvSpPr>
        <p:spPr>
          <a:xfrm>
            <a:off x="4860202" y="4408517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D5F2753E-DD08-C148-6E98-9690585751C2}"/>
              </a:ext>
            </a:extLst>
          </p:cNvPr>
          <p:cNvSpPr/>
          <p:nvPr/>
        </p:nvSpPr>
        <p:spPr>
          <a:xfrm>
            <a:off x="2807222" y="5866790"/>
            <a:ext cx="1481472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접속 아이피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(IP)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추가하기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8A88190B-CA37-F75F-11B8-2D2617BBFC34}"/>
              </a:ext>
            </a:extLst>
          </p:cNvPr>
          <p:cNvSpPr/>
          <p:nvPr/>
        </p:nvSpPr>
        <p:spPr>
          <a:xfrm>
            <a:off x="4348435" y="5866790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1E22650F-9DE0-3980-F791-B02B62A9271A}"/>
              </a:ext>
            </a:extLst>
          </p:cNvPr>
          <p:cNvSpPr/>
          <p:nvPr/>
        </p:nvSpPr>
        <p:spPr>
          <a:xfrm>
            <a:off x="369191" y="4777818"/>
            <a:ext cx="1569340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접속 아이피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(IP)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추가하기</a:t>
            </a:r>
          </a:p>
        </p:txBody>
      </p:sp>
      <p:graphicFrame>
        <p:nvGraphicFramePr>
          <p:cNvPr id="68" name="표 67">
            <a:extLst>
              <a:ext uri="{FF2B5EF4-FFF2-40B4-BE49-F238E27FC236}">
                <a16:creationId xmlns:a16="http://schemas.microsoft.com/office/drawing/2014/main" id="{F5122237-F265-2244-D516-7DF966890D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451170"/>
              </p:ext>
            </p:extLst>
          </p:nvPr>
        </p:nvGraphicFramePr>
        <p:xfrm>
          <a:off x="368154" y="5086676"/>
          <a:ext cx="4656853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639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3395214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아이피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(IP)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아이피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(IP)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추가 사유 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</a:tbl>
          </a:graphicData>
        </a:graphic>
      </p:graphicFrame>
      <p:sp>
        <p:nvSpPr>
          <p:cNvPr id="70" name="직사각형 69">
            <a:extLst>
              <a:ext uri="{FF2B5EF4-FFF2-40B4-BE49-F238E27FC236}">
                <a16:creationId xmlns:a16="http://schemas.microsoft.com/office/drawing/2014/main" id="{A8CE4C54-44EB-C470-3D4F-3A3B59059A76}"/>
              </a:ext>
            </a:extLst>
          </p:cNvPr>
          <p:cNvSpPr/>
          <p:nvPr/>
        </p:nvSpPr>
        <p:spPr>
          <a:xfrm>
            <a:off x="1710187" y="5148695"/>
            <a:ext cx="1971978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211.215.111.2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4388C87B-E9AB-F27B-D10A-7B2B12A119DA}"/>
              </a:ext>
            </a:extLst>
          </p:cNvPr>
          <p:cNvSpPr/>
          <p:nvPr/>
        </p:nvSpPr>
        <p:spPr>
          <a:xfrm>
            <a:off x="1710187" y="5487299"/>
            <a:ext cx="3060340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간략히 작성해 주세요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81837CDC-F572-76EC-EB64-27CABC515765}"/>
              </a:ext>
            </a:extLst>
          </p:cNvPr>
          <p:cNvSpPr/>
          <p:nvPr/>
        </p:nvSpPr>
        <p:spPr>
          <a:xfrm>
            <a:off x="7213812" y="2161449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7857CC0-66A6-36C2-4790-517C31805A6F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5" name="Picture 1">
            <a:extLst>
              <a:ext uri="{FF2B5EF4-FFF2-40B4-BE49-F238E27FC236}">
                <a16:creationId xmlns:a16="http://schemas.microsoft.com/office/drawing/2014/main" id="{7676D0B3-6446-4256-B7BE-DC907FE4C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E3C77DBD-4BE2-B2E0-CAC5-FB0B8615F265}"/>
              </a:ext>
            </a:extLst>
          </p:cNvPr>
          <p:cNvSpPr/>
          <p:nvPr/>
        </p:nvSpPr>
        <p:spPr>
          <a:xfrm>
            <a:off x="-1690381" y="801483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8A035D5-1B92-1DAA-0C16-9E65C8E9832D}"/>
              </a:ext>
            </a:extLst>
          </p:cNvPr>
          <p:cNvSpPr/>
          <p:nvPr/>
        </p:nvSpPr>
        <p:spPr>
          <a:xfrm>
            <a:off x="-1690381" y="1101803"/>
            <a:ext cx="1467136" cy="241808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권한그룹 및 메뉴별 권한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권한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접속 아이피</a:t>
            </a:r>
            <a:r>
              <a:rPr lang="en-US" altLang="ko-KR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(IP) </a:t>
            </a: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메뉴별 접속현황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거래처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 관리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2C2918C0-D078-02C9-A82A-82BBD6388354}"/>
              </a:ext>
            </a:extLst>
          </p:cNvPr>
          <p:cNvSpPr/>
          <p:nvPr/>
        </p:nvSpPr>
        <p:spPr>
          <a:xfrm>
            <a:off x="-529236" y="801483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6536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CE8E3-E22E-DEB4-6DF6-4F59D72D6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989E2DB-3F9D-58BF-DD18-A2613D8DDDC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8EBCA1-B6C6-A9E4-E215-266323120147}"/>
              </a:ext>
            </a:extLst>
          </p:cNvPr>
          <p:cNvSpPr txBox="1"/>
          <p:nvPr/>
        </p:nvSpPr>
        <p:spPr>
          <a:xfrm>
            <a:off x="749224" y="25608"/>
            <a:ext cx="16337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19E3F9-879D-4A93-D3D2-729DBA37980F}"/>
              </a:ext>
            </a:extLst>
          </p:cNvPr>
          <p:cNvSpPr txBox="1"/>
          <p:nvPr/>
        </p:nvSpPr>
        <p:spPr>
          <a:xfrm>
            <a:off x="8049344" y="584684"/>
            <a:ext cx="185665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대분류 코드명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설명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개발 당시에만 사용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컨펌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박스 노출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 삭제 시 시스템에 영향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값 삭제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정보 유실 등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 있을 수 있습니다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관리자의 점검 후 삭제하세요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 코드를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삭제하시겠습니까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다음 페이지의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‘코드 관리’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팝업 호출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만약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 시스템에서 코드가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4Depth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구성되어야 하는 항목이 있다면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세분류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코드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(4Depth)]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추가해서 개발할 것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8C54633-CBEE-9D87-5F53-5D8A8A1E984B}"/>
              </a:ext>
            </a:extLst>
          </p:cNvPr>
          <p:cNvSpPr/>
          <p:nvPr/>
        </p:nvSpPr>
        <p:spPr>
          <a:xfrm>
            <a:off x="164468" y="403565"/>
            <a:ext cx="51616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 관리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DE6BB618-5A50-A997-D63C-2E6EFE901564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3A7115D-E468-8039-205A-25C84428329F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B7BCE7A-20D7-C9B4-B2AF-F3F9F6AC6B01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72D4396-16DC-8BFE-C068-15320C634E29}"/>
              </a:ext>
            </a:extLst>
          </p:cNvPr>
          <p:cNvSpPr/>
          <p:nvPr/>
        </p:nvSpPr>
        <p:spPr>
          <a:xfrm>
            <a:off x="195586" y="818451"/>
            <a:ext cx="577081" cy="230832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대분류 코드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A32B3E80-541D-F4B5-0C3D-EFA87DBB7DC9}"/>
              </a:ext>
            </a:extLst>
          </p:cNvPr>
          <p:cNvSpPr/>
          <p:nvPr/>
        </p:nvSpPr>
        <p:spPr>
          <a:xfrm>
            <a:off x="195587" y="1092566"/>
            <a:ext cx="2954846" cy="287039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89239CAA-094C-BC65-31B0-0AF68FDFD110}"/>
              </a:ext>
            </a:extLst>
          </p:cNvPr>
          <p:cNvSpPr/>
          <p:nvPr/>
        </p:nvSpPr>
        <p:spPr>
          <a:xfrm>
            <a:off x="3098677" y="1092566"/>
            <a:ext cx="108012" cy="287039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CE122250-8B8A-957C-2D66-560B729B42A9}"/>
              </a:ext>
            </a:extLst>
          </p:cNvPr>
          <p:cNvSpPr/>
          <p:nvPr/>
        </p:nvSpPr>
        <p:spPr>
          <a:xfrm>
            <a:off x="3098677" y="1803401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DDD618F6-C17A-832B-685F-583B353AEAD1}"/>
              </a:ext>
            </a:extLst>
          </p:cNvPr>
          <p:cNvSpPr/>
          <p:nvPr/>
        </p:nvSpPr>
        <p:spPr>
          <a:xfrm>
            <a:off x="301358" y="1171455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D4F48CEF-B521-FC4D-11F8-F1CD83820824}"/>
              </a:ext>
            </a:extLst>
          </p:cNvPr>
          <p:cNvSpPr/>
          <p:nvPr/>
        </p:nvSpPr>
        <p:spPr>
          <a:xfrm>
            <a:off x="910043" y="1171457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A2A4A579-4895-23D6-B636-6330CD509A34}"/>
              </a:ext>
            </a:extLst>
          </p:cNvPr>
          <p:cNvSpPr/>
          <p:nvPr/>
        </p:nvSpPr>
        <p:spPr>
          <a:xfrm>
            <a:off x="1174783" y="1171455"/>
            <a:ext cx="1149990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D209E844-CC50-F5C8-597B-1CFBFDD0C97B}"/>
              </a:ext>
            </a:extLst>
          </p:cNvPr>
          <p:cNvSpPr/>
          <p:nvPr/>
        </p:nvSpPr>
        <p:spPr>
          <a:xfrm>
            <a:off x="2374072" y="1171457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830E8A90-D72D-EF3F-C94C-0658B1F64FC0}"/>
              </a:ext>
            </a:extLst>
          </p:cNvPr>
          <p:cNvSpPr/>
          <p:nvPr/>
        </p:nvSpPr>
        <p:spPr>
          <a:xfrm>
            <a:off x="141664" y="1087572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23" name="표 122">
            <a:extLst>
              <a:ext uri="{FF2B5EF4-FFF2-40B4-BE49-F238E27FC236}">
                <a16:creationId xmlns:a16="http://schemas.microsoft.com/office/drawing/2014/main" id="{35003E45-3C44-3DA2-3D53-52B82E43DE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882153"/>
              </p:ext>
            </p:extLst>
          </p:nvPr>
        </p:nvGraphicFramePr>
        <p:xfrm>
          <a:off x="289732" y="1507662"/>
          <a:ext cx="2719051" cy="236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4060">
                  <a:extLst>
                    <a:ext uri="{9D8B030D-6E8A-4147-A177-3AD203B41FA5}">
                      <a16:colId xmlns:a16="http://schemas.microsoft.com/office/drawing/2014/main" val="979832847"/>
                    </a:ext>
                  </a:extLst>
                </a:gridCol>
                <a:gridCol w="804510">
                  <a:extLst>
                    <a:ext uri="{9D8B030D-6E8A-4147-A177-3AD203B41FA5}">
                      <a16:colId xmlns:a16="http://schemas.microsoft.com/office/drawing/2014/main" val="3716610691"/>
                    </a:ext>
                  </a:extLst>
                </a:gridCol>
                <a:gridCol w="576401">
                  <a:extLst>
                    <a:ext uri="{9D8B030D-6E8A-4147-A177-3AD203B41FA5}">
                      <a16:colId xmlns:a16="http://schemas.microsoft.com/office/drawing/2014/main" val="1266029869"/>
                    </a:ext>
                  </a:extLst>
                </a:gridCol>
                <a:gridCol w="524080">
                  <a:extLst>
                    <a:ext uri="{9D8B030D-6E8A-4147-A177-3AD203B41FA5}">
                      <a16:colId xmlns:a16="http://schemas.microsoft.com/office/drawing/2014/main" val="41862977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코드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대분류 코드명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 여부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삭제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001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계약방식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사용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(Y)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(N)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170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250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348335"/>
                  </a:ext>
                </a:extLst>
              </a:tr>
            </a:tbl>
          </a:graphicData>
        </a:graphic>
      </p:graphicFrame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C42870D0-8555-92C9-6381-DC2E7E5C0A00}"/>
              </a:ext>
            </a:extLst>
          </p:cNvPr>
          <p:cNvSpPr/>
          <p:nvPr/>
        </p:nvSpPr>
        <p:spPr>
          <a:xfrm>
            <a:off x="2601637" y="1908837"/>
            <a:ext cx="324000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8F036E4D-7A05-AE79-BCE3-D77FE5DAB312}"/>
              </a:ext>
            </a:extLst>
          </p:cNvPr>
          <p:cNvSpPr/>
          <p:nvPr/>
        </p:nvSpPr>
        <p:spPr>
          <a:xfrm>
            <a:off x="2601637" y="2245958"/>
            <a:ext cx="324000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419775D4-A05B-441B-34FE-0C4AC9D7A980}"/>
              </a:ext>
            </a:extLst>
          </p:cNvPr>
          <p:cNvSpPr/>
          <p:nvPr/>
        </p:nvSpPr>
        <p:spPr>
          <a:xfrm>
            <a:off x="2601637" y="2583079"/>
            <a:ext cx="324000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1D1E3DE6-3E93-B76B-DDC4-D48D727CAF76}"/>
              </a:ext>
            </a:extLst>
          </p:cNvPr>
          <p:cNvSpPr/>
          <p:nvPr/>
        </p:nvSpPr>
        <p:spPr>
          <a:xfrm>
            <a:off x="2601637" y="2920200"/>
            <a:ext cx="324000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23A05787-49A2-7A74-5D4A-445005AD6512}"/>
              </a:ext>
            </a:extLst>
          </p:cNvPr>
          <p:cNvSpPr/>
          <p:nvPr/>
        </p:nvSpPr>
        <p:spPr>
          <a:xfrm>
            <a:off x="2601637" y="3257322"/>
            <a:ext cx="324000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3FCD62F7-6441-C8EA-9241-2CEE4EADB2B5}"/>
              </a:ext>
            </a:extLst>
          </p:cNvPr>
          <p:cNvSpPr/>
          <p:nvPr/>
        </p:nvSpPr>
        <p:spPr>
          <a:xfrm>
            <a:off x="2601637" y="3594444"/>
            <a:ext cx="324000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4FCB865F-44A0-6E10-5A13-D72E5557D8F5}"/>
              </a:ext>
            </a:extLst>
          </p:cNvPr>
          <p:cNvSpPr/>
          <p:nvPr/>
        </p:nvSpPr>
        <p:spPr>
          <a:xfrm>
            <a:off x="2493625" y="178313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EDBF6639-E8A4-9EDE-C5B3-464D9770F22E}"/>
              </a:ext>
            </a:extLst>
          </p:cNvPr>
          <p:cNvSpPr/>
          <p:nvPr/>
        </p:nvSpPr>
        <p:spPr>
          <a:xfrm>
            <a:off x="3350706" y="818451"/>
            <a:ext cx="577081" cy="230832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중분류 코드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2A172F5-E08E-FB05-6E79-FCAD8B2FC63F}"/>
              </a:ext>
            </a:extLst>
          </p:cNvPr>
          <p:cNvSpPr/>
          <p:nvPr/>
        </p:nvSpPr>
        <p:spPr>
          <a:xfrm>
            <a:off x="3350707" y="1092566"/>
            <a:ext cx="3150466" cy="287039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61159802-4083-09E8-81E2-F79FC5A575F3}"/>
              </a:ext>
            </a:extLst>
          </p:cNvPr>
          <p:cNvSpPr/>
          <p:nvPr/>
        </p:nvSpPr>
        <p:spPr>
          <a:xfrm>
            <a:off x="6393160" y="1092566"/>
            <a:ext cx="108012" cy="287039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9B9C9845-9D70-FD95-3A63-63599F8B654C}"/>
              </a:ext>
            </a:extLst>
          </p:cNvPr>
          <p:cNvSpPr/>
          <p:nvPr/>
        </p:nvSpPr>
        <p:spPr>
          <a:xfrm>
            <a:off x="6393160" y="1803401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63" name="표 162">
            <a:extLst>
              <a:ext uri="{FF2B5EF4-FFF2-40B4-BE49-F238E27FC236}">
                <a16:creationId xmlns:a16="http://schemas.microsoft.com/office/drawing/2014/main" id="{81BA53D2-F452-7C9C-DC4B-E18A6FFFA5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359098"/>
              </p:ext>
            </p:extLst>
          </p:nvPr>
        </p:nvGraphicFramePr>
        <p:xfrm>
          <a:off x="3444852" y="1170874"/>
          <a:ext cx="2839312" cy="270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9787">
                  <a:extLst>
                    <a:ext uri="{9D8B030D-6E8A-4147-A177-3AD203B41FA5}">
                      <a16:colId xmlns:a16="http://schemas.microsoft.com/office/drawing/2014/main" val="979832847"/>
                    </a:ext>
                  </a:extLst>
                </a:gridCol>
                <a:gridCol w="772650">
                  <a:extLst>
                    <a:ext uri="{9D8B030D-6E8A-4147-A177-3AD203B41FA5}">
                      <a16:colId xmlns:a16="http://schemas.microsoft.com/office/drawing/2014/main" val="3716610691"/>
                    </a:ext>
                  </a:extLst>
                </a:gridCol>
                <a:gridCol w="420225">
                  <a:extLst>
                    <a:ext uri="{9D8B030D-6E8A-4147-A177-3AD203B41FA5}">
                      <a16:colId xmlns:a16="http://schemas.microsoft.com/office/drawing/2014/main" val="109734626"/>
                    </a:ext>
                  </a:extLst>
                </a:gridCol>
                <a:gridCol w="553575">
                  <a:extLst>
                    <a:ext uri="{9D8B030D-6E8A-4147-A177-3AD203B41FA5}">
                      <a16:colId xmlns:a16="http://schemas.microsoft.com/office/drawing/2014/main" val="1266029869"/>
                    </a:ext>
                  </a:extLst>
                </a:gridCol>
                <a:gridCol w="363075">
                  <a:extLst>
                    <a:ext uri="{9D8B030D-6E8A-4147-A177-3AD203B41FA5}">
                      <a16:colId xmlns:a16="http://schemas.microsoft.com/office/drawing/2014/main" val="41862977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코드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중분류 코드명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순서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 여부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삭제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001001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EPC </a:t>
                      </a:r>
                      <a:r>
                        <a:rPr lang="ko-KR" altLang="en-US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사용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(Y)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ESCO</a:t>
                      </a:r>
                      <a:r>
                        <a:rPr lang="ko-KR" altLang="en-US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계약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▼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</a:t>
                      </a: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▲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(N)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기타</a:t>
                      </a:r>
                      <a:r>
                        <a:rPr lang="en-US" altLang="ko-KR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▼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▲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▼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▲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170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▼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8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▲</a:t>
                      </a: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250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▼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▲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348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▲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623333"/>
                  </a:ext>
                </a:extLst>
              </a:tr>
            </a:tbl>
          </a:graphicData>
        </a:graphic>
      </p:graphicFrame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8CC53176-13F1-82F5-CDD4-97EFC73B9CD9}"/>
              </a:ext>
            </a:extLst>
          </p:cNvPr>
          <p:cNvSpPr/>
          <p:nvPr/>
        </p:nvSpPr>
        <p:spPr>
          <a:xfrm>
            <a:off x="5973712" y="1572049"/>
            <a:ext cx="324000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58DD63A5-92BE-6EB3-FB0A-719EC5357A19}"/>
              </a:ext>
            </a:extLst>
          </p:cNvPr>
          <p:cNvSpPr/>
          <p:nvPr/>
        </p:nvSpPr>
        <p:spPr>
          <a:xfrm>
            <a:off x="5973712" y="1909170"/>
            <a:ext cx="324000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E7A23445-A683-9AC8-5FF4-99B384AE4478}"/>
              </a:ext>
            </a:extLst>
          </p:cNvPr>
          <p:cNvSpPr/>
          <p:nvPr/>
        </p:nvSpPr>
        <p:spPr>
          <a:xfrm>
            <a:off x="5973712" y="2246291"/>
            <a:ext cx="324000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A2F543FE-208D-22F5-D9AE-CFEEB02057D3}"/>
              </a:ext>
            </a:extLst>
          </p:cNvPr>
          <p:cNvSpPr/>
          <p:nvPr/>
        </p:nvSpPr>
        <p:spPr>
          <a:xfrm>
            <a:off x="5973712" y="2583412"/>
            <a:ext cx="324000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FF39AB0B-A0E7-0852-CA0E-C7DE5B10670F}"/>
              </a:ext>
            </a:extLst>
          </p:cNvPr>
          <p:cNvSpPr/>
          <p:nvPr/>
        </p:nvSpPr>
        <p:spPr>
          <a:xfrm>
            <a:off x="5973712" y="2920534"/>
            <a:ext cx="324000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270EFB9F-7DA5-51C0-DC0E-D7C2817107DA}"/>
              </a:ext>
            </a:extLst>
          </p:cNvPr>
          <p:cNvSpPr/>
          <p:nvPr/>
        </p:nvSpPr>
        <p:spPr>
          <a:xfrm>
            <a:off x="5973712" y="3257656"/>
            <a:ext cx="324000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FD31B267-3CE7-3A8B-0C04-CAC95CC514B7}"/>
              </a:ext>
            </a:extLst>
          </p:cNvPr>
          <p:cNvSpPr/>
          <p:nvPr/>
        </p:nvSpPr>
        <p:spPr>
          <a:xfrm>
            <a:off x="6604308" y="818451"/>
            <a:ext cx="577081" cy="230832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소분류 코드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34648494-E6C1-D6FC-A4D9-43995161BB61}"/>
              </a:ext>
            </a:extLst>
          </p:cNvPr>
          <p:cNvSpPr/>
          <p:nvPr/>
        </p:nvSpPr>
        <p:spPr>
          <a:xfrm>
            <a:off x="6604309" y="1092566"/>
            <a:ext cx="3150466" cy="287039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36025AE0-ACCB-D79B-179A-B8D550DADF9D}"/>
              </a:ext>
            </a:extLst>
          </p:cNvPr>
          <p:cNvSpPr/>
          <p:nvPr/>
        </p:nvSpPr>
        <p:spPr>
          <a:xfrm>
            <a:off x="9646762" y="1092566"/>
            <a:ext cx="108012" cy="287039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2CF64B18-F014-C7AE-AAC7-CE9BE66F3B26}"/>
              </a:ext>
            </a:extLst>
          </p:cNvPr>
          <p:cNvSpPr/>
          <p:nvPr/>
        </p:nvSpPr>
        <p:spPr>
          <a:xfrm>
            <a:off x="9646762" y="1803401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96" name="표 195">
            <a:extLst>
              <a:ext uri="{FF2B5EF4-FFF2-40B4-BE49-F238E27FC236}">
                <a16:creationId xmlns:a16="http://schemas.microsoft.com/office/drawing/2014/main" id="{94F21544-772A-B703-974F-BBD12E57E3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604311"/>
              </p:ext>
            </p:extLst>
          </p:nvPr>
        </p:nvGraphicFramePr>
        <p:xfrm>
          <a:off x="6698454" y="1170874"/>
          <a:ext cx="2839312" cy="270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9787">
                  <a:extLst>
                    <a:ext uri="{9D8B030D-6E8A-4147-A177-3AD203B41FA5}">
                      <a16:colId xmlns:a16="http://schemas.microsoft.com/office/drawing/2014/main" val="979832847"/>
                    </a:ext>
                  </a:extLst>
                </a:gridCol>
                <a:gridCol w="772650">
                  <a:extLst>
                    <a:ext uri="{9D8B030D-6E8A-4147-A177-3AD203B41FA5}">
                      <a16:colId xmlns:a16="http://schemas.microsoft.com/office/drawing/2014/main" val="3716610691"/>
                    </a:ext>
                  </a:extLst>
                </a:gridCol>
                <a:gridCol w="420225">
                  <a:extLst>
                    <a:ext uri="{9D8B030D-6E8A-4147-A177-3AD203B41FA5}">
                      <a16:colId xmlns:a16="http://schemas.microsoft.com/office/drawing/2014/main" val="109734626"/>
                    </a:ext>
                  </a:extLst>
                </a:gridCol>
                <a:gridCol w="553575">
                  <a:extLst>
                    <a:ext uri="{9D8B030D-6E8A-4147-A177-3AD203B41FA5}">
                      <a16:colId xmlns:a16="http://schemas.microsoft.com/office/drawing/2014/main" val="1266029869"/>
                    </a:ext>
                  </a:extLst>
                </a:gridCol>
                <a:gridCol w="363075">
                  <a:extLst>
                    <a:ext uri="{9D8B030D-6E8A-4147-A177-3AD203B41FA5}">
                      <a16:colId xmlns:a16="http://schemas.microsoft.com/office/drawing/2014/main" val="41862977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코드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소분류 코드명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순서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 여부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삭제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001001001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소분류</a:t>
                      </a:r>
                      <a:r>
                        <a:rPr lang="en-US" altLang="ko-KR" sz="800" b="1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#1</a:t>
                      </a:r>
                      <a:endParaRPr lang="ko-KR" altLang="en-US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사용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(Y)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소분류</a:t>
                      </a:r>
                      <a:r>
                        <a:rPr kumimoji="0" lang="en-US" altLang="ko-KR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#2</a:t>
                      </a: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▼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</a:t>
                      </a: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▲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(N)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소분류</a:t>
                      </a:r>
                      <a:r>
                        <a:rPr kumimoji="0" lang="en-US" altLang="ko-KR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#3</a:t>
                      </a: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▼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▲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▼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▲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170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▼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8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▲</a:t>
                      </a: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250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▼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▲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348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▲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474295"/>
                  </a:ext>
                </a:extLst>
              </a:tr>
            </a:tbl>
          </a:graphicData>
        </a:graphic>
      </p:graphicFrame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135213DC-6C60-E7AB-EBAD-1344576EA947}"/>
              </a:ext>
            </a:extLst>
          </p:cNvPr>
          <p:cNvSpPr/>
          <p:nvPr/>
        </p:nvSpPr>
        <p:spPr>
          <a:xfrm>
            <a:off x="9227314" y="1572049"/>
            <a:ext cx="324000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8120D158-485D-2113-45CD-D9372A3F60D5}"/>
              </a:ext>
            </a:extLst>
          </p:cNvPr>
          <p:cNvSpPr/>
          <p:nvPr/>
        </p:nvSpPr>
        <p:spPr>
          <a:xfrm>
            <a:off x="9227314" y="1909170"/>
            <a:ext cx="324000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77F49150-8044-6F78-E1EB-5EA47868611C}"/>
              </a:ext>
            </a:extLst>
          </p:cNvPr>
          <p:cNvSpPr/>
          <p:nvPr/>
        </p:nvSpPr>
        <p:spPr>
          <a:xfrm>
            <a:off x="9227314" y="2246291"/>
            <a:ext cx="324000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200" name="직사각형 199">
            <a:extLst>
              <a:ext uri="{FF2B5EF4-FFF2-40B4-BE49-F238E27FC236}">
                <a16:creationId xmlns:a16="http://schemas.microsoft.com/office/drawing/2014/main" id="{B54D946E-FCDF-F8BF-FB74-512C24493BA6}"/>
              </a:ext>
            </a:extLst>
          </p:cNvPr>
          <p:cNvSpPr/>
          <p:nvPr/>
        </p:nvSpPr>
        <p:spPr>
          <a:xfrm>
            <a:off x="9227314" y="2583412"/>
            <a:ext cx="324000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92185F00-BC28-D997-80F8-371B42A6E8B9}"/>
              </a:ext>
            </a:extLst>
          </p:cNvPr>
          <p:cNvSpPr/>
          <p:nvPr/>
        </p:nvSpPr>
        <p:spPr>
          <a:xfrm>
            <a:off x="9227314" y="2920534"/>
            <a:ext cx="324000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13375E45-92F5-F845-CAB0-322F4AEFE409}"/>
              </a:ext>
            </a:extLst>
          </p:cNvPr>
          <p:cNvSpPr/>
          <p:nvPr/>
        </p:nvSpPr>
        <p:spPr>
          <a:xfrm>
            <a:off x="9227314" y="3257656"/>
            <a:ext cx="324000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9B132F0F-65A9-95C3-D479-34DD7A0DA0D0}"/>
              </a:ext>
            </a:extLst>
          </p:cNvPr>
          <p:cNvSpPr/>
          <p:nvPr/>
        </p:nvSpPr>
        <p:spPr>
          <a:xfrm>
            <a:off x="5055746" y="4041315"/>
            <a:ext cx="699002" cy="288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순서 적용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D6E32DC2-99F3-10E5-6E88-555A471F9CF1}"/>
              </a:ext>
            </a:extLst>
          </p:cNvPr>
          <p:cNvSpPr/>
          <p:nvPr/>
        </p:nvSpPr>
        <p:spPr>
          <a:xfrm>
            <a:off x="2508912" y="4041315"/>
            <a:ext cx="698400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</a:p>
        </p:txBody>
      </p: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81CAE410-91E5-5E09-C024-7EA4C3CAEDFD}"/>
              </a:ext>
            </a:extLst>
          </p:cNvPr>
          <p:cNvSpPr/>
          <p:nvPr/>
        </p:nvSpPr>
        <p:spPr>
          <a:xfrm>
            <a:off x="5807378" y="4041315"/>
            <a:ext cx="698400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</a:p>
        </p:txBody>
      </p: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2569E2CD-4AB0-DBE3-9A29-C591832D0A08}"/>
              </a:ext>
            </a:extLst>
          </p:cNvPr>
          <p:cNvSpPr/>
          <p:nvPr/>
        </p:nvSpPr>
        <p:spPr>
          <a:xfrm>
            <a:off x="8321527" y="4041315"/>
            <a:ext cx="699002" cy="288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순서 적용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1" name="직사각형 210">
            <a:extLst>
              <a:ext uri="{FF2B5EF4-FFF2-40B4-BE49-F238E27FC236}">
                <a16:creationId xmlns:a16="http://schemas.microsoft.com/office/drawing/2014/main" id="{ABDBAC14-C7CB-AF21-1A2E-2E16FEF899D9}"/>
              </a:ext>
            </a:extLst>
          </p:cNvPr>
          <p:cNvSpPr/>
          <p:nvPr/>
        </p:nvSpPr>
        <p:spPr>
          <a:xfrm>
            <a:off x="9073159" y="4041315"/>
            <a:ext cx="698400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</a:p>
        </p:txBody>
      </p:sp>
      <p:sp>
        <p:nvSpPr>
          <p:cNvPr id="212" name="타원 211">
            <a:extLst>
              <a:ext uri="{FF2B5EF4-FFF2-40B4-BE49-F238E27FC236}">
                <a16:creationId xmlns:a16="http://schemas.microsoft.com/office/drawing/2014/main" id="{D40CB4CF-B252-FE4F-83D5-5267F6BCA3ED}"/>
              </a:ext>
            </a:extLst>
          </p:cNvPr>
          <p:cNvSpPr/>
          <p:nvPr/>
        </p:nvSpPr>
        <p:spPr>
          <a:xfrm>
            <a:off x="2493625" y="3949039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A6B104D8-CE8A-514F-40AC-B9D99D9543F4}"/>
              </a:ext>
            </a:extLst>
          </p:cNvPr>
          <p:cNvSpPr/>
          <p:nvPr/>
        </p:nvSpPr>
        <p:spPr>
          <a:xfrm>
            <a:off x="664655" y="35270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4A84F16-6718-F6EF-0C4C-6021770AACEA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F618C101-E5D5-1D9A-82C7-56DD118D9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76D134BB-F17A-7BFF-8BA7-785CC9BB1127}"/>
              </a:ext>
            </a:extLst>
          </p:cNvPr>
          <p:cNvSpPr/>
          <p:nvPr/>
        </p:nvSpPr>
        <p:spPr>
          <a:xfrm>
            <a:off x="-1690381" y="801483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2A22F2C-DDFD-23E8-73DE-C2B9114EB444}"/>
              </a:ext>
            </a:extLst>
          </p:cNvPr>
          <p:cNvSpPr/>
          <p:nvPr/>
        </p:nvSpPr>
        <p:spPr>
          <a:xfrm>
            <a:off x="-1690381" y="1101803"/>
            <a:ext cx="1467136" cy="241808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권한그룹 및 메뉴별 권한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권한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접속 아이피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(IP)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 관리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메뉴별 접속현황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거래처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 관리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F5D05A9-A423-759B-CF83-B200CF08634B}"/>
              </a:ext>
            </a:extLst>
          </p:cNvPr>
          <p:cNvSpPr/>
          <p:nvPr/>
        </p:nvSpPr>
        <p:spPr>
          <a:xfrm>
            <a:off x="-529236" y="801483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4633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C05E9-5F1B-40D1-05C9-A79212207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A601D45-A3A7-DBD0-BD35-A00A2AB0B03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2FEEB2-4505-9919-CB9E-4DFC22C9A037}"/>
              </a:ext>
            </a:extLst>
          </p:cNvPr>
          <p:cNvSpPr txBox="1"/>
          <p:nvPr/>
        </p:nvSpPr>
        <p:spPr>
          <a:xfrm>
            <a:off x="749224" y="25608"/>
            <a:ext cx="16337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 &gt; 코드 관리 &gt; 등록/수정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3C7121-22C2-AED9-D81E-8EBBE8968AF1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0E56D17-5BC3-EFD1-C60A-7698341B04CE}"/>
              </a:ext>
            </a:extLst>
          </p:cNvPr>
          <p:cNvSpPr/>
          <p:nvPr/>
        </p:nvSpPr>
        <p:spPr>
          <a:xfrm>
            <a:off x="192844" y="449793"/>
            <a:ext cx="4912518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코드 관리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A4F01F8-F391-C4F4-2E8A-A6D3F7AA6453}"/>
              </a:ext>
            </a:extLst>
          </p:cNvPr>
          <p:cNvSpPr/>
          <p:nvPr/>
        </p:nvSpPr>
        <p:spPr>
          <a:xfrm>
            <a:off x="192844" y="722706"/>
            <a:ext cx="4912518" cy="40384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DBFDD98-F56B-702D-D813-FA853BB2FCC1}"/>
              </a:ext>
            </a:extLst>
          </p:cNvPr>
          <p:cNvSpPr/>
          <p:nvPr/>
        </p:nvSpPr>
        <p:spPr>
          <a:xfrm>
            <a:off x="4815075" y="449793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7502058-8E24-0EE9-AB3F-D9585A8384C3}"/>
              </a:ext>
            </a:extLst>
          </p:cNvPr>
          <p:cNvSpPr/>
          <p:nvPr/>
        </p:nvSpPr>
        <p:spPr>
          <a:xfrm>
            <a:off x="4286056" y="4286446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77CF664-1DAF-9C06-837D-3BBFE2554EF6}"/>
              </a:ext>
            </a:extLst>
          </p:cNvPr>
          <p:cNvSpPr/>
          <p:nvPr/>
        </p:nvSpPr>
        <p:spPr>
          <a:xfrm>
            <a:off x="324064" y="819094"/>
            <a:ext cx="646011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 관리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5AF607B8-E9BD-9CAE-D549-85EACF844A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686345"/>
              </p:ext>
            </p:extLst>
          </p:nvPr>
        </p:nvGraphicFramePr>
        <p:xfrm>
          <a:off x="323027" y="1127952"/>
          <a:ext cx="4656853" cy="304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639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3395214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대분류 코드</a:t>
                      </a:r>
                      <a:endParaRPr lang="en-US" altLang="ko-KR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[001]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계약방식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710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중분류 코드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[001001] EPC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030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코드</a:t>
                      </a:r>
                      <a:endParaRPr lang="en-US" altLang="ko-KR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001001001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자동발번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코드명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 여부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●사용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(Y)   ○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(N)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708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코드 설명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361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2026.06.09 15:23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872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126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최종수정일시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 10:45(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588875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7D91B23-C951-53CC-7A72-6DCF2DF0C439}"/>
              </a:ext>
            </a:extLst>
          </p:cNvPr>
          <p:cNvSpPr/>
          <p:nvPr/>
        </p:nvSpPr>
        <p:spPr>
          <a:xfrm>
            <a:off x="1665060" y="2196238"/>
            <a:ext cx="1739768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간략히 작성해 주세요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3DA7A56-B169-7331-79AE-8B92E4B05CBD}"/>
              </a:ext>
            </a:extLst>
          </p:cNvPr>
          <p:cNvSpPr/>
          <p:nvPr/>
        </p:nvSpPr>
        <p:spPr>
          <a:xfrm>
            <a:off x="1671895" y="2872891"/>
            <a:ext cx="3060340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간략히 작성해 주세요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EB47176-701B-0EEC-1295-70F7D15D9D07}"/>
              </a:ext>
            </a:extLst>
          </p:cNvPr>
          <p:cNvSpPr/>
          <p:nvPr/>
        </p:nvSpPr>
        <p:spPr>
          <a:xfrm>
            <a:off x="3531592" y="4286446"/>
            <a:ext cx="698400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6E3268B-7911-72C4-9922-E139100637CA}"/>
              </a:ext>
            </a:extLst>
          </p:cNvPr>
          <p:cNvSpPr/>
          <p:nvPr/>
        </p:nvSpPr>
        <p:spPr>
          <a:xfrm>
            <a:off x="2777128" y="4286446"/>
            <a:ext cx="698400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</a:p>
        </p:txBody>
      </p:sp>
    </p:spTree>
    <p:extLst>
      <p:ext uri="{BB962C8B-B14F-4D97-AF65-F5344CB8AC3E}">
        <p14:creationId xmlns:p14="http://schemas.microsoft.com/office/powerpoint/2010/main" val="3157331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DB94C-DA50-FCC4-4768-DEE0AC482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0D4B2F7-2D52-A4D3-FD91-520FD0B1802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1508C6-D3C7-DAD4-84B0-1DE2276DD458}"/>
              </a:ext>
            </a:extLst>
          </p:cNvPr>
          <p:cNvSpPr txBox="1"/>
          <p:nvPr/>
        </p:nvSpPr>
        <p:spPr>
          <a:xfrm>
            <a:off x="749224" y="25608"/>
            <a:ext cx="119295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현황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74D275B-12DC-6295-F4D4-75E639091138}"/>
              </a:ext>
            </a:extLst>
          </p:cNvPr>
          <p:cNvSpPr/>
          <p:nvPr/>
        </p:nvSpPr>
        <p:spPr>
          <a:xfrm>
            <a:off x="164468" y="403565"/>
            <a:ext cx="63639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D4C18D83-D003-70F4-6D89-B32FA851D76C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39EA6E8-9A76-16BF-7645-E535BC1B33B9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86D010A-CB21-FB97-5FBE-78EA1142E6A1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6858A7-F067-61E4-FA33-BD8A73AAFFC0}"/>
              </a:ext>
            </a:extLst>
          </p:cNvPr>
          <p:cNvSpPr txBox="1"/>
          <p:nvPr/>
        </p:nvSpPr>
        <p:spPr>
          <a:xfrm>
            <a:off x="8049344" y="584684"/>
            <a:ext cx="1856656" cy="1197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페이지 로딩 시 최초 검색 세팅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기준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월별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월별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당해 연도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2026.01~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현재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연월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 선택에 따라 적합한 컨트롤 노출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A38CD9E-FFA7-EF27-CD25-4C4FC9E3848A}"/>
              </a:ext>
            </a:extLst>
          </p:cNvPr>
          <p:cNvSpPr/>
          <p:nvPr/>
        </p:nvSpPr>
        <p:spPr>
          <a:xfrm>
            <a:off x="164468" y="855892"/>
            <a:ext cx="7740859" cy="124609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D6762B-686A-4F7C-4F88-4676D45A3B30}"/>
              </a:ext>
            </a:extLst>
          </p:cNvPr>
          <p:cNvSpPr txBox="1"/>
          <p:nvPr/>
        </p:nvSpPr>
        <p:spPr>
          <a:xfrm>
            <a:off x="302000" y="1251876"/>
            <a:ext cx="18373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:                                     ~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9B9E5B-4B76-CA2C-0678-1D6B33A14946}"/>
              </a:ext>
            </a:extLst>
          </p:cNvPr>
          <p:cNvSpPr txBox="1"/>
          <p:nvPr/>
        </p:nvSpPr>
        <p:spPr>
          <a:xfrm>
            <a:off x="302000" y="969841"/>
            <a:ext cx="20329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              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일별  ○ 월별  ○ 연도별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5AB78AF-7508-A4EF-4B53-5E3E5ACFA9CD}"/>
              </a:ext>
            </a:extLst>
          </p:cNvPr>
          <p:cNvSpPr/>
          <p:nvPr/>
        </p:nvSpPr>
        <p:spPr>
          <a:xfrm>
            <a:off x="3116796" y="1790168"/>
            <a:ext cx="518212" cy="17989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조회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A31DA0E-2B78-6CE3-18DA-DA2204CD0B94}"/>
              </a:ext>
            </a:extLst>
          </p:cNvPr>
          <p:cNvSpPr/>
          <p:nvPr/>
        </p:nvSpPr>
        <p:spPr>
          <a:xfrm>
            <a:off x="1071229" y="1272141"/>
            <a:ext cx="686564" cy="1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날짜 선택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C2BD5D7-6013-9B42-074C-13603D10AC3F}"/>
              </a:ext>
            </a:extLst>
          </p:cNvPr>
          <p:cNvSpPr/>
          <p:nvPr/>
        </p:nvSpPr>
        <p:spPr>
          <a:xfrm>
            <a:off x="1748191" y="1272141"/>
            <a:ext cx="180000" cy="18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BE952D2-6B92-4968-1E4B-C82E93483CC0}"/>
              </a:ext>
            </a:extLst>
          </p:cNvPr>
          <p:cNvSpPr/>
          <p:nvPr/>
        </p:nvSpPr>
        <p:spPr>
          <a:xfrm>
            <a:off x="2090609" y="1272141"/>
            <a:ext cx="686564" cy="1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날짜 선택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E688CFA-B7AF-50B1-0C6E-C050C889FEF4}"/>
              </a:ext>
            </a:extLst>
          </p:cNvPr>
          <p:cNvSpPr/>
          <p:nvPr/>
        </p:nvSpPr>
        <p:spPr>
          <a:xfrm>
            <a:off x="2767571" y="1272141"/>
            <a:ext cx="180000" cy="18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EDE401-322C-5107-93F0-B79AF299DA9E}"/>
              </a:ext>
            </a:extLst>
          </p:cNvPr>
          <p:cNvSpPr txBox="1"/>
          <p:nvPr/>
        </p:nvSpPr>
        <p:spPr>
          <a:xfrm>
            <a:off x="302000" y="1510891"/>
            <a:ext cx="26452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월별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:                                                                 ~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598208E-9798-6C80-B464-D4A2568B95CF}"/>
              </a:ext>
            </a:extLst>
          </p:cNvPr>
          <p:cNvSpPr/>
          <p:nvPr/>
        </p:nvSpPr>
        <p:spPr>
          <a:xfrm>
            <a:off x="1071229" y="1527548"/>
            <a:ext cx="676962" cy="1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연도 선택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5B3FAD4-B395-1973-BBA3-31E712BB1EBC}"/>
              </a:ext>
            </a:extLst>
          </p:cNvPr>
          <p:cNvSpPr/>
          <p:nvPr/>
        </p:nvSpPr>
        <p:spPr>
          <a:xfrm>
            <a:off x="1748191" y="1527548"/>
            <a:ext cx="180000" cy="18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E58E6D3-C2F9-E2ED-5CDD-DD597F493715}"/>
              </a:ext>
            </a:extLst>
          </p:cNvPr>
          <p:cNvSpPr/>
          <p:nvPr/>
        </p:nvSpPr>
        <p:spPr>
          <a:xfrm>
            <a:off x="1989453" y="1527548"/>
            <a:ext cx="686564" cy="1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월 선택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853ACA9-2679-5F18-F921-BEF6E31814E6}"/>
              </a:ext>
            </a:extLst>
          </p:cNvPr>
          <p:cNvSpPr/>
          <p:nvPr/>
        </p:nvSpPr>
        <p:spPr>
          <a:xfrm>
            <a:off x="2492765" y="1527548"/>
            <a:ext cx="180000" cy="18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C558CC1-DF75-2742-1528-875444BBD391}"/>
              </a:ext>
            </a:extLst>
          </p:cNvPr>
          <p:cNvSpPr/>
          <p:nvPr/>
        </p:nvSpPr>
        <p:spPr>
          <a:xfrm>
            <a:off x="2916164" y="1527548"/>
            <a:ext cx="676962" cy="1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연도 선택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FA088DE-47D2-66B0-38DD-F605E8514522}"/>
              </a:ext>
            </a:extLst>
          </p:cNvPr>
          <p:cNvSpPr/>
          <p:nvPr/>
        </p:nvSpPr>
        <p:spPr>
          <a:xfrm>
            <a:off x="3593126" y="1527548"/>
            <a:ext cx="180000" cy="18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2C717F2-7B63-0690-6AD9-DE47BF35AA71}"/>
              </a:ext>
            </a:extLst>
          </p:cNvPr>
          <p:cNvSpPr/>
          <p:nvPr/>
        </p:nvSpPr>
        <p:spPr>
          <a:xfrm>
            <a:off x="3834388" y="1527548"/>
            <a:ext cx="686564" cy="1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월 선택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B968B02-DBF5-E35D-09CE-4483AA07D423}"/>
              </a:ext>
            </a:extLst>
          </p:cNvPr>
          <p:cNvSpPr/>
          <p:nvPr/>
        </p:nvSpPr>
        <p:spPr>
          <a:xfrm>
            <a:off x="4337700" y="1527548"/>
            <a:ext cx="180000" cy="18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F6371A-47DA-A28F-D59D-D1DD2B1553DB}"/>
              </a:ext>
            </a:extLst>
          </p:cNvPr>
          <p:cNvSpPr txBox="1"/>
          <p:nvPr/>
        </p:nvSpPr>
        <p:spPr>
          <a:xfrm>
            <a:off x="302000" y="1769906"/>
            <a:ext cx="19046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연도별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:                                    ~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28F4C7C-B657-E639-F14A-A78FD77B2888}"/>
              </a:ext>
            </a:extLst>
          </p:cNvPr>
          <p:cNvSpPr/>
          <p:nvPr/>
        </p:nvSpPr>
        <p:spPr>
          <a:xfrm>
            <a:off x="1071229" y="1790170"/>
            <a:ext cx="676962" cy="1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연도 선택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9196A4D-5B9D-D50E-9112-18DA45D02533}"/>
              </a:ext>
            </a:extLst>
          </p:cNvPr>
          <p:cNvSpPr/>
          <p:nvPr/>
        </p:nvSpPr>
        <p:spPr>
          <a:xfrm>
            <a:off x="1748191" y="1790172"/>
            <a:ext cx="180000" cy="18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DF23B00-91C4-E925-7A33-C3AAF528C661}"/>
              </a:ext>
            </a:extLst>
          </p:cNvPr>
          <p:cNvSpPr/>
          <p:nvPr/>
        </p:nvSpPr>
        <p:spPr>
          <a:xfrm>
            <a:off x="2178939" y="1790170"/>
            <a:ext cx="676962" cy="1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연도 선택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263942B-7FCA-89F9-0DD0-E3687582B38B}"/>
              </a:ext>
            </a:extLst>
          </p:cNvPr>
          <p:cNvSpPr/>
          <p:nvPr/>
        </p:nvSpPr>
        <p:spPr>
          <a:xfrm>
            <a:off x="2855901" y="1790172"/>
            <a:ext cx="180000" cy="18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8C76BD7-8B37-AC16-F36C-78CE3B4F4D98}"/>
              </a:ext>
            </a:extLst>
          </p:cNvPr>
          <p:cNvSpPr/>
          <p:nvPr/>
        </p:nvSpPr>
        <p:spPr>
          <a:xfrm>
            <a:off x="4594731" y="1527603"/>
            <a:ext cx="518212" cy="17989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조회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CFC84F2-2EEC-B995-73FE-CB55F6DA92D3}"/>
              </a:ext>
            </a:extLst>
          </p:cNvPr>
          <p:cNvSpPr/>
          <p:nvPr/>
        </p:nvSpPr>
        <p:spPr>
          <a:xfrm>
            <a:off x="3012283" y="1272196"/>
            <a:ext cx="518212" cy="17989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조회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729999E0-3A8E-73F5-178E-9EC3222EBB06}"/>
              </a:ext>
            </a:extLst>
          </p:cNvPr>
          <p:cNvCxnSpPr>
            <a:cxnSpLocks/>
          </p:cNvCxnSpPr>
          <p:nvPr/>
        </p:nvCxnSpPr>
        <p:spPr>
          <a:xfrm>
            <a:off x="802096" y="2641025"/>
            <a:ext cx="6743192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E565889-C4A1-6E63-6614-0709EF5613E2}"/>
              </a:ext>
            </a:extLst>
          </p:cNvPr>
          <p:cNvSpPr txBox="1"/>
          <p:nvPr/>
        </p:nvSpPr>
        <p:spPr>
          <a:xfrm>
            <a:off x="323393" y="2449985"/>
            <a:ext cx="3722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150</a:t>
            </a:r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02FB6B-F0E6-476C-BA30-BB6B0BB2095C}"/>
              </a:ext>
            </a:extLst>
          </p:cNvPr>
          <p:cNvSpPr txBox="1"/>
          <p:nvPr/>
        </p:nvSpPr>
        <p:spPr>
          <a:xfrm>
            <a:off x="323393" y="2857629"/>
            <a:ext cx="3722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100</a:t>
            </a:r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400F855-BD08-59F7-E456-197CCD949295}"/>
              </a:ext>
            </a:extLst>
          </p:cNvPr>
          <p:cNvSpPr txBox="1"/>
          <p:nvPr/>
        </p:nvSpPr>
        <p:spPr>
          <a:xfrm>
            <a:off x="385911" y="3304317"/>
            <a:ext cx="3097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50</a:t>
            </a:r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3EBFDBF-75BC-B830-DDF7-BC19447D0E70}"/>
              </a:ext>
            </a:extLst>
          </p:cNvPr>
          <p:cNvSpPr txBox="1"/>
          <p:nvPr/>
        </p:nvSpPr>
        <p:spPr>
          <a:xfrm>
            <a:off x="448427" y="3740491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</a:t>
            </a:r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0E38FB4-54AE-BD6E-F037-1D64897FBA8D}"/>
              </a:ext>
            </a:extLst>
          </p:cNvPr>
          <p:cNvCxnSpPr>
            <a:cxnSpLocks/>
          </p:cNvCxnSpPr>
          <p:nvPr/>
        </p:nvCxnSpPr>
        <p:spPr>
          <a:xfrm>
            <a:off x="802096" y="3088367"/>
            <a:ext cx="6743192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505BB1C4-CB9F-25AE-F0B5-3BE6B38F2072}"/>
              </a:ext>
            </a:extLst>
          </p:cNvPr>
          <p:cNvCxnSpPr>
            <a:cxnSpLocks/>
          </p:cNvCxnSpPr>
          <p:nvPr/>
        </p:nvCxnSpPr>
        <p:spPr>
          <a:xfrm>
            <a:off x="802096" y="3535709"/>
            <a:ext cx="6743192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CB0C74E4-187F-7A65-FD30-A3BF5B315E4D}"/>
              </a:ext>
            </a:extLst>
          </p:cNvPr>
          <p:cNvCxnSpPr>
            <a:cxnSpLocks/>
          </p:cNvCxnSpPr>
          <p:nvPr/>
        </p:nvCxnSpPr>
        <p:spPr>
          <a:xfrm>
            <a:off x="802096" y="3983050"/>
            <a:ext cx="6743192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6A56EEC6-65CC-0348-E9B1-B8C3F7862193}"/>
              </a:ext>
            </a:extLst>
          </p:cNvPr>
          <p:cNvSpPr txBox="1"/>
          <p:nvPr/>
        </p:nvSpPr>
        <p:spPr>
          <a:xfrm>
            <a:off x="819484" y="4028770"/>
            <a:ext cx="5902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2026.01</a:t>
            </a:r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C5EC891E-3B4F-E01B-F363-3FA8327839B5}"/>
              </a:ext>
            </a:extLst>
          </p:cNvPr>
          <p:cNvCxnSpPr>
            <a:cxnSpLocks/>
          </p:cNvCxnSpPr>
          <p:nvPr/>
        </p:nvCxnSpPr>
        <p:spPr>
          <a:xfrm flipV="1">
            <a:off x="1112142" y="2363862"/>
            <a:ext cx="0" cy="1626808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99F5E023-ADA0-74D0-4E32-EE4232D7CCEB}"/>
              </a:ext>
            </a:extLst>
          </p:cNvPr>
          <p:cNvCxnSpPr>
            <a:cxnSpLocks/>
          </p:cNvCxnSpPr>
          <p:nvPr/>
        </p:nvCxnSpPr>
        <p:spPr>
          <a:xfrm flipV="1">
            <a:off x="1887946" y="2363862"/>
            <a:ext cx="0" cy="1626808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6E9F2D37-DAD3-72A5-85F8-70EBA5ADB362}"/>
              </a:ext>
            </a:extLst>
          </p:cNvPr>
          <p:cNvCxnSpPr>
            <a:cxnSpLocks/>
          </p:cNvCxnSpPr>
          <p:nvPr/>
        </p:nvCxnSpPr>
        <p:spPr>
          <a:xfrm flipV="1">
            <a:off x="2663750" y="2363862"/>
            <a:ext cx="0" cy="1626808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4494B380-AFEF-8D8F-CBB8-F26414DEB18A}"/>
              </a:ext>
            </a:extLst>
          </p:cNvPr>
          <p:cNvCxnSpPr>
            <a:cxnSpLocks/>
          </p:cNvCxnSpPr>
          <p:nvPr/>
        </p:nvCxnSpPr>
        <p:spPr>
          <a:xfrm flipV="1">
            <a:off x="3439554" y="2363862"/>
            <a:ext cx="0" cy="1626808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1B1801BA-14DB-739C-5A96-0B190D9FA092}"/>
              </a:ext>
            </a:extLst>
          </p:cNvPr>
          <p:cNvCxnSpPr>
            <a:cxnSpLocks/>
          </p:cNvCxnSpPr>
          <p:nvPr/>
        </p:nvCxnSpPr>
        <p:spPr>
          <a:xfrm flipV="1">
            <a:off x="4215358" y="2363862"/>
            <a:ext cx="0" cy="1626808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07548C1E-53F8-6246-9788-94CFDCDFB9FA}"/>
              </a:ext>
            </a:extLst>
          </p:cNvPr>
          <p:cNvCxnSpPr>
            <a:cxnSpLocks/>
          </p:cNvCxnSpPr>
          <p:nvPr/>
        </p:nvCxnSpPr>
        <p:spPr>
          <a:xfrm flipV="1">
            <a:off x="4991162" y="2363862"/>
            <a:ext cx="0" cy="1626808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F8ABAC6-F52B-4A14-209C-9D94C643C17E}"/>
              </a:ext>
            </a:extLst>
          </p:cNvPr>
          <p:cNvCxnSpPr>
            <a:cxnSpLocks/>
          </p:cNvCxnSpPr>
          <p:nvPr/>
        </p:nvCxnSpPr>
        <p:spPr>
          <a:xfrm flipV="1">
            <a:off x="5766966" y="2363862"/>
            <a:ext cx="0" cy="1626808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7F8D12D8-D8F8-810D-950B-D0D7E3883A01}"/>
              </a:ext>
            </a:extLst>
          </p:cNvPr>
          <p:cNvCxnSpPr>
            <a:cxnSpLocks/>
          </p:cNvCxnSpPr>
          <p:nvPr/>
        </p:nvCxnSpPr>
        <p:spPr>
          <a:xfrm flipV="1">
            <a:off x="6542770" y="2363862"/>
            <a:ext cx="0" cy="1626808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91FE087B-4681-A57E-748F-942C40E66B61}"/>
              </a:ext>
            </a:extLst>
          </p:cNvPr>
          <p:cNvCxnSpPr>
            <a:cxnSpLocks/>
          </p:cNvCxnSpPr>
          <p:nvPr/>
        </p:nvCxnSpPr>
        <p:spPr>
          <a:xfrm flipV="1">
            <a:off x="7318577" y="2363862"/>
            <a:ext cx="0" cy="1626808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34218864-C4D0-15EA-AF53-39DB7C133875}"/>
              </a:ext>
            </a:extLst>
          </p:cNvPr>
          <p:cNvSpPr txBox="1"/>
          <p:nvPr/>
        </p:nvSpPr>
        <p:spPr>
          <a:xfrm>
            <a:off x="1594981" y="4028770"/>
            <a:ext cx="5902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2026.02</a:t>
            </a:r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12BBC91-E81F-9A97-4F20-50678B1CE246}"/>
              </a:ext>
            </a:extLst>
          </p:cNvPr>
          <p:cNvSpPr txBox="1"/>
          <p:nvPr/>
        </p:nvSpPr>
        <p:spPr>
          <a:xfrm>
            <a:off x="2370478" y="4028770"/>
            <a:ext cx="5902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2026.03</a:t>
            </a:r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2EA17FF-F318-4F0E-80A0-0B3229B0FA35}"/>
              </a:ext>
            </a:extLst>
          </p:cNvPr>
          <p:cNvSpPr txBox="1"/>
          <p:nvPr/>
        </p:nvSpPr>
        <p:spPr>
          <a:xfrm>
            <a:off x="3145975" y="4028770"/>
            <a:ext cx="5902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2026.04</a:t>
            </a:r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DB849DE-F502-1A09-0FEB-FDFECE593D6B}"/>
              </a:ext>
            </a:extLst>
          </p:cNvPr>
          <p:cNvSpPr txBox="1"/>
          <p:nvPr/>
        </p:nvSpPr>
        <p:spPr>
          <a:xfrm>
            <a:off x="3921472" y="4028770"/>
            <a:ext cx="5902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2026.05</a:t>
            </a:r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252AF82-8B1A-354A-14B8-10B69FD7FA16}"/>
              </a:ext>
            </a:extLst>
          </p:cNvPr>
          <p:cNvSpPr txBox="1"/>
          <p:nvPr/>
        </p:nvSpPr>
        <p:spPr>
          <a:xfrm>
            <a:off x="4696969" y="4028770"/>
            <a:ext cx="5902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2026.06</a:t>
            </a:r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176CF1F-A2A6-A693-C8F9-BDFF65B4FBF2}"/>
              </a:ext>
            </a:extLst>
          </p:cNvPr>
          <p:cNvSpPr txBox="1"/>
          <p:nvPr/>
        </p:nvSpPr>
        <p:spPr>
          <a:xfrm>
            <a:off x="5472466" y="4028770"/>
            <a:ext cx="5902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2026.07</a:t>
            </a:r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5840FB3-0EC5-D45D-023C-C1E1C6D1B165}"/>
              </a:ext>
            </a:extLst>
          </p:cNvPr>
          <p:cNvSpPr txBox="1"/>
          <p:nvPr/>
        </p:nvSpPr>
        <p:spPr>
          <a:xfrm>
            <a:off x="6247963" y="4028770"/>
            <a:ext cx="5902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2026.08</a:t>
            </a:r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461CFB1-D308-C9D8-9C2B-2261A0D5ECC2}"/>
              </a:ext>
            </a:extLst>
          </p:cNvPr>
          <p:cNvSpPr txBox="1"/>
          <p:nvPr/>
        </p:nvSpPr>
        <p:spPr>
          <a:xfrm>
            <a:off x="7023463" y="4028770"/>
            <a:ext cx="5902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2026.09</a:t>
            </a:r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74" name="표 73">
            <a:extLst>
              <a:ext uri="{FF2B5EF4-FFF2-40B4-BE49-F238E27FC236}">
                <a16:creationId xmlns:a16="http://schemas.microsoft.com/office/drawing/2014/main" id="{13718FDC-5302-6995-2999-600C55BD6396}"/>
              </a:ext>
            </a:extLst>
          </p:cNvPr>
          <p:cNvGraphicFramePr>
            <a:graphicFrameLocks noGrp="1"/>
          </p:cNvGraphicFramePr>
          <p:nvPr/>
        </p:nvGraphicFramePr>
        <p:xfrm>
          <a:off x="213615" y="4415150"/>
          <a:ext cx="7619705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2574">
                  <a:extLst>
                    <a:ext uri="{9D8B030D-6E8A-4147-A177-3AD203B41FA5}">
                      <a16:colId xmlns:a16="http://schemas.microsoft.com/office/drawing/2014/main" val="208075167"/>
                    </a:ext>
                  </a:extLst>
                </a:gridCol>
                <a:gridCol w="557921">
                  <a:extLst>
                    <a:ext uri="{9D8B030D-6E8A-4147-A177-3AD203B41FA5}">
                      <a16:colId xmlns:a16="http://schemas.microsoft.com/office/drawing/2014/main" val="2021087341"/>
                    </a:ext>
                  </a:extLst>
                </a:gridCol>
                <a:gridCol w="557921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  <a:gridCol w="557921">
                  <a:extLst>
                    <a:ext uri="{9D8B030D-6E8A-4147-A177-3AD203B41FA5}">
                      <a16:colId xmlns:a16="http://schemas.microsoft.com/office/drawing/2014/main" val="853081776"/>
                    </a:ext>
                  </a:extLst>
                </a:gridCol>
                <a:gridCol w="557921">
                  <a:extLst>
                    <a:ext uri="{9D8B030D-6E8A-4147-A177-3AD203B41FA5}">
                      <a16:colId xmlns:a16="http://schemas.microsoft.com/office/drawing/2014/main" val="3883398641"/>
                    </a:ext>
                  </a:extLst>
                </a:gridCol>
                <a:gridCol w="557921">
                  <a:extLst>
                    <a:ext uri="{9D8B030D-6E8A-4147-A177-3AD203B41FA5}">
                      <a16:colId xmlns:a16="http://schemas.microsoft.com/office/drawing/2014/main" val="1414344931"/>
                    </a:ext>
                  </a:extLst>
                </a:gridCol>
                <a:gridCol w="557921">
                  <a:extLst>
                    <a:ext uri="{9D8B030D-6E8A-4147-A177-3AD203B41FA5}">
                      <a16:colId xmlns:a16="http://schemas.microsoft.com/office/drawing/2014/main" val="3608819054"/>
                    </a:ext>
                  </a:extLst>
                </a:gridCol>
                <a:gridCol w="557921">
                  <a:extLst>
                    <a:ext uri="{9D8B030D-6E8A-4147-A177-3AD203B41FA5}">
                      <a16:colId xmlns:a16="http://schemas.microsoft.com/office/drawing/2014/main" val="2151884859"/>
                    </a:ext>
                  </a:extLst>
                </a:gridCol>
                <a:gridCol w="557921">
                  <a:extLst>
                    <a:ext uri="{9D8B030D-6E8A-4147-A177-3AD203B41FA5}">
                      <a16:colId xmlns:a16="http://schemas.microsoft.com/office/drawing/2014/main" val="4206520933"/>
                    </a:ext>
                  </a:extLst>
                </a:gridCol>
                <a:gridCol w="557921">
                  <a:extLst>
                    <a:ext uri="{9D8B030D-6E8A-4147-A177-3AD203B41FA5}">
                      <a16:colId xmlns:a16="http://schemas.microsoft.com/office/drawing/2014/main" val="2794404448"/>
                    </a:ext>
                  </a:extLst>
                </a:gridCol>
                <a:gridCol w="557921">
                  <a:extLst>
                    <a:ext uri="{9D8B030D-6E8A-4147-A177-3AD203B41FA5}">
                      <a16:colId xmlns:a16="http://schemas.microsoft.com/office/drawing/2014/main" val="1651982928"/>
                    </a:ext>
                  </a:extLst>
                </a:gridCol>
                <a:gridCol w="557921">
                  <a:extLst>
                    <a:ext uri="{9D8B030D-6E8A-4147-A177-3AD203B41FA5}">
                      <a16:colId xmlns:a16="http://schemas.microsoft.com/office/drawing/2014/main" val="3258386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2026.01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2026.02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2026.04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2026.05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2026.06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2026.07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2026.08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2026.09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2026.10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2026.11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786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로그인 횟수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1,523</a:t>
                      </a: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1,523</a:t>
                      </a: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1,523</a:t>
                      </a: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1,523</a:t>
                      </a: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1,523</a:t>
                      </a: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1,523</a:t>
                      </a: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1,523</a:t>
                      </a: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1,523</a:t>
                      </a: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1,523</a:t>
                      </a: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1,523</a:t>
                      </a: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1,523</a:t>
                      </a: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</a:tbl>
          </a:graphicData>
        </a:graphic>
      </p:graphicFrame>
      <p:sp>
        <p:nvSpPr>
          <p:cNvPr id="75" name="직사각형 74">
            <a:extLst>
              <a:ext uri="{FF2B5EF4-FFF2-40B4-BE49-F238E27FC236}">
                <a16:creationId xmlns:a16="http://schemas.microsoft.com/office/drawing/2014/main" id="{FE7CCAA0-4D50-98B1-F146-9BA274285828}"/>
              </a:ext>
            </a:extLst>
          </p:cNvPr>
          <p:cNvSpPr/>
          <p:nvPr/>
        </p:nvSpPr>
        <p:spPr>
          <a:xfrm>
            <a:off x="213614" y="5093810"/>
            <a:ext cx="7619706" cy="137774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441133D3-1C50-D25C-F55E-584B8DA0CC1A}"/>
              </a:ext>
            </a:extLst>
          </p:cNvPr>
          <p:cNvSpPr/>
          <p:nvPr/>
        </p:nvSpPr>
        <p:spPr>
          <a:xfrm>
            <a:off x="1810579" y="5093810"/>
            <a:ext cx="2159762" cy="137774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E16F7C1D-BDF1-9169-0737-D2EBA69BD4E1}"/>
              </a:ext>
            </a:extLst>
          </p:cNvPr>
          <p:cNvSpPr/>
          <p:nvPr/>
        </p:nvSpPr>
        <p:spPr>
          <a:xfrm>
            <a:off x="1052215" y="3635233"/>
            <a:ext cx="137771" cy="137771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B7D36C11-8E0D-1224-4070-CC22B1D0D590}"/>
              </a:ext>
            </a:extLst>
          </p:cNvPr>
          <p:cNvSpPr/>
          <p:nvPr/>
        </p:nvSpPr>
        <p:spPr>
          <a:xfrm>
            <a:off x="1819058" y="2682290"/>
            <a:ext cx="137771" cy="137771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EF5EB866-D17C-4113-D9DD-7DA6C8E775C6}"/>
              </a:ext>
            </a:extLst>
          </p:cNvPr>
          <p:cNvCxnSpPr>
            <a:stCxn id="79" idx="6"/>
            <a:endCxn id="80" idx="2"/>
          </p:cNvCxnSpPr>
          <p:nvPr/>
        </p:nvCxnSpPr>
        <p:spPr>
          <a:xfrm flipV="1">
            <a:off x="1189986" y="2751176"/>
            <a:ext cx="629072" cy="952943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타원 81">
            <a:extLst>
              <a:ext uri="{FF2B5EF4-FFF2-40B4-BE49-F238E27FC236}">
                <a16:creationId xmlns:a16="http://schemas.microsoft.com/office/drawing/2014/main" id="{C8F3260E-2631-274D-34D1-4AF1CF07A076}"/>
              </a:ext>
            </a:extLst>
          </p:cNvPr>
          <p:cNvSpPr/>
          <p:nvPr/>
        </p:nvSpPr>
        <p:spPr>
          <a:xfrm>
            <a:off x="2595175" y="3016138"/>
            <a:ext cx="137771" cy="137771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EC067828-8975-0F03-7905-A759EA42BF4A}"/>
              </a:ext>
            </a:extLst>
          </p:cNvPr>
          <p:cNvSpPr/>
          <p:nvPr/>
        </p:nvSpPr>
        <p:spPr>
          <a:xfrm>
            <a:off x="3371292" y="3187672"/>
            <a:ext cx="137771" cy="137771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40D58112-E8A2-B21E-8DCE-22A72176DE1B}"/>
              </a:ext>
            </a:extLst>
          </p:cNvPr>
          <p:cNvSpPr/>
          <p:nvPr/>
        </p:nvSpPr>
        <p:spPr>
          <a:xfrm>
            <a:off x="4147409" y="2965444"/>
            <a:ext cx="137771" cy="137771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3D227389-F438-A1D5-06DC-DB9597C77A25}"/>
              </a:ext>
            </a:extLst>
          </p:cNvPr>
          <p:cNvSpPr/>
          <p:nvPr/>
        </p:nvSpPr>
        <p:spPr>
          <a:xfrm>
            <a:off x="4923526" y="2491415"/>
            <a:ext cx="137771" cy="137771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0F41A076-1481-FE98-5D3A-BF4D39F1DE32}"/>
              </a:ext>
            </a:extLst>
          </p:cNvPr>
          <p:cNvSpPr/>
          <p:nvPr/>
        </p:nvSpPr>
        <p:spPr>
          <a:xfrm>
            <a:off x="5699643" y="3381990"/>
            <a:ext cx="137771" cy="137771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FB524F47-4EA6-F5C3-521B-E0348E04BA0A}"/>
              </a:ext>
            </a:extLst>
          </p:cNvPr>
          <p:cNvSpPr/>
          <p:nvPr/>
        </p:nvSpPr>
        <p:spPr>
          <a:xfrm>
            <a:off x="6475760" y="2917431"/>
            <a:ext cx="137771" cy="137771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F0821B27-BBF2-62CD-C280-1C5DDE818B83}"/>
              </a:ext>
            </a:extLst>
          </p:cNvPr>
          <p:cNvSpPr/>
          <p:nvPr/>
        </p:nvSpPr>
        <p:spPr>
          <a:xfrm>
            <a:off x="7251879" y="2902904"/>
            <a:ext cx="137771" cy="137771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AC5D98EE-A9B7-7BC2-7A42-C0A9B601A031}"/>
              </a:ext>
            </a:extLst>
          </p:cNvPr>
          <p:cNvCxnSpPr>
            <a:cxnSpLocks/>
            <a:stCxn id="80" idx="6"/>
            <a:endCxn id="82" idx="2"/>
          </p:cNvCxnSpPr>
          <p:nvPr/>
        </p:nvCxnSpPr>
        <p:spPr>
          <a:xfrm>
            <a:off x="1956829" y="2751176"/>
            <a:ext cx="638346" cy="333848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175869FB-3CCD-5C3B-86EF-EBA250D7A540}"/>
              </a:ext>
            </a:extLst>
          </p:cNvPr>
          <p:cNvCxnSpPr>
            <a:cxnSpLocks/>
            <a:stCxn id="82" idx="6"/>
            <a:endCxn id="83" idx="2"/>
          </p:cNvCxnSpPr>
          <p:nvPr/>
        </p:nvCxnSpPr>
        <p:spPr>
          <a:xfrm>
            <a:off x="2732946" y="3085024"/>
            <a:ext cx="638346" cy="171534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44A9D30D-1FB9-722B-F9B9-D35D96C76108}"/>
              </a:ext>
            </a:extLst>
          </p:cNvPr>
          <p:cNvCxnSpPr>
            <a:cxnSpLocks/>
            <a:stCxn id="83" idx="6"/>
            <a:endCxn id="84" idx="2"/>
          </p:cNvCxnSpPr>
          <p:nvPr/>
        </p:nvCxnSpPr>
        <p:spPr>
          <a:xfrm flipV="1">
            <a:off x="3509063" y="3034330"/>
            <a:ext cx="638346" cy="222228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9F046F39-7C05-F150-518D-3C400DD708CE}"/>
              </a:ext>
            </a:extLst>
          </p:cNvPr>
          <p:cNvCxnSpPr>
            <a:cxnSpLocks/>
            <a:stCxn id="84" idx="6"/>
            <a:endCxn id="85" idx="2"/>
          </p:cNvCxnSpPr>
          <p:nvPr/>
        </p:nvCxnSpPr>
        <p:spPr>
          <a:xfrm flipV="1">
            <a:off x="4285180" y="2560301"/>
            <a:ext cx="638346" cy="474029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3EA38B4B-9711-052C-89C7-690C9E82222B}"/>
              </a:ext>
            </a:extLst>
          </p:cNvPr>
          <p:cNvCxnSpPr>
            <a:cxnSpLocks/>
            <a:stCxn id="85" idx="6"/>
            <a:endCxn id="86" idx="2"/>
          </p:cNvCxnSpPr>
          <p:nvPr/>
        </p:nvCxnSpPr>
        <p:spPr>
          <a:xfrm>
            <a:off x="5061297" y="2560301"/>
            <a:ext cx="638346" cy="890575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968BE498-3FB8-24C8-6885-6957F54EF02A}"/>
              </a:ext>
            </a:extLst>
          </p:cNvPr>
          <p:cNvCxnSpPr>
            <a:cxnSpLocks/>
            <a:stCxn id="86" idx="6"/>
            <a:endCxn id="87" idx="2"/>
          </p:cNvCxnSpPr>
          <p:nvPr/>
        </p:nvCxnSpPr>
        <p:spPr>
          <a:xfrm flipV="1">
            <a:off x="5837414" y="2986317"/>
            <a:ext cx="638346" cy="464559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CB2838D6-F81E-DD30-798A-5A8F8F758F27}"/>
              </a:ext>
            </a:extLst>
          </p:cNvPr>
          <p:cNvCxnSpPr>
            <a:cxnSpLocks/>
            <a:stCxn id="87" idx="6"/>
            <a:endCxn id="88" idx="2"/>
          </p:cNvCxnSpPr>
          <p:nvPr/>
        </p:nvCxnSpPr>
        <p:spPr>
          <a:xfrm flipV="1">
            <a:off x="6613531" y="2971790"/>
            <a:ext cx="638348" cy="14527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DA12E76F-8969-46A0-5A29-D4962D7667BE}"/>
              </a:ext>
            </a:extLst>
          </p:cNvPr>
          <p:cNvSpPr/>
          <p:nvPr/>
        </p:nvSpPr>
        <p:spPr>
          <a:xfrm>
            <a:off x="5187794" y="2254272"/>
            <a:ext cx="1835670" cy="2950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rtlCol="0" anchor="ctr"/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횟수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(2026.02) : 1,523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98" name="연결선: 꺾임 97">
            <a:extLst>
              <a:ext uri="{FF2B5EF4-FFF2-40B4-BE49-F238E27FC236}">
                <a16:creationId xmlns:a16="http://schemas.microsoft.com/office/drawing/2014/main" id="{073EAD4A-6EF8-CED7-871F-2E01169FECE1}"/>
              </a:ext>
            </a:extLst>
          </p:cNvPr>
          <p:cNvCxnSpPr>
            <a:cxnSpLocks/>
            <a:stCxn id="96" idx="1"/>
            <a:endCxn id="85" idx="0"/>
          </p:cNvCxnSpPr>
          <p:nvPr/>
        </p:nvCxnSpPr>
        <p:spPr>
          <a:xfrm rot="10800000" flipV="1">
            <a:off x="4992412" y="2401797"/>
            <a:ext cx="195382" cy="89617"/>
          </a:xfrm>
          <a:prstGeom prst="bentConnector2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타원 99">
            <a:extLst>
              <a:ext uri="{FF2B5EF4-FFF2-40B4-BE49-F238E27FC236}">
                <a16:creationId xmlns:a16="http://schemas.microsoft.com/office/drawing/2014/main" id="{C8A6AA49-6011-F0F1-98BF-75546674F4B5}"/>
              </a:ext>
            </a:extLst>
          </p:cNvPr>
          <p:cNvSpPr/>
          <p:nvPr/>
        </p:nvSpPr>
        <p:spPr>
          <a:xfrm>
            <a:off x="77038" y="76470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03D7F89A-2823-530A-F970-F30F8E4650F4}"/>
              </a:ext>
            </a:extLst>
          </p:cNvPr>
          <p:cNvSpPr/>
          <p:nvPr/>
        </p:nvSpPr>
        <p:spPr>
          <a:xfrm>
            <a:off x="6919608" y="5352694"/>
            <a:ext cx="913712" cy="215441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(Excel)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BC4101D-F30E-6E85-EF88-816CCAC11643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46" name="Picture 1">
            <a:extLst>
              <a:ext uri="{FF2B5EF4-FFF2-40B4-BE49-F238E27FC236}">
                <a16:creationId xmlns:a16="http://schemas.microsoft.com/office/drawing/2014/main" id="{D7483D74-2D5A-FC72-D5E5-74046D58D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1" name="직사각형 50">
            <a:extLst>
              <a:ext uri="{FF2B5EF4-FFF2-40B4-BE49-F238E27FC236}">
                <a16:creationId xmlns:a16="http://schemas.microsoft.com/office/drawing/2014/main" id="{6C915927-5045-51A2-B999-42E8668C8CA9}"/>
              </a:ext>
            </a:extLst>
          </p:cNvPr>
          <p:cNvSpPr/>
          <p:nvPr/>
        </p:nvSpPr>
        <p:spPr>
          <a:xfrm>
            <a:off x="-1690381" y="801483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67CC0585-6F48-4242-9AE4-EF834D11ECF7}"/>
              </a:ext>
            </a:extLst>
          </p:cNvPr>
          <p:cNvSpPr/>
          <p:nvPr/>
        </p:nvSpPr>
        <p:spPr>
          <a:xfrm>
            <a:off x="-1690381" y="1101803"/>
            <a:ext cx="1467136" cy="241808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권한그룹 및 메뉴별 권한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권한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접속 아이피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(IP)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메뉴별 접속현황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거래처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 관리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30C60FE0-6592-042A-8EE8-9B03C57C0555}"/>
              </a:ext>
            </a:extLst>
          </p:cNvPr>
          <p:cNvSpPr/>
          <p:nvPr/>
        </p:nvSpPr>
        <p:spPr>
          <a:xfrm>
            <a:off x="-529236" y="801483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8392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F61DD-9647-9B60-AE00-3CA1A5D32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FF6CAC5-FB1F-6C12-DB8A-3F2F6CF2042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F89620-9E22-3DCD-9870-F14A19CD28F6}"/>
              </a:ext>
            </a:extLst>
          </p:cNvPr>
          <p:cNvSpPr txBox="1"/>
          <p:nvPr/>
        </p:nvSpPr>
        <p:spPr>
          <a:xfrm>
            <a:off x="749224" y="25608"/>
            <a:ext cx="138531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메뉴별 접속현황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CBE2F7-66A2-C8BE-FBEA-2521594AB4B5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39E7951-A8EE-4DCE-DED9-6F272D40B4E9}"/>
              </a:ext>
            </a:extLst>
          </p:cNvPr>
          <p:cNvSpPr/>
          <p:nvPr/>
        </p:nvSpPr>
        <p:spPr>
          <a:xfrm>
            <a:off x="164468" y="403565"/>
            <a:ext cx="87684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메뉴별 접속현황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4F1DA776-04D3-A812-EB39-7144F50DCC82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FEE63B2-2AFB-27EB-B40F-B8712D98DC61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3C930F1-FDC2-162D-48FC-D452BD95315F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64" name="표 63">
            <a:extLst>
              <a:ext uri="{FF2B5EF4-FFF2-40B4-BE49-F238E27FC236}">
                <a16:creationId xmlns:a16="http://schemas.microsoft.com/office/drawing/2014/main" id="{0FB3831E-76F5-A377-5F41-25D8D5161096}"/>
              </a:ext>
            </a:extLst>
          </p:cNvPr>
          <p:cNvGraphicFramePr>
            <a:graphicFrameLocks noGrp="1"/>
          </p:cNvGraphicFramePr>
          <p:nvPr/>
        </p:nvGraphicFramePr>
        <p:xfrm>
          <a:off x="164468" y="1385109"/>
          <a:ext cx="7740859" cy="337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9898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259898">
                  <a:extLst>
                    <a:ext uri="{9D8B030D-6E8A-4147-A177-3AD203B41FA5}">
                      <a16:colId xmlns:a16="http://schemas.microsoft.com/office/drawing/2014/main" val="2264476566"/>
                    </a:ext>
                  </a:extLst>
                </a:gridCol>
                <a:gridCol w="2259898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961165">
                  <a:extLst>
                    <a:ext uri="{9D8B030D-6E8A-4147-A177-3AD203B41FA5}">
                      <a16:colId xmlns:a16="http://schemas.microsoft.com/office/drawing/2014/main" val="3785616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대메뉴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(1Depth)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중메뉴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(2Depth)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소메뉴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(3Depth)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메뉴 접속 횟수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대메뉴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(1Depth)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명 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#1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중메뉴(2Depth)명 #1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16,528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└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중메뉴(2Depth)명 #2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16,528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└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중메뉴(2Depth)명 #3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소메뉴(3Depth)명 #1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16,528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└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└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소메뉴(3Depth)명 #2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16,528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946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└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중메뉴(2Depth)명 #4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16,528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7777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└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중메뉴(2Depth)명 #5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16,528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118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대메뉴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(1Depth)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명 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#2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중메뉴(2Depth)명 #1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16,528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583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└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중메뉴(2Depth)명 #2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16,528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647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└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중메뉴(2Depth)명 #3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16,528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071129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D35A6007-2D03-A9DE-27D1-841E02C7DDBF}"/>
              </a:ext>
            </a:extLst>
          </p:cNvPr>
          <p:cNvSpPr/>
          <p:nvPr/>
        </p:nvSpPr>
        <p:spPr>
          <a:xfrm>
            <a:off x="164468" y="834983"/>
            <a:ext cx="7740859" cy="46343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A561FC7-2086-50F4-8B8D-B57D52CB16D5}"/>
              </a:ext>
            </a:extLst>
          </p:cNvPr>
          <p:cNvSpPr/>
          <p:nvPr/>
        </p:nvSpPr>
        <p:spPr>
          <a:xfrm>
            <a:off x="7010977" y="961167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BEFB4B-5579-34F3-96AB-F0293370A0DB}"/>
              </a:ext>
            </a:extLst>
          </p:cNvPr>
          <p:cNvSpPr txBox="1"/>
          <p:nvPr/>
        </p:nvSpPr>
        <p:spPr>
          <a:xfrm>
            <a:off x="235850" y="961165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 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접속일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CE28381-C748-4659-71A8-7C3AAB8A09D9}"/>
              </a:ext>
            </a:extLst>
          </p:cNvPr>
          <p:cNvSpPr/>
          <p:nvPr/>
        </p:nvSpPr>
        <p:spPr>
          <a:xfrm>
            <a:off x="4683665" y="96116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959AFCE-56E4-01E2-58E0-A84F3E2A7E16}"/>
              </a:ext>
            </a:extLst>
          </p:cNvPr>
          <p:cNvSpPr/>
          <p:nvPr/>
        </p:nvSpPr>
        <p:spPr>
          <a:xfrm>
            <a:off x="5493916" y="961167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95DDE64-30BF-5ECE-4829-15BD25427609}"/>
              </a:ext>
            </a:extLst>
          </p:cNvPr>
          <p:cNvSpPr/>
          <p:nvPr/>
        </p:nvSpPr>
        <p:spPr>
          <a:xfrm>
            <a:off x="5907171" y="96116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94900C7-0B67-C750-CE61-52E456847AED}"/>
              </a:ext>
            </a:extLst>
          </p:cNvPr>
          <p:cNvSpPr/>
          <p:nvPr/>
        </p:nvSpPr>
        <p:spPr>
          <a:xfrm>
            <a:off x="6717422" y="961167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596F87F-31BF-61F6-38FE-390836949973}"/>
              </a:ext>
            </a:extLst>
          </p:cNvPr>
          <p:cNvSpPr/>
          <p:nvPr/>
        </p:nvSpPr>
        <p:spPr>
          <a:xfrm>
            <a:off x="1393889" y="96116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596E2C9-FF33-9438-1982-0307077D4468}"/>
              </a:ext>
            </a:extLst>
          </p:cNvPr>
          <p:cNvSpPr/>
          <p:nvPr/>
        </p:nvSpPr>
        <p:spPr>
          <a:xfrm>
            <a:off x="1942458" y="96116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C0A0EC3-BC74-75C9-928F-06CF353FF5FB}"/>
              </a:ext>
            </a:extLst>
          </p:cNvPr>
          <p:cNvSpPr/>
          <p:nvPr/>
        </p:nvSpPr>
        <p:spPr>
          <a:xfrm>
            <a:off x="2491027" y="96116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1956BD1-DB24-5A88-B7C1-CC027A81D340}"/>
              </a:ext>
            </a:extLst>
          </p:cNvPr>
          <p:cNvSpPr/>
          <p:nvPr/>
        </p:nvSpPr>
        <p:spPr>
          <a:xfrm>
            <a:off x="3039596" y="96116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7CDAD3A-C5FF-90B2-CCE6-DE45364853E8}"/>
              </a:ext>
            </a:extLst>
          </p:cNvPr>
          <p:cNvSpPr/>
          <p:nvPr/>
        </p:nvSpPr>
        <p:spPr>
          <a:xfrm>
            <a:off x="3588165" y="96116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2F3DD28-9D97-6065-2362-B278F988AE53}"/>
              </a:ext>
            </a:extLst>
          </p:cNvPr>
          <p:cNvSpPr/>
          <p:nvPr/>
        </p:nvSpPr>
        <p:spPr>
          <a:xfrm>
            <a:off x="4136733" y="96116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B2ED899-472D-7939-AB70-9F9E6996C8A4}"/>
              </a:ext>
            </a:extLst>
          </p:cNvPr>
          <p:cNvSpPr/>
          <p:nvPr/>
        </p:nvSpPr>
        <p:spPr>
          <a:xfrm>
            <a:off x="6986895" y="4851001"/>
            <a:ext cx="913712" cy="215441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(Excel)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2F7288-2F7D-B3D7-9208-C07DF378F43E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09D1C78D-0037-6ADC-108A-BEE3E57B2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2229B456-480E-5B83-FAF9-77488BC3D693}"/>
              </a:ext>
            </a:extLst>
          </p:cNvPr>
          <p:cNvSpPr/>
          <p:nvPr/>
        </p:nvSpPr>
        <p:spPr>
          <a:xfrm>
            <a:off x="-1690381" y="801483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69A510F-1185-4540-5AD5-BB3FF9E2A89C}"/>
              </a:ext>
            </a:extLst>
          </p:cNvPr>
          <p:cNvSpPr/>
          <p:nvPr/>
        </p:nvSpPr>
        <p:spPr>
          <a:xfrm>
            <a:off x="-1690381" y="1101803"/>
            <a:ext cx="1467136" cy="241808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권한그룹 및 메뉴별 권한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권한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접속 아이피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(IP)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메뉴별 접속현황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거래처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 관리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E4AFA31-C060-866E-2E3D-CF9E00924DD5}"/>
              </a:ext>
            </a:extLst>
          </p:cNvPr>
          <p:cNvSpPr/>
          <p:nvPr/>
        </p:nvSpPr>
        <p:spPr>
          <a:xfrm>
            <a:off x="-529236" y="801483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08022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F9345-0333-9377-D584-85C647F9C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F3CD16D-2F28-35BE-B721-D1CAD52EAF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D6C9E6-E110-42FC-38E9-9ED839CC56C8}"/>
              </a:ext>
            </a:extLst>
          </p:cNvPr>
          <p:cNvSpPr txBox="1"/>
          <p:nvPr/>
        </p:nvSpPr>
        <p:spPr>
          <a:xfrm>
            <a:off x="749224" y="25608"/>
            <a:ext cx="119295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거래처 관리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FC3192-B7F7-03B5-0A52-15943A5153BE}"/>
              </a:ext>
            </a:extLst>
          </p:cNvPr>
          <p:cNvSpPr txBox="1"/>
          <p:nvPr/>
        </p:nvSpPr>
        <p:spPr>
          <a:xfrm>
            <a:off x="8049344" y="584684"/>
            <a:ext cx="1856656" cy="717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거래처 코드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거래처명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사업자등록번호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대표자명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ERP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거래처 정보 연동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919D530-D32B-AA87-CE76-385CC8D0AB50}"/>
              </a:ext>
            </a:extLst>
          </p:cNvPr>
          <p:cNvSpPr/>
          <p:nvPr/>
        </p:nvSpPr>
        <p:spPr>
          <a:xfrm>
            <a:off x="164468" y="403565"/>
            <a:ext cx="63639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거래처 관리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BBD8A959-26C1-1268-B783-05BC3CCF41F5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AFF2D71-F729-4955-ABB1-1241A11EBE60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A9BE2D6B-5DDC-F1A1-9CFA-09D6AF96FEB9}"/>
              </a:ext>
            </a:extLst>
          </p:cNvPr>
          <p:cNvSpPr/>
          <p:nvPr/>
        </p:nvSpPr>
        <p:spPr>
          <a:xfrm>
            <a:off x="164468" y="834983"/>
            <a:ext cx="7740859" cy="93783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942882C4-EFB8-4768-0FFD-01E1F4E2351D}"/>
              </a:ext>
            </a:extLst>
          </p:cNvPr>
          <p:cNvSpPr/>
          <p:nvPr/>
        </p:nvSpPr>
        <p:spPr>
          <a:xfrm>
            <a:off x="1408523" y="1422883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6DAAAE1A-18C1-5717-47C9-F5038348C19E}"/>
              </a:ext>
            </a:extLst>
          </p:cNvPr>
          <p:cNvSpPr/>
          <p:nvPr/>
        </p:nvSpPr>
        <p:spPr>
          <a:xfrm>
            <a:off x="2218774" y="1422885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40BD4947-F8CE-1B1C-6B19-C171B62387B0}"/>
              </a:ext>
            </a:extLst>
          </p:cNvPr>
          <p:cNvSpPr/>
          <p:nvPr/>
        </p:nvSpPr>
        <p:spPr>
          <a:xfrm>
            <a:off x="2533911" y="1422883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C512FB99-B025-F02C-E757-8039A6C635AC}"/>
              </a:ext>
            </a:extLst>
          </p:cNvPr>
          <p:cNvSpPr/>
          <p:nvPr/>
        </p:nvSpPr>
        <p:spPr>
          <a:xfrm>
            <a:off x="6241919" y="1422885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17043C6-EF49-9AFE-6066-7867BE07FA05}"/>
              </a:ext>
            </a:extLst>
          </p:cNvPr>
          <p:cNvSpPr txBox="1"/>
          <p:nvPr/>
        </p:nvSpPr>
        <p:spPr>
          <a:xfrm>
            <a:off x="235850" y="941488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 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등록일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A0A6E7B-A8A4-F8C3-6E6E-61B09C9E00F8}"/>
              </a:ext>
            </a:extLst>
          </p:cNvPr>
          <p:cNvSpPr txBox="1"/>
          <p:nvPr/>
        </p:nvSpPr>
        <p:spPr>
          <a:xfrm>
            <a:off x="235849" y="1204748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휴/폐업 구분 :               ●전체      ○정상   ○휴업   ○폐업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9A3E2BD-943A-461E-529B-BEC5E86ED029}"/>
              </a:ext>
            </a:extLst>
          </p:cNvPr>
          <p:cNvSpPr txBox="1"/>
          <p:nvPr/>
        </p:nvSpPr>
        <p:spPr>
          <a:xfrm>
            <a:off x="235849" y="1430028"/>
            <a:ext cx="75617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216BA984-C268-BF5F-B5CF-8C164EF9212D}"/>
              </a:ext>
            </a:extLst>
          </p:cNvPr>
          <p:cNvSpPr/>
          <p:nvPr/>
        </p:nvSpPr>
        <p:spPr>
          <a:xfrm>
            <a:off x="4683665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6DF7E0EB-0932-3011-6C75-10F5CE932A35}"/>
              </a:ext>
            </a:extLst>
          </p:cNvPr>
          <p:cNvSpPr/>
          <p:nvPr/>
        </p:nvSpPr>
        <p:spPr>
          <a:xfrm>
            <a:off x="5493916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F54C63A6-D4D0-D095-26E2-E93319461AFE}"/>
              </a:ext>
            </a:extLst>
          </p:cNvPr>
          <p:cNvSpPr/>
          <p:nvPr/>
        </p:nvSpPr>
        <p:spPr>
          <a:xfrm>
            <a:off x="5907171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512E37D9-FB4B-1589-A6B2-C826F4409297}"/>
              </a:ext>
            </a:extLst>
          </p:cNvPr>
          <p:cNvSpPr/>
          <p:nvPr/>
        </p:nvSpPr>
        <p:spPr>
          <a:xfrm>
            <a:off x="6717422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CEC8723B-E44E-236B-3C1B-B09764F75784}"/>
              </a:ext>
            </a:extLst>
          </p:cNvPr>
          <p:cNvSpPr/>
          <p:nvPr/>
        </p:nvSpPr>
        <p:spPr>
          <a:xfrm>
            <a:off x="1393889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4B9D4E9D-CF6F-8E13-C624-06AFA0FDD809}"/>
              </a:ext>
            </a:extLst>
          </p:cNvPr>
          <p:cNvSpPr/>
          <p:nvPr/>
        </p:nvSpPr>
        <p:spPr>
          <a:xfrm>
            <a:off x="1942458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F1275561-CE8E-98AF-DA4C-EA283959A9C7}"/>
              </a:ext>
            </a:extLst>
          </p:cNvPr>
          <p:cNvSpPr/>
          <p:nvPr/>
        </p:nvSpPr>
        <p:spPr>
          <a:xfrm>
            <a:off x="2491027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1F21AAE3-D5C7-58B3-42D7-750909315481}"/>
              </a:ext>
            </a:extLst>
          </p:cNvPr>
          <p:cNvSpPr/>
          <p:nvPr/>
        </p:nvSpPr>
        <p:spPr>
          <a:xfrm>
            <a:off x="3039596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E04D7E17-882F-9A31-8909-A6028FF91251}"/>
              </a:ext>
            </a:extLst>
          </p:cNvPr>
          <p:cNvSpPr/>
          <p:nvPr/>
        </p:nvSpPr>
        <p:spPr>
          <a:xfrm>
            <a:off x="3588165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510053E3-D165-C2FD-CD3B-2A8A58047285}"/>
              </a:ext>
            </a:extLst>
          </p:cNvPr>
          <p:cNvSpPr/>
          <p:nvPr/>
        </p:nvSpPr>
        <p:spPr>
          <a:xfrm>
            <a:off x="4136733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D8E0C5FC-5AC9-9BD7-8883-18E106BF48B7}"/>
              </a:ext>
            </a:extLst>
          </p:cNvPr>
          <p:cNvSpPr/>
          <p:nvPr/>
        </p:nvSpPr>
        <p:spPr>
          <a:xfrm>
            <a:off x="6867117" y="1901705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67B19585-48FE-07C8-08C6-B7DF0F5873C0}"/>
              </a:ext>
            </a:extLst>
          </p:cNvPr>
          <p:cNvSpPr/>
          <p:nvPr/>
        </p:nvSpPr>
        <p:spPr>
          <a:xfrm>
            <a:off x="7688579" y="1901705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6272D9B-9062-FA87-9E89-2719B17B5982}"/>
              </a:ext>
            </a:extLst>
          </p:cNvPr>
          <p:cNvSpPr txBox="1"/>
          <p:nvPr/>
        </p:nvSpPr>
        <p:spPr>
          <a:xfrm>
            <a:off x="181506" y="1888187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55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30" name="표 129">
            <a:extLst>
              <a:ext uri="{FF2B5EF4-FFF2-40B4-BE49-F238E27FC236}">
                <a16:creationId xmlns:a16="http://schemas.microsoft.com/office/drawing/2014/main" id="{4D63A922-D031-8343-A777-76AC4C0C0833}"/>
              </a:ext>
            </a:extLst>
          </p:cNvPr>
          <p:cNvGraphicFramePr>
            <a:graphicFrameLocks noGrp="1"/>
          </p:cNvGraphicFramePr>
          <p:nvPr/>
        </p:nvGraphicFramePr>
        <p:xfrm>
          <a:off x="181506" y="2195020"/>
          <a:ext cx="8903609" cy="202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30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77400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648825">
                  <a:extLst>
                    <a:ext uri="{9D8B030D-6E8A-4147-A177-3AD203B41FA5}">
                      <a16:colId xmlns:a16="http://schemas.microsoft.com/office/drawing/2014/main" val="2264476566"/>
                    </a:ext>
                  </a:extLst>
                </a:gridCol>
                <a:gridCol w="864725">
                  <a:extLst>
                    <a:ext uri="{9D8B030D-6E8A-4147-A177-3AD203B41FA5}">
                      <a16:colId xmlns:a16="http://schemas.microsoft.com/office/drawing/2014/main" val="1900745260"/>
                    </a:ext>
                  </a:extLst>
                </a:gridCol>
                <a:gridCol w="802813">
                  <a:extLst>
                    <a:ext uri="{9D8B030D-6E8A-4147-A177-3AD203B41FA5}">
                      <a16:colId xmlns:a16="http://schemas.microsoft.com/office/drawing/2014/main" val="1854595363"/>
                    </a:ext>
                  </a:extLst>
                </a:gridCol>
                <a:gridCol w="2385550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  <a:gridCol w="715500">
                  <a:extLst>
                    <a:ext uri="{9D8B030D-6E8A-4147-A177-3AD203B41FA5}">
                      <a16:colId xmlns:a16="http://schemas.microsoft.com/office/drawing/2014/main" val="2048789610"/>
                    </a:ext>
                  </a:extLst>
                </a:gridCol>
                <a:gridCol w="773841">
                  <a:extLst>
                    <a:ext uri="{9D8B030D-6E8A-4147-A177-3AD203B41FA5}">
                      <a16:colId xmlns:a16="http://schemas.microsoft.com/office/drawing/2014/main" val="378561692"/>
                    </a:ext>
                  </a:extLst>
                </a:gridCol>
                <a:gridCol w="451609">
                  <a:extLst>
                    <a:ext uri="{9D8B030D-6E8A-4147-A177-3AD203B41FA5}">
                      <a16:colId xmlns:a16="http://schemas.microsoft.com/office/drawing/2014/main" val="1778558004"/>
                    </a:ext>
                  </a:extLst>
                </a:gridCol>
                <a:gridCol w="1071046">
                  <a:extLst>
                    <a:ext uri="{9D8B030D-6E8A-4147-A177-3AD203B41FA5}">
                      <a16:colId xmlns:a16="http://schemas.microsoft.com/office/drawing/2014/main" val="7009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거래처 코드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거래처명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사업자등록번호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대표자명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거래 담당자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휴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폐업 구분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최종수정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02663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sng" dirty="0" err="1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큐비트엑스</a:t>
                      </a:r>
                      <a:endParaRPr lang="ko-KR" altLang="en-US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349-83-01795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이홍태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윤지병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 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(leehee43@naver.com, 010-6844-2810)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정상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2026. 06. 09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sng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sng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sng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946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sng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773569"/>
                  </a:ext>
                </a:extLst>
              </a:tr>
            </a:tbl>
          </a:graphicData>
        </a:graphic>
      </p:graphicFrame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8888557F-F971-353D-CA6E-84ED37D3C427}"/>
              </a:ext>
            </a:extLst>
          </p:cNvPr>
          <p:cNvGrpSpPr/>
          <p:nvPr/>
        </p:nvGrpSpPr>
        <p:grpSpPr>
          <a:xfrm>
            <a:off x="2004219" y="4313255"/>
            <a:ext cx="4025354" cy="216024"/>
            <a:chOff x="2992062" y="4869160"/>
            <a:chExt cx="4025354" cy="216024"/>
          </a:xfrm>
        </p:grpSpPr>
        <p:sp>
          <p:nvSpPr>
            <p:cNvPr id="132" name="직사각형 131">
              <a:extLst>
                <a:ext uri="{FF2B5EF4-FFF2-40B4-BE49-F238E27FC236}">
                  <a16:creationId xmlns:a16="http://schemas.microsoft.com/office/drawing/2014/main" id="{FD238D3E-09A9-A9B7-733F-07EE1D9E9A66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140578F2-E61E-15F6-36F4-33427DA6BC6A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81EBAB65-EDCC-6BBE-211B-5FD89F32AFBC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7A9C1E52-813A-6419-D9BD-41583719750E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3DE97E1B-827C-93C1-5054-D39733848BF5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6157FF2C-BCF0-82D7-3026-177584E9C41A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AD35E9F3-3508-CA71-E442-6BA77C2EAA3E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21145AB7-9D11-2A0D-0263-9EC0C684646C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409C7CE3-F744-F04D-01BA-6CD8E2304FE0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1" name="직사각형 140">
              <a:extLst>
                <a:ext uri="{FF2B5EF4-FFF2-40B4-BE49-F238E27FC236}">
                  <a16:creationId xmlns:a16="http://schemas.microsoft.com/office/drawing/2014/main" id="{B564D6AC-95D9-8523-EC69-72B8D792D606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2" name="직사각형 141">
              <a:extLst>
                <a:ext uri="{FF2B5EF4-FFF2-40B4-BE49-F238E27FC236}">
                  <a16:creationId xmlns:a16="http://schemas.microsoft.com/office/drawing/2014/main" id="{0497E1CF-6211-B649-E85B-C4233ADDD353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6380ADE3-540E-65B9-5869-F013B0AB83AE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12A4FDF1-269D-92B0-CE8B-899AA8B16E67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2562554C-8BFA-F2BC-89DD-627C076A95E5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146" name="타원 145">
            <a:extLst>
              <a:ext uri="{FF2B5EF4-FFF2-40B4-BE49-F238E27FC236}">
                <a16:creationId xmlns:a16="http://schemas.microsoft.com/office/drawing/2014/main" id="{65901AA1-A889-628E-A70B-094EB75060FA}"/>
              </a:ext>
            </a:extLst>
          </p:cNvPr>
          <p:cNvSpPr/>
          <p:nvPr/>
        </p:nvSpPr>
        <p:spPr>
          <a:xfrm>
            <a:off x="1241786" y="1315919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3EBE1C30-55C4-56A0-5D6E-9D7E71408764}"/>
              </a:ext>
            </a:extLst>
          </p:cNvPr>
          <p:cNvSpPr txBox="1"/>
          <p:nvPr/>
        </p:nvSpPr>
        <p:spPr>
          <a:xfrm>
            <a:off x="7634856" y="25608"/>
            <a:ext cx="8098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ERP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연동 필요</a:t>
            </a: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2C16A301-763E-F075-D1FB-1DBF2C5885C0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226B39A-7B05-9289-7794-7C0CD1A3A02D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BF6566EF-96F4-D549-3B46-FACBA1A12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9B98D43E-D62B-52DE-C890-074A5FB8859C}"/>
              </a:ext>
            </a:extLst>
          </p:cNvPr>
          <p:cNvSpPr/>
          <p:nvPr/>
        </p:nvSpPr>
        <p:spPr>
          <a:xfrm>
            <a:off x="-1690381" y="801483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B86A1A2-BB91-4BF2-4D56-A4B8E8A30D34}"/>
              </a:ext>
            </a:extLst>
          </p:cNvPr>
          <p:cNvSpPr/>
          <p:nvPr/>
        </p:nvSpPr>
        <p:spPr>
          <a:xfrm>
            <a:off x="-1690381" y="1101803"/>
            <a:ext cx="1467136" cy="241808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권한그룹 및 메뉴별 권한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권한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접속 아이피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(IP)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메뉴별 접속현황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거래처 관리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 관리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B63D8BA-F6F0-8DC4-96FA-40874716A0CE}"/>
              </a:ext>
            </a:extLst>
          </p:cNvPr>
          <p:cNvSpPr/>
          <p:nvPr/>
        </p:nvSpPr>
        <p:spPr>
          <a:xfrm>
            <a:off x="-529236" y="801483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2909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69FD4-D820-5120-6286-2BC38A291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152C6D0-68CA-2475-7811-FF5BBCE73E4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332B25-0BA6-AC5A-5D24-C9FEFAAE3B87}"/>
              </a:ext>
            </a:extLst>
          </p:cNvPr>
          <p:cNvSpPr txBox="1"/>
          <p:nvPr/>
        </p:nvSpPr>
        <p:spPr>
          <a:xfrm>
            <a:off x="749224" y="25608"/>
            <a:ext cx="119295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거래처 관리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0FB4FE-D3F1-A5B3-995A-B1DFFBAE2980}"/>
              </a:ext>
            </a:extLst>
          </p:cNvPr>
          <p:cNvSpPr txBox="1"/>
          <p:nvPr/>
        </p:nvSpPr>
        <p:spPr>
          <a:xfrm>
            <a:off x="8049344" y="584684"/>
            <a:ext cx="1856656" cy="55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신용등급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: AAA, AA+, AA, AA-, A+, A, A-, BBB+, BBB, BBB-, BB+, BB, BB-, B+, B, B-, CCC, CC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79F7C9C-C462-1B70-AA5F-7D3F517CAFEF}"/>
              </a:ext>
            </a:extLst>
          </p:cNvPr>
          <p:cNvSpPr/>
          <p:nvPr/>
        </p:nvSpPr>
        <p:spPr>
          <a:xfrm>
            <a:off x="164468" y="403565"/>
            <a:ext cx="63639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거래처 관리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5FD8D427-87A8-CCA7-3AB0-EC4FD6296764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2F503E2-CCDF-0A17-874F-94D5CD28953F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B54B4754-6047-AA5C-672A-12FC4E9B57DA}"/>
              </a:ext>
            </a:extLst>
          </p:cNvPr>
          <p:cNvSpPr/>
          <p:nvPr/>
        </p:nvSpPr>
        <p:spPr>
          <a:xfrm>
            <a:off x="195586" y="818451"/>
            <a:ext cx="1586973" cy="230832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기본정보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(ERP에서 관리됩니다.)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95" name="표 94">
            <a:extLst>
              <a:ext uri="{FF2B5EF4-FFF2-40B4-BE49-F238E27FC236}">
                <a16:creationId xmlns:a16="http://schemas.microsoft.com/office/drawing/2014/main" id="{E5DE11CE-5F04-CD44-5F99-312D9B966FFE}"/>
              </a:ext>
            </a:extLst>
          </p:cNvPr>
          <p:cNvGraphicFramePr>
            <a:graphicFrameLocks noGrp="1"/>
          </p:cNvGraphicFramePr>
          <p:nvPr/>
        </p:nvGraphicFramePr>
        <p:xfrm>
          <a:off x="173094" y="1109847"/>
          <a:ext cx="7692235" cy="236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508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527155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거래처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코드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02663</a:t>
                      </a:r>
                      <a:endParaRPr lang="ko-KR" altLang="en-US" sz="800" b="0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거래처명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큐비트엑스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사업자등록번호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349-83-01795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90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대표자명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이홍태</a:t>
                      </a: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윤지병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559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주소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서울특별시 송파구 중대로 </a:t>
                      </a: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113(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대한전기협회 </a:t>
                      </a: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층</a:t>
                      </a: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816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거래 담당자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(leehee43@naver.com,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010-6844-2810)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589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휴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폐업 구분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정상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2433182"/>
                  </a:ext>
                </a:extLst>
              </a:tr>
            </a:tbl>
          </a:graphicData>
        </a:graphic>
      </p:graphicFrame>
      <p:sp>
        <p:nvSpPr>
          <p:cNvPr id="96" name="직사각형 95">
            <a:extLst>
              <a:ext uri="{FF2B5EF4-FFF2-40B4-BE49-F238E27FC236}">
                <a16:creationId xmlns:a16="http://schemas.microsoft.com/office/drawing/2014/main" id="{E2A2B85E-8D8E-7F68-5290-2E9401F94545}"/>
              </a:ext>
            </a:extLst>
          </p:cNvPr>
          <p:cNvSpPr/>
          <p:nvPr/>
        </p:nvSpPr>
        <p:spPr>
          <a:xfrm>
            <a:off x="5891749" y="835703"/>
            <a:ext cx="1963679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거래처 기본정보는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ERP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에서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관리됩니다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99429B-418A-07C5-BA88-93B40CE9AD63}"/>
              </a:ext>
            </a:extLst>
          </p:cNvPr>
          <p:cNvSpPr txBox="1"/>
          <p:nvPr/>
        </p:nvSpPr>
        <p:spPr>
          <a:xfrm>
            <a:off x="7634856" y="25608"/>
            <a:ext cx="8098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ERP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연동 필요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E83B3488-6661-410F-69A0-D445977B53F2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1" name="Picture 1">
            <a:extLst>
              <a:ext uri="{FF2B5EF4-FFF2-40B4-BE49-F238E27FC236}">
                <a16:creationId xmlns:a16="http://schemas.microsoft.com/office/drawing/2014/main" id="{32FB8130-BE64-A7F0-0F03-AD36A1EF5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1D8817B6-CC06-E1DA-4E71-E4BEBDB376A7}"/>
              </a:ext>
            </a:extLst>
          </p:cNvPr>
          <p:cNvSpPr/>
          <p:nvPr/>
        </p:nvSpPr>
        <p:spPr>
          <a:xfrm>
            <a:off x="-1690381" y="801483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E483811-BDC0-3D93-1CE7-55155C66BF39}"/>
              </a:ext>
            </a:extLst>
          </p:cNvPr>
          <p:cNvSpPr/>
          <p:nvPr/>
        </p:nvSpPr>
        <p:spPr>
          <a:xfrm>
            <a:off x="-1690381" y="1101803"/>
            <a:ext cx="1467136" cy="241808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권한그룹 및 메뉴별 권한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권한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접속 아이피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(IP)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메뉴별 접속현황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거래처 관리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 관리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47C22FA-B73C-771D-7F7F-E8029B5BE1EB}"/>
              </a:ext>
            </a:extLst>
          </p:cNvPr>
          <p:cNvSpPr/>
          <p:nvPr/>
        </p:nvSpPr>
        <p:spPr>
          <a:xfrm>
            <a:off x="-529236" y="801483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FE3D305-E942-D00E-4332-EE262B5D84A1}"/>
              </a:ext>
            </a:extLst>
          </p:cNvPr>
          <p:cNvSpPr/>
          <p:nvPr/>
        </p:nvSpPr>
        <p:spPr>
          <a:xfrm>
            <a:off x="189008" y="3575769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18BFC76-D0BE-97C3-1C76-BBA865A69767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93786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A26FC-7441-6853-1F76-5DA49FCB9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9A3EF59-1FA0-314D-C2BC-3589CFE7AA5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990E44-EB47-7D2D-6CA3-D4D21A80AAE7}"/>
              </a:ext>
            </a:extLst>
          </p:cNvPr>
          <p:cNvSpPr txBox="1"/>
          <p:nvPr/>
        </p:nvSpPr>
        <p:spPr>
          <a:xfrm>
            <a:off x="749224" y="25608"/>
            <a:ext cx="12891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관리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44281A-B232-07BC-1531-5A2DF791546C}"/>
              </a:ext>
            </a:extLst>
          </p:cNvPr>
          <p:cNvSpPr txBox="1"/>
          <p:nvPr/>
        </p:nvSpPr>
        <p:spPr>
          <a:xfrm>
            <a:off x="8049344" y="584684"/>
            <a:ext cx="1856656" cy="1748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+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게시대상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에서만 사용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게시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내부 직원 대상 게시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외부 협력업체 대상 게시(협력업체에게도 해당 공지 내용이 보임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우선노출이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‘Y’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설정된 게시물이 가장 위에 올라옴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게시기간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무관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계속 게시됨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9D98B9A-C0D2-91F8-8723-0C31F468E23A}"/>
              </a:ext>
            </a:extLst>
          </p:cNvPr>
          <p:cNvSpPr/>
          <p:nvPr/>
        </p:nvSpPr>
        <p:spPr>
          <a:xfrm>
            <a:off x="164468" y="403565"/>
            <a:ext cx="75661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관리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D27DFBD0-4363-0076-A813-877C5D8CD9F4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61726F0-B2A2-F5C0-99DA-CB6AEDFAC623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38A698B-4091-EC10-5916-81A05F467148}"/>
              </a:ext>
            </a:extLst>
          </p:cNvPr>
          <p:cNvSpPr/>
          <p:nvPr/>
        </p:nvSpPr>
        <p:spPr>
          <a:xfrm>
            <a:off x="164468" y="834983"/>
            <a:ext cx="7740859" cy="93783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DD41003-F13B-F223-3541-70AA445D5848}"/>
              </a:ext>
            </a:extLst>
          </p:cNvPr>
          <p:cNvSpPr/>
          <p:nvPr/>
        </p:nvSpPr>
        <p:spPr>
          <a:xfrm>
            <a:off x="1408523" y="1422883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4D4905A-6F64-2ECD-BC97-1EDF3B226223}"/>
              </a:ext>
            </a:extLst>
          </p:cNvPr>
          <p:cNvSpPr/>
          <p:nvPr/>
        </p:nvSpPr>
        <p:spPr>
          <a:xfrm>
            <a:off x="2218774" y="1422885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63B85CD-E157-E1E4-E41A-0851E89588E3}"/>
              </a:ext>
            </a:extLst>
          </p:cNvPr>
          <p:cNvSpPr/>
          <p:nvPr/>
        </p:nvSpPr>
        <p:spPr>
          <a:xfrm>
            <a:off x="2533911" y="1422883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1AD826D-A42D-5FF8-528C-7CF0AB05FC80}"/>
              </a:ext>
            </a:extLst>
          </p:cNvPr>
          <p:cNvSpPr/>
          <p:nvPr/>
        </p:nvSpPr>
        <p:spPr>
          <a:xfrm>
            <a:off x="6241919" y="1422885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52F477D-C1AB-DA1A-2C9C-4CE98C8F2F8F}"/>
              </a:ext>
            </a:extLst>
          </p:cNvPr>
          <p:cNvSpPr txBox="1"/>
          <p:nvPr/>
        </p:nvSpPr>
        <p:spPr>
          <a:xfrm>
            <a:off x="235850" y="941488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 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등록일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6849587-7722-7A06-CF70-AC14110F4BAB}"/>
              </a:ext>
            </a:extLst>
          </p:cNvPr>
          <p:cNvSpPr txBox="1"/>
          <p:nvPr/>
        </p:nvSpPr>
        <p:spPr>
          <a:xfrm>
            <a:off x="235849" y="1204748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게시대상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 전체 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내부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외부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CE20FD6-850B-A5B0-9FEA-3DD82AAF4165}"/>
              </a:ext>
            </a:extLst>
          </p:cNvPr>
          <p:cNvSpPr txBox="1"/>
          <p:nvPr/>
        </p:nvSpPr>
        <p:spPr>
          <a:xfrm>
            <a:off x="235849" y="1430028"/>
            <a:ext cx="75617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C74E9434-9B9B-08E9-924D-A125C4D6E25E}"/>
              </a:ext>
            </a:extLst>
          </p:cNvPr>
          <p:cNvSpPr/>
          <p:nvPr/>
        </p:nvSpPr>
        <p:spPr>
          <a:xfrm>
            <a:off x="4683665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FF5C00B-AF40-D0A2-F11C-C545D4ED642B}"/>
              </a:ext>
            </a:extLst>
          </p:cNvPr>
          <p:cNvSpPr/>
          <p:nvPr/>
        </p:nvSpPr>
        <p:spPr>
          <a:xfrm>
            <a:off x="5493916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9B63B56-9911-865C-915D-67B366D0FC12}"/>
              </a:ext>
            </a:extLst>
          </p:cNvPr>
          <p:cNvSpPr/>
          <p:nvPr/>
        </p:nvSpPr>
        <p:spPr>
          <a:xfrm>
            <a:off x="5907171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CC7D870B-2D7F-A651-7A23-5C4A7E9BAA2D}"/>
              </a:ext>
            </a:extLst>
          </p:cNvPr>
          <p:cNvSpPr/>
          <p:nvPr/>
        </p:nvSpPr>
        <p:spPr>
          <a:xfrm>
            <a:off x="6717422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2CFC276-11B4-2475-2E76-3C88AF46DA4D}"/>
              </a:ext>
            </a:extLst>
          </p:cNvPr>
          <p:cNvSpPr/>
          <p:nvPr/>
        </p:nvSpPr>
        <p:spPr>
          <a:xfrm>
            <a:off x="1393889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DCEEE94E-8830-534A-029B-CC21DAF7E051}"/>
              </a:ext>
            </a:extLst>
          </p:cNvPr>
          <p:cNvSpPr/>
          <p:nvPr/>
        </p:nvSpPr>
        <p:spPr>
          <a:xfrm>
            <a:off x="1942458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B76C9BC9-F55C-C08A-C853-0AD63E66B7F1}"/>
              </a:ext>
            </a:extLst>
          </p:cNvPr>
          <p:cNvSpPr/>
          <p:nvPr/>
        </p:nvSpPr>
        <p:spPr>
          <a:xfrm>
            <a:off x="2491027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8E8BAC60-493E-E917-C87B-98F3CFF28D77}"/>
              </a:ext>
            </a:extLst>
          </p:cNvPr>
          <p:cNvSpPr/>
          <p:nvPr/>
        </p:nvSpPr>
        <p:spPr>
          <a:xfrm>
            <a:off x="3039596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E125B72C-8DD9-62D3-12F9-3EBC649E0014}"/>
              </a:ext>
            </a:extLst>
          </p:cNvPr>
          <p:cNvSpPr/>
          <p:nvPr/>
        </p:nvSpPr>
        <p:spPr>
          <a:xfrm>
            <a:off x="3588165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F8B2148B-3250-29E0-FC28-94442465D041}"/>
              </a:ext>
            </a:extLst>
          </p:cNvPr>
          <p:cNvSpPr/>
          <p:nvPr/>
        </p:nvSpPr>
        <p:spPr>
          <a:xfrm>
            <a:off x="4136733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B64C90EB-9D43-840E-91C8-CC9658909422}"/>
              </a:ext>
            </a:extLst>
          </p:cNvPr>
          <p:cNvSpPr/>
          <p:nvPr/>
        </p:nvSpPr>
        <p:spPr>
          <a:xfrm>
            <a:off x="6867117" y="1901705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1F53526F-35B9-0671-FC65-7EFC787CB030}"/>
              </a:ext>
            </a:extLst>
          </p:cNvPr>
          <p:cNvSpPr/>
          <p:nvPr/>
        </p:nvSpPr>
        <p:spPr>
          <a:xfrm>
            <a:off x="7688579" y="1901705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1928D0D-ADA0-931C-52B1-9BE5D15962F1}"/>
              </a:ext>
            </a:extLst>
          </p:cNvPr>
          <p:cNvSpPr txBox="1"/>
          <p:nvPr/>
        </p:nvSpPr>
        <p:spPr>
          <a:xfrm>
            <a:off x="181506" y="1888187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55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DB835EB7-34A4-4EC8-0051-5D596642970B}"/>
              </a:ext>
            </a:extLst>
          </p:cNvPr>
          <p:cNvSpPr/>
          <p:nvPr/>
        </p:nvSpPr>
        <p:spPr>
          <a:xfrm>
            <a:off x="1308401" y="136827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88" name="표 87">
            <a:extLst>
              <a:ext uri="{FF2B5EF4-FFF2-40B4-BE49-F238E27FC236}">
                <a16:creationId xmlns:a16="http://schemas.microsoft.com/office/drawing/2014/main" id="{3D6B4416-765B-429C-5D4C-BADE408CC16E}"/>
              </a:ext>
            </a:extLst>
          </p:cNvPr>
          <p:cNvGraphicFramePr>
            <a:graphicFrameLocks noGrp="1"/>
          </p:cNvGraphicFramePr>
          <p:nvPr/>
        </p:nvGraphicFramePr>
        <p:xfrm>
          <a:off x="181506" y="2204864"/>
          <a:ext cx="7722514" cy="202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722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794402">
                  <a:extLst>
                    <a:ext uri="{9D8B030D-6E8A-4147-A177-3AD203B41FA5}">
                      <a16:colId xmlns:a16="http://schemas.microsoft.com/office/drawing/2014/main" val="296951377"/>
                    </a:ext>
                  </a:extLst>
                </a:gridCol>
                <a:gridCol w="569159">
                  <a:extLst>
                    <a:ext uri="{9D8B030D-6E8A-4147-A177-3AD203B41FA5}">
                      <a16:colId xmlns:a16="http://schemas.microsoft.com/office/drawing/2014/main" val="1266029869"/>
                    </a:ext>
                  </a:extLst>
                </a:gridCol>
                <a:gridCol w="2098523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  <a:gridCol w="1388519">
                  <a:extLst>
                    <a:ext uri="{9D8B030D-6E8A-4147-A177-3AD203B41FA5}">
                      <a16:colId xmlns:a16="http://schemas.microsoft.com/office/drawing/2014/main" val="2598409891"/>
                    </a:ext>
                  </a:extLst>
                </a:gridCol>
                <a:gridCol w="471228">
                  <a:extLst>
                    <a:ext uri="{9D8B030D-6E8A-4147-A177-3AD203B41FA5}">
                      <a16:colId xmlns:a16="http://schemas.microsoft.com/office/drawing/2014/main" val="175949893"/>
                    </a:ext>
                  </a:extLst>
                </a:gridCol>
                <a:gridCol w="778080">
                  <a:extLst>
                    <a:ext uri="{9D8B030D-6E8A-4147-A177-3AD203B41FA5}">
                      <a16:colId xmlns:a16="http://schemas.microsoft.com/office/drawing/2014/main" val="2606137487"/>
                    </a:ext>
                  </a:extLst>
                </a:gridCol>
                <a:gridCol w="569159">
                  <a:extLst>
                    <a:ext uri="{9D8B030D-6E8A-4147-A177-3AD203B41FA5}">
                      <a16:colId xmlns:a16="http://schemas.microsoft.com/office/drawing/2014/main" val="3361869317"/>
                    </a:ext>
                  </a:extLst>
                </a:gridCol>
                <a:gridCol w="526722">
                  <a:extLst>
                    <a:ext uri="{9D8B030D-6E8A-4147-A177-3AD203B41FA5}">
                      <a16:colId xmlns:a16="http://schemas.microsoft.com/office/drawing/2014/main" val="1778558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게시대상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우선노출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게시기간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게시여부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조회수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Y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‘</a:t>
                      </a: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협력업체 선정 세부기준</a:t>
                      </a: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’</a:t>
                      </a: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 개정되었습니다</a:t>
                      </a: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무관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2026.06.30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10,235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직원 대상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Y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2026.07.01~2026.07.31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미게시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협력업체 대상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170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250339"/>
                  </a:ext>
                </a:extLst>
              </a:tr>
            </a:tbl>
          </a:graphicData>
        </a:graphic>
      </p:graphicFrame>
      <p:grpSp>
        <p:nvGrpSpPr>
          <p:cNvPr id="89" name="그룹 88">
            <a:extLst>
              <a:ext uri="{FF2B5EF4-FFF2-40B4-BE49-F238E27FC236}">
                <a16:creationId xmlns:a16="http://schemas.microsoft.com/office/drawing/2014/main" id="{E35FE4C2-4B07-1E81-75C8-0E92A455CB83}"/>
              </a:ext>
            </a:extLst>
          </p:cNvPr>
          <p:cNvGrpSpPr/>
          <p:nvPr/>
        </p:nvGrpSpPr>
        <p:grpSpPr>
          <a:xfrm>
            <a:off x="2004219" y="4349390"/>
            <a:ext cx="4025354" cy="216024"/>
            <a:chOff x="2992062" y="4869160"/>
            <a:chExt cx="4025354" cy="216024"/>
          </a:xfrm>
        </p:grpSpPr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E140494B-EC3E-365F-3C48-9FE1D3292B84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A920EDD0-0177-AF0C-4D13-6289CD39A321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A791808D-B8A2-64B1-1153-62ED8F4F49C4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10F27FAF-F293-6B2A-47D5-FFC99392C382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7316E858-66A8-E4EB-AE8E-5E2F8B3FCBE7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878DC494-D52E-5B0A-0715-6E28728E9626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9DA3DA6B-F0B3-ECAF-D632-D98A8BE05D3E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4AA5610E-EEA1-052A-5208-28A40B9D82C5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06514B0B-F99C-3B86-4338-8B7A5337B858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C3BE57FC-00B8-EBD8-CEFF-F0B76E7A4D43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C5F87D00-23C4-990D-61CF-0F3E5F9CF53C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B4D17AD1-31D4-5381-2949-A7D798E867A5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4FE2D1FA-5803-FF6D-58BD-94CAB6EB0A29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648234DD-14F8-306E-67FF-F2FE935A1671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0760494B-951D-3638-714E-A968829CE9DF}"/>
              </a:ext>
            </a:extLst>
          </p:cNvPr>
          <p:cNvSpPr/>
          <p:nvPr/>
        </p:nvSpPr>
        <p:spPr>
          <a:xfrm>
            <a:off x="7053414" y="4653136"/>
            <a:ext cx="813083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504EBB71-76B0-AE38-6698-E3E17CDBE08F}"/>
              </a:ext>
            </a:extLst>
          </p:cNvPr>
          <p:cNvSpPr/>
          <p:nvPr/>
        </p:nvSpPr>
        <p:spPr>
          <a:xfrm>
            <a:off x="633234" y="211337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3A54D786-23CF-F895-B3B0-A37AE543BDB8}"/>
              </a:ext>
            </a:extLst>
          </p:cNvPr>
          <p:cNvSpPr/>
          <p:nvPr/>
        </p:nvSpPr>
        <p:spPr>
          <a:xfrm>
            <a:off x="1444640" y="211337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13A18031-44A6-2F02-8374-293BB82552C7}"/>
              </a:ext>
            </a:extLst>
          </p:cNvPr>
          <p:cNvSpPr/>
          <p:nvPr/>
        </p:nvSpPr>
        <p:spPr>
          <a:xfrm>
            <a:off x="4042763" y="211337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04E9DA46-F8E5-61B5-4DAD-E6FC09A58FDC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E2F4C373-2153-8764-282F-5FDE7CA21759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0" name="Picture 1">
            <a:extLst>
              <a:ext uri="{FF2B5EF4-FFF2-40B4-BE49-F238E27FC236}">
                <a16:creationId xmlns:a16="http://schemas.microsoft.com/office/drawing/2014/main" id="{A8778FF7-1E45-6595-65A2-B71CB11DC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4923E5D-6606-EF99-035D-CCA72AF6B305}"/>
              </a:ext>
            </a:extLst>
          </p:cNvPr>
          <p:cNvSpPr/>
          <p:nvPr/>
        </p:nvSpPr>
        <p:spPr>
          <a:xfrm>
            <a:off x="-1690381" y="801483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2B2E9E3-C222-EF5A-2D4A-A879B301A6AE}"/>
              </a:ext>
            </a:extLst>
          </p:cNvPr>
          <p:cNvSpPr/>
          <p:nvPr/>
        </p:nvSpPr>
        <p:spPr>
          <a:xfrm>
            <a:off x="-1690381" y="1101803"/>
            <a:ext cx="1467136" cy="241808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권한그룹 및 메뉴별 권한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권한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접속 아이피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(IP)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메뉴별 접속현황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거래처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관리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 관리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117E434-D8CE-0138-4E6F-4A11431C39EA}"/>
              </a:ext>
            </a:extLst>
          </p:cNvPr>
          <p:cNvSpPr/>
          <p:nvPr/>
        </p:nvSpPr>
        <p:spPr>
          <a:xfrm>
            <a:off x="-529236" y="801483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48285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980E3-A0CE-4F28-E532-43E4FDD1F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227587E-A522-E3DE-87E1-8AA66E8FB4B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FA7CAB-0DCB-0A19-1250-8F6BF47D6920}"/>
              </a:ext>
            </a:extLst>
          </p:cNvPr>
          <p:cNvSpPr txBox="1"/>
          <p:nvPr/>
        </p:nvSpPr>
        <p:spPr>
          <a:xfrm>
            <a:off x="749224" y="25608"/>
            <a:ext cx="12891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관리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29D950-8C95-8B1A-4C99-ABE413DED797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A2D82AE-FE5F-92A6-3302-F62A87BA4415}"/>
              </a:ext>
            </a:extLst>
          </p:cNvPr>
          <p:cNvSpPr/>
          <p:nvPr/>
        </p:nvSpPr>
        <p:spPr>
          <a:xfrm>
            <a:off x="164468" y="403565"/>
            <a:ext cx="75661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관리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A023584-6C85-87D4-840F-877F5D44D0E1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D92EC8D-6171-32BD-2388-30848152EE66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3A141B9E-056E-5C5B-640C-0A109E589598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33BB5F-5D26-BA6F-0771-D15032D77599}"/>
              </a:ext>
            </a:extLst>
          </p:cNvPr>
          <p:cNvSpPr txBox="1"/>
          <p:nvPr/>
        </p:nvSpPr>
        <p:spPr>
          <a:xfrm>
            <a:off x="180526" y="5291082"/>
            <a:ext cx="4951562" cy="466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spcBef>
                <a:spcPts val="50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첫 번째로 첨부된 파일명</a:t>
            </a:r>
            <a:r>
              <a:rPr kumimoji="1" lang="en-US" altLang="ko-KR" sz="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.PDF</a:t>
            </a:r>
          </a:p>
          <a:p>
            <a:pPr marL="72000" indent="-72000" algn="l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800" b="0" u="sng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두 번째로 첨부된 파일명</a:t>
            </a:r>
            <a:r>
              <a:rPr lang="en-US" altLang="ko-KR" sz="800" b="0" u="sng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.HWP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D31B6C2-5A1D-DFB7-C0DB-21710BD88540}"/>
              </a:ext>
            </a:extLst>
          </p:cNvPr>
          <p:cNvGrpSpPr/>
          <p:nvPr/>
        </p:nvGrpSpPr>
        <p:grpSpPr>
          <a:xfrm>
            <a:off x="1693888" y="5294128"/>
            <a:ext cx="1278892" cy="198885"/>
            <a:chOff x="1693888" y="5290969"/>
            <a:chExt cx="1507496" cy="198885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DB09935-37B8-B848-0778-81FE5982027B}"/>
                </a:ext>
              </a:extLst>
            </p:cNvPr>
            <p:cNvSpPr/>
            <p:nvPr/>
          </p:nvSpPr>
          <p:spPr>
            <a:xfrm>
              <a:off x="1693888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80FF0525-3A44-0DC3-6B23-D125E237CA26}"/>
                </a:ext>
              </a:extLst>
            </p:cNvPr>
            <p:cNvSpPr/>
            <p:nvPr/>
          </p:nvSpPr>
          <p:spPr>
            <a:xfrm>
              <a:off x="2478850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2BFFE3C-9847-FF7D-E854-86D2B4D9F54B}"/>
              </a:ext>
            </a:extLst>
          </p:cNvPr>
          <p:cNvGrpSpPr/>
          <p:nvPr/>
        </p:nvGrpSpPr>
        <p:grpSpPr>
          <a:xfrm>
            <a:off x="1737018" y="5540093"/>
            <a:ext cx="1278892" cy="198885"/>
            <a:chOff x="1693888" y="5290969"/>
            <a:chExt cx="1507496" cy="198885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54349B4-BF49-C315-D311-E906FE392FA0}"/>
                </a:ext>
              </a:extLst>
            </p:cNvPr>
            <p:cNvSpPr/>
            <p:nvPr/>
          </p:nvSpPr>
          <p:spPr>
            <a:xfrm>
              <a:off x="1693888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BD799CC-442B-5F74-F403-D14E17B679E5}"/>
                </a:ext>
              </a:extLst>
            </p:cNvPr>
            <p:cNvSpPr/>
            <p:nvPr/>
          </p:nvSpPr>
          <p:spPr>
            <a:xfrm>
              <a:off x="2478850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85CD15F2-233C-2349-79CA-B3CC43BB3B34}"/>
              </a:ext>
            </a:extLst>
          </p:cNvPr>
          <p:cNvCxnSpPr>
            <a:cxnSpLocks/>
          </p:cNvCxnSpPr>
          <p:nvPr/>
        </p:nvCxnSpPr>
        <p:spPr>
          <a:xfrm>
            <a:off x="167468" y="5838048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C4FDB7E-6349-B218-98DA-C5EE132D7B30}"/>
              </a:ext>
            </a:extLst>
          </p:cNvPr>
          <p:cNvSpPr/>
          <p:nvPr/>
        </p:nvSpPr>
        <p:spPr>
          <a:xfrm>
            <a:off x="164468" y="5940654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0340CC4C-8A8A-B8DC-565D-744C6AB588A0}"/>
              </a:ext>
            </a:extLst>
          </p:cNvPr>
          <p:cNvGrpSpPr/>
          <p:nvPr/>
        </p:nvGrpSpPr>
        <p:grpSpPr>
          <a:xfrm>
            <a:off x="6177136" y="5939976"/>
            <a:ext cx="1689362" cy="288032"/>
            <a:chOff x="5921532" y="1435096"/>
            <a:chExt cx="1944966" cy="288032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73DEFC37-8064-868C-2193-FEF2B9022722}"/>
                </a:ext>
              </a:extLst>
            </p:cNvPr>
            <p:cNvSpPr/>
            <p:nvPr/>
          </p:nvSpPr>
          <p:spPr>
            <a:xfrm>
              <a:off x="5921532" y="1435096"/>
              <a:ext cx="936104" cy="28803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수정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BF56CFD7-CE87-0FB1-E1B8-B719B34677E2}"/>
                </a:ext>
              </a:extLst>
            </p:cNvPr>
            <p:cNvSpPr/>
            <p:nvPr/>
          </p:nvSpPr>
          <p:spPr>
            <a:xfrm>
              <a:off x="6930394" y="1435096"/>
              <a:ext cx="936104" cy="28803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삭제</a:t>
              </a:r>
            </a:p>
          </p:txBody>
        </p:sp>
      </p:grp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BF5387B6-B42D-C195-6A9C-31CEBD330268}"/>
              </a:ext>
            </a:extLst>
          </p:cNvPr>
          <p:cNvGraphicFramePr>
            <a:graphicFrameLocks noGrp="1"/>
          </p:cNvGraphicFramePr>
          <p:nvPr/>
        </p:nvGraphicFramePr>
        <p:xfrm>
          <a:off x="164468" y="880186"/>
          <a:ext cx="7632847" cy="270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5692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527155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게시대상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 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직원 대상 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협력업체 대상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335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우선노출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Y(우선노출) /  N(우선노출 안 함)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57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‘협력업체 선정 세부기준’이 개정되었습니다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게시기간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무관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2026.07.01~2026.07.31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394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게시여부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게시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미게시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94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2026.08.12 15:34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525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조회수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2,542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9303202"/>
                  </a:ext>
                </a:extLst>
              </a:tr>
            </a:tbl>
          </a:graphicData>
        </a:graphic>
      </p:graphicFrame>
      <p:sp>
        <p:nvSpPr>
          <p:cNvPr id="31" name="직사각형 30">
            <a:extLst>
              <a:ext uri="{FF2B5EF4-FFF2-40B4-BE49-F238E27FC236}">
                <a16:creationId xmlns:a16="http://schemas.microsoft.com/office/drawing/2014/main" id="{9A63D635-19BA-6B81-588E-B152E62F6FAA}"/>
              </a:ext>
            </a:extLst>
          </p:cNvPr>
          <p:cNvSpPr/>
          <p:nvPr/>
        </p:nvSpPr>
        <p:spPr>
          <a:xfrm>
            <a:off x="180526" y="3680634"/>
            <a:ext cx="7740859" cy="1492681"/>
          </a:xfrm>
          <a:prstGeom prst="rect">
            <a:avLst/>
          </a:prstGeom>
          <a:solidFill>
            <a:srgbClr val="40404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Editor로 작성된</a:t>
            </a:r>
            <a:r>
              <a:rPr lang="ko-KR" altLang="en-US" sz="1500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내용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B9A733C8-DE0F-4095-3ED6-2293C339D84D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3" name="Picture 1">
            <a:extLst>
              <a:ext uri="{FF2B5EF4-FFF2-40B4-BE49-F238E27FC236}">
                <a16:creationId xmlns:a16="http://schemas.microsoft.com/office/drawing/2014/main" id="{6090D058-7815-A2E0-30B4-564F0A368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0E7DA4B-7EA3-8BC3-F441-A24F4EB85A46}"/>
              </a:ext>
            </a:extLst>
          </p:cNvPr>
          <p:cNvSpPr/>
          <p:nvPr/>
        </p:nvSpPr>
        <p:spPr>
          <a:xfrm>
            <a:off x="-1690381" y="801483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EF7DC51-C35E-FC8A-3847-E22D3368A76E}"/>
              </a:ext>
            </a:extLst>
          </p:cNvPr>
          <p:cNvSpPr/>
          <p:nvPr/>
        </p:nvSpPr>
        <p:spPr>
          <a:xfrm>
            <a:off x="-1690381" y="1101803"/>
            <a:ext cx="1467136" cy="241808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권한그룹 및 메뉴별 권한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권한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접속 아이피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(IP)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메뉴별 접속현황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거래처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관리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 관리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323988B-3FED-02CF-A0CD-9D6038D6549F}"/>
              </a:ext>
            </a:extLst>
          </p:cNvPr>
          <p:cNvSpPr/>
          <p:nvPr/>
        </p:nvSpPr>
        <p:spPr>
          <a:xfrm>
            <a:off x="-529236" y="801483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75161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8F543-FEBD-D405-6E5B-3C7009FBF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37704E2-2B81-2DE0-2701-2345115D0DA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D8DA67-0D41-A96F-D8C5-05DCD87581FB}"/>
              </a:ext>
            </a:extLst>
          </p:cNvPr>
          <p:cNvSpPr txBox="1"/>
          <p:nvPr/>
        </p:nvSpPr>
        <p:spPr>
          <a:xfrm>
            <a:off x="749224" y="25608"/>
            <a:ext cx="12891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관리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904E20-1B5E-BEA5-D20E-8E0E50EDF544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4B9DA72-B80A-BF70-FF4F-36CCA8B508AE}"/>
              </a:ext>
            </a:extLst>
          </p:cNvPr>
          <p:cNvSpPr/>
          <p:nvPr/>
        </p:nvSpPr>
        <p:spPr>
          <a:xfrm>
            <a:off x="164468" y="403565"/>
            <a:ext cx="75661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관리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81949254-CAA9-67FD-4FD7-9E686863C4BF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5F1CF23-A978-6622-0C3C-BD28785289A4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771E434-1FF8-DA7D-7FF5-227FD2299692}"/>
              </a:ext>
            </a:extLst>
          </p:cNvPr>
          <p:cNvSpPr/>
          <p:nvPr/>
        </p:nvSpPr>
        <p:spPr>
          <a:xfrm>
            <a:off x="164468" y="5744942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6F8AC42-EB5B-1727-CDDB-D66BC18FCEFE}"/>
              </a:ext>
            </a:extLst>
          </p:cNvPr>
          <p:cNvSpPr/>
          <p:nvPr/>
        </p:nvSpPr>
        <p:spPr>
          <a:xfrm>
            <a:off x="6974365" y="5744264"/>
            <a:ext cx="813083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2D5203B-2419-FBD1-61C0-A70CAEAC7BB0}"/>
              </a:ext>
            </a:extLst>
          </p:cNvPr>
          <p:cNvSpPr/>
          <p:nvPr/>
        </p:nvSpPr>
        <p:spPr>
          <a:xfrm>
            <a:off x="6110600" y="5744264"/>
            <a:ext cx="813083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4555C4FD-C588-F0D7-78A3-79F4C888B9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98335"/>
              </p:ext>
            </p:extLst>
          </p:nvPr>
        </p:nvGraphicFramePr>
        <p:xfrm>
          <a:off x="164468" y="880186"/>
          <a:ext cx="7632847" cy="202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5692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527155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게시대상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○전체     ○ 직원 대상     ○ 협력업체 대상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634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우선노출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Y(우선노출)     ○N(우선노출 안 함)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554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게시기간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무관     ○ 기간 설정                                        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990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게시여부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게시     ○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미게시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407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51809B11-A499-672D-649E-C9454DFAA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621779"/>
              </p:ext>
            </p:extLst>
          </p:nvPr>
        </p:nvGraphicFramePr>
        <p:xfrm>
          <a:off x="164468" y="4329100"/>
          <a:ext cx="7632847" cy="131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5692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527155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첨부파일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첫 번째로 첨부된 파일명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  </a:t>
                      </a:r>
                      <a:r>
                        <a:rPr kumimoji="1" lang="en-US" altLang="ko-KR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삭제</a:t>
                      </a:r>
                      <a:r>
                        <a:rPr kumimoji="1" lang="en-US" altLang="ko-KR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]</a:t>
                      </a:r>
                    </a:p>
                    <a:p>
                      <a:pPr marL="72000" marR="0" lvl="0" indent="-720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두 번째로 첨부된 파일명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.HWP </a:t>
                      </a:r>
                      <a:r>
                        <a:rPr kumimoji="1" lang="en-US" altLang="ko-KR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삭제</a:t>
                      </a:r>
                      <a:r>
                        <a:rPr kumimoji="1" lang="en-US" altLang="ko-KR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]</a:t>
                      </a:r>
                      <a:br>
                        <a:rPr kumimoji="1" lang="en-US" altLang="ko-KR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1" lang="en-US" altLang="ko-KR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1" lang="en-US" altLang="ko-KR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1" lang="en-US" altLang="ko-KR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1" lang="en-US" altLang="ko-KR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1" lang="en-US" altLang="ko-KR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</a:tbl>
          </a:graphicData>
        </a:graphic>
      </p:graphicFrame>
      <p:pic>
        <p:nvPicPr>
          <p:cNvPr id="49" name="그림 48">
            <a:extLst>
              <a:ext uri="{FF2B5EF4-FFF2-40B4-BE49-F238E27FC236}">
                <a16:creationId xmlns:a16="http://schemas.microsoft.com/office/drawing/2014/main" id="{F3D6384F-AACE-EC75-BD25-018CCD193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849" y="4973434"/>
            <a:ext cx="5455355" cy="573163"/>
          </a:xfrm>
          <a:prstGeom prst="rect">
            <a:avLst/>
          </a:prstGeom>
        </p:spPr>
      </p:pic>
      <p:sp>
        <p:nvSpPr>
          <p:cNvPr id="50" name="직사각형 49">
            <a:extLst>
              <a:ext uri="{FF2B5EF4-FFF2-40B4-BE49-F238E27FC236}">
                <a16:creationId xmlns:a16="http://schemas.microsoft.com/office/drawing/2014/main" id="{244BE037-447A-EBE4-B5CC-7FB88213E7FB}"/>
              </a:ext>
            </a:extLst>
          </p:cNvPr>
          <p:cNvSpPr/>
          <p:nvPr/>
        </p:nvSpPr>
        <p:spPr>
          <a:xfrm>
            <a:off x="166665" y="3005578"/>
            <a:ext cx="7630649" cy="12258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108000" bIns="108000" rtlCol="0" anchor="t" anchorCtr="0"/>
          <a:lstStyle/>
          <a:p>
            <a:pPr lvl="0" algn="l" defTabSz="109728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Editor</a:t>
            </a:r>
            <a:endParaRPr kumimoji="0"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0987F8DF-8B8E-C663-9D52-D088F7602EFC}"/>
              </a:ext>
            </a:extLst>
          </p:cNvPr>
          <p:cNvSpPr/>
          <p:nvPr/>
        </p:nvSpPr>
        <p:spPr>
          <a:xfrm>
            <a:off x="1306894" y="1619153"/>
            <a:ext cx="6202390" cy="2154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E69C040-C530-0800-A38D-056268298358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55D13E08-98C4-8E8B-87B2-40A05E9C5546}"/>
              </a:ext>
            </a:extLst>
          </p:cNvPr>
          <p:cNvSpPr/>
          <p:nvPr/>
        </p:nvSpPr>
        <p:spPr>
          <a:xfrm>
            <a:off x="2396716" y="1943516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게시 시작일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6B6CBD1-88A7-6E54-E3B1-9BCB098393A0}"/>
              </a:ext>
            </a:extLst>
          </p:cNvPr>
          <p:cNvSpPr/>
          <p:nvPr/>
        </p:nvSpPr>
        <p:spPr>
          <a:xfrm>
            <a:off x="3206967" y="1943518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5917C39-2511-74CA-85C6-F2179CC7B800}"/>
              </a:ext>
            </a:extLst>
          </p:cNvPr>
          <p:cNvSpPr/>
          <p:nvPr/>
        </p:nvSpPr>
        <p:spPr>
          <a:xfrm>
            <a:off x="3620222" y="1943516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게시 종료일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FB7417C4-B6A2-A2A8-0B0A-D02DD642787D}"/>
              </a:ext>
            </a:extLst>
          </p:cNvPr>
          <p:cNvSpPr/>
          <p:nvPr/>
        </p:nvSpPr>
        <p:spPr>
          <a:xfrm>
            <a:off x="4430473" y="1943518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5312A0B5-2325-4316-1805-F2FCADD2F82E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9" name="Picture 1">
            <a:extLst>
              <a:ext uri="{FF2B5EF4-FFF2-40B4-BE49-F238E27FC236}">
                <a16:creationId xmlns:a16="http://schemas.microsoft.com/office/drawing/2014/main" id="{79D59907-7E26-8652-C359-B958390A1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F016DE4A-45B6-1CF5-6729-35C1AE257331}"/>
              </a:ext>
            </a:extLst>
          </p:cNvPr>
          <p:cNvSpPr/>
          <p:nvPr/>
        </p:nvSpPr>
        <p:spPr>
          <a:xfrm>
            <a:off x="-1690381" y="801483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FE84A0A-85B0-8D25-26B0-958B19CE3C32}"/>
              </a:ext>
            </a:extLst>
          </p:cNvPr>
          <p:cNvSpPr/>
          <p:nvPr/>
        </p:nvSpPr>
        <p:spPr>
          <a:xfrm>
            <a:off x="-1690381" y="1101803"/>
            <a:ext cx="1467136" cy="241808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권한그룹 및 메뉴별 권한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권한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접속 아이피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(IP)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메뉴별 접속현황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거래처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관리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 관리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328D9B2-E2CD-B09A-2599-08462868588C}"/>
              </a:ext>
            </a:extLst>
          </p:cNvPr>
          <p:cNvSpPr/>
          <p:nvPr/>
        </p:nvSpPr>
        <p:spPr>
          <a:xfrm>
            <a:off x="-529236" y="801483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77121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5969A-E2F9-5F4C-638A-31C3A8F87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7100AEC-9C1B-6442-FD56-918E90AE81F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F21294-E855-E80E-273B-DD7ACB44A9F0}"/>
              </a:ext>
            </a:extLst>
          </p:cNvPr>
          <p:cNvSpPr txBox="1"/>
          <p:nvPr/>
        </p:nvSpPr>
        <p:spPr>
          <a:xfrm>
            <a:off x="749224" y="25608"/>
            <a:ext cx="15392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 관리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08482B-3AFD-4218-66C1-0261CC5AAB2A}"/>
              </a:ext>
            </a:extLst>
          </p:cNvPr>
          <p:cNvSpPr txBox="1"/>
          <p:nvPr/>
        </p:nvSpPr>
        <p:spPr>
          <a:xfrm>
            <a:off x="8049344" y="584684"/>
            <a:ext cx="1856656" cy="1748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+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게시대상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에서만 사용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게시 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내부 직원 대상 게시</a:t>
            </a:r>
            <a:b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외부 협력업체 대상 게시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협력업체에게도 해당 자료가 보임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우선노출이 ‘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Y’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설정된 게시물이 가장 위에 올라옴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게시기간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무관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계속 게시됨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B194B7A-D5CE-DFAA-51BF-4DD86FB2769D}"/>
              </a:ext>
            </a:extLst>
          </p:cNvPr>
          <p:cNvSpPr/>
          <p:nvPr/>
        </p:nvSpPr>
        <p:spPr>
          <a:xfrm>
            <a:off x="164468" y="403565"/>
            <a:ext cx="997068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ko-KR" altLang="en-US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 관리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903E2D86-CC8F-54B4-9A30-4B588612705D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70D52DA-011B-4CA3-E0D8-BDB3F09D9968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D861816-90E4-92E7-16FB-61FD8496C6FC}"/>
              </a:ext>
            </a:extLst>
          </p:cNvPr>
          <p:cNvSpPr/>
          <p:nvPr/>
        </p:nvSpPr>
        <p:spPr>
          <a:xfrm>
            <a:off x="164468" y="834983"/>
            <a:ext cx="7740859" cy="93783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222DCCF-205D-843E-C116-FB566391828C}"/>
              </a:ext>
            </a:extLst>
          </p:cNvPr>
          <p:cNvSpPr/>
          <p:nvPr/>
        </p:nvSpPr>
        <p:spPr>
          <a:xfrm>
            <a:off x="1408523" y="1422883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B017214-420D-45DA-303D-74D92ABAFFE3}"/>
              </a:ext>
            </a:extLst>
          </p:cNvPr>
          <p:cNvSpPr/>
          <p:nvPr/>
        </p:nvSpPr>
        <p:spPr>
          <a:xfrm>
            <a:off x="2218774" y="1422885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B6746DB-4137-5DFC-D87F-3419363416D9}"/>
              </a:ext>
            </a:extLst>
          </p:cNvPr>
          <p:cNvSpPr/>
          <p:nvPr/>
        </p:nvSpPr>
        <p:spPr>
          <a:xfrm>
            <a:off x="2533911" y="1422883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C86DF18-B962-951C-3E34-161143309DC0}"/>
              </a:ext>
            </a:extLst>
          </p:cNvPr>
          <p:cNvSpPr/>
          <p:nvPr/>
        </p:nvSpPr>
        <p:spPr>
          <a:xfrm>
            <a:off x="6241919" y="1422885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282377-2F61-FF07-044B-0CCAAE2E4524}"/>
              </a:ext>
            </a:extLst>
          </p:cNvPr>
          <p:cNvSpPr txBox="1"/>
          <p:nvPr/>
        </p:nvSpPr>
        <p:spPr>
          <a:xfrm>
            <a:off x="235850" y="941488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 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등록일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A42E5E3-B6E1-1192-FC4C-AEAD26EAD93D}"/>
              </a:ext>
            </a:extLst>
          </p:cNvPr>
          <p:cNvSpPr txBox="1"/>
          <p:nvPr/>
        </p:nvSpPr>
        <p:spPr>
          <a:xfrm>
            <a:off x="235849" y="1204748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게시여부 :                     ●전체      ○게시   ○미게시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971D53A-36CF-42BE-EF84-084F7DBF6D23}"/>
              </a:ext>
            </a:extLst>
          </p:cNvPr>
          <p:cNvSpPr txBox="1"/>
          <p:nvPr/>
        </p:nvSpPr>
        <p:spPr>
          <a:xfrm>
            <a:off x="235849" y="1430028"/>
            <a:ext cx="75617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F47FEBA-AF34-D284-173B-6223EDCA2EC7}"/>
              </a:ext>
            </a:extLst>
          </p:cNvPr>
          <p:cNvSpPr/>
          <p:nvPr/>
        </p:nvSpPr>
        <p:spPr>
          <a:xfrm>
            <a:off x="4683665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34F349E-049F-DFA6-3DCE-39DFD108D809}"/>
              </a:ext>
            </a:extLst>
          </p:cNvPr>
          <p:cNvSpPr/>
          <p:nvPr/>
        </p:nvSpPr>
        <p:spPr>
          <a:xfrm>
            <a:off x="5493916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CBB6A44-A0E5-1DCD-38DD-3853C60A7C0B}"/>
              </a:ext>
            </a:extLst>
          </p:cNvPr>
          <p:cNvSpPr/>
          <p:nvPr/>
        </p:nvSpPr>
        <p:spPr>
          <a:xfrm>
            <a:off x="5907171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7111E94-FE91-B89B-09FC-A2F24E671DDB}"/>
              </a:ext>
            </a:extLst>
          </p:cNvPr>
          <p:cNvSpPr/>
          <p:nvPr/>
        </p:nvSpPr>
        <p:spPr>
          <a:xfrm>
            <a:off x="6717422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FF4E13D-9C15-D4F1-08C6-65408CB8E927}"/>
              </a:ext>
            </a:extLst>
          </p:cNvPr>
          <p:cNvSpPr/>
          <p:nvPr/>
        </p:nvSpPr>
        <p:spPr>
          <a:xfrm>
            <a:off x="1393889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C2E0160E-44F0-19B8-0935-C438F3908C1F}"/>
              </a:ext>
            </a:extLst>
          </p:cNvPr>
          <p:cNvSpPr/>
          <p:nvPr/>
        </p:nvSpPr>
        <p:spPr>
          <a:xfrm>
            <a:off x="1942458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D55ECC7E-A3A9-4188-4C58-CAAA56537393}"/>
              </a:ext>
            </a:extLst>
          </p:cNvPr>
          <p:cNvSpPr/>
          <p:nvPr/>
        </p:nvSpPr>
        <p:spPr>
          <a:xfrm>
            <a:off x="2491027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805F614-10B7-84E5-D747-87E7590AF59C}"/>
              </a:ext>
            </a:extLst>
          </p:cNvPr>
          <p:cNvSpPr/>
          <p:nvPr/>
        </p:nvSpPr>
        <p:spPr>
          <a:xfrm>
            <a:off x="3039596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910E7BF9-D9E6-5950-0718-495C2C8F252E}"/>
              </a:ext>
            </a:extLst>
          </p:cNvPr>
          <p:cNvSpPr/>
          <p:nvPr/>
        </p:nvSpPr>
        <p:spPr>
          <a:xfrm>
            <a:off x="3588165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763F240D-AE1E-E4C1-9B88-9965546D3675}"/>
              </a:ext>
            </a:extLst>
          </p:cNvPr>
          <p:cNvSpPr/>
          <p:nvPr/>
        </p:nvSpPr>
        <p:spPr>
          <a:xfrm>
            <a:off x="4136733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2DE090BD-3F5D-ED78-30F7-1B447D270C6F}"/>
              </a:ext>
            </a:extLst>
          </p:cNvPr>
          <p:cNvSpPr/>
          <p:nvPr/>
        </p:nvSpPr>
        <p:spPr>
          <a:xfrm>
            <a:off x="6867117" y="1901705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FF16062A-5B88-AB7A-C526-60EC3E80EB72}"/>
              </a:ext>
            </a:extLst>
          </p:cNvPr>
          <p:cNvSpPr/>
          <p:nvPr/>
        </p:nvSpPr>
        <p:spPr>
          <a:xfrm>
            <a:off x="7688579" y="1901705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4EC781B-C394-361B-D0E1-DB03F3A2B49F}"/>
              </a:ext>
            </a:extLst>
          </p:cNvPr>
          <p:cNvSpPr txBox="1"/>
          <p:nvPr/>
        </p:nvSpPr>
        <p:spPr>
          <a:xfrm>
            <a:off x="181506" y="1888187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55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CB53087D-317F-459C-FD17-809445C33DEB}"/>
              </a:ext>
            </a:extLst>
          </p:cNvPr>
          <p:cNvSpPr/>
          <p:nvPr/>
        </p:nvSpPr>
        <p:spPr>
          <a:xfrm>
            <a:off x="1308401" y="136827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88" name="표 87">
            <a:extLst>
              <a:ext uri="{FF2B5EF4-FFF2-40B4-BE49-F238E27FC236}">
                <a16:creationId xmlns:a16="http://schemas.microsoft.com/office/drawing/2014/main" id="{439F459E-89C5-4857-BAA8-23FBD11EA8D3}"/>
              </a:ext>
            </a:extLst>
          </p:cNvPr>
          <p:cNvGraphicFramePr>
            <a:graphicFrameLocks noGrp="1"/>
          </p:cNvGraphicFramePr>
          <p:nvPr/>
        </p:nvGraphicFramePr>
        <p:xfrm>
          <a:off x="181507" y="2204864"/>
          <a:ext cx="7722515" cy="202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515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810679">
                  <a:extLst>
                    <a:ext uri="{9D8B030D-6E8A-4147-A177-3AD203B41FA5}">
                      <a16:colId xmlns:a16="http://schemas.microsoft.com/office/drawing/2014/main" val="296951377"/>
                    </a:ext>
                  </a:extLst>
                </a:gridCol>
                <a:gridCol w="580821">
                  <a:extLst>
                    <a:ext uri="{9D8B030D-6E8A-4147-A177-3AD203B41FA5}">
                      <a16:colId xmlns:a16="http://schemas.microsoft.com/office/drawing/2014/main" val="1266029869"/>
                    </a:ext>
                  </a:extLst>
                </a:gridCol>
                <a:gridCol w="188430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  <a:gridCol w="1437168">
                  <a:extLst>
                    <a:ext uri="{9D8B030D-6E8A-4147-A177-3AD203B41FA5}">
                      <a16:colId xmlns:a16="http://schemas.microsoft.com/office/drawing/2014/main" val="2598409891"/>
                    </a:ext>
                  </a:extLst>
                </a:gridCol>
                <a:gridCol w="532405">
                  <a:extLst>
                    <a:ext uri="{9D8B030D-6E8A-4147-A177-3AD203B41FA5}">
                      <a16:colId xmlns:a16="http://schemas.microsoft.com/office/drawing/2014/main" val="175949893"/>
                    </a:ext>
                  </a:extLst>
                </a:gridCol>
                <a:gridCol w="805341">
                  <a:extLst>
                    <a:ext uri="{9D8B030D-6E8A-4147-A177-3AD203B41FA5}">
                      <a16:colId xmlns:a16="http://schemas.microsoft.com/office/drawing/2014/main" val="2606137487"/>
                    </a:ext>
                  </a:extLst>
                </a:gridCol>
                <a:gridCol w="589101">
                  <a:extLst>
                    <a:ext uri="{9D8B030D-6E8A-4147-A177-3AD203B41FA5}">
                      <a16:colId xmlns:a16="http://schemas.microsoft.com/office/drawing/2014/main" val="3361869317"/>
                    </a:ext>
                  </a:extLst>
                </a:gridCol>
                <a:gridCol w="545177">
                  <a:extLst>
                    <a:ext uri="{9D8B030D-6E8A-4147-A177-3AD203B41FA5}">
                      <a16:colId xmlns:a16="http://schemas.microsoft.com/office/drawing/2014/main" val="1778558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게시대상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우선노출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게시기간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게시여부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조회수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Y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HW_</a:t>
                      </a: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물품계약서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무관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2026.06.30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10,235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직원 대상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Y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2026.07.01~2026.07.31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미게시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협력업체 대상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170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250339"/>
                  </a:ext>
                </a:extLst>
              </a:tr>
            </a:tbl>
          </a:graphicData>
        </a:graphic>
      </p:graphicFrame>
      <p:grpSp>
        <p:nvGrpSpPr>
          <p:cNvPr id="89" name="그룹 88">
            <a:extLst>
              <a:ext uri="{FF2B5EF4-FFF2-40B4-BE49-F238E27FC236}">
                <a16:creationId xmlns:a16="http://schemas.microsoft.com/office/drawing/2014/main" id="{BB0287E0-4E19-6D90-668F-3EB8F540885A}"/>
              </a:ext>
            </a:extLst>
          </p:cNvPr>
          <p:cNvGrpSpPr/>
          <p:nvPr/>
        </p:nvGrpSpPr>
        <p:grpSpPr>
          <a:xfrm>
            <a:off x="2004219" y="4349390"/>
            <a:ext cx="4025354" cy="216024"/>
            <a:chOff x="2992062" y="4869160"/>
            <a:chExt cx="4025354" cy="216024"/>
          </a:xfrm>
        </p:grpSpPr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974F4EB4-F80D-B82D-5B37-94A6A3CED776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EC2FAD64-14F0-D792-6339-F3A094848A12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83EC1A11-4F8A-EF78-5586-21842F521E51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D07D75BE-1092-AD5C-F30A-C42E68D7E61C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CADEDE6F-47D7-170F-B96C-30724E26AE7C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21C687FA-5234-09BA-9623-354CEE42516C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5432301B-FD56-8198-088C-10FF00AE9484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0C63E92F-646C-955E-9987-936EE7937B43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BDC91702-9DFD-DFDD-AA8C-190FBC83A724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7701D626-AE51-05A3-44F5-8C1A608B5D58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78D6951B-8E56-F6C9-7505-69CF780FC211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3B3B89F4-7BEB-6033-1B06-13B483B80E82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79ACDA97-EE6F-1E13-9051-914FF8809E7D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2F8E435D-1148-E4F4-0D8B-4CE0F8FE324E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0C117CED-5500-198E-DFD6-6921EEE6721D}"/>
              </a:ext>
            </a:extLst>
          </p:cNvPr>
          <p:cNvSpPr/>
          <p:nvPr/>
        </p:nvSpPr>
        <p:spPr>
          <a:xfrm>
            <a:off x="7053414" y="4653136"/>
            <a:ext cx="813083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420819E2-25B5-58D9-C11C-015750F034C1}"/>
              </a:ext>
            </a:extLst>
          </p:cNvPr>
          <p:cNvSpPr/>
          <p:nvPr/>
        </p:nvSpPr>
        <p:spPr>
          <a:xfrm>
            <a:off x="705061" y="211337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1F4E077D-AEAC-3FEF-B62F-3AB35E1C6C50}"/>
              </a:ext>
            </a:extLst>
          </p:cNvPr>
          <p:cNvSpPr/>
          <p:nvPr/>
        </p:nvSpPr>
        <p:spPr>
          <a:xfrm>
            <a:off x="1370184" y="211337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785B0CA5-328A-2465-374F-A45B946189AD}"/>
              </a:ext>
            </a:extLst>
          </p:cNvPr>
          <p:cNvSpPr/>
          <p:nvPr/>
        </p:nvSpPr>
        <p:spPr>
          <a:xfrm>
            <a:off x="3960126" y="211337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8E42E846-37B6-9126-54CC-A9353DF098DA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D2D1A9B2-9DDA-C4D9-E943-2E1261370551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0" name="Picture 1">
            <a:extLst>
              <a:ext uri="{FF2B5EF4-FFF2-40B4-BE49-F238E27FC236}">
                <a16:creationId xmlns:a16="http://schemas.microsoft.com/office/drawing/2014/main" id="{DD0AAF2B-E052-763A-4692-662DA2881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34D297FD-9837-EAAB-D73C-C4CBF4EBCCC8}"/>
              </a:ext>
            </a:extLst>
          </p:cNvPr>
          <p:cNvSpPr/>
          <p:nvPr/>
        </p:nvSpPr>
        <p:spPr>
          <a:xfrm>
            <a:off x="-1690381" y="801483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7C3484A-21B1-3A3B-80C7-DAA03CDC3D37}"/>
              </a:ext>
            </a:extLst>
          </p:cNvPr>
          <p:cNvSpPr/>
          <p:nvPr/>
        </p:nvSpPr>
        <p:spPr>
          <a:xfrm>
            <a:off x="-1690381" y="1101803"/>
            <a:ext cx="1467136" cy="241808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권한그룹 및 메뉴별 권한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권한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접속 아이피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(IP)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메뉴별 접속현황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거래처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 관리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9C42522-30C6-0AB4-8DD2-23D16CCE4549}"/>
              </a:ext>
            </a:extLst>
          </p:cNvPr>
          <p:cNvSpPr/>
          <p:nvPr/>
        </p:nvSpPr>
        <p:spPr>
          <a:xfrm>
            <a:off x="-529236" y="801483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54630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15749-19CD-02FB-E6FE-B73B13D18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3AC2B10-A1A4-AF33-490E-A9E13E33217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E01027-F3A1-6B5C-F830-D5E197180A16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8B6D0006-70F7-C8AD-9ACB-0E4DEA6A1996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588B5CC-1DFC-86F7-D957-78A85D97EA63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00BE068E-93CA-1527-1B9F-29EDAB347CB6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322036-8106-E783-EFE7-6781591885BF}"/>
              </a:ext>
            </a:extLst>
          </p:cNvPr>
          <p:cNvSpPr txBox="1"/>
          <p:nvPr/>
        </p:nvSpPr>
        <p:spPr>
          <a:xfrm>
            <a:off x="180526" y="5291082"/>
            <a:ext cx="4951562" cy="466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spcBef>
                <a:spcPts val="50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첫 번째로 첨부된 파일명</a:t>
            </a:r>
            <a:r>
              <a:rPr kumimoji="1" lang="en-US" altLang="ko-KR" sz="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.PDF</a:t>
            </a:r>
          </a:p>
          <a:p>
            <a:pPr marL="72000" indent="-72000" algn="l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800" b="0" u="sng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두 번째로 첨부된 파일명</a:t>
            </a:r>
            <a:r>
              <a:rPr lang="en-US" altLang="ko-KR" sz="800" b="0" u="sng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.HWP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68412D6-53A1-9EEA-83EF-CC9386E9C5CE}"/>
              </a:ext>
            </a:extLst>
          </p:cNvPr>
          <p:cNvGrpSpPr/>
          <p:nvPr/>
        </p:nvGrpSpPr>
        <p:grpSpPr>
          <a:xfrm>
            <a:off x="1693888" y="5294128"/>
            <a:ext cx="1278892" cy="198885"/>
            <a:chOff x="1693888" y="5290969"/>
            <a:chExt cx="1507496" cy="198885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B2A3DE2-FA65-2256-9F14-D9932CBFB776}"/>
                </a:ext>
              </a:extLst>
            </p:cNvPr>
            <p:cNvSpPr/>
            <p:nvPr/>
          </p:nvSpPr>
          <p:spPr>
            <a:xfrm>
              <a:off x="1693888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FCD10458-FFDA-2F4B-ECDE-EF572A72AD6D}"/>
                </a:ext>
              </a:extLst>
            </p:cNvPr>
            <p:cNvSpPr/>
            <p:nvPr/>
          </p:nvSpPr>
          <p:spPr>
            <a:xfrm>
              <a:off x="2478850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347FE6C-9A32-EF17-B7AB-47738FF6404B}"/>
              </a:ext>
            </a:extLst>
          </p:cNvPr>
          <p:cNvGrpSpPr/>
          <p:nvPr/>
        </p:nvGrpSpPr>
        <p:grpSpPr>
          <a:xfrm>
            <a:off x="1737018" y="5540093"/>
            <a:ext cx="1278892" cy="198885"/>
            <a:chOff x="1693888" y="5290969"/>
            <a:chExt cx="1507496" cy="198885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7917A24-FAB6-414B-12E1-612C0C9C4D42}"/>
                </a:ext>
              </a:extLst>
            </p:cNvPr>
            <p:cNvSpPr/>
            <p:nvPr/>
          </p:nvSpPr>
          <p:spPr>
            <a:xfrm>
              <a:off x="1693888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70BD34A-5EDB-EC62-88BC-A28D644AAE74}"/>
                </a:ext>
              </a:extLst>
            </p:cNvPr>
            <p:cNvSpPr/>
            <p:nvPr/>
          </p:nvSpPr>
          <p:spPr>
            <a:xfrm>
              <a:off x="2478850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6EB489A0-A890-6557-8BBC-3D6EE97E2295}"/>
              </a:ext>
            </a:extLst>
          </p:cNvPr>
          <p:cNvCxnSpPr>
            <a:cxnSpLocks/>
          </p:cNvCxnSpPr>
          <p:nvPr/>
        </p:nvCxnSpPr>
        <p:spPr>
          <a:xfrm>
            <a:off x="167468" y="5838048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64221F7-E792-70D5-A934-3D46C5D41E45}"/>
              </a:ext>
            </a:extLst>
          </p:cNvPr>
          <p:cNvSpPr/>
          <p:nvPr/>
        </p:nvSpPr>
        <p:spPr>
          <a:xfrm>
            <a:off x="164468" y="5940654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647B8C2A-790B-DE2F-E868-5E41DC116679}"/>
              </a:ext>
            </a:extLst>
          </p:cNvPr>
          <p:cNvGrpSpPr/>
          <p:nvPr/>
        </p:nvGrpSpPr>
        <p:grpSpPr>
          <a:xfrm>
            <a:off x="6177136" y="5939976"/>
            <a:ext cx="1689362" cy="288032"/>
            <a:chOff x="5921532" y="1435096"/>
            <a:chExt cx="1944966" cy="288032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05D08964-BA5B-EE64-63A6-F61C4760E0D4}"/>
                </a:ext>
              </a:extLst>
            </p:cNvPr>
            <p:cNvSpPr/>
            <p:nvPr/>
          </p:nvSpPr>
          <p:spPr>
            <a:xfrm>
              <a:off x="5921532" y="1435096"/>
              <a:ext cx="936104" cy="28803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수정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4B4EDBDD-AA9D-4C18-6D20-C4A17C97088B}"/>
                </a:ext>
              </a:extLst>
            </p:cNvPr>
            <p:cNvSpPr/>
            <p:nvPr/>
          </p:nvSpPr>
          <p:spPr>
            <a:xfrm>
              <a:off x="6930394" y="1435096"/>
              <a:ext cx="936104" cy="28803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삭제</a:t>
              </a:r>
            </a:p>
          </p:txBody>
        </p:sp>
      </p:grp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C0C061A5-8FF1-8ACE-AB79-40D3DCFD7EBF}"/>
              </a:ext>
            </a:extLst>
          </p:cNvPr>
          <p:cNvGraphicFramePr>
            <a:graphicFrameLocks noGrp="1"/>
          </p:cNvGraphicFramePr>
          <p:nvPr/>
        </p:nvGraphicFramePr>
        <p:xfrm>
          <a:off x="164468" y="880186"/>
          <a:ext cx="7632847" cy="270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5692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527155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게시대상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 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직원 대상 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협력업체 대상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335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우선노출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Y(우선노출) /  N(우선노출 안 함)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57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HW_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물품계약서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게시기간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무관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2026.07.01~2026.07.31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394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게시여부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게시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미게시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94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2026.08.12 15:34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525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조회수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2,542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9303202"/>
                  </a:ext>
                </a:extLst>
              </a:tr>
            </a:tbl>
          </a:graphicData>
        </a:graphic>
      </p:graphicFrame>
      <p:sp>
        <p:nvSpPr>
          <p:cNvPr id="31" name="직사각형 30">
            <a:extLst>
              <a:ext uri="{FF2B5EF4-FFF2-40B4-BE49-F238E27FC236}">
                <a16:creationId xmlns:a16="http://schemas.microsoft.com/office/drawing/2014/main" id="{EB7EF7EB-7D90-482F-20E0-4F3EF7E0FB96}"/>
              </a:ext>
            </a:extLst>
          </p:cNvPr>
          <p:cNvSpPr/>
          <p:nvPr/>
        </p:nvSpPr>
        <p:spPr>
          <a:xfrm>
            <a:off x="180526" y="3680634"/>
            <a:ext cx="7740859" cy="1492681"/>
          </a:xfrm>
          <a:prstGeom prst="rect">
            <a:avLst/>
          </a:prstGeom>
          <a:solidFill>
            <a:srgbClr val="40404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Editor로 작성된</a:t>
            </a:r>
            <a:r>
              <a:rPr lang="ko-KR" altLang="en-US" sz="1500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내용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458CD26-50CA-5280-3DAE-00CE7116F4EA}"/>
              </a:ext>
            </a:extLst>
          </p:cNvPr>
          <p:cNvSpPr txBox="1"/>
          <p:nvPr/>
        </p:nvSpPr>
        <p:spPr>
          <a:xfrm>
            <a:off x="749224" y="25608"/>
            <a:ext cx="15392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 관리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D019557B-130D-4EAC-452C-271BCBB4F0BD}"/>
              </a:ext>
            </a:extLst>
          </p:cNvPr>
          <p:cNvSpPr/>
          <p:nvPr/>
        </p:nvSpPr>
        <p:spPr>
          <a:xfrm>
            <a:off x="164468" y="403565"/>
            <a:ext cx="997068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ko-KR" altLang="en-US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 관리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68A5D50-95A4-4752-DCFE-E5CC9B1E3B41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23453546-2219-B200-97B3-A4044EC0F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DFE37DE2-220C-00F1-617E-E8349AD83C23}"/>
              </a:ext>
            </a:extLst>
          </p:cNvPr>
          <p:cNvSpPr/>
          <p:nvPr/>
        </p:nvSpPr>
        <p:spPr>
          <a:xfrm>
            <a:off x="-1690381" y="801483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F7B2F05-FD8B-5E8C-AF8E-8FE27051FFE6}"/>
              </a:ext>
            </a:extLst>
          </p:cNvPr>
          <p:cNvSpPr/>
          <p:nvPr/>
        </p:nvSpPr>
        <p:spPr>
          <a:xfrm>
            <a:off x="-1690381" y="1101803"/>
            <a:ext cx="1467136" cy="241808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권한그룹 및 메뉴별 권한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권한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접속 아이피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(IP)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메뉴별 접속현황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거래처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 관리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8B986E9-C1D4-2F26-67AF-ED609891F8D4}"/>
              </a:ext>
            </a:extLst>
          </p:cNvPr>
          <p:cNvSpPr/>
          <p:nvPr/>
        </p:nvSpPr>
        <p:spPr>
          <a:xfrm>
            <a:off x="-529236" y="801483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17552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715A1-1E1B-043F-F909-A9FE9F9F2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F7F8D7F-7B8A-349C-C759-5E4BDC3DEA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9AAD2-63E3-A100-DEC3-454525A1923D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DD40C350-0EE5-9F32-2A8A-2A3556384875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2FBEBE1-13F6-78BF-58A8-2D5CB337A95D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D6AA1ACA-351C-BAB9-D128-FB1B81834F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729144"/>
              </p:ext>
            </p:extLst>
          </p:nvPr>
        </p:nvGraphicFramePr>
        <p:xfrm>
          <a:off x="164468" y="880186"/>
          <a:ext cx="7632847" cy="202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5692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527155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게시대상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○전체     ○ 직원 대상     ○ 협력업체 대상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634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우선노출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Y(우선노출)     ○N(우선노출 안 함)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554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게시기간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무관     ○ 기간 설정                                        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990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게시여부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게시     ○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미게시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407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작성자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50" name="직사각형 49">
            <a:extLst>
              <a:ext uri="{FF2B5EF4-FFF2-40B4-BE49-F238E27FC236}">
                <a16:creationId xmlns:a16="http://schemas.microsoft.com/office/drawing/2014/main" id="{FCC33933-700D-2476-643A-747A75DD39E0}"/>
              </a:ext>
            </a:extLst>
          </p:cNvPr>
          <p:cNvSpPr/>
          <p:nvPr/>
        </p:nvSpPr>
        <p:spPr>
          <a:xfrm>
            <a:off x="166665" y="3005578"/>
            <a:ext cx="7630649" cy="12258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108000" bIns="108000" rtlCol="0" anchor="t" anchorCtr="0"/>
          <a:lstStyle/>
          <a:p>
            <a:pPr lvl="0" algn="l" defTabSz="109728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Editor</a:t>
            </a:r>
            <a:endParaRPr kumimoji="0"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98AB060-0E22-3D58-FF22-FCE1EA75EDFC}"/>
              </a:ext>
            </a:extLst>
          </p:cNvPr>
          <p:cNvSpPr/>
          <p:nvPr/>
        </p:nvSpPr>
        <p:spPr>
          <a:xfrm>
            <a:off x="1306894" y="1619153"/>
            <a:ext cx="6202390" cy="2154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D036F92-80B3-4A8F-D0EA-B34368B29514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CA569227-66A5-F00F-B4E7-5D969F0CD868}"/>
              </a:ext>
            </a:extLst>
          </p:cNvPr>
          <p:cNvSpPr/>
          <p:nvPr/>
        </p:nvSpPr>
        <p:spPr>
          <a:xfrm>
            <a:off x="2396716" y="1943516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게시 시작일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C0AEAE53-6612-E12F-CB67-21C526861283}"/>
              </a:ext>
            </a:extLst>
          </p:cNvPr>
          <p:cNvSpPr/>
          <p:nvPr/>
        </p:nvSpPr>
        <p:spPr>
          <a:xfrm>
            <a:off x="3206967" y="1943518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D6F43B80-491C-441F-223A-36B8B2CC2747}"/>
              </a:ext>
            </a:extLst>
          </p:cNvPr>
          <p:cNvSpPr/>
          <p:nvPr/>
        </p:nvSpPr>
        <p:spPr>
          <a:xfrm>
            <a:off x="3620222" y="1943516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게시 종료일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4314E47F-034D-830C-77F2-EE26478C2480}"/>
              </a:ext>
            </a:extLst>
          </p:cNvPr>
          <p:cNvSpPr/>
          <p:nvPr/>
        </p:nvSpPr>
        <p:spPr>
          <a:xfrm>
            <a:off x="4430473" y="1943518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A29747D-01E8-B363-73D9-EA44593FC621}"/>
              </a:ext>
            </a:extLst>
          </p:cNvPr>
          <p:cNvSpPr txBox="1"/>
          <p:nvPr/>
        </p:nvSpPr>
        <p:spPr>
          <a:xfrm>
            <a:off x="749224" y="25608"/>
            <a:ext cx="15392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 관리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BDD78E5A-6594-24BC-4C92-799B09D1CE93}"/>
              </a:ext>
            </a:extLst>
          </p:cNvPr>
          <p:cNvSpPr/>
          <p:nvPr/>
        </p:nvSpPr>
        <p:spPr>
          <a:xfrm>
            <a:off x="164468" y="403565"/>
            <a:ext cx="997068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ko-KR" altLang="en-US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 관리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076CD992-3C7F-76EE-1CCF-F0248F0E6441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4" name="Picture 1">
            <a:extLst>
              <a:ext uri="{FF2B5EF4-FFF2-40B4-BE49-F238E27FC236}">
                <a16:creationId xmlns:a16="http://schemas.microsoft.com/office/drawing/2014/main" id="{BBDEA3D0-7731-8E4A-B272-DA37B6927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3C6218C1-06E0-111F-E325-FF0B147AB270}"/>
              </a:ext>
            </a:extLst>
          </p:cNvPr>
          <p:cNvSpPr/>
          <p:nvPr/>
        </p:nvSpPr>
        <p:spPr>
          <a:xfrm>
            <a:off x="-1690381" y="801483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9BFBEFC-B92F-2DFE-E780-4436D7217DF5}"/>
              </a:ext>
            </a:extLst>
          </p:cNvPr>
          <p:cNvSpPr/>
          <p:nvPr/>
        </p:nvSpPr>
        <p:spPr>
          <a:xfrm>
            <a:off x="-1690381" y="1101803"/>
            <a:ext cx="1467136" cy="241808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권한그룹 및 메뉴별 권한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권한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접속 아이피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(IP)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메뉴별 접속현황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거래처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 관리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1444A38-7F9F-E84C-44B8-49EA9B75232B}"/>
              </a:ext>
            </a:extLst>
          </p:cNvPr>
          <p:cNvSpPr/>
          <p:nvPr/>
        </p:nvSpPr>
        <p:spPr>
          <a:xfrm>
            <a:off x="-529236" y="801483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CF9F347-74EB-F7C8-69EA-0536B1B7FA71}"/>
              </a:ext>
            </a:extLst>
          </p:cNvPr>
          <p:cNvSpPr/>
          <p:nvPr/>
        </p:nvSpPr>
        <p:spPr>
          <a:xfrm>
            <a:off x="164468" y="5744942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0892323-A6B2-08DE-E3E1-E92F4C6F65E1}"/>
              </a:ext>
            </a:extLst>
          </p:cNvPr>
          <p:cNvSpPr/>
          <p:nvPr/>
        </p:nvSpPr>
        <p:spPr>
          <a:xfrm>
            <a:off x="6974365" y="5744264"/>
            <a:ext cx="813083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18990F5-472D-968D-054B-5C6729A1A0ED}"/>
              </a:ext>
            </a:extLst>
          </p:cNvPr>
          <p:cNvSpPr/>
          <p:nvPr/>
        </p:nvSpPr>
        <p:spPr>
          <a:xfrm>
            <a:off x="6110600" y="5744264"/>
            <a:ext cx="813083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850FF890-1C80-CAA9-7BB8-EDFBCCC425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839001"/>
              </p:ext>
            </p:extLst>
          </p:nvPr>
        </p:nvGraphicFramePr>
        <p:xfrm>
          <a:off x="164468" y="4329100"/>
          <a:ext cx="7632847" cy="131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5692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527155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첨부파일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첫 번째로 첨부된 파일명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  </a:t>
                      </a:r>
                      <a:r>
                        <a:rPr kumimoji="1" lang="en-US" altLang="ko-KR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삭제</a:t>
                      </a:r>
                      <a:r>
                        <a:rPr kumimoji="1" lang="en-US" altLang="ko-KR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]</a:t>
                      </a:r>
                    </a:p>
                    <a:p>
                      <a:pPr marL="72000" marR="0" lvl="0" indent="-720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두 번째로 첨부된 파일명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.HWP </a:t>
                      </a:r>
                      <a:r>
                        <a:rPr kumimoji="1" lang="en-US" altLang="ko-KR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삭제</a:t>
                      </a:r>
                      <a:r>
                        <a:rPr kumimoji="1" lang="en-US" altLang="ko-KR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]</a:t>
                      </a:r>
                      <a:br>
                        <a:rPr kumimoji="1" lang="en-US" altLang="ko-KR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1" lang="en-US" altLang="ko-KR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1" lang="en-US" altLang="ko-KR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1" lang="en-US" altLang="ko-KR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1" lang="en-US" altLang="ko-KR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br>
                        <a:rPr kumimoji="1" lang="en-US" altLang="ko-KR" sz="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</a:b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</a:tbl>
          </a:graphicData>
        </a:graphic>
      </p:graphicFrame>
      <p:pic>
        <p:nvPicPr>
          <p:cNvPr id="30" name="그림 29">
            <a:extLst>
              <a:ext uri="{FF2B5EF4-FFF2-40B4-BE49-F238E27FC236}">
                <a16:creationId xmlns:a16="http://schemas.microsoft.com/office/drawing/2014/main" id="{1B5416CE-B8FB-D0D3-5344-E374B58BC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849" y="4973434"/>
            <a:ext cx="5455355" cy="573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709728"/>
      </p:ext>
    </p:extLst>
  </p:cSld>
  <p:clrMapOvr>
    <a:masterClrMapping/>
  </p:clrMapOvr>
</p:sld>
</file>

<file path=ppt/theme/theme1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76F0169-C57C-432B-8B16-C45DE170B497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0594bf7c-cb76-4b6d-b173-930b0f77a79d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3F13B55D-3E86-4E3D-A16C-5C7ADD49027D}">
  <we:reference id="wa200010215" version="2.0.0.0" store="ko-KR" storeType="OMEX"/>
  <we:alternateReferences>
    <we:reference id="WA200010215" version="2.0.0.0" store="WA200010215" storeType="OMEX"/>
  </we:alternateReferences>
  <we:properties>
    <we:property name="bps.codex_control.document_id" value="&quot;d76d155f-87ab-4eaa-867c-1f2d398766d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241819</TotalTime>
  <Words>4210</Words>
  <Application>Microsoft Office PowerPoint</Application>
  <PresentationFormat>A4 용지(210x297mm)</PresentationFormat>
  <Paragraphs>1450</Paragraphs>
  <Slides>22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7" baseType="lpstr">
      <vt:lpstr>맑은 고딕</vt:lpstr>
      <vt:lpstr>나눔고딕</vt:lpstr>
      <vt:lpstr>Wingdings</vt:lpstr>
      <vt:lpstr>Arial</vt:lpstr>
      <vt:lpstr>3_디자인 사용자 지정</vt:lpstr>
      <vt:lpstr>PowerPoint 프레젠테이션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Company>HIST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사회보장위원회_사회보장통계</dc:title>
  <dc:creator>조헌진</dc:creator>
  <cp:lastModifiedBy>10249 10249</cp:lastModifiedBy>
  <cp:revision>7797</cp:revision>
  <cp:lastPrinted>2019-06-18T05:05:25Z</cp:lastPrinted>
  <dcterms:created xsi:type="dcterms:W3CDTF">2006-06-07T02:37:19Z</dcterms:created>
  <dcterms:modified xsi:type="dcterms:W3CDTF">2026-09-21T06:29:02Z</dcterms:modified>
</cp:coreProperties>
</file>